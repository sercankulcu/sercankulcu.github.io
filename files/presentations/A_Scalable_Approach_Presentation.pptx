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lang="tr-TR" sz="1200" b="0" i="0" u="none" strike="noStrike">
                <a:solidFill>
                  <a:srgbClr val="1B2A4A"/>
                </a:solidFill>
                <a:latin typeface="Calibri"/>
              </a:rPr>
              <a:t>Class Distribution (tweets)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1C7C5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tr-T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Tweet Sentiment Composition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1552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40-4F0A-B4A9-7B478191386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rgbClr val="9AA1B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tr-T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Tweet Sentiment Composition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1448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40-4F0A-B4A9-7B478191386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tr-T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Tweet Sentiment Composition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40-4F0A-B4A9-7B478191386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1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A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48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124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lang="tr-TR" sz="1200" b="0" i="0" u="none" strike="noStrike">
                <a:solidFill>
                  <a:srgbClr val="1B2A4A"/>
                </a:solidFill>
                <a:latin typeface="Calibri"/>
              </a:rPr>
              <a:t>Accuracy by Algorithm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12433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Complement
Naive Bayes</c:v>
                </c:pt>
                <c:pt idx="1">
                  <c:v>Naive Bayes</c:v>
                </c:pt>
                <c:pt idx="2">
                  <c:v>Logistic
Regression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79.38</c:v>
                </c:pt>
                <c:pt idx="1">
                  <c:v>78.61</c:v>
                </c:pt>
                <c:pt idx="2">
                  <c:v>63.12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7F-478C-993A-5921292EF2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1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</c:scaling>
        <c:delete val="0"/>
        <c:axPos val="l"/>
        <c:majorGridlines>
          <c:spPr>
            <a:ln w="12700" cap="flat">
              <a:solidFill>
                <a:srgbClr val="E5EA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48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lang="en-US" sz="1150" b="0" i="0" u="none" strike="noStrike">
                <a:solidFill>
                  <a:srgbClr val="1B2A4A"/>
                </a:solidFill>
                <a:latin typeface="Calibri"/>
              </a:rPr>
              <a:t>Naive Bayes Accuracy vs. Tweet Count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ln w="31750" cap="flat">
              <a:solidFill>
                <a:srgbClr val="99001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90011"/>
              </a:solidFill>
              <a:ln w="9525" cap="flat">
                <a:solidFill>
                  <a:srgbClr val="990011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  <c:pt idx="5">
                  <c:v>5500</c:v>
                </c:pt>
                <c:pt idx="6">
                  <c:v>6000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68</c:v>
                </c:pt>
                <c:pt idx="1">
                  <c:v>71.78</c:v>
                </c:pt>
                <c:pt idx="2">
                  <c:v>72.989999999999995</c:v>
                </c:pt>
                <c:pt idx="3">
                  <c:v>74.78</c:v>
                </c:pt>
                <c:pt idx="4">
                  <c:v>78.14</c:v>
                </c:pt>
                <c:pt idx="5">
                  <c:v>79.239999999999995</c:v>
                </c:pt>
                <c:pt idx="6">
                  <c:v>79.38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33-4479-A62C-A2C1D8DBB6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488"/>
                    </a:solidFill>
                    <a:latin typeface="Arial"/>
                  </a:defRPr>
                </a:pPr>
                <a:r>
                  <a:rPr lang="tr-TR" sz="1000" b="0" i="0" u="none" strike="noStrike">
                    <a:solidFill>
                      <a:srgbClr val="6E7488"/>
                    </a:solidFill>
                    <a:latin typeface="Arial"/>
                  </a:rPr>
                  <a:t>Tweet count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1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AF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488"/>
                    </a:solidFill>
                    <a:latin typeface="Arial"/>
                  </a:defRPr>
                </a:pPr>
                <a:r>
                  <a:rPr lang="tr-TR" sz="1000" b="0" i="0" u="none" strike="noStrike">
                    <a:solidFill>
                      <a:srgbClr val="6E7488"/>
                    </a:solidFill>
                    <a:latin typeface="Arial"/>
                  </a:rPr>
                  <a:t>Accuracy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48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12433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Unigrams</c:v>
                </c:pt>
                <c:pt idx="1">
                  <c:v>Bigrams</c:v>
                </c:pt>
                <c:pt idx="2">
                  <c:v>Trigrams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79.38</c:v>
                </c:pt>
                <c:pt idx="1">
                  <c:v>77.91</c:v>
                </c:pt>
                <c:pt idx="2">
                  <c:v>76.37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20-4787-A5B3-EEFAC49F8F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1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</c:scaling>
        <c:delete val="0"/>
        <c:axPos val="l"/>
        <c:majorGridlines>
          <c:spPr>
            <a:ln w="12700" cap="flat">
              <a:solidFill>
                <a:srgbClr val="E5EA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48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9767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920240"/>
            <a:ext cx="256032" cy="457200"/>
          </a:xfrm>
          <a:prstGeom prst="rect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10076688" y="1371600"/>
            <a:ext cx="256032" cy="1005840"/>
          </a:xfrm>
          <a:prstGeom prst="rect">
            <a:avLst/>
          </a:prstGeom>
          <a:solidFill>
            <a:srgbClr val="C94F5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10460736" y="1737360"/>
            <a:ext cx="256032" cy="640080"/>
          </a:xfrm>
          <a:prstGeom prst="rect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0844784" y="914400"/>
            <a:ext cx="256032" cy="1463040"/>
          </a:xfrm>
          <a:prstGeom prst="rect">
            <a:avLst/>
          </a:prstGeom>
          <a:solidFill>
            <a:srgbClr val="C94F5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11228832" y="1554480"/>
            <a:ext cx="256032" cy="822960"/>
          </a:xfrm>
          <a:prstGeom prst="rect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11612880" y="1188720"/>
            <a:ext cx="256032" cy="1188720"/>
          </a:xfrm>
          <a:prstGeom prst="rect">
            <a:avLst/>
          </a:prstGeom>
          <a:solidFill>
            <a:srgbClr val="C94F5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E7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 •  SOCIAL MEDIA  •  BIG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Scalable Approach for Sentiment Analysis of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Turkish Tweets and Linking Tweets to News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Sercan Kulcu   •   Erdogan Dogdu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7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TOBB University of Economics and Technology, Ankara, Turkey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5349240"/>
            <a:ext cx="4114800" cy="0"/>
          </a:xfrm>
          <a:prstGeom prst="line">
            <a:avLst/>
          </a:prstGeom>
          <a:noFill/>
          <a:ln w="254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IEEE Tenth International Conference on Semantic Computing (ICSC)  |  Laguna Hills, California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64240" cy="18288"/>
          </a:xfrm>
          <a:prstGeom prst="rect">
            <a:avLst/>
          </a:prstGeom>
          <a:solidFill>
            <a:srgbClr val="E8D3D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94360" cy="5943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417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sentiment analysis of Turkish tweets needs a scalable, language-aware approach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594360" cy="594360"/>
          </a:xfrm>
          <a:prstGeom prst="ellipse">
            <a:avLst/>
          </a:prstGeom>
          <a:solidFill>
            <a:srgbClr val="F6F3F2"/>
          </a:solidFill>
          <a:ln w="1270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2377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74320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news &amp; tweets, mapping, and distributed sentiment scoring on Hadoop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594360" cy="594360"/>
          </a:xfrm>
          <a:prstGeom prst="ellipse">
            <a:avLst/>
          </a:prstGeom>
          <a:solidFill>
            <a:srgbClr val="F6F3F2"/>
          </a:solidFill>
          <a:ln w="1270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3337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7033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Zemberek NLP, bag-of-words mapping, Naive Bayes / Complement NB / Logistic Regression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594360" cy="594360"/>
          </a:xfrm>
          <a:prstGeom prst="ellipse">
            <a:avLst/>
          </a:prstGeom>
          <a:solidFill>
            <a:srgbClr val="F6F3F2"/>
          </a:solidFill>
          <a:ln w="1270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4297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6634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F1, dataset size effects, n-grams, and cluster performance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303520"/>
            <a:ext cx="594360" cy="594360"/>
          </a:xfrm>
          <a:prstGeom prst="ellipse">
            <a:avLst/>
          </a:prstGeom>
          <a:solidFill>
            <a:srgbClr val="F6F3F2"/>
          </a:solidFill>
          <a:ln w="1270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40080" y="5303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5257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62356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future work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Kulcu &amp; Dogdu — IEEE ICSC 2016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public opinion about news requires speed and language sensitivity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436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need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reaction to news must be captured as it happens, requiring a system that scales across distributed infrastructure.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436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6446520" y="187452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4465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46520" y="2651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Turkish is hard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46520" y="31089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Agglutinative morphology means countless word forms from a single root — standard English-tuned NLP pipelines underperform.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0789920" cy="1554480"/>
          </a:xfrm>
          <a:prstGeom prst="roundRect">
            <a:avLst>
              <a:gd name="adj" fmla="val 588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914400" y="44348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i="1" dirty="0">
                <a:solidFill>
                  <a:srgbClr val="F0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goal: </a:t>
            </a:r>
            <a:r>
              <a:rPr lang="en-US" sz="1400" i="1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scalable framework that (1) collects Turkish news and tweets, (2) links tweets to the news items they discuss, and (3) classifies each tweet's sentiment — all running on a distributed Hadoop/Mahout pipeline.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Kulcu &amp; Dogdu — IEEE ICSC 2016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pipeline: collect → map → score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E3A5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(RSS)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NTV feed, 50 latest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(XML)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97480" y="18288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E3A5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2788920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88920" y="2331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Twitter4J, geo-filtered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Turkish tweets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53712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074920" y="18288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166360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2331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storage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collected data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022592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543800" y="18288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7635240" y="1965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 → News Mapping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35240" y="23957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5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 +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5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Zemberek stemming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469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104120" y="182880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1C7C5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10177272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 Job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continuously in 10-minute batches; results are merged incrementally by a second MapReduce job.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per news item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429768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1C7C5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548640" y="4297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971800" y="429768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9AA1B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2971800" y="4297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394960" y="429768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5394960" y="4297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680960" y="429768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6F3F2"/>
          </a:solidFill>
          <a:ln w="1270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7863840" y="42976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how each news article is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on Twitter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Kulcu &amp; Dogdu — IEEE ICSC 2016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manually labeled Turkish tweets, collected in early 2015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8D3D5"/>
            </a:solidFill>
            <a:prstDash val="solid"/>
          </a:ln>
          <a:effectLst>
            <a:outerShdw blurRad="76200" dist="25400" dir="5400000" algn="bl" rotWithShape="0">
              <a:srgbClr val="1B243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tweets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60020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8D3D5"/>
            </a:solidFill>
            <a:prstDash val="solid"/>
          </a:ln>
          <a:effectLst>
            <a:outerShdw blurRad="76200" dist="25400" dir="5400000" algn="bl" rotWithShape="0">
              <a:srgbClr val="1B243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246120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46120" y="2514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160020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8D3D5"/>
            </a:solidFill>
            <a:prstDash val="solid"/>
          </a:ln>
          <a:effectLst>
            <a:outerShdw blurRad="76200" dist="25400" dir="5400000" algn="bl" rotWithShape="0">
              <a:srgbClr val="1B243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943600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1,552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943600" y="2514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41080" y="160020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8D3D5"/>
            </a:solidFill>
            <a:prstDash val="solid"/>
          </a:ln>
          <a:effectLst>
            <a:outerShdw blurRad="76200" dist="25400" dir="5400000" algn="bl" rotWithShape="0">
              <a:srgbClr val="1B243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641080" y="1783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AA1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1,448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641080" y="2514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3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3383280"/>
          <a:ext cx="566928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6537960" y="3383280"/>
            <a:ext cx="5074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characteristics
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50 characters per tweet, for meaningful content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length: 9.43 words / 75.3 characters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labeled and reliability-checked by 10 graduate students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80% training / 20% test for supervised learning</a:t>
            </a:r>
            <a:endParaRPr lang="en-US" sz="15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available on GitHub (sercankulcu/twitterdata)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Kulcu &amp; Dogdu — IEEE ICSC 2016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Turkish: The Zemberek NLP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Agglutinative morphology requires stemming before any similarity comparison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Stemming Examples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120640" cy="384048"/>
          </a:xfrm>
          <a:prstGeom prst="rect">
            <a:avLst/>
          </a:prstGeom>
          <a:solidFill>
            <a:srgbClr val="1B2A4A"/>
          </a:solidFill>
          <a:ln w="635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68880" y="19659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06240" y="19659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50008"/>
            <a:ext cx="5120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40080" y="235000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gelmiyorum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68880" y="23500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06240" y="23500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734056"/>
            <a:ext cx="5120640" cy="384048"/>
          </a:xfrm>
          <a:prstGeom prst="rect">
            <a:avLst/>
          </a:prstGeom>
          <a:solidFill>
            <a:srgbClr val="F6F3F2"/>
          </a:solidFill>
          <a:ln w="635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40080" y="273405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gitmedim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68880" y="273405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06240" y="273405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118104"/>
            <a:ext cx="5120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40080" y="311810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468880" y="311810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206240" y="311810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502152"/>
            <a:ext cx="5120640" cy="384048"/>
          </a:xfrm>
          <a:prstGeom prst="rect">
            <a:avLst/>
          </a:prstGeom>
          <a:solidFill>
            <a:srgbClr val="F6F3F2"/>
          </a:solidFill>
          <a:ln w="635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40080" y="35021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468880" y="35021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06240" y="350215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886200"/>
            <a:ext cx="5120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40080" y="38862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hakaret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468880" y="38862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hakaret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206240" y="3886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270248"/>
            <a:ext cx="5120640" cy="384048"/>
          </a:xfrm>
          <a:prstGeom prst="rect">
            <a:avLst/>
          </a:prstGeom>
          <a:solidFill>
            <a:srgbClr val="F6F3F2"/>
          </a:solidFill>
          <a:ln w="635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640080" y="427024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özgürlük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468880" y="427024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özgür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206240" y="42702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Similarity Scores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09360" y="1965960"/>
            <a:ext cx="5120640" cy="384048"/>
          </a:xfrm>
          <a:prstGeom prst="rect">
            <a:avLst/>
          </a:prstGeom>
          <a:solidFill>
            <a:srgbClr val="990011"/>
          </a:solidFill>
          <a:ln w="635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6400800" y="1965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1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321040" y="19659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2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0149840" y="1965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309360" y="2350008"/>
            <a:ext cx="5120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6400800" y="235000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Yaşasın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321040" y="235000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yaşasın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0149840" y="23500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0.904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309360" y="2734056"/>
            <a:ext cx="5120640" cy="384048"/>
          </a:xfrm>
          <a:prstGeom prst="rect">
            <a:avLst/>
          </a:prstGeom>
          <a:solidFill>
            <a:srgbClr val="F6F3F2"/>
          </a:solidFill>
          <a:ln w="635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6400800" y="273405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321040" y="273405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sakın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0149840" y="273405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0.933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309360" y="3118104"/>
            <a:ext cx="5120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6400800" y="311810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kötüyüm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321040" y="311810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kotuyum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10149840" y="31181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0.768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309360" y="3502152"/>
            <a:ext cx="5120640" cy="384048"/>
          </a:xfrm>
          <a:prstGeom prst="rect">
            <a:avLst/>
          </a:prstGeom>
          <a:solidFill>
            <a:srgbClr val="F6F3F2"/>
          </a:solidFill>
          <a:ln w="635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6400800" y="350215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hakaret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8321040" y="35021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hakret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10149840" y="35021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0.966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6309360" y="3886200"/>
            <a:ext cx="5120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Text 53"/>
          <p:cNvSpPr/>
          <p:nvPr/>
        </p:nvSpPr>
        <p:spPr>
          <a:xfrm>
            <a:off x="6400800" y="38862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akın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8321040" y="38862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yakın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10149840" y="38862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0.933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309360" y="4270248"/>
            <a:ext cx="5120640" cy="384048"/>
          </a:xfrm>
          <a:prstGeom prst="rect">
            <a:avLst/>
          </a:prstGeom>
          <a:solidFill>
            <a:srgbClr val="F6F3F2"/>
          </a:solidFill>
          <a:ln w="635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9" name="Text 57"/>
          <p:cNvSpPr/>
          <p:nvPr/>
        </p:nvSpPr>
        <p:spPr>
          <a:xfrm>
            <a:off x="6400800" y="42702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özgürlük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8321040" y="427024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özgürlüğü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10149840" y="42702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0.935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3" name="Text 61"/>
          <p:cNvSpPr/>
          <p:nvPr/>
        </p:nvSpPr>
        <p:spPr>
          <a:xfrm>
            <a:off x="822960" y="470916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0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threshold: </a:t>
            </a:r>
            <a:r>
              <a:rPr lang="en-US" sz="130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 pair with similarity score above 0.90 counts as a match. Tweets and news articles are stemmed, stripped of stop words, and compared word-by-word to compute a total similarity score used for tweet-to-news mapping.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Kulcu &amp; Dogdu — IEEE ICSC 2016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Tweets to News Articles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 similarity scoring (Algorithm 2 in the paper)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29260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D3D5"/>
            </a:solidFill>
            <a:prstDash val="solid"/>
          </a:ln>
          <a:effectLst>
            <a:outerShdw blurRad="76200" dist="25400" dir="5400000" algn="bl" rotWithShape="0">
              <a:srgbClr val="1B243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485900" y="187452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14859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 &amp; clean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words from the tweet and each candidate news article; remove stop words.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72384" y="17373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46120" y="1600200"/>
            <a:ext cx="2514600" cy="29260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D3D5"/>
            </a:solidFill>
            <a:prstDash val="solid"/>
          </a:ln>
          <a:effectLst>
            <a:outerShdw blurRad="76200" dist="25400" dir="5400000" algn="bl" rotWithShape="0">
              <a:srgbClr val="1B243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183380" y="187452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18338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29000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31089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all words to their roots using Zemberek's morphological analyzer.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769864" y="17373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943600" y="1600200"/>
            <a:ext cx="2514600" cy="29260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D3D5"/>
            </a:solidFill>
            <a:prstDash val="solid"/>
          </a:ln>
          <a:effectLst>
            <a:outerShdw blurRad="76200" dist="25400" dir="5400000" algn="bl" rotWithShape="0">
              <a:srgbClr val="1B243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6880860" y="187452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8808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26480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26480" y="31089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tweet word × news word pair, compute similarity; count matches above 0.90.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67344" y="17373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641080" y="1600200"/>
            <a:ext cx="2514600" cy="29260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D3D5"/>
            </a:solidFill>
            <a:prstDash val="solid"/>
          </a:ln>
          <a:effectLst>
            <a:outerShdw blurRad="76200" dist="25400" dir="5400000" algn="bl" rotWithShape="0">
              <a:srgbClr val="1B2436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9578340" y="187452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95783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823960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&amp; select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823960" y="31089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matches per news article; return the article with the highest total score.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800600"/>
            <a:ext cx="10789920" cy="1143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822960" y="480060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0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30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 tweets were mapped to 29 news items and checked manually — 88 correct out of 218 (40.3% accuracy). The authors note this can be improved with lexicon-based strategies.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Kulcu &amp; Dogdu — IEEE ICSC 2016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Bayes, Complement Naive Bayes, and Logistic Regression on the 2-class dataset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5486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737360"/>
            <a:ext cx="5303520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6400800" y="1737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0" y="1737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(%)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4692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698480" y="17373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2194560"/>
            <a:ext cx="5303520" cy="457200"/>
          </a:xfrm>
          <a:prstGeom prst="rect">
            <a:avLst/>
          </a:prstGeom>
          <a:solidFill>
            <a:srgbClr val="FBEBEC"/>
          </a:solidFill>
          <a:ln w="635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6400800" y="2194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NB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0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79.38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46920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0.977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698480" y="21945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09360" y="2651760"/>
            <a:ext cx="5303520" cy="457200"/>
          </a:xfrm>
          <a:prstGeom prst="rect">
            <a:avLst/>
          </a:prstGeom>
          <a:solidFill>
            <a:srgbClr val="F6F3F2"/>
          </a:solidFill>
          <a:ln w="635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6400800" y="2651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29600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78.61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646920" y="2651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698480" y="26517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0.873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309360" y="3108960"/>
            <a:ext cx="5303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8"/>
          <p:cNvSpPr/>
          <p:nvPr/>
        </p:nvSpPr>
        <p:spPr>
          <a:xfrm>
            <a:off x="6400800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Log. Regression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296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63.12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646920" y="3108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698480" y="31089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0.620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309360" y="37490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Naive Bayes corrects for class imbalance (more negative than positive/neutral tweets), giving it the edge over standard Naive Bayes.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Kulcu &amp; Dogdu — IEEE ICSC 2016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Affects Accuracy?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 and feature model (n-grams) both matter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N-gram Feature Comparison</a:t>
            </a:r>
            <a:endParaRPr lang="en-US" sz="16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6309360" y="1920240"/>
          <a:ext cx="5303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improves steadily with more training data and plateaus near 6,000 tweets. Unigrams outperform bigrams and trigrams — longer n-grams overfit on this dataset size.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Kulcu &amp; Dogdu — IEEE ICSC 2016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Execution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system runs on Hadoop MapReduce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2377440"/>
          </a:xfrm>
          <a:prstGeom prst="roundRect">
            <a:avLst>
              <a:gd name="adj" fmla="val 4615"/>
            </a:avLst>
          </a:prstGeom>
          <a:solidFill>
            <a:srgbClr val="24304F"/>
          </a:solidFill>
          <a:ln w="12700">
            <a:solidFill>
              <a:srgbClr val="3B4A7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Node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2,137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737360"/>
            <a:ext cx="5212080" cy="2377440"/>
          </a:xfrm>
          <a:prstGeom prst="roundRect">
            <a:avLst>
              <a:gd name="adj" fmla="val 4615"/>
            </a:avLst>
          </a:prstGeom>
          <a:solidFill>
            <a:srgbClr val="24304F"/>
          </a:solidFill>
          <a:ln w="12700">
            <a:solidFill>
              <a:srgbClr val="3B4A7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4922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(Six Nodes)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92240" y="25146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C7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637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49224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24231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0D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3.4×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983480" y="3246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D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on a 100 MB dataset. The multi-node cluster demonstrates the scalability needed for continuous, real-time sentiment analysis of live tweet streams.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Kulcu &amp; Dogdu — IEEE ICSC 2016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2-Class vs. 3-Class Classification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a neutral class makes the task harder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589520" cy="420624"/>
          </a:xfrm>
          <a:prstGeom prst="rect">
            <a:avLst/>
          </a:prstGeom>
          <a:solidFill>
            <a:srgbClr val="1B2A4A"/>
          </a:solidFill>
          <a:ln w="635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794760" y="16002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(%)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532120" y="16002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95160" y="160020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20824"/>
            <a:ext cx="7589520" cy="420624"/>
          </a:xfrm>
          <a:prstGeom prst="rect">
            <a:avLst/>
          </a:prstGeom>
          <a:solidFill>
            <a:srgbClr val="EAF3EE"/>
          </a:solidFill>
          <a:ln w="635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85800" y="202082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Neg–Pos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94760" y="202082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79.38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532120" y="202082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0.977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95160" y="202082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441448"/>
            <a:ext cx="7589520" cy="420624"/>
          </a:xfrm>
          <a:prstGeom prst="rect">
            <a:avLst/>
          </a:prstGeom>
          <a:solidFill>
            <a:srgbClr val="EAF3EE"/>
          </a:solidFill>
          <a:ln w="635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85800" y="24414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Neg–(Pos+Neu)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794760" y="244144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79.42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532120" y="244144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0.985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95160" y="244144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0.880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2862072"/>
            <a:ext cx="7589520" cy="420624"/>
          </a:xfrm>
          <a:prstGeom prst="rect">
            <a:avLst/>
          </a:prstGeom>
          <a:solidFill>
            <a:srgbClr val="FBEBEC"/>
          </a:solidFill>
          <a:ln w="635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85800" y="286207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Neg–Neu–Pos (3-class)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794760" y="286207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67.62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532120" y="286207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0.667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995160" y="286207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0.794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282696"/>
            <a:ext cx="7589520" cy="420624"/>
          </a:xfrm>
          <a:prstGeom prst="rect">
            <a:avLst/>
          </a:prstGeom>
          <a:solidFill>
            <a:srgbClr val="FBEBEC"/>
          </a:solidFill>
          <a:ln w="635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685800" y="328269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SS-Tweet (3-class)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794760" y="328269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67.47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532120" y="328269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0.562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995160" y="32826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0.593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3794760"/>
            <a:ext cx="228600" cy="228600"/>
          </a:xfrm>
          <a:prstGeom prst="rect">
            <a:avLst/>
          </a:prstGeom>
          <a:solidFill>
            <a:srgbClr val="EAF3EE"/>
          </a:solidFill>
          <a:ln w="12700">
            <a:solidFill>
              <a:srgbClr val="C7DFC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86868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2-class datasets (higher accuracy)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54880" y="3794760"/>
            <a:ext cx="228600" cy="228600"/>
          </a:xfrm>
          <a:prstGeom prst="rect">
            <a:avLst/>
          </a:prstGeom>
          <a:solidFill>
            <a:srgbClr val="FBEBEC"/>
          </a:solidFill>
          <a:ln w="12700">
            <a:solidFill>
              <a:srgbClr val="E8B9B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507492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datasets (lower accuracy)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709160"/>
            <a:ext cx="10789920" cy="1463040"/>
          </a:xfrm>
          <a:prstGeom prst="roundRect">
            <a:avLst>
              <a:gd name="adj" fmla="val 6250"/>
            </a:avLst>
          </a:prstGeom>
          <a:solidFill>
            <a:srgbClr val="F6F3F2"/>
          </a:solidFill>
          <a:ln w="12700">
            <a:solidFill>
              <a:srgbClr val="E8D3D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822960" y="48463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matters too: </a:t>
            </a:r>
            <a:r>
              <a:rPr lang="en-US" sz="130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Logistic Regression, tuning the learning rate parameter on the 2-class dataset yielded a maximum of only 63.1% accuracy (at rate = 0.9) — still well below Naive Bayes methods. The learning rate is generally chosen by trial and error.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Kulcu &amp; Dogdu — IEEE ICSC 2016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731520"/>
            <a:ext cx="201168" cy="274320"/>
          </a:xfrm>
          <a:prstGeom prst="rect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10460736" y="457200"/>
            <a:ext cx="201168" cy="548640"/>
          </a:xfrm>
          <a:prstGeom prst="rect">
            <a:avLst/>
          </a:prstGeom>
          <a:solidFill>
            <a:srgbClr val="C94F5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10771632" y="640080"/>
            <a:ext cx="201168" cy="365760"/>
          </a:xfrm>
          <a:prstGeom prst="rect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1082528" y="228600"/>
            <a:ext cx="201168" cy="777240"/>
          </a:xfrm>
          <a:prstGeom prst="rect">
            <a:avLst/>
          </a:prstGeom>
          <a:solidFill>
            <a:srgbClr val="C94F5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11393424" y="548640"/>
            <a:ext cx="201168" cy="457200"/>
          </a:xfrm>
          <a:prstGeom prst="rect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2743200" cy="18288"/>
          </a:xfrm>
          <a:prstGeom prst="rect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9326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scalable, Hadoop-based framework </a:t>
            </a:r>
            <a:r>
              <a:rPr lang="en-US" sz="150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news and tweets, maps tweets to related news via bag-of-words + Zemberek stemming, and classifies sentiment with distributed MapReduce jobs.
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performs best </a:t>
            </a:r>
            <a:r>
              <a:rPr lang="en-US" sz="150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tested classifiers — Complement Naive Bayes reaches 79.38% accuracy, clearly outperforming Logistic Regression (63.12%).
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Unigrams and 2-class formulations </a:t>
            </a:r>
            <a:r>
              <a:rPr lang="en-US" sz="150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outperform bigrams/trigrams and 3-class settings on this dataset size.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058400" cy="1417320"/>
          </a:xfrm>
          <a:prstGeom prst="roundRect">
            <a:avLst>
              <a:gd name="adj" fmla="val 6452"/>
            </a:avLst>
          </a:prstGeom>
          <a:solidFill>
            <a:srgbClr val="24304F"/>
          </a:solidFill>
          <a:ln w="12700">
            <a:solidFill>
              <a:srgbClr val="3B4A7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914400" y="434340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D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70916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4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tweet-to-news mapping accuracy (currently 40.3%) using lexicon-based strategies, moving beyond simple bag-of-words comparison.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Kulcu &amp; Dogdu — IEEE ICSC 2016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E8D3D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Kulcu, S. &amp; Dogdu, E. (2016). A Scalable Approach for Sentiment Analysis of Turkish Tweets and Linking Tweets to News. IEEE ICSC.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0299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20299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Pang, B. &amp; Lee, L. (2008). Opinion Mining and Sentiment Analysis. Foundations and Trends in Information Retrieval, 2(1-2), 1–135.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68833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68833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Pak, A. &amp; Paroubek, P. (2010). Twitter as a Corpus for Sentiment Analysis and Opinion Mining. LREC, vol. 10, 1320–1326.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34670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334670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Rennie, J. D. et al. (2003). Tackling the Poor Assumptions of Naive Bayes Text Classifiers. ICML, 616–623.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0050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400507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Khuc, V. N. et al. (2012). Towards Building Large-Scale Distributed Systems for Twitter Sentiment Analysis. ACM SAC, 459–464.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6634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1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Abel, F. et al. (2011). Semantic Enrichment of Twitter Posts for User Profile Construction on the Social Web. ESWC, 375–389.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Full reference list (20 citations) available in the original paper. Dataset: github.com/sercankulcu/twitterdata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Kulcu &amp; Dogdu — IEEE ICSC 2016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1318</Words>
  <Application>Microsoft Office PowerPoint</Application>
  <PresentationFormat>Widescreen</PresentationFormat>
  <Paragraphs>259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Sercan Kulcu</cp:lastModifiedBy>
  <cp:revision>1</cp:revision>
  <dcterms:created xsi:type="dcterms:W3CDTF">2026-09-10T07:14:45Z</dcterms:created>
  <dcterms:modified xsi:type="dcterms:W3CDTF">2026-09-10T07:16:02Z</dcterms:modified>
</cp:coreProperties>
</file>