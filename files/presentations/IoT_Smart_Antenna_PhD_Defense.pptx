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3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545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2545"/>
                </a:solidFill>
                <a:latin typeface="Arial"/>
              </a:rPr>
              <a:t>Packet Delivery Ratio by Number of Nodes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Omni-directional</c:v>
                </c:pt>
              </c:strCache>
            </c:strRef>
          </c:tx>
          <c:spPr>
            <a:solidFill>
              <a:srgbClr val="5B6B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25</c:v>
                  </c:pt>
                  <c:pt idx="1">
                    <c:v>49</c:v>
                  </c:pt>
                  <c:pt idx="2">
                    <c:v>73</c:v>
                  </c:pt>
                  <c:pt idx="3">
                    <c:v>101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94.87</c:v>
                </c:pt>
                <c:pt idx="1">
                  <c:v>83.55</c:v>
                </c:pt>
                <c:pt idx="2">
                  <c:v>61.04</c:v>
                </c:pt>
                <c:pt idx="3">
                  <c:v>39.13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Switchable antennas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25</c:v>
                  </c:pt>
                  <c:pt idx="1">
                    <c:v>49</c:v>
                  </c:pt>
                  <c:pt idx="2">
                    <c:v>73</c:v>
                  </c:pt>
                  <c:pt idx="3">
                    <c:v>101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97.94</c:v>
                </c:pt>
                <c:pt idx="1">
                  <c:v>87.61</c:v>
                </c:pt>
                <c:pt idx="2">
                  <c:v>63.49</c:v>
                </c:pt>
                <c:pt idx="3">
                  <c:v>42.17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 Switchable antennas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25</c:v>
                  </c:pt>
                  <c:pt idx="1">
                    <c:v>49</c:v>
                  </c:pt>
                  <c:pt idx="2">
                    <c:v>73</c:v>
                  </c:pt>
                  <c:pt idx="3">
                    <c:v>101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</c:v>
                </c:pt>
                <c:pt idx="1">
                  <c:v>88.77</c:v>
                </c:pt>
                <c:pt idx="2">
                  <c:v>66.74</c:v>
                </c:pt>
                <c:pt idx="3">
                  <c:v>44.06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24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E3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242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254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B2545"/>
                </a:solidFill>
                <a:latin typeface="Arial"/>
              </a:rPr>
              <a:t>Average Network Delay (s)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 ant + 1 ch</c:v>
                </c:pt>
              </c:strCache>
            </c:strRef>
          </c:tx>
          <c:spPr>
            <a:solidFill>
              <a:srgbClr val="081226"/>
            </a:solidFill>
            <a:ln w="25400" cap="flat">
              <a:solidFill>
                <a:srgbClr val="0812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81226"/>
              </a:solidFill>
              <a:ln w="9525" cap="flat">
                <a:solidFill>
                  <a:srgbClr val="0812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1.72</c:v>
                </c:pt>
                <c:pt idx="1">
                  <c:v>3.26</c:v>
                </c:pt>
                <c:pt idx="2">
                  <c:v/>
                </c:pt>
                <c:pt idx="3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ant + 1 ch</c:v>
                </c:pt>
              </c:strCache>
            </c:strRef>
          </c:tx>
          <c:spPr>
            <a:solidFill>
              <a:srgbClr val="3AA655"/>
            </a:solidFill>
            <a:ln w="25400" cap="flat">
              <a:solidFill>
                <a:srgbClr val="3AA65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3AA655"/>
              </a:solidFill>
              <a:ln w="9525" cap="flat">
                <a:solidFill>
                  <a:srgbClr val="3AA65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0.98</c:v>
                </c:pt>
                <c:pt idx="1">
                  <c:v>1.93</c:v>
                </c:pt>
                <c:pt idx="2">
                  <c:v>3.47</c:v>
                </c:pt>
                <c:pt idx="3">
                  <c:v/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 ant + 1 ch</c:v>
                </c:pt>
              </c:strCache>
            </c:strRef>
          </c:tx>
          <c:spPr>
            <a:solidFill>
              <a:srgbClr val="A569C4"/>
            </a:solidFill>
            <a:ln w="25400" cap="flat">
              <a:solidFill>
                <a:srgbClr val="A569C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A569C4"/>
              </a:solidFill>
              <a:ln w="9525" cap="flat">
                <a:solidFill>
                  <a:srgbClr val="A569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0.89</c:v>
                </c:pt>
                <c:pt idx="1">
                  <c:v>1.38</c:v>
                </c:pt>
                <c:pt idx="2">
                  <c:v>3.08</c:v>
                </c:pt>
                <c:pt idx="3">
                  <c:v>4.92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1 ant + 4 ch</c:v>
                </c:pt>
              </c:strCache>
            </c:strRef>
          </c:tx>
          <c:spPr>
            <a:solidFill>
              <a:srgbClr val="F2A93B"/>
            </a:solidFill>
            <a:ln w="25400" cap="flat">
              <a:solidFill>
                <a:srgbClr val="F2A9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2A93B"/>
              </a:solidFill>
              <a:ln w="9525" cap="flat">
                <a:solidFill>
                  <a:srgbClr val="F2A9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0.77</c:v>
                </c:pt>
                <c:pt idx="1">
                  <c:v>1.08</c:v>
                </c:pt>
                <c:pt idx="2">
                  <c:v>2.54</c:v>
                </c:pt>
                <c:pt idx="3">
                  <c:v>4.53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2 ant + 4 ch</c:v>
                </c:pt>
              </c:strCache>
            </c:strRef>
          </c:tx>
          <c:spPr>
            <a:solidFill>
              <a:srgbClr val="23C6D6"/>
            </a:solidFill>
            <a:ln w="25400" cap="flat">
              <a:solidFill>
                <a:srgbClr val="23C6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3C6D6"/>
              </a:solidFill>
              <a:ln w="9525" cap="flat">
                <a:solidFill>
                  <a:srgbClr val="23C6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0.53</c:v>
                </c:pt>
                <c:pt idx="1">
                  <c:v>0.82</c:v>
                </c:pt>
                <c:pt idx="2">
                  <c:v>1.65</c:v>
                </c:pt>
                <c:pt idx="3">
                  <c:v>2.88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3 ant + 4 ch</c:v>
                </c:pt>
              </c:strCache>
            </c:strRef>
          </c:tx>
          <c:spPr>
            <a:solidFill>
              <a:srgbClr val="8B2E2E"/>
            </a:solidFill>
            <a:ln w="25400" cap="flat">
              <a:solidFill>
                <a:srgbClr val="8B2E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8B2E2E"/>
              </a:solidFill>
              <a:ln w="9525" cap="flat">
                <a:solidFill>
                  <a:srgbClr val="8B2E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</c:lvl>
              </c:multiLvlStrCache>
            </c:multiLvl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0.41</c:v>
                </c:pt>
                <c:pt idx="1">
                  <c:v>0.71</c:v>
                </c:pt>
                <c:pt idx="2">
                  <c:v>1.43</c:v>
                </c:pt>
                <c:pt idx="3">
                  <c:v>2.78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724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12700" cap="flat">
              <a:solidFill>
                <a:srgbClr val="E3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7242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545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2545"/>
                </a:solidFill>
                <a:latin typeface="Arial"/>
              </a:rPr>
              <a:t>Average Delay by Number of Nodes (ms)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Centralized – Omni</c:v>
                </c:pt>
              </c:strCache>
            </c:strRef>
          </c:tx>
          <c:spPr>
            <a:solidFill>
              <a:srgbClr val="5B6B79"/>
            </a:solidFill>
            <a:ln w="31750" cap="flat">
              <a:solidFill>
                <a:srgbClr val="5B6B7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B6B79"/>
              </a:solidFill>
              <a:ln w="9525" cap="flat">
                <a:solidFill>
                  <a:srgbClr val="5B6B7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25</c:v>
                  </c:pt>
                  <c:pt idx="1">
                    <c:v>35</c:v>
                  </c:pt>
                  <c:pt idx="2">
                    <c:v>49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957</c:v>
                </c:pt>
                <c:pt idx="1">
                  <c:v>1452</c:v>
                </c:pt>
                <c:pt idx="2">
                  <c:v>2336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Centralized – Steerable</c:v>
                </c:pt>
              </c:strCache>
            </c:strRef>
          </c:tx>
          <c:spPr>
            <a:solidFill>
              <a:srgbClr val="F2A93B"/>
            </a:solidFill>
            <a:ln w="31750" cap="flat">
              <a:solidFill>
                <a:srgbClr val="F2A9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2A93B"/>
              </a:solidFill>
              <a:ln w="9525" cap="flat">
                <a:solidFill>
                  <a:srgbClr val="F2A9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25</c:v>
                  </c:pt>
                  <c:pt idx="1">
                    <c:v>35</c:v>
                  </c:pt>
                  <c:pt idx="2">
                    <c:v>49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1460</c:v>
                </c:pt>
                <c:pt idx="1">
                  <c:v>1922</c:v>
                </c:pt>
                <c:pt idx="2">
                  <c:v>2444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Distributed – Omni</c:v>
                </c:pt>
              </c:strCache>
            </c:strRef>
          </c:tx>
          <c:spPr>
            <a:solidFill>
              <a:srgbClr val="9FB3C2"/>
            </a:solidFill>
            <a:ln w="31750" cap="flat">
              <a:solidFill>
                <a:srgbClr val="9FB3C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FB3C2"/>
              </a:solidFill>
              <a:ln w="9525" cap="flat">
                <a:solidFill>
                  <a:srgbClr val="9FB3C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25</c:v>
                  </c:pt>
                  <c:pt idx="1">
                    <c:v>35</c:v>
                  </c:pt>
                  <c:pt idx="2">
                    <c:v>49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1778</c:v>
                </c:pt>
                <c:pt idx="1">
                  <c:v>2347</c:v>
                </c:pt>
                <c:pt idx="2">
                  <c:v>3056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Distributed – Steerable</c:v>
                </c:pt>
              </c:strCache>
            </c:strRef>
          </c:tx>
          <c:spPr>
            <a:solidFill>
              <a:srgbClr val="1C7293"/>
            </a:solidFill>
            <a:ln w="3175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25</c:v>
                  </c:pt>
                  <c:pt idx="1">
                    <c:v>35</c:v>
                  </c:pt>
                  <c:pt idx="2">
                    <c:v>49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2129</c:v>
                </c:pt>
                <c:pt idx="1">
                  <c:v>2652</c:v>
                </c:pt>
                <c:pt idx="2">
                  <c:v>2984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24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242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254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B2545"/>
                </a:solidFill>
                <a:latin typeface="Arial"/>
              </a:rPr>
              <a:t>Packet Delivery Ratio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Omni-directional</c:v>
                </c:pt>
              </c:strCache>
            </c:strRef>
          </c:tx>
          <c:spPr>
            <a:solidFill>
              <a:srgbClr val="5B6B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25</c:v>
                  </c:pt>
                  <c:pt idx="1">
                    <c:v>49</c:v>
                  </c:pt>
                  <c:pt idx="2">
                    <c:v>81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94.87</c:v>
                </c:pt>
                <c:pt idx="1">
                  <c:v>83.55</c:v>
                </c:pt>
                <c:pt idx="2">
                  <c:v>57.12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Switchable</c:v>
                </c:pt>
              </c:strCache>
            </c:strRef>
          </c:tx>
          <c:spPr>
            <a:solidFill>
              <a:srgbClr val="7FA6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25</c:v>
                  </c:pt>
                  <c:pt idx="1">
                    <c:v>49</c:v>
                  </c:pt>
                  <c:pt idx="2">
                    <c:v>81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97.94</c:v>
                </c:pt>
                <c:pt idx="1">
                  <c:v>87.61</c:v>
                </c:pt>
                <c:pt idx="2">
                  <c:v>58.73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 Switchable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25</c:v>
                  </c:pt>
                  <c:pt idx="1">
                    <c:v>49</c:v>
                  </c:pt>
                  <c:pt idx="2">
                    <c:v>81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100</c:v>
                </c:pt>
                <c:pt idx="1">
                  <c:v>88.77</c:v>
                </c:pt>
                <c:pt idx="2">
                  <c:v>61.34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Steerable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25</c:v>
                  </c:pt>
                  <c:pt idx="1">
                    <c:v>49</c:v>
                  </c:pt>
                  <c:pt idx="2">
                    <c:v>81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100</c:v>
                </c:pt>
                <c:pt idx="1">
                  <c:v>98.44</c:v>
                </c:pt>
                <c:pt idx="2">
                  <c:v>82.64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724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E3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7242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254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B2545"/>
                </a:solidFill>
                <a:latin typeface="Arial"/>
              </a:rPr>
              <a:t>End-to-End Delay (ms)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Omni-directional</c:v>
                </c:pt>
              </c:strCache>
            </c:strRef>
          </c:tx>
          <c:spPr>
            <a:solidFill>
              <a:srgbClr val="5B6B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25</c:v>
                  </c:pt>
                  <c:pt idx="1">
                    <c:v>49</c:v>
                  </c:pt>
                  <c:pt idx="2">
                    <c:v>81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1267</c:v>
                </c:pt>
                <c:pt idx="1">
                  <c:v>1560</c:v>
                </c:pt>
                <c:pt idx="2">
                  <c:v>2433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Switchable</c:v>
                </c:pt>
              </c:strCache>
            </c:strRef>
          </c:tx>
          <c:spPr>
            <a:solidFill>
              <a:srgbClr val="7FA6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25</c:v>
                  </c:pt>
                  <c:pt idx="1">
                    <c:v>49</c:v>
                  </c:pt>
                  <c:pt idx="2">
                    <c:v>81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595</c:v>
                </c:pt>
                <c:pt idx="1">
                  <c:v>1174</c:v>
                </c:pt>
                <c:pt idx="2">
                  <c:v>1665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 Switchable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25</c:v>
                  </c:pt>
                  <c:pt idx="1">
                    <c:v>49</c:v>
                  </c:pt>
                  <c:pt idx="2">
                    <c:v>81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536</c:v>
                </c:pt>
                <c:pt idx="1">
                  <c:v>1094</c:v>
                </c:pt>
                <c:pt idx="2">
                  <c:v>1613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Steerable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25</c:v>
                  </c:pt>
                  <c:pt idx="1">
                    <c:v>49</c:v>
                  </c:pt>
                  <c:pt idx="2">
                    <c:v>81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544</c:v>
                </c:pt>
                <c:pt idx="1">
                  <c:v>1031</c:v>
                </c:pt>
                <c:pt idx="2">
                  <c:v>1278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724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7242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254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B2545"/>
                </a:solidFill>
                <a:latin typeface="Arial"/>
              </a:rPr>
              <a:t>Energy Consumption (mWh)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Omni-directional</c:v>
                </c:pt>
              </c:strCache>
            </c:strRef>
          </c:tx>
          <c:spPr>
            <a:solidFill>
              <a:srgbClr val="5B6B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25</c:v>
                  </c:pt>
                  <c:pt idx="1">
                    <c:v>49</c:v>
                  </c:pt>
                  <c:pt idx="2">
                    <c:v>81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3.21</c:v>
                </c:pt>
                <c:pt idx="1">
                  <c:v>3.65</c:v>
                </c:pt>
                <c:pt idx="2">
                  <c:v>4.23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Switchable</c:v>
                </c:pt>
              </c:strCache>
            </c:strRef>
          </c:tx>
          <c:spPr>
            <a:solidFill>
              <a:srgbClr val="7FA6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25</c:v>
                  </c:pt>
                  <c:pt idx="1">
                    <c:v>49</c:v>
                  </c:pt>
                  <c:pt idx="2">
                    <c:v>81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1.55</c:v>
                </c:pt>
                <c:pt idx="1">
                  <c:v>1.82</c:v>
                </c:pt>
                <c:pt idx="2">
                  <c:v>2.01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 Switchable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25</c:v>
                  </c:pt>
                  <c:pt idx="1">
                    <c:v>49</c:v>
                  </c:pt>
                  <c:pt idx="2">
                    <c:v>81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1.26</c:v>
                </c:pt>
                <c:pt idx="1">
                  <c:v>1.49</c:v>
                </c:pt>
                <c:pt idx="2">
                  <c:v>1.78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Steerable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25</c:v>
                  </c:pt>
                  <c:pt idx="1">
                    <c:v>49</c:v>
                  </c:pt>
                  <c:pt idx="2">
                    <c:v>81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2.98</c:v>
                </c:pt>
                <c:pt idx="1">
                  <c:v>3.21</c:v>
                </c:pt>
                <c:pt idx="2">
                  <c:v>3.87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724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7242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chart" Target="/ppt/charts/chart6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2468880"/>
            <a:ext cx="6583680" cy="6583680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1C7293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3200400"/>
            <a:ext cx="5120640" cy="5120640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F2A93B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3931920"/>
            <a:ext cx="3657600" cy="3657600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1C7293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4663440"/>
            <a:ext cx="2194560" cy="2194560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F2A93B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6400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KARADENIZ TECHNICAL UNIVERSITY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9875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GRADUATE SCHOOL OF NATURAL AND APPLIED SCIENCES  •  COMPUTER ENGINEERING GRADUATE PROGRAM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of Smart Antenna Based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 Algorithms for IoT Networks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Ağlar İçin Akıllı Anten Tabanlı Çizelgeleme Algoritmalarının İncelenmesi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160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DEFENSE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7091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Sercan KÜLCÜ
</a:t>
            </a:r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Candidate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035040" y="47091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
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Assoc. Prof. Sedat GÖRMÜŞ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6172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2022  •  Trabzon, Türkiye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0136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91640" y="1819656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Introduction, Motivation and Problem Statement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91640" y="229514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constraints in IoT networks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172968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282696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691640" y="3300984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and Directional Antennas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91640" y="377647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background and the 6TiSCH protocol stack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654296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764024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91640" y="478231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Switchable Antenna with Distributed Scheduling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91640" y="52578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169164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180136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43800" y="1819656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Steerable Antenna with Distributed Scheduling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543800" y="229514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3172968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3282696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43800" y="3300984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Steerable Antenna with Centralized Scheduling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543800" y="377647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4654296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4764024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543800" y="478231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Evaluation, Conclusion and Future Work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543800" y="52578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contributions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Smart Antenna Based Scheduling Algorithms for IoT Networks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Internet of Things and Resource Scarcity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IETF 6TiSCH protocol stack uses time-slot and frequency-channel resources in a planned way to create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reliable, deterministic, low-power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wireless IoT networks.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944368"/>
            <a:ext cx="100584" cy="1005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807208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2.4 GHz ISM band is shared with Wi-Fi, Bluetooth and other IEEE 802.15.4 networks → frequency resources are limited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100584" cy="1005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520440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Dense, high-traffic networks also face limited time-slot resources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370832"/>
            <a:ext cx="100584" cy="1005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233672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Omni-directional antennas share resources without exploiting the spatial dimension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20840" y="1600200"/>
            <a:ext cx="4892040" cy="4480560"/>
          </a:xfrm>
          <a:prstGeom prst="roundRect">
            <a:avLst>
              <a:gd name="adj" fmla="val 1633"/>
            </a:avLst>
          </a:prstGeom>
          <a:solidFill>
            <a:srgbClr val="0B2545"/>
          </a:solidFill>
          <a:ln/>
        </p:spPr>
      </p:sp>
      <p:sp>
        <p:nvSpPr>
          <p:cNvPr id="12" name="Text 10"/>
          <p:cNvSpPr/>
          <p:nvPr/>
        </p:nvSpPr>
        <p:spPr>
          <a:xfrm>
            <a:off x="7086600" y="18745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86600" y="219456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 Reuse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086600" y="288036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antennas with adjustable coverage are used, a third dimension — space — is added to scheduling, in addition to time and frequency.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86600" y="3886200"/>
            <a:ext cx="42062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4069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</a:t>
            </a:r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</a:t>
            </a:r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086600" y="4663440"/>
            <a:ext cx="4206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Higher packet delivery ratio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Lower end-to-end latency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Lower energy consumption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Smart Antenna Based Scheduling Algorithms for IoT Networks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Smart and Directional Antennas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Omni-directional antennas are exposed to signals (and interference) from every direction. Smart/directional antennas focus energy toward one direction, raising SINR, and can apply "nulling" toward interference sources.</a:t>
            </a:r>
            <a:endParaRPr lang="en-US" sz="1350" dirty="0"/>
          </a:p>
        </p:txBody>
      </p:sp>
      <p:pic>
        <p:nvPicPr>
          <p:cNvPr id="5" name="Image 0" descr="figs/crop_antenna_types_e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331720"/>
            <a:ext cx="9692640" cy="38039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19963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Switched Beam · Steerable Single Beam (Steerable Directional) · Adaptive Array   (adapted from thesis Fig. 8)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Smart Antenna Based Scheduling Algorithms for IoT Networks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AIM AND CONTRIBUTIONS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Thesis Aim and Contributions to the Literature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 low-complexity, smart/directional-antenna-based resource scheduling mechanism for IETF 6TiSCH networks that also exploits the spatial dimension.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EEF3F8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67919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60604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 Discovery Mechanism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3081528"/>
            <a:ext cx="4343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novel method that lets nodes discover each other before they are synchronized to the network.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242316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EEF3F8"/>
          </a:solidFill>
          <a:ln/>
        </p:spPr>
      </p:sp>
      <p:sp>
        <p:nvSpPr>
          <p:cNvPr id="11" name="Shape 9"/>
          <p:cNvSpPr/>
          <p:nvPr/>
        </p:nvSpPr>
        <p:spPr>
          <a:xfrm>
            <a:off x="6519672" y="267919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519672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0" y="260604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Antenna Direction Detection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0" y="3081528"/>
            <a:ext cx="4343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method for finding the antenna direction that yields the maximum signal strength between neighboring nodes.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EEF3F8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4828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475488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Hybrid Scheduling Algorithms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5230368"/>
            <a:ext cx="4343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healthy delivery of control and data packets: (i) distributed + autonomous, (ii) centralized + autonomous scheduling.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457200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EEF3F8"/>
          </a:solidFill>
          <a:ln/>
        </p:spPr>
      </p:sp>
      <p:sp>
        <p:nvSpPr>
          <p:cNvPr id="21" name="Shape 19"/>
          <p:cNvSpPr/>
          <p:nvPr/>
        </p:nvSpPr>
        <p:spPr>
          <a:xfrm>
            <a:off x="6519672" y="482803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519672" y="4828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32320" y="475488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 Models Added to COOJA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32320" y="5230368"/>
            <a:ext cx="4343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of the switchable-beam and steerable-directional antenna models into the open-source COOJA simulator.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Smart Antenna Based Scheduling Algorithms for IoT Networks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of the Thesis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3383280"/>
            <a:ext cx="10378440" cy="0"/>
          </a:xfrm>
          <a:prstGeom prst="line">
            <a:avLst/>
          </a:prstGeom>
          <a:noFill/>
          <a:ln w="50800">
            <a:solidFill>
              <a:srgbClr val="D8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3090672"/>
            <a:ext cx="585216" cy="585216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309067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" y="196596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14400" y="2880360"/>
            <a:ext cx="0" cy="210312"/>
          </a:xfrm>
          <a:prstGeom prst="line">
            <a:avLst/>
          </a:prstGeom>
          <a:noFill/>
          <a:ln w="12700">
            <a:solidFill>
              <a:srgbClr val="D8E6F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697480" y="3090672"/>
            <a:ext cx="585216" cy="585216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309067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121408" y="388620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 Models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990088" y="3675888"/>
            <a:ext cx="0" cy="210312"/>
          </a:xfrm>
          <a:prstGeom prst="line">
            <a:avLst/>
          </a:prstGeom>
          <a:noFill/>
          <a:ln w="12700">
            <a:solidFill>
              <a:srgbClr val="D8E6F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773168" y="3090672"/>
            <a:ext cx="585216" cy="585216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309067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97096" y="196596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Switchable Antenna +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Scheduling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65776" y="2880360"/>
            <a:ext cx="0" cy="210312"/>
          </a:xfrm>
          <a:prstGeom prst="line">
            <a:avLst/>
          </a:prstGeom>
          <a:noFill/>
          <a:ln w="12700">
            <a:solidFill>
              <a:srgbClr val="D8E6F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848856" y="3090672"/>
            <a:ext cx="585216" cy="585216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48856" y="309067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72784" y="388620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Steerable Antenna +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Scheduling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41464" y="3675888"/>
            <a:ext cx="0" cy="210312"/>
          </a:xfrm>
          <a:prstGeom prst="line">
            <a:avLst/>
          </a:prstGeom>
          <a:noFill/>
          <a:ln w="12700">
            <a:solidFill>
              <a:srgbClr val="D8E6F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8924544" y="3090672"/>
            <a:ext cx="585216" cy="585216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24544" y="309067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48472" y="196596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Steerable Antenna +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Scheduling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217152" y="2880360"/>
            <a:ext cx="0" cy="210312"/>
          </a:xfrm>
          <a:prstGeom prst="line">
            <a:avLst/>
          </a:prstGeom>
          <a:noFill/>
          <a:ln w="12700">
            <a:solidFill>
              <a:srgbClr val="D8E6F0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1000232" y="3090672"/>
            <a:ext cx="585216" cy="585216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000232" y="309067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424160" y="388620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1292840" y="3675888"/>
            <a:ext cx="0" cy="210312"/>
          </a:xfrm>
          <a:prstGeom prst="line">
            <a:avLst/>
          </a:prstGeom>
          <a:noFill/>
          <a:ln w="12700">
            <a:solidFill>
              <a:srgbClr val="D8E6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914400" y="58064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of this talk focuses directly on the thesis's original contributions in Chapters 4, 5 and 6 (shown in gold).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Smart Antenna Based Scheduling Algorithms for IoT Networks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LITERATURE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6TiSCH Protocol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top of the IEEE 802.15.4 TSCH MAC layer sit routing (RPL), compression (6LoWPAN) and the 6top (6P) sublayer, which integrates the Scheduling Function with the upper layers.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075688" y="2148840"/>
            <a:ext cx="2011680" cy="502920"/>
          </a:xfrm>
          <a:prstGeom prst="rect">
            <a:avLst/>
          </a:prstGeom>
          <a:solidFill>
            <a:srgbClr val="0812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75688" y="2148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87368" y="2148840"/>
            <a:ext cx="4023360" cy="502920"/>
          </a:xfrm>
          <a:prstGeom prst="rect">
            <a:avLst/>
          </a:prstGeom>
          <a:solidFill>
            <a:srgbClr val="0812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87368" y="21488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6LoWPAN 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10728" y="2148840"/>
            <a:ext cx="2011680" cy="502920"/>
          </a:xfrm>
          <a:prstGeom prst="rect">
            <a:avLst/>
          </a:prstGeom>
          <a:solidFill>
            <a:srgbClr val="0812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10728" y="2148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75688" y="2697480"/>
            <a:ext cx="201168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75688" y="2697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087368" y="2697480"/>
            <a:ext cx="603504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87368" y="269748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ICMPv6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075688" y="3246120"/>
            <a:ext cx="804672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75688" y="32461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IPv6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075688" y="3794760"/>
            <a:ext cx="201168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75688" y="37947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6LoWPAN HC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087368" y="3794760"/>
            <a:ext cx="603504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87368" y="3794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Function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075688" y="4343400"/>
            <a:ext cx="804672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75688" y="4343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6top (6P)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075688" y="4892040"/>
            <a:ext cx="8046720" cy="502920"/>
          </a:xfrm>
          <a:prstGeom prst="rect">
            <a:avLst/>
          </a:prstGeom>
          <a:solidFill>
            <a:srgbClr val="0812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75688" y="48920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802.15.4 TSCH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075688" y="56235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thesis adds a spatial dimension to the Scheduling Function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Smart Antenna Based Scheduling Algorithms for IoT Networks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LITERATURE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 Approaches in 6TiSCH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EEF3F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200253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508760" y="244144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independently determines its own cells via a hash function of its ID/address. No signaling required; scalable.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79976" y="169164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EEF3F8"/>
          </a:solidFill>
          <a:ln/>
        </p:spPr>
      </p:sp>
      <p:sp>
        <p:nvSpPr>
          <p:cNvPr id="11" name="Shape 9"/>
          <p:cNvSpPr/>
          <p:nvPr/>
        </p:nvSpPr>
        <p:spPr>
          <a:xfrm>
            <a:off x="4654296" y="201168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654296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40096" y="200253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Distributed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340096" y="244144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54296" y="301752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Neighboring nodes negotiate cell allocation on the fly using the 6P protocol. Traffic-aware.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11312" y="169164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EEF3F8"/>
          </a:solidFill>
          <a:ln/>
        </p:spPr>
      </p:sp>
      <p:sp>
        <p:nvSpPr>
          <p:cNvPr id="17" name="Shape 15"/>
          <p:cNvSpPr/>
          <p:nvPr/>
        </p:nvSpPr>
        <p:spPr>
          <a:xfrm>
            <a:off x="8485632" y="2011680"/>
            <a:ext cx="502920" cy="502920"/>
          </a:xfrm>
          <a:prstGeom prst="ellipse">
            <a:avLst/>
          </a:prstGeom>
          <a:solidFill>
            <a:srgbClr val="C0524A"/>
          </a:solidFill>
          <a:ln/>
        </p:spPr>
      </p:sp>
      <p:sp>
        <p:nvSpPr>
          <p:cNvPr id="18" name="Text 16"/>
          <p:cNvSpPr/>
          <p:nvPr/>
        </p:nvSpPr>
        <p:spPr>
          <a:xfrm>
            <a:off x="8485632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171432" y="200253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171432" y="244144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485632" y="301752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 with full network topology knowledge (PCE) computes and distributes the entire schedule. Optimal, but limited scalability.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0807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thesis combines all three approaches in a hybrid fashion across chapters — with autonomous scheduling as the common foundation.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Smart Antenna Based Scheduling Algorithms for IoT Networks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Developed Antenna Models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3246120"/>
          </a:xfrm>
          <a:prstGeom prst="roundRect">
            <a:avLst>
              <a:gd name="adj" fmla="val 2535"/>
            </a:avLst>
          </a:prstGeom>
          <a:solidFill>
            <a:srgbClr val="0B2545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82880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Switchable Beam Antenna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26771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Anahtarlanabilir Huzme Anten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2816352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078992" y="2688336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several pre-defined fixed radiation patterns is selected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47472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1078992" y="3346704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hardware complexity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4133088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1078992" y="400507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together with distributed scheduling in Chapter 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1645920"/>
            <a:ext cx="5440680" cy="3246120"/>
          </a:xfrm>
          <a:prstGeom prst="roundRect">
            <a:avLst>
              <a:gd name="adj" fmla="val 2535"/>
            </a:avLst>
          </a:prstGeom>
          <a:solidFill>
            <a:srgbClr val="081226"/>
          </a:solidFill>
          <a:ln/>
        </p:spPr>
      </p:sp>
      <p:sp>
        <p:nvSpPr>
          <p:cNvPr id="15" name="Shape 13"/>
          <p:cNvSpPr/>
          <p:nvPr/>
        </p:nvSpPr>
        <p:spPr>
          <a:xfrm>
            <a:off x="6537960" y="1920240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6812280" y="182880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Steerable Directional Antenna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37960" y="226771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Döner Yönlü Anten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0" y="2816352"/>
            <a:ext cx="73152" cy="7315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9" name="Text 17"/>
          <p:cNvSpPr/>
          <p:nvPr/>
        </p:nvSpPr>
        <p:spPr>
          <a:xfrm>
            <a:off x="6793992" y="2688336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beam is steered toward the target, with "nulling" applied toward interference sources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0" y="3474720"/>
            <a:ext cx="73152" cy="7315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/>
          <p:nvPr/>
        </p:nvSpPr>
        <p:spPr>
          <a:xfrm>
            <a:off x="6793992" y="3346704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SINR and range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4133088"/>
            <a:ext cx="73152" cy="7315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3" name="Text 21"/>
          <p:cNvSpPr/>
          <p:nvPr/>
        </p:nvSpPr>
        <p:spPr>
          <a:xfrm>
            <a:off x="6793992" y="400507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with both distributed and centralized scheduling in Chapters 5 and 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166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were added to the open-source COOJA network simulator and tested on Contiki OS.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Smart Antenna Based Scheduling Algorithms for IoT Networks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Infrastructure: COOJA + Contiki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TI EXP430F5438 (MSP430F5437 MCU + CC2420 radio). COOJA's radio module was extended to manage multiple virtual antenna interfaces over SPI ports.</a:t>
            </a:r>
            <a:endParaRPr lang="en-US" sz="1350" dirty="0"/>
          </a:p>
        </p:txBody>
      </p:sp>
      <p:pic>
        <p:nvPicPr>
          <p:cNvPr id="5" name="Image 0" descr="figs/crop_multiantenna_arch_e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2377440"/>
            <a:ext cx="8732520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(adapted from thesis Fig. 13)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Smart Antenna Based Scheduling Algorithms for IoT Networks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457200"/>
            <a:ext cx="5852160" cy="5852160"/>
          </a:xfrm>
          <a:prstGeom prst="arc">
            <a:avLst>
              <a:gd name="adj1" fmla="val 0"/>
              <a:gd name="adj2" fmla="val 8400000"/>
            </a:avLst>
          </a:prstGeom>
          <a:ln w="1905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1280160"/>
            <a:ext cx="4206240" cy="4206240"/>
          </a:xfrm>
          <a:prstGeom prst="arc">
            <a:avLst>
              <a:gd name="adj1" fmla="val 0"/>
              <a:gd name="adj2" fmla="val 8400000"/>
            </a:avLst>
          </a:prstGeom>
          <a:ln w="19050">
            <a:solidFill>
              <a:srgbClr val="F2A93B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2103120"/>
            <a:ext cx="2560320" cy="2560320"/>
          </a:xfrm>
          <a:prstGeom prst="arc">
            <a:avLst>
              <a:gd name="adj1" fmla="val 0"/>
              <a:gd name="adj2" fmla="val 8400000"/>
            </a:avLst>
          </a:prstGeom>
          <a:ln w="1905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Switchable Antenna with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Distributed Scheduling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SF-DA: Directional-Antenna-Based Scheduling Function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590288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443484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antennas active on shared cells; only the correct antenna active on dedicated cells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5047488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89204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against 6TiSCH Minimal Configuration and Orchestra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Smart Antenna Based Scheduling Algorithms for IoT Networks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PROPOSED ALGORITHM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Space-Time Based Distributed Scheduling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96012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shared cells: all antenna directions are activated → guarantees communication with every neighbor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807208"/>
            <a:ext cx="5440680" cy="96012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89864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dedicated cells: only the correct-direction antenna is activated → reduces interference and collisions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922776"/>
            <a:ext cx="5440680" cy="96012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4014216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collision rate on shared cells drops significantly, and network stability improves</a:t>
            </a:r>
            <a:endParaRPr lang="en-US" sz="1250" dirty="0"/>
          </a:p>
        </p:txBody>
      </p:sp>
      <p:pic>
        <p:nvPicPr>
          <p:cNvPr id="10" name="Image 0" descr="figs/crop_network_examp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645920"/>
            <a:ext cx="5257800" cy="33375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355080" y="502920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18. Example network of 25 nodes (green: coverage area)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Smart Antenna Based Scheduling Algorithms for IoT Networks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TEST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Packet Delivery Ratio vs. Number of Antennas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492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60920" y="1737360"/>
            <a:ext cx="4251960" cy="1170432"/>
          </a:xfrm>
          <a:prstGeom prst="roundRect">
            <a:avLst>
              <a:gd name="adj" fmla="val 6250"/>
            </a:avLst>
          </a:prstGeom>
          <a:solidFill>
            <a:srgbClr val="0B2545"/>
          </a:solidFill>
          <a:ln/>
        </p:spPr>
      </p:sp>
      <p:sp>
        <p:nvSpPr>
          <p:cNvPr id="6" name="Text 3"/>
          <p:cNvSpPr/>
          <p:nvPr/>
        </p:nvSpPr>
        <p:spPr>
          <a:xfrm>
            <a:off x="7543800" y="1847088"/>
            <a:ext cx="164592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9189720" y="1865376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PDR improvement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(with directional antenna)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60920" y="3108960"/>
            <a:ext cx="4251960" cy="1170432"/>
          </a:xfrm>
          <a:prstGeom prst="roundRect">
            <a:avLst>
              <a:gd name="adj" fmla="val 6250"/>
            </a:avLst>
          </a:prstGeom>
          <a:solidFill>
            <a:srgbClr val="0B2545"/>
          </a:solidFill>
          <a:ln/>
        </p:spPr>
      </p:sp>
      <p:sp>
        <p:nvSpPr>
          <p:cNvPr id="9" name="Text 6"/>
          <p:cNvSpPr/>
          <p:nvPr/>
        </p:nvSpPr>
        <p:spPr>
          <a:xfrm>
            <a:off x="7543800" y="3218688"/>
            <a:ext cx="164592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9189720" y="3236976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latency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60920" y="4480560"/>
            <a:ext cx="4251960" cy="1170432"/>
          </a:xfrm>
          <a:prstGeom prst="roundRect">
            <a:avLst>
              <a:gd name="adj" fmla="val 6250"/>
            </a:avLst>
          </a:prstGeom>
          <a:solidFill>
            <a:srgbClr val="0B2545"/>
          </a:solidFill>
          <a:ln/>
        </p:spPr>
      </p:sp>
      <p:sp>
        <p:nvSpPr>
          <p:cNvPr id="12" name="Text 9"/>
          <p:cNvSpPr/>
          <p:nvPr/>
        </p:nvSpPr>
        <p:spPr>
          <a:xfrm>
            <a:off x="7543800" y="4590288"/>
            <a:ext cx="164592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~60%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9189720" y="4608576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energy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(25 nodes)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Smart Antenna Based Scheduling Algorithms for IoT Networks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457200"/>
            <a:ext cx="5852160" cy="5852160"/>
          </a:xfrm>
          <a:prstGeom prst="arc">
            <a:avLst>
              <a:gd name="adj1" fmla="val 0"/>
              <a:gd name="adj2" fmla="val 8400000"/>
            </a:avLst>
          </a:prstGeom>
          <a:ln w="1905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1280160"/>
            <a:ext cx="4206240" cy="4206240"/>
          </a:xfrm>
          <a:prstGeom prst="arc">
            <a:avLst>
              <a:gd name="adj1" fmla="val 0"/>
              <a:gd name="adj2" fmla="val 8400000"/>
            </a:avLst>
          </a:prstGeom>
          <a:ln w="19050">
            <a:solidFill>
              <a:srgbClr val="F2A93B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2103120"/>
            <a:ext cx="2560320" cy="2560320"/>
          </a:xfrm>
          <a:prstGeom prst="arc">
            <a:avLst>
              <a:gd name="adj1" fmla="val 0"/>
              <a:gd name="adj2" fmla="val 8400000"/>
            </a:avLst>
          </a:prstGeom>
          <a:ln w="1905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Steerable Antenna with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Distributed Scheduling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the new challenges created by a narrow coverage area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590288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443484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narrow beam → long synchronization time, delayed network formation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5047488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89204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broadcast control packets cannot reach all neighbors at once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Smart Antenna Based Scheduling Algorithms for IoT Networks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· HYBRID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Hybrid Approach Supported by Autonomous Scheduling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1298448"/>
          </a:xfrm>
          <a:prstGeom prst="roundRect">
            <a:avLst>
              <a:gd name="adj" fmla="val 4930"/>
            </a:avLst>
          </a:prstGeom>
          <a:solidFill>
            <a:srgbClr val="EEF3F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Beacon Packet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mechanism that lets nodes discover their neighbors before synchronizing to the network.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63640" y="1645920"/>
            <a:ext cx="5486400" cy="1298448"/>
          </a:xfrm>
          <a:prstGeom prst="roundRect">
            <a:avLst>
              <a:gd name="adj" fmla="val 4930"/>
            </a:avLst>
          </a:prstGeom>
          <a:solidFill>
            <a:srgbClr val="EEF3F8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 via Autonomous Cells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21031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packets are sent repeatedly over autonomously scheduled cells so they reach all neighbors.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54096"/>
            <a:ext cx="5486400" cy="1298448"/>
          </a:xfrm>
          <a:prstGeom prst="roundRect">
            <a:avLst>
              <a:gd name="adj" fmla="val 4930"/>
            </a:avLst>
          </a:prstGeom>
          <a:solidFill>
            <a:srgbClr val="EEF3F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14553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Transmit Power / Direction Update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511296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and updating over time the antenna direction giving maximum signal strength between node pairs.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3054096"/>
            <a:ext cx="5486400" cy="1298448"/>
          </a:xfrm>
          <a:prstGeom prst="roundRect">
            <a:avLst>
              <a:gd name="adj" fmla="val 4930"/>
            </a:avLst>
          </a:prstGeom>
          <a:solidFill>
            <a:srgbClr val="EEF3F8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314553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Synchronization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3511296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scheduling provides a synchronization time that is scalable and independent of network density.</a:t>
            </a:r>
            <a:endParaRPr lang="en-US" sz="11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48640" y="4389120"/>
          <a:ext cx="758952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548640" y="626364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read from thesis Fig. 26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8366760" y="4526280"/>
            <a:ext cx="3246120" cy="1691640"/>
          </a:xfrm>
          <a:prstGeom prst="roundRect">
            <a:avLst>
              <a:gd name="adj" fmla="val 4324"/>
            </a:avLst>
          </a:prstGeom>
          <a:solidFill>
            <a:srgbClr val="081226"/>
          </a:solidFill>
          <a:ln/>
        </p:spPr>
      </p:sp>
      <p:sp>
        <p:nvSpPr>
          <p:cNvPr id="19" name="Text 16"/>
          <p:cNvSpPr/>
          <p:nvPr/>
        </p:nvSpPr>
        <p:spPr>
          <a:xfrm>
            <a:off x="8595360" y="4663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595360" y="4983480"/>
            <a:ext cx="27889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improvement in network performance metrics over omni-directional antennas; autonomous scheduling solves the synchronization problem in a scalable way.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Smart Antenna Based Scheduling Algorithms for IoT Networks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457200"/>
            <a:ext cx="5852160" cy="5852160"/>
          </a:xfrm>
          <a:prstGeom prst="arc">
            <a:avLst>
              <a:gd name="adj1" fmla="val 0"/>
              <a:gd name="adj2" fmla="val 8400000"/>
            </a:avLst>
          </a:prstGeom>
          <a:ln w="1905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1280160"/>
            <a:ext cx="4206240" cy="4206240"/>
          </a:xfrm>
          <a:prstGeom prst="arc">
            <a:avLst>
              <a:gd name="adj1" fmla="val 0"/>
              <a:gd name="adj2" fmla="val 8400000"/>
            </a:avLst>
          </a:prstGeom>
          <a:ln w="19050">
            <a:solidFill>
              <a:srgbClr val="F2A93B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2103120"/>
            <a:ext cx="2560320" cy="2560320"/>
          </a:xfrm>
          <a:prstGeom prst="arc">
            <a:avLst>
              <a:gd name="adj1" fmla="val 0"/>
              <a:gd name="adj2" fmla="val 8400000"/>
            </a:avLst>
          </a:prstGeom>
          <a:ln w="1905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Steerable Antenna with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 Scheduling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Adapting the TASA algorithm and bidirectional scheduling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590288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443484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 node (PCE) computes the entire schedule from the network topology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5047488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89204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a data packet takes from source to sink is taken into account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Smart Antenna Based Scheduling Algorithms for IoT Networks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· CENTRALIZED SCHEDULING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Adapting TASA and Bidirectional Scheduling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F5F8FB"/>
          </a:solidFill>
          <a:ln w="9525">
            <a:solidFill>
              <a:srgbClr val="D8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83664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836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764792"/>
            <a:ext cx="42062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/ Interference / Conflict Matrices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806440" y="1764792"/>
            <a:ext cx="5623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steerable antenna's direction information is used to derive a graph representation of the network.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752344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EEF3F8"/>
          </a:solidFill>
          <a:ln w="9525">
            <a:solidFill>
              <a:srgbClr val="D8E6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94436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44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08760" y="2825496"/>
            <a:ext cx="42062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Adapting the TASA Algorithm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06440" y="2825496"/>
            <a:ext cx="5623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frequency and antenna direction are jointly assigned to produce a conflict-free schedule.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13048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F5F8FB"/>
          </a:solidFill>
          <a:ln w="9525">
            <a:solidFill>
              <a:srgbClr val="D8E6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00507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0050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3886200"/>
            <a:ext cx="42062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Path-Based Schedule Generation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06440" y="3886200"/>
            <a:ext cx="5623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are allocated in sequence along the multi-hop path a packet follows from source to sink.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873752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EEF3F8"/>
          </a:solidFill>
          <a:ln w="9525">
            <a:solidFill>
              <a:srgbClr val="D8E6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5065776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0657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08760" y="4946904"/>
            <a:ext cx="42062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Centralized Scheduling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6440" y="4946904"/>
            <a:ext cx="5623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and downstream traffic are scheduled simultaneously, reducing end-to-end latency.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Smart Antenna Based Scheduling Algorithms for IoT Networks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· TEST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 vs. Distributed Scheduling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731520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645920"/>
            <a:ext cx="3474720" cy="4343400"/>
          </a:xfrm>
          <a:prstGeom prst="roundRect">
            <a:avLst>
              <a:gd name="adj" fmla="val 2105"/>
            </a:avLst>
          </a:prstGeom>
          <a:solidFill>
            <a:srgbClr val="081226"/>
          </a:solidFill>
          <a:ln/>
        </p:spPr>
      </p:sp>
      <p:sp>
        <p:nvSpPr>
          <p:cNvPr id="6" name="Text 3"/>
          <p:cNvSpPr/>
          <p:nvPr/>
        </p:nvSpPr>
        <p:spPr>
          <a:xfrm>
            <a:off x="8366760" y="1874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366760" y="22860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scheduling achieves lower end-to-end latency and energy consumption than distributed scheduling.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366760" y="3429000"/>
            <a:ext cx="301752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66760" y="361188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However, the centralized solution is not scalable → best suited to small, sparse, static networks.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366760" y="4754880"/>
            <a:ext cx="301752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66760" y="4937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is validated against the TASA algorithm adapted for the steerable antenna.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Smart Antenna Based Scheduling Algorithms for IoT Networks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Comparison of Antenna Models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54864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172200" y="1600200"/>
          <a:ext cx="54864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548640" y="4160520"/>
          <a:ext cx="548640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6172200" y="416052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0B2545"/>
          </a:solidFill>
          <a:ln/>
        </p:spPr>
      </p:sp>
      <p:sp>
        <p:nvSpPr>
          <p:cNvPr id="8" name="Text 3"/>
          <p:cNvSpPr/>
          <p:nvPr/>
        </p:nvSpPr>
        <p:spPr>
          <a:xfrm>
            <a:off x="6400800" y="43159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Finding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400800" y="466344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using the spatial dimension in addition to time and frequency, smart/directional antennas outperform omni-directional antennas on all three metrics (PDR, delay, energy). The gap is most pronounced in dense networks (81 nodes).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Smart Antenna Based Scheduling Algorithms for IoT Networks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Evaluation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EF3F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93976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78308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Switchable Antenna (Ch.4)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0" y="1783080"/>
            <a:ext cx="7132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collisions/interference on shared cells and improved network stability; improved PDR, energy and delay under limited frequency resources.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98648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EF3F8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3300984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2990088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Steerable Antenna (Ch.5)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97680" y="2990088"/>
            <a:ext cx="7132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hybrid autonomous+distributed solution solved the synchronization-time problem in a scalable way and improved performance over omni-directional antennas.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05656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EF3F8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450799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4197096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Scheduling (Ch.6)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97680" y="4197096"/>
            <a:ext cx="7132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Path-based and bidirectional scheduling achieved lower delay/energy than the distributed solution; scalability is limited to small networks.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312664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081226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422392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80360" y="5404104"/>
            <a:ext cx="8503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equipped with smart/directional antennas, scheduling bandwidth resources across the time-frequency-space dimensions, deliver superior network performance compared to the traditional omni-directional approach.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Smart Antenna Based Scheduling Algorithms for IoT Networks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AND ACADEMIC 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 and Publications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577840" cy="9144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14884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2130552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the simulation results on a real hardware testbed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081528"/>
            <a:ext cx="5577840" cy="9144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172968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315468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performance in a high-interference environment shared with other technologies in the 2.4 GHz band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105656"/>
            <a:ext cx="5577840" cy="9144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197096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88720" y="4178808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machine-learning-based algorithms for best antenna direction and cell selection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5129784"/>
            <a:ext cx="5577840" cy="9144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5221224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88720" y="5202936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multipath communication with steerable antenna solutions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46520" y="16002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46520" y="205740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0B2545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22402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Access (2021)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720840" y="260604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Kulcu, S., Gormus, S., Jin, Y. "Integration of Steerable Smart Antennas to IETF 6TiSCH Protocol for High Reliability Wireless IoT Networks", IEEE Access, 9, (2021) 147780-147790.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46520" y="406908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081226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42519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TJEECS (2019)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720840" y="461772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Görmüş, S. and Külcü, S. "Enabling space time division multiple access in IETF 6TiSCH protocol", Turkish Journal of Electrical Engineering and Computer Sciences, 27, 6, (2019) 4151-4166.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thesis was supported by TÜBİTAK project no. 118E289 (Program 1001).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Smart Antenna Based Scheduling Algorithms for IoT Networks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38248" y="-365760"/>
            <a:ext cx="7315200" cy="7315200"/>
          </a:xfrm>
          <a:prstGeom prst="arc">
            <a:avLst>
              <a:gd name="adj1" fmla="val 15000000"/>
              <a:gd name="adj2" fmla="val 17400000"/>
            </a:avLst>
          </a:prstGeom>
          <a:ln w="19050">
            <a:solidFill>
              <a:srgbClr val="1C7293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61208" y="457200"/>
            <a:ext cx="5669280" cy="5669280"/>
          </a:xfrm>
          <a:prstGeom prst="arc">
            <a:avLst>
              <a:gd name="adj1" fmla="val 15000000"/>
              <a:gd name="adj2" fmla="val 17400000"/>
            </a:avLst>
          </a:prstGeom>
          <a:ln w="19050">
            <a:solidFill>
              <a:srgbClr val="F2A93B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84168" y="1280160"/>
            <a:ext cx="4023360" cy="4023360"/>
          </a:xfrm>
          <a:prstGeom prst="arc">
            <a:avLst>
              <a:gd name="adj1" fmla="val 15000000"/>
              <a:gd name="adj2" fmla="val 17400000"/>
            </a:avLst>
          </a:prstGeom>
          <a:ln w="19050">
            <a:solidFill>
              <a:srgbClr val="1C7293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07128" y="2103120"/>
            <a:ext cx="2377440" cy="2377440"/>
          </a:xfrm>
          <a:prstGeom prst="arc">
            <a:avLst>
              <a:gd name="adj1" fmla="val 15000000"/>
              <a:gd name="adj2" fmla="val 17400000"/>
            </a:avLst>
          </a:prstGeom>
          <a:ln w="19050">
            <a:solidFill>
              <a:srgbClr val="F2A93B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233172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0" y="329184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welcome your questions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43434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Sercan KÜLCÜ</a:t>
            </a:r>
            <a:pPr algn="ctr"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Supervisor: Assoc. Prof. Sedat GÖRMÜŞ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0" y="47548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Karadeniz Technical University  ·  Graduate School of Natural and Applied Sciences  ·  Computer Engineering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2026-09-10T14:53:18Z</dcterms:created>
  <dcterms:modified xsi:type="dcterms:W3CDTF">2026-09-10T14:53:18Z</dcterms:modified>
</cp:coreProperties>
</file>