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365760"/>
            <a:ext cx="5852160" cy="5852160"/>
          </a:xfrm>
          <a:prstGeom prst="ellipse">
            <a:avLst/>
          </a:prstGeom>
          <a:ln w="12700">
            <a:solidFill>
              <a:srgbClr val="3E7CA6">
                <a:alpha val="7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1097280"/>
            <a:ext cx="4389120" cy="4389120"/>
          </a:xfrm>
          <a:prstGeom prst="ellipse">
            <a:avLst/>
          </a:prstGeom>
          <a:ln w="12700">
            <a:solidFill>
              <a:srgbClr val="3E7CA6">
                <a:alpha val="7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1828800"/>
            <a:ext cx="2926080" cy="2926080"/>
          </a:xfrm>
          <a:prstGeom prst="ellipse">
            <a:avLst/>
          </a:prstGeom>
          <a:ln w="12700">
            <a:solidFill>
              <a:srgbClr val="3E7CA6">
                <a:alpha val="7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0" y="2560320"/>
            <a:ext cx="1463040" cy="1463040"/>
          </a:xfrm>
          <a:prstGeom prst="ellipse">
            <a:avLst/>
          </a:prstGeom>
          <a:ln w="12700">
            <a:solidFill>
              <a:srgbClr val="3E7CA6">
                <a:alpha val="7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0" y="2103120"/>
            <a:ext cx="91440" cy="91440"/>
          </a:xfrm>
          <a:prstGeom prst="ellipse">
            <a:avLst/>
          </a:prstGeom>
          <a:solidFill>
            <a:srgbClr val="F2C230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0" y="3749040"/>
            <a:ext cx="82296" cy="82296"/>
          </a:xfrm>
          <a:prstGeom prst="ellipse">
            <a:avLst/>
          </a:prstGeom>
          <a:solidFill>
            <a:srgbClr val="F2C230"/>
          </a:solidFill>
          <a:ln/>
        </p:spPr>
      </p:sp>
      <p:sp>
        <p:nvSpPr>
          <p:cNvPr id="8" name="Shape 6"/>
          <p:cNvSpPr/>
          <p:nvPr/>
        </p:nvSpPr>
        <p:spPr>
          <a:xfrm>
            <a:off x="9966960" y="5029200"/>
            <a:ext cx="73152" cy="73152"/>
          </a:xfrm>
          <a:prstGeom prst="ellipse">
            <a:avLst/>
          </a:prstGeom>
          <a:solidFill>
            <a:srgbClr val="F2C230"/>
          </a:solidFill>
          <a:ln/>
        </p:spPr>
      </p:sp>
      <p:sp>
        <p:nvSpPr>
          <p:cNvPr id="9" name="Shape 7"/>
          <p:cNvSpPr/>
          <p:nvPr/>
        </p:nvSpPr>
        <p:spPr>
          <a:xfrm>
            <a:off x="-1280160" y="4937760"/>
            <a:ext cx="2926080" cy="2926080"/>
          </a:xfrm>
          <a:prstGeom prst="ellipse">
            <a:avLst/>
          </a:prstGeom>
          <a:solidFill>
            <a:srgbClr val="13456E">
              <a:alpha val="6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37160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3E7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ARTICLE  ·  KONYA JOURNAL OF ENGINEERING SCIENCES  ·  2026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1828800"/>
            <a:ext cx="106070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Comparative Analysis of Target Localization</a:t>
            </a:r>
            <a:endParaRPr lang="en-US" sz="28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 in Radar PPI Images Using</a:t>
            </a:r>
            <a:endParaRPr lang="en-US" sz="28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Geometric Enclosures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731520" y="402336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A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Bounding boxes vs. convex hulls vs. concave hulls: which shape finds a ship's true centre?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31520" y="4572000"/>
            <a:ext cx="2743200" cy="0"/>
          </a:xfrm>
          <a:prstGeom prst="line">
            <a:avLst/>
          </a:prstGeom>
          <a:noFill/>
          <a:ln w="31750">
            <a:solidFill>
              <a:srgbClr val="F2C23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484632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Sercan Külcü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A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Engineering Department, Giresun University, Türkiye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31520" y="63093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E7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Konya Journal of Engineering Sciences, 14(2), 901–916, 2026  ·  doi:10.36306/konjes.1812754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011680" cy="347472"/>
          </a:xfrm>
          <a:prstGeom prst="roundRect">
            <a:avLst>
              <a:gd name="adj" fmla="val 50000"/>
            </a:avLst>
          </a:prstGeom>
          <a:solidFill>
            <a:srgbClr val="1345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011680" cy="34747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21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Did This Study Find?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EAF1F6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20116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3456E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25880" y="1984248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Accuracy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2560320"/>
            <a:ext cx="48006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concave hull method reaches a 58–70 m average localization error when fusing radar with AIS data.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55080" y="178308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EAF1F6"/>
          </a:solidFill>
          <a:ln/>
        </p:spPr>
      </p:sp>
      <p:sp>
        <p:nvSpPr>
          <p:cNvPr id="11" name="Shape 9"/>
          <p:cNvSpPr/>
          <p:nvPr/>
        </p:nvSpPr>
        <p:spPr>
          <a:xfrm>
            <a:off x="6583680" y="20116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3456E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223760" y="1984248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Beats Bounding Boxes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629400" y="2560320"/>
            <a:ext cx="48006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12.7% more accurate than the simple bounding-box method.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420624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EAF1F6"/>
          </a:solidFill>
          <a:ln/>
        </p:spPr>
      </p:sp>
      <p:sp>
        <p:nvSpPr>
          <p:cNvPr id="16" name="Shape 14"/>
          <p:cNvSpPr/>
          <p:nvPr/>
        </p:nvSpPr>
        <p:spPr>
          <a:xfrm>
            <a:off x="685800" y="44348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3456E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4434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25880" y="4407408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Beats Convex Hulls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31520" y="4983480"/>
            <a:ext cx="48006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2.1% more accurate than the convex hull method.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355080" y="420624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EAF1F6"/>
          </a:solidFill>
          <a:ln/>
        </p:spPr>
      </p:sp>
      <p:sp>
        <p:nvSpPr>
          <p:cNvPr id="21" name="Shape 19"/>
          <p:cNvSpPr/>
          <p:nvPr/>
        </p:nvSpPr>
        <p:spPr>
          <a:xfrm>
            <a:off x="6583680" y="44348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3456E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0" y="4434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223760" y="4407408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629400" y="4983480"/>
            <a:ext cx="48006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Concave hulls keep the natural dents and gaps in a ship's echo — caused by clutter, noise, and structure — instead of smoothing them away.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Külcü (2026)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04288" cy="347472"/>
          </a:xfrm>
          <a:prstGeom prst="roundRect">
            <a:avLst>
              <a:gd name="adj" fmla="val 50000"/>
            </a:avLst>
          </a:prstGeom>
          <a:solidFill>
            <a:srgbClr val="1345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04288" cy="34747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MOTIVATION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21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Is It Hard to Pin Down a Ship's Position?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5349240" cy="2286000"/>
          </a:xfrm>
          <a:prstGeom prst="roundRect">
            <a:avLst>
              <a:gd name="adj" fmla="val 3200"/>
            </a:avLst>
          </a:prstGeom>
          <a:solidFill>
            <a:srgbClr val="EAF1F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10312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〰️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463040" y="2130552"/>
            <a:ext cx="4069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Irregular Echoes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22960" y="2743200"/>
            <a:ext cx="46177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 clutter, multipath reflections, and limited resolution give ships oddly shaped, non-convex blobs on the radar screen — not neat, simple dots.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55080" y="1874520"/>
            <a:ext cx="5349240" cy="2286000"/>
          </a:xfrm>
          <a:prstGeom prst="roundRect">
            <a:avLst>
              <a:gd name="adj" fmla="val 3200"/>
            </a:avLst>
          </a:prstGeom>
          <a:solidFill>
            <a:srgbClr val="EAF1F6"/>
          </a:solidFill>
          <a:ln/>
        </p:spPr>
      </p:sp>
      <p:sp>
        <p:nvSpPr>
          <p:cNvPr id="10" name="Text 8"/>
          <p:cNvSpPr/>
          <p:nvPr/>
        </p:nvSpPr>
        <p:spPr>
          <a:xfrm>
            <a:off x="6629400" y="210312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🧭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7360920" y="2130552"/>
            <a:ext cx="4069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Azimuth Bias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6720840" y="2743200"/>
            <a:ext cx="46177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Antenna misalignment and small timing mismatches rotate the whole radar picture by a fixed 0°–5° compared to true AIS positions.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44348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B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in prior work: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studies pick one enclosure shape (usually a bounding box or convex hull) without comparing it against the alternatives on the same real data.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5166360"/>
            <a:ext cx="11247120" cy="868680"/>
          </a:xfrm>
          <a:prstGeom prst="roundRect">
            <a:avLst>
              <a:gd name="adj" fmla="val 8421"/>
            </a:avLst>
          </a:prstGeom>
          <a:solidFill>
            <a:srgbClr val="071B2E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5166360"/>
            <a:ext cx="10698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2C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paper asks a simple question: does the shape of the enclosure around an echo actually change how well we can locate the ship?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Section 1 (Külcü 2026)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E7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WORK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on a Growing Body of Hull-Based Research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1064240" cy="91440"/>
          </a:xfrm>
          <a:prstGeom prst="rect">
            <a:avLst/>
          </a:prstGeom>
          <a:solidFill>
            <a:srgbClr val="0F2B4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84248"/>
            <a:ext cx="6675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Nemirko &amp; Dulá — nearest-convex-hull classifier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315200" y="1984248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C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0.23% error, beating SVM and k-NN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532888"/>
            <a:ext cx="11064240" cy="91440"/>
          </a:xfrm>
          <a:prstGeom prst="rect">
            <a:avLst/>
          </a:prstGeom>
          <a:solidFill>
            <a:srgbClr val="0F2B44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642616"/>
            <a:ext cx="6675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Külcü — earlier ASV radar tracking framework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315200" y="2642616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C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98.7% true positives, 59% fewer false positives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191256"/>
            <a:ext cx="11064240" cy="91440"/>
          </a:xfrm>
          <a:prstGeom prst="rect">
            <a:avLst/>
          </a:prstGeom>
          <a:solidFill>
            <a:srgbClr val="0F2B44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300984"/>
            <a:ext cx="6675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 et al. — VTS collision-risk pipeline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315200" y="3300984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C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speed/heading variance on Yangtze River data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849624"/>
            <a:ext cx="11064240" cy="91440"/>
          </a:xfrm>
          <a:prstGeom prst="rect">
            <a:avLst/>
          </a:prstGeom>
          <a:solidFill>
            <a:srgbClr val="0F2B44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959352"/>
            <a:ext cx="6675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Guo et al. — convex-hull feature adaptation (CFA)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315200" y="3959352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C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State-of-the-art on DOTA and SKU110K-R datasets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507992"/>
            <a:ext cx="11064240" cy="91440"/>
          </a:xfrm>
          <a:prstGeom prst="rect">
            <a:avLst/>
          </a:prstGeom>
          <a:solidFill>
            <a:srgbClr val="0F2B44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617720"/>
            <a:ext cx="6675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Liang et al. — DeepHullNet (Transformers)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315200" y="461772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C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5–8% more accurate, 100× faster hull computation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5166360"/>
            <a:ext cx="11064240" cy="91440"/>
          </a:xfrm>
          <a:prstGeom prst="rect">
            <a:avLst/>
          </a:prstGeom>
          <a:solidFill>
            <a:srgbClr val="0F2B44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5276088"/>
            <a:ext cx="6675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 et al. — FB-ICHC concave hull detector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315200" y="5276088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C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higher detection rate, 49% faster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60350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EA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gap: no earlier study directly compares bounding boxes, convex hulls, and concave hulls for ship localization on the same real X-band PPI + AIS dataset. This paper fills that gap.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066544" cy="347472"/>
          </a:xfrm>
          <a:prstGeom prst="roundRect">
            <a:avLst>
              <a:gd name="adj" fmla="val 50000"/>
            </a:avLst>
          </a:prstGeom>
          <a:solidFill>
            <a:srgbClr val="1345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066544" cy="34747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21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First Controlled, Head-to-Head Comparison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EAF1F6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01168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⚖️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417320" y="2029968"/>
            <a:ext cx="4160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Fair, direct comparison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31520" y="2651760"/>
            <a:ext cx="4800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Bounding box, convex hull, and concave hull are tested on the exact same echoes, under the same optimal azimuth correction.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55080" y="182880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EAF1F6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0" y="201168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🎯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7315200" y="2029968"/>
            <a:ext cx="4160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validation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629400" y="2651760"/>
            <a:ext cx="4800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result is checked against real, synchronized AIS ground-truth positions — not simulated data.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402336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EAF1F6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420624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🪶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417320" y="4224528"/>
            <a:ext cx="4160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by design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731520" y="4846320"/>
            <a:ext cx="4800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deep learning or heavy detectors are needed — just colour thresholding and classic geometry, fast enough for onboard use.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55080" y="402336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EAF1F6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0" y="420624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🚢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7315200" y="4224528"/>
            <a:ext cx="4160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payoff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629400" y="4846320"/>
            <a:ext cx="4800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Concave hulls cut localization error by up to 12.7%, offering an easy upgrade path for existing VTS and ASV systems.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Section 1 (Külcü 2026)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185416" cy="347472"/>
          </a:xfrm>
          <a:prstGeom prst="roundRect">
            <a:avLst>
              <a:gd name="adj" fmla="val 50000"/>
            </a:avLst>
          </a:prstGeom>
          <a:solidFill>
            <a:srgbClr val="1345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185416" cy="34747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· DATASET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21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DLR Baltic Sea Radar + AIS Dataset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603504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B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X-band marine radar, ~10 m resolution, with synchronized AIS</a:t>
            </a:r>
            <a:endParaRPr lang="en-US" sz="145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 records give ground-truth position (East/North), course, speed, and heading for each of 4 vessels, at every one of 781 time steps.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Vessel 1 is the "own-ship" carrying the radar — it appears stationary at the centre of the display.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Vessel 3 was excluded from the analysis — it leaves the radar's 3 NM range after step 80 and is visible in only 10% of frames.</a:t>
            </a:r>
            <a:endParaRPr lang="en-US" sz="145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Vessels 2 and 4 (the two vessels studied in detail) move on clearly different, fast-changing paths — good stress tests for localization accuracy.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766560" y="1828800"/>
            <a:ext cx="4937760" cy="1234440"/>
          </a:xfrm>
          <a:prstGeom prst="roundRect">
            <a:avLst>
              <a:gd name="adj" fmla="val 5926"/>
            </a:avLst>
          </a:prstGeom>
          <a:solidFill>
            <a:srgbClr val="071B2E"/>
          </a:solidFill>
          <a:ln/>
        </p:spPr>
      </p:sp>
      <p:sp>
        <p:nvSpPr>
          <p:cNvPr id="7" name="Text 5"/>
          <p:cNvSpPr/>
          <p:nvPr/>
        </p:nvSpPr>
        <p:spPr>
          <a:xfrm>
            <a:off x="7040880" y="192024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C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778240" y="192024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synchronized radar scans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766560" y="3246120"/>
            <a:ext cx="4937760" cy="1234440"/>
          </a:xfrm>
          <a:prstGeom prst="roundRect">
            <a:avLst>
              <a:gd name="adj" fmla="val 5926"/>
            </a:avLst>
          </a:prstGeom>
          <a:solidFill>
            <a:srgbClr val="071B2E"/>
          </a:solidFill>
          <a:ln/>
        </p:spPr>
      </p:sp>
      <p:sp>
        <p:nvSpPr>
          <p:cNvPr id="10" name="Text 8"/>
          <p:cNvSpPr/>
          <p:nvPr/>
        </p:nvSpPr>
        <p:spPr>
          <a:xfrm>
            <a:off x="7040880" y="333756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C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NM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8778240" y="333756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range (~5,556 m)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766560" y="4663440"/>
            <a:ext cx="4937760" cy="1234440"/>
          </a:xfrm>
          <a:prstGeom prst="roundRect">
            <a:avLst>
              <a:gd name="adj" fmla="val 5926"/>
            </a:avLst>
          </a:prstGeom>
          <a:solidFill>
            <a:srgbClr val="071B2E"/>
          </a:solidFill>
          <a:ln/>
        </p:spPr>
      </p:sp>
      <p:sp>
        <p:nvSpPr>
          <p:cNvPr id="13" name="Text 11"/>
          <p:cNvSpPr/>
          <p:nvPr/>
        </p:nvSpPr>
        <p:spPr>
          <a:xfrm>
            <a:off x="7040880" y="475488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C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11.82 m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8778240" y="475488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size of 1 pixel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473952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Sections 2.1.1–2.1.2, Figs. 1–3 (Külcü 2026)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AF1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066544" cy="347472"/>
          </a:xfrm>
          <a:prstGeom prst="roundRect">
            <a:avLst>
              <a:gd name="adj" fmla="val 50000"/>
            </a:avLst>
          </a:prstGeom>
          <a:solidFill>
            <a:srgbClr val="F2C23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066544" cy="34747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0B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 · METHOD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21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Fixing the Rotation Between Radar and AIS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radar picture is rotated a little compared to true AIS positions. The fix: test many rotation angles and keep the one that minimizes error.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377440"/>
          <a:ext cx="112471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344168"/>
                <a:gridCol w="1344168"/>
                <a:gridCol w="1344168"/>
                <a:gridCol w="1344168"/>
                <a:gridCol w="1344168"/>
                <a:gridCol w="1344168"/>
                <a:gridCol w="1353312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θ (°)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0.0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5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1.0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5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2.0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5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3.0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5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4.0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5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4.5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5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5.0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56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Vessel 2 (px)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9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12.54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10.56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8.31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6.28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5.99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6.63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7.65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Vessel 4 (px)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9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15.71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14.74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13.34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9.48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5.18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5.27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(px)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9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28.25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25.30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21.65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15.76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12.09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11.81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2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12.92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44348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B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 = 4.5° gives the clear minimum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 combined error of just 11.81 pixels (about 140 m). This single, fixed correction is then applied to every measurement in the rest of the study.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6473952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Table 1, Section 2.2 (Külcü 2026)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066544" cy="347472"/>
          </a:xfrm>
          <a:prstGeom prst="roundRect">
            <a:avLst>
              <a:gd name="adj" fmla="val 50000"/>
            </a:avLst>
          </a:prstGeom>
          <a:solidFill>
            <a:srgbClr val="1345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066544" cy="34747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 · METHOD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21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Yellow Pixels to Clean Target Clusters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3581400" cy="2103120"/>
          </a:xfrm>
          <a:prstGeom prst="roundRect">
            <a:avLst>
              <a:gd name="adj" fmla="val 3478"/>
            </a:avLst>
          </a:prstGeom>
          <a:solidFill>
            <a:srgbClr val="EAF1F6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103120"/>
            <a:ext cx="3124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4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Colour Threshold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2651760"/>
            <a:ext cx="3124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the image to HSV and isolate the bright yellow used for radar echoes.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38600" y="269748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E7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312920" y="1920240"/>
            <a:ext cx="3581400" cy="2103120"/>
          </a:xfrm>
          <a:prstGeom prst="roundRect">
            <a:avLst>
              <a:gd name="adj" fmla="val 3478"/>
            </a:avLst>
          </a:prstGeom>
          <a:solidFill>
            <a:srgbClr val="EAF1F6"/>
          </a:solidFill>
          <a:ln/>
        </p:spPr>
      </p:sp>
      <p:sp>
        <p:nvSpPr>
          <p:cNvPr id="10" name="Text 8"/>
          <p:cNvSpPr/>
          <p:nvPr/>
        </p:nvSpPr>
        <p:spPr>
          <a:xfrm>
            <a:off x="4541520" y="2103120"/>
            <a:ext cx="3124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4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Clean the Mask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41520" y="2651760"/>
            <a:ext cx="3124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round of morphological closing and dilation joins small gaps without changing the overall shape.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894320" y="269748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E7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8168640" y="1920240"/>
            <a:ext cx="3581400" cy="2103120"/>
          </a:xfrm>
          <a:prstGeom prst="roundRect">
            <a:avLst>
              <a:gd name="adj" fmla="val 3478"/>
            </a:avLst>
          </a:prstGeom>
          <a:solidFill>
            <a:srgbClr val="EAF1F6"/>
          </a:solidFill>
          <a:ln/>
        </p:spPr>
      </p:sp>
      <p:sp>
        <p:nvSpPr>
          <p:cNvPr id="14" name="Text 12"/>
          <p:cNvSpPr/>
          <p:nvPr/>
        </p:nvSpPr>
        <p:spPr>
          <a:xfrm>
            <a:off x="8397240" y="2103120"/>
            <a:ext cx="3124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4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Extract Contours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397240" y="2651760"/>
            <a:ext cx="3124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each echo's outer boundary; drop any shape smaller than 16 pixels as noise.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343400"/>
            <a:ext cx="11247120" cy="1371600"/>
          </a:xfrm>
          <a:prstGeom prst="roundRect">
            <a:avLst>
              <a:gd name="adj" fmla="val 5333"/>
            </a:avLst>
          </a:prstGeom>
          <a:solidFill>
            <a:srgbClr val="071B2E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4805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C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keep it this simple?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31520" y="480060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CFAR detectors or trained neural networks are used. Colour thresholding plus basic morphology is fast enough to run in real time on embedded VTS/ASV hardware, and different ships' echoes almost never merge at this resolution and sea state — so each contour reliably represents one vessel.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Section 2.3 (Külcü 2026)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AF1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660904" cy="347472"/>
          </a:xfrm>
          <a:prstGeom prst="roundRect">
            <a:avLst>
              <a:gd name="adj" fmla="val 50000"/>
            </a:avLst>
          </a:prstGeom>
          <a:solidFill>
            <a:srgbClr val="F2C23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660904" cy="34747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0B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2.4–2.6 · METHODS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21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Ways to Enclose an Echo and Find Its Centre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361188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999999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05740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Bounding Box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85800" y="251460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E7C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O(n)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3017520"/>
            <a:ext cx="31546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smallest upright rectangle around all echo pixels. Centre = midpoint of the rectangle. Fast, but empty corners pull the centre away from the true position.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70248" y="1828800"/>
            <a:ext cx="361188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999999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498848" y="205740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Convex Hull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498848" y="251460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E7C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O(n log n)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498848" y="3017520"/>
            <a:ext cx="31546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smallest "rubber band" polygon around the points. Centre = centre of mass (shoelace formula). Tighter than a box, but still smooths over real dents.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83296" y="1828800"/>
            <a:ext cx="3611880" cy="3383280"/>
          </a:xfrm>
          <a:prstGeom prst="roundRect">
            <a:avLst>
              <a:gd name="adj" fmla="val 2162"/>
            </a:avLst>
          </a:prstGeom>
          <a:solidFill>
            <a:srgbClr val="071B2E"/>
          </a:solidFill>
          <a:ln/>
          <a:effectLst>
            <a:outerShdw sx="100000" sy="100000" kx="0" ky="0" algn="bl" rotWithShape="0" blurRad="63500" dist="25400" dir="5400000">
              <a:srgbClr val="999999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311896" y="205740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C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Concave Hull (α = 0.1)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311896" y="251460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O(n log n)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311896" y="3017520"/>
            <a:ext cx="31546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A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alpha-shape that hugs the true, dented outline of the echo. Centre = centre of mass of the actual visible pixels — closest to the real ship centre.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Sections 2.4–2.6, Algorithms 1–3 (Külcü 2026)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185416" cy="347472"/>
          </a:xfrm>
          <a:prstGeom prst="roundRect">
            <a:avLst>
              <a:gd name="adj" fmla="val 50000"/>
            </a:avLst>
          </a:prstGeom>
          <a:solidFill>
            <a:srgbClr val="1345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185416" cy="34747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 · RESULTS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21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Baseline: Localization with Bounding Boxes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is measured as the distance (in metres) between the estimated centre and the true AIS position, across hundreds of radar frames.</a:t>
            </a:r>
            <a:endParaRPr lang="en-US" sz="12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331720"/>
          <a:ext cx="112471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005840"/>
                <a:gridCol w="1737360"/>
                <a:gridCol w="1737360"/>
                <a:gridCol w="1554480"/>
                <a:gridCol w="1554480"/>
                <a:gridCol w="219456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Target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5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N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5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Mean (m)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5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Median (m)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5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Min (m)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5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Max (m)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5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Std. Dev. (m)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56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135"/>
                          </a:solidFill>
                        </a:rPr>
                        <a:t>Target 2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135"/>
                          </a:solidFill>
                        </a:rPr>
                        <a:t>697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135"/>
                          </a:solidFill>
                        </a:rPr>
                        <a:t>80.51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135"/>
                          </a:solidFill>
                        </a:rPr>
                        <a:t>76.18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135"/>
                          </a:solidFill>
                        </a:rPr>
                        <a:t>18.81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135"/>
                          </a:solidFill>
                        </a:rPr>
                        <a:t>173.74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135"/>
                          </a:solidFill>
                        </a:rPr>
                        <a:t>35.39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135"/>
                          </a:solidFill>
                        </a:rPr>
                        <a:t>Target 4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135"/>
                          </a:solidFill>
                        </a:rPr>
                        <a:t>665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135"/>
                          </a:solidFill>
                        </a:rPr>
                        <a:t>59.37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135"/>
                          </a:solidFill>
                        </a:rPr>
                        <a:t>60.66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135"/>
                          </a:solidFill>
                        </a:rPr>
                        <a:t>5.95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135"/>
                          </a:solidFill>
                        </a:rPr>
                        <a:t>120.45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135"/>
                          </a:solidFill>
                        </a:rPr>
                        <a:t>27.40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4251960"/>
            <a:ext cx="11247120" cy="1371600"/>
          </a:xfrm>
          <a:prstGeom prst="roundRect">
            <a:avLst>
              <a:gd name="adj" fmla="val 5333"/>
            </a:avLst>
          </a:prstGeom>
          <a:solidFill>
            <a:srgbClr val="071B2E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438912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2C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weak point: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corners inside the rectangle systematically pull the estimated centre away from the ship — especially for Target 2, which manoeuvres more and has a less regular echo.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Table 2, Section 3.1 (Külcü 2026)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185416" cy="347472"/>
          </a:xfrm>
          <a:prstGeom prst="roundRect">
            <a:avLst>
              <a:gd name="adj" fmla="val 50000"/>
            </a:avLst>
          </a:prstGeom>
          <a:solidFill>
            <a:srgbClr val="3E7CA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185416" cy="34747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 · RESULTS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21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Improvement: Localization with Convex Hulls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convex hull follows the outer shape of the echo more closely than a rectangle — does this help?</a:t>
            </a:r>
            <a:endParaRPr lang="en-US" sz="12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331720"/>
          <a:ext cx="112471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005840"/>
                <a:gridCol w="1737360"/>
                <a:gridCol w="1737360"/>
                <a:gridCol w="1554480"/>
                <a:gridCol w="1554480"/>
                <a:gridCol w="219456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Target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5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N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5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Mean (m)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5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Median (m)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5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Min (m)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5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Max (m)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5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Std. Dev. (m)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56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135"/>
                          </a:solidFill>
                        </a:rPr>
                        <a:t>Target 2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135"/>
                          </a:solidFill>
                        </a:rPr>
                        <a:t>696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135"/>
                          </a:solidFill>
                        </a:rPr>
                        <a:t>71.85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135"/>
                          </a:solidFill>
                        </a:rPr>
                        <a:t>70.37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135"/>
                          </a:solidFill>
                        </a:rPr>
                        <a:t>11.90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135"/>
                          </a:solidFill>
                        </a:rPr>
                        <a:t>164.82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135"/>
                          </a:solidFill>
                        </a:rPr>
                        <a:t>36.26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135"/>
                          </a:solidFill>
                        </a:rPr>
                        <a:t>Target 4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135"/>
                          </a:solidFill>
                        </a:rPr>
                        <a:t>649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135"/>
                          </a:solidFill>
                        </a:rPr>
                        <a:t>59.18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135"/>
                          </a:solidFill>
                        </a:rPr>
                        <a:t>60.66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135"/>
                          </a:solidFill>
                        </a:rPr>
                        <a:t>10.57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135"/>
                          </a:solidFill>
                        </a:rPr>
                        <a:t>128.14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135"/>
                          </a:solidFill>
                        </a:rPr>
                        <a:t>30.96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4251960"/>
            <a:ext cx="11247120" cy="1371600"/>
          </a:xfrm>
          <a:prstGeom prst="roundRect">
            <a:avLst>
              <a:gd name="adj" fmla="val 5333"/>
            </a:avLst>
          </a:prstGeom>
          <a:solidFill>
            <a:srgbClr val="071B2E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438912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2C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a clear gain: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2's mean error drops by 10.8% versus the bounding box. But convexity still forces the hull to fill in real dents and gaps in the echo, which limits how much further it can improve.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Table 3, Section 3.2 (Külcü 2026)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185416" cy="347472"/>
          </a:xfrm>
          <a:prstGeom prst="roundRect">
            <a:avLst>
              <a:gd name="adj" fmla="val 50000"/>
            </a:avLst>
          </a:prstGeom>
          <a:solidFill>
            <a:srgbClr val="F2C23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185416" cy="34747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 · RESULTS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21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Result: Localization with Concave Hulls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concave hull is allowed to follow the real, dented shape of the echo — does keeping those dents pay off?</a:t>
            </a:r>
            <a:endParaRPr lang="en-US" sz="12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331720"/>
          <a:ext cx="112471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005840"/>
                <a:gridCol w="1737360"/>
                <a:gridCol w="1737360"/>
                <a:gridCol w="1554480"/>
                <a:gridCol w="1554480"/>
                <a:gridCol w="219456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Target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5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N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5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Mean (m)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5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Median (m)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5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Min (m)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5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Max (m)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5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Std. Dev. (m)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56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135"/>
                          </a:solidFill>
                        </a:rPr>
                        <a:t>Target 2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135"/>
                          </a:solidFill>
                        </a:rPr>
                        <a:t>696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135"/>
                          </a:solidFill>
                        </a:rPr>
                        <a:t>70.32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135"/>
                          </a:solidFill>
                        </a:rPr>
                        <a:t>69.17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135"/>
                          </a:solidFill>
                        </a:rPr>
                        <a:t>11.59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135"/>
                          </a:solidFill>
                        </a:rPr>
                        <a:t>161.09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135"/>
                          </a:solidFill>
                        </a:rPr>
                        <a:t>35.89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135"/>
                          </a:solidFill>
                        </a:rPr>
                        <a:t>Target 4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135"/>
                          </a:solidFill>
                        </a:rPr>
                        <a:t>653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135"/>
                          </a:solidFill>
                        </a:rPr>
                        <a:t>58.44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135"/>
                          </a:solidFill>
                        </a:rPr>
                        <a:t>59.46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135"/>
                          </a:solidFill>
                        </a:rPr>
                        <a:t>11.23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135"/>
                          </a:solidFill>
                        </a:rPr>
                        <a:t>127.17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135"/>
                          </a:solidFill>
                        </a:rPr>
                        <a:t>29.16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4251960"/>
            <a:ext cx="11247120" cy="1371600"/>
          </a:xfrm>
          <a:prstGeom prst="roundRect">
            <a:avLst>
              <a:gd name="adj" fmla="val 5333"/>
            </a:avLst>
          </a:prstGeom>
          <a:solidFill>
            <a:srgbClr val="071B2E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438912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2C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winner overall: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12.7% better than the bounding box and 2.1% better than the convex hull for Target 2; 1.6% and 1.3% better, respectively, for Target 4 — the lowest mean error of all three methods, for both vessels.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Table 4, Section 3.3 (Külcü 2026)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AF1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185416" cy="347472"/>
          </a:xfrm>
          <a:prstGeom prst="roundRect">
            <a:avLst>
              <a:gd name="adj" fmla="val 50000"/>
            </a:avLst>
          </a:prstGeom>
          <a:solidFill>
            <a:srgbClr val="F2C23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185416" cy="34747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0B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 · RESULTS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21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the Concave Hull Setting (α) Matter?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concave hull needs one setting, α, that controls how tightly it hugs the echo. A sensitivity test checked four values: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554480" y="2331720"/>
          <a:ext cx="905256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3017520"/>
                <a:gridCol w="30175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α value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5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Target 2 (m)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5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Target 4 (m)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56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2135"/>
                          </a:solidFill>
                        </a:rPr>
                        <a:t>0.02 (too tight)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2135"/>
                          </a:solidFill>
                        </a:rPr>
                        <a:t>71.81 ± 36.12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2135"/>
                          </a:solidFill>
                        </a:rPr>
                        <a:t>59.33 ± 29.45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2135"/>
                          </a:solidFill>
                        </a:rPr>
                        <a:t>0.05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2135"/>
                          </a:solidFill>
                        </a:rPr>
                        <a:t>70.58 ± 36.01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2135"/>
                          </a:solidFill>
                        </a:rPr>
                        <a:t>58.31 ± 29.34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B2135"/>
                          </a:solidFill>
                        </a:rPr>
                        <a:t>0.1 (used in study)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9A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B2135"/>
                          </a:solidFill>
                        </a:rPr>
                        <a:t>70.32 ± 35.89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9A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B2135"/>
                          </a:solidFill>
                        </a:rPr>
                        <a:t>58.44 ± 29.16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9A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2135"/>
                          </a:solidFill>
                        </a:rPr>
                        <a:t>0.2 (too loose)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2135"/>
                          </a:solidFill>
                        </a:rPr>
                        <a:t>72.19 ± 37.44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B2135"/>
                          </a:solidFill>
                        </a:rPr>
                        <a:t>59.87 ± 30.28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470916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0B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news: the method is robust.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between 0.05 and 0.1 give almost identical, best results. Going too small (0.02) overfits to noise; going too large (0.2) starts to behave like a convex hull and loses its concavity advantage. There is no need for delicate, per-frame tuning.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6473952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Table 5, Section 3.4 (Külcü 2026)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3136392" cy="347472"/>
          </a:xfrm>
          <a:prstGeom prst="roundRect">
            <a:avLst>
              <a:gd name="adj" fmla="val 50000"/>
            </a:avLst>
          </a:prstGeom>
          <a:solidFill>
            <a:srgbClr val="1345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3136392" cy="34747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VISUAL COMPARISON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21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Seeing the Difference on a Real Echo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3611880" cy="2834640"/>
          </a:xfrm>
          <a:prstGeom prst="roundRect">
            <a:avLst>
              <a:gd name="adj" fmla="val 2581"/>
            </a:avLst>
          </a:prstGeom>
          <a:solidFill>
            <a:srgbClr val="EAF1F6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05740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4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Bounding Box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2560320"/>
            <a:ext cx="315468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Encloses the echo in the smallest upright rectangle. Simple and fast, but the empty corners clearly bias the centre estimate for a tilted, elongated echo.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70248" y="1874520"/>
            <a:ext cx="3611880" cy="2834640"/>
          </a:xfrm>
          <a:prstGeom prst="roundRect">
            <a:avLst>
              <a:gd name="adj" fmla="val 2581"/>
            </a:avLst>
          </a:prstGeom>
          <a:solidFill>
            <a:srgbClr val="EAF1F6"/>
          </a:solidFill>
          <a:ln/>
        </p:spPr>
      </p:sp>
      <p:sp>
        <p:nvSpPr>
          <p:cNvPr id="9" name="Text 7"/>
          <p:cNvSpPr/>
          <p:nvPr/>
        </p:nvSpPr>
        <p:spPr>
          <a:xfrm>
            <a:off x="4498848" y="205740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4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Convex Hull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498848" y="2560320"/>
            <a:ext cx="315468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Wraps tightly around the outer points, cutting most of the corner bias. But it still fills in any real notch or gap in the echo's shape.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83296" y="1874520"/>
            <a:ext cx="3611880" cy="2834640"/>
          </a:xfrm>
          <a:prstGeom prst="roundRect">
            <a:avLst>
              <a:gd name="adj" fmla="val 2581"/>
            </a:avLst>
          </a:prstGeom>
          <a:solidFill>
            <a:srgbClr val="EAF1F6"/>
          </a:solidFill>
          <a:ln/>
        </p:spPr>
      </p:sp>
      <p:sp>
        <p:nvSpPr>
          <p:cNvPr id="12" name="Text 10"/>
          <p:cNvSpPr/>
          <p:nvPr/>
        </p:nvSpPr>
        <p:spPr>
          <a:xfrm>
            <a:off x="8311896" y="205740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4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(c) Concave Hull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11896" y="2560320"/>
            <a:ext cx="315468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Follows the echo's true, irregular boundary — including dents from clutter or shadowing — giving a centroid closest to the real vessel centre.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937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paper's figures, red/blue marks the enclosure and centroid on real yellow radar echoes — the concave hull (c) visibly hugs the echo tightest of the three.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473952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Figures 7–8, Section 3.3 (Külcü 2026)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7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389120"/>
            <a:ext cx="3291840" cy="3291840"/>
          </a:xfrm>
          <a:prstGeom prst="ellipse">
            <a:avLst/>
          </a:prstGeom>
          <a:solidFill>
            <a:srgbClr val="13456E">
              <a:alpha val="5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E7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Shape Choice Really Does Matter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850392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EA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Concave hulls give the most accurate ship position of the three methods tested: 70.32 m average error for Target 2, 58.44 m for Target 4.</a:t>
            </a:r>
            <a:endParaRPr lang="en-US" sz="1450" dirty="0"/>
          </a:p>
          <a:p>
            <a:pPr marL="254000" indent="-2540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EA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an improvement of up to 12.7% over bounding boxes and 2.1% over convex hulls — using only classic geometry, no deep learning.</a:t>
            </a:r>
            <a:endParaRPr lang="en-US" sz="1450" dirty="0"/>
          </a:p>
          <a:p>
            <a:pPr marL="254000" indent="-2540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EA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fixed 4.5° azimuth correction is a simple, one-time calibration step that keeps radar and AIS positions properly aligned throughout.</a:t>
            </a:r>
            <a:endParaRPr lang="en-US" sz="1450" dirty="0"/>
          </a:p>
          <a:p>
            <a:pPr marL="254000" indent="-2540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EA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work: automatically adapt the concave hull setting per frame, add machine learning on top, and extend the method to dense, multi-vessel traffic scenes.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011680" cy="347472"/>
          </a:xfrm>
          <a:prstGeom prst="roundRect">
            <a:avLst>
              <a:gd name="adj" fmla="val 50000"/>
            </a:avLst>
          </a:prstGeom>
          <a:solidFill>
            <a:srgbClr val="1345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011680" cy="34747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21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11247120" cy="1463040"/>
          </a:xfrm>
          <a:prstGeom prst="roundRect">
            <a:avLst>
              <a:gd name="adj" fmla="val 5000"/>
            </a:avLst>
          </a:prstGeom>
          <a:solidFill>
            <a:srgbClr val="EAF1F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103120"/>
            <a:ext cx="10607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0B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Külcü, S. (2026). 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0B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Analysis of Target Localization Accuracy in Radar PPI Images Using Geometric Enclosures. 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0B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Konya Journal of Engineering Sciences, 14(2), 901–916. doi:10.36306/konjes.1812754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703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DLR real-world marine radar repository (Baltic Sea) — https://doi.org/10.26090/rwmr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42976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presentation is an academic summary of the research paper above. For the full reference list (19 citations), please see the original article.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530352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345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2026-09-09T21:36:30Z</dcterms:created>
  <dcterms:modified xsi:type="dcterms:W3CDTF">2026-09-09T21:36:30Z</dcterms:modified>
</cp:coreProperties>
</file>