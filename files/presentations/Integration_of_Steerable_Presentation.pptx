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5486400" cy="5486400"/>
          </a:xfrm>
          <a:prstGeom prst="ellipse">
            <a:avLst/>
          </a:prstGeom>
          <a:ln w="1778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914400"/>
            <a:ext cx="4023360" cy="4023360"/>
          </a:xfrm>
          <a:prstGeom prst="ellipse">
            <a:avLst/>
          </a:prstGeom>
          <a:ln w="1778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82880"/>
            <a:ext cx="2560320" cy="2560320"/>
          </a:xfrm>
          <a:prstGeom prst="ellipse">
            <a:avLst/>
          </a:prstGeom>
          <a:ln w="1778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548640"/>
            <a:ext cx="1097280" cy="1097280"/>
          </a:xfrm>
          <a:prstGeom prst="ellipse">
            <a:avLst/>
          </a:prstGeom>
          <a:ln w="1778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0B3D6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572000"/>
            <a:ext cx="2377440" cy="2377440"/>
          </a:xfrm>
          <a:prstGeom prst="ellipse">
            <a:avLst/>
          </a:prstGeom>
          <a:solidFill>
            <a:srgbClr val="F2A541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IEEE ACCESS, VOLUME 9  ·  2021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Steerable Smart Antennas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IETF 6TiSCH Protocol for High Reliability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IoT Networks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antenna solution that helps 6TiSCH networks stay reliable as they grow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27432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754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Kulcu  ·  Sedat Gormus  ·  Yichao Jin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Karadeniz Technical University, Trabzon, Turkey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Bristol Research and Innovation Laboratory, Toshiba Europe Ltd., Bristol, U.K.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9, pp. 147780–147790, 2021  ·  doi:10.1109/ACCESS.2021.3125144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This Paper Solve?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smart antennas need complex algorithms, which are hard to use in low-power, low-cost IoT devices.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adds a low-complexity steerable antenna solution to the IETF 6TiSCH protocol, called SAA6.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MAC-layer and scheduling mechanisms let nodes find and track the best antenna direction on their 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Cooja/Contiki simulations, SAA6 beats the standard omnidirectional 6TiSCH stack, especially in dense networks.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Kulcu, Gormus, Jin (2021)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Combine Steerable Antennas with 6TiSCH?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networks often use many low-cost nodes that send data at the same time, which causes interference and dropped packets.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problem gets worse in dense networks, where bandwidth is limited and channels are shared with WiFi and other technologies.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antennas can reduce interference, but using them well requires new, carefully designed protocols.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builds those mechanisms directly into 6TiSCH, the leading protocol for reliable industrial IoT.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12280" y="182880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93852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778240" y="1938528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number of neighbours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 node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333756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344728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dBi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78240" y="3447288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gain of the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steerable antenna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484632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495604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78240" y="4956048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the largest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network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 (Kulcu et al. 2021)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Antennas: Two Main Types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Beam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several fixed beam patterns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act like an omnidirectional antenna when broadcasting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control, but less flexible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6092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Array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69748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steer its beam toward any direction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cancel signals coming from unwanted directions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transmit omnidirectionally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ESPAR Antenna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Electronically Steerable Parasitic Array Radiator (ESPAR) is a popular, easy-to-build option: one active element surrounded by passive elements. Changing the passive elements' values steers the beam electronically — with a full 360° scan, in steps as small as 30°, and gains of 7.5–9 dBi depending on the design.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II-A (Kulcu et al. 2021)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6TiSCH in Brief: Two Cell Types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Cell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slotted-ALOHA with contention. Nodes use it to send control frames (EB, RPL, DIS) and to negotiate new cells with neighbours.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Cell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20840" y="26974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one pair of nodes. Gives interference-free, collision-free communication for high reliability.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node joins the network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synchronized — listen for Enhanced Beacon (EB) frames and learn the minimal schedule.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Join the routing tree — exchange RPL DIO frames to attach to a parent, forming a tree rooted at the sink.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communicating — the node now has what it needs to talk to the rest of the network.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II-B (Kulcu et al. 2021)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SAA6: Steerable Antenna Agnostic 6TiSCH Solution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331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08483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neighbour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48716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fully autonomous scheduling mechanism that finds neighbours faster, using a steerable antenna.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📶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350215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RSSI-based direction finding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390448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that uses signal strength (RSSI) to work out the best transmit and receive direction, cutting interference.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13314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920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491947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shared-cell collisions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32180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uses directional communication to reduce collisions in shared cells — key for scaling up 6TiSCH networks.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60904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66090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ANTENNA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 Steerable Antenna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works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antenna gain is set to 5 dBi, matching real ESPAR designs from the literature.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receiver's gain depends on the angle θ between the transmitter's and receiver's antenna directions.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gain is added directly into the standard path-loss (signal strength) formula.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sensitivity is set to −95 dBm, matching the CC2420 radio used in the test hardware.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920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1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2057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G(θ) [dB] = 10(1 + cos θ) − 15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gain as a function of angle 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3474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 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46520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range at 0°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beam direction)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98280" y="3337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3474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 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35440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range at 180°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(opposite direction)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4892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distance: 1 m   ·   Reference path loss: −52 dBm   ·   Path-loss exponent: 2.5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III, Eq. (1)–(2), Fig. 1 (Kulcu et al. 2021)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Best Direction to Each Neighbour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node learns the best direction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keeps a list of neighbours, storing each one's ID, best known direction, and the highest RSSI seen so far.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a frame arrives successfully, the node compares the new RSSI with the stored value — if it's better, it updates the direction.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"probing" frames are needed — normal control traffic (EB, RPL, DATA) is enough to learn the best direction.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antennas start out pointing randomly, this discovery process naturally takes longer than with omnidirectional antennas.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828800"/>
            <a:ext cx="4480560" cy="4114800"/>
          </a:xfrm>
          <a:prstGeom prst="roundRect">
            <a:avLst>
              <a:gd name="adj" fmla="val 1778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RSSI improves over time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52360" y="25146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40 m grid test network, RSSI values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toward −82 dBm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node pairs gradually find their best antenna orientation.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3794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list size is capped at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neighbours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node to keep memory and processing needs low.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52360" y="49377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update is skipped if a neighbour hasn't sent anything recently, saving energy.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IV-A, Algorithm 1, Fig. 3 (Kulcu et al. 2021)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Slotframes: One for Data, One for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 runs two independent slotframes with lengths that are mutually prime, so they rarely overlap: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5328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Slotframe (SF0)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by the standard 6TiSCH Scheduling Function Zero. Carries regular data traffic between nodes.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3317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A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23760" y="25328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Slotframe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without any negotiation. Each node hashes its own ID and its neighbour's ID to pick a time slot and channel automatically.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slotframes?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directional antenna cannot broadcast to every neighbour at once — so multicast control messages need their own dedicated cells, sent one direction at a time.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autonomously reserves 1 transmit and 1 receive cell per neighbour, moving this traffic off the contention-based shared cell.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IV-C–D, Eq. (3), Fig. 4 (Kulcu et al. 2021)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98648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9864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4.E · COST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Extra Signalling Worth It?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cells add some overhead, but steerable antennas also need fewer hops to reach the root — so the net cost depends on the traffic rate: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9260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Transmission Interval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Omnidirectional Cells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Steerable Cells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Ratio (Steerable / Omni)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+ 80 = 320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+ 80 = 560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148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51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cells needed than omni, at a 1 s interval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0248" y="41148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/>
        </p:spPr>
      </p:sp>
      <p:sp>
        <p:nvSpPr>
          <p:cNvPr id="11" name="Text 8"/>
          <p:cNvSpPr/>
          <p:nvPr/>
        </p:nvSpPr>
        <p:spPr>
          <a:xfrm>
            <a:off x="4453128" y="4251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44568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cells needed than omni, at a 0.5 s interval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83296" y="41148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4251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357616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cells overall thanks to reduced hop count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1, Section IV-E, Eq. (4)–(8) (Kulcu et al. 2021)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TEST SETUP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Setup and Assumptions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Slotframe &amp; Timing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239366"/>
                <a:gridCol w="137251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Slotframe length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slotframe length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Timeslot duration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70248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9" name="Text 6"/>
          <p:cNvSpPr/>
          <p:nvPr/>
        </p:nvSpPr>
        <p:spPr>
          <a:xfrm>
            <a:off x="4270248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Range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239366"/>
                <a:gridCol w="137251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 range (omni)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Interference range (omni)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 range (steerable)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15–80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cells (omni / steerable)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083296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12" name="Text 8"/>
          <p:cNvSpPr/>
          <p:nvPr/>
        </p:nvSpPr>
        <p:spPr>
          <a:xfrm>
            <a:off x="8083296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Layout</a:t>
            </a:r>
            <a:endParaRPr lang="en-US" sz="12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3296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239366"/>
                <a:gridCol w="137251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Inter-node distance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dimensions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× 320 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/ max EB period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 / 50 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/ max DIO interval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s / 1048.6 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static with one fixed-power (0 dBm) radio; each steerable node can scan the full 360°; the root node uses three switchable 120° antennas that can also emulate omnidirectional behaviour.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2, Section V-A (Kulcu et al. 2021)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Time and Collision Rate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21305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Latency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time grows with network size for every antenna type. SAA6 is much faster than a plain steerable antenna, and close to the omnidirectional baseline, thanks to autonomous cells — at the cost of slightly more energy.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A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60920" y="21305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Shared-Cell Collision 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78892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antennas cut the collision probability by more than 20% in shared cells — with no need for extra tricks like adjusting the beacon interval.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because all synchronized nodes share the same frequency channel in the shared cell, adding more channels does very little to reduce collisions — antenna direction matters far more.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6(a)–(b), Sections V-B–C (Kulcu et al. 2021)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Delivery and Energy Savings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packet delivery ratio (PDR) than omnidirectional, across tested transmission intervals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PDR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4568" y="27889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limited channels — the antenna direction acts as a third scheduling dimension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2103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57616" y="27889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consumption thanks to longer range and fewer retransmissions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transmission intervals create heavier traffic, so SAA6's spatial separation matters most exactly when the network needs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few frequency channels available, nodes often reuse the same channel offset — directional antennas reduce the resulting interference.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dropped frames means fewer retransmissions, which is the main reason energy consumption drops.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6(c)–(e), Sections V-D–E (Kulcu et al. 2021)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0B3D6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6TiSCH Is Ready for Smart, Directional Antennas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SAA6 outperforms the standard omnidirectional 6TiSCH stack in every tested aspect, especially reliability and network throughput.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 are largest in dense networks and in scenarios with limited frequency channels — exactly where industrial IoT networks struggle most.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that 6TiSCH can support directional and smart antennas without losing its low-power, reliable design goals.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validate the results on real hardware, use machine learning to find the best antenna direction, and add multi-path communication to further cut network latency.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Acknowledgment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Kulcu, S., Gormus, S., Jin, Y. (2021).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Steerable Smart Antennas to IETF 6TiSCH Protocol for High Reliability Wireless IoT Networks.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9, 147780–147790. doi:10.1109/ACCESS.2021.3125144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83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was supported by the Scientific and Technological Research Council of Turkey (TÜBİTAK), project number 118E289.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research paper above. For the full reference list (30 citations), please see the original article.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2026-09-09T20:33:45Z</dcterms:created>
  <dcterms:modified xsi:type="dcterms:W3CDTF">2026-09-09T20:33:45Z</dcterms:modified>
</cp:coreProperties>
</file>