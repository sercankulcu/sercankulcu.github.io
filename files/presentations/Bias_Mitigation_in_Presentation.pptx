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F3C7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F3C7E"/>
                </a:solidFill>
                <a:latin typeface="Calibri"/>
              </a:rPr>
              <a:t>Accuracy across representative baselines (Table V)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141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Xception</c:v>
                  </c:pt>
                  <c:pt idx="1">
                    <c:v>MobileNetV2</c:v>
                  </c:pt>
                  <c:pt idx="2">
                    <c:v>ResNet18</c:v>
                  </c:pt>
                  <c:pt idx="3">
                    <c:v>VGG16</c:v>
                  </c:pt>
                  <c:pt idx="4">
                    <c:v>Elfattah</c:v>
                  </c:pt>
                  <c:pt idx="5">
                    <c:v>Büyükarıkan</c:v>
                  </c:pt>
                  <c:pt idx="6">
                    <c:v>Elangovan</c:v>
                  </c:pt>
                  <c:pt idx="7">
                    <c:v>Proposed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70.7</c:v>
                </c:pt>
                <c:pt idx="1">
                  <c:v>84</c:v>
                </c:pt>
                <c:pt idx="2">
                  <c:v>94.4</c:v>
                </c:pt>
                <c:pt idx="3">
                  <c:v>96.9</c:v>
                </c:pt>
                <c:pt idx="4">
                  <c:v>98.5</c:v>
                </c:pt>
                <c:pt idx="5">
                  <c:v>98.9</c:v>
                </c:pt>
                <c:pt idx="6">
                  <c:v>99.4</c:v>
                </c:pt>
                <c:pt idx="7">
                  <c:v>99.78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3141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1050" b="0" i="0" u="none" strike="noStrike">
                <a:solidFill>
                  <a:srgbClr val="23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9525" cap="flat">
              <a:solidFill>
                <a:srgbClr val="EEE2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Fold accuracy (%)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141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99.56</c:v>
                </c:pt>
                <c:pt idx="1">
                  <c:v>100</c:v>
                </c:pt>
                <c:pt idx="2">
                  <c:v>99.78</c:v>
                </c:pt>
                <c:pt idx="3">
                  <c:v>98.9</c:v>
                </c:pt>
                <c:pt idx="4">
                  <c:v>99.12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3141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"/>
          <c:min val="97"/>
        </c:scaling>
        <c:delete val="0"/>
        <c:axPos val="l"/>
        <c:majorGridlines>
          <c:spPr>
            <a:ln w="9525" cap="flat">
              <a:solidFill>
                <a:srgbClr val="EEE2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4480560"/>
            <a:ext cx="2926080" cy="2926080"/>
          </a:xfrm>
          <a:prstGeom prst="ellipse">
            <a:avLst/>
          </a:prstGeom>
          <a:ln w="15240">
            <a:solidFill>
              <a:srgbClr val="C41E3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3749040"/>
            <a:ext cx="4389120" cy="4389120"/>
          </a:xfrm>
          <a:prstGeom prst="ellipse">
            <a:avLst/>
          </a:prstGeom>
          <a:ln w="15240">
            <a:solidFill>
              <a:srgbClr val="C41E3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48472" y="3017520"/>
            <a:ext cx="5852160" cy="5852160"/>
          </a:xfrm>
          <a:prstGeom prst="ellipse">
            <a:avLst/>
          </a:prstGeom>
          <a:ln w="15240">
            <a:solidFill>
              <a:srgbClr val="C41E3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6952" y="2286000"/>
            <a:ext cx="7315200" cy="7315200"/>
          </a:xfrm>
          <a:prstGeom prst="ellipse">
            <a:avLst/>
          </a:prstGeom>
          <a:ln w="15240">
            <a:solidFill>
              <a:srgbClr val="C41E3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5440680"/>
            <a:ext cx="822960" cy="822960"/>
          </a:xfrm>
          <a:prstGeom prst="ellipse">
            <a:avLst/>
          </a:prstGeom>
          <a:solidFill>
            <a:srgbClr val="990011">
              <a:alpha val="8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ARTICLE  ·  BALKAN JOURNAL OF ELECTRICAL &amp; COMPUTER ENGINEERING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Mitigation in Ensemble-Based Meat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Freshness Classification Using Grad-CAM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94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Grad-CAM-guided attention framework that redirects lightweight ensemble models from packaging cues to genuine meat freshness indicators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4709160"/>
            <a:ext cx="219456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  &amp;  Duygu Balpetek Külcü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285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Giresun University — Computer Engineering &amp; Food Engineering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6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14 (2026) 74-82   |   DOI: 10.17694/bajece.1817907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Study at a Glance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92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CNNs can reach near-perfect accuracy on meat freshness classification while quietly relying on packaging trays instead of meat texture and colour. This study integrates a Grad-CAM-guided attention module into a lightweight hybrid ensemble to fix that — without sacrificing speed.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1325880" cy="1920240"/>
          </a:xfrm>
          <a:prstGeom prst="roundRect">
            <a:avLst>
              <a:gd name="adj" fmla="val 6897"/>
            </a:avLst>
          </a:prstGeom>
          <a:solidFill>
            <a:srgbClr val="FBEEEE"/>
          </a:solidFill>
          <a:ln/>
          <a:effectLst>
            <a:outerShdw sx="100000" sy="100000" kx="0" ky="0" algn="bl" rotWithShape="0" blurRad="76200" dist="25400" dir="5400000">
              <a:srgbClr val="C9B8BC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382219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99.78%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452628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39112" y="3566160"/>
            <a:ext cx="1325880" cy="1920240"/>
          </a:xfrm>
          <a:prstGeom prst="roundRect">
            <a:avLst>
              <a:gd name="adj" fmla="val 6897"/>
            </a:avLst>
          </a:prstGeom>
          <a:solidFill>
            <a:srgbClr val="FBEEEE"/>
          </a:solidFill>
          <a:ln/>
          <a:effectLst>
            <a:outerShdw sx="100000" sy="100000" kx="0" ky="0" algn="bl" rotWithShape="0" blurRad="76200" dist="25400" dir="5400000">
              <a:srgbClr val="C9B8BC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039112" y="382219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99.66%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12264" y="452628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(± 0.23%)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9584" y="3566160"/>
            <a:ext cx="1325880" cy="1920240"/>
          </a:xfrm>
          <a:prstGeom prst="roundRect">
            <a:avLst>
              <a:gd name="adj" fmla="val 6897"/>
            </a:avLst>
          </a:prstGeom>
          <a:solidFill>
            <a:srgbClr val="FBEEEE"/>
          </a:solidFill>
          <a:ln/>
          <a:effectLst>
            <a:outerShdw sx="100000" sy="100000" kx="0" ky="0" algn="bl" rotWithShape="0" blurRad="76200" dist="25400" dir="5400000">
              <a:srgbClr val="C9B8BC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29584" y="382219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452628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(16.5 MB)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0056" y="3566160"/>
            <a:ext cx="1325880" cy="1920240"/>
          </a:xfrm>
          <a:prstGeom prst="roundRect">
            <a:avLst>
              <a:gd name="adj" fmla="val 6897"/>
            </a:avLst>
          </a:prstGeom>
          <a:solidFill>
            <a:srgbClr val="FBEEEE"/>
          </a:solidFill>
          <a:ln/>
          <a:effectLst>
            <a:outerShdw sx="100000" sy="100000" kx="0" ky="0" algn="bl" rotWithShape="0" blurRad="76200" dist="25400" dir="5400000">
              <a:srgbClr val="C9B8BC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020056" y="382219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825 FPS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093208" y="452628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Single-GPU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600200"/>
            <a:ext cx="4416552" cy="3886200"/>
          </a:xfrm>
          <a:prstGeom prst="roundRect">
            <a:avLst>
              <a:gd name="adj" fmla="val 2824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438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TERMS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2331720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0" y="22128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43800" y="2834640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0" y="27157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43800" y="3337560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0" y="32186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43800" y="3840480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0" y="37216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43800" y="4343400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0" y="42245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43800" y="4846320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0" y="47274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freshness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Reliability Paradox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Spoiled meat threatens health and drives major economic loss, so fast automated inspection matters. But a model that scores 98%+ accuracy is not automatically trustworthy — it may be right for the wrong reasons.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BEEE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926080"/>
            <a:ext cx="685800" cy="6858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9077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bias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891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analysis reveals baseline CNNs often focus on packaging trays instead of meat colour, texture, and moisture.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60604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B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2926080"/>
            <a:ext cx="685800" cy="6858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9077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stakes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3891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Misclassifying spoiled meat as fresh risks real health consequences and regulatory violations.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260604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B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0" y="2926080"/>
            <a:ext cx="685800" cy="6858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0" y="29077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Edge-device constraints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43891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on-site inspection in low-resource supply chains needs small, fast, GPU-light models.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Contributions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explicitly identifies and corrects background-induced visual bias, rather than optimising accuracy alone.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271A3A"/>
          </a:solidFill>
          <a:ln w="9525">
            <a:solidFill>
              <a:srgbClr val="4A5A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68880"/>
            <a:ext cx="530352" cy="5303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957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Grad-CAM-guided bias mitigation framework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715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identifies and corrects spurious attention to background elements in meat freshness classification.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271A3A"/>
          </a:solidFill>
          <a:ln w="9525">
            <a:solidFill>
              <a:srgbClr val="4A5A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01568"/>
            <a:ext cx="530352" cy="5303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383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32841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MiniCAM attention module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64845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into MobileNetV2 to redirect model focus toward meat-specific visual cues — colour, texture, moisture.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271A3A"/>
          </a:solidFill>
          <a:ln w="9525">
            <a:solidFill>
              <a:srgbClr val="4A5A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334256"/>
            <a:ext cx="530352" cy="5303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6110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ensemble fusion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58114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deep embeddings from MobileNetV2+MiniCAM and Xception with SVM and XGBoost, combined via TTA and grid-optimised weighted ensembling.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29784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271A3A"/>
          </a:solidFill>
          <a:ln w="9525">
            <a:solidFill>
              <a:srgbClr val="4A5A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266944"/>
            <a:ext cx="530352" cy="5303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248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19379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explainability analysis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55138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confirms the proposed model eliminates background bias and aligns attention with domain-relevant freshness indicators.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MATERIALS &amp; METHODS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Meat Freshness Image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4343400"/>
          </a:xfrm>
          <a:prstGeom prst="roundRect">
            <a:avLst>
              <a:gd name="adj" fmla="val 2526"/>
            </a:avLst>
          </a:prstGeom>
          <a:solidFill>
            <a:srgbClr val="FBEE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2,266 high-resolution RGB images of beef samples, publicly hosted on Kaggle, collected from diverse market environments across varied lighting, orientation, and background.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3456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853 imgs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13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red, glossy, intact marbling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251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Semi-Fresh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43525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789 imgs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09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Duller tone, reduced sheen, early texture loss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212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5248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624 imgs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6052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Discoloration, slime, visible microbial growth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600200"/>
            <a:ext cx="5650992" cy="4343400"/>
          </a:xfrm>
          <a:prstGeom prst="roundRect">
            <a:avLst>
              <a:gd name="adj" fmla="val 2526"/>
            </a:avLst>
          </a:prstGeom>
          <a:solidFill>
            <a:srgbClr val="2F3C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SPLIT STRATEGY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split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1,815 train / 451 test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816352"/>
            <a:ext cx="5212080" cy="0"/>
          </a:xfrm>
          <a:prstGeom prst="line">
            <a:avLst/>
          </a:prstGeom>
          <a:noFill/>
          <a:ln w="9525">
            <a:solidFill>
              <a:srgbClr val="4454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29077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val split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2907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stratified from train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438144"/>
            <a:ext cx="5212080" cy="0"/>
          </a:xfrm>
          <a:prstGeom prst="line">
            <a:avLst/>
          </a:prstGeom>
          <a:noFill/>
          <a:ln w="9525">
            <a:solidFill>
              <a:srgbClr val="44548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5295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732520" y="35295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416 × 416 px (stretch interp.)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4059936"/>
            <a:ext cx="5212080" cy="0"/>
          </a:xfrm>
          <a:prstGeom prst="line">
            <a:avLst/>
          </a:prstGeom>
          <a:noFill/>
          <a:ln w="9525">
            <a:solidFill>
              <a:srgbClr val="44548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handling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4151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Auto-orientation, metadata stripped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681728"/>
            <a:ext cx="5212080" cy="0"/>
          </a:xfrm>
          <a:prstGeom prst="line">
            <a:avLst/>
          </a:prstGeom>
          <a:noFill/>
          <a:ln w="9525">
            <a:solidFill>
              <a:srgbClr val="44548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4773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augmentation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732520" y="4773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applied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63640" y="5303520"/>
            <a:ext cx="5212080" cy="0"/>
          </a:xfrm>
          <a:prstGeom prst="line">
            <a:avLst/>
          </a:prstGeom>
          <a:noFill/>
          <a:ln w="9525">
            <a:solidFill>
              <a:srgbClr val="44548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BASELINE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YOLO11s-cls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classification model derived from the YOLO11 architecture — a CSPNet-based backbone with C3k2 modules, an SPPF module, and a global-average-pooling classification head.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FBEE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1272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210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11880" y="301752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FBEE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94760" y="31272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36210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FBEE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2702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98.89%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7640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11880" y="416052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FBEE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94760" y="42702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47640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accuracy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480560"/>
          </a:xfrm>
          <a:prstGeom prst="roundRect">
            <a:avLst>
              <a:gd name="adj" fmla="val 2449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BEST-EPOCH SNAPSHOT (EPOCH 19)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0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0.0447 %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2770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770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0.1178 %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2552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3255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37398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Semi-Fresh F1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37398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4224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Spoiled F1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42245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4709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4709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0.9889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BASELINE MODEL — GRAD-CAM FINDING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Accuracy, Wrong Reasons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98.89% Top-1 accuracy, Grad-CAM visualisation of the baseline model reveals a critical interpretability flaw.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3703320"/>
          </a:xfrm>
          <a:prstGeom prst="roundRect">
            <a:avLst>
              <a:gd name="adj" fmla="val 2963"/>
            </a:avLst>
          </a:prstGeom>
          <a:solidFill>
            <a:srgbClr val="271A3A"/>
          </a:solidFill>
          <a:ln w="9525">
            <a:solidFill>
              <a:srgbClr val="4A5A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— Spoiled sample, 100.0% confidence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3A2A2E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3246120"/>
            <a:ext cx="960120" cy="960120"/>
          </a:xfrm>
          <a:prstGeom prst="ellipse">
            <a:avLst/>
          </a:prstGeom>
          <a:solidFill>
            <a:srgbClr val="C41E3A">
              <a:alpha val="9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2918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hotspot on the TRAY, not the meat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177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decision relied predominantly on the packaging tray rather than meat-specific degradation cues — colour, texture, moisture.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5623560" cy="3703320"/>
          </a:xfrm>
          <a:prstGeom prst="roundRect">
            <a:avLst>
              <a:gd name="adj" fmla="val 2963"/>
            </a:avLst>
          </a:prstGeom>
          <a:solidFill>
            <a:srgbClr val="271A22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090672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9443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still looks strong (5 spoiled → semi-fresh errors only)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986784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reliance on non-meat cues fails to generalise across trays, backgrounds, and packaging styles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4882896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473659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must reason about color, texture, and moisture — not props — to be trustworthy in real deployments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PROPOSED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MiniCAM-Guided Hybrid Ensemble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5420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033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px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sample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33375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38728" y="228600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38728" y="25420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Feature Path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37033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MobileNetV2+MiniCAM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frozen Xception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71616" y="33375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37376" y="228600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9900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37376" y="25420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⌗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&amp; Classify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574536" y="37033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Concatenated features →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XGBoost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33375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336024" y="228600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2F3C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36024" y="25420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⌖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336024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Ensemble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9473184" y="37033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 + grid-optimised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MiniCAM applies channel attention (global-avg-pool → MLP → sigmoid gating) and spatial attention (7×7 conv over avg/max-pooled maps) to redirect MobileNetV2 toward meat-specific regions (Eq. 1–2).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TRAINING CONFIGURATION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and Training Parameters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OPTIMISATION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286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+ MiniCAM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614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761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(frozen)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369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resolution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236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124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7124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87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1879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3e-4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63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4663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389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5138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6144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5614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160020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FBEE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FUSION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286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transforms (flip×4 rot.)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27889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kernel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27889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291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params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32918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max_depth=7, n_est.=300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3794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strategy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37947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 weighted avg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2976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range w₁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42976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– 0.6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4800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range w₂, w₃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4800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– 0.3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5303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weights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53035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w₁=0.5, w₂=0.3, w₃=0.2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RESULTS — ACCURACY COMPARISON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Outperforming State-of-the-Art Models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0020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BEEE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24028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99.78%
</a:t>
            </a:r>
            <a:endParaRPr lang="en-US" sz="22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 &amp; recall — best across every SOTA baseline compared
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pts
</a:t>
            </a:r>
            <a:endParaRPr lang="en-US" sz="22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over recent lightweight/edge models (Elangovan, Büyükarıkan)
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gain is practically significant: misclassifying spoiled meat risks health and regulatory consequences.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RESULTS — CLASSIFICATION RELIABILITY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Near-Perfect, Class-by-Class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Proposed Model (validation split)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76606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2331720"/>
            <a:ext cx="1161288" cy="1161288"/>
          </a:xfrm>
          <a:prstGeom prst="roundRect">
            <a:avLst>
              <a:gd name="adj" fmla="val 4724"/>
            </a:avLst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2331720"/>
            <a:ext cx="11612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2331720"/>
            <a:ext cx="1161288" cy="1161288"/>
          </a:xfrm>
          <a:prstGeom prst="roundRect">
            <a:avLst>
              <a:gd name="adj" fmla="val 4724"/>
            </a:avLst>
          </a:prstGeom>
          <a:solidFill>
            <a:srgbClr val="E7B9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2331720"/>
            <a:ext cx="11612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0520" y="2331720"/>
            <a:ext cx="1161288" cy="1161288"/>
          </a:xfrm>
          <a:prstGeom prst="roundRect">
            <a:avLst>
              <a:gd name="adj" fmla="val 4724"/>
            </a:avLst>
          </a:prstGeom>
          <a:solidFill>
            <a:srgbClr val="F6EE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0520" y="2331720"/>
            <a:ext cx="11612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0050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SEMI-FRESH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91640" y="3566160"/>
            <a:ext cx="1161288" cy="1161288"/>
          </a:xfrm>
          <a:prstGeom prst="roundRect">
            <a:avLst>
              <a:gd name="adj" fmla="val 4724"/>
            </a:avLst>
          </a:prstGeom>
          <a:solidFill>
            <a:srgbClr val="F6EE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91640" y="3566160"/>
            <a:ext cx="11612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26080" y="3566160"/>
            <a:ext cx="1161288" cy="1161288"/>
          </a:xfrm>
          <a:prstGeom prst="roundRect">
            <a:avLst>
              <a:gd name="adj" fmla="val 4724"/>
            </a:avLst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0" y="3566160"/>
            <a:ext cx="11612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60520" y="3566160"/>
            <a:ext cx="1161288" cy="1161288"/>
          </a:xfrm>
          <a:prstGeom prst="roundRect">
            <a:avLst>
              <a:gd name="adj" fmla="val 4724"/>
            </a:avLst>
          </a:prstGeom>
          <a:solidFill>
            <a:srgbClr val="F6EE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60520" y="3566160"/>
            <a:ext cx="11612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23494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91640" y="4800600"/>
            <a:ext cx="1161288" cy="1161288"/>
          </a:xfrm>
          <a:prstGeom prst="roundRect">
            <a:avLst>
              <a:gd name="adj" fmla="val 4724"/>
            </a:avLst>
          </a:prstGeom>
          <a:solidFill>
            <a:srgbClr val="F6EE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91640" y="4800600"/>
            <a:ext cx="11612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926080" y="4800600"/>
            <a:ext cx="1161288" cy="1161288"/>
          </a:xfrm>
          <a:prstGeom prst="roundRect">
            <a:avLst>
              <a:gd name="adj" fmla="val 4724"/>
            </a:avLst>
          </a:prstGeom>
          <a:solidFill>
            <a:srgbClr val="F6EE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26080" y="4800600"/>
            <a:ext cx="11612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60520" y="4800600"/>
            <a:ext cx="1161288" cy="1161288"/>
          </a:xfrm>
          <a:prstGeom prst="roundRect">
            <a:avLst>
              <a:gd name="adj" fmla="val 4724"/>
            </a:avLst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60520" y="4800600"/>
            <a:ext cx="11612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608076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926080" y="608076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SEMI-FRESH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608076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86600" y="1600200"/>
            <a:ext cx="4572000" cy="4480560"/>
          </a:xfrm>
          <a:prstGeom prst="roundRect">
            <a:avLst>
              <a:gd name="adj" fmla="val 2449"/>
            </a:avLst>
          </a:prstGeom>
          <a:solidFill>
            <a:srgbClr val="2F3C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6092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VS. BASELINE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60920" y="2395728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35240" y="22585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5 spoiled samples misclassified as semi-fresh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360920" y="3264408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35240" y="31272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only 1 fresh sample (0.6%) misclassified as semi-fresh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60920" y="4133088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635240" y="39959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confusion remains between semi-fresh and spoiled — the safety-critical boundary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360920" y="5001768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35240" y="48646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precision, recall, and F1 all reach ≈0.998–1.000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RESULTS — EXPLAINABILITY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Packaging Trays to Meat Cues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visualisations across all three classes confirm that the MiniCAM-guided model attends to semantically valid regions.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271A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(YOLO11s-cls)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241830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3200400"/>
            <a:ext cx="1554480" cy="960120"/>
          </a:xfrm>
          <a:prstGeom prst="ellipse">
            <a:avLst/>
          </a:prstGeom>
          <a:solidFill>
            <a:srgbClr val="C41E3A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45720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hotspot: tray corner (background)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749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tray focus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33172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271A3A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(MiniCAM ensemble)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29718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241830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3200400"/>
            <a:ext cx="2377440" cy="960120"/>
          </a:xfrm>
          <a:prstGeom prst="ellipse">
            <a:avLst/>
          </a:prstGeom>
          <a:solidFill>
            <a:srgbClr val="D4A017">
              <a:alpha val="85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45720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hotspot: meat surface — colour, texture, moisture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50749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surface focus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RESULTS — EFFICIENCY &amp; ROBUSTNESS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Small, and Stable Across Folds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BEE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901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0011"/>
                </a:solidFill>
              </a:rPr>
              <a:t>⚙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BEE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901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0011"/>
                </a:solidFill>
              </a:rPr>
              <a:t>☷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 MB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BEE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901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0011"/>
                </a:solidFill>
              </a:rPr>
              <a:t>⏱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825.1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(single GPU)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98280" y="17373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BEE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98280" y="1901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0011"/>
                </a:solidFill>
              </a:rPr>
              <a:t>↻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99.66±0.23%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Accuracy (%)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02920" y="4251960"/>
          <a:ext cx="69494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818120" y="3931920"/>
            <a:ext cx="3840480" cy="2468880"/>
          </a:xfrm>
          <a:prstGeom prst="roundRect">
            <a:avLst>
              <a:gd name="adj" fmla="val 4444"/>
            </a:avLst>
          </a:prstGeom>
          <a:solidFill>
            <a:srgbClr val="2F3C7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46720" y="41148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E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ensemble weights (w₁≈0.5, w₂≈0.3, w₃≈0.2) stayed consistent in 4 of 5 folds — the fusion strategy is stable and not overly sensitive to data partitioning.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Trustworthy, Deployable Freshness Assessment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E8D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integrating a Grad-CAM-guided MiniCAM attention module into a lightweight MobileNetV2 + Xception ensemble, this framework reaches 99.78% test accuracy (99.66% ± 0.23% under 5-fold CV) while eliminating background-induced bias — redirecting model attention from packaging trays to genuine meat freshness cues, at 825 FPS on just 4.3M parameters.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975104" cy="502920"/>
          </a:xfrm>
          <a:prstGeom prst="roundRect">
            <a:avLst>
              <a:gd name="adj" fmla="val 50909"/>
            </a:avLst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93192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Bias-mitigated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43784" y="3931920"/>
            <a:ext cx="1659636" cy="502920"/>
          </a:xfrm>
          <a:prstGeom prst="roundRect">
            <a:avLst>
              <a:gd name="adj" fmla="val 50909"/>
            </a:avLst>
          </a:prstGeom>
          <a:solidFill>
            <a:srgbClr val="9900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43784" y="3931920"/>
            <a:ext cx="16596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32020" y="3931920"/>
            <a:ext cx="2080260" cy="502920"/>
          </a:xfrm>
          <a:prstGeom prst="roundRect">
            <a:avLst>
              <a:gd name="adj" fmla="val 50909"/>
            </a:avLst>
          </a:prstGeom>
          <a:solidFill>
            <a:srgbClr val="9900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32020" y="3931920"/>
            <a:ext cx="2080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Edge-deployable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3931920"/>
            <a:ext cx="1449324" cy="502920"/>
          </a:xfrm>
          <a:prstGeom prst="roundRect">
            <a:avLst>
              <a:gd name="adj" fmla="val 50909"/>
            </a:avLst>
          </a:prstGeom>
          <a:solidFill>
            <a:srgbClr val="9900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0" y="3931920"/>
            <a:ext cx="1449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18804" y="3931920"/>
            <a:ext cx="1869948" cy="502920"/>
          </a:xfrm>
          <a:prstGeom prst="roundRect">
            <a:avLst>
              <a:gd name="adj" fmla="val 50909"/>
            </a:avLst>
          </a:prstGeom>
          <a:solidFill>
            <a:srgbClr val="9900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18804" y="3931920"/>
            <a:ext cx="18699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983480"/>
            <a:ext cx="219456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166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 &amp; Duygu Balpetek Külcü  ·  Giresun University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sercan.kulcu@giresun.edu.tr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in Ensemble-Based Meat Freshness Classification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4480560"/>
            <a:ext cx="2926080" cy="2926080"/>
          </a:xfrm>
          <a:prstGeom prst="ellipse">
            <a:avLst/>
          </a:prstGeom>
          <a:ln w="15240">
            <a:solidFill>
              <a:srgbClr val="C41E3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3749040"/>
            <a:ext cx="4389120" cy="4389120"/>
          </a:xfrm>
          <a:prstGeom prst="ellipse">
            <a:avLst/>
          </a:prstGeom>
          <a:ln w="15240">
            <a:solidFill>
              <a:srgbClr val="C41E3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48472" y="3017520"/>
            <a:ext cx="5852160" cy="5852160"/>
          </a:xfrm>
          <a:prstGeom prst="ellipse">
            <a:avLst/>
          </a:prstGeom>
          <a:ln w="15240">
            <a:solidFill>
              <a:srgbClr val="C41E3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6952" y="2286000"/>
            <a:ext cx="7315200" cy="7315200"/>
          </a:xfrm>
          <a:prstGeom prst="ellipse">
            <a:avLst/>
          </a:prstGeom>
          <a:ln w="15240">
            <a:solidFill>
              <a:srgbClr val="C41E3A">
                <a:alpha val="6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4297680"/>
            <a:ext cx="219456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 &amp; Duygu Balpetek Külcü  ·  Giresun University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sercan.kulcu@giresun.edu.tr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2026-09-09T21:02:28Z</dcterms:created>
  <dcterms:modified xsi:type="dcterms:W3CDTF">2026-09-09T21:02:28Z</dcterms:modified>
</cp:coreProperties>
</file>