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 (%)</c:v>
                </c:pt>
              </c:strCache>
            </c:strRef>
          </c:tx>
          <c:spPr>
            <a:solidFill>
              <a:srgbClr val="7A4B2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1E14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SGDM</c:v>
                </c:pt>
                <c:pt idx="1">
                  <c:v>ADAM</c:v>
                </c:pt>
                <c:pt idx="2">
                  <c:v>RMSprop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99.79</c:v>
                </c:pt>
                <c:pt idx="1">
                  <c:v>99.89</c:v>
                </c:pt>
                <c:pt idx="2">
                  <c:v>99.89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0-4A31-A291-95F7E9246D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C68B3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1E14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SGDM</c:v>
                </c:pt>
                <c:pt idx="1">
                  <c:v>ADAM</c:v>
                </c:pt>
                <c:pt idx="2">
                  <c:v>RMSprop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99.94</c:v>
                </c:pt>
                <c:pt idx="1">
                  <c:v>99.96</c:v>
                </c:pt>
                <c:pt idx="2">
                  <c:v>99.92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70-4A31-A291-95F7E9246D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A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9.5"/>
        </c:scaling>
        <c:delete val="0"/>
        <c:axPos val="l"/>
        <c:majorGridlines>
          <c:spPr>
            <a:ln w="12700" cap="flat">
              <a:solidFill>
                <a:srgbClr val="E3DCC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6A57"/>
                    </a:solidFill>
                    <a:latin typeface="Arial"/>
                  </a:defRPr>
                </a:pPr>
                <a:r>
                  <a:rPr lang="tr-TR" sz="1000" b="0" i="0" u="none" strike="noStrike">
                    <a:solidFill>
                      <a:srgbClr val="7A6A57"/>
                    </a:solidFill>
                    <a:latin typeface="Arial"/>
                  </a:rPr>
                  <a:t>Accuracy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A6A5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932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188720"/>
            <a:ext cx="4206240" cy="4206240"/>
          </a:xfrm>
          <a:prstGeom prst="ellipse">
            <a:avLst/>
          </a:prstGeom>
          <a:solidFill>
            <a:srgbClr val="7A4B24">
              <a:alpha val="4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566160" cy="3566160"/>
          </a:xfrm>
          <a:prstGeom prst="ellipse">
            <a:avLst/>
          </a:prstGeom>
          <a:solidFill>
            <a:srgbClr val="C68B3C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AGRICULTURE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of the Most Suitable Parameters for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of Hazelnut Fruit Using ShuffleNet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C68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Özgür Tomak, Mehmet Cem Dikbaş, Sercan Külcü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Giresun University, Computer Engineering / Electrical and Electronics Engineering, Türkiye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35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11th International Azerbaijan Congress on Life, Engineering, Mathematical, and Applied Sciences  |  June 21-22, 2025, Baku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309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classify hazelnuts by quality, size, and color — faster and more accurate than manual sorting.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sorting improves efficiency and supports quality-control processes in production.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monitoring can also aid early disease detection and reduce labor costs during harvesting and processing.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selects the most suitable training parameters for classifying hazelnut fruit using the ShuffleNet deep learning algorithm.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78040" y="1188720"/>
            <a:ext cx="4434840" cy="4846320"/>
          </a:xfrm>
          <a:prstGeom prst="roundRect">
            <a:avLst>
              <a:gd name="adj" fmla="val 2474"/>
            </a:avLst>
          </a:prstGeom>
          <a:solidFill>
            <a:srgbClr val="FAF7F1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452360" y="1463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AT A GLANCE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52360" y="1965960"/>
            <a:ext cx="17261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15,770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hazelnut images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views × 1,577 nuts)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971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971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good, bad,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inner hazelnuts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977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compared: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SGDM, ADAM, RMSprop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Khosa &amp; Pasero (2014)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image feature extraction for hazelnut classification; anomaly detection used to identify damaged nuts among 748 healthy images.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Solak &amp; Altınışık (2018)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Weka pipeline classifying hazelnuts by size (small/medium/large) via mean-threshold and K-means clustering; 90–100% similarity between methods.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5C7A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Caner et al. (2020)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Tombul and sivri/kara hazelnut cultivars using Bagging (Random Forest, 83%) and DL4J deep learning (71%).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focused on size/cultivar or shell-based sorting; this study targets fruit-quality classification (good / bad / inner) with a lightweight, mobile-ready CNN.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ShuffleNet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309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convolutional neural network purpose-built for devices with very limited processing power (e.g., mobile).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parameter count and computational load using two key operations: pointwise group convolution and channel shuffle.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 uses depthwise separable convolutions, processing feature maps at smaller scale for efficiency.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shuffle mixes information across feature-map groups, improving overall network performance.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Stride-2 units add 3×3 average pooling on the shortcut path; element-wise addition is replaced by channel concatenation to widen feature maps cheaply.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406640" y="128016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406640" y="12801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Group Conv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281160" y="1984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6A57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640" y="2212848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7406640" y="221284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Shuffle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281160" y="29169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6A57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6640" y="3145536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5C7A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7406640" y="314553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Depthwise Conv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38496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6A57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06640" y="4078224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7406640" y="4078224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Group Conv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4782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6A57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6640" y="5010912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7406640" y="50109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Concat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60807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Zhang, X., Zhou, X., Lin, M., &amp; Sun, J. (2018). ShuffleNet: An extremely efficient CNN for mobile devices. CVPR.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Preprocessing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captured with a 12-megapixel rear camera at 3024×3024 resolution.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contains a single hazelnut, expert-labeled into one of three classes.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bad hazelnuts, 535 good hazelnuts, 523 inner hazelnuts.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images per hazelnut from different angles → 15,770 total images.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cropped to 1000×1000 px, then resized to 224×224 px for network input.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70% training, 30% testing (randomly shuffled).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040880" y="1234440"/>
            <a:ext cx="4389120" cy="1234440"/>
          </a:xfrm>
          <a:prstGeom prst="roundRect">
            <a:avLst>
              <a:gd name="adj" fmla="val 7407"/>
            </a:avLst>
          </a:prstGeom>
          <a:solidFill>
            <a:srgbClr val="5C7A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269480" y="1435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Hazelnuts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535 nuts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2651760"/>
            <a:ext cx="4389120" cy="1234440"/>
          </a:xfrm>
          <a:prstGeom prst="roundRect">
            <a:avLst>
              <a:gd name="adj" fmla="val 7407"/>
            </a:avLst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7269480" y="28529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Hazelnuts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3337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nuts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4069080"/>
            <a:ext cx="4389120" cy="1234440"/>
          </a:xfrm>
          <a:prstGeom prst="roundRect">
            <a:avLst>
              <a:gd name="adj" fmla="val 7407"/>
            </a:avLst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7269480" y="4270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Hazelnuts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4754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 nuts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557784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7269480" y="5669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15,770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5669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views each)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AF7F1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3258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AF7F1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6400800" y="1325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Network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13258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 (pretrained backbone)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AF7F1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731520" y="2377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3774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training / 30% testing (random shuffle)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AF7F1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Suite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3774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 (Sensitivity), Specificity, F1-score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AF7F1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73152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1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34290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SGDM — Stochastic Gradient Descent with Momentum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AF7F1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640080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2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34290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— Adaptive Moment Estimation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AF7F1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731520" y="4480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44805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 — Root Mean Square Propagation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AF7F1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 txBox="1"/>
          <p:nvPr/>
        </p:nvSpPr>
        <p:spPr>
          <a:xfrm>
            <a:off x="6400800" y="4480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44805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optimizer yields the most suitable training parameters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Training &amp; Test Accuracy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8872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18872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77266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1783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3566160"/>
            <a:ext cx="3520440" cy="0"/>
          </a:xfrm>
          <a:prstGeom prst="line">
            <a:avLst/>
          </a:prstGeom>
          <a:noFill/>
          <a:ln w="12700">
            <a:solidFill>
              <a:srgbClr val="C68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7726680" y="37033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99.89% train / 99.96% 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and most consistent accuracy among the three optimizers tested.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Metrics by Optimizer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315200" cy="17556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(Sensitivity)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2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68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68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68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68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— Complexity-matrix metrics for ShuffleNet with each optimizer.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03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optimizers reach near-perfect scores — the dataset's class separability supports very high, consistent performance across configurations.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83880" y="12344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AF7F1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8412480" y="1508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ADAM WINS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8288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4200" dirty="0"/>
          </a:p>
        </p:txBody>
      </p:sp>
      <p:sp>
        <p:nvSpPr>
          <p:cNvPr id="3" name="Text 6"/>
          <p:cNvSpPr txBox="1"/>
          <p:nvPr/>
        </p:nvSpPr>
        <p:spPr>
          <a:xfrm>
            <a:off x="8412480" y="2606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specificity — zero false positives on the validation set.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0" y="3520440"/>
            <a:ext cx="2971800" cy="0"/>
          </a:xfrm>
          <a:prstGeom prst="line">
            <a:avLst/>
          </a:prstGeom>
          <a:noFill/>
          <a:ln w="19050">
            <a:solidFill>
              <a:srgbClr val="C68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412480" y="36576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0.9998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among all optimizers tested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5C7A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ADAM's Adaptive Advantage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per-parameter learning rates and momentum tracking let ADAM converge quickly and effectively on this dataset.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SGDM Remains Competitive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Momentum-based updates still deliver 99.94% test accuracy — a robust, simpler alternative when tuning resources are limited.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RMSprop's Stability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Per-parameter learning-rate adjustment based on gradient variance keeps RMSprop close behind, at 99.92% test accuracy.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Impact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ShuffleNet + near-perfect accuracy makes automated hazelnut sorting feasible on resource-constrained devices in production lines.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7A4B24">
              <a:alpha val="4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840480" cy="3840480"/>
          </a:xfrm>
          <a:prstGeom prst="ellipse">
            <a:avLst/>
          </a:prstGeom>
          <a:solidFill>
            <a:srgbClr val="C68B3C">
              <a:alpha val="2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7680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 achieves near-perfect classification of good, bad, and inner hazelnuts across all three optimizers tested.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gives the best overall performance: 99.96% test accuracy, 1.0 specificity, 0.9998 F1-score.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SGDM (99.94%) and RMSprop (99.92%) remain highly competitive alternatives.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out bad and inner hazelnuts before storage prevents yield loss and spoilage — this lightweight model is well suited to on-device deployment in production lines.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0" y="1371600"/>
            <a:ext cx="2834640" cy="4206240"/>
          </a:xfrm>
          <a:prstGeom prst="roundRect">
            <a:avLst>
              <a:gd name="adj" fmla="val 3871"/>
            </a:avLst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91540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99.96%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2514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98280" y="324612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8915400" y="3429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15,770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3 classes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4251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compared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sercan.kulcu@giresun.edu.tr  |  ORCID: 0000-0002-4871-709X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Microsoft Office PowerPoint</Application>
  <PresentationFormat>Widescreen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Sercan Kulcu</cp:lastModifiedBy>
  <cp:revision>2</cp:revision>
  <dcterms:created xsi:type="dcterms:W3CDTF">2026-09-10T06:39:38Z</dcterms:created>
  <dcterms:modified xsi:type="dcterms:W3CDTF">2026-09-10T06:41:23Z</dcterms:modified>
</cp:coreProperties>
</file>