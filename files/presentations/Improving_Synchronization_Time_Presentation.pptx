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Rotating antenna</c:v>
                </c:pt>
              </c:strCache>
            </c:strRef>
          </c:tx>
          <c:spPr>
            <a:ln w="25400" cap="flat">
              <a:solidFill>
                <a:srgbClr val="3A2A5C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3A2A5C"/>
              </a:solidFill>
              <a:ln w="9525" cap="flat">
                <a:solidFill>
                  <a:srgbClr val="3A2A5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3</c:v>
                </c:pt>
                <c:pt idx="2">
                  <c:v>3.8</c:v>
                </c:pt>
                <c:pt idx="3">
                  <c:v>5.5</c:v>
                </c:pt>
                <c:pt idx="4">
                  <c:v>9</c:v>
                </c:pt>
                <c:pt idx="5">
                  <c:v>16.5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A6-4EE5-834C-AE2EB7E6D0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Rotating + Scanning packet</c:v>
                </c:pt>
              </c:strCache>
            </c:strRef>
          </c:tx>
          <c:spPr>
            <a:ln w="25400" cap="flat">
              <a:solidFill>
                <a:srgbClr val="2FBF71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FBF71"/>
              </a:solidFill>
              <a:ln w="9525" cap="flat">
                <a:solidFill>
                  <a:srgbClr val="2FBF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2.2999999999999998</c:v>
                </c:pt>
                <c:pt idx="3">
                  <c:v>3</c:v>
                </c:pt>
                <c:pt idx="4">
                  <c:v>4</c:v>
                </c:pt>
                <c:pt idx="5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A6-4EE5-834C-AE2EB7E6D0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Rotating + Autonomous cell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1.5</c:v>
                </c:pt>
                <c:pt idx="2">
                  <c:v>1.6</c:v>
                </c:pt>
                <c:pt idx="3">
                  <c:v>1.8</c:v>
                </c:pt>
                <c:pt idx="4">
                  <c:v>2</c:v>
                </c:pt>
                <c:pt idx="5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A6-4EE5-834C-AE2EB7E6D0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Omnidirectional</c:v>
                </c:pt>
              </c:strCache>
            </c:strRef>
          </c:tx>
          <c:spPr>
            <a:ln w="25400" cap="flat">
              <a:solidFill>
                <a:srgbClr val="6B618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B6180"/>
              </a:solidFill>
              <a:ln w="9525" cap="flat">
                <a:solidFill>
                  <a:srgbClr val="6B618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1.8</c:v>
                </c:pt>
                <c:pt idx="1">
                  <c:v>2.2000000000000002</c:v>
                </c:pt>
                <c:pt idx="2">
                  <c:v>3.5</c:v>
                </c:pt>
                <c:pt idx="3">
                  <c:v>6.5</c:v>
                </c:pt>
                <c:pt idx="4">
                  <c:v>11</c:v>
                </c:pt>
                <c:pt idx="5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A6-4EE5-834C-AE2EB7E6D0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Omnidirectional + Autonomous cell</c:v>
                </c:pt>
              </c:strCache>
            </c:strRef>
          </c:tx>
          <c:spPr>
            <a:ln w="25400" cap="flat">
              <a:solidFill>
                <a:srgbClr val="9587B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9587B0"/>
              </a:solidFill>
              <a:ln w="9525" cap="flat">
                <a:solidFill>
                  <a:srgbClr val="9587B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1.3</c:v>
                </c:pt>
                <c:pt idx="1">
                  <c:v>1.4</c:v>
                </c:pt>
                <c:pt idx="2">
                  <c:v>1.5</c:v>
                </c:pt>
                <c:pt idx="3">
                  <c:v>1.6</c:v>
                </c:pt>
                <c:pt idx="4">
                  <c:v>1.7</c:v>
                </c:pt>
                <c:pt idx="5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A6-4EE5-834C-AE2EB7E6D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180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6B6180"/>
                    </a:solidFill>
                    <a:latin typeface="Arial"/>
                  </a:rPr>
                  <a:t>Node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1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0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180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6B6180"/>
                    </a:solidFill>
                    <a:latin typeface="Arial"/>
                  </a:rPr>
                  <a:t>Sync Time (minutes)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1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direction (1 freq.)</c:v>
                </c:pt>
              </c:strCache>
            </c:strRef>
          </c:tx>
          <c:spPr>
            <a:ln w="25400" cap="flat">
              <a:solidFill>
                <a:srgbClr val="6B618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B6180"/>
              </a:solidFill>
              <a:ln w="9525" cap="flat">
                <a:solidFill>
                  <a:srgbClr val="6B618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10</c:v>
                </c:pt>
                <c:pt idx="2">
                  <c:v>15</c:v>
                </c:pt>
                <c:pt idx="3">
                  <c:v>22</c:v>
                </c:pt>
                <c:pt idx="4">
                  <c:v>32</c:v>
                </c:pt>
                <c:pt idx="5">
                  <c:v>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6A-4E94-983A-DBA4B4CCD6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direction (2 freq.)</c:v>
                </c:pt>
              </c:strCache>
            </c:strRef>
          </c:tx>
          <c:spPr>
            <a:ln w="25400" cap="flat">
              <a:solidFill>
                <a:srgbClr val="9587B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9587B0"/>
              </a:solidFill>
              <a:ln w="9525" cap="flat">
                <a:solidFill>
                  <a:srgbClr val="9587B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15</c:v>
                </c:pt>
                <c:pt idx="2">
                  <c:v>20</c:v>
                </c:pt>
                <c:pt idx="3">
                  <c:v>28</c:v>
                </c:pt>
                <c:pt idx="4">
                  <c:v>38</c:v>
                </c:pt>
                <c:pt idx="5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6A-4E94-983A-DBA4B4CCD6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Scanning packet (1 freq.)</c:v>
                </c:pt>
              </c:strCache>
            </c:strRef>
          </c:tx>
          <c:spPr>
            <a:ln w="25400" cap="flat">
              <a:solidFill>
                <a:srgbClr val="2FBF71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FBF71"/>
              </a:solidFill>
              <a:ln w="9525" cap="flat">
                <a:solidFill>
                  <a:srgbClr val="2FBF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3.5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6A-4E94-983A-DBA4B4CCD6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Scanning packet (2 freq.)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55</c:v>
                </c:pt>
                <c:pt idx="4">
                  <c:v>65</c:v>
                </c:pt>
                <c:pt idx="5">
                  <c:v>75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D6A-4E94-983A-DBA4B4CCD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180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6B6180"/>
                    </a:solidFill>
                    <a:latin typeface="Arial"/>
                  </a:rPr>
                  <a:t>Node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1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0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180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6B6180"/>
                    </a:solidFill>
                    <a:latin typeface="Arial"/>
                  </a:rPr>
                  <a:t>Sync Time (minutes)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1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1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99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206240" cy="4206240"/>
          </a:xfrm>
          <a:prstGeom prst="ellipse">
            <a:avLst/>
          </a:prstGeom>
          <a:solidFill>
            <a:srgbClr val="2FBF71">
              <a:alpha val="2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566160" cy="356616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ANTENNAS FOR IoT NETWORKS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Synchronization Time in 6TiSCH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with Smart Antennas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Külcü, Sedat Görmüş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Karadeniz Technical University, Trabzon,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30th IEEE Signal Processing and Communications Applications Conference (SIU 2022)  |  May 15-18, 2022, Safranbolu, Türkiye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6TiSCH schedules time-slot and frequency-channel resources to build reliable, low-power, low-latency IoT networks.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Smart/directional antennas boost performance further — longer range and reduced interference by focusing energy in a chosen direction.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narrow antenna coverage makes network synchronization and neighbor discovery much harder than with omnidirectional antennas.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proposes a new 6TiSCH message packet and mechanism letting nodes discover neighbors before full network synchronization.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5F3FA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9659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25–75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965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tested across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scenarios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sync with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packets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3977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types compared: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vs. rotating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/ ESPAR Antennas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Electronically Steerable Parasitic Array Radiator antennas adjust radiation direction electronically, reducing interference and collisions in dense IoT deployments.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 Protocol Stack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Time-Slotted Channel Hopping (TSCH) for stable, low-power, low-latency medium access — achieving over 99% packet delivery in ideal conditions.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3A2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Network Formation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Enhanced Beacon (EB) messages synchronize nodes to the network; (2) DIO messages build the routing tree (DODAG).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241B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Directional Antenna Challenge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beam coverage means nodes must repeat neighbor-discovery steps across many directions — far slower than with omnidirectional antennas.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the Antenna Radiation Pattern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126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Cooja's radio model was extended to account for each node's antenna orientation, not just inter-node distance.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dBi gain in the antenna's facing direction; −15 dBi loss in the opposite direction.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~30 m range in the facing direction vs. ~40 m of interference protection from unwanted directions.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(RSS) follows a log-distance path-loss model incorporating inter-node distance and relative antenna angles: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6126480" cy="777240"/>
          </a:xfrm>
          <a:prstGeom prst="roundRect">
            <a:avLst>
              <a:gd name="adj" fmla="val 9412"/>
            </a:avLst>
          </a:prstGeom>
          <a:solidFill>
            <a:srgbClr val="F5F3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77240" y="4617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= P_TX + P_PL − 10K·log₁₀(d₁₂ / d₀) + G(θ₁₂) + G(θ₂₁)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23444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5F3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726948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Radiation Pattern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3154680"/>
            <a:ext cx="3108960" cy="1005840"/>
          </a:xfrm>
          <a:prstGeom prst="ellipse">
            <a:avLst/>
          </a:prstGeom>
          <a:solidFill>
            <a:srgbClr val="2FBF71">
              <a:alpha val="75000"/>
            </a:srgbClr>
          </a:solidFill>
          <a:ln w="1905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9006840" y="3474720"/>
            <a:ext cx="640080" cy="365760"/>
          </a:xfrm>
          <a:prstGeom prst="ellipse">
            <a:avLst/>
          </a:prstGeom>
          <a:solidFill>
            <a:srgbClr val="E8A33D">
              <a:alpha val="70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9217152" y="3547872"/>
            <a:ext cx="219456" cy="219456"/>
          </a:xfrm>
          <a:prstGeom prst="ellipse">
            <a:avLst/>
          </a:prstGeom>
          <a:solidFill>
            <a:srgbClr val="241B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217152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72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lobe: +5 dBi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983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lobe: −15 dBi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5486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gain trades 360° coverage for extended range and interference rejection.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Scanning Packets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531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Scanning Packet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Unsynchronized nodes broadcast a new "Scanning Packet" while their radio stays open, listening across frequencies.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Neighbor Info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nodes extract the sender's MAC ID, current antenna angle, and RSSI to build a virtual neighbor list (Algorithm 1).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3A2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200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via EB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node receives an Enhanced Beacon (EB) and synchronizes, it stops sending scanning packets and starts sending EB itself.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0035540" y="1645920"/>
            <a:ext cx="640080" cy="640080"/>
          </a:xfrm>
          <a:prstGeom prst="ellipse">
            <a:avLst/>
          </a:prstGeom>
          <a:solidFill>
            <a:srgbClr val="241B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0355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Transmission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broadcasts on shared cells target a known neighbor's direction (Algorithm 2) instead of a random direction — raising success rate.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nodes can still be discovered: when transmitting or listening, a random direction is chosen with probability P = 1 / (neighbor count + 1).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Cooja, on Contiki OS — 10 repetitions, averaged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6400800" y="1325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Length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slots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Cells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377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Send Interval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77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 (min) – 50 s (max)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(Omnidirectional)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6400800" y="3429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(Smart Antenna)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80 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731520" y="4480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Area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4480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 × 200 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6400800" y="4480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 Tested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480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25, 35, 45, 55, 65, 75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 until the network is fully synchronized. Nodes are placed randomly within the scenario area.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Sync Time by Antenna Configuration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Autonomous-cell solutions scale best as density increases; scanning packets help rotating antennas the most in dense scenarios.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Effect of Scanning Packets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178040" y="1097280"/>
            <a:ext cx="4434840" cy="4206240"/>
          </a:xfrm>
          <a:prstGeom prst="roundRect">
            <a:avLst>
              <a:gd name="adj" fmla="val 2609"/>
            </a:avLst>
          </a:prstGeom>
          <a:solidFill>
            <a:srgbClr val="241B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7406640" y="1463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423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network synchronization using scanning packets vs. random-direction transmission.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3474720"/>
            <a:ext cx="39776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7406640" y="36118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frequency channels increase total sync time (each must be scanned in turn) — but scanning packets consistently outperform random-direction transmission at every channel count.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6B61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Struggles at Scale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well in small scenarios, but degrades sharply as density rises due to more frequent interference and collisions.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Antennas Excel in Dense Networks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beams reduce collisions as density increases — but need more neighbors in range before showing this benefit.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Cells Are the Biggest Win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Duplicating control messages per neighbor and sending over dedicated, autonomously assigned cells keeps sync time short and scalable, regardless of density.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3A2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Packets Complement Autonomous Cells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directing shared-cell transmissions toward known neighbors instead of random directions, sync time improves by up to 25%.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2FBF71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Scanning Packet lets unsynchronized nodes with directional antennas discover neighbors faster in 6TiSCH networks.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shared-cell transmissions toward known neighbors — rather than random directions — improves synchronization time by ~25%.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assigned cells per neighbor provide the largest, most scalable improvement across all tested node densities.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9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apply machine-learning approaches to further optimize shared-cell utilization in directional 6TiSCH networks.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2FBF7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329184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91540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25–75 nodes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densities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297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Scanning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mechanism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sercan.kulcu@ceng.ktu.edu.tr   |   Supported by TÜBİTAK Project No. 118E289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1</cp:revision>
  <dcterms:created xsi:type="dcterms:W3CDTF">2026-09-10T06:59:31Z</dcterms:created>
  <dcterms:modified xsi:type="dcterms:W3CDTF">2026-09-10T07:01:58Z</dcterms:modified>
</cp:coreProperties>
</file>