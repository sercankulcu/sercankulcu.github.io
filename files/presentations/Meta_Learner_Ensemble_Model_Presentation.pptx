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254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0.65500000000000003</c:v>
                </c:pt>
                <c:pt idx="1">
                  <c:v>0.48</c:v>
                </c:pt>
                <c:pt idx="2">
                  <c:v>0.44</c:v>
                </c:pt>
                <c:pt idx="3">
                  <c:v>0.41</c:v>
                </c:pt>
                <c:pt idx="4">
                  <c:v>0.40500000000000003</c:v>
                </c:pt>
                <c:pt idx="5">
                  <c:v>0.39</c:v>
                </c:pt>
                <c:pt idx="6">
                  <c:v>0.375</c:v>
                </c:pt>
                <c:pt idx="7">
                  <c:v>0.36499999999999999</c:v>
                </c:pt>
                <c:pt idx="8">
                  <c:v>0.36499999999999999</c:v>
                </c:pt>
                <c:pt idx="9">
                  <c:v>0.36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69C-4F4E-8C12-FB3BC56885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B7B"/>
                    </a:solidFill>
                    <a:latin typeface="Arial"/>
                  </a:defRPr>
                </a:pPr>
                <a:r>
                  <a:rPr lang="tr-TR" sz="1000" b="0" i="0" u="none" strike="noStrike">
                    <a:solidFill>
                      <a:srgbClr val="5A6B7B"/>
                    </a:solidFill>
                    <a:latin typeface="Arial"/>
                  </a:rPr>
                  <a:t>Train Loss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7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632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-1371600" y="4754880"/>
            <a:ext cx="3474720" cy="3474720"/>
          </a:xfrm>
          <a:prstGeom prst="ellipse">
            <a:avLst/>
          </a:prstGeom>
          <a:solidFill>
            <a:srgbClr val="3AAFA9">
              <a:alpha val="25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CLASSIFICATION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Meta-Learner Ensemble Model for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 Tumor Classification from MRI Scans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82296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 KÜLCÜ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 Department, Giresun University, Türkiye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035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7th International Conference on Engineering and Applied Natural Sciences (ICEANS 2025)  |  October 25-26, 2025, Konya, Turkey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Motivation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309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classification from MRI is critical for early diagnosis and treatment planning.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interpretation is time-consuming and prone to inter-observer error.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deep learning has shown strong results (Jader et al. 99.16%; Tandel et al. 98.88%) but overfitting, dataset limits, and computational cost remain open challenges.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proposes a meta-learner ensemble combining EfficientNet-B0, DenseNet201, and ResNet50 on the BRISC dataset.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78040" y="1188720"/>
            <a:ext cx="4434840" cy="4846320"/>
          </a:xfrm>
          <a:prstGeom prst="roundRect">
            <a:avLst>
              <a:gd name="adj" fmla="val 2474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7452360" y="14630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2971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29718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contrast-enhanced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T1-weighted MRI scans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452360" y="3977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3977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classes: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glioma, meningioma,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pituitary, no-tumor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BRISC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0350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contrast-enhanced T1-weighted MRI scans, annotated by certified radiologists.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training images and 1,000 testing images.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classes: glioma, meningioma, pituitary tumor, and non-tumorous.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Multi-plane views — axial, sagittal, coronal — with balanced annotations.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gaps in BraTS / Figshare by offering consistent, diverse data and excluding less relevant modalities.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903720" y="123444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3AAFA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 txBox="1"/>
          <p:nvPr/>
        </p:nvSpPr>
        <p:spPr>
          <a:xfrm>
            <a:off x="7040880" y="24231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464040" y="123444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9601200" y="24231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Meningioma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315468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1E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 txBox="1"/>
          <p:nvPr/>
        </p:nvSpPr>
        <p:spPr>
          <a:xfrm>
            <a:off x="7040880" y="43434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 Tumor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464040" y="315468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6D8CA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 txBox="1"/>
          <p:nvPr/>
        </p:nvSpPr>
        <p:spPr>
          <a:xfrm>
            <a:off x="9601200" y="434340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Tumor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Preprocessing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1531620" y="1645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15316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6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→ Grayscale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via OpenCV (RGB→BGR then grayscale)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172968" y="274320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366260" y="1645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3662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6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1089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blur with a 5×5 kernel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07608" y="274320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7200900" y="1645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2009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6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Otsu's Thresholding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1089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the tumor region from background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842248" y="274320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052560" y="13716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10035540" y="1645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100355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6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25146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Cropping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31089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contour + bounding box crop, resized to 244×244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Normalization: PyTorch transform pipeline, mean = std = 0.5 across all channels, final input converted back to RGB.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Model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timm library, pretrained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Dropout(0.4) → FC(512) → ReLU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BN → Dropout(0.2) → FC(classes)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51960" y="12344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4434840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DenseNet201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17830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torchvision, pretrained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feature reuse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custom classifier head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63840" y="123444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8046720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17830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torchvision, pretrained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custom classifier head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3063240"/>
            <a:ext cx="0" cy="502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 txBox="1"/>
          <p:nvPr/>
        </p:nvSpPr>
        <p:spPr>
          <a:xfrm>
            <a:off x="5897880" y="3520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37560" y="3840480"/>
            <a:ext cx="5577840" cy="1417320"/>
          </a:xfrm>
          <a:prstGeom prst="roundRect">
            <a:avLst>
              <a:gd name="adj" fmla="val 6452"/>
            </a:avLst>
          </a:prstGeom>
          <a:solidFill>
            <a:srgbClr val="1E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 txBox="1"/>
          <p:nvPr/>
        </p:nvSpPr>
        <p:spPr>
          <a:xfrm>
            <a:off x="356616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Meta-Learner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437083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Concatenated outputs → Linear(→1024) → ReLU → Dropout(0.3) → Linear(num classes)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relationships among base-model outputs, acting as a decision-maker that optimizes the combined prediction.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132588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GeForce RTX 3050 (CUDA 11.8)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2344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6400800" y="13258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132588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with Automatic Mixed Precision (AMP)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731520" y="23774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37744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 via PyTorch DataLoader with shuffling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 txBox="1"/>
          <p:nvPr/>
        </p:nvSpPr>
        <p:spPr>
          <a:xfrm>
            <a:off x="6400800" y="23774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37744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with label smoothing (0.1)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 txBox="1"/>
          <p:nvPr/>
        </p:nvSpPr>
        <p:spPr>
          <a:xfrm>
            <a:off x="731520" y="34290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342900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learning rate 1e-4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3375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 txBox="1"/>
          <p:nvPr/>
        </p:nvSpPr>
        <p:spPr>
          <a:xfrm>
            <a:off x="6400800" y="34290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342900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 learning-rate schedule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 txBox="1"/>
          <p:nvPr/>
        </p:nvSpPr>
        <p:spPr>
          <a:xfrm>
            <a:off x="731520" y="44805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448056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autocast (forward pass) + GradScaler (gradient scaling)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43891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 txBox="1"/>
          <p:nvPr/>
        </p:nvSpPr>
        <p:spPr>
          <a:xfrm>
            <a:off x="6400800" y="44805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448056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Performance Comparison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7315200" cy="2194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DenseNet201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(proposed)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AF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AF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AFA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AAF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83880" y="118872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1E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2"/>
          <p:cNvSpPr txBox="1"/>
          <p:nvPr/>
        </p:nvSpPr>
        <p:spPr>
          <a:xfrm>
            <a:off x="8412480" y="15087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 F1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182880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301752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score among all models — outperforming all three individual base networks.</a:t>
            </a:r>
            <a:endParaRPr lang="en-US" sz="1300" dirty="0"/>
          </a:p>
        </p:txBody>
      </p:sp>
      <p:sp>
        <p:nvSpPr>
          <p:cNvPr id="3" name="Shape 5"/>
          <p:cNvSpPr/>
          <p:nvPr/>
        </p:nvSpPr>
        <p:spPr>
          <a:xfrm>
            <a:off x="8412480" y="4160520"/>
            <a:ext cx="2971800" cy="0"/>
          </a:xfrm>
          <a:prstGeom prst="line">
            <a:avLst/>
          </a:prstGeom>
          <a:noFill/>
          <a:ln w="1905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 txBox="1"/>
          <p:nvPr/>
        </p:nvSpPr>
        <p:spPr>
          <a:xfrm>
            <a:off x="8412480" y="42976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Glioma: 1.000 / 1.000 / 1.000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/ F1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— Precision, Recall, and F1-score (weighted average) on the 1,000-image test set.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&amp; Training Progress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(Ensemble)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12344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2697480" y="12344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Meningioma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12344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Tumor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2344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6916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74520" y="1691640"/>
            <a:ext cx="822960" cy="822960"/>
          </a:xfrm>
          <a:prstGeom prst="rect">
            <a:avLst/>
          </a:prstGeom>
          <a:solidFill>
            <a:srgbClr val="1C7293"/>
          </a:solidFill>
          <a:ln w="9525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187452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97480" y="1691640"/>
            <a:ext cx="822960" cy="822960"/>
          </a:xfrm>
          <a:prstGeom prst="rect">
            <a:avLst/>
          </a:prstGeom>
          <a:solidFill>
            <a:srgbClr val="E3ECF2"/>
          </a:solidFill>
          <a:ln w="9525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 txBox="1"/>
          <p:nvPr/>
        </p:nvSpPr>
        <p:spPr>
          <a:xfrm>
            <a:off x="269748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20440" y="1691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 txBox="1"/>
          <p:nvPr/>
        </p:nvSpPr>
        <p:spPr>
          <a:xfrm>
            <a:off x="352044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1691640"/>
            <a:ext cx="822960" cy="822960"/>
          </a:xfrm>
          <a:prstGeom prst="rect">
            <a:avLst/>
          </a:prstGeom>
          <a:solidFill>
            <a:srgbClr val="E3ECF2"/>
          </a:solidFill>
          <a:ln w="9525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 txBox="1"/>
          <p:nvPr/>
        </p:nvSpPr>
        <p:spPr>
          <a:xfrm>
            <a:off x="434340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251460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Meningioma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74520" y="2514600"/>
            <a:ext cx="822960" cy="822960"/>
          </a:xfrm>
          <a:prstGeom prst="rect">
            <a:avLst/>
          </a:prstGeom>
          <a:solidFill>
            <a:srgbClr val="E3ECF2"/>
          </a:solidFill>
          <a:ln w="9525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 txBox="1"/>
          <p:nvPr/>
        </p:nvSpPr>
        <p:spPr>
          <a:xfrm>
            <a:off x="187452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97480" y="2514600"/>
            <a:ext cx="822960" cy="822960"/>
          </a:xfrm>
          <a:prstGeom prst="rect">
            <a:avLst/>
          </a:prstGeom>
          <a:solidFill>
            <a:srgbClr val="1C7293"/>
          </a:solidFill>
          <a:ln w="9525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 txBox="1"/>
          <p:nvPr/>
        </p:nvSpPr>
        <p:spPr>
          <a:xfrm>
            <a:off x="269748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20440" y="2514600"/>
            <a:ext cx="822960" cy="822960"/>
          </a:xfrm>
          <a:prstGeom prst="rect">
            <a:avLst/>
          </a:prstGeom>
          <a:solidFill>
            <a:srgbClr val="E3ECF2"/>
          </a:solidFill>
          <a:ln w="9525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 txBox="1"/>
          <p:nvPr/>
        </p:nvSpPr>
        <p:spPr>
          <a:xfrm>
            <a:off x="352044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43400" y="2514600"/>
            <a:ext cx="822960" cy="822960"/>
          </a:xfrm>
          <a:prstGeom prst="rect">
            <a:avLst/>
          </a:prstGeom>
          <a:solidFill>
            <a:srgbClr val="E3ECF2"/>
          </a:solidFill>
          <a:ln w="9525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 txBox="1"/>
          <p:nvPr/>
        </p:nvSpPr>
        <p:spPr>
          <a:xfrm>
            <a:off x="434340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33375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Tumor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874520" y="333756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 txBox="1"/>
          <p:nvPr/>
        </p:nvSpPr>
        <p:spPr>
          <a:xfrm>
            <a:off x="1874520" y="3337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697480" y="333756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 txBox="1"/>
          <p:nvPr/>
        </p:nvSpPr>
        <p:spPr>
          <a:xfrm>
            <a:off x="2697480" y="3337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520440" y="3337560"/>
            <a:ext cx="822960" cy="822960"/>
          </a:xfrm>
          <a:prstGeom prst="rect">
            <a:avLst/>
          </a:prstGeom>
          <a:solidFill>
            <a:srgbClr val="1C7293"/>
          </a:solidFill>
          <a:ln w="9525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 txBox="1"/>
          <p:nvPr/>
        </p:nvSpPr>
        <p:spPr>
          <a:xfrm>
            <a:off x="3520440" y="3337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43400" y="333756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 txBox="1"/>
          <p:nvPr/>
        </p:nvSpPr>
        <p:spPr>
          <a:xfrm>
            <a:off x="4343400" y="3337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41605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874520" y="416052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 txBox="1"/>
          <p:nvPr/>
        </p:nvSpPr>
        <p:spPr>
          <a:xfrm>
            <a:off x="187452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97480" y="4160520"/>
            <a:ext cx="822960" cy="822960"/>
          </a:xfrm>
          <a:prstGeom prst="rect">
            <a:avLst/>
          </a:prstGeom>
          <a:solidFill>
            <a:srgbClr val="E3ECF2"/>
          </a:solidFill>
          <a:ln w="9525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 txBox="1"/>
          <p:nvPr/>
        </p:nvSpPr>
        <p:spPr>
          <a:xfrm>
            <a:off x="269748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520440" y="416052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 txBox="1"/>
          <p:nvPr/>
        </p:nvSpPr>
        <p:spPr>
          <a:xfrm>
            <a:off x="352044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343400" y="4160520"/>
            <a:ext cx="822960" cy="822960"/>
          </a:xfrm>
          <a:prstGeom prst="rect">
            <a:avLst/>
          </a:prstGeom>
          <a:solidFill>
            <a:srgbClr val="1C7293"/>
          </a:solidFill>
          <a:ln w="9525">
            <a:solidFill>
              <a:srgbClr val="CCD6E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 txBox="1"/>
          <p:nvPr/>
        </p:nvSpPr>
        <p:spPr>
          <a:xfrm>
            <a:off x="434340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2120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= correct predictions. Misclassifications are minimal (2–9 instances per class).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6400800" y="11430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 (10 Epochs)</a:t>
            </a:r>
            <a:endParaRPr lang="en-US" sz="1500" dirty="0"/>
          </a:p>
        </p:txBody>
      </p:sp>
      <p:graphicFrame>
        <p:nvGraphicFramePr>
          <p:cNvPr id="46" name="Chart 0"/>
          <p:cNvGraphicFramePr/>
          <p:nvPr/>
        </p:nvGraphicFramePr>
        <p:xfrm>
          <a:off x="6400800" y="1554480"/>
          <a:ext cx="52120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7" name="Text 44"/>
          <p:cNvSpPr txBox="1"/>
          <p:nvPr/>
        </p:nvSpPr>
        <p:spPr>
          <a:xfrm>
            <a:off x="6400800" y="43434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decreases from 0.65 → 0.36; training accuracy rises from 45% to ~100% by epoch 10, confirming effective learning.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35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Ensemble Wins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meta-learner integrates complementary strengths of EfficientNet-B0, DenseNet201, and ResNet50, correcting individual model weaknesses and reducing misclassification.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2344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6446520" y="1463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446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435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Prior Work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1168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 weighted F1 exceeds comparable ensemble studies (e.g., Jader et al., 99.16% accuracy), with fewer confusion-matrix errors.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630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by Design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206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Mixed Precision (AMP) keeps training computationally efficient, supporting use in resource-limited clinical settings.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4290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4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6446520" y="3657600"/>
            <a:ext cx="457200" cy="457200"/>
          </a:xfrm>
          <a:prstGeom prst="ellipse">
            <a:avLst/>
          </a:prstGeom>
          <a:solidFill>
            <a:srgbClr val="6D8CA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446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6301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Matters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2062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Otsu's thresholding and ROI cropping sharpen focus on tumor regions, aided by BRISC's diverse, high-quality, balanced annotations.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4114800" cy="41148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9875520" y="4572000"/>
            <a:ext cx="3840480" cy="3840480"/>
          </a:xfrm>
          <a:prstGeom prst="ellipse">
            <a:avLst/>
          </a:prstGeom>
          <a:solidFill>
            <a:srgbClr val="3AAFA9">
              <a:alpha val="22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 txBox="1"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Meta-learner ensemble of EfficientNet-B0, DenseNet201, and ResNet50 achieves 0.998 weighted F1-score on the BRISC dataset.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individual base models and prior published ensembles, with minimal misclassifications.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AMP-based training keeps the approach computationally practical for resource-limited clinical environments.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a reliable, non-invasive decision-support tool for radiologists, supporting earlier and more accurate brain tumor diagnosis.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778240" y="1371600"/>
            <a:ext cx="2834640" cy="4114800"/>
          </a:xfrm>
          <a:prstGeom prst="roundRect">
            <a:avLst>
              <a:gd name="adj" fmla="val 387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 txBox="1"/>
          <p:nvPr/>
        </p:nvSpPr>
        <p:spPr>
          <a:xfrm>
            <a:off x="891540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915400" y="2606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F1-Score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098280" y="3246120"/>
            <a:ext cx="21945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 txBox="1"/>
          <p:nvPr/>
        </p:nvSpPr>
        <p:spPr>
          <a:xfrm>
            <a:off x="8915400" y="34290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scans (BRISC)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4251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CNNs + 1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meta-learner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sercan.kulcu@giresun.edu.tr   |   ORCID: 0000-0002-4871-709X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815</Words>
  <Application>Microsoft Office PowerPoint</Application>
  <PresentationFormat>Widescreen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Sercan Kulcu</cp:lastModifiedBy>
  <cp:revision>2</cp:revision>
  <dcterms:created xsi:type="dcterms:W3CDTF">2026-09-10T06:27:41Z</dcterms:created>
  <dcterms:modified xsi:type="dcterms:W3CDTF">2026-09-10T06:29:48Z</dcterms:modified>
</cp:coreProperties>
</file>