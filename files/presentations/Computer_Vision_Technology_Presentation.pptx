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6E8F5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C1622D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 ·  KARAELMAS JOURNAL OF SCIENCE AND ENGINEERING  ·  2018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Technology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Food Science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cameras and smart algorithms are changing food quality control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2743200" cy="0"/>
          </a:xfrm>
          <a:prstGeom prst="line">
            <a:avLst/>
          </a:prstGeom>
          <a:noFill/>
          <a:ln w="31750">
            <a:solidFill>
              <a:srgbClr val="C16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52628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Balpetek Kulcu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Food Engineering, Giresun University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Kulcu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School of Technical Sciences, Giresun University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10.7212/zkufbd.v8i1.1024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Paper About?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DF2E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computer vision?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 science that automatically pulls useful information from an image, using theory and algorithms.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DF2E7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 in the food industry?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surface defects, spoilage, and quality problems — replacing human inspectors with fast, consistent, low-cost systems.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DF2E7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covers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applications in meat, poultry, seafood, fruit, vegetables, grain, and bakery products.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DF2E7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future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robot-controlled, fully automated production — and mobile tools that let consumers check food quality themselves.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Balpetek Kulcu, Kulcu (2018)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42032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4203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Food Quality Control Is Changing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aren't old methods good enough anymore?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food safety and quality is critical. Producers must follow strict rules and also meet customer expectations.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checks done by people are slow, expensive, and subjective — different inspectors may reach different conclusions.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gives objective, fast, and low-cost results. It can even outperform human eyesight in tricky lighting conditions.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F3A2E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93852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0" y="193852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processing stages: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capture, analysis, recognition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33375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F3A2E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44728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0" y="344728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categories reviewed: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meat to bakery products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84632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F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495604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495604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studies and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discussed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Sun (2007)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TECHNOLOGY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Computer Vision System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75688" cy="3291840"/>
          </a:xfrm>
          <a:prstGeom prst="roundRect">
            <a:avLst>
              <a:gd name="adj" fmla="val 2643"/>
            </a:avLst>
          </a:prstGeom>
          <a:solidFill>
            <a:srgbClr val="EDF2E7"/>
          </a:solidFill>
          <a:ln/>
        </p:spPr>
      </p:sp>
      <p:sp>
        <p:nvSpPr>
          <p:cNvPr id="6" name="Shape 4"/>
          <p:cNvSpPr/>
          <p:nvPr/>
        </p:nvSpPr>
        <p:spPr>
          <a:xfrm>
            <a:off x="1239012" y="235915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239012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3611880"/>
            <a:ext cx="1746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records an image — visible light, UV, infrared, or hyperspectral.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2888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61488" y="2103120"/>
            <a:ext cx="2075688" cy="3291840"/>
          </a:xfrm>
          <a:prstGeom prst="roundRect">
            <a:avLst>
              <a:gd name="adj" fmla="val 2643"/>
            </a:avLst>
          </a:prstGeom>
          <a:solidFill>
            <a:srgbClr val="EDF2E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43300" y="235915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543300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98648" y="3017520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611880"/>
            <a:ext cx="1746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and unwanted signals are removed to make the image cleaner, at no extra cost.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37176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65776" y="2103120"/>
            <a:ext cx="2075688" cy="3291840"/>
          </a:xfrm>
          <a:prstGeom prst="roundRect">
            <a:avLst>
              <a:gd name="adj" fmla="val 2643"/>
            </a:avLst>
          </a:prstGeom>
          <a:solidFill>
            <a:srgbClr val="EDF2E7"/>
          </a:solidFill>
          <a:ln/>
        </p:spPr>
      </p:sp>
      <p:sp>
        <p:nvSpPr>
          <p:cNvPr id="18" name="Shape 16"/>
          <p:cNvSpPr/>
          <p:nvPr/>
        </p:nvSpPr>
        <p:spPr>
          <a:xfrm>
            <a:off x="5847588" y="235915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847588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02936" y="3017520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0368" y="3611880"/>
            <a:ext cx="1746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is separated from the background so it can be studied on its own.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41464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70064" y="2103120"/>
            <a:ext cx="2075688" cy="3291840"/>
          </a:xfrm>
          <a:prstGeom prst="roundRect">
            <a:avLst>
              <a:gd name="adj" fmla="val 2643"/>
            </a:avLst>
          </a:prstGeom>
          <a:solidFill>
            <a:srgbClr val="EDF2E7"/>
          </a:solidFill>
          <a:ln/>
        </p:spPr>
      </p:sp>
      <p:sp>
        <p:nvSpPr>
          <p:cNvPr id="24" name="Shape 22"/>
          <p:cNvSpPr/>
          <p:nvPr/>
        </p:nvSpPr>
        <p:spPr>
          <a:xfrm>
            <a:off x="8151876" y="235915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151876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07224" y="3017520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34656" y="3611880"/>
            <a:ext cx="1746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colour, shape, and texture are measured from the image.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45752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74352" y="2103120"/>
            <a:ext cx="2075688" cy="3291840"/>
          </a:xfrm>
          <a:prstGeom prst="roundRect">
            <a:avLst>
              <a:gd name="adj" fmla="val 2643"/>
            </a:avLst>
          </a:prstGeom>
          <a:solidFill>
            <a:srgbClr val="2C5F2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56164" y="23591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56164" y="2359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11512" y="3017520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38944" y="3611880"/>
            <a:ext cx="1746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such as neural networks or SVM make the final decision.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Mery et al. (2013); Jackman &amp; Sun (2013)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42032" cy="347472"/>
          </a:xfrm>
          <a:prstGeom prst="roundRect">
            <a:avLst>
              <a:gd name="adj" fmla="val 50000"/>
            </a:avLst>
          </a:prstGeom>
          <a:solidFill>
            <a:srgbClr val="C162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4203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CHALLENGES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Challenges That Affect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4401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 is one of the biggest causes of unexpected or wrong results (Vithu &amp; Moses 2016).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image resolution is needed to reach better accuracy (Zhang et al. 2014).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9659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9234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2923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Objects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703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camera only sees part of a curved surface, not the whole object (Misimi et al. 2016).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35440" y="19659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1842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102184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1832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Robustness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64040" y="3703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alone isn't enough — strong algorithms and clear standards are also needed (Cubero et al. 2011).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42032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4203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APPLICATIONS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Application Areas in Food Science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DF2E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848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pH, and PSE 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9202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DF2E7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20848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38728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38728" y="3154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colour, defects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9202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DF2E7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20848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🐟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37376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37376" y="3154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Freshness, microbial contamination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53144" y="19202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DF2E7"/>
          </a:solidFill>
          <a:ln/>
        </p:spPr>
      </p:sp>
      <p:sp>
        <p:nvSpPr>
          <p:cNvPr id="18" name="Text 16"/>
          <p:cNvSpPr/>
          <p:nvPr/>
        </p:nvSpPr>
        <p:spPr>
          <a:xfrm>
            <a:off x="9336024" y="20848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36024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336024" y="3154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Ripeness, bruise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DF2E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708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🥕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defect detection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55848" y="42062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EDF2E7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43708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🌾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538728" y="5074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538728" y="5440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moisture, classification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42062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437376" y="43708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🍞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437376" y="5074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Products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37376" y="54406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foreign-body checks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outside this classification were not included (Sun 2007)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493008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49300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3.1–3.2 · MEAT &amp; POULTRY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Studies in Meat and Poultry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27432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PSE*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Beef, lamb, pork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· 84 · 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Tenderness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Broiler chicken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camera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· 74 · 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*PSE = pale, soft, exudative meat. Source: Tables 1–2, p.405 (e.g. Kamruzzaman et al. 2016; Mortensen et al. 2016; Barbin et al. 2016)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61188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6118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3.3–3.4 · SEAFOOD &amp; FRUIT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Detection in Seafood and Fruit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27432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Salmon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 bream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Bruise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Strawberry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Ripeness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· 83.3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Tables 3–4, p.405–406 (e.g. Xu et al. 2017; Dowlati et al. 2013; Keresztes et al. 2016; Zhang et al. 2016)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968496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96849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3.5–3.6 · VEGETABLES &amp; GRAIN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in Vegetables and Grain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Blackspot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Soybean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&amp; moisture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 · 97.1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Wheat, cassava, corn flour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Flour adulteration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Hyperspectral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Tables 5–6, p.406 (e.g. Arakeri et al. 2016; López-Maestresalas et al. 2016; Pazoki et al. 2014; Su &amp; Sun 2017)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36392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13639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· BAKERY PRODUCTS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Shape and Size in Baked Goods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for quality?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like cake, bread, crackers, and muffins are judged mainly by their shape and size.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track the standard deviation of thickness, diameter, and weight — these are the key parameters to watch.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46304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 tortilla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Biscuit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Foreign-body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thermography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Potato chips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Acrylamide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7, p.406; Domingo et al. 2010; Senni et al. 2014; Dutta et al. 2015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60904" cy="347472"/>
          </a:xfrm>
          <a:prstGeom prst="roundRect">
            <a:avLst>
              <a:gd name="adj" fmla="val 50000"/>
            </a:avLst>
          </a:prstGeom>
          <a:solidFill>
            <a:srgbClr val="C162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66090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LOOKING AHEAD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Research Directions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8483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Hyperspectral Imaging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 growing, but the technology is costly and complex — cheaper, more efficient algorithms are still needed (Amigo et al. 2015).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08483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011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2D to 3D Systems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Thermal, X-ray, and MRI imaging are needed to detect internal defects and measure height or depth (Wang et al. 2015).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2611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187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Robot-Based Automation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82803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reprogrammable robots for evaluation, handling, and processing tasks.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4005072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611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187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Robotics &amp; Big Data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75120" y="482803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large datasets can improve a system's ability to learn and get more accurate over time (Sun 2016).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Technology That Keeps Improving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good image-processing techniques, computer vision is a proven technology that provides reliable, useful information about food quality and safety.</a:t>
            </a:r>
            <a:endParaRPr lang="en-US" sz="150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two decades, colour, multispectral, hyperspectral, thermal, X-ray, and MRI imaging have been studied for fast, objective, and non-destructive quality checks.</a:t>
            </a:r>
            <a:endParaRPr lang="en-US" sz="150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now show great potential for locating and characterising raw materials before they are handled or processed.</a:t>
            </a:r>
            <a:endParaRPr lang="en-US" sz="150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systems already work well, but more research is needed to get even more information from contactless methods.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DF2E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Balpetek Kulcu, D., Kulcu, S. (2018).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Technology on Food Science.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Karaelmas Journal of Science and Engineering, 8(1), 403-409. DOI: 10.7212/zkufbd.v8i1.1024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an academic summary of the review paper above. For the full reference list (60+ citations), please see the original article.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2026-09-09T20:04:16Z</dcterms:created>
  <dcterms:modified xsi:type="dcterms:W3CDTF">2026-09-09T20:04:16Z</dcterms:modified>
</cp:coreProperties>
</file>