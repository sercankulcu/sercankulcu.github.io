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 (%)</c:v>
                </c:pt>
              </c:strCache>
            </c:strRef>
          </c:tx>
          <c:spPr>
            <a:solidFill>
              <a:srgbClr val="3E5C6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1E14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ResNet-50</c:v>
                </c:pt>
                <c:pt idx="1">
                  <c:v>ShuffleNet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99.92</c:v>
                </c:pt>
                <c:pt idx="1">
                  <c:v>99.79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2-4541-824D-B6FC287F25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C68B3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1E14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ResNet-50</c:v>
                </c:pt>
                <c:pt idx="1">
                  <c:v>ShuffleNet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99.97</c:v>
                </c:pt>
                <c:pt idx="1">
                  <c:v>99.94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62-4541-824D-B6FC287F25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9.5"/>
        </c:scaling>
        <c:delete val="0"/>
        <c:axPos val="l"/>
        <c:majorGridlines>
          <c:spPr>
            <a:ln w="12700" cap="flat">
              <a:solidFill>
                <a:srgbClr val="E3DCC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6A57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7A6A57"/>
                    </a:solidFill>
                    <a:latin typeface="Arial"/>
                  </a:rPr>
                  <a:t>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A6A5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72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206240" cy="4206240"/>
          </a:xfrm>
          <a:prstGeom prst="ellipse">
            <a:avLst/>
          </a:prstGeom>
          <a:solidFill>
            <a:srgbClr val="3E5C6B">
              <a:alpha val="4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566160" cy="3566160"/>
          </a:xfrm>
          <a:prstGeom prst="ellipse">
            <a:avLst/>
          </a:prstGeom>
          <a:solidFill>
            <a:srgbClr val="C68B3C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AGRICULTURE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the Performance of ResNet-50 and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ShuffleNet Deep Learning Algorithms in Classification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Hazelnut Fruit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8100">
            <a:solidFill>
              <a:srgbClr val="C68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 Tomak, Mehmet Cem Dikbaş, Sercan Külcü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Giresun University, Computer Engineering / Electrical and Electronics Engineering, Türkiye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 International Azerbaijan Congress on Life, Engineering, Mathematical, and Applied Sciences  |  June 21-22, 2025, Baku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hazelnut classification improves efficiency and quality control compared to manual sorting.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normalized image datasets and appropriate preprocessing (resizing, sharpening) improve classifier performance.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proposes an automatic classification method and directly compares two CNN architectures — ResNet-50 and ShuffleNet — on the same hazelnut dataset.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which model offers the better balance of accuracy and speed for real-time hazelnut sorting.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18872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FAF7F1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452360" y="1463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AT A GLANCE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965960"/>
            <a:ext cx="168301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15,770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hazelnut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views × 1,577 nuts)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971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good, bad,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inner hazelnuts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head-to-head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Bayrakdar et al. (2015)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Tombul, sivri, and badem hazelnut types using shape/size features (diameter, radius, area) — 84% accuracy.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Caner et al. (2020)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hazelnut cultivars with shell using Bagging/Random Forest (83%) and DL4J deep learning (71%).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3E5C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Keles &amp; Taner (2021)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artificial neural networks and discriminant analysis on physical/mechanical/optical features of 11 cultivars — up to 92.7% accuracy.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targets cultivar or size classification via handcrafted features; this study directly benchmarks two modern CNNs (ResNet-50 vs. ShuffleNet) for fruit-quality classification.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Architectures Compared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3E5C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ResNet-50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layers total — a 50-layer Residual Network.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 (1M+ images, 1,000 object categories); won the 2015 ImageNet Large Scale Visual Recognition Challenge.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input size.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connections: block input is added to block output — H(x) = F(x) + x — easing training of very deep networks.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after each convolution stabilizes training; Global Average Pooling precedes the final fully connected layer.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ShuffleNet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devices with very limited processing power (e.g., mobile).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parameters and computation via pointwise group convolution and channel shuffle.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block uses depthwise separable convolutions for computational efficiency.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shuffle mixes information across feature groups, improving overall performance.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Stride-2 units add 3×3 average pooling on the shortcut; channel concatenation replaces addition to widen feature maps cheaply.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captured with a 12-megapixel rear camera at 3024×3024 resolution.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contains a single hazelnut, expert-labeled into one of three classes.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bad hazelnuts, 535 good hazelnuts, 523 inner hazelnuts.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images per hazelnut from different angles → 15,770 total images.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cropped to 1000×1000 px, then resized to 224×224 px for network input.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training, 30% testing (randomly shuffled); environment: MATLAB.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40880" y="123444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3E5C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269480" y="1435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Hazelnuts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535 nuts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265176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7269480" y="2852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Hazelnuts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337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nuts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406908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7269480" y="4270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Hazelnuts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754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 nuts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55778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7269480" y="5669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15,770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5669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views each)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Training &amp; Test Accuracy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18872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77266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ResNet-50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3566160"/>
            <a:ext cx="3520440" cy="0"/>
          </a:xfrm>
          <a:prstGeom prst="line">
            <a:avLst/>
          </a:prstGeom>
          <a:noFill/>
          <a:ln w="12700">
            <a:solidFill>
              <a:srgbClr val="C68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726680" y="3703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 trails by just 0.03 pts (99.94%) — but with a far smaller, faster model, better suited to real-time use.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Metrics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13167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(Sensitivity)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2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5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1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Complexity-matrix metrics for ResNet-50 and ShuffleNet.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edges out ShuffleNet on every metric, but the margins are marginal — both models classify hazelnut quality with near-perfect reliability.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83880" y="12344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8412480" y="1508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A4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5"/>
          <p:cNvSpPr txBox="1"/>
          <p:nvPr/>
        </p:nvSpPr>
        <p:spPr>
          <a:xfrm>
            <a:off x="8412480" y="1828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5146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layers — a large, accuracy-first architecture.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12480" y="3337560"/>
            <a:ext cx="2971800" cy="0"/>
          </a:xfrm>
          <a:prstGeom prst="line">
            <a:avLst/>
          </a:prstGeom>
          <a:noFill/>
          <a:ln w="19050">
            <a:solidFill>
              <a:srgbClr val="C68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8412480" y="34747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ShuffleNet: fewer parameters, lower computational load — purpose-built for fast, resource-limited inference.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Sorting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AF7F1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531620" y="1645920"/>
            <a:ext cx="640080" cy="640080"/>
          </a:xfrm>
          <a:prstGeom prst="ellipse">
            <a:avLst/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531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&amp; Capture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Hazelnuts are photographed from multiple angles before storage.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AF7F1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3E5C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(ResNet-50 or ShuffleNet) labels each nut as good, bad, or inner.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AF7F1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200900" y="1645920"/>
            <a:ext cx="640080" cy="640080"/>
          </a:xfrm>
          <a:prstGeom prst="ellipse">
            <a:avLst/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200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and inner hazelnuts are removed from the batch.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AF7F1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0035540" y="1645920"/>
            <a:ext cx="640080" cy="640080"/>
          </a:xfrm>
          <a:prstGeom prst="ellipse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00355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good-quality hazelnuts proceed to storage, preventing spoilage and yield loss.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bad or inner hazelnuts reduce yield and can spoil during storage — automated classification prevents both.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3E5C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ResNet-50: Accuracy Leader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and depth (177 layers) yield the highest test accuracy (99.97%) and perfect specificity (1.0).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7A4B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ShuffleNet: Speed Leader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design with far fewer parameters trains and infers faster, at a near-identical 99.94% test accuracy.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closeness of results and the importance of fast inference in real-time sorting lines, ShuffleNet is recommended as the better overall choice.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&amp; Future Work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evaluated on a single dataset (15,770 images, 3 classes); broader validation across cultivars and lighting conditions would strengthen the comparison.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3E5C6B">
              <a:alpha val="4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C68B3C">
              <a:alpha val="2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achieves the highest test accuracy (99.97%), narrowly ahead of ShuffleNet (99.94%).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Confusion-matrix metrics confirm both models classify hazelnut quality with near-perfect reliability.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 trains and infers faster due to its lightweight design — a decisive advantage for real-time sorting applications.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closeness in accuracy and the importance of speed in production lines, ShuffleNet is recommended as the better overall choice for hazelnut fruit classification.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834640" cy="4206240"/>
          </a:xfrm>
          <a:prstGeom prst="roundRect">
            <a:avLst>
              <a:gd name="adj" fmla="val 3871"/>
            </a:avLst>
          </a:prstGeom>
          <a:solidFill>
            <a:srgbClr val="C68B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9154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ShuffleNet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Choice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288036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91540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footprint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709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real-time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sorting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sercan.kulcu@giresun.edu.tr  |  ORCID: 0000-0002-4871-709X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Sercan Kulcu</cp:lastModifiedBy>
  <cp:revision>2</cp:revision>
  <dcterms:created xsi:type="dcterms:W3CDTF">2026-09-10T06:44:02Z</dcterms:created>
  <dcterms:modified xsi:type="dcterms:W3CDTF">2026-09-10T06:50:28Z</dcterms:modified>
</cp:coreProperties>
</file>