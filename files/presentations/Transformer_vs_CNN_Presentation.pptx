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Arial"/>
              </a:rPr>
              <a:t>Distribution of Object Classes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Instances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Cube</c:v>
                  </c:pt>
                  <c:pt idx="1">
                    <c:v>Ball</c:v>
                  </c:pt>
                  <c:pt idx="2">
                    <c:v>Cylinder</c:v>
                  </c:pt>
                  <c:pt idx="3">
                    <c:v>Human body</c:v>
                  </c:pt>
                  <c:pt idx="4">
                    <c:v>Plane</c:v>
                  </c:pt>
                  <c:pt idx="5">
                    <c:v>Circle cage</c:v>
                  </c:pt>
                  <c:pt idx="6">
                    <c:v>Square cage</c:v>
                  </c:pt>
                  <c:pt idx="7">
                    <c:v>Metal bucket</c:v>
                  </c:pt>
                  <c:pt idx="8">
                    <c:v>Tyre</c:v>
                  </c:pt>
                  <c:pt idx="9">
                    <c:v>BlueROV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172</c:v>
                </c:pt>
                <c:pt idx="1">
                  <c:v>253</c:v>
                </c:pt>
                <c:pt idx="2">
                  <c:v>75</c:v>
                </c:pt>
                <c:pt idx="3">
                  <c:v>75</c:v>
                </c:pt>
                <c:pt idx="4">
                  <c:v>135</c:v>
                </c:pt>
                <c:pt idx="5">
                  <c:v>128</c:v>
                </c:pt>
                <c:pt idx="6">
                  <c:v>168</c:v>
                </c:pt>
                <c:pt idx="7">
                  <c:v>72</c:v>
                </c:pt>
                <c:pt idx="8">
                  <c:v>133</c:v>
                </c:pt>
                <c:pt idx="9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RT-DETR-L</c:v>
                </c:pt>
              </c:strCache>
            </c:strRef>
          </c:tx>
          <c:spPr>
            <a:solidFill>
              <a:srgbClr val="3AA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Cube</c:v>
                  </c:pt>
                  <c:pt idx="1">
                    <c:v>Ball</c:v>
                  </c:pt>
                  <c:pt idx="2">
                    <c:v>Cylinder</c:v>
                  </c:pt>
                  <c:pt idx="3">
                    <c:v>Human</c:v>
                  </c:pt>
                  <c:pt idx="4">
                    <c:v>Plane</c:v>
                  </c:pt>
                  <c:pt idx="5">
                    <c:v>CircleCage</c:v>
                  </c:pt>
                  <c:pt idx="6">
                    <c:v>SquareCage</c:v>
                  </c:pt>
                  <c:pt idx="7">
                    <c:v>MetalBkt</c:v>
                  </c:pt>
                  <c:pt idx="8">
                    <c:v>Tyre</c:v>
                  </c:pt>
                  <c:pt idx="9">
                    <c:v>BlueROV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0.49</c:v>
                </c:pt>
                <c:pt idx="1">
                  <c:v>0.607</c:v>
                </c:pt>
                <c:pt idx="2">
                  <c:v>0.485</c:v>
                </c:pt>
                <c:pt idx="3">
                  <c:v>0.557</c:v>
                </c:pt>
                <c:pt idx="4">
                  <c:v>0.65</c:v>
                </c:pt>
                <c:pt idx="5">
                  <c:v>0.511</c:v>
                </c:pt>
                <c:pt idx="6">
                  <c:v>0.531</c:v>
                </c:pt>
                <c:pt idx="7">
                  <c:v>0.434</c:v>
                </c:pt>
                <c:pt idx="8">
                  <c:v>0.569</c:v>
                </c:pt>
                <c:pt idx="9">
                  <c:v>0.521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YOLOv12n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Cube</c:v>
                  </c:pt>
                  <c:pt idx="1">
                    <c:v>Ball</c:v>
                  </c:pt>
                  <c:pt idx="2">
                    <c:v>Cylinder</c:v>
                  </c:pt>
                  <c:pt idx="3">
                    <c:v>Human</c:v>
                  </c:pt>
                  <c:pt idx="4">
                    <c:v>Plane</c:v>
                  </c:pt>
                  <c:pt idx="5">
                    <c:v>CircleCage</c:v>
                  </c:pt>
                  <c:pt idx="6">
                    <c:v>SquareCage</c:v>
                  </c:pt>
                  <c:pt idx="7">
                    <c:v>MetalBkt</c:v>
                  </c:pt>
                  <c:pt idx="8">
                    <c:v>Tyre</c:v>
                  </c:pt>
                  <c:pt idx="9">
                    <c:v>BlueROV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0.436</c:v>
                </c:pt>
                <c:pt idx="1">
                  <c:v>0.534</c:v>
                </c:pt>
                <c:pt idx="2">
                  <c:v>0.397</c:v>
                </c:pt>
                <c:pt idx="3">
                  <c:v>0.429</c:v>
                </c:pt>
                <c:pt idx="4">
                  <c:v>0.596</c:v>
                </c:pt>
                <c:pt idx="5">
                  <c:v>0.465</c:v>
                </c:pt>
                <c:pt idx="6">
                  <c:v>0.518</c:v>
                </c:pt>
                <c:pt idx="7">
                  <c:v>0.389</c:v>
                </c:pt>
                <c:pt idx="8">
                  <c:v>0.561</c:v>
                </c:pt>
                <c:pt idx="9">
                  <c:v>0.483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YOLOv8n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Cube</c:v>
                  </c:pt>
                  <c:pt idx="1">
                    <c:v>Ball</c:v>
                  </c:pt>
                  <c:pt idx="2">
                    <c:v>Cylinder</c:v>
                  </c:pt>
                  <c:pt idx="3">
                    <c:v>Human</c:v>
                  </c:pt>
                  <c:pt idx="4">
                    <c:v>Plane</c:v>
                  </c:pt>
                  <c:pt idx="5">
                    <c:v>CircleCage</c:v>
                  </c:pt>
                  <c:pt idx="6">
                    <c:v>SquareCage</c:v>
                  </c:pt>
                  <c:pt idx="7">
                    <c:v>MetalBkt</c:v>
                  </c:pt>
                  <c:pt idx="8">
                    <c:v>Tyre</c:v>
                  </c:pt>
                  <c:pt idx="9">
                    <c:v>BlueROV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0.463</c:v>
                </c:pt>
                <c:pt idx="1">
                  <c:v>0.561</c:v>
                </c:pt>
                <c:pt idx="2">
                  <c:v>0.416</c:v>
                </c:pt>
                <c:pt idx="3">
                  <c:v>0.481</c:v>
                </c:pt>
                <c:pt idx="4">
                  <c:v>0.645</c:v>
                </c:pt>
                <c:pt idx="5">
                  <c:v>0.503</c:v>
                </c:pt>
                <c:pt idx="6">
                  <c:v>0.519</c:v>
                </c:pt>
                <c:pt idx="7">
                  <c:v>0.443</c:v>
                </c:pt>
                <c:pt idx="8">
                  <c:v>0.547</c:v>
                </c:pt>
                <c:pt idx="9">
                  <c:v>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7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7B"/>
                    </a:solidFill>
                    <a:latin typeface="Arial"/>
                  </a:rPr>
                  <a:t>mAP50-95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mAP50-95</c:v>
                </c:pt>
              </c:strCache>
            </c:strRef>
          </c:tx>
          <c:spPr>
            <a:solidFill>
              <a:srgbClr val="3AAFA9"/>
            </a:solidFill>
            <a:ln w="254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20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0.03</c:v>
                </c:pt>
                <c:pt idx="1">
                  <c:v>0.12</c:v>
                </c:pt>
                <c:pt idx="2">
                  <c:v>0.22</c:v>
                </c:pt>
                <c:pt idx="3">
                  <c:v>0.3</c:v>
                </c:pt>
                <c:pt idx="4">
                  <c:v>0.37</c:v>
                </c:pt>
                <c:pt idx="5">
                  <c:v>0.41</c:v>
                </c:pt>
                <c:pt idx="6">
                  <c:v>0.44</c:v>
                </c:pt>
                <c:pt idx="7">
                  <c:v>0.47</c:v>
                </c:pt>
                <c:pt idx="8">
                  <c:v>0.5</c:v>
                </c:pt>
                <c:pt idx="9">
                  <c:v>0.535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7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7B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7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B7B"/>
                    </a:solidFill>
                    <a:latin typeface="Arial"/>
                  </a:rPr>
                  <a:t>mAP50-95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663440"/>
            <a:ext cx="3566160" cy="3566160"/>
          </a:xfrm>
          <a:prstGeom prst="ellipse">
            <a:avLst/>
          </a:prstGeom>
          <a:solidFill>
            <a:srgbClr val="4CD37B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OBJECT DETECTION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vs. CNN: Benchmarking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RT-DETR and YOLO Models on the UATD Dataset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4CD3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Faculty of Engineering, Giresun University, Türkiye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17th International Academic Studies Congress (UBCAK)  |  October 23-24,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309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sonar (FLS) imagery suffers from low resolution, high noise, blurry boundaries, and sparse targets.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attenuation and seabed reverberation limit traditional pixel-based computer vision methods.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marine resource exploration, subsea construction, and ecological monitoring.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benchmarks Transformer-based RT-DETR-L against CNN-based YOLOv12n and YOLOv8n on the UATD dataset.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78040" y="1188720"/>
            <a:ext cx="4434840" cy="4846320"/>
          </a:xfrm>
          <a:prstGeom prst="roundRect">
            <a:avLst>
              <a:gd name="adj" fmla="val 2474"/>
            </a:avLst>
          </a:prstGeom>
          <a:solidFill>
            <a:srgbClr val="F2F6F8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52360" y="1463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52360" y="1965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9,200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965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sonar (MFLS)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 UATD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971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971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object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977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RT-DETR-L, YOLOv12n, YOLOv8n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FLSD-Net / Fast-YOLOv5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YOLOv8/v5 variants (Yang et al.) improve mAP and reach up to 200 FPS via noise-augmented training.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SonarNet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CNN-Transformer hybrid (He et al.) reaches 54.5% MIoU at 215.5 FPS for FLS segmentation.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FA-YOLO / DA-YOLOv7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 and transfer-learning-enhanced YOLO variants reach up to 98–99% mAP on UATD/SCTD.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8888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6D8CAE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LS-DETR / YOLO-DCN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Transformer and deformable-convolution detectors push accuracy gains of 2.8–10.2%.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Transformer models capture global context for high accuracy; CNN-based YOLO models prioritize computational efficiency for real-time use.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UATD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9,200 raw sonar images from a Tritech Gemini 1200k multibeam forward-looking sonar (MFLS).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lakes and shallow waters: Haoxin Lake, Maoming and Golden Pebble Beach, Dalian (China).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 format, 1024×1428 resolution, 720/1200 kHz frequency, 5–25 m range.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7,600 training images, 800 test_1, 800 test_2; XML bounding-box labels.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object classes: cube, ball, cylinder, human body, tyre, circular cage, square cage, metal bucket, plane, blueROV.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0" y="118872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5486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images moved from training to test set to balance human-body and metal-bucket instance counts.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RT-DETR-L Training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3258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8.3.167, pretrained COCO weights (926/941 layers transferred)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0" y="1325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3258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(no early stopping, full training)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3774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3774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 × 640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23774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774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(GPU memory limitation)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4290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4290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 = 0.000714, momentum = 0.9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00800" y="34290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4290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GIoU + Classification + L1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44805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44805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= 1.0, HSV (h=0.015, s=0.7, v=0.4), FlipLR = 0.5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888888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0" y="44805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4805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GeForce RTX 3050 GPU (CUDA 11.8)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532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model: 32,004,290 parameters (103.5 GFLOPs).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Overall Model Comparison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097280"/>
                <a:gridCol w="1097280"/>
                <a:gridCol w="1280160"/>
                <a:gridCol w="146304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GFLOPs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mAP50-95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RT-DETR-L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— Performance comparison on the validation set (895 images, 1,362 instances).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35204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3AAFA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3657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RT-DETR-L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= 0.535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 modeling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35204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C729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0" y="3657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trade-off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 = 0.507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ms inference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38160" y="35204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B254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66760" y="3657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/ lightest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GFLOPs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2.56M parameters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Class-Wise mAP50-95 Comparison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11247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RT-DETR-L leads on plane (0.650) and ball (0.607) — classes with strong global acoustic signatures. YOLOv8n stays competitive with balanced per-class accuracy.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Training Dynamics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Confusion Matrix — RT-DETR-L (diagonal)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28800" y="1600200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1600200"/>
            <a:ext cx="3494837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0" y="155448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3852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1984248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0" y="1984248"/>
            <a:ext cx="3494837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0" y="193852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32257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2368296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2368296"/>
            <a:ext cx="3566160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232257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7066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0" y="2752344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2752344"/>
            <a:ext cx="3530498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0" y="270662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09067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0" y="3136392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3136392"/>
            <a:ext cx="3530498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0" y="309067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4747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C.Cage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28800" y="3520440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0" y="3520440"/>
            <a:ext cx="3494837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0" y="3474720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8587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28800" y="3904488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30" name="Shape 28"/>
          <p:cNvSpPr/>
          <p:nvPr/>
        </p:nvSpPr>
        <p:spPr>
          <a:xfrm>
            <a:off x="1828800" y="3904488"/>
            <a:ext cx="3494837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0" y="3858768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2428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M.Bkt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28800" y="4288536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4288536"/>
            <a:ext cx="3423514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0" y="4242816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6268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828800" y="4672584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4672584"/>
            <a:ext cx="3280867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0" y="4626864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01091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B.ROV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828800" y="5056632"/>
            <a:ext cx="3566160" cy="237744"/>
          </a:xfrm>
          <a:prstGeom prst="rect">
            <a:avLst/>
          </a:prstGeom>
          <a:solidFill>
            <a:srgbClr val="E6ECF1"/>
          </a:solidFill>
          <a:ln/>
        </p:spPr>
      </p:sp>
      <p:sp>
        <p:nvSpPr>
          <p:cNvPr id="42" name="Shape 40"/>
          <p:cNvSpPr/>
          <p:nvPr/>
        </p:nvSpPr>
        <p:spPr>
          <a:xfrm>
            <a:off x="1828800" y="5056632"/>
            <a:ext cx="3530498" cy="237744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486400" y="5010912"/>
            <a:ext cx="548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5321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confusions: 19% of tyres → blueROV; 16% of square cages → circle cages (similar geometric profiles).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— mAP50-95 (20 Epochs)</a:t>
            </a:r>
            <a:endParaRPr lang="en-US" sz="140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6675120" y="150876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 txBox="1"/>
          <p:nvPr/>
        </p:nvSpPr>
        <p:spPr>
          <a:xfrm>
            <a:off x="6675120" y="4846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gains up to epoch 10; metrics plateau by epoch 20, indicating stable convergence.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Speed Trade-off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RT-DETR-L's global context modeling drives the highest mAP50-95 (0.535), but at 103.5 GFLOPs and 24.1 ms inference — far heavier than YOLO variants.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RT-DETR-L Excels on Plane &amp; Ball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structural outlines, acoustic shadows, and spherical reflections are captured by long-range dependency modeling in Transformers.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YOLOv8n's Balanced Profile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trade-off for resource-constrained underwater robotics — mAP50-95 of 0.507 with only 2.7 ms inference.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6D8CAE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YOLOv12n's Efficiency Focus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Lightest and fastest (6.3 GFLOPs), but trails in precision on irregular shapes (cylinder 0.397, human body 0.429).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840480" cy="3840480"/>
          </a:xfrm>
          <a:prstGeom prst="ellipse">
            <a:avLst/>
          </a:prstGeom>
          <a:solidFill>
            <a:srgbClr val="4CD37B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RT-DETR-L achieves state-of-the-art accuracy (mAP50-95 = 0.535) for underwater sonar object detection via global context modeling.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and YOLOv12n offer far faster inference (2.7–3.5 ms) with lower computational cost, suited to resource-constrained AUVs.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depends on application needs: precision-critical tasks favor Transformers; real-time onboard tasks favor YOLO.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hybrid architectures combining Transformer accuracy with YOLO's lightweight efficiency.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1371600"/>
            <a:ext cx="2834640" cy="4114800"/>
          </a:xfrm>
          <a:prstGeom prst="roundRect">
            <a:avLst>
              <a:gd name="adj" fmla="val 3871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1540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0.535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mAP50-95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(RT-DETR-L)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3337560"/>
            <a:ext cx="2194560" cy="0"/>
          </a:xfrm>
          <a:prstGeom prst="line">
            <a:avLst/>
          </a:prstGeom>
          <a:noFill/>
          <a:ln w="12700">
            <a:solidFill>
              <a:srgbClr val="C9E4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15400" y="3520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inference (YOLOv8n)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4343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images (UATD)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sercan.kulcu@giresun.edu.tr   |   ORCID: 0000-0002-4871-709X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2026-09-10T06:33:34Z</dcterms:created>
  <dcterms:modified xsi:type="dcterms:W3CDTF">2026-09-10T06:33:34Z</dcterms:modified>
</cp:coreProperties>
</file>