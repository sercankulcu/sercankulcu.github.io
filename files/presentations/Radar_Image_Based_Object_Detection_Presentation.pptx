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Detection performance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positive rate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Area-based only</c:v>
                  </c:pt>
                  <c:pt idx="1">
                    <c:v>Proposed method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94.5</c:v>
                </c:pt>
                <c:pt idx="1">
                  <c:v>98.7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False positive rate (%)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Area-based only</c:v>
                  </c:pt>
                  <c:pt idx="1">
                    <c:v>Proposed method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2.7</c:v>
                </c:pt>
                <c:pt idx="1">
                  <c:v>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3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9525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C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3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ID switch and total-ID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 switch count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 (positional only)</c:v>
                  </c:pt>
                  <c:pt idx="1">
                    <c:v>Proposed method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112</c:v>
                </c:pt>
                <c:pt idx="1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generated IDs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Baseline (positional only)</c:v>
                  </c:pt>
                  <c:pt idx="1">
                    <c:v>Proposed method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99</c:v>
                </c:pt>
                <c:pt idx="1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3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C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3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480560"/>
            <a:ext cx="2926080" cy="292608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3749040"/>
            <a:ext cx="4389120" cy="438912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48472" y="3017520"/>
            <a:ext cx="5852160" cy="585216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2" y="2286000"/>
            <a:ext cx="7315200" cy="731520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71632" y="5440680"/>
            <a:ext cx="822960" cy="82296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  ·  TURKISH JOURNAL OF MARITIME AND MARINE SCIENCES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Radar Image-Based Object Detection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Tracking for Autonomous Surface Vehicles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947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lightweight HSV-segmentation and motion-aware tracking framework for real-time maritime situational awareness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470916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85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Giresun University, Faculty of Engineering, Computer Engineering, Giresun, Türkiye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12 · Issue 1 (2026) 35-47   |   DOI: 10.52998/trjmms.1743670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Study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real-time framework detects and tracks navigational targets on commercial marine radar screens, using colour-space segmentation for detection and a motion-aware identity strategy for tracking — evaluated on 7,200 real radar frames.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1325880" cy="192024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8C8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36850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38912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39112" y="3429000"/>
            <a:ext cx="1325880" cy="192024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8C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039112" y="36850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-59%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112264" y="438912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9584" y="3429000"/>
            <a:ext cx="1325880" cy="192024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8C8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9584" y="36850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-75%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438912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switches vs.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tracker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0056" y="3429000"/>
            <a:ext cx="1325880" cy="192024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8C8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020056" y="36850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ms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438912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processing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frame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600200"/>
            <a:ext cx="4416552" cy="3749040"/>
          </a:xfrm>
          <a:prstGeom prst="roundRect">
            <a:avLst>
              <a:gd name="adj" fmla="val 2927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23317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0" y="22128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surface vehicles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43800" y="281635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0" y="2697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 processing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43800" y="330098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0" y="31821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colour-space segmentation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43800" y="378561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0" y="366674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tracking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43800" y="427024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0" y="41513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43800" y="47548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0" y="4636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Radar-Based Perception Matters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surface vehicles (ASVs) need reliable, real-time detection of surrounding targets. Radar remains essential where optical sensors fail — in low light, fog, or storms — but radar imagery brings its own challenges.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971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953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resolution &amp; noise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frames show substantial noise and lower resolution than optical images, distorting target shapes.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65176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EA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971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953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Fluctuating echo area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434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vary with ship orientation, movement, and distance, so static area thresholds often fail.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265176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EA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0" y="2971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0" y="2953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identities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4434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and sudden manoeuvres cause tracked objects to lose or swap their assigned IDs.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Limitations, One Framework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typically rely on rigid area-based filtering and fragile ID management. This study addresses both limitations directly.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8892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706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8775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Orientation-aware area filtering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04495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validated not only by instantaneous pixel area but by consistency with their prior trajectory and heading — preserving objects with temporarily distorted reflections.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4805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4622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2793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Motion-predictive ID recovery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73659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targets are kept in an inactive buffer; if a new detection matches the predicted position and trajectory, the original ID is reassigned instead of creating a new one.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MATERIALS &amp; METHODS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Pipeline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33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1200×1024 px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frame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34290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38728" y="23774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8728" y="2633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37947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smoothing +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filtering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71616" y="34290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37376" y="23774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37376" y="2633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37947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segmentation +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orientation-aware filtering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34290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36024" y="23774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36024" y="2633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⌖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336024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473184" y="37947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matching +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trajectory-aware ID recovery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Python with OpenCV and NumPy — lightweight enough for real-time embedded deployment, no GPU required.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HSV-BASED DETECTION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Targets by Colour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marine radar displays encode targets in yellow tones, with the own-ship marker in white. Converting each frame to HSV separates colour (hue) from brightness (value), making detection robust to lighting changes.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363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900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yellow hues within configurable HSV bounds to isolate navigational targets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64845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open/close operations remove noise and bridge small gaps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53128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30682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moments (Eq. 1–3) yield each contour’s centroid and area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111496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651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contours within a valid area range are kept — unless their centroid still matches the predicted trajectory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1554480"/>
            <a:ext cx="457200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vs. OWN-SHIP ENCODING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228600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2C7A3F"/>
          </a:solidFill>
          <a:ln/>
        </p:spPr>
      </p:sp>
      <p:sp>
        <p:nvSpPr>
          <p:cNvPr id="16" name="Shape 14"/>
          <p:cNvSpPr/>
          <p:nvPr/>
        </p:nvSpPr>
        <p:spPr>
          <a:xfrm>
            <a:off x="7452360" y="2450592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2E1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24505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Navigational targets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8163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∈ [10–40]° hue, high sat/val (yellow)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9480" y="39776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2C7A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52360" y="4142232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FB8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1422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Own-ship marker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5079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white range: high value, low saturation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DYNAMIC TARGET ASSOCIATION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Track of Every Target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frame's detections are matched to active tracks by Euclidean distance (Eq. 4). Unmatched detections start new tracks; targets missing for too long move to an inactive buffer rather than disappearing outright.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6060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Detection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15184" y="3063240"/>
            <a:ext cx="30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260604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7520" y="26060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&lt;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46904" y="3063240"/>
            <a:ext cx="30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257800" y="260604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49240" y="26060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Track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(reset age)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78624" y="3063240"/>
            <a:ext cx="30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589520" y="260604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26060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max_lost?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10344" y="3063240"/>
            <a:ext cx="30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21240" y="260604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12680" y="26060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ID or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434840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43484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a frame-indexed deque of recent centroids lets the system distinguish newly appearing objects from re-identifiable ones, while combining spatial proximity with trajectory similarity reduces false reassignments in high-density scenes.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RELATIVE VELOCITY ESTIMATION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Target Approaching or Receding?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raw position is not enough — an ASV needs to know how targets move relative to itself. The system compares each target's displacement to the own ship's own motion.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velocity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Δposition / Δt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centroid history in a deque buffer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6060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velocity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v_rel = v_target − v_ship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the ship's own motion (Eq. 6–7)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26060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964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ṽ_t = α·v_t + (1−α)·ṽ_{t-1}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filter stabilises noisy speed readings (Eq. 8)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— approaching, receding, or holding distance — gives more meaningful situational awareness than absolute motion alone.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EXPERIMENTAL 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Configuration, and Ground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4343400"/>
          </a:xfrm>
          <a:prstGeom prst="roundRect">
            <a:avLst>
              <a:gd name="adj" fmla="val 2526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of screen recording from a Wartsilla ntpro 5000® Bridge Simulator (BridgeMaster radar), Fatsa Faculty of Marine Sciences, Ordu University.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1200×1024 px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3310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resolution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4178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frames evaluated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labelImg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5047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annotation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1600200"/>
            <a:ext cx="5650992" cy="4343400"/>
          </a:xfrm>
          <a:prstGeom prst="roundRect">
            <a:avLst>
              <a:gd name="adj" fmla="val 2526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 PARAMETERS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target_hsv_min / max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[10,50,50] – [40,255,255]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816352"/>
            <a:ext cx="5212080" cy="0"/>
          </a:xfrm>
          <a:prstGeom prst="line">
            <a:avLst/>
          </a:prstGeom>
          <a:noFill/>
          <a:ln w="9525">
            <a:solidFill>
              <a:srgbClr val="3A52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907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target_area_min / max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9077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– 196 px²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438144"/>
            <a:ext cx="5212080" cy="0"/>
          </a:xfrm>
          <a:prstGeom prst="line">
            <a:avLst/>
          </a:prstGeom>
          <a:noFill/>
          <a:ln w="9525">
            <a:solidFill>
              <a:srgbClr val="3A52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35295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distance_threshold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5295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4059936"/>
            <a:ext cx="5212080" cy="0"/>
          </a:xfrm>
          <a:prstGeom prst="line">
            <a:avLst/>
          </a:prstGeom>
          <a:noFill/>
          <a:ln w="9525">
            <a:solidFill>
              <a:srgbClr val="3A52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41513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max_lost_frames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41513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4681728"/>
            <a:ext cx="5212080" cy="0"/>
          </a:xfrm>
          <a:prstGeom prst="line">
            <a:avLst/>
          </a:prstGeom>
          <a:noFill/>
          <a:ln w="9525">
            <a:solidFill>
              <a:srgbClr val="3A52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4773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speed_multiplier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4773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23.47 kts·s/px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5303520"/>
            <a:ext cx="5212080" cy="0"/>
          </a:xfrm>
          <a:prstGeom prst="line">
            <a:avLst/>
          </a:prstGeom>
          <a:noFill/>
          <a:ln w="9525">
            <a:solidFill>
              <a:srgbClr val="3A526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RESULTS — DETECTION ACCURACY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Orientation-Aware Filtering Improves Detection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28600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 pts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 over the area-based baseline
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−59%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false positive rate (2.7% → 1.1%)
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area with heading/orientation cues lets the system tell real targets apart from noise and clutter far more reliably.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RESULTS — TRACKING CONSISTENCY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Lost Identities, Longer Continuity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IDENTITIES BREAK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240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switches typically happen when an object is briefly lost and recovered with a new ID — often after abrupt trajectory changes or close interaction with other targets.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26680" y="3520440"/>
            <a:ext cx="3566160" cy="0"/>
          </a:xfrm>
          <a:prstGeom prst="line">
            <a:avLst/>
          </a:prstGeom>
          <a:noFill/>
          <a:ln w="12700">
            <a:solidFill>
              <a:srgbClr val="C7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26680" y="3703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integrating motion features — speed and direction — into the ID-recovery logic, the proposed method preserves consistent trajectories over extended periods, even under occlusion.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RESULTS — REAL-TIME PERFORMANCE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Enough for Embedded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3317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A541"/>
                </a:solidFill>
              </a:rPr>
              <a:t>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± 17 ms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latency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3317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A541"/>
                </a:solidFill>
              </a:rPr>
              <a:t>↻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FPS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a 360°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every 2–3 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3317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A541"/>
                </a:solidFill>
              </a:rPr>
              <a:t>⚙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 ± 2.08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CPU usage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(peak 15.7%)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233172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632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A541"/>
                </a:solidFill>
              </a:rPr>
              <a:t>☷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111.2 ± 1.9 MB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memory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on standard desktop hardware without GPU acceleration — a key requirement for resource-constrained, embedded ASV platforms.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9572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2585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detection accuracy (98.7% TPR) and strong tracking continuity (75% fewer ID switches)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154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interpretable — no training data or GPU required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18795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0507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supports sensor fusion and different radar colour encodings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08406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9469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capable on standard embedded hardware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395728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22585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manually tuned HSV thresholds and fixed area constraints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3291840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3154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targets can still occasionally cause ID swaps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41879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40507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adaptive thresholding (histogram-based, k-means, ML-driven)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5084064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49469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multi-modal sensor fusion and validation on new radar data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Framework for Maritime Perception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i="1" dirty="0">
                <a:solidFill>
                  <a:srgbClr val="E7F1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integrating HSV colour segmentation, orientation-aware filtering, and motion-predicted ID reassignment, this framework achieves a 98.7% true positive detection rate across 7,200 radar frames, with an average processing latency of 240 milliseconds — demonstrating clear suitability for resource-constrained embedded systems and reliable real-time situational awareness in ASV navigation and surveillance.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659636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840480"/>
            <a:ext cx="1659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28316" y="3840480"/>
            <a:ext cx="1449324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8316" y="3840480"/>
            <a:ext cx="1449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3840480"/>
            <a:ext cx="1344168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3840480"/>
            <a:ext cx="1344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GPU-free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79008" y="3840480"/>
            <a:ext cx="1239012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79008" y="38404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6620" y="384048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4662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89204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  ·  Giresun University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sercan.kulcu@giresun.edu.tr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Image-Based Object Detection &amp; Tracking for ASVs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480560"/>
            <a:ext cx="2926080" cy="292608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3749040"/>
            <a:ext cx="4389120" cy="438912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48472" y="3017520"/>
            <a:ext cx="5852160" cy="585216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2" y="2286000"/>
            <a:ext cx="7315200" cy="7315200"/>
          </a:xfrm>
          <a:prstGeom prst="ellipse">
            <a:avLst/>
          </a:prstGeom>
          <a:ln w="1524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429768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  ·  Giresun University, Faculty of Engineering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sercan.kulcu@giresun.edu.tr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2026-09-09T20:55:58Z</dcterms:created>
  <dcterms:modified xsi:type="dcterms:W3CDTF">2026-09-09T20:55:58Z</dcterms:modified>
</cp:coreProperties>
</file>