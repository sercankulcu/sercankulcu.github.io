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45C6E"/>
                </a:solidFill>
                <a:latin typeface="Calibri"/>
              </a:defRPr>
            </a:pPr>
            <a:r>
              <a:rPr sz="1300" b="0" i="0" u="none" strike="noStrike">
                <a:solidFill>
                  <a:srgbClr val="045C6E"/>
                </a:solidFill>
                <a:latin typeface="Calibri"/>
              </a:rPr>
              <a:t>mAP@0.5 — resized vs. tiled inference (Table 2)</a:t>
            </a:r>
          </a:p>
        </c:rich>
      </c:tx>
      <c:layout/>
      <c:overlay val="0"/>
    </c:title>
    <c:autoTitleDeleted val="0"/>
    <c:plotArea>
      <c:layout/>
      <c:barChart>
        <c:barDir val="col"/>
        <c:grouping val="clustered"/>
        <c:varyColors val="0"/>
        <c:ser>
          <c:idx val="0"/>
          <c:order val="0"/>
          <c:tx>
            <c:strRef>
              <c:f>Sheet1!$B$1</c:f>
              <c:strCache>
                <c:ptCount val="1"/>
                <c:pt idx="0">
                  <c:v>Resized — mAP@0.5</c:v>
                </c:pt>
              </c:strCache>
            </c:strRef>
          </c:tx>
          <c:spPr>
            <a:solidFill>
              <a:srgbClr val="5E7D82"/>
            </a:solidFill>
            <a:effectLst/>
          </c:spPr>
          <c:invertIfNegative val="0"/>
          <c:dLbls>
            <c:numFmt formatCode="0.000" sourceLinked="0"/>
            <c:txPr>
              <a:bodyPr/>
              <a:lstStyle/>
              <a:p>
                <a:pPr>
                  <a:defRPr b="0" i="0" strike="noStrike" sz="1100" u="none">
                    <a:solidFill>
                      <a:srgbClr val="0E2A2F"/>
                    </a:solidFill>
                    <a:latin typeface="Arial"/>
                  </a:defRPr>
                </a:pPr>
              </a:p>
            </c:txPr>
            <c:showLegendKey val="0"/>
            <c:showVal val="1"/>
            <c:showCatName val="0"/>
            <c:showSerName val="0"/>
            <c:showPercent val="0"/>
            <c:showBubbleSize val="0"/>
            <c:showLeaderLines val="0"/>
          </c:dLbls>
          <c:cat>
            <c:multiLvlStrRef>
              <c:f>Sheet1!$A$2:$A$4</c:f>
              <c:multiLvlStrCache>
                <c:ptCount val="3"/>
                <c:lvl>
                  <c:pt idx="0">
                    <c:v>YOLOv5n</c:v>
                  </c:pt>
                  <c:pt idx="1">
                    <c:v>YOLOv8n</c:v>
                  </c:pt>
                  <c:pt idx="2">
                    <c:v>YOLOv11n</c:v>
                  </c:pt>
                </c:lvl>
              </c:multiLvlStrCache>
            </c:multiLvlStrRef>
          </c:cat>
          <c:val>
            <c:numRef>
              <c:f>Sheet1!$B$2:$B$4</c:f>
              <c:numCache>
                <c:formatCode>General</c:formatCode>
                <c:ptCount val="3"/>
                <c:pt idx="0">
                  <c:v>0.449</c:v>
                </c:pt>
                <c:pt idx="1">
                  <c:v>0.613</c:v>
                </c:pt>
                <c:pt idx="2">
                  <c:v>0.663</c:v>
                </c:pt>
              </c:numCache>
            </c:numRef>
          </c:val>
        </c:ser>
        <c:ser>
          <c:idx val="1"/>
          <c:order val="1"/>
          <c:tx>
            <c:strRef>
              <c:f>Sheet1!$C$1</c:f>
              <c:strCache>
                <c:ptCount val="1"/>
                <c:pt idx="0">
                  <c:v>Tiled — mAP@0.5</c:v>
                </c:pt>
              </c:strCache>
            </c:strRef>
          </c:tx>
          <c:spPr>
            <a:solidFill>
              <a:srgbClr val="028090"/>
            </a:solidFill>
            <a:effectLst/>
          </c:spPr>
          <c:invertIfNegative val="0"/>
          <c:dLbls>
            <c:numFmt formatCode="0.000" sourceLinked="0"/>
            <c:txPr>
              <a:bodyPr/>
              <a:lstStyle/>
              <a:p>
                <a:pPr>
                  <a:defRPr b="0" i="0" strike="noStrike" sz="1100" u="none">
                    <a:solidFill>
                      <a:srgbClr val="0E2A2F"/>
                    </a:solidFill>
                    <a:latin typeface="Arial"/>
                  </a:defRPr>
                </a:pPr>
              </a:p>
            </c:txPr>
            <c:showLegendKey val="0"/>
            <c:showVal val="1"/>
            <c:showCatName val="0"/>
            <c:showSerName val="0"/>
            <c:showPercent val="0"/>
            <c:showBubbleSize val="0"/>
            <c:showLeaderLines val="0"/>
          </c:dLbls>
          <c:cat>
            <c:multiLvlStrRef>
              <c:f>Sheet1!$A$2:$A$4</c:f>
              <c:multiLvlStrCache>
                <c:ptCount val="3"/>
                <c:lvl>
                  <c:pt idx="0">
                    <c:v>YOLOv5n</c:v>
                  </c:pt>
                  <c:pt idx="1">
                    <c:v>YOLOv8n</c:v>
                  </c:pt>
                  <c:pt idx="2">
                    <c:v>YOLOv11n</c:v>
                  </c:pt>
                </c:lvl>
              </c:multiLvlStrCache>
            </c:multiLvlStrRef>
          </c:cat>
          <c:val>
            <c:numRef>
              <c:f>Sheet1!$C$2:$C$4</c:f>
              <c:numCache>
                <c:formatCode>General</c:formatCode>
                <c:ptCount val="3"/>
                <c:pt idx="0">
                  <c:v>0.954</c:v>
                </c:pt>
                <c:pt idx="1">
                  <c:v>0.968</c:v>
                </c:pt>
                <c:pt idx="2">
                  <c:v>0.969</c:v>
                </c:pt>
              </c:numCache>
            </c:numRef>
          </c:val>
        </c:ser>
        <c:dLbls>
          <c:numFmt formatCode="0.000" sourceLinked="0"/>
          <c:txPr>
            <a:bodyPr/>
            <a:lstStyle/>
            <a:p>
              <a:pPr>
                <a:defRPr b="0" i="0" strike="noStrike" sz="1100" u="none">
                  <a:solidFill>
                    <a:srgbClr val="0E2A2F"/>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E2A2F"/>
                </a:solidFill>
                <a:latin typeface="Arial"/>
              </a:defRPr>
            </a:pPr>
            <a:endParaRPr lang="en-US"/>
          </a:p>
        </c:txPr>
        <c:crossAx val="2094734552"/>
        <c:crosses val="autoZero"/>
        <c:auto val="1"/>
        <c:lblAlgn val="ctr"/>
        <c:noMultiLvlLbl val="1"/>
      </c:catAx>
      <c:valAx>
        <c:axId val="2094734552"/>
        <c:scaling>
          <c:orientation val="minMax"/>
          <c:max val="1.15"/>
          <c:min val="0"/>
        </c:scaling>
        <c:delete val="0"/>
        <c:axPos val="l"/>
        <c:majorGridlines>
          <c:spPr>
            <a:ln w="9525" cap="flat">
              <a:solidFill>
                <a:srgbClr val="E2EE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E7D8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0E2A2F"/>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45C6E"/>
                </a:solidFill>
                <a:latin typeface="Calibri"/>
              </a:defRPr>
            </a:pPr>
            <a:r>
              <a:rPr sz="1300" b="0" i="0" u="none" strike="noStrike">
                <a:solidFill>
                  <a:srgbClr val="045C6E"/>
                </a:solidFill>
                <a:latin typeface="Calibri"/>
              </a:rPr>
              <a:t>Validation metrics over training (Fig. 2)</a:t>
            </a:r>
          </a:p>
        </c:rich>
      </c:tx>
      <c:layout/>
      <c:overlay val="0"/>
    </c:title>
    <c:autoTitleDeleted val="0"/>
    <c:plotArea>
      <c:layout/>
      <c:lineChart>
        <c:varyColors val="0"/>
        <c:ser>
          <c:idx val="0"/>
          <c:order val="0"/>
          <c:tx>
            <c:strRef>
              <c:f>Sheet1!$B$1</c:f>
              <c:strCache>
                <c:ptCount val="1"/>
                <c:pt idx="0">
                  <c:v>Precision (P)</c:v>
                </c:pt>
              </c:strCache>
            </c:strRef>
          </c:tx>
          <c:spPr>
            <a:solidFill>
              <a:srgbClr val="00A896"/>
            </a:solidFill>
            <a:ln w="28575" cap="flat">
              <a:solidFill>
                <a:srgbClr val="00A89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00A896"/>
              </a:solidFill>
              <a:ln w="9525" cap="flat">
                <a:solidFill>
                  <a:srgbClr val="00A896"/>
                </a:solidFill>
                <a:prstDash val="solid"/>
                <a:round/>
              </a:ln>
              <a:effectLst/>
            </c:spPr>
          </c:marker>
          <c:cat>
            <c:multiLvlStrRef>
              <c:f>Sheet1!$A$2:$A$12</c:f>
              <c:multiLvlStrCache>
                <c:ptCount val="11"/>
                <c:lvl>
                  <c:pt idx="0">
                    <c:v>0</c:v>
                  </c:pt>
                  <c:pt idx="1">
                    <c:v>5</c:v>
                  </c:pt>
                  <c:pt idx="2">
                    <c:v>10</c:v>
                  </c:pt>
                  <c:pt idx="3">
                    <c:v>15</c:v>
                  </c:pt>
                  <c:pt idx="4">
                    <c:v>20</c:v>
                  </c:pt>
                  <c:pt idx="5">
                    <c:v>25</c:v>
                  </c:pt>
                  <c:pt idx="6">
                    <c:v>30</c:v>
                  </c:pt>
                  <c:pt idx="7">
                    <c:v>35</c:v>
                  </c:pt>
                  <c:pt idx="8">
                    <c:v>40</c:v>
                  </c:pt>
                  <c:pt idx="9">
                    <c:v>45</c:v>
                  </c:pt>
                  <c:pt idx="10">
                    <c:v>50</c:v>
                  </c:pt>
                </c:lvl>
              </c:multiLvlStrCache>
            </c:multiLvlStrRef>
          </c:cat>
          <c:val>
            <c:numRef>
              <c:f>Sheet1!$B$2:$B$12</c:f>
              <c:numCache>
                <c:formatCode>General</c:formatCode>
                <c:ptCount val="11"/>
                <c:pt idx="0">
                  <c:v>0.35</c:v>
                </c:pt>
                <c:pt idx="1">
                  <c:v>0.75</c:v>
                </c:pt>
                <c:pt idx="2">
                  <c:v>0.85</c:v>
                </c:pt>
                <c:pt idx="3">
                  <c:v>0.89</c:v>
                </c:pt>
                <c:pt idx="4">
                  <c:v>0.9</c:v>
                </c:pt>
                <c:pt idx="5">
                  <c:v>0.91</c:v>
                </c:pt>
                <c:pt idx="6">
                  <c:v>0.91</c:v>
                </c:pt>
                <c:pt idx="7">
                  <c:v>0.92</c:v>
                </c:pt>
                <c:pt idx="8">
                  <c:v>0.92</c:v>
                </c:pt>
                <c:pt idx="9">
                  <c:v>0.93</c:v>
                </c:pt>
                <c:pt idx="10">
                  <c:v>0.93</c:v>
                </c:pt>
              </c:numCache>
            </c:numRef>
          </c:val>
          <c:smooth val="0"/>
        </c:ser>
        <c:ser>
          <c:idx val="1"/>
          <c:order val="1"/>
          <c:tx>
            <c:strRef>
              <c:f>Sheet1!$C$1</c:f>
              <c:strCache>
                <c:ptCount val="1"/>
                <c:pt idx="0">
                  <c:v>Recall (R)</c:v>
                </c:pt>
              </c:strCache>
            </c:strRef>
          </c:tx>
          <c:spPr>
            <a:solidFill>
              <a:srgbClr val="F4A100"/>
            </a:solidFill>
            <a:ln w="28575" cap="flat">
              <a:solidFill>
                <a:srgbClr val="F4A1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F4A100"/>
              </a:solidFill>
              <a:ln w="9525" cap="flat">
                <a:solidFill>
                  <a:srgbClr val="F4A100"/>
                </a:solidFill>
                <a:prstDash val="solid"/>
                <a:round/>
              </a:ln>
              <a:effectLst/>
            </c:spPr>
          </c:marker>
          <c:cat>
            <c:multiLvlStrRef>
              <c:f>Sheet1!$A$2:$A$12</c:f>
              <c:multiLvlStrCache>
                <c:ptCount val="11"/>
                <c:lvl>
                  <c:pt idx="0">
                    <c:v>0</c:v>
                  </c:pt>
                  <c:pt idx="1">
                    <c:v>5</c:v>
                  </c:pt>
                  <c:pt idx="2">
                    <c:v>10</c:v>
                  </c:pt>
                  <c:pt idx="3">
                    <c:v>15</c:v>
                  </c:pt>
                  <c:pt idx="4">
                    <c:v>20</c:v>
                  </c:pt>
                  <c:pt idx="5">
                    <c:v>25</c:v>
                  </c:pt>
                  <c:pt idx="6">
                    <c:v>30</c:v>
                  </c:pt>
                  <c:pt idx="7">
                    <c:v>35</c:v>
                  </c:pt>
                  <c:pt idx="8">
                    <c:v>40</c:v>
                  </c:pt>
                  <c:pt idx="9">
                    <c:v>45</c:v>
                  </c:pt>
                  <c:pt idx="10">
                    <c:v>50</c:v>
                  </c:pt>
                </c:lvl>
              </c:multiLvlStrCache>
            </c:multiLvlStrRef>
          </c:cat>
          <c:val>
            <c:numRef>
              <c:f>Sheet1!$C$2:$C$12</c:f>
              <c:numCache>
                <c:formatCode>General</c:formatCode>
                <c:ptCount val="11"/>
                <c:pt idx="0">
                  <c:v>0.3</c:v>
                </c:pt>
                <c:pt idx="1">
                  <c:v>0.78</c:v>
                </c:pt>
                <c:pt idx="2">
                  <c:v>0.87</c:v>
                </c:pt>
                <c:pt idx="3">
                  <c:v>0.9</c:v>
                </c:pt>
                <c:pt idx="4">
                  <c:v>0.91</c:v>
                </c:pt>
                <c:pt idx="5">
                  <c:v>0.92</c:v>
                </c:pt>
                <c:pt idx="6">
                  <c:v>0.93</c:v>
                </c:pt>
                <c:pt idx="7">
                  <c:v>0.93</c:v>
                </c:pt>
                <c:pt idx="8">
                  <c:v>0.94</c:v>
                </c:pt>
                <c:pt idx="9">
                  <c:v>0.94</c:v>
                </c:pt>
                <c:pt idx="10">
                  <c:v>0.94</c:v>
                </c:pt>
              </c:numCache>
            </c:numRef>
          </c:val>
          <c:smooth val="0"/>
        </c:ser>
        <c:ser>
          <c:idx val="2"/>
          <c:order val="2"/>
          <c:tx>
            <c:strRef>
              <c:f>Sheet1!$D$1</c:f>
              <c:strCache>
                <c:ptCount val="1"/>
                <c:pt idx="0">
                  <c:v>mAP@0.5</c:v>
                </c:pt>
              </c:strCache>
            </c:strRef>
          </c:tx>
          <c:spPr>
            <a:solidFill>
              <a:srgbClr val="028090"/>
            </a:solidFill>
            <a:ln w="28575" cap="flat">
              <a:solidFill>
                <a:srgbClr val="02809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028090"/>
              </a:solidFill>
              <a:ln w="9525" cap="flat">
                <a:solidFill>
                  <a:srgbClr val="028090"/>
                </a:solidFill>
                <a:prstDash val="solid"/>
                <a:round/>
              </a:ln>
              <a:effectLst/>
            </c:spPr>
          </c:marker>
          <c:cat>
            <c:multiLvlStrRef>
              <c:f>Sheet1!$A$2:$A$12</c:f>
              <c:multiLvlStrCache>
                <c:ptCount val="11"/>
                <c:lvl>
                  <c:pt idx="0">
                    <c:v>0</c:v>
                  </c:pt>
                  <c:pt idx="1">
                    <c:v>5</c:v>
                  </c:pt>
                  <c:pt idx="2">
                    <c:v>10</c:v>
                  </c:pt>
                  <c:pt idx="3">
                    <c:v>15</c:v>
                  </c:pt>
                  <c:pt idx="4">
                    <c:v>20</c:v>
                  </c:pt>
                  <c:pt idx="5">
                    <c:v>25</c:v>
                  </c:pt>
                  <c:pt idx="6">
                    <c:v>30</c:v>
                  </c:pt>
                  <c:pt idx="7">
                    <c:v>35</c:v>
                  </c:pt>
                  <c:pt idx="8">
                    <c:v>40</c:v>
                  </c:pt>
                  <c:pt idx="9">
                    <c:v>45</c:v>
                  </c:pt>
                  <c:pt idx="10">
                    <c:v>50</c:v>
                  </c:pt>
                </c:lvl>
              </c:multiLvlStrCache>
            </c:multiLvlStrRef>
          </c:cat>
          <c:val>
            <c:numRef>
              <c:f>Sheet1!$D$2:$D$12</c:f>
              <c:numCache>
                <c:formatCode>General</c:formatCode>
                <c:ptCount val="11"/>
                <c:pt idx="0">
                  <c:v>0.25</c:v>
                </c:pt>
                <c:pt idx="1">
                  <c:v>0.8</c:v>
                </c:pt>
                <c:pt idx="2">
                  <c:v>0.89</c:v>
                </c:pt>
                <c:pt idx="3">
                  <c:v>0.92</c:v>
                </c:pt>
                <c:pt idx="4">
                  <c:v>0.94</c:v>
                </c:pt>
                <c:pt idx="5">
                  <c:v>0.95</c:v>
                </c:pt>
                <c:pt idx="6">
                  <c:v>0.95</c:v>
                </c:pt>
                <c:pt idx="7">
                  <c:v>0.96</c:v>
                </c:pt>
                <c:pt idx="8">
                  <c:v>0.96</c:v>
                </c:pt>
                <c:pt idx="9">
                  <c:v>0.97</c:v>
                </c:pt>
                <c:pt idx="10">
                  <c:v>0.97</c:v>
                </c:pt>
              </c:numCache>
            </c:numRef>
          </c:val>
          <c:smooth val="0"/>
        </c:ser>
        <c:ser>
          <c:idx val="3"/>
          <c:order val="3"/>
          <c:tx>
            <c:strRef>
              <c:f>Sheet1!$E$1</c:f>
              <c:strCache>
                <c:ptCount val="1"/>
                <c:pt idx="0">
                  <c:v>mAP@0.5:0.95</c:v>
                </c:pt>
              </c:strCache>
            </c:strRef>
          </c:tx>
          <c:spPr>
            <a:solidFill>
              <a:srgbClr val="C1272D"/>
            </a:solidFill>
            <a:ln w="28575" cap="flat">
              <a:solidFill>
                <a:srgbClr val="C1272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C1272D"/>
              </a:solidFill>
              <a:ln w="9525" cap="flat">
                <a:solidFill>
                  <a:srgbClr val="C1272D"/>
                </a:solidFill>
                <a:prstDash val="solid"/>
                <a:round/>
              </a:ln>
              <a:effectLst/>
            </c:spPr>
          </c:marker>
          <c:cat>
            <c:multiLvlStrRef>
              <c:f>Sheet1!$A$2:$A$12</c:f>
              <c:multiLvlStrCache>
                <c:ptCount val="11"/>
                <c:lvl>
                  <c:pt idx="0">
                    <c:v>0</c:v>
                  </c:pt>
                  <c:pt idx="1">
                    <c:v>5</c:v>
                  </c:pt>
                  <c:pt idx="2">
                    <c:v>10</c:v>
                  </c:pt>
                  <c:pt idx="3">
                    <c:v>15</c:v>
                  </c:pt>
                  <c:pt idx="4">
                    <c:v>20</c:v>
                  </c:pt>
                  <c:pt idx="5">
                    <c:v>25</c:v>
                  </c:pt>
                  <c:pt idx="6">
                    <c:v>30</c:v>
                  </c:pt>
                  <c:pt idx="7">
                    <c:v>35</c:v>
                  </c:pt>
                  <c:pt idx="8">
                    <c:v>40</c:v>
                  </c:pt>
                  <c:pt idx="9">
                    <c:v>45</c:v>
                  </c:pt>
                  <c:pt idx="10">
                    <c:v>50</c:v>
                  </c:pt>
                </c:lvl>
              </c:multiLvlStrCache>
            </c:multiLvlStrRef>
          </c:cat>
          <c:val>
            <c:numRef>
              <c:f>Sheet1!$E$2:$E$12</c:f>
              <c:numCache>
                <c:formatCode>General</c:formatCode>
                <c:ptCount val="11"/>
                <c:pt idx="0">
                  <c:v>0.18</c:v>
                </c:pt>
                <c:pt idx="1">
                  <c:v>0.38</c:v>
                </c:pt>
                <c:pt idx="2">
                  <c:v>0.45</c:v>
                </c:pt>
                <c:pt idx="3">
                  <c:v>0.49</c:v>
                </c:pt>
                <c:pt idx="4">
                  <c:v>0.52</c:v>
                </c:pt>
                <c:pt idx="5">
                  <c:v>0.53</c:v>
                </c:pt>
                <c:pt idx="6">
                  <c:v>0.55</c:v>
                </c:pt>
                <c:pt idx="7">
                  <c:v>0.56</c:v>
                </c:pt>
                <c:pt idx="8">
                  <c:v>0.57</c:v>
                </c:pt>
                <c:pt idx="9">
                  <c:v>0.58</c:v>
                </c:pt>
                <c:pt idx="10">
                  <c:v>0.582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E7D82"/>
                    </a:solidFill>
                    <a:latin typeface="Arial"/>
                  </a:defRPr>
                </a:pPr>
                <a:r>
                  <a:rPr sz="1100" b="0" i="0" u="none" strike="noStrike">
                    <a:solidFill>
                      <a:srgbClr val="5E7D82"/>
                    </a:solidFill>
                    <a:latin typeface="Arial"/>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0E2A2F"/>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2EE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E7D8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0E2A2F"/>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045C6E"/>
                </a:solidFill>
                <a:latin typeface="Calibri"/>
              </a:defRPr>
            </a:pPr>
            <a:r>
              <a:rPr sz="1250" b="0" i="0" u="none" strike="noStrike">
                <a:solidFill>
                  <a:srgbClr val="045C6E"/>
                </a:solidFill>
                <a:latin typeface="Calibri"/>
              </a:rPr>
              <a:t>mAP@0.5 vs. published detectors (Table 4)</a:t>
            </a:r>
          </a:p>
        </c:rich>
      </c:tx>
      <c:layout/>
      <c:overlay val="0"/>
    </c:title>
    <c:autoTitleDeleted val="0"/>
    <c:plotArea>
      <c:layout/>
      <c:barChart>
        <c:barDir val="col"/>
        <c:grouping val="clustered"/>
        <c:varyColors val="0"/>
        <c:ser>
          <c:idx val="0"/>
          <c:order val="0"/>
          <c:tx>
            <c:strRef>
              <c:f>Sheet1!$B$1</c:f>
              <c:strCache>
                <c:ptCount val="1"/>
                <c:pt idx="0">
                  <c:v>mAP@0.5</c:v>
                </c:pt>
              </c:strCache>
            </c:strRef>
          </c:tx>
          <c:spPr>
            <a:solidFill>
              <a:srgbClr val="5E7D82"/>
            </a:solidFill>
            <a:effectLst/>
          </c:spPr>
          <c:invertIfNegative val="0"/>
          <c:dLbls>
            <c:numFmt formatCode="0.00" sourceLinked="0"/>
            <c:txPr>
              <a:bodyPr/>
              <a:lstStyle/>
              <a:p>
                <a:pPr>
                  <a:defRPr b="0" i="0" strike="noStrike" sz="900" u="none">
                    <a:solidFill>
                      <a:srgbClr val="0E2A2F"/>
                    </a:solidFill>
                    <a:latin typeface="Arial"/>
                  </a:defRPr>
                </a:pPr>
              </a:p>
            </c:txPr>
            <c:showLegendKey val="0"/>
            <c:showVal val="1"/>
            <c:showCatName val="0"/>
            <c:showSerName val="0"/>
            <c:showPercent val="0"/>
            <c:showBubbleSize val="0"/>
            <c:showLeaderLines val="0"/>
          </c:dLbls>
          <c:dPt>
            <c:idx val="0"/>
            <c:invertIfNegative val="0"/>
            <c:bubble3D val="0"/>
            <c:spPr>
              <a:solidFill>
                <a:srgbClr val="5E7D82"/>
              </a:solidFill>
              <a:effectLst/>
            </c:spPr>
          </c:dPt>
          <c:dPt>
            <c:idx val="1"/>
            <c:invertIfNegative val="0"/>
            <c:bubble3D val="0"/>
            <c:spPr>
              <a:solidFill>
                <a:srgbClr val="5E7D82"/>
              </a:solidFill>
              <a:effectLst/>
            </c:spPr>
          </c:dPt>
          <c:dPt>
            <c:idx val="2"/>
            <c:invertIfNegative val="0"/>
            <c:bubble3D val="0"/>
            <c:spPr>
              <a:solidFill>
                <a:srgbClr val="5E7D82"/>
              </a:solidFill>
              <a:effectLst/>
            </c:spPr>
          </c:dPt>
          <c:dPt>
            <c:idx val="3"/>
            <c:invertIfNegative val="0"/>
            <c:bubble3D val="0"/>
            <c:spPr>
              <a:solidFill>
                <a:srgbClr val="5E7D82"/>
              </a:solidFill>
              <a:effectLst/>
            </c:spPr>
          </c:dPt>
          <c:dPt>
            <c:idx val="4"/>
            <c:invertIfNegative val="0"/>
            <c:bubble3D val="0"/>
            <c:spPr>
              <a:solidFill>
                <a:srgbClr val="5E7D82"/>
              </a:solidFill>
              <a:effectLst/>
            </c:spPr>
          </c:dPt>
          <c:dPt>
            <c:idx val="5"/>
            <c:invertIfNegative val="0"/>
            <c:bubble3D val="0"/>
            <c:spPr>
              <a:solidFill>
                <a:srgbClr val="5E7D82"/>
              </a:solidFill>
              <a:effectLst/>
            </c:spPr>
          </c:dPt>
          <c:dPt>
            <c:idx val="6"/>
            <c:invertIfNegative val="0"/>
            <c:bubble3D val="0"/>
            <c:spPr>
              <a:solidFill>
                <a:srgbClr val="5E7D82"/>
              </a:solidFill>
              <a:effectLst/>
            </c:spPr>
          </c:dPt>
          <c:dPt>
            <c:idx val="7"/>
            <c:invertIfNegative val="0"/>
            <c:bubble3D val="0"/>
            <c:spPr>
              <a:solidFill>
                <a:srgbClr val="5E7D82"/>
              </a:solidFill>
              <a:effectLst/>
            </c:spPr>
          </c:dPt>
          <c:dPt>
            <c:idx val="8"/>
            <c:invertIfNegative val="0"/>
            <c:bubble3D val="0"/>
            <c:spPr>
              <a:solidFill>
                <a:srgbClr val="028090"/>
              </a:solidFill>
              <a:effectLst/>
            </c:spPr>
          </c:dPt>
          <c:cat>
            <c:multiLvlStrRef>
              <c:f>Sheet1!$A$2:$A$10</c:f>
              <c:multiLvlStrCache>
                <c:ptCount val="9"/>
                <c:lvl>
                  <c:pt idx="0">
                    <c:v>ResNet-50</c:v>
                  </c:pt>
                  <c:pt idx="1">
                    <c:v>MobileNetV2</c:v>
                  </c:pt>
                  <c:pt idx="2">
                    <c:v>AlexNet</c:v>
                  </c:pt>
                  <c:pt idx="3">
                    <c:v>Faster R-CNN+HRNet</c:v>
                  </c:pt>
                  <c:pt idx="4">
                    <c:v>Cascade R-CNN+HRNet</c:v>
                  </c:pt>
                  <c:pt idx="5">
                    <c:v>ViT-L/16</c:v>
                  </c:pt>
                  <c:pt idx="6">
                    <c:v>EfficientNetB6</c:v>
                  </c:pt>
                  <c:pt idx="7">
                    <c:v>Original YOLOv8</c:v>
                  </c:pt>
                  <c:pt idx="8">
                    <c:v>Proposed YOLOv11n</c:v>
                  </c:pt>
                </c:lvl>
              </c:multiLvlStrCache>
            </c:multiLvlStrRef>
          </c:cat>
          <c:val>
            <c:numRef>
              <c:f>Sheet1!$B$2:$B$10</c:f>
              <c:numCache>
                <c:formatCode>General</c:formatCode>
                <c:ptCount val="9"/>
                <c:pt idx="0">
                  <c:v>0.76</c:v>
                </c:pt>
                <c:pt idx="1">
                  <c:v>0.82</c:v>
                </c:pt>
                <c:pt idx="2">
                  <c:v>0.61</c:v>
                </c:pt>
                <c:pt idx="3">
                  <c:v>0.882</c:v>
                </c:pt>
                <c:pt idx="4">
                  <c:v>0.891</c:v>
                </c:pt>
                <c:pt idx="5">
                  <c:v>0.896</c:v>
                </c:pt>
                <c:pt idx="6">
                  <c:v>0.91</c:v>
                </c:pt>
                <c:pt idx="7">
                  <c:v>0.913</c:v>
                </c:pt>
                <c:pt idx="8">
                  <c:v>0.969</c:v>
                </c:pt>
              </c:numCache>
            </c:numRef>
          </c:val>
        </c:ser>
        <c:dLbls>
          <c:numFmt formatCode="0.00" sourceLinked="0"/>
          <c:txPr>
            <a:bodyPr/>
            <a:lstStyle/>
            <a:p>
              <a:pPr>
                <a:defRPr b="0" i="0" strike="noStrike" sz="900" u="none">
                  <a:solidFill>
                    <a:srgbClr val="0E2A2F"/>
                  </a:solidFill>
                  <a:latin typeface="Arial"/>
                </a:defRPr>
              </a:pPr>
            </a:p>
          </c:txPr>
          <c:showLegendKey val="0"/>
          <c:showVal val="1"/>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680000"/>
          <a:lstStyle/>
          <a:p>
            <a:pPr>
              <a:defRPr sz="850" b="0" i="0" u="none" strike="noStrike">
                <a:solidFill>
                  <a:srgbClr val="0E2A2F"/>
                </a:solidFill>
                <a:latin typeface="Arial"/>
              </a:defRPr>
            </a:pPr>
            <a:endParaRPr lang="en-US"/>
          </a:p>
        </c:txPr>
        <c:crossAx val="2094734552"/>
        <c:crosses val="autoZero"/>
        <c:auto val="1"/>
        <c:lblAlgn val="ctr"/>
        <c:noMultiLvlLbl val="1"/>
      </c:catAx>
      <c:valAx>
        <c:axId val="2094734552"/>
        <c:scaling>
          <c:orientation val="minMax"/>
          <c:max val="1.15"/>
          <c:min val="0"/>
        </c:scaling>
        <c:delete val="0"/>
        <c:axPos val="l"/>
        <c:majorGridlines>
          <c:spPr>
            <a:ln w="9525" cap="flat">
              <a:solidFill>
                <a:srgbClr val="E2EE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E7D8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7242B"/>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811512" y="4480560"/>
            <a:ext cx="2926080" cy="2926080"/>
          </a:xfrm>
          <a:prstGeom prst="ellipse">
            <a:avLst/>
          </a:prstGeom>
          <a:ln w="15240">
            <a:solidFill>
              <a:srgbClr val="00A896">
                <a:alpha val="60000"/>
              </a:srgbClr>
            </a:solidFill>
            <a:prstDash val="solid"/>
          </a:ln>
        </p:spPr>
      </p:sp>
      <p:sp>
        <p:nvSpPr>
          <p:cNvPr id="3" name="Shape 1"/>
          <p:cNvSpPr/>
          <p:nvPr/>
        </p:nvSpPr>
        <p:spPr>
          <a:xfrm>
            <a:off x="9079992" y="3749040"/>
            <a:ext cx="4389120" cy="4389120"/>
          </a:xfrm>
          <a:prstGeom prst="ellipse">
            <a:avLst/>
          </a:prstGeom>
          <a:ln w="15240">
            <a:solidFill>
              <a:srgbClr val="00A896">
                <a:alpha val="60000"/>
              </a:srgbClr>
            </a:solidFill>
            <a:prstDash val="solid"/>
          </a:ln>
        </p:spPr>
      </p:sp>
      <p:sp>
        <p:nvSpPr>
          <p:cNvPr id="4" name="Shape 2"/>
          <p:cNvSpPr/>
          <p:nvPr/>
        </p:nvSpPr>
        <p:spPr>
          <a:xfrm>
            <a:off x="8348472" y="3017520"/>
            <a:ext cx="5852160" cy="5852160"/>
          </a:xfrm>
          <a:prstGeom prst="ellipse">
            <a:avLst/>
          </a:prstGeom>
          <a:ln w="15240">
            <a:solidFill>
              <a:srgbClr val="00A896">
                <a:alpha val="60000"/>
              </a:srgbClr>
            </a:solidFill>
            <a:prstDash val="solid"/>
          </a:ln>
        </p:spPr>
      </p:sp>
      <p:sp>
        <p:nvSpPr>
          <p:cNvPr id="5" name="Shape 3"/>
          <p:cNvSpPr/>
          <p:nvPr/>
        </p:nvSpPr>
        <p:spPr>
          <a:xfrm>
            <a:off x="7616952" y="2286000"/>
            <a:ext cx="7315200" cy="7315200"/>
          </a:xfrm>
          <a:prstGeom prst="ellipse">
            <a:avLst/>
          </a:prstGeom>
          <a:ln w="15240">
            <a:solidFill>
              <a:srgbClr val="00A896">
                <a:alpha val="60000"/>
              </a:srgbClr>
            </a:solidFill>
            <a:prstDash val="solid"/>
          </a:ln>
        </p:spPr>
      </p:sp>
      <p:sp>
        <p:nvSpPr>
          <p:cNvPr id="6" name="Shape 4"/>
          <p:cNvSpPr/>
          <p:nvPr/>
        </p:nvSpPr>
        <p:spPr>
          <a:xfrm>
            <a:off x="10771632" y="5440680"/>
            <a:ext cx="822960" cy="822960"/>
          </a:xfrm>
          <a:prstGeom prst="ellipse">
            <a:avLst/>
          </a:prstGeom>
          <a:solidFill>
            <a:srgbClr val="028090">
              <a:alpha val="80000"/>
            </a:srgbClr>
          </a:solidFill>
          <a:ln/>
        </p:spPr>
      </p:sp>
      <p:sp>
        <p:nvSpPr>
          <p:cNvPr id="7" name="Shape 5"/>
          <p:cNvSpPr/>
          <p:nvPr/>
        </p:nvSpPr>
        <p:spPr>
          <a:xfrm>
            <a:off x="9966960" y="4754880"/>
            <a:ext cx="146304" cy="146304"/>
          </a:xfrm>
          <a:prstGeom prst="ellipse">
            <a:avLst/>
          </a:prstGeom>
          <a:solidFill>
            <a:srgbClr val="FFFFFF">
              <a:alpha val="75000"/>
            </a:srgbClr>
          </a:solidFill>
          <a:ln/>
        </p:spPr>
      </p:sp>
      <p:sp>
        <p:nvSpPr>
          <p:cNvPr id="8" name="Shape 6"/>
          <p:cNvSpPr/>
          <p:nvPr/>
        </p:nvSpPr>
        <p:spPr>
          <a:xfrm>
            <a:off x="10607040" y="4206240"/>
            <a:ext cx="146304" cy="146304"/>
          </a:xfrm>
          <a:prstGeom prst="ellipse">
            <a:avLst/>
          </a:prstGeom>
          <a:solidFill>
            <a:srgbClr val="FFFFFF">
              <a:alpha val="75000"/>
            </a:srgbClr>
          </a:solidFill>
          <a:ln/>
        </p:spPr>
      </p:sp>
      <p:sp>
        <p:nvSpPr>
          <p:cNvPr id="9" name="Shape 7"/>
          <p:cNvSpPr/>
          <p:nvPr/>
        </p:nvSpPr>
        <p:spPr>
          <a:xfrm>
            <a:off x="11155680" y="5120640"/>
            <a:ext cx="146304" cy="146304"/>
          </a:xfrm>
          <a:prstGeom prst="ellipse">
            <a:avLst/>
          </a:prstGeom>
          <a:solidFill>
            <a:srgbClr val="FFFFFF">
              <a:alpha val="75000"/>
            </a:srgbClr>
          </a:solidFill>
          <a:ln/>
        </p:spPr>
      </p:sp>
      <p:sp>
        <p:nvSpPr>
          <p:cNvPr id="10" name="Shape 8"/>
          <p:cNvSpPr/>
          <p:nvPr/>
        </p:nvSpPr>
        <p:spPr>
          <a:xfrm>
            <a:off x="9692640" y="5577840"/>
            <a:ext cx="146304" cy="146304"/>
          </a:xfrm>
          <a:prstGeom prst="ellipse">
            <a:avLst/>
          </a:prstGeom>
          <a:solidFill>
            <a:srgbClr val="FFFFFF">
              <a:alpha val="75000"/>
            </a:srgbClr>
          </a:solidFill>
          <a:ln/>
        </p:spPr>
      </p:sp>
      <p:sp>
        <p:nvSpPr>
          <p:cNvPr id="11" name="Shape 9"/>
          <p:cNvSpPr/>
          <p:nvPr/>
        </p:nvSpPr>
        <p:spPr>
          <a:xfrm>
            <a:off x="11430000" y="3931920"/>
            <a:ext cx="146304" cy="146304"/>
          </a:xfrm>
          <a:prstGeom prst="ellipse">
            <a:avLst/>
          </a:prstGeom>
          <a:solidFill>
            <a:srgbClr val="FFFFFF">
              <a:alpha val="75000"/>
            </a:srgbClr>
          </a:solidFill>
          <a:ln/>
        </p:spPr>
      </p:sp>
      <p:sp>
        <p:nvSpPr>
          <p:cNvPr id="12" name="Text 10"/>
          <p:cNvSpPr txBox="1"/>
          <p:nvPr/>
        </p:nvSpPr>
        <p:spPr>
          <a:xfrm>
            <a:off x="640080" y="1234440"/>
            <a:ext cx="9144000" cy="365760"/>
          </a:xfrm>
          <a:prstGeom prst="rect">
            <a:avLst/>
          </a:prstGeom>
          <a:noFill/>
          <a:ln/>
        </p:spPr>
        <p:txBody>
          <a:bodyPr wrap="square" lIns="0" tIns="0" rIns="0" bIns="0" rtlCol="0" anchor="ctr"/>
          <a:lstStyle/>
          <a:p>
            <a:pPr indent="0" marL="0">
              <a:buNone/>
            </a:pPr>
            <a:r>
              <a:rPr lang="en-US" sz="1300" b="1" spc="200" kern="0" dirty="0">
                <a:solidFill>
                  <a:srgbClr val="F4A100"/>
                </a:solidFill>
                <a:latin typeface="Calibri" pitchFamily="34" charset="0"/>
                <a:ea typeface="Calibri" pitchFamily="34" charset="-122"/>
                <a:cs typeface="Calibri" pitchFamily="34" charset="-120"/>
              </a:rPr>
              <a:t>RESEARCH ARTICLE  ·  SCIENTIFIC REPORTS</a:t>
            </a:r>
            <a:endParaRPr lang="en-US" sz="1300" dirty="0"/>
          </a:p>
        </p:txBody>
      </p:sp>
      <p:sp>
        <p:nvSpPr>
          <p:cNvPr id="13" name="Text 11"/>
          <p:cNvSpPr txBox="1"/>
          <p:nvPr/>
        </p:nvSpPr>
        <p:spPr>
          <a:xfrm>
            <a:off x="640080" y="1691640"/>
            <a:ext cx="10515600" cy="2103120"/>
          </a:xfrm>
          <a:prstGeom prst="rect">
            <a:avLst/>
          </a:prstGeom>
          <a:noFill/>
          <a:ln/>
        </p:spPr>
        <p:txBody>
          <a:bodyPr wrap="square" lIns="0" tIns="0" rIns="0" bIns="0" rtlCol="0" anchor="ctr"/>
          <a:lstStyle/>
          <a:p>
            <a:pPr indent="0" marL="0">
              <a:lnSpc>
                <a:spcPct val="108000"/>
              </a:lnSpc>
              <a:buNone/>
            </a:pPr>
            <a:r>
              <a:rPr lang="en-US" sz="3800" b="1" dirty="0">
                <a:solidFill>
                  <a:srgbClr val="FFFFFF"/>
                </a:solidFill>
                <a:latin typeface="Cambria" pitchFamily="34" charset="0"/>
                <a:ea typeface="Cambria" pitchFamily="34" charset="-122"/>
                <a:cs typeface="Cambria" pitchFamily="34" charset="-120"/>
              </a:rPr>
              <a:t>Overcoming Resolution Constraints in</a:t>
            </a:r>
            <a:endParaRPr lang="en-US" sz="3800" dirty="0"/>
          </a:p>
          <a:p>
            <a:pPr indent="0" marL="0">
              <a:lnSpc>
                <a:spcPct val="108000"/>
              </a:lnSpc>
              <a:buNone/>
            </a:pPr>
            <a:r>
              <a:rPr lang="en-US" sz="3800" b="1" dirty="0">
                <a:solidFill>
                  <a:srgbClr val="FFFFFF"/>
                </a:solidFill>
                <a:latin typeface="Cambria" pitchFamily="34" charset="0"/>
                <a:ea typeface="Cambria" pitchFamily="34" charset="-122"/>
                <a:cs typeface="Cambria" pitchFamily="34" charset="-120"/>
              </a:rPr>
              <a:t>Automated Colony Counting via SAHI</a:t>
            </a:r>
            <a:endParaRPr lang="en-US" sz="3800" dirty="0"/>
          </a:p>
        </p:txBody>
      </p:sp>
      <p:sp>
        <p:nvSpPr>
          <p:cNvPr id="14" name="Text 12"/>
          <p:cNvSpPr txBox="1"/>
          <p:nvPr/>
        </p:nvSpPr>
        <p:spPr>
          <a:xfrm>
            <a:off x="640080" y="3794760"/>
            <a:ext cx="9418320" cy="685800"/>
          </a:xfrm>
          <a:prstGeom prst="rect">
            <a:avLst/>
          </a:prstGeom>
          <a:noFill/>
          <a:ln/>
        </p:spPr>
        <p:txBody>
          <a:bodyPr wrap="square" lIns="0" tIns="0" rIns="0" bIns="0" rtlCol="0" anchor="ctr"/>
          <a:lstStyle/>
          <a:p>
            <a:pPr indent="0" marL="0">
              <a:buNone/>
            </a:pPr>
            <a:r>
              <a:rPr lang="en-US" sz="1550" i="1" dirty="0">
                <a:solidFill>
                  <a:srgbClr val="CFEAE7"/>
                </a:solidFill>
                <a:latin typeface="Calibri" pitchFamily="34" charset="0"/>
                <a:ea typeface="Calibri" pitchFamily="34" charset="-122"/>
                <a:cs typeface="Calibri" pitchFamily="34" charset="-120"/>
              </a:rPr>
              <a:t>A high-performance tiled-inference deep learning framework that preserves native image resolution for accurate, lightweight bacterial colony detection</a:t>
            </a:r>
            <a:endParaRPr lang="en-US" sz="1550" dirty="0"/>
          </a:p>
        </p:txBody>
      </p:sp>
      <p:sp>
        <p:nvSpPr>
          <p:cNvPr id="15" name="Shape 13"/>
          <p:cNvSpPr/>
          <p:nvPr/>
        </p:nvSpPr>
        <p:spPr>
          <a:xfrm>
            <a:off x="658368" y="4754880"/>
            <a:ext cx="2194560" cy="0"/>
          </a:xfrm>
          <a:prstGeom prst="line">
            <a:avLst/>
          </a:prstGeom>
          <a:noFill/>
          <a:ln w="25400">
            <a:solidFill>
              <a:srgbClr val="00A896"/>
            </a:solidFill>
            <a:prstDash val="solid"/>
          </a:ln>
        </p:spPr>
      </p:sp>
      <p:sp>
        <p:nvSpPr>
          <p:cNvPr id="16" name="Text 14"/>
          <p:cNvSpPr txBox="1"/>
          <p:nvPr/>
        </p:nvSpPr>
        <p:spPr>
          <a:xfrm>
            <a:off x="640080" y="4937760"/>
            <a:ext cx="731520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Sercan Külcü  &amp;  Duygu Balpetek Külcü</a:t>
            </a:r>
            <a:endParaRPr lang="en-US" sz="1800" dirty="0"/>
          </a:p>
        </p:txBody>
      </p:sp>
      <p:sp>
        <p:nvSpPr>
          <p:cNvPr id="17" name="Text 15"/>
          <p:cNvSpPr txBox="1"/>
          <p:nvPr/>
        </p:nvSpPr>
        <p:spPr>
          <a:xfrm>
            <a:off x="640080" y="5330952"/>
            <a:ext cx="8229600" cy="320040"/>
          </a:xfrm>
          <a:prstGeom prst="rect">
            <a:avLst/>
          </a:prstGeom>
          <a:noFill/>
          <a:ln/>
        </p:spPr>
        <p:txBody>
          <a:bodyPr wrap="square" lIns="0" tIns="0" rIns="0" bIns="0" rtlCol="0" anchor="ctr"/>
          <a:lstStyle/>
          <a:p>
            <a:pPr indent="0" marL="0">
              <a:buNone/>
            </a:pPr>
            <a:r>
              <a:rPr lang="en-US" sz="1200" dirty="0">
                <a:solidFill>
                  <a:srgbClr val="8FC9C5"/>
                </a:solidFill>
                <a:latin typeface="Calibri" pitchFamily="34" charset="0"/>
                <a:ea typeface="Calibri" pitchFamily="34" charset="-122"/>
                <a:cs typeface="Calibri" pitchFamily="34" charset="-120"/>
              </a:rPr>
              <a:t>Giresun University — Computer Engineering &amp; Food Engineering</a:t>
            </a:r>
            <a:endParaRPr lang="en-US" sz="1200" dirty="0"/>
          </a:p>
        </p:txBody>
      </p:sp>
      <p:sp>
        <p:nvSpPr>
          <p:cNvPr id="18" name="Text 16"/>
          <p:cNvSpPr txBox="1"/>
          <p:nvPr/>
        </p:nvSpPr>
        <p:spPr>
          <a:xfrm>
            <a:off x="640080" y="5715000"/>
            <a:ext cx="8229600" cy="320040"/>
          </a:xfrm>
          <a:prstGeom prst="rect">
            <a:avLst/>
          </a:prstGeom>
          <a:noFill/>
          <a:ln/>
        </p:spPr>
        <p:txBody>
          <a:bodyPr wrap="square" lIns="0" tIns="0" rIns="0" bIns="0" rtlCol="0" anchor="ctr"/>
          <a:lstStyle/>
          <a:p>
            <a:pPr indent="0" marL="0">
              <a:buNone/>
            </a:pPr>
            <a:r>
              <a:rPr lang="en-US" sz="1100" dirty="0">
                <a:solidFill>
                  <a:srgbClr val="5F8D89"/>
                </a:solidFill>
                <a:latin typeface="Calibri" pitchFamily="34" charset="0"/>
                <a:ea typeface="Calibri" pitchFamily="34" charset="-122"/>
                <a:cs typeface="Calibri" pitchFamily="34" charset="-120"/>
              </a:rPr>
              <a:t>Scientific Reports (2026) 16:24516   |   DOI: 10.1038/s41598-026-55724-1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86868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OVERVIEW</a:t>
            </a:r>
            <a:endParaRPr lang="en-US" sz="1300" dirty="0"/>
          </a:p>
        </p:txBody>
      </p:sp>
      <p:sp>
        <p:nvSpPr>
          <p:cNvPr id="3" name="Text 1"/>
          <p:cNvSpPr txBox="1"/>
          <p:nvPr/>
        </p:nvSpPr>
        <p:spPr>
          <a:xfrm>
            <a:off x="548640" y="685800"/>
            <a:ext cx="11091672" cy="822960"/>
          </a:xfrm>
          <a:prstGeom prst="rect">
            <a:avLst/>
          </a:prstGeom>
          <a:noFill/>
          <a:ln/>
        </p:spPr>
        <p:txBody>
          <a:bodyPr wrap="square" lIns="0" tIns="0" rIns="0" bIns="0" rtlCol="0" anchor="ctr"/>
          <a:lstStyle/>
          <a:p>
            <a:pPr indent="0" marL="0">
              <a:buNone/>
            </a:pPr>
            <a:r>
              <a:rPr lang="en-US" sz="3200" b="1" dirty="0">
                <a:solidFill>
                  <a:srgbClr val="045C6E"/>
                </a:solidFill>
                <a:latin typeface="Cambria" pitchFamily="34" charset="0"/>
                <a:ea typeface="Cambria" pitchFamily="34" charset="-122"/>
                <a:cs typeface="Cambria" pitchFamily="34" charset="-120"/>
              </a:rPr>
              <a:t>The Study at a Glance</a:t>
            </a:r>
            <a:endParaRPr lang="en-US" sz="3200" dirty="0"/>
          </a:p>
        </p:txBody>
      </p:sp>
      <p:sp>
        <p:nvSpPr>
          <p:cNvPr id="4" name="Text 2"/>
          <p:cNvSpPr txBox="1"/>
          <p:nvPr/>
        </p:nvSpPr>
        <p:spPr>
          <a:xfrm>
            <a:off x="548640" y="1600200"/>
            <a:ext cx="6492240" cy="1691640"/>
          </a:xfrm>
          <a:prstGeom prst="rect">
            <a:avLst/>
          </a:prstGeom>
          <a:noFill/>
          <a:ln/>
        </p:spPr>
        <p:txBody>
          <a:bodyPr wrap="square" lIns="0" tIns="0" rIns="0" bIns="0" rtlCol="0" anchor="ctr"/>
          <a:lstStyle/>
          <a:p>
            <a:pPr indent="0" marL="0">
              <a:lnSpc>
                <a:spcPct val="125000"/>
              </a:lnSpc>
              <a:buNone/>
            </a:pPr>
            <a:r>
              <a:rPr lang="en-US" sz="1450" dirty="0">
                <a:solidFill>
                  <a:srgbClr val="0E2A2F"/>
                </a:solidFill>
                <a:latin typeface="Calibri" pitchFamily="34" charset="0"/>
                <a:ea typeface="Calibri" pitchFamily="34" charset="-122"/>
                <a:cs typeface="Calibri" pitchFamily="34" charset="-120"/>
              </a:rPr>
              <a:t>Downscaling high-resolution Petri dish images to 640×640 pixels severely hurts lightweight detectors. This study shows that SAHI-based tiled inference — not bigger models — is the key to accurate, real-time bacterial colony counting.</a:t>
            </a:r>
            <a:endParaRPr lang="en-US" sz="1450" dirty="0"/>
          </a:p>
        </p:txBody>
      </p:sp>
      <p:sp>
        <p:nvSpPr>
          <p:cNvPr id="5" name="Shape 3"/>
          <p:cNvSpPr/>
          <p:nvPr/>
        </p:nvSpPr>
        <p:spPr>
          <a:xfrm>
            <a:off x="548640" y="3566160"/>
            <a:ext cx="1325880" cy="1920240"/>
          </a:xfrm>
          <a:prstGeom prst="roundRect">
            <a:avLst>
              <a:gd name="adj" fmla="val 6897"/>
            </a:avLst>
          </a:prstGeom>
          <a:solidFill>
            <a:srgbClr val="E6F5F3"/>
          </a:solidFill>
          <a:ln/>
          <a:effectLst>
            <a:outerShdw sx="100000" sy="100000" kx="0" ky="0" algn="bl" rotWithShape="0" blurRad="76200" dist="25400" dir="5400000">
              <a:srgbClr val="AFD4D0">
                <a:alpha val="35000"/>
              </a:srgbClr>
            </a:outerShdw>
          </a:effectLst>
        </p:spPr>
      </p:sp>
      <p:sp>
        <p:nvSpPr>
          <p:cNvPr id="6" name="Text 4"/>
          <p:cNvSpPr txBox="1"/>
          <p:nvPr/>
        </p:nvSpPr>
        <p:spPr>
          <a:xfrm>
            <a:off x="548640" y="3822192"/>
            <a:ext cx="1325880" cy="640080"/>
          </a:xfrm>
          <a:prstGeom prst="rect">
            <a:avLst/>
          </a:prstGeom>
          <a:noFill/>
          <a:ln/>
        </p:spPr>
        <p:txBody>
          <a:bodyPr wrap="square" lIns="0" tIns="0" rIns="0" bIns="0" rtlCol="0" anchor="ctr"/>
          <a:lstStyle/>
          <a:p>
            <a:pPr algn="ctr" indent="0" marL="0">
              <a:buNone/>
            </a:pPr>
            <a:r>
              <a:rPr lang="en-US" sz="1900" b="1" dirty="0">
                <a:solidFill>
                  <a:srgbClr val="028090"/>
                </a:solidFill>
                <a:latin typeface="Cambria" pitchFamily="34" charset="0"/>
                <a:ea typeface="Cambria" pitchFamily="34" charset="-122"/>
                <a:cs typeface="Cambria" pitchFamily="34" charset="-120"/>
              </a:rPr>
              <a:t>96.9%</a:t>
            </a:r>
            <a:endParaRPr lang="en-US" sz="1900" dirty="0"/>
          </a:p>
        </p:txBody>
      </p:sp>
      <p:sp>
        <p:nvSpPr>
          <p:cNvPr id="7" name="Text 5"/>
          <p:cNvSpPr txBox="1"/>
          <p:nvPr/>
        </p:nvSpPr>
        <p:spPr>
          <a:xfrm>
            <a:off x="621792" y="4526280"/>
            <a:ext cx="1179576" cy="822960"/>
          </a:xfrm>
          <a:prstGeom prst="rect">
            <a:avLst/>
          </a:prstGeom>
          <a:noFill/>
          <a:ln/>
        </p:spPr>
        <p:txBody>
          <a:bodyPr wrap="square" lIns="0" tIns="0" rIns="0" bIns="0" rtlCol="0" anchor="ctr"/>
          <a:lstStyle/>
          <a:p>
            <a:pPr algn="ctr" indent="0" marL="0">
              <a:lnSpc>
                <a:spcPct val="115000"/>
              </a:lnSpc>
              <a:buNone/>
            </a:pPr>
            <a:r>
              <a:rPr lang="en-US" sz="1000" dirty="0">
                <a:solidFill>
                  <a:srgbClr val="0E2A2F"/>
                </a:solidFill>
                <a:latin typeface="Calibri" pitchFamily="34" charset="0"/>
                <a:ea typeface="Calibri" pitchFamily="34" charset="-122"/>
                <a:cs typeface="Calibri" pitchFamily="34" charset="-120"/>
              </a:rPr>
              <a:t>mAP@0.5 with</a:t>
            </a:r>
            <a:endParaRPr lang="en-US" sz="1000" dirty="0"/>
          </a:p>
          <a:p>
            <a:pPr algn="ctr" indent="0" marL="0">
              <a:lnSpc>
                <a:spcPct val="115000"/>
              </a:lnSpc>
              <a:buNone/>
            </a:pPr>
            <a:r>
              <a:rPr lang="en-US" sz="1000" dirty="0">
                <a:solidFill>
                  <a:srgbClr val="0E2A2F"/>
                </a:solidFill>
                <a:latin typeface="Calibri" pitchFamily="34" charset="0"/>
                <a:ea typeface="Calibri" pitchFamily="34" charset="-122"/>
                <a:cs typeface="Calibri" pitchFamily="34" charset="-120"/>
              </a:rPr>
              <a:t>tiled YOLOv11n</a:t>
            </a:r>
            <a:endParaRPr lang="en-US" sz="1000" dirty="0"/>
          </a:p>
        </p:txBody>
      </p:sp>
      <p:sp>
        <p:nvSpPr>
          <p:cNvPr id="8" name="Shape 6"/>
          <p:cNvSpPr/>
          <p:nvPr/>
        </p:nvSpPr>
        <p:spPr>
          <a:xfrm>
            <a:off x="2039112" y="3566160"/>
            <a:ext cx="1325880" cy="1920240"/>
          </a:xfrm>
          <a:prstGeom prst="roundRect">
            <a:avLst>
              <a:gd name="adj" fmla="val 6897"/>
            </a:avLst>
          </a:prstGeom>
          <a:solidFill>
            <a:srgbClr val="E6F5F3"/>
          </a:solidFill>
          <a:ln/>
          <a:effectLst>
            <a:outerShdw sx="100000" sy="100000" kx="0" ky="0" algn="bl" rotWithShape="0" blurRad="76200" dist="25400" dir="5400000">
              <a:srgbClr val="AFD4D0">
                <a:alpha val="35000"/>
              </a:srgbClr>
            </a:outerShdw>
          </a:effectLst>
        </p:spPr>
      </p:sp>
      <p:sp>
        <p:nvSpPr>
          <p:cNvPr id="9" name="Text 7"/>
          <p:cNvSpPr txBox="1"/>
          <p:nvPr/>
        </p:nvSpPr>
        <p:spPr>
          <a:xfrm>
            <a:off x="2039112" y="3822192"/>
            <a:ext cx="1325880" cy="640080"/>
          </a:xfrm>
          <a:prstGeom prst="rect">
            <a:avLst/>
          </a:prstGeom>
          <a:noFill/>
          <a:ln/>
        </p:spPr>
        <p:txBody>
          <a:bodyPr wrap="square" lIns="0" tIns="0" rIns="0" bIns="0" rtlCol="0" anchor="ctr"/>
          <a:lstStyle/>
          <a:p>
            <a:pPr algn="ctr" indent="0" marL="0">
              <a:buNone/>
            </a:pPr>
            <a:r>
              <a:rPr lang="en-US" sz="1900" b="1" dirty="0">
                <a:solidFill>
                  <a:srgbClr val="045C6E"/>
                </a:solidFill>
                <a:latin typeface="Cambria" pitchFamily="34" charset="0"/>
                <a:ea typeface="Cambria" pitchFamily="34" charset="-122"/>
                <a:cs typeface="Cambria" pitchFamily="34" charset="-120"/>
              </a:rPr>
              <a:t>2.6M</a:t>
            </a:r>
            <a:endParaRPr lang="en-US" sz="1900" dirty="0"/>
          </a:p>
        </p:txBody>
      </p:sp>
      <p:sp>
        <p:nvSpPr>
          <p:cNvPr id="10" name="Text 8"/>
          <p:cNvSpPr txBox="1"/>
          <p:nvPr/>
        </p:nvSpPr>
        <p:spPr>
          <a:xfrm>
            <a:off x="2112264" y="4526280"/>
            <a:ext cx="1179576" cy="822960"/>
          </a:xfrm>
          <a:prstGeom prst="rect">
            <a:avLst/>
          </a:prstGeom>
          <a:noFill/>
          <a:ln/>
        </p:spPr>
        <p:txBody>
          <a:bodyPr wrap="square" lIns="0" tIns="0" rIns="0" bIns="0" rtlCol="0" anchor="ctr"/>
          <a:lstStyle/>
          <a:p>
            <a:pPr algn="ctr" indent="0" marL="0">
              <a:lnSpc>
                <a:spcPct val="115000"/>
              </a:lnSpc>
              <a:buNone/>
            </a:pPr>
            <a:r>
              <a:rPr lang="en-US" sz="1000" dirty="0">
                <a:solidFill>
                  <a:srgbClr val="0E2A2F"/>
                </a:solidFill>
                <a:latin typeface="Calibri" pitchFamily="34" charset="0"/>
                <a:ea typeface="Calibri" pitchFamily="34" charset="-122"/>
                <a:cs typeface="Calibri" pitchFamily="34" charset="-120"/>
              </a:rPr>
              <a:t>Parameters —</a:t>
            </a:r>
            <a:endParaRPr lang="en-US" sz="1000" dirty="0"/>
          </a:p>
          <a:p>
            <a:pPr algn="ctr" indent="0" marL="0">
              <a:lnSpc>
                <a:spcPct val="115000"/>
              </a:lnSpc>
              <a:buNone/>
            </a:pPr>
            <a:r>
              <a:rPr lang="en-US" sz="1000" dirty="0">
                <a:solidFill>
                  <a:srgbClr val="0E2A2F"/>
                </a:solidFill>
                <a:latin typeface="Calibri" pitchFamily="34" charset="0"/>
                <a:ea typeface="Calibri" pitchFamily="34" charset="-122"/>
                <a:cs typeface="Calibri" pitchFamily="34" charset="-120"/>
              </a:rPr>
              <a:t>nano-scale model</a:t>
            </a:r>
            <a:endParaRPr lang="en-US" sz="1000" dirty="0"/>
          </a:p>
        </p:txBody>
      </p:sp>
      <p:sp>
        <p:nvSpPr>
          <p:cNvPr id="11" name="Shape 9"/>
          <p:cNvSpPr/>
          <p:nvPr/>
        </p:nvSpPr>
        <p:spPr>
          <a:xfrm>
            <a:off x="3529584" y="3566160"/>
            <a:ext cx="1325880" cy="1920240"/>
          </a:xfrm>
          <a:prstGeom prst="roundRect">
            <a:avLst>
              <a:gd name="adj" fmla="val 6897"/>
            </a:avLst>
          </a:prstGeom>
          <a:solidFill>
            <a:srgbClr val="E6F5F3"/>
          </a:solidFill>
          <a:ln/>
          <a:effectLst>
            <a:outerShdw sx="100000" sy="100000" kx="0" ky="0" algn="bl" rotWithShape="0" blurRad="76200" dist="25400" dir="5400000">
              <a:srgbClr val="AFD4D0">
                <a:alpha val="35000"/>
              </a:srgbClr>
            </a:outerShdw>
          </a:effectLst>
        </p:spPr>
      </p:sp>
      <p:sp>
        <p:nvSpPr>
          <p:cNvPr id="12" name="Text 10"/>
          <p:cNvSpPr txBox="1"/>
          <p:nvPr/>
        </p:nvSpPr>
        <p:spPr>
          <a:xfrm>
            <a:off x="3529584" y="3822192"/>
            <a:ext cx="1325880" cy="640080"/>
          </a:xfrm>
          <a:prstGeom prst="rect">
            <a:avLst/>
          </a:prstGeom>
          <a:noFill/>
          <a:ln/>
        </p:spPr>
        <p:txBody>
          <a:bodyPr wrap="square" lIns="0" tIns="0" rIns="0" bIns="0" rtlCol="0" anchor="ctr"/>
          <a:lstStyle/>
          <a:p>
            <a:pPr algn="ctr" indent="0" marL="0">
              <a:buNone/>
            </a:pPr>
            <a:r>
              <a:rPr lang="en-US" sz="1900" b="1" dirty="0">
                <a:solidFill>
                  <a:srgbClr val="F4A100"/>
                </a:solidFill>
                <a:latin typeface="Cambria" pitchFamily="34" charset="0"/>
                <a:ea typeface="Cambria" pitchFamily="34" charset="-122"/>
                <a:cs typeface="Cambria" pitchFamily="34" charset="-120"/>
              </a:rPr>
              <a:t>&lt;320 ms</a:t>
            </a:r>
            <a:endParaRPr lang="en-US" sz="1900" dirty="0"/>
          </a:p>
        </p:txBody>
      </p:sp>
      <p:sp>
        <p:nvSpPr>
          <p:cNvPr id="13" name="Text 11"/>
          <p:cNvSpPr txBox="1"/>
          <p:nvPr/>
        </p:nvSpPr>
        <p:spPr>
          <a:xfrm>
            <a:off x="3602736" y="4526280"/>
            <a:ext cx="1179576" cy="822960"/>
          </a:xfrm>
          <a:prstGeom prst="rect">
            <a:avLst/>
          </a:prstGeom>
          <a:noFill/>
          <a:ln/>
        </p:spPr>
        <p:txBody>
          <a:bodyPr wrap="square" lIns="0" tIns="0" rIns="0" bIns="0" rtlCol="0" anchor="ctr"/>
          <a:lstStyle/>
          <a:p>
            <a:pPr algn="ctr" indent="0" marL="0">
              <a:lnSpc>
                <a:spcPct val="115000"/>
              </a:lnSpc>
              <a:buNone/>
            </a:pPr>
            <a:r>
              <a:rPr lang="en-US" sz="1000" dirty="0">
                <a:solidFill>
                  <a:srgbClr val="0E2A2F"/>
                </a:solidFill>
                <a:latin typeface="Calibri" pitchFamily="34" charset="0"/>
                <a:ea typeface="Calibri" pitchFamily="34" charset="-122"/>
                <a:cs typeface="Calibri" pitchFamily="34" charset="-120"/>
              </a:rPr>
              <a:t>Whole-plate</a:t>
            </a:r>
            <a:endParaRPr lang="en-US" sz="1000" dirty="0"/>
          </a:p>
          <a:p>
            <a:pPr algn="ctr" indent="0" marL="0">
              <a:lnSpc>
                <a:spcPct val="115000"/>
              </a:lnSpc>
              <a:buNone/>
            </a:pPr>
            <a:r>
              <a:rPr lang="en-US" sz="1000" dirty="0">
                <a:solidFill>
                  <a:srgbClr val="0E2A2F"/>
                </a:solidFill>
                <a:latin typeface="Calibri" pitchFamily="34" charset="0"/>
                <a:ea typeface="Calibri" pitchFamily="34" charset="-122"/>
                <a:cs typeface="Calibri" pitchFamily="34" charset="-120"/>
              </a:rPr>
              <a:t>inference (RTX 3050)</a:t>
            </a:r>
            <a:endParaRPr lang="en-US" sz="1000" dirty="0"/>
          </a:p>
        </p:txBody>
      </p:sp>
      <p:sp>
        <p:nvSpPr>
          <p:cNvPr id="14" name="Shape 12"/>
          <p:cNvSpPr/>
          <p:nvPr/>
        </p:nvSpPr>
        <p:spPr>
          <a:xfrm>
            <a:off x="5020056" y="3566160"/>
            <a:ext cx="1325880" cy="1920240"/>
          </a:xfrm>
          <a:prstGeom prst="roundRect">
            <a:avLst>
              <a:gd name="adj" fmla="val 6897"/>
            </a:avLst>
          </a:prstGeom>
          <a:solidFill>
            <a:srgbClr val="E6F5F3"/>
          </a:solidFill>
          <a:ln/>
          <a:effectLst>
            <a:outerShdw sx="100000" sy="100000" kx="0" ky="0" algn="bl" rotWithShape="0" blurRad="76200" dist="25400" dir="5400000">
              <a:srgbClr val="AFD4D0">
                <a:alpha val="35000"/>
              </a:srgbClr>
            </a:outerShdw>
          </a:effectLst>
        </p:spPr>
      </p:sp>
      <p:sp>
        <p:nvSpPr>
          <p:cNvPr id="15" name="Text 13"/>
          <p:cNvSpPr txBox="1"/>
          <p:nvPr/>
        </p:nvSpPr>
        <p:spPr>
          <a:xfrm>
            <a:off x="5020056" y="3822192"/>
            <a:ext cx="1325880" cy="640080"/>
          </a:xfrm>
          <a:prstGeom prst="rect">
            <a:avLst/>
          </a:prstGeom>
          <a:noFill/>
          <a:ln/>
        </p:spPr>
        <p:txBody>
          <a:bodyPr wrap="square" lIns="0" tIns="0" rIns="0" bIns="0" rtlCol="0" anchor="ctr"/>
          <a:lstStyle/>
          <a:p>
            <a:pPr algn="ctr" indent="0" marL="0">
              <a:buNone/>
            </a:pPr>
            <a:r>
              <a:rPr lang="en-US" sz="1900" b="1" dirty="0">
                <a:solidFill>
                  <a:srgbClr val="028090"/>
                </a:solidFill>
                <a:latin typeface="Cambria" pitchFamily="34" charset="0"/>
                <a:ea typeface="Cambria" pitchFamily="34" charset="-122"/>
                <a:cs typeface="Cambria" pitchFamily="34" charset="-120"/>
              </a:rPr>
              <a:t>23/24</a:t>
            </a:r>
            <a:endParaRPr lang="en-US" sz="1900" dirty="0"/>
          </a:p>
        </p:txBody>
      </p:sp>
      <p:sp>
        <p:nvSpPr>
          <p:cNvPr id="16" name="Text 14"/>
          <p:cNvSpPr txBox="1"/>
          <p:nvPr/>
        </p:nvSpPr>
        <p:spPr>
          <a:xfrm>
            <a:off x="5093208" y="4526280"/>
            <a:ext cx="1179576" cy="822960"/>
          </a:xfrm>
          <a:prstGeom prst="rect">
            <a:avLst/>
          </a:prstGeom>
          <a:noFill/>
          <a:ln/>
        </p:spPr>
        <p:txBody>
          <a:bodyPr wrap="square" lIns="0" tIns="0" rIns="0" bIns="0" rtlCol="0" anchor="ctr"/>
          <a:lstStyle/>
          <a:p>
            <a:pPr algn="ctr" indent="0" marL="0">
              <a:lnSpc>
                <a:spcPct val="115000"/>
              </a:lnSpc>
              <a:buNone/>
            </a:pPr>
            <a:r>
              <a:rPr lang="en-US" sz="1000" dirty="0">
                <a:solidFill>
                  <a:srgbClr val="0E2A2F"/>
                </a:solidFill>
                <a:latin typeface="Calibri" pitchFamily="34" charset="0"/>
                <a:ea typeface="Calibri" pitchFamily="34" charset="-122"/>
                <a:cs typeface="Calibri" pitchFamily="34" charset="-120"/>
              </a:rPr>
              <a:t>Classes with</a:t>
            </a:r>
            <a:endParaRPr lang="en-US" sz="1000" dirty="0"/>
          </a:p>
          <a:p>
            <a:pPr algn="ctr" indent="0" marL="0">
              <a:lnSpc>
                <a:spcPct val="115000"/>
              </a:lnSpc>
              <a:buNone/>
            </a:pPr>
            <a:r>
              <a:rPr lang="en-US" sz="1000" dirty="0">
                <a:solidFill>
                  <a:srgbClr val="0E2A2F"/>
                </a:solidFill>
                <a:latin typeface="Calibri" pitchFamily="34" charset="0"/>
                <a:ea typeface="Calibri" pitchFamily="34" charset="-122"/>
                <a:cs typeface="Calibri" pitchFamily="34" charset="-120"/>
              </a:rPr>
              <a:t>≥95% accuracy</a:t>
            </a:r>
            <a:endParaRPr lang="en-US" sz="1000" dirty="0"/>
          </a:p>
        </p:txBody>
      </p:sp>
      <p:sp>
        <p:nvSpPr>
          <p:cNvPr id="17" name="Shape 15"/>
          <p:cNvSpPr/>
          <p:nvPr/>
        </p:nvSpPr>
        <p:spPr>
          <a:xfrm>
            <a:off x="7223760" y="1600200"/>
            <a:ext cx="4416552" cy="3886200"/>
          </a:xfrm>
          <a:prstGeom prst="roundRect">
            <a:avLst>
              <a:gd name="adj" fmla="val 2824"/>
            </a:avLst>
          </a:prstGeom>
          <a:solidFill>
            <a:srgbClr val="045C6E"/>
          </a:solidFill>
          <a:ln/>
        </p:spPr>
      </p:sp>
      <p:sp>
        <p:nvSpPr>
          <p:cNvPr id="18" name="Text 16"/>
          <p:cNvSpPr txBox="1"/>
          <p:nvPr/>
        </p:nvSpPr>
        <p:spPr>
          <a:xfrm>
            <a:off x="7543800" y="1828800"/>
            <a:ext cx="3657600" cy="320040"/>
          </a:xfrm>
          <a:prstGeom prst="rect">
            <a:avLst/>
          </a:prstGeom>
          <a:noFill/>
          <a:ln/>
        </p:spPr>
        <p:txBody>
          <a:bodyPr wrap="square" lIns="0" tIns="0" rIns="0" bIns="0" rtlCol="0" anchor="ctr"/>
          <a:lstStyle/>
          <a:p>
            <a:pPr indent="0" marL="0">
              <a:buNone/>
            </a:pPr>
            <a:r>
              <a:rPr lang="en-US" sz="1200" b="1" spc="200" kern="0" dirty="0">
                <a:solidFill>
                  <a:srgbClr val="F4A100"/>
                </a:solidFill>
                <a:latin typeface="Calibri" pitchFamily="34" charset="0"/>
                <a:ea typeface="Calibri" pitchFamily="34" charset="-122"/>
                <a:cs typeface="Calibri" pitchFamily="34" charset="-120"/>
              </a:rPr>
              <a:t>KEYWORDS</a:t>
            </a:r>
            <a:endParaRPr lang="en-US" sz="1200" dirty="0"/>
          </a:p>
        </p:txBody>
      </p:sp>
      <p:sp>
        <p:nvSpPr>
          <p:cNvPr id="19" name="Shape 17"/>
          <p:cNvSpPr/>
          <p:nvPr/>
        </p:nvSpPr>
        <p:spPr>
          <a:xfrm>
            <a:off x="7543800" y="2331720"/>
            <a:ext cx="91440" cy="91440"/>
          </a:xfrm>
          <a:prstGeom prst="ellipse">
            <a:avLst/>
          </a:prstGeom>
          <a:solidFill>
            <a:srgbClr val="02C39A"/>
          </a:solidFill>
          <a:ln/>
        </p:spPr>
      </p:sp>
      <p:sp>
        <p:nvSpPr>
          <p:cNvPr id="20" name="Text 18"/>
          <p:cNvSpPr txBox="1"/>
          <p:nvPr/>
        </p:nvSpPr>
        <p:spPr>
          <a:xfrm>
            <a:off x="7772400" y="2212848"/>
            <a:ext cx="3703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Bacterial colony counting</a:t>
            </a:r>
            <a:endParaRPr lang="en-US" sz="1300" dirty="0"/>
          </a:p>
        </p:txBody>
      </p:sp>
      <p:sp>
        <p:nvSpPr>
          <p:cNvPr id="21" name="Shape 19"/>
          <p:cNvSpPr/>
          <p:nvPr/>
        </p:nvSpPr>
        <p:spPr>
          <a:xfrm>
            <a:off x="7543800" y="2834640"/>
            <a:ext cx="91440" cy="91440"/>
          </a:xfrm>
          <a:prstGeom prst="ellipse">
            <a:avLst/>
          </a:prstGeom>
          <a:solidFill>
            <a:srgbClr val="02C39A"/>
          </a:solidFill>
          <a:ln/>
        </p:spPr>
      </p:sp>
      <p:sp>
        <p:nvSpPr>
          <p:cNvPr id="22" name="Text 20"/>
          <p:cNvSpPr txBox="1"/>
          <p:nvPr/>
        </p:nvSpPr>
        <p:spPr>
          <a:xfrm>
            <a:off x="7772400" y="2715768"/>
            <a:ext cx="3703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Tiled inference</a:t>
            </a:r>
            <a:endParaRPr lang="en-US" sz="1300" dirty="0"/>
          </a:p>
        </p:txBody>
      </p:sp>
      <p:sp>
        <p:nvSpPr>
          <p:cNvPr id="23" name="Shape 21"/>
          <p:cNvSpPr/>
          <p:nvPr/>
        </p:nvSpPr>
        <p:spPr>
          <a:xfrm>
            <a:off x="7543800" y="3337560"/>
            <a:ext cx="91440" cy="91440"/>
          </a:xfrm>
          <a:prstGeom prst="ellipse">
            <a:avLst/>
          </a:prstGeom>
          <a:solidFill>
            <a:srgbClr val="02C39A"/>
          </a:solidFill>
          <a:ln/>
        </p:spPr>
      </p:sp>
      <p:sp>
        <p:nvSpPr>
          <p:cNvPr id="24" name="Text 22"/>
          <p:cNvSpPr txBox="1"/>
          <p:nvPr/>
        </p:nvSpPr>
        <p:spPr>
          <a:xfrm>
            <a:off x="7772400" y="3218688"/>
            <a:ext cx="3703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Small object detection</a:t>
            </a:r>
            <a:endParaRPr lang="en-US" sz="1300" dirty="0"/>
          </a:p>
        </p:txBody>
      </p:sp>
      <p:sp>
        <p:nvSpPr>
          <p:cNvPr id="25" name="Shape 23"/>
          <p:cNvSpPr/>
          <p:nvPr/>
        </p:nvSpPr>
        <p:spPr>
          <a:xfrm>
            <a:off x="7543800" y="3840480"/>
            <a:ext cx="91440" cy="91440"/>
          </a:xfrm>
          <a:prstGeom prst="ellipse">
            <a:avLst/>
          </a:prstGeom>
          <a:solidFill>
            <a:srgbClr val="02C39A"/>
          </a:solidFill>
          <a:ln/>
        </p:spPr>
      </p:sp>
      <p:sp>
        <p:nvSpPr>
          <p:cNvPr id="26" name="Text 24"/>
          <p:cNvSpPr txBox="1"/>
          <p:nvPr/>
        </p:nvSpPr>
        <p:spPr>
          <a:xfrm>
            <a:off x="7772400" y="3721608"/>
            <a:ext cx="3703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High-resolution imaging</a:t>
            </a:r>
            <a:endParaRPr lang="en-US" sz="1300" dirty="0"/>
          </a:p>
        </p:txBody>
      </p:sp>
      <p:sp>
        <p:nvSpPr>
          <p:cNvPr id="27" name="Shape 25"/>
          <p:cNvSpPr/>
          <p:nvPr/>
        </p:nvSpPr>
        <p:spPr>
          <a:xfrm>
            <a:off x="7543800" y="4343400"/>
            <a:ext cx="91440" cy="91440"/>
          </a:xfrm>
          <a:prstGeom prst="ellipse">
            <a:avLst/>
          </a:prstGeom>
          <a:solidFill>
            <a:srgbClr val="02C39A"/>
          </a:solidFill>
          <a:ln/>
        </p:spPr>
      </p:sp>
      <p:sp>
        <p:nvSpPr>
          <p:cNvPr id="28" name="Text 26"/>
          <p:cNvSpPr txBox="1"/>
          <p:nvPr/>
        </p:nvSpPr>
        <p:spPr>
          <a:xfrm>
            <a:off x="7772400" y="4224528"/>
            <a:ext cx="3703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SAHI</a:t>
            </a:r>
            <a:endParaRPr lang="en-US" sz="1300" dirty="0"/>
          </a:p>
        </p:txBody>
      </p:sp>
      <p:sp>
        <p:nvSpPr>
          <p:cNvPr id="29" name="Shape 27"/>
          <p:cNvSpPr/>
          <p:nvPr/>
        </p:nvSpPr>
        <p:spPr>
          <a:xfrm>
            <a:off x="7543800" y="4846320"/>
            <a:ext cx="91440" cy="91440"/>
          </a:xfrm>
          <a:prstGeom prst="ellipse">
            <a:avLst/>
          </a:prstGeom>
          <a:solidFill>
            <a:srgbClr val="02C39A"/>
          </a:solidFill>
          <a:ln/>
        </p:spPr>
      </p:sp>
      <p:sp>
        <p:nvSpPr>
          <p:cNvPr id="30" name="Text 28"/>
          <p:cNvSpPr txBox="1"/>
          <p:nvPr/>
        </p:nvSpPr>
        <p:spPr>
          <a:xfrm>
            <a:off x="7772400" y="4727448"/>
            <a:ext cx="3703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Lightweight YOLO models</a:t>
            </a:r>
            <a:endParaRPr lang="en-US" sz="1300" dirty="0"/>
          </a:p>
        </p:txBody>
      </p:sp>
      <p:sp>
        <p:nvSpPr>
          <p:cNvPr id="31" name="Text 29"/>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5E7D82"/>
                </a:solidFill>
                <a:latin typeface="Calibri" pitchFamily="34" charset="0"/>
                <a:ea typeface="Calibri" pitchFamily="34" charset="-122"/>
                <a:cs typeface="Calibri" pitchFamily="34" charset="-120"/>
              </a:rPr>
              <a:t>Overcoming Resolution Constraints in Automated Colony Counting via SAHI</a:t>
            </a:r>
            <a:endParaRPr lang="en-US" sz="900" dirty="0"/>
          </a:p>
        </p:txBody>
      </p:sp>
      <p:sp>
        <p:nvSpPr>
          <p:cNvPr id="32" name="Text 30"/>
          <p:cNvSpPr txBox="1"/>
          <p:nvPr/>
        </p:nvSpPr>
        <p:spPr>
          <a:xfrm>
            <a:off x="11274552" y="6473952"/>
            <a:ext cx="548640" cy="274320"/>
          </a:xfrm>
          <a:prstGeom prst="rect">
            <a:avLst/>
          </a:prstGeom>
          <a:noFill/>
          <a:ln/>
        </p:spPr>
        <p:txBody>
          <a:bodyPr wrap="square" lIns="0" tIns="0" rIns="0" bIns="0" rtlCol="0" anchor="ctr"/>
          <a:lstStyle/>
          <a:p>
            <a:pPr algn="r" indent="0" marL="0">
              <a:buNone/>
            </a:pPr>
            <a:r>
              <a:rPr lang="en-US" sz="900" dirty="0">
                <a:solidFill>
                  <a:srgbClr val="5E7D8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86868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1. INTRODUCTION</a:t>
            </a:r>
            <a:endParaRPr lang="en-US" sz="1300" dirty="0"/>
          </a:p>
        </p:txBody>
      </p:sp>
      <p:sp>
        <p:nvSpPr>
          <p:cNvPr id="3" name="Text 1"/>
          <p:cNvSpPr txBox="1"/>
          <p:nvPr/>
        </p:nvSpPr>
        <p:spPr>
          <a:xfrm>
            <a:off x="548640" y="685800"/>
            <a:ext cx="11091672" cy="822960"/>
          </a:xfrm>
          <a:prstGeom prst="rect">
            <a:avLst/>
          </a:prstGeom>
          <a:noFill/>
          <a:ln/>
        </p:spPr>
        <p:txBody>
          <a:bodyPr wrap="square" lIns="0" tIns="0" rIns="0" bIns="0" rtlCol="0" anchor="ctr"/>
          <a:lstStyle/>
          <a:p>
            <a:pPr indent="0" marL="0">
              <a:buNone/>
            </a:pPr>
            <a:r>
              <a:rPr lang="en-US" sz="3200" b="1" dirty="0">
                <a:solidFill>
                  <a:srgbClr val="045C6E"/>
                </a:solidFill>
                <a:latin typeface="Cambria" pitchFamily="34" charset="0"/>
                <a:ea typeface="Cambria" pitchFamily="34" charset="-122"/>
                <a:cs typeface="Cambria" pitchFamily="34" charset="-120"/>
              </a:rPr>
              <a:t>Where Resolution Gets Lost</a:t>
            </a:r>
            <a:endParaRPr lang="en-US" sz="3200" dirty="0"/>
          </a:p>
        </p:txBody>
      </p:sp>
      <p:sp>
        <p:nvSpPr>
          <p:cNvPr id="4" name="Text 2"/>
          <p:cNvSpPr txBox="1"/>
          <p:nvPr/>
        </p:nvSpPr>
        <p:spPr>
          <a:xfrm>
            <a:off x="548640" y="1554480"/>
            <a:ext cx="11064240" cy="868680"/>
          </a:xfrm>
          <a:prstGeom prst="rect">
            <a:avLst/>
          </a:prstGeom>
          <a:noFill/>
          <a:ln/>
        </p:spPr>
        <p:txBody>
          <a:bodyPr wrap="square" lIns="0" tIns="0" rIns="0" bIns="0" rtlCol="0" anchor="ctr"/>
          <a:lstStyle/>
          <a:p>
            <a:pPr indent="0" marL="0">
              <a:lnSpc>
                <a:spcPct val="122000"/>
              </a:lnSpc>
              <a:buNone/>
            </a:pPr>
            <a:r>
              <a:rPr lang="en-US" sz="1500" dirty="0">
                <a:solidFill>
                  <a:srgbClr val="0E2A2F"/>
                </a:solidFill>
                <a:latin typeface="Calibri" pitchFamily="34" charset="0"/>
                <a:ea typeface="Calibri" pitchFamily="34" charset="-122"/>
                <a:cs typeface="Calibri" pitchFamily="34" charset="-120"/>
              </a:rPr>
              <a:t>Clinical microbiology labs face growing sample volumes and need rapid, accurate colony detection. But standard detectors resize full Petri dish photographs down to a fixed input size — and that resizing quietly destroys the fine detail small, densely packed colonies depend on.</a:t>
            </a:r>
            <a:endParaRPr lang="en-US" sz="1500" dirty="0"/>
          </a:p>
        </p:txBody>
      </p:sp>
      <p:sp>
        <p:nvSpPr>
          <p:cNvPr id="5" name="Shape 3"/>
          <p:cNvSpPr/>
          <p:nvPr/>
        </p:nvSpPr>
        <p:spPr>
          <a:xfrm>
            <a:off x="548640" y="2743200"/>
            <a:ext cx="3566160" cy="2971800"/>
          </a:xfrm>
          <a:prstGeom prst="roundRect">
            <a:avLst>
              <a:gd name="adj" fmla="val 3077"/>
            </a:avLst>
          </a:prstGeom>
          <a:solidFill>
            <a:srgbClr val="E6F5F3"/>
          </a:solidFill>
          <a:ln/>
        </p:spPr>
      </p:sp>
      <p:sp>
        <p:nvSpPr>
          <p:cNvPr id="6" name="Shape 4"/>
          <p:cNvSpPr/>
          <p:nvPr/>
        </p:nvSpPr>
        <p:spPr>
          <a:xfrm>
            <a:off x="822960" y="3063240"/>
            <a:ext cx="685800" cy="685800"/>
          </a:xfrm>
          <a:prstGeom prst="ellipse">
            <a:avLst/>
          </a:prstGeom>
          <a:solidFill>
            <a:srgbClr val="028090"/>
          </a:solidFill>
          <a:ln/>
        </p:spPr>
      </p:sp>
      <p:sp>
        <p:nvSpPr>
          <p:cNvPr id="7" name="Text 5"/>
          <p:cNvSpPr txBox="1"/>
          <p:nvPr/>
        </p:nvSpPr>
        <p:spPr>
          <a:xfrm>
            <a:off x="822960" y="3044952"/>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8" name="Text 6"/>
          <p:cNvSpPr txBox="1"/>
          <p:nvPr/>
        </p:nvSpPr>
        <p:spPr>
          <a:xfrm>
            <a:off x="822960" y="3977640"/>
            <a:ext cx="3017520" cy="548640"/>
          </a:xfrm>
          <a:prstGeom prst="rect">
            <a:avLst/>
          </a:prstGeom>
          <a:noFill/>
          <a:ln/>
        </p:spPr>
        <p:txBody>
          <a:bodyPr wrap="square" lIns="0" tIns="0" rIns="0" bIns="0" rtlCol="0" anchor="ctr"/>
          <a:lstStyle/>
          <a:p>
            <a:pPr indent="0" marL="0">
              <a:buNone/>
            </a:pPr>
            <a:r>
              <a:rPr lang="en-US" sz="1550" b="1" dirty="0">
                <a:solidFill>
                  <a:srgbClr val="045C6E"/>
                </a:solidFill>
                <a:latin typeface="Calibri" pitchFamily="34" charset="0"/>
                <a:ea typeface="Calibri" pitchFamily="34" charset="-122"/>
                <a:cs typeface="Calibri" pitchFamily="34" charset="-120"/>
              </a:rPr>
              <a:t>Downsampling destroys detail</a:t>
            </a:r>
            <a:endParaRPr lang="en-US" sz="1550" dirty="0"/>
          </a:p>
        </p:txBody>
      </p:sp>
      <p:sp>
        <p:nvSpPr>
          <p:cNvPr id="9" name="Text 7"/>
          <p:cNvSpPr txBox="1"/>
          <p:nvPr/>
        </p:nvSpPr>
        <p:spPr>
          <a:xfrm>
            <a:off x="822960" y="4526280"/>
            <a:ext cx="3017520" cy="1097280"/>
          </a:xfrm>
          <a:prstGeom prst="rect">
            <a:avLst/>
          </a:prstGeom>
          <a:noFill/>
          <a:ln/>
        </p:spPr>
        <p:txBody>
          <a:bodyPr wrap="square" lIns="0" tIns="0" rIns="0" bIns="0" rtlCol="0" anchor="ctr"/>
          <a:lstStyle/>
          <a:p>
            <a:pPr indent="0" marL="0">
              <a:lnSpc>
                <a:spcPct val="125000"/>
              </a:lnSpc>
              <a:buNone/>
            </a:pPr>
            <a:r>
              <a:rPr lang="en-US" sz="1250" dirty="0">
                <a:solidFill>
                  <a:srgbClr val="0E2A2F"/>
                </a:solidFill>
                <a:latin typeface="Calibri" pitchFamily="34" charset="0"/>
                <a:ea typeface="Calibri" pitchFamily="34" charset="-122"/>
                <a:cs typeface="Calibri" pitchFamily="34" charset="-120"/>
              </a:rPr>
              <a:t>Resizing a high-resolution plate to 640×640 pixels removes the fine spatial cues that separate tiny, tightly clustered colonies.</a:t>
            </a:r>
            <a:endParaRPr lang="en-US" sz="1250" dirty="0"/>
          </a:p>
        </p:txBody>
      </p:sp>
      <p:sp>
        <p:nvSpPr>
          <p:cNvPr id="10" name="Shape 8"/>
          <p:cNvSpPr/>
          <p:nvPr/>
        </p:nvSpPr>
        <p:spPr>
          <a:xfrm>
            <a:off x="4434840" y="2743200"/>
            <a:ext cx="3566160" cy="2971800"/>
          </a:xfrm>
          <a:prstGeom prst="roundRect">
            <a:avLst>
              <a:gd name="adj" fmla="val 3077"/>
            </a:avLst>
          </a:prstGeom>
          <a:solidFill>
            <a:srgbClr val="E6F5F3"/>
          </a:solidFill>
          <a:ln/>
        </p:spPr>
      </p:sp>
      <p:sp>
        <p:nvSpPr>
          <p:cNvPr id="11" name="Shape 9"/>
          <p:cNvSpPr/>
          <p:nvPr/>
        </p:nvSpPr>
        <p:spPr>
          <a:xfrm>
            <a:off x="4709160" y="3063240"/>
            <a:ext cx="685800" cy="685800"/>
          </a:xfrm>
          <a:prstGeom prst="ellipse">
            <a:avLst/>
          </a:prstGeom>
          <a:solidFill>
            <a:srgbClr val="028090"/>
          </a:solidFill>
          <a:ln/>
        </p:spPr>
      </p:sp>
      <p:sp>
        <p:nvSpPr>
          <p:cNvPr id="12" name="Text 10"/>
          <p:cNvSpPr txBox="1"/>
          <p:nvPr/>
        </p:nvSpPr>
        <p:spPr>
          <a:xfrm>
            <a:off x="4709160" y="3044952"/>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13" name="Text 11"/>
          <p:cNvSpPr txBox="1"/>
          <p:nvPr/>
        </p:nvSpPr>
        <p:spPr>
          <a:xfrm>
            <a:off x="4709160" y="3977640"/>
            <a:ext cx="3017520" cy="548640"/>
          </a:xfrm>
          <a:prstGeom prst="rect">
            <a:avLst/>
          </a:prstGeom>
          <a:noFill/>
          <a:ln/>
        </p:spPr>
        <p:txBody>
          <a:bodyPr wrap="square" lIns="0" tIns="0" rIns="0" bIns="0" rtlCol="0" anchor="ctr"/>
          <a:lstStyle/>
          <a:p>
            <a:pPr indent="0" marL="0">
              <a:buNone/>
            </a:pPr>
            <a:r>
              <a:rPr lang="en-US" sz="1550" b="1" dirty="0">
                <a:solidFill>
                  <a:srgbClr val="045C6E"/>
                </a:solidFill>
                <a:latin typeface="Calibri" pitchFamily="34" charset="0"/>
                <a:ea typeface="Calibri" pitchFamily="34" charset="-122"/>
                <a:cs typeface="Calibri" pitchFamily="34" charset="-120"/>
              </a:rPr>
              <a:t>Dense, real-world plates</a:t>
            </a:r>
            <a:endParaRPr lang="en-US" sz="1550" dirty="0"/>
          </a:p>
        </p:txBody>
      </p:sp>
      <p:sp>
        <p:nvSpPr>
          <p:cNvPr id="14" name="Text 12"/>
          <p:cNvSpPr txBox="1"/>
          <p:nvPr/>
        </p:nvSpPr>
        <p:spPr>
          <a:xfrm>
            <a:off x="4709160" y="4526280"/>
            <a:ext cx="3017520" cy="1097280"/>
          </a:xfrm>
          <a:prstGeom prst="rect">
            <a:avLst/>
          </a:prstGeom>
          <a:noFill/>
          <a:ln/>
        </p:spPr>
        <p:txBody>
          <a:bodyPr wrap="square" lIns="0" tIns="0" rIns="0" bIns="0" rtlCol="0" anchor="ctr"/>
          <a:lstStyle/>
          <a:p>
            <a:pPr indent="0" marL="0">
              <a:lnSpc>
                <a:spcPct val="125000"/>
              </a:lnSpc>
              <a:buNone/>
            </a:pPr>
            <a:r>
              <a:rPr lang="en-US" sz="1250" dirty="0">
                <a:solidFill>
                  <a:srgbClr val="0E2A2F"/>
                </a:solidFill>
                <a:latin typeface="Calibri" pitchFamily="34" charset="0"/>
                <a:ea typeface="Calibri" pitchFamily="34" charset="-122"/>
                <a:cs typeface="Calibri" pitchFamily="34" charset="-120"/>
              </a:rPr>
              <a:t>Colony density ranges from under 10 to over 1,100 per plate — with some species growing in especially crowded patterns.</a:t>
            </a:r>
            <a:endParaRPr lang="en-US" sz="1250" dirty="0"/>
          </a:p>
        </p:txBody>
      </p:sp>
      <p:sp>
        <p:nvSpPr>
          <p:cNvPr id="15" name="Shape 13"/>
          <p:cNvSpPr/>
          <p:nvPr/>
        </p:nvSpPr>
        <p:spPr>
          <a:xfrm>
            <a:off x="8321040" y="2743200"/>
            <a:ext cx="3566160" cy="2971800"/>
          </a:xfrm>
          <a:prstGeom prst="roundRect">
            <a:avLst>
              <a:gd name="adj" fmla="val 3077"/>
            </a:avLst>
          </a:prstGeom>
          <a:solidFill>
            <a:srgbClr val="E6F5F3"/>
          </a:solidFill>
          <a:ln/>
        </p:spPr>
      </p:sp>
      <p:sp>
        <p:nvSpPr>
          <p:cNvPr id="16" name="Shape 14"/>
          <p:cNvSpPr/>
          <p:nvPr/>
        </p:nvSpPr>
        <p:spPr>
          <a:xfrm>
            <a:off x="8595360" y="3063240"/>
            <a:ext cx="685800" cy="685800"/>
          </a:xfrm>
          <a:prstGeom prst="ellipse">
            <a:avLst/>
          </a:prstGeom>
          <a:solidFill>
            <a:srgbClr val="028090"/>
          </a:solidFill>
          <a:ln/>
        </p:spPr>
      </p:sp>
      <p:sp>
        <p:nvSpPr>
          <p:cNvPr id="17" name="Text 15"/>
          <p:cNvSpPr txBox="1"/>
          <p:nvPr/>
        </p:nvSpPr>
        <p:spPr>
          <a:xfrm>
            <a:off x="8595360" y="3044952"/>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18" name="Text 16"/>
          <p:cNvSpPr txBox="1"/>
          <p:nvPr/>
        </p:nvSpPr>
        <p:spPr>
          <a:xfrm>
            <a:off x="8595360" y="3977640"/>
            <a:ext cx="3017520" cy="548640"/>
          </a:xfrm>
          <a:prstGeom prst="rect">
            <a:avLst/>
          </a:prstGeom>
          <a:noFill/>
          <a:ln/>
        </p:spPr>
        <p:txBody>
          <a:bodyPr wrap="square" lIns="0" tIns="0" rIns="0" bIns="0" rtlCol="0" anchor="ctr"/>
          <a:lstStyle/>
          <a:p>
            <a:pPr indent="0" marL="0">
              <a:buNone/>
            </a:pPr>
            <a:r>
              <a:rPr lang="en-US" sz="1550" b="1" dirty="0">
                <a:solidFill>
                  <a:srgbClr val="045C6E"/>
                </a:solidFill>
                <a:latin typeface="Calibri" pitchFamily="34" charset="0"/>
                <a:ea typeface="Calibri" pitchFamily="34" charset="-122"/>
                <a:cs typeface="Calibri" pitchFamily="34" charset="-120"/>
              </a:rPr>
              <a:t>Laboratory hardware limits</a:t>
            </a:r>
            <a:endParaRPr lang="en-US" sz="1550" dirty="0"/>
          </a:p>
        </p:txBody>
      </p:sp>
      <p:sp>
        <p:nvSpPr>
          <p:cNvPr id="19" name="Text 17"/>
          <p:cNvSpPr txBox="1"/>
          <p:nvPr/>
        </p:nvSpPr>
        <p:spPr>
          <a:xfrm>
            <a:off x="8595360" y="4526280"/>
            <a:ext cx="3017520" cy="1097280"/>
          </a:xfrm>
          <a:prstGeom prst="rect">
            <a:avLst/>
          </a:prstGeom>
          <a:noFill/>
          <a:ln/>
        </p:spPr>
        <p:txBody>
          <a:bodyPr wrap="square" lIns="0" tIns="0" rIns="0" bIns="0" rtlCol="0" anchor="ctr"/>
          <a:lstStyle/>
          <a:p>
            <a:pPr indent="0" marL="0">
              <a:lnSpc>
                <a:spcPct val="125000"/>
              </a:lnSpc>
              <a:buNone/>
            </a:pPr>
            <a:r>
              <a:rPr lang="en-US" sz="1250" dirty="0">
                <a:solidFill>
                  <a:srgbClr val="0E2A2F"/>
                </a:solidFill>
                <a:latin typeface="Calibri" pitchFamily="34" charset="0"/>
                <a:ea typeface="Calibri" pitchFamily="34" charset="-122"/>
                <a:cs typeface="Calibri" pitchFamily="34" charset="-120"/>
              </a:rPr>
              <a:t>Routine diagnostic labs need lightweight, nano-scale models that still run fast on consumer-grade GPUs.</a:t>
            </a:r>
            <a:endParaRPr lang="en-US" sz="1250" dirty="0"/>
          </a:p>
        </p:txBody>
      </p:sp>
      <p:sp>
        <p:nvSpPr>
          <p:cNvPr id="20" name="Text 18"/>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5E7D82"/>
                </a:solidFill>
                <a:latin typeface="Calibri" pitchFamily="34" charset="0"/>
                <a:ea typeface="Calibri" pitchFamily="34" charset="-122"/>
                <a:cs typeface="Calibri" pitchFamily="34" charset="-120"/>
              </a:rPr>
              <a:t>Overcoming Resolution Constraints in Automated Colony Counting via SAHI</a:t>
            </a:r>
            <a:endParaRPr lang="en-US" sz="900" dirty="0"/>
          </a:p>
        </p:txBody>
      </p:sp>
      <p:sp>
        <p:nvSpPr>
          <p:cNvPr id="21" name="Text 19"/>
          <p:cNvSpPr txBox="1"/>
          <p:nvPr/>
        </p:nvSpPr>
        <p:spPr>
          <a:xfrm>
            <a:off x="11274552" y="6473952"/>
            <a:ext cx="548640" cy="274320"/>
          </a:xfrm>
          <a:prstGeom prst="rect">
            <a:avLst/>
          </a:prstGeom>
          <a:noFill/>
          <a:ln/>
        </p:spPr>
        <p:txBody>
          <a:bodyPr wrap="square" lIns="0" tIns="0" rIns="0" bIns="0" rtlCol="0" anchor="ctr"/>
          <a:lstStyle/>
          <a:p>
            <a:pPr algn="r" indent="0" marL="0">
              <a:buNone/>
            </a:pPr>
            <a:r>
              <a:rPr lang="en-US" sz="900" dirty="0">
                <a:solidFill>
                  <a:srgbClr val="5E7D8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8686800" cy="320040"/>
          </a:xfrm>
          <a:prstGeom prst="rect">
            <a:avLst/>
          </a:prstGeom>
          <a:noFill/>
          <a:ln/>
        </p:spPr>
        <p:txBody>
          <a:bodyPr wrap="square" lIns="0" tIns="0" rIns="0" bIns="0" rtlCol="0" anchor="ctr"/>
          <a:lstStyle/>
          <a:p>
            <a:pPr indent="0" marL="0">
              <a:buNone/>
            </a:pPr>
            <a:r>
              <a:rPr lang="en-US" sz="1300" b="1" spc="200" kern="0" dirty="0">
                <a:solidFill>
                  <a:srgbClr val="F4A100"/>
                </a:solidFill>
                <a:latin typeface="Calibri" pitchFamily="34" charset="0"/>
                <a:ea typeface="Calibri" pitchFamily="34" charset="-122"/>
                <a:cs typeface="Calibri" pitchFamily="34" charset="-120"/>
              </a:rPr>
              <a:t>1. INTRODUCTION</a:t>
            </a:r>
            <a:endParaRPr lang="en-US" sz="1300" dirty="0"/>
          </a:p>
        </p:txBody>
      </p:sp>
      <p:sp>
        <p:nvSpPr>
          <p:cNvPr id="3" name="Text 1"/>
          <p:cNvSpPr txBox="1"/>
          <p:nvPr/>
        </p:nvSpPr>
        <p:spPr>
          <a:xfrm>
            <a:off x="548640" y="685800"/>
            <a:ext cx="11091672"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Three Contributions</a:t>
            </a:r>
            <a:endParaRPr lang="en-US" sz="3200" dirty="0"/>
          </a:p>
        </p:txBody>
      </p:sp>
      <p:sp>
        <p:nvSpPr>
          <p:cNvPr id="4" name="Text 2"/>
          <p:cNvSpPr txBox="1"/>
          <p:nvPr/>
        </p:nvSpPr>
        <p:spPr>
          <a:xfrm>
            <a:off x="548640" y="1554480"/>
            <a:ext cx="10789920" cy="594360"/>
          </a:xfrm>
          <a:prstGeom prst="rect">
            <a:avLst/>
          </a:prstGeom>
          <a:noFill/>
          <a:ln/>
        </p:spPr>
        <p:txBody>
          <a:bodyPr wrap="square" lIns="0" tIns="0" rIns="0" bIns="0" rtlCol="0" anchor="ctr"/>
          <a:lstStyle/>
          <a:p>
            <a:pPr indent="0" marL="0">
              <a:buNone/>
            </a:pPr>
            <a:r>
              <a:rPr lang="en-US" sz="1500" dirty="0">
                <a:solidFill>
                  <a:srgbClr val="CFEAE7"/>
                </a:solidFill>
                <a:latin typeface="Calibri" pitchFamily="34" charset="0"/>
                <a:ea typeface="Calibri" pitchFamily="34" charset="-122"/>
                <a:cs typeface="Calibri" pitchFamily="34" charset="-120"/>
              </a:rPr>
              <a:t>This study shows that resolution-preserving tiling — not model scaling — is the decisive factor for dense micro-colony detection.</a:t>
            </a:r>
            <a:endParaRPr lang="en-US" sz="1500" dirty="0"/>
          </a:p>
        </p:txBody>
      </p:sp>
      <p:sp>
        <p:nvSpPr>
          <p:cNvPr id="5" name="Shape 3"/>
          <p:cNvSpPr/>
          <p:nvPr/>
        </p:nvSpPr>
        <p:spPr>
          <a:xfrm>
            <a:off x="548640" y="2377440"/>
            <a:ext cx="10881360" cy="1078992"/>
          </a:xfrm>
          <a:prstGeom prst="roundRect">
            <a:avLst>
              <a:gd name="adj" fmla="val 8475"/>
            </a:avLst>
          </a:prstGeom>
          <a:solidFill>
            <a:srgbClr val="0F3742"/>
          </a:solidFill>
          <a:ln w="9525">
            <a:solidFill>
              <a:srgbClr val="1F5866"/>
            </a:solidFill>
            <a:prstDash val="solid"/>
          </a:ln>
        </p:spPr>
      </p:sp>
      <p:sp>
        <p:nvSpPr>
          <p:cNvPr id="6" name="Shape 4"/>
          <p:cNvSpPr/>
          <p:nvPr/>
        </p:nvSpPr>
        <p:spPr>
          <a:xfrm>
            <a:off x="822960" y="2633472"/>
            <a:ext cx="566928" cy="566928"/>
          </a:xfrm>
          <a:prstGeom prst="ellipse">
            <a:avLst/>
          </a:prstGeom>
          <a:solidFill>
            <a:srgbClr val="F4A100"/>
          </a:solidFill>
          <a:ln/>
        </p:spPr>
      </p:sp>
      <p:sp>
        <p:nvSpPr>
          <p:cNvPr id="7" name="Text 5"/>
          <p:cNvSpPr txBox="1"/>
          <p:nvPr/>
        </p:nvSpPr>
        <p:spPr>
          <a:xfrm>
            <a:off x="822960" y="2615184"/>
            <a:ext cx="566928" cy="566928"/>
          </a:xfrm>
          <a:prstGeom prst="rect">
            <a:avLst/>
          </a:prstGeom>
          <a:noFill/>
          <a:ln/>
        </p:spPr>
        <p:txBody>
          <a:bodyPr wrap="square" lIns="0" tIns="0" rIns="0" bIns="0" rtlCol="0" anchor="ctr"/>
          <a:lstStyle/>
          <a:p>
            <a:pPr algn="ctr" indent="0" marL="0">
              <a:buNone/>
            </a:pPr>
            <a:r>
              <a:rPr lang="en-US" sz="1900" b="1" dirty="0">
                <a:solidFill>
                  <a:srgbClr val="07242B"/>
                </a:solidFill>
                <a:latin typeface="Calibri" pitchFamily="34" charset="0"/>
                <a:ea typeface="Calibri" pitchFamily="34" charset="-122"/>
                <a:cs typeface="Calibri" pitchFamily="34" charset="-120"/>
              </a:rPr>
              <a:t>1</a:t>
            </a:r>
            <a:endParaRPr lang="en-US" sz="1900" dirty="0"/>
          </a:p>
        </p:txBody>
      </p:sp>
      <p:sp>
        <p:nvSpPr>
          <p:cNvPr id="8" name="Text 6"/>
          <p:cNvSpPr txBox="1"/>
          <p:nvPr/>
        </p:nvSpPr>
        <p:spPr>
          <a:xfrm>
            <a:off x="1600200" y="2487168"/>
            <a:ext cx="969264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Tiling beats resizing and architecture upgrades</a:t>
            </a:r>
            <a:endParaRPr lang="en-US" sz="1500" dirty="0"/>
          </a:p>
        </p:txBody>
      </p:sp>
      <p:sp>
        <p:nvSpPr>
          <p:cNvPr id="9" name="Text 7"/>
          <p:cNvSpPr txBox="1"/>
          <p:nvPr/>
        </p:nvSpPr>
        <p:spPr>
          <a:xfrm>
            <a:off x="1600200" y="2871216"/>
            <a:ext cx="9692640" cy="548640"/>
          </a:xfrm>
          <a:prstGeom prst="rect">
            <a:avLst/>
          </a:prstGeom>
          <a:noFill/>
          <a:ln/>
        </p:spPr>
        <p:txBody>
          <a:bodyPr wrap="square" lIns="0" tIns="0" rIns="0" bIns="0" rtlCol="0" anchor="ctr"/>
          <a:lstStyle/>
          <a:p>
            <a:pPr indent="0" marL="0">
              <a:lnSpc>
                <a:spcPct val="118000"/>
              </a:lnSpc>
              <a:buNone/>
            </a:pPr>
            <a:r>
              <a:rPr lang="en-US" sz="1200" dirty="0">
                <a:solidFill>
                  <a:srgbClr val="AEDBD6"/>
                </a:solidFill>
                <a:latin typeface="Calibri" pitchFamily="34" charset="0"/>
                <a:ea typeface="Calibri" pitchFamily="34" charset="-122"/>
                <a:cs typeface="Calibri" pitchFamily="34" charset="-120"/>
              </a:rPr>
              <a:t>Simple fixed-size tiled inference with moderate overlap clearly outperforms conventional resizing — and outperforms recent YOLO architectural advances.</a:t>
            </a:r>
            <a:endParaRPr lang="en-US" sz="1200" dirty="0"/>
          </a:p>
        </p:txBody>
      </p:sp>
      <p:sp>
        <p:nvSpPr>
          <p:cNvPr id="10" name="Shape 8"/>
          <p:cNvSpPr/>
          <p:nvPr/>
        </p:nvSpPr>
        <p:spPr>
          <a:xfrm>
            <a:off x="548640" y="3611880"/>
            <a:ext cx="10881360" cy="1078992"/>
          </a:xfrm>
          <a:prstGeom prst="roundRect">
            <a:avLst>
              <a:gd name="adj" fmla="val 8475"/>
            </a:avLst>
          </a:prstGeom>
          <a:solidFill>
            <a:srgbClr val="0F3742"/>
          </a:solidFill>
          <a:ln w="9525">
            <a:solidFill>
              <a:srgbClr val="1F5866"/>
            </a:solidFill>
            <a:prstDash val="solid"/>
          </a:ln>
        </p:spPr>
      </p:sp>
      <p:sp>
        <p:nvSpPr>
          <p:cNvPr id="11" name="Shape 9"/>
          <p:cNvSpPr/>
          <p:nvPr/>
        </p:nvSpPr>
        <p:spPr>
          <a:xfrm>
            <a:off x="822960" y="3867912"/>
            <a:ext cx="566928" cy="566928"/>
          </a:xfrm>
          <a:prstGeom prst="ellipse">
            <a:avLst/>
          </a:prstGeom>
          <a:solidFill>
            <a:srgbClr val="F4A100"/>
          </a:solidFill>
          <a:ln/>
        </p:spPr>
      </p:sp>
      <p:sp>
        <p:nvSpPr>
          <p:cNvPr id="12" name="Text 10"/>
          <p:cNvSpPr txBox="1"/>
          <p:nvPr/>
        </p:nvSpPr>
        <p:spPr>
          <a:xfrm>
            <a:off x="822960" y="3849624"/>
            <a:ext cx="566928" cy="566928"/>
          </a:xfrm>
          <a:prstGeom prst="rect">
            <a:avLst/>
          </a:prstGeom>
          <a:noFill/>
          <a:ln/>
        </p:spPr>
        <p:txBody>
          <a:bodyPr wrap="square" lIns="0" tIns="0" rIns="0" bIns="0" rtlCol="0" anchor="ctr"/>
          <a:lstStyle/>
          <a:p>
            <a:pPr algn="ctr" indent="0" marL="0">
              <a:buNone/>
            </a:pPr>
            <a:r>
              <a:rPr lang="en-US" sz="1900" b="1" dirty="0">
                <a:solidFill>
                  <a:srgbClr val="07242B"/>
                </a:solidFill>
                <a:latin typeface="Calibri" pitchFamily="34" charset="0"/>
                <a:ea typeface="Calibri" pitchFamily="34" charset="-122"/>
                <a:cs typeface="Calibri" pitchFamily="34" charset="-120"/>
              </a:rPr>
              <a:t>2</a:t>
            </a:r>
            <a:endParaRPr lang="en-US" sz="1900" dirty="0"/>
          </a:p>
        </p:txBody>
      </p:sp>
      <p:sp>
        <p:nvSpPr>
          <p:cNvPr id="13" name="Text 11"/>
          <p:cNvSpPr txBox="1"/>
          <p:nvPr/>
        </p:nvSpPr>
        <p:spPr>
          <a:xfrm>
            <a:off x="1600200" y="3721608"/>
            <a:ext cx="969264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High accuracy from lightweight nano-scale models</a:t>
            </a:r>
            <a:endParaRPr lang="en-US" sz="1500" dirty="0"/>
          </a:p>
        </p:txBody>
      </p:sp>
      <p:sp>
        <p:nvSpPr>
          <p:cNvPr id="14" name="Text 12"/>
          <p:cNvSpPr txBox="1"/>
          <p:nvPr/>
        </p:nvSpPr>
        <p:spPr>
          <a:xfrm>
            <a:off x="1600200" y="4105656"/>
            <a:ext cx="9692640" cy="548640"/>
          </a:xfrm>
          <a:prstGeom prst="rect">
            <a:avLst/>
          </a:prstGeom>
          <a:noFill/>
          <a:ln/>
        </p:spPr>
        <p:txBody>
          <a:bodyPr wrap="square" lIns="0" tIns="0" rIns="0" bIns="0" rtlCol="0" anchor="ctr"/>
          <a:lstStyle/>
          <a:p>
            <a:pPr indent="0" marL="0">
              <a:lnSpc>
                <a:spcPct val="118000"/>
              </a:lnSpc>
              <a:buNone/>
            </a:pPr>
            <a:r>
              <a:rPr lang="en-US" sz="1200" dirty="0">
                <a:solidFill>
                  <a:srgbClr val="AEDBD6"/>
                </a:solidFill>
                <a:latin typeface="Calibri" pitchFamily="34" charset="0"/>
                <a:ea typeface="Calibri" pitchFamily="34" charset="-122"/>
                <a:cs typeface="Calibri" pitchFamily="34" charset="-120"/>
              </a:rPr>
              <a:t>State-of-the-art detection accuracy is achievable with YOLOv11n at only 2.6M parameters, on consumer-grade hardware, with subsecond whole-plate inference.</a:t>
            </a:r>
            <a:endParaRPr lang="en-US" sz="1200" dirty="0"/>
          </a:p>
        </p:txBody>
      </p:sp>
      <p:sp>
        <p:nvSpPr>
          <p:cNvPr id="15" name="Shape 13"/>
          <p:cNvSpPr/>
          <p:nvPr/>
        </p:nvSpPr>
        <p:spPr>
          <a:xfrm>
            <a:off x="548640" y="4846320"/>
            <a:ext cx="10881360" cy="1078992"/>
          </a:xfrm>
          <a:prstGeom prst="roundRect">
            <a:avLst>
              <a:gd name="adj" fmla="val 8475"/>
            </a:avLst>
          </a:prstGeom>
          <a:solidFill>
            <a:srgbClr val="0F3742"/>
          </a:solidFill>
          <a:ln w="9525">
            <a:solidFill>
              <a:srgbClr val="1F5866"/>
            </a:solidFill>
            <a:prstDash val="solid"/>
          </a:ln>
        </p:spPr>
      </p:sp>
      <p:sp>
        <p:nvSpPr>
          <p:cNvPr id="16" name="Shape 14"/>
          <p:cNvSpPr/>
          <p:nvPr/>
        </p:nvSpPr>
        <p:spPr>
          <a:xfrm>
            <a:off x="822960" y="5102352"/>
            <a:ext cx="566928" cy="566928"/>
          </a:xfrm>
          <a:prstGeom prst="ellipse">
            <a:avLst/>
          </a:prstGeom>
          <a:solidFill>
            <a:srgbClr val="F4A100"/>
          </a:solidFill>
          <a:ln/>
        </p:spPr>
      </p:sp>
      <p:sp>
        <p:nvSpPr>
          <p:cNvPr id="17" name="Text 15"/>
          <p:cNvSpPr txBox="1"/>
          <p:nvPr/>
        </p:nvSpPr>
        <p:spPr>
          <a:xfrm>
            <a:off x="822960" y="5084064"/>
            <a:ext cx="566928" cy="566928"/>
          </a:xfrm>
          <a:prstGeom prst="rect">
            <a:avLst/>
          </a:prstGeom>
          <a:noFill/>
          <a:ln/>
        </p:spPr>
        <p:txBody>
          <a:bodyPr wrap="square" lIns="0" tIns="0" rIns="0" bIns="0" rtlCol="0" anchor="ctr"/>
          <a:lstStyle/>
          <a:p>
            <a:pPr algn="ctr" indent="0" marL="0">
              <a:buNone/>
            </a:pPr>
            <a:r>
              <a:rPr lang="en-US" sz="1900" b="1" dirty="0">
                <a:solidFill>
                  <a:srgbClr val="07242B"/>
                </a:solidFill>
                <a:latin typeface="Calibri" pitchFamily="34" charset="0"/>
                <a:ea typeface="Calibri" pitchFamily="34" charset="-122"/>
                <a:cs typeface="Calibri" pitchFamily="34" charset="-120"/>
              </a:rPr>
              <a:t>3</a:t>
            </a:r>
            <a:endParaRPr lang="en-US" sz="1900" dirty="0"/>
          </a:p>
        </p:txBody>
      </p:sp>
      <p:sp>
        <p:nvSpPr>
          <p:cNvPr id="18" name="Text 16"/>
          <p:cNvSpPr txBox="1"/>
          <p:nvPr/>
        </p:nvSpPr>
        <p:spPr>
          <a:xfrm>
            <a:off x="1600200" y="4956048"/>
            <a:ext cx="969264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 reproducible, lightweight pipeline</a:t>
            </a:r>
            <a:endParaRPr lang="en-US" sz="1500" dirty="0"/>
          </a:p>
        </p:txBody>
      </p:sp>
      <p:sp>
        <p:nvSpPr>
          <p:cNvPr id="19" name="Text 17"/>
          <p:cNvSpPr txBox="1"/>
          <p:nvPr/>
        </p:nvSpPr>
        <p:spPr>
          <a:xfrm>
            <a:off x="1600200" y="5340096"/>
            <a:ext cx="9692640" cy="548640"/>
          </a:xfrm>
          <a:prstGeom prst="rect">
            <a:avLst/>
          </a:prstGeom>
          <a:noFill/>
          <a:ln/>
        </p:spPr>
        <p:txBody>
          <a:bodyPr wrap="square" lIns="0" tIns="0" rIns="0" bIns="0" rtlCol="0" anchor="ctr"/>
          <a:lstStyle/>
          <a:p>
            <a:pPr indent="0" marL="0">
              <a:lnSpc>
                <a:spcPct val="118000"/>
              </a:lnSpc>
              <a:buNone/>
            </a:pPr>
            <a:r>
              <a:rPr lang="en-US" sz="1200" dirty="0">
                <a:solidFill>
                  <a:srgbClr val="AEDBD6"/>
                </a:solidFill>
                <a:latin typeface="Calibri" pitchFamily="34" charset="0"/>
                <a:ea typeface="Calibri" pitchFamily="34" charset="-122"/>
                <a:cs typeface="Calibri" pitchFamily="34" charset="-120"/>
              </a:rPr>
              <a:t>Avoids heavy backbones, multi-scale training, test-time augmentation, and ensembling — lowering barriers to adoption in clinical and veterinary microbiology.</a:t>
            </a:r>
            <a:endParaRPr lang="en-US" sz="1200" dirty="0"/>
          </a:p>
        </p:txBody>
      </p:sp>
      <p:sp>
        <p:nvSpPr>
          <p:cNvPr id="20" name="Text 18"/>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7FB8BE"/>
                </a:solidFill>
                <a:latin typeface="Calibri" pitchFamily="34" charset="0"/>
                <a:ea typeface="Calibri" pitchFamily="34" charset="-122"/>
                <a:cs typeface="Calibri" pitchFamily="34" charset="-120"/>
              </a:rPr>
              <a:t>Overcoming Resolution Constraints in Automated Colony Counting via SAHI</a:t>
            </a:r>
            <a:endParaRPr lang="en-US" sz="900" dirty="0"/>
          </a:p>
        </p:txBody>
      </p:sp>
      <p:sp>
        <p:nvSpPr>
          <p:cNvPr id="21" name="Text 19"/>
          <p:cNvSpPr txBox="1"/>
          <p:nvPr/>
        </p:nvSpPr>
        <p:spPr>
          <a:xfrm>
            <a:off x="11274552" y="6473952"/>
            <a:ext cx="548640" cy="274320"/>
          </a:xfrm>
          <a:prstGeom prst="rect">
            <a:avLst/>
          </a:prstGeom>
          <a:noFill/>
          <a:ln/>
        </p:spPr>
        <p:txBody>
          <a:bodyPr wrap="square" lIns="0" tIns="0" rIns="0" bIns="0" rtlCol="0" anchor="ctr"/>
          <a:lstStyle/>
          <a:p>
            <a:pPr algn="r" indent="0" marL="0">
              <a:buNone/>
            </a:pPr>
            <a:r>
              <a:rPr lang="en-US" sz="900" dirty="0">
                <a:solidFill>
                  <a:srgbClr val="7FB8B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84048"/>
            <a:ext cx="86868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2. MATERIALS &amp; METHODS</a:t>
            </a:r>
            <a:endParaRPr lang="en-US" sz="1300" dirty="0"/>
          </a:p>
        </p:txBody>
      </p:sp>
      <p:sp>
        <p:nvSpPr>
          <p:cNvPr id="3" name="Text 1"/>
          <p:cNvSpPr txBox="1"/>
          <p:nvPr/>
        </p:nvSpPr>
        <p:spPr>
          <a:xfrm>
            <a:off x="548640" y="685800"/>
            <a:ext cx="11091672" cy="822960"/>
          </a:xfrm>
          <a:prstGeom prst="rect">
            <a:avLst/>
          </a:prstGeom>
          <a:noFill/>
          <a:ln/>
        </p:spPr>
        <p:txBody>
          <a:bodyPr wrap="square" lIns="0" tIns="0" rIns="0" bIns="0" rtlCol="0" anchor="ctr"/>
          <a:lstStyle/>
          <a:p>
            <a:pPr indent="0" marL="0">
              <a:buNone/>
            </a:pPr>
            <a:r>
              <a:rPr lang="en-US" sz="3200" b="1" dirty="0">
                <a:solidFill>
                  <a:srgbClr val="045C6E"/>
                </a:solidFill>
                <a:latin typeface="Cambria" pitchFamily="34" charset="0"/>
                <a:ea typeface="Cambria" pitchFamily="34" charset="-122"/>
                <a:cs typeface="Cambria" pitchFamily="34" charset="-120"/>
              </a:rPr>
              <a:t>A Real-World Bacterial Colony Dataset</a:t>
            </a:r>
            <a:endParaRPr lang="en-US" sz="3200" dirty="0"/>
          </a:p>
        </p:txBody>
      </p:sp>
      <p:sp>
        <p:nvSpPr>
          <p:cNvPr id="4" name="Shape 2"/>
          <p:cNvSpPr/>
          <p:nvPr/>
        </p:nvSpPr>
        <p:spPr>
          <a:xfrm>
            <a:off x="548640" y="1600200"/>
            <a:ext cx="5166360" cy="4343400"/>
          </a:xfrm>
          <a:prstGeom prst="roundRect">
            <a:avLst>
              <a:gd name="adj" fmla="val 2526"/>
            </a:avLst>
          </a:prstGeom>
          <a:solidFill>
            <a:srgbClr val="E6F5F3"/>
          </a:solidFill>
          <a:ln/>
        </p:spPr>
      </p:sp>
      <p:sp>
        <p:nvSpPr>
          <p:cNvPr id="5" name="Text 3"/>
          <p:cNvSpPr txBox="1"/>
          <p:nvPr/>
        </p:nvSpPr>
        <p:spPr>
          <a:xfrm>
            <a:off x="822960" y="1828800"/>
            <a:ext cx="4572000" cy="320040"/>
          </a:xfrm>
          <a:prstGeom prst="rect">
            <a:avLst/>
          </a:prstGeom>
          <a:noFill/>
          <a:ln/>
        </p:spPr>
        <p:txBody>
          <a:bodyPr wrap="square" lIns="0" tIns="0" rIns="0" bIns="0" rtlCol="0" anchor="ctr"/>
          <a:lstStyle/>
          <a:p>
            <a:pPr indent="0" marL="0">
              <a:buNone/>
            </a:pPr>
            <a:r>
              <a:rPr lang="en-US" sz="1200" b="1" spc="150" kern="0" dirty="0">
                <a:solidFill>
                  <a:srgbClr val="028090"/>
                </a:solidFill>
                <a:latin typeface="Calibri" pitchFamily="34" charset="0"/>
                <a:ea typeface="Calibri" pitchFamily="34" charset="-122"/>
                <a:cs typeface="Calibri" pitchFamily="34" charset="-120"/>
              </a:rPr>
              <a:t>DATASET SUMMARY</a:t>
            </a:r>
            <a:endParaRPr lang="en-US" sz="1200" dirty="0"/>
          </a:p>
        </p:txBody>
      </p:sp>
      <p:sp>
        <p:nvSpPr>
          <p:cNvPr id="6" name="Text 4"/>
          <p:cNvSpPr txBox="1"/>
          <p:nvPr/>
        </p:nvSpPr>
        <p:spPr>
          <a:xfrm>
            <a:off x="822960" y="2194560"/>
            <a:ext cx="4663440" cy="1097280"/>
          </a:xfrm>
          <a:prstGeom prst="rect">
            <a:avLst/>
          </a:prstGeom>
          <a:noFill/>
          <a:ln/>
        </p:spPr>
        <p:txBody>
          <a:bodyPr wrap="square" lIns="0" tIns="0" rIns="0" bIns="0" rtlCol="0" anchor="ctr"/>
          <a:lstStyle/>
          <a:p>
            <a:pPr indent="0" marL="0">
              <a:lnSpc>
                <a:spcPct val="120000"/>
              </a:lnSpc>
              <a:buNone/>
            </a:pPr>
            <a:r>
              <a:rPr lang="en-US" sz="1300" dirty="0">
                <a:solidFill>
                  <a:srgbClr val="0E2A2F"/>
                </a:solidFill>
                <a:latin typeface="Calibri" pitchFamily="34" charset="0"/>
                <a:ea typeface="Calibri" pitchFamily="34" charset="-122"/>
                <a:cs typeface="Calibri" pitchFamily="34" charset="-120"/>
              </a:rPr>
              <a:t>369 Petri dish images captured with three different smartphones under real-world laboratory conditions — natural variation in lighting, reflections, background, and condensation.</a:t>
            </a:r>
            <a:endParaRPr lang="en-US" sz="1300" dirty="0"/>
          </a:p>
        </p:txBody>
      </p:sp>
      <p:sp>
        <p:nvSpPr>
          <p:cNvPr id="7" name="Text 5"/>
          <p:cNvSpPr txBox="1"/>
          <p:nvPr/>
        </p:nvSpPr>
        <p:spPr>
          <a:xfrm>
            <a:off x="822960" y="3429000"/>
            <a:ext cx="1920240" cy="457200"/>
          </a:xfrm>
          <a:prstGeom prst="rect">
            <a:avLst/>
          </a:prstGeom>
          <a:noFill/>
          <a:ln/>
        </p:spPr>
        <p:txBody>
          <a:bodyPr wrap="square" lIns="0" tIns="0" rIns="0" bIns="0" rtlCol="0" anchor="ctr"/>
          <a:lstStyle/>
          <a:p>
            <a:pPr indent="0" marL="0">
              <a:buNone/>
            </a:pPr>
            <a:r>
              <a:rPr lang="en-US" sz="2100" b="1" dirty="0">
                <a:solidFill>
                  <a:srgbClr val="028090"/>
                </a:solidFill>
                <a:latin typeface="Cambria" pitchFamily="34" charset="0"/>
                <a:ea typeface="Cambria" pitchFamily="34" charset="-122"/>
                <a:cs typeface="Cambria" pitchFamily="34" charset="-120"/>
              </a:rPr>
              <a:t>56,865</a:t>
            </a:r>
            <a:endParaRPr lang="en-US" sz="2100" dirty="0"/>
          </a:p>
        </p:txBody>
      </p:sp>
      <p:sp>
        <p:nvSpPr>
          <p:cNvPr id="8" name="Text 6"/>
          <p:cNvSpPr txBox="1"/>
          <p:nvPr/>
        </p:nvSpPr>
        <p:spPr>
          <a:xfrm>
            <a:off x="2834640" y="3502152"/>
            <a:ext cx="2743200" cy="502920"/>
          </a:xfrm>
          <a:prstGeom prst="rect">
            <a:avLst/>
          </a:prstGeom>
          <a:noFill/>
          <a:ln/>
        </p:spPr>
        <p:txBody>
          <a:bodyPr wrap="square" lIns="0" tIns="0" rIns="0" bIns="0" rtlCol="0" anchor="ctr"/>
          <a:lstStyle/>
          <a:p>
            <a:pPr indent="0" marL="0">
              <a:lnSpc>
                <a:spcPct val="115000"/>
              </a:lnSpc>
              <a:buNone/>
            </a:pPr>
            <a:r>
              <a:rPr lang="en-US" sz="1200" dirty="0">
                <a:solidFill>
                  <a:srgbClr val="045C6E"/>
                </a:solidFill>
                <a:latin typeface="Calibri" pitchFamily="34" charset="0"/>
                <a:ea typeface="Calibri" pitchFamily="34" charset="-122"/>
                <a:cs typeface="Calibri" pitchFamily="34" charset="-120"/>
              </a:rPr>
              <a:t>Individually annotated colonies</a:t>
            </a:r>
            <a:endParaRPr lang="en-US" sz="1200" dirty="0"/>
          </a:p>
        </p:txBody>
      </p:sp>
      <p:sp>
        <p:nvSpPr>
          <p:cNvPr id="9" name="Text 7"/>
          <p:cNvSpPr txBox="1"/>
          <p:nvPr/>
        </p:nvSpPr>
        <p:spPr>
          <a:xfrm>
            <a:off x="822960" y="4325112"/>
            <a:ext cx="1920240" cy="457200"/>
          </a:xfrm>
          <a:prstGeom prst="rect">
            <a:avLst/>
          </a:prstGeom>
          <a:noFill/>
          <a:ln/>
        </p:spPr>
        <p:txBody>
          <a:bodyPr wrap="square" lIns="0" tIns="0" rIns="0" bIns="0" rtlCol="0" anchor="ctr"/>
          <a:lstStyle/>
          <a:p>
            <a:pPr indent="0" marL="0">
              <a:buNone/>
            </a:pPr>
            <a:r>
              <a:rPr lang="en-US" sz="2100" b="1" dirty="0">
                <a:solidFill>
                  <a:srgbClr val="028090"/>
                </a:solidFill>
                <a:latin typeface="Cambria" pitchFamily="34" charset="0"/>
                <a:ea typeface="Cambria" pitchFamily="34" charset="-122"/>
                <a:cs typeface="Cambria" pitchFamily="34" charset="-120"/>
              </a:rPr>
              <a:t>24</a:t>
            </a:r>
            <a:endParaRPr lang="en-US" sz="2100" dirty="0"/>
          </a:p>
        </p:txBody>
      </p:sp>
      <p:sp>
        <p:nvSpPr>
          <p:cNvPr id="10" name="Text 8"/>
          <p:cNvSpPr txBox="1"/>
          <p:nvPr/>
        </p:nvSpPr>
        <p:spPr>
          <a:xfrm>
            <a:off x="2834640" y="4398264"/>
            <a:ext cx="2743200" cy="502920"/>
          </a:xfrm>
          <a:prstGeom prst="rect">
            <a:avLst/>
          </a:prstGeom>
          <a:noFill/>
          <a:ln/>
        </p:spPr>
        <p:txBody>
          <a:bodyPr wrap="square" lIns="0" tIns="0" rIns="0" bIns="0" rtlCol="0" anchor="ctr"/>
          <a:lstStyle/>
          <a:p>
            <a:pPr indent="0" marL="0">
              <a:lnSpc>
                <a:spcPct val="115000"/>
              </a:lnSpc>
              <a:buNone/>
            </a:pPr>
            <a:r>
              <a:rPr lang="en-US" sz="1200" dirty="0">
                <a:solidFill>
                  <a:srgbClr val="045C6E"/>
                </a:solidFill>
                <a:latin typeface="Calibri" pitchFamily="34" charset="0"/>
                <a:ea typeface="Calibri" pitchFamily="34" charset="-122"/>
                <a:cs typeface="Calibri" pitchFamily="34" charset="-120"/>
              </a:rPr>
              <a:t>Bacterial species (11 Gram+ / 13 Gram−)</a:t>
            </a:r>
            <a:endParaRPr lang="en-US" sz="1200" dirty="0"/>
          </a:p>
        </p:txBody>
      </p:sp>
      <p:sp>
        <p:nvSpPr>
          <p:cNvPr id="11" name="Text 9"/>
          <p:cNvSpPr txBox="1"/>
          <p:nvPr/>
        </p:nvSpPr>
        <p:spPr>
          <a:xfrm>
            <a:off x="822960" y="5221224"/>
            <a:ext cx="1920240" cy="457200"/>
          </a:xfrm>
          <a:prstGeom prst="rect">
            <a:avLst/>
          </a:prstGeom>
          <a:noFill/>
          <a:ln/>
        </p:spPr>
        <p:txBody>
          <a:bodyPr wrap="square" lIns="0" tIns="0" rIns="0" bIns="0" rtlCol="0" anchor="ctr"/>
          <a:lstStyle/>
          <a:p>
            <a:pPr indent="0" marL="0">
              <a:buNone/>
            </a:pPr>
            <a:r>
              <a:rPr lang="en-US" sz="2100" b="1" dirty="0">
                <a:solidFill>
                  <a:srgbClr val="028090"/>
                </a:solidFill>
                <a:latin typeface="Cambria" pitchFamily="34" charset="0"/>
                <a:ea typeface="Cambria" pitchFamily="34" charset="-122"/>
                <a:cs typeface="Cambria" pitchFamily="34" charset="-120"/>
              </a:rPr>
              <a:t>≤1,100+</a:t>
            </a:r>
            <a:endParaRPr lang="en-US" sz="2100" dirty="0"/>
          </a:p>
        </p:txBody>
      </p:sp>
      <p:sp>
        <p:nvSpPr>
          <p:cNvPr id="12" name="Text 10"/>
          <p:cNvSpPr txBox="1"/>
          <p:nvPr/>
        </p:nvSpPr>
        <p:spPr>
          <a:xfrm>
            <a:off x="2834640" y="5294376"/>
            <a:ext cx="2743200" cy="502920"/>
          </a:xfrm>
          <a:prstGeom prst="rect">
            <a:avLst/>
          </a:prstGeom>
          <a:noFill/>
          <a:ln/>
        </p:spPr>
        <p:txBody>
          <a:bodyPr wrap="square" lIns="0" tIns="0" rIns="0" bIns="0" rtlCol="0" anchor="ctr"/>
          <a:lstStyle/>
          <a:p>
            <a:pPr indent="0" marL="0">
              <a:lnSpc>
                <a:spcPct val="115000"/>
              </a:lnSpc>
              <a:buNone/>
            </a:pPr>
            <a:r>
              <a:rPr lang="en-US" sz="1200" dirty="0">
                <a:solidFill>
                  <a:srgbClr val="045C6E"/>
                </a:solidFill>
                <a:latin typeface="Calibri" pitchFamily="34" charset="0"/>
                <a:ea typeface="Calibri" pitchFamily="34" charset="-122"/>
                <a:cs typeface="Calibri" pitchFamily="34" charset="-120"/>
              </a:rPr>
              <a:t>Colonies on the densest single plate</a:t>
            </a:r>
            <a:endParaRPr lang="en-US" sz="1200" dirty="0"/>
          </a:p>
        </p:txBody>
      </p:sp>
      <p:sp>
        <p:nvSpPr>
          <p:cNvPr id="13" name="Shape 11"/>
          <p:cNvSpPr/>
          <p:nvPr/>
        </p:nvSpPr>
        <p:spPr>
          <a:xfrm>
            <a:off x="5989320" y="1600200"/>
            <a:ext cx="5650992" cy="4343400"/>
          </a:xfrm>
          <a:prstGeom prst="roundRect">
            <a:avLst>
              <a:gd name="adj" fmla="val 2526"/>
            </a:avLst>
          </a:prstGeom>
          <a:solidFill>
            <a:srgbClr val="045C6E"/>
          </a:solidFill>
          <a:ln/>
        </p:spPr>
      </p:sp>
      <p:sp>
        <p:nvSpPr>
          <p:cNvPr id="14" name="Text 12"/>
          <p:cNvSpPr txBox="1"/>
          <p:nvPr/>
        </p:nvSpPr>
        <p:spPr>
          <a:xfrm>
            <a:off x="6263640" y="1828800"/>
            <a:ext cx="5120640" cy="320040"/>
          </a:xfrm>
          <a:prstGeom prst="rect">
            <a:avLst/>
          </a:prstGeom>
          <a:noFill/>
          <a:ln/>
        </p:spPr>
        <p:txBody>
          <a:bodyPr wrap="square" lIns="0" tIns="0" rIns="0" bIns="0" rtlCol="0" anchor="ctr"/>
          <a:lstStyle/>
          <a:p>
            <a:pPr indent="0" marL="0">
              <a:buNone/>
            </a:pPr>
            <a:r>
              <a:rPr lang="en-US" sz="1200" b="1" spc="120" kern="0" dirty="0">
                <a:solidFill>
                  <a:srgbClr val="F4A100"/>
                </a:solidFill>
                <a:latin typeface="Calibri" pitchFamily="34" charset="0"/>
                <a:ea typeface="Calibri" pitchFamily="34" charset="-122"/>
                <a:cs typeface="Calibri" pitchFamily="34" charset="-120"/>
              </a:rPr>
              <a:t>SPLIT &amp; PREPROCESSING STRATEGY</a:t>
            </a:r>
            <a:endParaRPr lang="en-US" sz="1200" dirty="0"/>
          </a:p>
        </p:txBody>
      </p:sp>
      <p:sp>
        <p:nvSpPr>
          <p:cNvPr id="15" name="Text 13"/>
          <p:cNvSpPr txBox="1"/>
          <p:nvPr/>
        </p:nvSpPr>
        <p:spPr>
          <a:xfrm>
            <a:off x="6263640" y="2286000"/>
            <a:ext cx="2468880" cy="502920"/>
          </a:xfrm>
          <a:prstGeom prst="rect">
            <a:avLst/>
          </a:prstGeom>
          <a:noFill/>
          <a:ln/>
        </p:spPr>
        <p:txBody>
          <a:bodyPr wrap="square" lIns="0" tIns="0" rIns="0" bIns="0" rtlCol="0" anchor="ctr"/>
          <a:lstStyle/>
          <a:p>
            <a:pPr indent="0" marL="0">
              <a:buNone/>
            </a:pPr>
            <a:r>
              <a:rPr lang="en-US" sz="1250" dirty="0">
                <a:solidFill>
                  <a:srgbClr val="CFEAE7"/>
                </a:solidFill>
                <a:latin typeface="Calibri" pitchFamily="34" charset="0"/>
                <a:ea typeface="Calibri" pitchFamily="34" charset="-122"/>
                <a:cs typeface="Calibri" pitchFamily="34" charset="-120"/>
              </a:rPr>
              <a:t>Image-level split</a:t>
            </a:r>
            <a:endParaRPr lang="en-US" sz="1250" dirty="0"/>
          </a:p>
        </p:txBody>
      </p:sp>
      <p:sp>
        <p:nvSpPr>
          <p:cNvPr id="16" name="Text 14"/>
          <p:cNvSpPr txBox="1"/>
          <p:nvPr/>
        </p:nvSpPr>
        <p:spPr>
          <a:xfrm>
            <a:off x="8549640" y="2286000"/>
            <a:ext cx="2926080" cy="502920"/>
          </a:xfrm>
          <a:prstGeom prst="rect">
            <a:avLst/>
          </a:prstGeom>
          <a:noFill/>
          <a:ln/>
        </p:spPr>
        <p:txBody>
          <a:bodyPr wrap="square" lIns="0" tIns="0" rIns="0" bIns="0" rtlCol="0" anchor="ctr"/>
          <a:lstStyle/>
          <a:p>
            <a:pPr algn="r" indent="0" marL="0">
              <a:lnSpc>
                <a:spcPct val="110000"/>
              </a:lnSpc>
              <a:buNone/>
            </a:pPr>
            <a:r>
              <a:rPr lang="en-US" sz="1150" b="1" dirty="0">
                <a:solidFill>
                  <a:srgbClr val="FFFFFF"/>
                </a:solidFill>
                <a:latin typeface="Calibri" pitchFamily="34" charset="0"/>
                <a:ea typeface="Calibri" pitchFamily="34" charset="-122"/>
                <a:cs typeface="Calibri" pitchFamily="34" charset="-120"/>
              </a:rPr>
              <a:t>80% dev / 20% independent test</a:t>
            </a:r>
            <a:endParaRPr lang="en-US" sz="1150" dirty="0"/>
          </a:p>
        </p:txBody>
      </p:sp>
      <p:sp>
        <p:nvSpPr>
          <p:cNvPr id="17" name="Shape 15"/>
          <p:cNvSpPr/>
          <p:nvPr/>
        </p:nvSpPr>
        <p:spPr>
          <a:xfrm>
            <a:off x="6263640" y="2816352"/>
            <a:ext cx="5212080" cy="0"/>
          </a:xfrm>
          <a:prstGeom prst="line">
            <a:avLst/>
          </a:prstGeom>
          <a:noFill/>
          <a:ln w="9525">
            <a:solidFill>
              <a:srgbClr val="1F5866"/>
            </a:solidFill>
            <a:prstDash val="solid"/>
          </a:ln>
        </p:spPr>
      </p:sp>
      <p:sp>
        <p:nvSpPr>
          <p:cNvPr id="18" name="Text 16"/>
          <p:cNvSpPr txBox="1"/>
          <p:nvPr/>
        </p:nvSpPr>
        <p:spPr>
          <a:xfrm>
            <a:off x="6263640" y="2926080"/>
            <a:ext cx="2468880" cy="502920"/>
          </a:xfrm>
          <a:prstGeom prst="rect">
            <a:avLst/>
          </a:prstGeom>
          <a:noFill/>
          <a:ln/>
        </p:spPr>
        <p:txBody>
          <a:bodyPr wrap="square" lIns="0" tIns="0" rIns="0" bIns="0" rtlCol="0" anchor="ctr"/>
          <a:lstStyle/>
          <a:p>
            <a:pPr indent="0" marL="0">
              <a:buNone/>
            </a:pPr>
            <a:r>
              <a:rPr lang="en-US" sz="1250" dirty="0">
                <a:solidFill>
                  <a:srgbClr val="CFEAE7"/>
                </a:solidFill>
                <a:latin typeface="Calibri" pitchFamily="34" charset="0"/>
                <a:ea typeface="Calibri" pitchFamily="34" charset="-122"/>
                <a:cs typeface="Calibri" pitchFamily="34" charset="-120"/>
              </a:rPr>
              <a:t>Dev subsplit</a:t>
            </a:r>
            <a:endParaRPr lang="en-US" sz="1250" dirty="0"/>
          </a:p>
        </p:txBody>
      </p:sp>
      <p:sp>
        <p:nvSpPr>
          <p:cNvPr id="19" name="Text 17"/>
          <p:cNvSpPr txBox="1"/>
          <p:nvPr/>
        </p:nvSpPr>
        <p:spPr>
          <a:xfrm>
            <a:off x="8549640" y="2926080"/>
            <a:ext cx="2926080" cy="502920"/>
          </a:xfrm>
          <a:prstGeom prst="rect">
            <a:avLst/>
          </a:prstGeom>
          <a:noFill/>
          <a:ln/>
        </p:spPr>
        <p:txBody>
          <a:bodyPr wrap="square" lIns="0" tIns="0" rIns="0" bIns="0" rtlCol="0" anchor="ctr"/>
          <a:lstStyle/>
          <a:p>
            <a:pPr algn="r" indent="0" marL="0">
              <a:lnSpc>
                <a:spcPct val="110000"/>
              </a:lnSpc>
              <a:buNone/>
            </a:pPr>
            <a:r>
              <a:rPr lang="en-US" sz="1150" b="1" dirty="0">
                <a:solidFill>
                  <a:srgbClr val="FFFFFF"/>
                </a:solidFill>
                <a:latin typeface="Calibri" pitchFamily="34" charset="0"/>
                <a:ea typeface="Calibri" pitchFamily="34" charset="-122"/>
                <a:cs typeface="Calibri" pitchFamily="34" charset="-120"/>
              </a:rPr>
              <a:t>80:20 → ~64% train / 16% val</a:t>
            </a:r>
            <a:endParaRPr lang="en-US" sz="1150" dirty="0"/>
          </a:p>
        </p:txBody>
      </p:sp>
      <p:sp>
        <p:nvSpPr>
          <p:cNvPr id="20" name="Shape 18"/>
          <p:cNvSpPr/>
          <p:nvPr/>
        </p:nvSpPr>
        <p:spPr>
          <a:xfrm>
            <a:off x="6263640" y="3456432"/>
            <a:ext cx="5212080" cy="0"/>
          </a:xfrm>
          <a:prstGeom prst="line">
            <a:avLst/>
          </a:prstGeom>
          <a:noFill/>
          <a:ln w="9525">
            <a:solidFill>
              <a:srgbClr val="1F5866"/>
            </a:solidFill>
            <a:prstDash val="solid"/>
          </a:ln>
        </p:spPr>
      </p:sp>
      <p:sp>
        <p:nvSpPr>
          <p:cNvPr id="21" name="Text 19"/>
          <p:cNvSpPr txBox="1"/>
          <p:nvPr/>
        </p:nvSpPr>
        <p:spPr>
          <a:xfrm>
            <a:off x="6263640" y="3566160"/>
            <a:ext cx="2468880" cy="502920"/>
          </a:xfrm>
          <a:prstGeom prst="rect">
            <a:avLst/>
          </a:prstGeom>
          <a:noFill/>
          <a:ln/>
        </p:spPr>
        <p:txBody>
          <a:bodyPr wrap="square" lIns="0" tIns="0" rIns="0" bIns="0" rtlCol="0" anchor="ctr"/>
          <a:lstStyle/>
          <a:p>
            <a:pPr indent="0" marL="0">
              <a:buNone/>
            </a:pPr>
            <a:r>
              <a:rPr lang="en-US" sz="1250" dirty="0">
                <a:solidFill>
                  <a:srgbClr val="CFEAE7"/>
                </a:solidFill>
                <a:latin typeface="Calibri" pitchFamily="34" charset="0"/>
                <a:ea typeface="Calibri" pitchFamily="34" charset="-122"/>
                <a:cs typeface="Calibri" pitchFamily="34" charset="-120"/>
              </a:rPr>
              <a:t>Tile size</a:t>
            </a:r>
            <a:endParaRPr lang="en-US" sz="1250" dirty="0"/>
          </a:p>
        </p:txBody>
      </p:sp>
      <p:sp>
        <p:nvSpPr>
          <p:cNvPr id="22" name="Text 20"/>
          <p:cNvSpPr txBox="1"/>
          <p:nvPr/>
        </p:nvSpPr>
        <p:spPr>
          <a:xfrm>
            <a:off x="8549640" y="3566160"/>
            <a:ext cx="2926080" cy="502920"/>
          </a:xfrm>
          <a:prstGeom prst="rect">
            <a:avLst/>
          </a:prstGeom>
          <a:noFill/>
          <a:ln/>
        </p:spPr>
        <p:txBody>
          <a:bodyPr wrap="square" lIns="0" tIns="0" rIns="0" bIns="0" rtlCol="0" anchor="ctr"/>
          <a:lstStyle/>
          <a:p>
            <a:pPr algn="r" indent="0" marL="0">
              <a:lnSpc>
                <a:spcPct val="110000"/>
              </a:lnSpc>
              <a:buNone/>
            </a:pPr>
            <a:r>
              <a:rPr lang="en-US" sz="1150" b="1" dirty="0">
                <a:solidFill>
                  <a:srgbClr val="FFFFFF"/>
                </a:solidFill>
                <a:latin typeface="Calibri" pitchFamily="34" charset="0"/>
                <a:ea typeface="Calibri" pitchFamily="34" charset="-122"/>
                <a:cs typeface="Calibri" pitchFamily="34" charset="-120"/>
              </a:rPr>
              <a:t>640 × 640 px, 20% overlap</a:t>
            </a:r>
            <a:endParaRPr lang="en-US" sz="1150" dirty="0"/>
          </a:p>
        </p:txBody>
      </p:sp>
      <p:sp>
        <p:nvSpPr>
          <p:cNvPr id="23" name="Shape 21"/>
          <p:cNvSpPr/>
          <p:nvPr/>
        </p:nvSpPr>
        <p:spPr>
          <a:xfrm>
            <a:off x="6263640" y="4096512"/>
            <a:ext cx="5212080" cy="0"/>
          </a:xfrm>
          <a:prstGeom prst="line">
            <a:avLst/>
          </a:prstGeom>
          <a:noFill/>
          <a:ln w="9525">
            <a:solidFill>
              <a:srgbClr val="1F5866"/>
            </a:solidFill>
            <a:prstDash val="solid"/>
          </a:ln>
        </p:spPr>
      </p:sp>
      <p:sp>
        <p:nvSpPr>
          <p:cNvPr id="24" name="Text 22"/>
          <p:cNvSpPr txBox="1"/>
          <p:nvPr/>
        </p:nvSpPr>
        <p:spPr>
          <a:xfrm>
            <a:off x="6263640" y="4206240"/>
            <a:ext cx="2468880" cy="502920"/>
          </a:xfrm>
          <a:prstGeom prst="rect">
            <a:avLst/>
          </a:prstGeom>
          <a:noFill/>
          <a:ln/>
        </p:spPr>
        <p:txBody>
          <a:bodyPr wrap="square" lIns="0" tIns="0" rIns="0" bIns="0" rtlCol="0" anchor="ctr"/>
          <a:lstStyle/>
          <a:p>
            <a:pPr indent="0" marL="0">
              <a:buNone/>
            </a:pPr>
            <a:r>
              <a:rPr lang="en-US" sz="1250" dirty="0">
                <a:solidFill>
                  <a:srgbClr val="CFEAE7"/>
                </a:solidFill>
                <a:latin typeface="Calibri" pitchFamily="34" charset="0"/>
                <a:ea typeface="Calibri" pitchFamily="34" charset="-122"/>
                <a:cs typeface="Calibri" pitchFamily="34" charset="-120"/>
              </a:rPr>
              <a:t>Tiled dataset</a:t>
            </a:r>
            <a:endParaRPr lang="en-US" sz="1250" dirty="0"/>
          </a:p>
        </p:txBody>
      </p:sp>
      <p:sp>
        <p:nvSpPr>
          <p:cNvPr id="25" name="Text 23"/>
          <p:cNvSpPr txBox="1"/>
          <p:nvPr/>
        </p:nvSpPr>
        <p:spPr>
          <a:xfrm>
            <a:off x="8549640" y="4206240"/>
            <a:ext cx="2926080" cy="502920"/>
          </a:xfrm>
          <a:prstGeom prst="rect">
            <a:avLst/>
          </a:prstGeom>
          <a:noFill/>
          <a:ln/>
        </p:spPr>
        <p:txBody>
          <a:bodyPr wrap="square" lIns="0" tIns="0" rIns="0" bIns="0" rtlCol="0" anchor="ctr"/>
          <a:lstStyle/>
          <a:p>
            <a:pPr algn="r" indent="0" marL="0">
              <a:lnSpc>
                <a:spcPct val="110000"/>
              </a:lnSpc>
              <a:buNone/>
            </a:pPr>
            <a:r>
              <a:rPr lang="en-US" sz="1150" b="1" dirty="0">
                <a:solidFill>
                  <a:srgbClr val="FFFFFF"/>
                </a:solidFill>
                <a:latin typeface="Calibri" pitchFamily="34" charset="0"/>
                <a:ea typeface="Calibri" pitchFamily="34" charset="-122"/>
                <a:cs typeface="Calibri" pitchFamily="34" charset="-120"/>
              </a:rPr>
              <a:t>9,220 labeled tiles (~25× more)</a:t>
            </a:r>
            <a:endParaRPr lang="en-US" sz="1150" dirty="0"/>
          </a:p>
        </p:txBody>
      </p:sp>
      <p:sp>
        <p:nvSpPr>
          <p:cNvPr id="26" name="Shape 24"/>
          <p:cNvSpPr/>
          <p:nvPr/>
        </p:nvSpPr>
        <p:spPr>
          <a:xfrm>
            <a:off x="6263640" y="4736592"/>
            <a:ext cx="5212080" cy="0"/>
          </a:xfrm>
          <a:prstGeom prst="line">
            <a:avLst/>
          </a:prstGeom>
          <a:noFill/>
          <a:ln w="9525">
            <a:solidFill>
              <a:srgbClr val="1F5866"/>
            </a:solidFill>
            <a:prstDash val="solid"/>
          </a:ln>
        </p:spPr>
      </p:sp>
      <p:sp>
        <p:nvSpPr>
          <p:cNvPr id="27" name="Text 25"/>
          <p:cNvSpPr txBox="1"/>
          <p:nvPr/>
        </p:nvSpPr>
        <p:spPr>
          <a:xfrm>
            <a:off x="6263640" y="4846320"/>
            <a:ext cx="2468880" cy="502920"/>
          </a:xfrm>
          <a:prstGeom prst="rect">
            <a:avLst/>
          </a:prstGeom>
          <a:noFill/>
          <a:ln/>
        </p:spPr>
        <p:txBody>
          <a:bodyPr wrap="square" lIns="0" tIns="0" rIns="0" bIns="0" rtlCol="0" anchor="ctr"/>
          <a:lstStyle/>
          <a:p>
            <a:pPr indent="0" marL="0">
              <a:buNone/>
            </a:pPr>
            <a:r>
              <a:rPr lang="en-US" sz="1250" dirty="0">
                <a:solidFill>
                  <a:srgbClr val="CFEAE7"/>
                </a:solidFill>
                <a:latin typeface="Calibri" pitchFamily="34" charset="0"/>
                <a:ea typeface="Calibri" pitchFamily="34" charset="-122"/>
                <a:cs typeface="Calibri" pitchFamily="34" charset="-120"/>
              </a:rPr>
              <a:t>Media used</a:t>
            </a:r>
            <a:endParaRPr lang="en-US" sz="1250" dirty="0"/>
          </a:p>
        </p:txBody>
      </p:sp>
      <p:sp>
        <p:nvSpPr>
          <p:cNvPr id="28" name="Text 26"/>
          <p:cNvSpPr txBox="1"/>
          <p:nvPr/>
        </p:nvSpPr>
        <p:spPr>
          <a:xfrm>
            <a:off x="8549640" y="4846320"/>
            <a:ext cx="2926080" cy="502920"/>
          </a:xfrm>
          <a:prstGeom prst="rect">
            <a:avLst/>
          </a:prstGeom>
          <a:noFill/>
          <a:ln/>
        </p:spPr>
        <p:txBody>
          <a:bodyPr wrap="square" lIns="0" tIns="0" rIns="0" bIns="0" rtlCol="0" anchor="ctr"/>
          <a:lstStyle/>
          <a:p>
            <a:pPr algn="r" indent="0" marL="0">
              <a:lnSpc>
                <a:spcPct val="110000"/>
              </a:lnSpc>
              <a:buNone/>
            </a:pPr>
            <a:r>
              <a:rPr lang="en-US" sz="1150" b="1" dirty="0">
                <a:solidFill>
                  <a:srgbClr val="FFFFFF"/>
                </a:solidFill>
                <a:latin typeface="Calibri" pitchFamily="34" charset="0"/>
                <a:ea typeface="Calibri" pitchFamily="34" charset="-122"/>
                <a:cs typeface="Calibri" pitchFamily="34" charset="-120"/>
              </a:rPr>
              <a:t>Blood, chocolate, nutrient, MacConkey agar</a:t>
            </a:r>
            <a:endParaRPr lang="en-US" sz="1150" dirty="0"/>
          </a:p>
        </p:txBody>
      </p:sp>
      <p:sp>
        <p:nvSpPr>
          <p:cNvPr id="29" name="Shape 27"/>
          <p:cNvSpPr/>
          <p:nvPr/>
        </p:nvSpPr>
        <p:spPr>
          <a:xfrm>
            <a:off x="6263640" y="5376672"/>
            <a:ext cx="5212080" cy="0"/>
          </a:xfrm>
          <a:prstGeom prst="line">
            <a:avLst/>
          </a:prstGeom>
          <a:noFill/>
          <a:ln w="9525">
            <a:solidFill>
              <a:srgbClr val="1F5866"/>
            </a:solidFill>
            <a:prstDash val="solid"/>
          </a:ln>
        </p:spPr>
      </p:sp>
      <p:sp>
        <p:nvSpPr>
          <p:cNvPr id="30" name="Text 28"/>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5E7D82"/>
                </a:solidFill>
                <a:latin typeface="Calibri" pitchFamily="34" charset="0"/>
                <a:ea typeface="Calibri" pitchFamily="34" charset="-122"/>
                <a:cs typeface="Calibri" pitchFamily="34" charset="-120"/>
              </a:rPr>
              <a:t>Overcoming Resolution Constraints in Automated Colony Counting via SAHI</a:t>
            </a:r>
            <a:endParaRPr lang="en-US" sz="900" dirty="0"/>
          </a:p>
        </p:txBody>
      </p:sp>
      <p:sp>
        <p:nvSpPr>
          <p:cNvPr id="31" name="Text 29"/>
          <p:cNvSpPr txBox="1"/>
          <p:nvPr/>
        </p:nvSpPr>
        <p:spPr>
          <a:xfrm>
            <a:off x="11274552" y="6473952"/>
            <a:ext cx="548640" cy="274320"/>
          </a:xfrm>
          <a:prstGeom prst="rect">
            <a:avLst/>
          </a:prstGeom>
          <a:noFill/>
          <a:ln/>
        </p:spPr>
        <p:txBody>
          <a:bodyPr wrap="square" lIns="0" tIns="0" rIns="0" bIns="0" rtlCol="0" anchor="ctr"/>
          <a:lstStyle/>
          <a:p>
            <a:pPr algn="r" indent="0" marL="0">
              <a:buNone/>
            </a:pPr>
            <a:r>
              <a:rPr lang="en-US" sz="900" dirty="0">
                <a:solidFill>
                  <a:srgbClr val="5E7D8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84048"/>
            <a:ext cx="86868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2.1 SAHI-BASED TILED INFERENCE</a:t>
            </a:r>
            <a:endParaRPr lang="en-US" sz="1300" dirty="0"/>
          </a:p>
        </p:txBody>
      </p:sp>
      <p:sp>
        <p:nvSpPr>
          <p:cNvPr id="3" name="Text 1"/>
          <p:cNvSpPr txBox="1"/>
          <p:nvPr/>
        </p:nvSpPr>
        <p:spPr>
          <a:xfrm>
            <a:off x="548640" y="685800"/>
            <a:ext cx="11091672" cy="822960"/>
          </a:xfrm>
          <a:prstGeom prst="rect">
            <a:avLst/>
          </a:prstGeom>
          <a:noFill/>
          <a:ln/>
        </p:spPr>
        <p:txBody>
          <a:bodyPr wrap="square" lIns="0" tIns="0" rIns="0" bIns="0" rtlCol="0" anchor="ctr"/>
          <a:lstStyle/>
          <a:p>
            <a:pPr indent="0" marL="0">
              <a:buNone/>
            </a:pPr>
            <a:r>
              <a:rPr lang="en-US" sz="3200" b="1" dirty="0">
                <a:solidFill>
                  <a:srgbClr val="045C6E"/>
                </a:solidFill>
                <a:latin typeface="Cambria" pitchFamily="34" charset="0"/>
                <a:ea typeface="Cambria" pitchFamily="34" charset="-122"/>
                <a:cs typeface="Cambria" pitchFamily="34" charset="-120"/>
              </a:rPr>
              <a:t>Slicing the Plate to Preserve Detail</a:t>
            </a:r>
            <a:endParaRPr lang="en-US" sz="3200" dirty="0"/>
          </a:p>
        </p:txBody>
      </p:sp>
      <p:sp>
        <p:nvSpPr>
          <p:cNvPr id="4" name="Shape 2"/>
          <p:cNvSpPr/>
          <p:nvPr/>
        </p:nvSpPr>
        <p:spPr>
          <a:xfrm>
            <a:off x="640080" y="2286000"/>
            <a:ext cx="2514600" cy="2834640"/>
          </a:xfrm>
          <a:prstGeom prst="roundRect">
            <a:avLst>
              <a:gd name="adj" fmla="val 4364"/>
            </a:avLst>
          </a:prstGeom>
          <a:solidFill>
            <a:srgbClr val="028090"/>
          </a:solidFill>
          <a:ln/>
        </p:spPr>
      </p:sp>
      <p:sp>
        <p:nvSpPr>
          <p:cNvPr id="5" name="Text 3"/>
          <p:cNvSpPr txBox="1"/>
          <p:nvPr/>
        </p:nvSpPr>
        <p:spPr>
          <a:xfrm>
            <a:off x="640080" y="2542032"/>
            <a:ext cx="2514600" cy="685800"/>
          </a:xfrm>
          <a:prstGeom prst="rect">
            <a:avLst/>
          </a:prstGeom>
          <a:noFill/>
          <a:ln/>
        </p:spPr>
        <p:txBody>
          <a:bodyPr wrap="square" lIns="0" tIns="0" rIns="0" bIns="0" rtlCol="0" anchor="ctr"/>
          <a:lstStyle/>
          <a:p>
            <a:pPr algn="ctr" indent="0" marL="0">
              <a:buNone/>
            </a:pPr>
            <a:r>
              <a:rPr lang="en-US" sz="3000" dirty="0">
                <a:solidFill>
                  <a:srgbClr val="FFFFFF"/>
                </a:solidFill>
                <a:latin typeface="Calibri" pitchFamily="34" charset="0"/>
                <a:ea typeface="Calibri" pitchFamily="34" charset="-122"/>
                <a:cs typeface="Calibri" pitchFamily="34" charset="-120"/>
              </a:rPr>
              <a:t>◎</a:t>
            </a:r>
            <a:endParaRPr lang="en-US" sz="3000" dirty="0"/>
          </a:p>
        </p:txBody>
      </p:sp>
      <p:sp>
        <p:nvSpPr>
          <p:cNvPr id="6" name="Text 4"/>
          <p:cNvSpPr txBox="1"/>
          <p:nvPr/>
        </p:nvSpPr>
        <p:spPr>
          <a:xfrm>
            <a:off x="640080" y="3246120"/>
            <a:ext cx="2514600" cy="411480"/>
          </a:xfrm>
          <a:prstGeom prst="rect">
            <a:avLst/>
          </a:prstGeom>
          <a:noFill/>
          <a:ln/>
        </p:spPr>
        <p:txBody>
          <a:bodyPr wrap="square" lIns="0" tIns="0" rIns="0" bIns="0" rtlCol="0" anchor="ctr"/>
          <a:lstStyle/>
          <a:p>
            <a:pPr algn="ctr" indent="0" marL="0">
              <a:buNone/>
            </a:pPr>
            <a:r>
              <a:rPr lang="en-US" sz="1550" b="1" dirty="0">
                <a:solidFill>
                  <a:srgbClr val="FFFFFF"/>
                </a:solidFill>
                <a:latin typeface="Calibri" pitchFamily="34" charset="0"/>
                <a:ea typeface="Calibri" pitchFamily="34" charset="-122"/>
                <a:cs typeface="Calibri" pitchFamily="34" charset="-120"/>
              </a:rPr>
              <a:t>Full-Res Plate</a:t>
            </a:r>
            <a:endParaRPr lang="en-US" sz="1550" dirty="0"/>
          </a:p>
        </p:txBody>
      </p:sp>
      <p:sp>
        <p:nvSpPr>
          <p:cNvPr id="7" name="Text 5"/>
          <p:cNvSpPr txBox="1"/>
          <p:nvPr/>
        </p:nvSpPr>
        <p:spPr>
          <a:xfrm>
            <a:off x="777240" y="3703320"/>
            <a:ext cx="2240280" cy="1234440"/>
          </a:xfrm>
          <a:prstGeom prst="rect">
            <a:avLst/>
          </a:prstGeom>
          <a:noFill/>
          <a:ln/>
        </p:spPr>
        <p:txBody>
          <a:bodyPr wrap="square" lIns="0" tIns="0" rIns="0" bIns="0" rtlCol="0" anchor="ctr"/>
          <a:lstStyle/>
          <a:p>
            <a:pPr algn="ctr" indent="0" marL="0">
              <a:lnSpc>
                <a:spcPct val="120000"/>
              </a:lnSpc>
              <a:buNone/>
            </a:pPr>
            <a:r>
              <a:rPr lang="en-US" sz="1200" dirty="0">
                <a:solidFill>
                  <a:srgbClr val="DCF2EF"/>
                </a:solidFill>
                <a:latin typeface="Calibri" pitchFamily="34" charset="0"/>
                <a:ea typeface="Calibri" pitchFamily="34" charset="-122"/>
                <a:cs typeface="Calibri" pitchFamily="34" charset="-120"/>
              </a:rPr>
              <a:t>Original high-resolution</a:t>
            </a:r>
            <a:endParaRPr lang="en-US" sz="1200" dirty="0"/>
          </a:p>
          <a:p>
            <a:pPr algn="ctr" indent="0" marL="0">
              <a:lnSpc>
                <a:spcPct val="120000"/>
              </a:lnSpc>
              <a:buNone/>
            </a:pPr>
            <a:r>
              <a:rPr lang="en-US" sz="1200" dirty="0">
                <a:solidFill>
                  <a:srgbClr val="DCF2EF"/>
                </a:solidFill>
                <a:latin typeface="Calibri" pitchFamily="34" charset="0"/>
                <a:ea typeface="Calibri" pitchFamily="34" charset="-122"/>
                <a:cs typeface="Calibri" pitchFamily="34" charset="-120"/>
              </a:rPr>
              <a:t>Petri dish photograph</a:t>
            </a:r>
            <a:endParaRPr lang="en-US" sz="1200" dirty="0"/>
          </a:p>
        </p:txBody>
      </p:sp>
      <p:sp>
        <p:nvSpPr>
          <p:cNvPr id="8" name="Text 6"/>
          <p:cNvSpPr txBox="1"/>
          <p:nvPr/>
        </p:nvSpPr>
        <p:spPr>
          <a:xfrm>
            <a:off x="3172968" y="3337560"/>
            <a:ext cx="347472" cy="548640"/>
          </a:xfrm>
          <a:prstGeom prst="rect">
            <a:avLst/>
          </a:prstGeom>
          <a:noFill/>
          <a:ln/>
        </p:spPr>
        <p:txBody>
          <a:bodyPr wrap="square" lIns="0" tIns="0" rIns="0" bIns="0" rtlCol="0" anchor="ctr"/>
          <a:lstStyle/>
          <a:p>
            <a:pPr algn="ctr" indent="0" marL="0">
              <a:buNone/>
            </a:pPr>
            <a:r>
              <a:rPr lang="en-US" sz="2400" b="1" dirty="0">
                <a:solidFill>
                  <a:srgbClr val="045C6E"/>
                </a:solidFill>
                <a:latin typeface="Calibri" pitchFamily="34" charset="0"/>
                <a:ea typeface="Calibri" pitchFamily="34" charset="-122"/>
                <a:cs typeface="Calibri" pitchFamily="34" charset="-120"/>
              </a:rPr>
              <a:t>→</a:t>
            </a:r>
            <a:endParaRPr lang="en-US" sz="2400" dirty="0"/>
          </a:p>
        </p:txBody>
      </p:sp>
      <p:sp>
        <p:nvSpPr>
          <p:cNvPr id="9" name="Shape 7"/>
          <p:cNvSpPr/>
          <p:nvPr/>
        </p:nvSpPr>
        <p:spPr>
          <a:xfrm>
            <a:off x="3538728" y="2286000"/>
            <a:ext cx="2514600" cy="2834640"/>
          </a:xfrm>
          <a:prstGeom prst="roundRect">
            <a:avLst>
              <a:gd name="adj" fmla="val 4364"/>
            </a:avLst>
          </a:prstGeom>
          <a:solidFill>
            <a:srgbClr val="045C6E"/>
          </a:solidFill>
          <a:ln/>
        </p:spPr>
      </p:sp>
      <p:sp>
        <p:nvSpPr>
          <p:cNvPr id="10" name="Text 8"/>
          <p:cNvSpPr txBox="1"/>
          <p:nvPr/>
        </p:nvSpPr>
        <p:spPr>
          <a:xfrm>
            <a:off x="3538728" y="2542032"/>
            <a:ext cx="2514600" cy="685800"/>
          </a:xfrm>
          <a:prstGeom prst="rect">
            <a:avLst/>
          </a:prstGeom>
          <a:noFill/>
          <a:ln/>
        </p:spPr>
        <p:txBody>
          <a:bodyPr wrap="square" lIns="0" tIns="0" rIns="0" bIns="0" rtlCol="0" anchor="ctr"/>
          <a:lstStyle/>
          <a:p>
            <a:pPr algn="ctr" indent="0" marL="0">
              <a:buNone/>
            </a:pPr>
            <a:r>
              <a:rPr lang="en-US" sz="3000" dirty="0">
                <a:solidFill>
                  <a:srgbClr val="FFFFFF"/>
                </a:solidFill>
                <a:latin typeface="Calibri" pitchFamily="34" charset="0"/>
                <a:ea typeface="Calibri" pitchFamily="34" charset="-122"/>
                <a:cs typeface="Calibri" pitchFamily="34" charset="-120"/>
              </a:rPr>
              <a:t>▦</a:t>
            </a:r>
            <a:endParaRPr lang="en-US" sz="3000" dirty="0"/>
          </a:p>
        </p:txBody>
      </p:sp>
      <p:sp>
        <p:nvSpPr>
          <p:cNvPr id="11" name="Text 9"/>
          <p:cNvSpPr txBox="1"/>
          <p:nvPr/>
        </p:nvSpPr>
        <p:spPr>
          <a:xfrm>
            <a:off x="3538728" y="3246120"/>
            <a:ext cx="2514600" cy="411480"/>
          </a:xfrm>
          <a:prstGeom prst="rect">
            <a:avLst/>
          </a:prstGeom>
          <a:noFill/>
          <a:ln/>
        </p:spPr>
        <p:txBody>
          <a:bodyPr wrap="square" lIns="0" tIns="0" rIns="0" bIns="0" rtlCol="0" anchor="ctr"/>
          <a:lstStyle/>
          <a:p>
            <a:pPr algn="ctr" indent="0" marL="0">
              <a:buNone/>
            </a:pPr>
            <a:r>
              <a:rPr lang="en-US" sz="1550" b="1" dirty="0">
                <a:solidFill>
                  <a:srgbClr val="FFFFFF"/>
                </a:solidFill>
                <a:latin typeface="Calibri" pitchFamily="34" charset="0"/>
                <a:ea typeface="Calibri" pitchFamily="34" charset="-122"/>
                <a:cs typeface="Calibri" pitchFamily="34" charset="-120"/>
              </a:rPr>
              <a:t>Overlapping Tiles</a:t>
            </a:r>
            <a:endParaRPr lang="en-US" sz="1550" dirty="0"/>
          </a:p>
        </p:txBody>
      </p:sp>
      <p:sp>
        <p:nvSpPr>
          <p:cNvPr id="12" name="Text 10"/>
          <p:cNvSpPr txBox="1"/>
          <p:nvPr/>
        </p:nvSpPr>
        <p:spPr>
          <a:xfrm>
            <a:off x="3675888" y="3703320"/>
            <a:ext cx="2240280" cy="1234440"/>
          </a:xfrm>
          <a:prstGeom prst="rect">
            <a:avLst/>
          </a:prstGeom>
          <a:noFill/>
          <a:ln/>
        </p:spPr>
        <p:txBody>
          <a:bodyPr wrap="square" lIns="0" tIns="0" rIns="0" bIns="0" rtlCol="0" anchor="ctr"/>
          <a:lstStyle/>
          <a:p>
            <a:pPr algn="ctr" indent="0" marL="0">
              <a:lnSpc>
                <a:spcPct val="120000"/>
              </a:lnSpc>
              <a:buNone/>
            </a:pPr>
            <a:r>
              <a:rPr lang="en-US" sz="1200" dirty="0">
                <a:solidFill>
                  <a:srgbClr val="DCF2EF"/>
                </a:solidFill>
                <a:latin typeface="Calibri" pitchFamily="34" charset="0"/>
                <a:ea typeface="Calibri" pitchFamily="34" charset="-122"/>
                <a:cs typeface="Calibri" pitchFamily="34" charset="-120"/>
              </a:rPr>
              <a:t>Sliced into 640×640 px</a:t>
            </a:r>
            <a:endParaRPr lang="en-US" sz="1200" dirty="0"/>
          </a:p>
          <a:p>
            <a:pPr algn="ctr" indent="0" marL="0">
              <a:lnSpc>
                <a:spcPct val="120000"/>
              </a:lnSpc>
              <a:buNone/>
            </a:pPr>
            <a:r>
              <a:rPr lang="en-US" sz="1200" dirty="0">
                <a:solidFill>
                  <a:srgbClr val="DCF2EF"/>
                </a:solidFill>
                <a:latin typeface="Calibri" pitchFamily="34" charset="0"/>
                <a:ea typeface="Calibri" pitchFamily="34" charset="-122"/>
                <a:cs typeface="Calibri" pitchFamily="34" charset="-120"/>
              </a:rPr>
              <a:t>patches, 20% overlap</a:t>
            </a:r>
            <a:endParaRPr lang="en-US" sz="1200" dirty="0"/>
          </a:p>
        </p:txBody>
      </p:sp>
      <p:sp>
        <p:nvSpPr>
          <p:cNvPr id="13" name="Text 11"/>
          <p:cNvSpPr txBox="1"/>
          <p:nvPr/>
        </p:nvSpPr>
        <p:spPr>
          <a:xfrm>
            <a:off x="6071616" y="3337560"/>
            <a:ext cx="347472" cy="548640"/>
          </a:xfrm>
          <a:prstGeom prst="rect">
            <a:avLst/>
          </a:prstGeom>
          <a:noFill/>
          <a:ln/>
        </p:spPr>
        <p:txBody>
          <a:bodyPr wrap="square" lIns="0" tIns="0" rIns="0" bIns="0" rtlCol="0" anchor="ctr"/>
          <a:lstStyle/>
          <a:p>
            <a:pPr algn="ctr" indent="0" marL="0">
              <a:buNone/>
            </a:pPr>
            <a:r>
              <a:rPr lang="en-US" sz="2400" b="1" dirty="0">
                <a:solidFill>
                  <a:srgbClr val="045C6E"/>
                </a:solidFill>
                <a:latin typeface="Calibri" pitchFamily="34" charset="0"/>
                <a:ea typeface="Calibri" pitchFamily="34" charset="-122"/>
                <a:cs typeface="Calibri" pitchFamily="34" charset="-120"/>
              </a:rPr>
              <a:t>→</a:t>
            </a:r>
            <a:endParaRPr lang="en-US" sz="2400" dirty="0"/>
          </a:p>
        </p:txBody>
      </p:sp>
      <p:sp>
        <p:nvSpPr>
          <p:cNvPr id="14" name="Shape 12"/>
          <p:cNvSpPr/>
          <p:nvPr/>
        </p:nvSpPr>
        <p:spPr>
          <a:xfrm>
            <a:off x="6437376" y="2286000"/>
            <a:ext cx="2514600" cy="2834640"/>
          </a:xfrm>
          <a:prstGeom prst="roundRect">
            <a:avLst>
              <a:gd name="adj" fmla="val 4364"/>
            </a:avLst>
          </a:prstGeom>
          <a:solidFill>
            <a:srgbClr val="028090"/>
          </a:solidFill>
          <a:ln/>
        </p:spPr>
      </p:sp>
      <p:sp>
        <p:nvSpPr>
          <p:cNvPr id="15" name="Text 13"/>
          <p:cNvSpPr txBox="1"/>
          <p:nvPr/>
        </p:nvSpPr>
        <p:spPr>
          <a:xfrm>
            <a:off x="6437376" y="2542032"/>
            <a:ext cx="2514600" cy="685800"/>
          </a:xfrm>
          <a:prstGeom prst="rect">
            <a:avLst/>
          </a:prstGeom>
          <a:noFill/>
          <a:ln/>
        </p:spPr>
        <p:txBody>
          <a:bodyPr wrap="square" lIns="0" tIns="0" rIns="0" bIns="0" rtlCol="0" anchor="ctr"/>
          <a:lstStyle/>
          <a:p>
            <a:pPr algn="ctr" indent="0" marL="0">
              <a:buNone/>
            </a:pPr>
            <a:r>
              <a:rPr lang="en-US" sz="3000" dirty="0">
                <a:solidFill>
                  <a:srgbClr val="FFFFFF"/>
                </a:solidFill>
                <a:latin typeface="Calibri" pitchFamily="34" charset="0"/>
                <a:ea typeface="Calibri" pitchFamily="34" charset="-122"/>
                <a:cs typeface="Calibri" pitchFamily="34" charset="-120"/>
              </a:rPr>
              <a:t>◉</a:t>
            </a:r>
            <a:endParaRPr lang="en-US" sz="3000" dirty="0"/>
          </a:p>
        </p:txBody>
      </p:sp>
      <p:sp>
        <p:nvSpPr>
          <p:cNvPr id="16" name="Text 14"/>
          <p:cNvSpPr txBox="1"/>
          <p:nvPr/>
        </p:nvSpPr>
        <p:spPr>
          <a:xfrm>
            <a:off x="6437376" y="3246120"/>
            <a:ext cx="2514600" cy="411480"/>
          </a:xfrm>
          <a:prstGeom prst="rect">
            <a:avLst/>
          </a:prstGeom>
          <a:noFill/>
          <a:ln/>
        </p:spPr>
        <p:txBody>
          <a:bodyPr wrap="square" lIns="0" tIns="0" rIns="0" bIns="0" rtlCol="0" anchor="ctr"/>
          <a:lstStyle/>
          <a:p>
            <a:pPr algn="ctr" indent="0" marL="0">
              <a:buNone/>
            </a:pPr>
            <a:r>
              <a:rPr lang="en-US" sz="1550" b="1" dirty="0">
                <a:solidFill>
                  <a:srgbClr val="FFFFFF"/>
                </a:solidFill>
                <a:latin typeface="Calibri" pitchFamily="34" charset="0"/>
                <a:ea typeface="Calibri" pitchFamily="34" charset="-122"/>
                <a:cs typeface="Calibri" pitchFamily="34" charset="-120"/>
              </a:rPr>
              <a:t>Per-Tile Detection</a:t>
            </a:r>
            <a:endParaRPr lang="en-US" sz="1550" dirty="0"/>
          </a:p>
        </p:txBody>
      </p:sp>
      <p:sp>
        <p:nvSpPr>
          <p:cNvPr id="17" name="Text 15"/>
          <p:cNvSpPr txBox="1"/>
          <p:nvPr/>
        </p:nvSpPr>
        <p:spPr>
          <a:xfrm>
            <a:off x="6574536" y="3703320"/>
            <a:ext cx="2240280" cy="1234440"/>
          </a:xfrm>
          <a:prstGeom prst="rect">
            <a:avLst/>
          </a:prstGeom>
          <a:noFill/>
          <a:ln/>
        </p:spPr>
        <p:txBody>
          <a:bodyPr wrap="square" lIns="0" tIns="0" rIns="0" bIns="0" rtlCol="0" anchor="ctr"/>
          <a:lstStyle/>
          <a:p>
            <a:pPr algn="ctr" indent="0" marL="0">
              <a:lnSpc>
                <a:spcPct val="120000"/>
              </a:lnSpc>
              <a:buNone/>
            </a:pPr>
            <a:r>
              <a:rPr lang="en-US" sz="1200" dirty="0">
                <a:solidFill>
                  <a:srgbClr val="DCF2EF"/>
                </a:solidFill>
                <a:latin typeface="Calibri" pitchFamily="34" charset="0"/>
                <a:ea typeface="Calibri" pitchFamily="34" charset="-122"/>
                <a:cs typeface="Calibri" pitchFamily="34" charset="-120"/>
              </a:rPr>
              <a:t>YOLO nano model runs</a:t>
            </a:r>
            <a:endParaRPr lang="en-US" sz="1200" dirty="0"/>
          </a:p>
          <a:p>
            <a:pPr algn="ctr" indent="0" marL="0">
              <a:lnSpc>
                <a:spcPct val="120000"/>
              </a:lnSpc>
              <a:buNone/>
            </a:pPr>
            <a:r>
              <a:rPr lang="en-US" sz="1200" dirty="0">
                <a:solidFill>
                  <a:srgbClr val="DCF2EF"/>
                </a:solidFill>
                <a:latin typeface="Calibri" pitchFamily="34" charset="0"/>
                <a:ea typeface="Calibri" pitchFamily="34" charset="-122"/>
                <a:cs typeface="Calibri" pitchFamily="34" charset="-120"/>
              </a:rPr>
              <a:t>independently on each tile</a:t>
            </a:r>
            <a:endParaRPr lang="en-US" sz="1200" dirty="0"/>
          </a:p>
        </p:txBody>
      </p:sp>
      <p:sp>
        <p:nvSpPr>
          <p:cNvPr id="18" name="Text 16"/>
          <p:cNvSpPr txBox="1"/>
          <p:nvPr/>
        </p:nvSpPr>
        <p:spPr>
          <a:xfrm>
            <a:off x="8970264" y="3337560"/>
            <a:ext cx="347472" cy="548640"/>
          </a:xfrm>
          <a:prstGeom prst="rect">
            <a:avLst/>
          </a:prstGeom>
          <a:noFill/>
          <a:ln/>
        </p:spPr>
        <p:txBody>
          <a:bodyPr wrap="square" lIns="0" tIns="0" rIns="0" bIns="0" rtlCol="0" anchor="ctr"/>
          <a:lstStyle/>
          <a:p>
            <a:pPr algn="ctr" indent="0" marL="0">
              <a:buNone/>
            </a:pPr>
            <a:r>
              <a:rPr lang="en-US" sz="2400" b="1" dirty="0">
                <a:solidFill>
                  <a:srgbClr val="045C6E"/>
                </a:solidFill>
                <a:latin typeface="Calibri" pitchFamily="34" charset="0"/>
                <a:ea typeface="Calibri" pitchFamily="34" charset="-122"/>
                <a:cs typeface="Calibri" pitchFamily="34" charset="-120"/>
              </a:rPr>
              <a:t>→</a:t>
            </a:r>
            <a:endParaRPr lang="en-US" sz="2400" dirty="0"/>
          </a:p>
        </p:txBody>
      </p:sp>
      <p:sp>
        <p:nvSpPr>
          <p:cNvPr id="19" name="Shape 17"/>
          <p:cNvSpPr/>
          <p:nvPr/>
        </p:nvSpPr>
        <p:spPr>
          <a:xfrm>
            <a:off x="9336024" y="2286000"/>
            <a:ext cx="2514600" cy="2834640"/>
          </a:xfrm>
          <a:prstGeom prst="roundRect">
            <a:avLst>
              <a:gd name="adj" fmla="val 4364"/>
            </a:avLst>
          </a:prstGeom>
          <a:solidFill>
            <a:srgbClr val="045C6E"/>
          </a:solidFill>
          <a:ln/>
        </p:spPr>
      </p:sp>
      <p:sp>
        <p:nvSpPr>
          <p:cNvPr id="20" name="Text 18"/>
          <p:cNvSpPr txBox="1"/>
          <p:nvPr/>
        </p:nvSpPr>
        <p:spPr>
          <a:xfrm>
            <a:off x="9336024" y="2542032"/>
            <a:ext cx="2514600" cy="685800"/>
          </a:xfrm>
          <a:prstGeom prst="rect">
            <a:avLst/>
          </a:prstGeom>
          <a:noFill/>
          <a:ln/>
        </p:spPr>
        <p:txBody>
          <a:bodyPr wrap="square" lIns="0" tIns="0" rIns="0" bIns="0" rtlCol="0" anchor="ctr"/>
          <a:lstStyle/>
          <a:p>
            <a:pPr algn="ctr" indent="0" marL="0">
              <a:buNone/>
            </a:pPr>
            <a:r>
              <a:rPr lang="en-US" sz="3000" dirty="0">
                <a:solidFill>
                  <a:srgbClr val="FFFFFF"/>
                </a:solidFill>
                <a:latin typeface="Calibri" pitchFamily="34" charset="0"/>
                <a:ea typeface="Calibri" pitchFamily="34" charset="-122"/>
                <a:cs typeface="Calibri" pitchFamily="34" charset="-120"/>
              </a:rPr>
              <a:t>⌗</a:t>
            </a:r>
            <a:endParaRPr lang="en-US" sz="3000" dirty="0"/>
          </a:p>
        </p:txBody>
      </p:sp>
      <p:sp>
        <p:nvSpPr>
          <p:cNvPr id="21" name="Text 19"/>
          <p:cNvSpPr txBox="1"/>
          <p:nvPr/>
        </p:nvSpPr>
        <p:spPr>
          <a:xfrm>
            <a:off x="9336024" y="3246120"/>
            <a:ext cx="2514600" cy="411480"/>
          </a:xfrm>
          <a:prstGeom prst="rect">
            <a:avLst/>
          </a:prstGeom>
          <a:noFill/>
          <a:ln/>
        </p:spPr>
        <p:txBody>
          <a:bodyPr wrap="square" lIns="0" tIns="0" rIns="0" bIns="0" rtlCol="0" anchor="ctr"/>
          <a:lstStyle/>
          <a:p>
            <a:pPr algn="ctr" indent="0" marL="0">
              <a:buNone/>
            </a:pPr>
            <a:r>
              <a:rPr lang="en-US" sz="1550" b="1" dirty="0">
                <a:solidFill>
                  <a:srgbClr val="FFFFFF"/>
                </a:solidFill>
                <a:latin typeface="Calibri" pitchFamily="34" charset="0"/>
                <a:ea typeface="Calibri" pitchFamily="34" charset="-122"/>
                <a:cs typeface="Calibri" pitchFamily="34" charset="-120"/>
              </a:rPr>
              <a:t>Merge + NMS</a:t>
            </a:r>
            <a:endParaRPr lang="en-US" sz="1550" dirty="0"/>
          </a:p>
        </p:txBody>
      </p:sp>
      <p:sp>
        <p:nvSpPr>
          <p:cNvPr id="22" name="Text 20"/>
          <p:cNvSpPr txBox="1"/>
          <p:nvPr/>
        </p:nvSpPr>
        <p:spPr>
          <a:xfrm>
            <a:off x="9473184" y="3703320"/>
            <a:ext cx="2240280" cy="1234440"/>
          </a:xfrm>
          <a:prstGeom prst="rect">
            <a:avLst/>
          </a:prstGeom>
          <a:noFill/>
          <a:ln/>
        </p:spPr>
        <p:txBody>
          <a:bodyPr wrap="square" lIns="0" tIns="0" rIns="0" bIns="0" rtlCol="0" anchor="ctr"/>
          <a:lstStyle/>
          <a:p>
            <a:pPr algn="ctr" indent="0" marL="0">
              <a:lnSpc>
                <a:spcPct val="120000"/>
              </a:lnSpc>
              <a:buNone/>
            </a:pPr>
            <a:r>
              <a:rPr lang="en-US" sz="1200" dirty="0">
                <a:solidFill>
                  <a:srgbClr val="DCF2EF"/>
                </a:solidFill>
                <a:latin typeface="Calibri" pitchFamily="34" charset="0"/>
                <a:ea typeface="Calibri" pitchFamily="34" charset="-122"/>
                <a:cs typeface="Calibri" pitchFamily="34" charset="-120"/>
              </a:rPr>
              <a:t>Coordinates remapped,</a:t>
            </a:r>
            <a:endParaRPr lang="en-US" sz="1200" dirty="0"/>
          </a:p>
          <a:p>
            <a:pPr algn="ctr" indent="0" marL="0">
              <a:lnSpc>
                <a:spcPct val="120000"/>
              </a:lnSpc>
              <a:buNone/>
            </a:pPr>
            <a:r>
              <a:rPr lang="en-US" sz="1200" dirty="0">
                <a:solidFill>
                  <a:srgbClr val="DCF2EF"/>
                </a:solidFill>
                <a:latin typeface="Calibri" pitchFamily="34" charset="0"/>
                <a:ea typeface="Calibri" pitchFamily="34" charset="-122"/>
                <a:cs typeface="Calibri" pitchFamily="34" charset="-120"/>
              </a:rPr>
              <a:t>duplicates removed</a:t>
            </a:r>
            <a:endParaRPr lang="en-US" sz="1200" dirty="0"/>
          </a:p>
        </p:txBody>
      </p:sp>
      <p:sp>
        <p:nvSpPr>
          <p:cNvPr id="23" name="Text 21"/>
          <p:cNvSpPr txBox="1"/>
          <p:nvPr/>
        </p:nvSpPr>
        <p:spPr>
          <a:xfrm>
            <a:off x="640080" y="5486400"/>
            <a:ext cx="10881360" cy="548640"/>
          </a:xfrm>
          <a:prstGeom prst="rect">
            <a:avLst/>
          </a:prstGeom>
          <a:noFill/>
          <a:ln/>
        </p:spPr>
        <p:txBody>
          <a:bodyPr wrap="square" lIns="0" tIns="0" rIns="0" bIns="0" rtlCol="0" anchor="ctr"/>
          <a:lstStyle/>
          <a:p>
            <a:pPr indent="0" marL="0">
              <a:lnSpc>
                <a:spcPct val="120000"/>
              </a:lnSpc>
              <a:buNone/>
            </a:pPr>
            <a:r>
              <a:rPr lang="en-US" sz="1250" i="1" dirty="0">
                <a:solidFill>
                  <a:srgbClr val="5E7D82"/>
                </a:solidFill>
                <a:latin typeface="Calibri" pitchFamily="34" charset="0"/>
                <a:ea typeface="Calibri" pitchFamily="34" charset="-122"/>
                <a:cs typeface="Calibri" pitchFamily="34" charset="-120"/>
              </a:rPr>
              <a:t>SAHI (Slicing Aided Hyper Inference) is model-agnostic — it plugs into YOLOv5n, YOLOv8n, or YOLOv11n directly, with no architectural modification required.</a:t>
            </a:r>
            <a:endParaRPr lang="en-US" sz="1250" dirty="0"/>
          </a:p>
        </p:txBody>
      </p:sp>
      <p:sp>
        <p:nvSpPr>
          <p:cNvPr id="24" name="Text 22"/>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5E7D82"/>
                </a:solidFill>
                <a:latin typeface="Calibri" pitchFamily="34" charset="0"/>
                <a:ea typeface="Calibri" pitchFamily="34" charset="-122"/>
                <a:cs typeface="Calibri" pitchFamily="34" charset="-120"/>
              </a:rPr>
              <a:t>Overcoming Resolution Constraints in Automated Colony Counting via SAHI</a:t>
            </a:r>
            <a:endParaRPr lang="en-US" sz="900" dirty="0"/>
          </a:p>
        </p:txBody>
      </p:sp>
      <p:sp>
        <p:nvSpPr>
          <p:cNvPr id="25" name="Text 23"/>
          <p:cNvSpPr txBox="1"/>
          <p:nvPr/>
        </p:nvSpPr>
        <p:spPr>
          <a:xfrm>
            <a:off x="11274552" y="6473952"/>
            <a:ext cx="548640" cy="274320"/>
          </a:xfrm>
          <a:prstGeom prst="rect">
            <a:avLst/>
          </a:prstGeom>
          <a:noFill/>
          <a:ln/>
        </p:spPr>
        <p:txBody>
          <a:bodyPr wrap="square" lIns="0" tIns="0" rIns="0" bIns="0" rtlCol="0" anchor="ctr"/>
          <a:lstStyle/>
          <a:p>
            <a:pPr algn="r" indent="0" marL="0">
              <a:buNone/>
            </a:pPr>
            <a:r>
              <a:rPr lang="en-US" sz="900" dirty="0">
                <a:solidFill>
                  <a:srgbClr val="5E7D8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84048"/>
            <a:ext cx="86868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3. RESULTS — EXPERIMENTAL SETUP</a:t>
            </a:r>
            <a:endParaRPr lang="en-US" sz="1300" dirty="0"/>
          </a:p>
        </p:txBody>
      </p:sp>
      <p:sp>
        <p:nvSpPr>
          <p:cNvPr id="3" name="Text 1"/>
          <p:cNvSpPr txBox="1"/>
          <p:nvPr/>
        </p:nvSpPr>
        <p:spPr>
          <a:xfrm>
            <a:off x="548640" y="685800"/>
            <a:ext cx="11091672" cy="822960"/>
          </a:xfrm>
          <a:prstGeom prst="rect">
            <a:avLst/>
          </a:prstGeom>
          <a:noFill/>
          <a:ln/>
        </p:spPr>
        <p:txBody>
          <a:bodyPr wrap="square" lIns="0" tIns="0" rIns="0" bIns="0" rtlCol="0" anchor="ctr"/>
          <a:lstStyle/>
          <a:p>
            <a:pPr indent="0" marL="0">
              <a:buNone/>
            </a:pPr>
            <a:r>
              <a:rPr lang="en-US" sz="3200" b="1" dirty="0">
                <a:solidFill>
                  <a:srgbClr val="045C6E"/>
                </a:solidFill>
                <a:latin typeface="Cambria" pitchFamily="34" charset="0"/>
                <a:ea typeface="Cambria" pitchFamily="34" charset="-122"/>
                <a:cs typeface="Cambria" pitchFamily="34" charset="-120"/>
              </a:rPr>
              <a:t>Three Nano Models, Two Strategies</a:t>
            </a:r>
            <a:endParaRPr lang="en-US" sz="3200" dirty="0"/>
          </a:p>
        </p:txBody>
      </p:sp>
      <p:sp>
        <p:nvSpPr>
          <p:cNvPr id="4" name="Text 2"/>
          <p:cNvSpPr txBox="1"/>
          <p:nvPr/>
        </p:nvSpPr>
        <p:spPr>
          <a:xfrm>
            <a:off x="548640" y="1554480"/>
            <a:ext cx="11064240" cy="777240"/>
          </a:xfrm>
          <a:prstGeom prst="rect">
            <a:avLst/>
          </a:prstGeom>
          <a:noFill/>
          <a:ln/>
        </p:spPr>
        <p:txBody>
          <a:bodyPr wrap="square" lIns="0" tIns="0" rIns="0" bIns="0" rtlCol="0" anchor="ctr"/>
          <a:lstStyle/>
          <a:p>
            <a:pPr indent="0" marL="0">
              <a:lnSpc>
                <a:spcPct val="122000"/>
              </a:lnSpc>
              <a:buNone/>
            </a:pPr>
            <a:r>
              <a:rPr lang="en-US" sz="1450" dirty="0">
                <a:solidFill>
                  <a:srgbClr val="0E2A2F"/>
                </a:solidFill>
                <a:latin typeface="Calibri" pitchFamily="34" charset="0"/>
                <a:ea typeface="Calibri" pitchFamily="34" charset="-122"/>
                <a:cs typeface="Calibri" pitchFamily="34" charset="-120"/>
              </a:rPr>
              <a:t>YOLOv5n, YOLOv8n, and YOLOv11n — three successive nano-scale generations of the YOLO family — were each trained under both a resized baseline and the proposed tiled strategy, for a controlled, model-agnostic comparison.</a:t>
            </a:r>
            <a:endParaRPr lang="en-US" sz="1450" dirty="0"/>
          </a:p>
        </p:txBody>
      </p:sp>
      <p:sp>
        <p:nvSpPr>
          <p:cNvPr id="5" name="Shape 3"/>
          <p:cNvSpPr/>
          <p:nvPr/>
        </p:nvSpPr>
        <p:spPr>
          <a:xfrm>
            <a:off x="548640" y="2514600"/>
            <a:ext cx="5394960" cy="3429000"/>
          </a:xfrm>
          <a:prstGeom prst="roundRect">
            <a:avLst>
              <a:gd name="adj" fmla="val 3200"/>
            </a:avLst>
          </a:prstGeom>
          <a:solidFill>
            <a:srgbClr val="045C6E"/>
          </a:solidFill>
          <a:ln/>
        </p:spPr>
      </p:sp>
      <p:sp>
        <p:nvSpPr>
          <p:cNvPr id="6" name="Text 4"/>
          <p:cNvSpPr txBox="1"/>
          <p:nvPr/>
        </p:nvSpPr>
        <p:spPr>
          <a:xfrm>
            <a:off x="822960" y="2743200"/>
            <a:ext cx="4846320" cy="320040"/>
          </a:xfrm>
          <a:prstGeom prst="rect">
            <a:avLst/>
          </a:prstGeom>
          <a:noFill/>
          <a:ln/>
        </p:spPr>
        <p:txBody>
          <a:bodyPr wrap="square" lIns="0" tIns="0" rIns="0" bIns="0" rtlCol="0" anchor="ctr"/>
          <a:lstStyle/>
          <a:p>
            <a:pPr indent="0" marL="0">
              <a:buNone/>
            </a:pPr>
            <a:r>
              <a:rPr lang="en-US" sz="1200" b="1" spc="120" kern="0" dirty="0">
                <a:solidFill>
                  <a:srgbClr val="F4A100"/>
                </a:solidFill>
                <a:latin typeface="Calibri" pitchFamily="34" charset="0"/>
                <a:ea typeface="Calibri" pitchFamily="34" charset="-122"/>
                <a:cs typeface="Calibri" pitchFamily="34" charset="-120"/>
              </a:rPr>
              <a:t>TRAINING CONFIGURATION</a:t>
            </a:r>
            <a:endParaRPr lang="en-US" sz="1200" dirty="0"/>
          </a:p>
        </p:txBody>
      </p:sp>
      <p:sp>
        <p:nvSpPr>
          <p:cNvPr id="7" name="Text 5"/>
          <p:cNvSpPr txBox="1"/>
          <p:nvPr/>
        </p:nvSpPr>
        <p:spPr>
          <a:xfrm>
            <a:off x="822960" y="3200400"/>
            <a:ext cx="2468880" cy="384048"/>
          </a:xfrm>
          <a:prstGeom prst="rect">
            <a:avLst/>
          </a:prstGeom>
          <a:noFill/>
          <a:ln/>
        </p:spPr>
        <p:txBody>
          <a:bodyPr wrap="square" lIns="0" tIns="0" rIns="0" bIns="0" rtlCol="0" anchor="ctr"/>
          <a:lstStyle/>
          <a:p>
            <a:pPr indent="0" marL="0">
              <a:buNone/>
            </a:pPr>
            <a:r>
              <a:rPr lang="en-US" sz="1250" dirty="0">
                <a:solidFill>
                  <a:srgbClr val="CFEAE7"/>
                </a:solidFill>
                <a:latin typeface="Calibri" pitchFamily="34" charset="0"/>
                <a:ea typeface="Calibri" pitchFamily="34" charset="-122"/>
                <a:cs typeface="Calibri" pitchFamily="34" charset="-120"/>
              </a:rPr>
              <a:t>Framework</a:t>
            </a:r>
            <a:endParaRPr lang="en-US" sz="1250" dirty="0"/>
          </a:p>
        </p:txBody>
      </p:sp>
      <p:sp>
        <p:nvSpPr>
          <p:cNvPr id="8" name="Text 6"/>
          <p:cNvSpPr txBox="1"/>
          <p:nvPr/>
        </p:nvSpPr>
        <p:spPr>
          <a:xfrm>
            <a:off x="3200400" y="3200400"/>
            <a:ext cx="2514600" cy="384048"/>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Ultralytics v8.3.213</a:t>
            </a:r>
            <a:endParaRPr lang="en-US" sz="1200" dirty="0"/>
          </a:p>
        </p:txBody>
      </p:sp>
      <p:sp>
        <p:nvSpPr>
          <p:cNvPr id="9" name="Text 7"/>
          <p:cNvSpPr txBox="1"/>
          <p:nvPr/>
        </p:nvSpPr>
        <p:spPr>
          <a:xfrm>
            <a:off x="822960" y="3657600"/>
            <a:ext cx="2468880" cy="384048"/>
          </a:xfrm>
          <a:prstGeom prst="rect">
            <a:avLst/>
          </a:prstGeom>
          <a:noFill/>
          <a:ln/>
        </p:spPr>
        <p:txBody>
          <a:bodyPr wrap="square" lIns="0" tIns="0" rIns="0" bIns="0" rtlCol="0" anchor="ctr"/>
          <a:lstStyle/>
          <a:p>
            <a:pPr indent="0" marL="0">
              <a:buNone/>
            </a:pPr>
            <a:r>
              <a:rPr lang="en-US" sz="1250" dirty="0">
                <a:solidFill>
                  <a:srgbClr val="CFEAE7"/>
                </a:solidFill>
                <a:latin typeface="Calibri" pitchFamily="34" charset="0"/>
                <a:ea typeface="Calibri" pitchFamily="34" charset="-122"/>
                <a:cs typeface="Calibri" pitchFamily="34" charset="-120"/>
              </a:rPr>
              <a:t>Epochs</a:t>
            </a:r>
            <a:endParaRPr lang="en-US" sz="1250" dirty="0"/>
          </a:p>
        </p:txBody>
      </p:sp>
      <p:sp>
        <p:nvSpPr>
          <p:cNvPr id="10" name="Text 8"/>
          <p:cNvSpPr txBox="1"/>
          <p:nvPr/>
        </p:nvSpPr>
        <p:spPr>
          <a:xfrm>
            <a:off x="3200400" y="3657600"/>
            <a:ext cx="2514600" cy="384048"/>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50</a:t>
            </a:r>
            <a:endParaRPr lang="en-US" sz="1200" dirty="0"/>
          </a:p>
        </p:txBody>
      </p:sp>
      <p:sp>
        <p:nvSpPr>
          <p:cNvPr id="11" name="Text 9"/>
          <p:cNvSpPr txBox="1"/>
          <p:nvPr/>
        </p:nvSpPr>
        <p:spPr>
          <a:xfrm>
            <a:off x="822960" y="4114800"/>
            <a:ext cx="2468880" cy="384048"/>
          </a:xfrm>
          <a:prstGeom prst="rect">
            <a:avLst/>
          </a:prstGeom>
          <a:noFill/>
          <a:ln/>
        </p:spPr>
        <p:txBody>
          <a:bodyPr wrap="square" lIns="0" tIns="0" rIns="0" bIns="0" rtlCol="0" anchor="ctr"/>
          <a:lstStyle/>
          <a:p>
            <a:pPr indent="0" marL="0">
              <a:buNone/>
            </a:pPr>
            <a:r>
              <a:rPr lang="en-US" sz="1250" dirty="0">
                <a:solidFill>
                  <a:srgbClr val="CFEAE7"/>
                </a:solidFill>
                <a:latin typeface="Calibri" pitchFamily="34" charset="0"/>
                <a:ea typeface="Calibri" pitchFamily="34" charset="-122"/>
                <a:cs typeface="Calibri" pitchFamily="34" charset="-120"/>
              </a:rPr>
              <a:t>Input resolution</a:t>
            </a:r>
            <a:endParaRPr lang="en-US" sz="1250" dirty="0"/>
          </a:p>
        </p:txBody>
      </p:sp>
      <p:sp>
        <p:nvSpPr>
          <p:cNvPr id="12" name="Text 10"/>
          <p:cNvSpPr txBox="1"/>
          <p:nvPr/>
        </p:nvSpPr>
        <p:spPr>
          <a:xfrm>
            <a:off x="3200400" y="4114800"/>
            <a:ext cx="2514600" cy="384048"/>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640 × 640 px</a:t>
            </a:r>
            <a:endParaRPr lang="en-US" sz="1200" dirty="0"/>
          </a:p>
        </p:txBody>
      </p:sp>
      <p:sp>
        <p:nvSpPr>
          <p:cNvPr id="13" name="Text 11"/>
          <p:cNvSpPr txBox="1"/>
          <p:nvPr/>
        </p:nvSpPr>
        <p:spPr>
          <a:xfrm>
            <a:off x="822960" y="4572000"/>
            <a:ext cx="2468880" cy="384048"/>
          </a:xfrm>
          <a:prstGeom prst="rect">
            <a:avLst/>
          </a:prstGeom>
          <a:noFill/>
          <a:ln/>
        </p:spPr>
        <p:txBody>
          <a:bodyPr wrap="square" lIns="0" tIns="0" rIns="0" bIns="0" rtlCol="0" anchor="ctr"/>
          <a:lstStyle/>
          <a:p>
            <a:pPr indent="0" marL="0">
              <a:buNone/>
            </a:pPr>
            <a:r>
              <a:rPr lang="en-US" sz="1250" dirty="0">
                <a:solidFill>
                  <a:srgbClr val="CFEAE7"/>
                </a:solidFill>
                <a:latin typeface="Calibri" pitchFamily="34" charset="0"/>
                <a:ea typeface="Calibri" pitchFamily="34" charset="-122"/>
                <a:cs typeface="Calibri" pitchFamily="34" charset="-120"/>
              </a:rPr>
              <a:t>Augmentation</a:t>
            </a:r>
            <a:endParaRPr lang="en-US" sz="1250" dirty="0"/>
          </a:p>
        </p:txBody>
      </p:sp>
      <p:sp>
        <p:nvSpPr>
          <p:cNvPr id="14" name="Text 12"/>
          <p:cNvSpPr txBox="1"/>
          <p:nvPr/>
        </p:nvSpPr>
        <p:spPr>
          <a:xfrm>
            <a:off x="3200400" y="4572000"/>
            <a:ext cx="2514600" cy="384048"/>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Mosaic, HSV, flips, scale</a:t>
            </a:r>
            <a:endParaRPr lang="en-US" sz="1200" dirty="0"/>
          </a:p>
        </p:txBody>
      </p:sp>
      <p:sp>
        <p:nvSpPr>
          <p:cNvPr id="15" name="Text 13"/>
          <p:cNvSpPr txBox="1"/>
          <p:nvPr/>
        </p:nvSpPr>
        <p:spPr>
          <a:xfrm>
            <a:off x="822960" y="5029200"/>
            <a:ext cx="2468880" cy="384048"/>
          </a:xfrm>
          <a:prstGeom prst="rect">
            <a:avLst/>
          </a:prstGeom>
          <a:noFill/>
          <a:ln/>
        </p:spPr>
        <p:txBody>
          <a:bodyPr wrap="square" lIns="0" tIns="0" rIns="0" bIns="0" rtlCol="0" anchor="ctr"/>
          <a:lstStyle/>
          <a:p>
            <a:pPr indent="0" marL="0">
              <a:buNone/>
            </a:pPr>
            <a:r>
              <a:rPr lang="en-US" sz="1250" dirty="0">
                <a:solidFill>
                  <a:srgbClr val="CFEAE7"/>
                </a:solidFill>
                <a:latin typeface="Calibri" pitchFamily="34" charset="0"/>
                <a:ea typeface="Calibri" pitchFamily="34" charset="-122"/>
                <a:cs typeface="Calibri" pitchFamily="34" charset="-120"/>
              </a:rPr>
              <a:t>Optimizer</a:t>
            </a:r>
            <a:endParaRPr lang="en-US" sz="1250" dirty="0"/>
          </a:p>
        </p:txBody>
      </p:sp>
      <p:sp>
        <p:nvSpPr>
          <p:cNvPr id="16" name="Text 14"/>
          <p:cNvSpPr txBox="1"/>
          <p:nvPr/>
        </p:nvSpPr>
        <p:spPr>
          <a:xfrm>
            <a:off x="3200400" y="5029200"/>
            <a:ext cx="2514600" cy="384048"/>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Auto (SGD / AdamW)</a:t>
            </a:r>
            <a:endParaRPr lang="en-US" sz="1200" dirty="0"/>
          </a:p>
        </p:txBody>
      </p:sp>
      <p:sp>
        <p:nvSpPr>
          <p:cNvPr id="17" name="Text 15"/>
          <p:cNvSpPr txBox="1"/>
          <p:nvPr/>
        </p:nvSpPr>
        <p:spPr>
          <a:xfrm>
            <a:off x="822960" y="5486400"/>
            <a:ext cx="2468880" cy="384048"/>
          </a:xfrm>
          <a:prstGeom prst="rect">
            <a:avLst/>
          </a:prstGeom>
          <a:noFill/>
          <a:ln/>
        </p:spPr>
        <p:txBody>
          <a:bodyPr wrap="square" lIns="0" tIns="0" rIns="0" bIns="0" rtlCol="0" anchor="ctr"/>
          <a:lstStyle/>
          <a:p>
            <a:pPr indent="0" marL="0">
              <a:buNone/>
            </a:pPr>
            <a:r>
              <a:rPr lang="en-US" sz="1250" dirty="0">
                <a:solidFill>
                  <a:srgbClr val="CFEAE7"/>
                </a:solidFill>
                <a:latin typeface="Calibri" pitchFamily="34" charset="0"/>
                <a:ea typeface="Calibri" pitchFamily="34" charset="-122"/>
                <a:cs typeface="Calibri" pitchFamily="34" charset="-120"/>
              </a:rPr>
              <a:t>GPU</a:t>
            </a:r>
            <a:endParaRPr lang="en-US" sz="1250" dirty="0"/>
          </a:p>
        </p:txBody>
      </p:sp>
      <p:sp>
        <p:nvSpPr>
          <p:cNvPr id="18" name="Text 16"/>
          <p:cNvSpPr txBox="1"/>
          <p:nvPr/>
        </p:nvSpPr>
        <p:spPr>
          <a:xfrm>
            <a:off x="3200400" y="5486400"/>
            <a:ext cx="2514600" cy="384048"/>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NVIDIA RTX 3050 Laptop (6GB)</a:t>
            </a:r>
            <a:endParaRPr lang="en-US" sz="1200" dirty="0"/>
          </a:p>
        </p:txBody>
      </p:sp>
      <p:sp>
        <p:nvSpPr>
          <p:cNvPr id="19" name="Shape 17"/>
          <p:cNvSpPr/>
          <p:nvPr/>
        </p:nvSpPr>
        <p:spPr>
          <a:xfrm>
            <a:off x="6217920" y="2514600"/>
            <a:ext cx="5394960" cy="3429000"/>
          </a:xfrm>
          <a:prstGeom prst="roundRect">
            <a:avLst>
              <a:gd name="adj" fmla="val 3200"/>
            </a:avLst>
          </a:prstGeom>
          <a:solidFill>
            <a:srgbClr val="E6F5F3"/>
          </a:solidFill>
          <a:ln/>
        </p:spPr>
      </p:sp>
      <p:sp>
        <p:nvSpPr>
          <p:cNvPr id="20" name="Text 18"/>
          <p:cNvSpPr txBox="1"/>
          <p:nvPr/>
        </p:nvSpPr>
        <p:spPr>
          <a:xfrm>
            <a:off x="6492240" y="2743200"/>
            <a:ext cx="4846320" cy="320040"/>
          </a:xfrm>
          <a:prstGeom prst="rect">
            <a:avLst/>
          </a:prstGeom>
          <a:noFill/>
          <a:ln/>
        </p:spPr>
        <p:txBody>
          <a:bodyPr wrap="square" lIns="0" tIns="0" rIns="0" bIns="0" rtlCol="0" anchor="ctr"/>
          <a:lstStyle/>
          <a:p>
            <a:pPr indent="0" marL="0">
              <a:buNone/>
            </a:pPr>
            <a:r>
              <a:rPr lang="en-US" sz="1200" b="1" spc="150" kern="0" dirty="0">
                <a:solidFill>
                  <a:srgbClr val="028090"/>
                </a:solidFill>
                <a:latin typeface="Calibri" pitchFamily="34" charset="0"/>
                <a:ea typeface="Calibri" pitchFamily="34" charset="-122"/>
                <a:cs typeface="Calibri" pitchFamily="34" charset="-120"/>
              </a:rPr>
              <a:t>WHY NANO MODELS?</a:t>
            </a:r>
            <a:endParaRPr lang="en-US" sz="1200" dirty="0"/>
          </a:p>
        </p:txBody>
      </p:sp>
      <p:sp>
        <p:nvSpPr>
          <p:cNvPr id="21" name="Shape 19"/>
          <p:cNvSpPr/>
          <p:nvPr/>
        </p:nvSpPr>
        <p:spPr>
          <a:xfrm>
            <a:off x="6492240" y="3218688"/>
            <a:ext cx="109728" cy="109728"/>
          </a:xfrm>
          <a:prstGeom prst="ellipse">
            <a:avLst/>
          </a:prstGeom>
          <a:solidFill>
            <a:srgbClr val="028090"/>
          </a:solidFill>
          <a:ln/>
        </p:spPr>
      </p:sp>
      <p:sp>
        <p:nvSpPr>
          <p:cNvPr id="22" name="Text 20"/>
          <p:cNvSpPr txBox="1"/>
          <p:nvPr/>
        </p:nvSpPr>
        <p:spPr>
          <a:xfrm>
            <a:off x="6766560" y="3081528"/>
            <a:ext cx="4709160" cy="685800"/>
          </a:xfrm>
          <a:prstGeom prst="rect">
            <a:avLst/>
          </a:prstGeom>
          <a:noFill/>
          <a:ln/>
        </p:spPr>
        <p:txBody>
          <a:bodyPr wrap="square" lIns="0" tIns="0" rIns="0" bIns="0" rtlCol="0" anchor="ctr"/>
          <a:lstStyle/>
          <a:p>
            <a:pPr indent="0" marL="0">
              <a:lnSpc>
                <a:spcPct val="120000"/>
              </a:lnSpc>
              <a:buNone/>
            </a:pPr>
            <a:r>
              <a:rPr lang="en-US" sz="1250" dirty="0">
                <a:solidFill>
                  <a:srgbClr val="0E2A2F"/>
                </a:solidFill>
                <a:latin typeface="Calibri" pitchFamily="34" charset="0"/>
                <a:ea typeface="Calibri" pitchFamily="34" charset="-122"/>
                <a:cs typeface="Calibri" pitchFamily="34" charset="-120"/>
              </a:rPr>
              <a:t>Match the lightweight objective of routine laboratory deployment</a:t>
            </a:r>
            <a:endParaRPr lang="en-US" sz="1250" dirty="0"/>
          </a:p>
        </p:txBody>
      </p:sp>
      <p:sp>
        <p:nvSpPr>
          <p:cNvPr id="23" name="Shape 21"/>
          <p:cNvSpPr/>
          <p:nvPr/>
        </p:nvSpPr>
        <p:spPr>
          <a:xfrm>
            <a:off x="6492240" y="3968496"/>
            <a:ext cx="109728" cy="109728"/>
          </a:xfrm>
          <a:prstGeom prst="ellipse">
            <a:avLst/>
          </a:prstGeom>
          <a:solidFill>
            <a:srgbClr val="028090"/>
          </a:solidFill>
          <a:ln/>
        </p:spPr>
      </p:sp>
      <p:sp>
        <p:nvSpPr>
          <p:cNvPr id="24" name="Text 22"/>
          <p:cNvSpPr txBox="1"/>
          <p:nvPr/>
        </p:nvSpPr>
        <p:spPr>
          <a:xfrm>
            <a:off x="6766560" y="3831336"/>
            <a:ext cx="4709160" cy="685800"/>
          </a:xfrm>
          <a:prstGeom prst="rect">
            <a:avLst/>
          </a:prstGeom>
          <a:noFill/>
          <a:ln/>
        </p:spPr>
        <p:txBody>
          <a:bodyPr wrap="square" lIns="0" tIns="0" rIns="0" bIns="0" rtlCol="0" anchor="ctr"/>
          <a:lstStyle/>
          <a:p>
            <a:pPr indent="0" marL="0">
              <a:lnSpc>
                <a:spcPct val="120000"/>
              </a:lnSpc>
              <a:buNone/>
            </a:pPr>
            <a:r>
              <a:rPr lang="en-US" sz="1250" dirty="0">
                <a:solidFill>
                  <a:srgbClr val="0E2A2F"/>
                </a:solidFill>
                <a:latin typeface="Calibri" pitchFamily="34" charset="0"/>
                <a:ea typeface="Calibri" pitchFamily="34" charset="-122"/>
                <a:cs typeface="Calibri" pitchFamily="34" charset="-120"/>
              </a:rPr>
              <a:t>Feasible on consumer-grade hardware without specialised imaging setups</a:t>
            </a:r>
            <a:endParaRPr lang="en-US" sz="1250" dirty="0"/>
          </a:p>
        </p:txBody>
      </p:sp>
      <p:sp>
        <p:nvSpPr>
          <p:cNvPr id="25" name="Shape 23"/>
          <p:cNvSpPr/>
          <p:nvPr/>
        </p:nvSpPr>
        <p:spPr>
          <a:xfrm>
            <a:off x="6492240" y="4718304"/>
            <a:ext cx="109728" cy="109728"/>
          </a:xfrm>
          <a:prstGeom prst="ellipse">
            <a:avLst/>
          </a:prstGeom>
          <a:solidFill>
            <a:srgbClr val="028090"/>
          </a:solidFill>
          <a:ln/>
        </p:spPr>
      </p:sp>
      <p:sp>
        <p:nvSpPr>
          <p:cNvPr id="26" name="Text 24"/>
          <p:cNvSpPr txBox="1"/>
          <p:nvPr/>
        </p:nvSpPr>
        <p:spPr>
          <a:xfrm>
            <a:off x="6766560" y="4581144"/>
            <a:ext cx="4709160" cy="685800"/>
          </a:xfrm>
          <a:prstGeom prst="rect">
            <a:avLst/>
          </a:prstGeom>
          <a:noFill/>
          <a:ln/>
        </p:spPr>
        <p:txBody>
          <a:bodyPr wrap="square" lIns="0" tIns="0" rIns="0" bIns="0" rtlCol="0" anchor="ctr"/>
          <a:lstStyle/>
          <a:p>
            <a:pPr indent="0" marL="0">
              <a:lnSpc>
                <a:spcPct val="120000"/>
              </a:lnSpc>
              <a:buNone/>
            </a:pPr>
            <a:r>
              <a:rPr lang="en-US" sz="1250" dirty="0">
                <a:solidFill>
                  <a:srgbClr val="0E2A2F"/>
                </a:solidFill>
                <a:latin typeface="Calibri" pitchFamily="34" charset="0"/>
                <a:ea typeface="Calibri" pitchFamily="34" charset="-122"/>
                <a:cs typeface="Calibri" pitchFamily="34" charset="-120"/>
              </a:rPr>
              <a:t>Test whether resolution preservation — not model scaling — drives accuracy</a:t>
            </a:r>
            <a:endParaRPr lang="en-US" sz="1250" dirty="0"/>
          </a:p>
        </p:txBody>
      </p:sp>
      <p:sp>
        <p:nvSpPr>
          <p:cNvPr id="27" name="Shape 25"/>
          <p:cNvSpPr/>
          <p:nvPr/>
        </p:nvSpPr>
        <p:spPr>
          <a:xfrm>
            <a:off x="6492240" y="5468112"/>
            <a:ext cx="109728" cy="109728"/>
          </a:xfrm>
          <a:prstGeom prst="ellipse">
            <a:avLst/>
          </a:prstGeom>
          <a:solidFill>
            <a:srgbClr val="028090"/>
          </a:solidFill>
          <a:ln/>
        </p:spPr>
      </p:sp>
      <p:sp>
        <p:nvSpPr>
          <p:cNvPr id="28" name="Text 26"/>
          <p:cNvSpPr txBox="1"/>
          <p:nvPr/>
        </p:nvSpPr>
        <p:spPr>
          <a:xfrm>
            <a:off x="6766560" y="5330952"/>
            <a:ext cx="4709160" cy="685800"/>
          </a:xfrm>
          <a:prstGeom prst="rect">
            <a:avLst/>
          </a:prstGeom>
          <a:noFill/>
          <a:ln/>
        </p:spPr>
        <p:txBody>
          <a:bodyPr wrap="square" lIns="0" tIns="0" rIns="0" bIns="0" rtlCol="0" anchor="ctr"/>
          <a:lstStyle/>
          <a:p>
            <a:pPr indent="0" marL="0">
              <a:lnSpc>
                <a:spcPct val="120000"/>
              </a:lnSpc>
              <a:buNone/>
            </a:pPr>
            <a:r>
              <a:rPr lang="en-US" sz="1250" dirty="0">
                <a:solidFill>
                  <a:srgbClr val="0E2A2F"/>
                </a:solidFill>
                <a:latin typeface="Calibri" pitchFamily="34" charset="0"/>
                <a:ea typeface="Calibri" pitchFamily="34" charset="-122"/>
                <a:cs typeface="Calibri" pitchFamily="34" charset="-120"/>
              </a:rPr>
              <a:t>Larger YOLO variants were deliberately excluded from evaluation</a:t>
            </a:r>
            <a:endParaRPr lang="en-US" sz="1250" dirty="0"/>
          </a:p>
        </p:txBody>
      </p:sp>
      <p:sp>
        <p:nvSpPr>
          <p:cNvPr id="29" name="Text 27"/>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5E7D82"/>
                </a:solidFill>
                <a:latin typeface="Calibri" pitchFamily="34" charset="0"/>
                <a:ea typeface="Calibri" pitchFamily="34" charset="-122"/>
                <a:cs typeface="Calibri" pitchFamily="34" charset="-120"/>
              </a:rPr>
              <a:t>Overcoming Resolution Constraints in Automated Colony Counting via SAHI</a:t>
            </a:r>
            <a:endParaRPr lang="en-US" sz="900" dirty="0"/>
          </a:p>
        </p:txBody>
      </p:sp>
      <p:sp>
        <p:nvSpPr>
          <p:cNvPr id="30" name="Text 28"/>
          <p:cNvSpPr txBox="1"/>
          <p:nvPr/>
        </p:nvSpPr>
        <p:spPr>
          <a:xfrm>
            <a:off x="11274552" y="6473952"/>
            <a:ext cx="548640" cy="274320"/>
          </a:xfrm>
          <a:prstGeom prst="rect">
            <a:avLst/>
          </a:prstGeom>
          <a:noFill/>
          <a:ln/>
        </p:spPr>
        <p:txBody>
          <a:bodyPr wrap="square" lIns="0" tIns="0" rIns="0" bIns="0" rtlCol="0" anchor="ctr"/>
          <a:lstStyle/>
          <a:p>
            <a:pPr algn="r" indent="0" marL="0">
              <a:buNone/>
            </a:pPr>
            <a:r>
              <a:rPr lang="en-US" sz="900" dirty="0">
                <a:solidFill>
                  <a:srgbClr val="5E7D8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84048"/>
            <a:ext cx="86868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3. RESULTS — DETECTION ACCURACY</a:t>
            </a:r>
            <a:endParaRPr lang="en-US" sz="1300" dirty="0"/>
          </a:p>
        </p:txBody>
      </p:sp>
      <p:sp>
        <p:nvSpPr>
          <p:cNvPr id="3" name="Text 1"/>
          <p:cNvSpPr txBox="1"/>
          <p:nvPr/>
        </p:nvSpPr>
        <p:spPr>
          <a:xfrm>
            <a:off x="548640" y="685800"/>
            <a:ext cx="11091672" cy="822960"/>
          </a:xfrm>
          <a:prstGeom prst="rect">
            <a:avLst/>
          </a:prstGeom>
          <a:noFill/>
          <a:ln/>
        </p:spPr>
        <p:txBody>
          <a:bodyPr wrap="square" lIns="0" tIns="0" rIns="0" bIns="0" rtlCol="0" anchor="ctr"/>
          <a:lstStyle/>
          <a:p>
            <a:pPr indent="0" marL="0">
              <a:buNone/>
            </a:pPr>
            <a:r>
              <a:rPr lang="en-US" sz="3200" b="1" dirty="0">
                <a:solidFill>
                  <a:srgbClr val="045C6E"/>
                </a:solidFill>
                <a:latin typeface="Cambria" pitchFamily="34" charset="0"/>
                <a:ea typeface="Cambria" pitchFamily="34" charset="-122"/>
                <a:cs typeface="Cambria" pitchFamily="34" charset="-120"/>
              </a:rPr>
              <a:t>Tiling Transforms Detection Accuracy</a:t>
            </a:r>
            <a:endParaRPr lang="en-US" sz="3200" dirty="0"/>
          </a:p>
        </p:txBody>
      </p:sp>
      <p:graphicFrame>
        <p:nvGraphicFramePr>
          <p:cNvPr id="4" name="Chart 0" descr=""/>
          <p:cNvGraphicFramePr/>
          <p:nvPr/>
        </p:nvGraphicFramePr>
        <p:xfrm>
          <a:off x="502920" y="1600200"/>
          <a:ext cx="6858000" cy="42519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35240" y="1600200"/>
            <a:ext cx="4023360" cy="4251960"/>
          </a:xfrm>
          <a:prstGeom prst="roundRect">
            <a:avLst>
              <a:gd name="adj" fmla="val 2727"/>
            </a:avLst>
          </a:prstGeom>
          <a:solidFill>
            <a:srgbClr val="E6F5F3"/>
          </a:solidFill>
          <a:ln/>
        </p:spPr>
      </p:sp>
      <p:sp>
        <p:nvSpPr>
          <p:cNvPr id="6" name="Text 3"/>
          <p:cNvSpPr txBox="1"/>
          <p:nvPr/>
        </p:nvSpPr>
        <p:spPr>
          <a:xfrm>
            <a:off x="7909560" y="1828800"/>
            <a:ext cx="3566160" cy="320040"/>
          </a:xfrm>
          <a:prstGeom prst="rect">
            <a:avLst/>
          </a:prstGeom>
          <a:noFill/>
          <a:ln/>
        </p:spPr>
        <p:txBody>
          <a:bodyPr wrap="square" lIns="0" tIns="0" rIns="0" bIns="0" rtlCol="0" anchor="ctr"/>
          <a:lstStyle/>
          <a:p>
            <a:pPr indent="0" marL="0">
              <a:buNone/>
            </a:pPr>
            <a:r>
              <a:rPr lang="en-US" sz="1200" b="1" spc="120" kern="0" dirty="0">
                <a:solidFill>
                  <a:srgbClr val="028090"/>
                </a:solidFill>
                <a:latin typeface="Calibri" pitchFamily="34" charset="0"/>
                <a:ea typeface="Calibri" pitchFamily="34" charset="-122"/>
                <a:cs typeface="Calibri" pitchFamily="34" charset="-120"/>
              </a:rPr>
              <a:t>THE HEADLINE RESULT</a:t>
            </a:r>
            <a:endParaRPr lang="en-US" sz="1200" dirty="0"/>
          </a:p>
        </p:txBody>
      </p:sp>
      <p:sp>
        <p:nvSpPr>
          <p:cNvPr id="7" name="Text 4"/>
          <p:cNvSpPr txBox="1"/>
          <p:nvPr/>
        </p:nvSpPr>
        <p:spPr>
          <a:xfrm>
            <a:off x="7909560" y="2240280"/>
            <a:ext cx="3520440" cy="3566160"/>
          </a:xfrm>
          <a:prstGeom prst="rect">
            <a:avLst/>
          </a:prstGeom>
          <a:noFill/>
          <a:ln/>
        </p:spPr>
        <p:txBody>
          <a:bodyPr wrap="square" lIns="0" tIns="0" rIns="0" bIns="0" rtlCol="0" anchor="ctr"/>
          <a:lstStyle/>
          <a:p>
            <a:pPr indent="0" marL="0">
              <a:lnSpc>
                <a:spcPct val="120000"/>
              </a:lnSpc>
              <a:buNone/>
            </a:pPr>
            <a:r>
              <a:rPr lang="en-US" sz="1600" b="1" dirty="0">
                <a:solidFill>
                  <a:srgbClr val="028090"/>
                </a:solidFill>
                <a:latin typeface="Calibri" pitchFamily="34" charset="0"/>
                <a:ea typeface="Calibri" pitchFamily="34" charset="-122"/>
                <a:cs typeface="Calibri" pitchFamily="34" charset="-120"/>
              </a:rPr>
              <a:t>44.9–66.3% → 95.4–96.9%
</a:t>
            </a:r>
            <a:endParaRPr lang="en-US" sz="1600" dirty="0"/>
          </a:p>
          <a:p>
            <a:pPr indent="0" marL="0">
              <a:lnSpc>
                <a:spcPct val="120000"/>
              </a:lnSpc>
              <a:spcAft>
                <a:spcPts val="1000"/>
              </a:spcAft>
              <a:buNone/>
            </a:pPr>
            <a:r>
              <a:rPr lang="en-US" sz="1200" dirty="0">
                <a:solidFill>
                  <a:srgbClr val="0E2A2F"/>
                </a:solidFill>
                <a:latin typeface="Calibri" pitchFamily="34" charset="0"/>
                <a:ea typeface="Calibri" pitchFamily="34" charset="-122"/>
                <a:cs typeface="Calibri" pitchFamily="34" charset="-120"/>
              </a:rPr>
              <a:t>mAP@0.5 range across all three models, resized vs. tiled
</a:t>
            </a:r>
            <a:endParaRPr lang="en-US" sz="1600" dirty="0"/>
          </a:p>
          <a:p>
            <a:pPr indent="0" marL="0">
              <a:lnSpc>
                <a:spcPct val="120000"/>
              </a:lnSpc>
              <a:buNone/>
            </a:pPr>
            <a:r>
              <a:rPr lang="en-US" sz="1800" b="1" dirty="0">
                <a:solidFill>
                  <a:srgbClr val="F4A100"/>
                </a:solidFill>
                <a:latin typeface="Calibri" pitchFamily="34" charset="0"/>
                <a:ea typeface="Calibri" pitchFamily="34" charset="-122"/>
                <a:cs typeface="Calibri" pitchFamily="34" charset="-120"/>
              </a:rPr>
              <a:t>+100%+
</a:t>
            </a:r>
            <a:endParaRPr lang="en-US" sz="1600" dirty="0"/>
          </a:p>
          <a:p>
            <a:pPr indent="0" marL="0">
              <a:lnSpc>
                <a:spcPct val="120000"/>
              </a:lnSpc>
              <a:spcAft>
                <a:spcPts val="1000"/>
              </a:spcAft>
              <a:buNone/>
            </a:pPr>
            <a:r>
              <a:rPr lang="en-US" sz="1200" dirty="0">
                <a:solidFill>
                  <a:srgbClr val="0E2A2F"/>
                </a:solidFill>
                <a:latin typeface="Calibri" pitchFamily="34" charset="0"/>
                <a:ea typeface="Calibri" pitchFamily="34" charset="-122"/>
                <a:cs typeface="Calibri" pitchFamily="34" charset="-120"/>
              </a:rPr>
              <a:t>improvement in mAP@0.5:0.95 (stricter localisation metric)
</a:t>
            </a:r>
            <a:endParaRPr lang="en-US" sz="1600" dirty="0"/>
          </a:p>
          <a:p>
            <a:pPr indent="0" marL="0">
              <a:lnSpc>
                <a:spcPct val="120000"/>
              </a:lnSpc>
              <a:buNone/>
            </a:pPr>
            <a:r>
              <a:rPr lang="en-US" sz="1150" i="1" dirty="0">
                <a:solidFill>
                  <a:srgbClr val="5E7D82"/>
                </a:solidFill>
                <a:latin typeface="Calibri" pitchFamily="34" charset="0"/>
                <a:ea typeface="Calibri" pitchFamily="34" charset="-122"/>
                <a:cs typeface="Calibri" pitchFamily="34" charset="-120"/>
              </a:rPr>
              <a:t>The gain comes from preserving native resolution during inference — not from a bigger or newer model.</a:t>
            </a:r>
            <a:endParaRPr lang="en-US" sz="1600" dirty="0"/>
          </a:p>
        </p:txBody>
      </p:sp>
      <p:sp>
        <p:nvSpPr>
          <p:cNvPr id="8" name="Text 5"/>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5E7D82"/>
                </a:solidFill>
                <a:latin typeface="Calibri" pitchFamily="34" charset="0"/>
                <a:ea typeface="Calibri" pitchFamily="34" charset="-122"/>
                <a:cs typeface="Calibri" pitchFamily="34" charset="-120"/>
              </a:rPr>
              <a:t>Overcoming Resolution Constraints in Automated Colony Counting via SAHI</a:t>
            </a:r>
            <a:endParaRPr lang="en-US" sz="900" dirty="0"/>
          </a:p>
        </p:txBody>
      </p:sp>
      <p:sp>
        <p:nvSpPr>
          <p:cNvPr id="9" name="Text 6"/>
          <p:cNvSpPr txBox="1"/>
          <p:nvPr/>
        </p:nvSpPr>
        <p:spPr>
          <a:xfrm>
            <a:off x="11274552" y="6473952"/>
            <a:ext cx="548640" cy="274320"/>
          </a:xfrm>
          <a:prstGeom prst="rect">
            <a:avLst/>
          </a:prstGeom>
          <a:noFill/>
          <a:ln/>
        </p:spPr>
        <p:txBody>
          <a:bodyPr wrap="square" lIns="0" tIns="0" rIns="0" bIns="0" rtlCol="0" anchor="ctr"/>
          <a:lstStyle/>
          <a:p>
            <a:pPr algn="r" indent="0" marL="0">
              <a:buNone/>
            </a:pPr>
            <a:r>
              <a:rPr lang="en-US" sz="900" dirty="0">
                <a:solidFill>
                  <a:srgbClr val="5E7D8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84048"/>
            <a:ext cx="8686800" cy="320040"/>
          </a:xfrm>
          <a:prstGeom prst="rect">
            <a:avLst/>
          </a:prstGeom>
          <a:noFill/>
          <a:ln/>
        </p:spPr>
        <p:txBody>
          <a:bodyPr wrap="square" lIns="0" tIns="0" rIns="0" bIns="0" rtlCol="0" anchor="ctr"/>
          <a:lstStyle/>
          <a:p>
            <a:pPr indent="0" marL="0">
              <a:buNone/>
            </a:pPr>
            <a:r>
              <a:rPr lang="en-US" sz="1300" b="1" spc="200" kern="0" dirty="0">
                <a:solidFill>
                  <a:srgbClr val="F4A100"/>
                </a:solidFill>
                <a:latin typeface="Calibri" pitchFamily="34" charset="0"/>
                <a:ea typeface="Calibri" pitchFamily="34" charset="-122"/>
                <a:cs typeface="Calibri" pitchFamily="34" charset="-120"/>
              </a:rPr>
              <a:t>3. RESULTS — COMPUTATIONAL COST</a:t>
            </a:r>
            <a:endParaRPr lang="en-US" sz="1300" dirty="0"/>
          </a:p>
        </p:txBody>
      </p:sp>
      <p:sp>
        <p:nvSpPr>
          <p:cNvPr id="3" name="Text 1"/>
          <p:cNvSpPr txBox="1"/>
          <p:nvPr/>
        </p:nvSpPr>
        <p:spPr>
          <a:xfrm>
            <a:off x="548640" y="685800"/>
            <a:ext cx="11091672"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 Worthwhile Trade-Off</a:t>
            </a:r>
            <a:endParaRPr lang="en-US" sz="3200" dirty="0"/>
          </a:p>
        </p:txBody>
      </p:sp>
      <p:sp>
        <p:nvSpPr>
          <p:cNvPr id="4" name="Text 2"/>
          <p:cNvSpPr txBox="1"/>
          <p:nvPr/>
        </p:nvSpPr>
        <p:spPr>
          <a:xfrm>
            <a:off x="548640" y="1554480"/>
            <a:ext cx="10789920" cy="731520"/>
          </a:xfrm>
          <a:prstGeom prst="rect">
            <a:avLst/>
          </a:prstGeom>
          <a:noFill/>
          <a:ln/>
        </p:spPr>
        <p:txBody>
          <a:bodyPr wrap="square" lIns="0" tIns="0" rIns="0" bIns="0" rtlCol="0" anchor="ctr"/>
          <a:lstStyle/>
          <a:p>
            <a:pPr indent="0" marL="0">
              <a:lnSpc>
                <a:spcPct val="122000"/>
              </a:lnSpc>
              <a:buNone/>
            </a:pPr>
            <a:r>
              <a:rPr lang="en-US" sz="1450" dirty="0">
                <a:solidFill>
                  <a:srgbClr val="CFEAE7"/>
                </a:solidFill>
                <a:latin typeface="Calibri" pitchFamily="34" charset="0"/>
                <a:ea typeface="Calibri" pitchFamily="34" charset="-122"/>
                <a:cs typeface="Calibri" pitchFamily="34" charset="-120"/>
              </a:rPr>
              <a:t>Tiling multiplies training time roughly fourfold — expected, since the tiled dataset has ~25× more samples — but whole-plate inference stays firmly practical for routine lab use.</a:t>
            </a:r>
            <a:endParaRPr lang="en-US" sz="1450" dirty="0"/>
          </a:p>
        </p:txBody>
      </p:sp>
      <p:sp>
        <p:nvSpPr>
          <p:cNvPr id="5" name="Shape 3"/>
          <p:cNvSpPr/>
          <p:nvPr/>
        </p:nvSpPr>
        <p:spPr>
          <a:xfrm>
            <a:off x="548640" y="2514600"/>
            <a:ext cx="11064240" cy="3063240"/>
          </a:xfrm>
          <a:prstGeom prst="roundRect">
            <a:avLst>
              <a:gd name="adj" fmla="val 2985"/>
            </a:avLst>
          </a:prstGeom>
          <a:solidFill>
            <a:srgbClr val="0F3742"/>
          </a:solidFill>
          <a:ln w="9525">
            <a:solidFill>
              <a:srgbClr val="1F5866"/>
            </a:solidFill>
            <a:prstDash val="solid"/>
          </a:ln>
        </p:spPr>
      </p:sp>
      <p:sp>
        <p:nvSpPr>
          <p:cNvPr id="6" name="Text 4"/>
          <p:cNvSpPr txBox="1"/>
          <p:nvPr/>
        </p:nvSpPr>
        <p:spPr>
          <a:xfrm>
            <a:off x="640080" y="2697480"/>
            <a:ext cx="2011680" cy="365760"/>
          </a:xfrm>
          <a:prstGeom prst="rect">
            <a:avLst/>
          </a:prstGeom>
          <a:noFill/>
          <a:ln/>
        </p:spPr>
        <p:txBody>
          <a:bodyPr wrap="square" lIns="0" tIns="0" rIns="0" bIns="0" rtlCol="0" anchor="ctr"/>
          <a:lstStyle/>
          <a:p>
            <a:pPr indent="0" marL="0">
              <a:buNone/>
            </a:pPr>
            <a:r>
              <a:rPr lang="en-US" sz="1250" b="1" dirty="0">
                <a:solidFill>
                  <a:srgbClr val="F4A100"/>
                </a:solidFill>
                <a:latin typeface="Calibri" pitchFamily="34" charset="0"/>
                <a:ea typeface="Calibri" pitchFamily="34" charset="-122"/>
                <a:cs typeface="Calibri" pitchFamily="34" charset="-120"/>
              </a:rPr>
              <a:t>Model</a:t>
            </a:r>
            <a:endParaRPr lang="en-US" sz="1250" dirty="0"/>
          </a:p>
        </p:txBody>
      </p:sp>
      <p:sp>
        <p:nvSpPr>
          <p:cNvPr id="7" name="Text 5"/>
          <p:cNvSpPr txBox="1"/>
          <p:nvPr/>
        </p:nvSpPr>
        <p:spPr>
          <a:xfrm>
            <a:off x="2834640" y="2697480"/>
            <a:ext cx="2011680" cy="365760"/>
          </a:xfrm>
          <a:prstGeom prst="rect">
            <a:avLst/>
          </a:prstGeom>
          <a:noFill/>
          <a:ln/>
        </p:spPr>
        <p:txBody>
          <a:bodyPr wrap="square" lIns="0" tIns="0" rIns="0" bIns="0" rtlCol="0" anchor="ctr"/>
          <a:lstStyle/>
          <a:p>
            <a:pPr indent="0" marL="0">
              <a:buNone/>
            </a:pPr>
            <a:r>
              <a:rPr lang="en-US" sz="1250" b="1" dirty="0">
                <a:solidFill>
                  <a:srgbClr val="F4A100"/>
                </a:solidFill>
                <a:latin typeface="Calibri" pitchFamily="34" charset="0"/>
                <a:ea typeface="Calibri" pitchFamily="34" charset="-122"/>
                <a:cs typeface="Calibri" pitchFamily="34" charset="-120"/>
              </a:rPr>
              <a:t>Train (resized)</a:t>
            </a:r>
            <a:endParaRPr lang="en-US" sz="1250" dirty="0"/>
          </a:p>
        </p:txBody>
      </p:sp>
      <p:sp>
        <p:nvSpPr>
          <p:cNvPr id="8" name="Text 6"/>
          <p:cNvSpPr txBox="1"/>
          <p:nvPr/>
        </p:nvSpPr>
        <p:spPr>
          <a:xfrm>
            <a:off x="5029200" y="2697480"/>
            <a:ext cx="2103120" cy="365760"/>
          </a:xfrm>
          <a:prstGeom prst="rect">
            <a:avLst/>
          </a:prstGeom>
          <a:noFill/>
          <a:ln/>
        </p:spPr>
        <p:txBody>
          <a:bodyPr wrap="square" lIns="0" tIns="0" rIns="0" bIns="0" rtlCol="0" anchor="ctr"/>
          <a:lstStyle/>
          <a:p>
            <a:pPr indent="0" marL="0">
              <a:buNone/>
            </a:pPr>
            <a:r>
              <a:rPr lang="en-US" sz="1250" b="1" dirty="0">
                <a:solidFill>
                  <a:srgbClr val="F4A100"/>
                </a:solidFill>
                <a:latin typeface="Calibri" pitchFamily="34" charset="0"/>
                <a:ea typeface="Calibri" pitchFamily="34" charset="-122"/>
                <a:cs typeface="Calibri" pitchFamily="34" charset="-120"/>
              </a:rPr>
              <a:t>Train (tiled)</a:t>
            </a:r>
            <a:endParaRPr lang="en-US" sz="1250" dirty="0"/>
          </a:p>
        </p:txBody>
      </p:sp>
      <p:sp>
        <p:nvSpPr>
          <p:cNvPr id="9" name="Text 7"/>
          <p:cNvSpPr txBox="1"/>
          <p:nvPr/>
        </p:nvSpPr>
        <p:spPr>
          <a:xfrm>
            <a:off x="7315200" y="2697480"/>
            <a:ext cx="2011680" cy="365760"/>
          </a:xfrm>
          <a:prstGeom prst="rect">
            <a:avLst/>
          </a:prstGeom>
          <a:noFill/>
          <a:ln/>
        </p:spPr>
        <p:txBody>
          <a:bodyPr wrap="square" lIns="0" tIns="0" rIns="0" bIns="0" rtlCol="0" anchor="ctr"/>
          <a:lstStyle/>
          <a:p>
            <a:pPr indent="0" marL="0">
              <a:buNone/>
            </a:pPr>
            <a:r>
              <a:rPr lang="en-US" sz="1250" b="1" dirty="0">
                <a:solidFill>
                  <a:srgbClr val="F4A100"/>
                </a:solidFill>
                <a:latin typeface="Calibri" pitchFamily="34" charset="0"/>
                <a:ea typeface="Calibri" pitchFamily="34" charset="-122"/>
                <a:cs typeface="Calibri" pitchFamily="34" charset="-120"/>
              </a:rPr>
              <a:t>Infer (resized)</a:t>
            </a:r>
            <a:endParaRPr lang="en-US" sz="1250" dirty="0"/>
          </a:p>
        </p:txBody>
      </p:sp>
      <p:sp>
        <p:nvSpPr>
          <p:cNvPr id="10" name="Text 8"/>
          <p:cNvSpPr txBox="1"/>
          <p:nvPr/>
        </p:nvSpPr>
        <p:spPr>
          <a:xfrm>
            <a:off x="9509760" y="2697480"/>
            <a:ext cx="2103120" cy="365760"/>
          </a:xfrm>
          <a:prstGeom prst="rect">
            <a:avLst/>
          </a:prstGeom>
          <a:noFill/>
          <a:ln/>
        </p:spPr>
        <p:txBody>
          <a:bodyPr wrap="square" lIns="0" tIns="0" rIns="0" bIns="0" rtlCol="0" anchor="ctr"/>
          <a:lstStyle/>
          <a:p>
            <a:pPr indent="0" marL="0">
              <a:buNone/>
            </a:pPr>
            <a:r>
              <a:rPr lang="en-US" sz="1250" b="1" dirty="0">
                <a:solidFill>
                  <a:srgbClr val="F4A100"/>
                </a:solidFill>
                <a:latin typeface="Calibri" pitchFamily="34" charset="0"/>
                <a:ea typeface="Calibri" pitchFamily="34" charset="-122"/>
                <a:cs typeface="Calibri" pitchFamily="34" charset="-120"/>
              </a:rPr>
              <a:t>Infer (tiled)</a:t>
            </a:r>
            <a:endParaRPr lang="en-US" sz="1250" dirty="0"/>
          </a:p>
        </p:txBody>
      </p:sp>
      <p:sp>
        <p:nvSpPr>
          <p:cNvPr id="11" name="Shape 9"/>
          <p:cNvSpPr/>
          <p:nvPr/>
        </p:nvSpPr>
        <p:spPr>
          <a:xfrm>
            <a:off x="731520" y="3108960"/>
            <a:ext cx="10698480" cy="0"/>
          </a:xfrm>
          <a:prstGeom prst="line">
            <a:avLst/>
          </a:prstGeom>
          <a:noFill/>
          <a:ln w="12700">
            <a:solidFill>
              <a:srgbClr val="1F5866"/>
            </a:solidFill>
            <a:prstDash val="solid"/>
          </a:ln>
        </p:spPr>
      </p:sp>
      <p:sp>
        <p:nvSpPr>
          <p:cNvPr id="12" name="Text 10"/>
          <p:cNvSpPr txBox="1"/>
          <p:nvPr/>
        </p:nvSpPr>
        <p:spPr>
          <a:xfrm>
            <a:off x="640080" y="3246120"/>
            <a:ext cx="2011680" cy="41148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YOLOv5n</a:t>
            </a:r>
            <a:endParaRPr lang="en-US" sz="1350" dirty="0"/>
          </a:p>
        </p:txBody>
      </p:sp>
      <p:sp>
        <p:nvSpPr>
          <p:cNvPr id="13" name="Text 11"/>
          <p:cNvSpPr txBox="1"/>
          <p:nvPr/>
        </p:nvSpPr>
        <p:spPr>
          <a:xfrm>
            <a:off x="2834640" y="3246120"/>
            <a:ext cx="2011680" cy="411480"/>
          </a:xfrm>
          <a:prstGeom prst="rect">
            <a:avLst/>
          </a:prstGeom>
          <a:noFill/>
          <a:ln/>
        </p:spPr>
        <p:txBody>
          <a:bodyPr wrap="square" lIns="0" tIns="0" rIns="0" bIns="0" rtlCol="0" anchor="ctr"/>
          <a:lstStyle/>
          <a:p>
            <a:pPr indent="0" marL="0">
              <a:buNone/>
            </a:pPr>
            <a:r>
              <a:rPr lang="en-US" sz="1350" dirty="0">
                <a:solidFill>
                  <a:srgbClr val="D6EFEC"/>
                </a:solidFill>
                <a:latin typeface="Calibri" pitchFamily="34" charset="0"/>
                <a:ea typeface="Calibri" pitchFamily="34" charset="-122"/>
                <a:cs typeface="Calibri" pitchFamily="34" charset="-120"/>
              </a:rPr>
              <a:t>~1h 15min</a:t>
            </a:r>
            <a:endParaRPr lang="en-US" sz="1350" dirty="0"/>
          </a:p>
        </p:txBody>
      </p:sp>
      <p:sp>
        <p:nvSpPr>
          <p:cNvPr id="14" name="Text 12"/>
          <p:cNvSpPr txBox="1"/>
          <p:nvPr/>
        </p:nvSpPr>
        <p:spPr>
          <a:xfrm>
            <a:off x="5029200" y="3246120"/>
            <a:ext cx="2103120" cy="411480"/>
          </a:xfrm>
          <a:prstGeom prst="rect">
            <a:avLst/>
          </a:prstGeom>
          <a:noFill/>
          <a:ln/>
        </p:spPr>
        <p:txBody>
          <a:bodyPr wrap="square" lIns="0" tIns="0" rIns="0" bIns="0" rtlCol="0" anchor="ctr"/>
          <a:lstStyle/>
          <a:p>
            <a:pPr indent="0" marL="0">
              <a:buNone/>
            </a:pPr>
            <a:r>
              <a:rPr lang="en-US" sz="1350" dirty="0">
                <a:solidFill>
                  <a:srgbClr val="D6EFEC"/>
                </a:solidFill>
                <a:latin typeface="Calibri" pitchFamily="34" charset="0"/>
                <a:ea typeface="Calibri" pitchFamily="34" charset="-122"/>
                <a:cs typeface="Calibri" pitchFamily="34" charset="-120"/>
              </a:rPr>
              <a:t>~4h 50min</a:t>
            </a:r>
            <a:endParaRPr lang="en-US" sz="1350" dirty="0"/>
          </a:p>
        </p:txBody>
      </p:sp>
      <p:sp>
        <p:nvSpPr>
          <p:cNvPr id="15" name="Text 13"/>
          <p:cNvSpPr txBox="1"/>
          <p:nvPr/>
        </p:nvSpPr>
        <p:spPr>
          <a:xfrm>
            <a:off x="7315200" y="3246120"/>
            <a:ext cx="2011680" cy="411480"/>
          </a:xfrm>
          <a:prstGeom prst="rect">
            <a:avLst/>
          </a:prstGeom>
          <a:noFill/>
          <a:ln/>
        </p:spPr>
        <p:txBody>
          <a:bodyPr wrap="square" lIns="0" tIns="0" rIns="0" bIns="0" rtlCol="0" anchor="ctr"/>
          <a:lstStyle/>
          <a:p>
            <a:pPr indent="0" marL="0">
              <a:buNone/>
            </a:pPr>
            <a:r>
              <a:rPr lang="en-US" sz="1350" dirty="0">
                <a:solidFill>
                  <a:srgbClr val="D6EFEC"/>
                </a:solidFill>
                <a:latin typeface="Calibri" pitchFamily="34" charset="0"/>
                <a:ea typeface="Calibri" pitchFamily="34" charset="-122"/>
                <a:cs typeface="Calibri" pitchFamily="34" charset="-120"/>
              </a:rPr>
              <a:t>42 ms</a:t>
            </a:r>
            <a:endParaRPr lang="en-US" sz="1350" dirty="0"/>
          </a:p>
        </p:txBody>
      </p:sp>
      <p:sp>
        <p:nvSpPr>
          <p:cNvPr id="16" name="Text 14"/>
          <p:cNvSpPr txBox="1"/>
          <p:nvPr/>
        </p:nvSpPr>
        <p:spPr>
          <a:xfrm>
            <a:off x="9509760" y="3246120"/>
            <a:ext cx="2103120" cy="411480"/>
          </a:xfrm>
          <a:prstGeom prst="rect">
            <a:avLst/>
          </a:prstGeom>
          <a:noFill/>
          <a:ln/>
        </p:spPr>
        <p:txBody>
          <a:bodyPr wrap="square" lIns="0" tIns="0" rIns="0" bIns="0" rtlCol="0" anchor="ctr"/>
          <a:lstStyle/>
          <a:p>
            <a:pPr indent="0" marL="0">
              <a:buNone/>
            </a:pPr>
            <a:r>
              <a:rPr lang="en-US" sz="1350" dirty="0">
                <a:solidFill>
                  <a:srgbClr val="D6EFEC"/>
                </a:solidFill>
                <a:latin typeface="Calibri" pitchFamily="34" charset="0"/>
                <a:ea typeface="Calibri" pitchFamily="34" charset="-122"/>
                <a:cs typeface="Calibri" pitchFamily="34" charset="-120"/>
              </a:rPr>
              <a:t>285 ms</a:t>
            </a:r>
            <a:endParaRPr lang="en-US" sz="1350" dirty="0"/>
          </a:p>
        </p:txBody>
      </p:sp>
      <p:sp>
        <p:nvSpPr>
          <p:cNvPr id="17" name="Text 15"/>
          <p:cNvSpPr txBox="1"/>
          <p:nvPr/>
        </p:nvSpPr>
        <p:spPr>
          <a:xfrm>
            <a:off x="640080" y="3931920"/>
            <a:ext cx="2011680" cy="41148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YOLOv8n</a:t>
            </a:r>
            <a:endParaRPr lang="en-US" sz="1350" dirty="0"/>
          </a:p>
        </p:txBody>
      </p:sp>
      <p:sp>
        <p:nvSpPr>
          <p:cNvPr id="18" name="Text 16"/>
          <p:cNvSpPr txBox="1"/>
          <p:nvPr/>
        </p:nvSpPr>
        <p:spPr>
          <a:xfrm>
            <a:off x="2834640" y="3931920"/>
            <a:ext cx="2011680" cy="411480"/>
          </a:xfrm>
          <a:prstGeom prst="rect">
            <a:avLst/>
          </a:prstGeom>
          <a:noFill/>
          <a:ln/>
        </p:spPr>
        <p:txBody>
          <a:bodyPr wrap="square" lIns="0" tIns="0" rIns="0" bIns="0" rtlCol="0" anchor="ctr"/>
          <a:lstStyle/>
          <a:p>
            <a:pPr indent="0" marL="0">
              <a:buNone/>
            </a:pPr>
            <a:r>
              <a:rPr lang="en-US" sz="1350" dirty="0">
                <a:solidFill>
                  <a:srgbClr val="D6EFEC"/>
                </a:solidFill>
                <a:latin typeface="Calibri" pitchFamily="34" charset="0"/>
                <a:ea typeface="Calibri" pitchFamily="34" charset="-122"/>
                <a:cs typeface="Calibri" pitchFamily="34" charset="-120"/>
              </a:rPr>
              <a:t>~1h 20min</a:t>
            </a:r>
            <a:endParaRPr lang="en-US" sz="1350" dirty="0"/>
          </a:p>
        </p:txBody>
      </p:sp>
      <p:sp>
        <p:nvSpPr>
          <p:cNvPr id="19" name="Text 17"/>
          <p:cNvSpPr txBox="1"/>
          <p:nvPr/>
        </p:nvSpPr>
        <p:spPr>
          <a:xfrm>
            <a:off x="5029200" y="3931920"/>
            <a:ext cx="2103120" cy="411480"/>
          </a:xfrm>
          <a:prstGeom prst="rect">
            <a:avLst/>
          </a:prstGeom>
          <a:noFill/>
          <a:ln/>
        </p:spPr>
        <p:txBody>
          <a:bodyPr wrap="square" lIns="0" tIns="0" rIns="0" bIns="0" rtlCol="0" anchor="ctr"/>
          <a:lstStyle/>
          <a:p>
            <a:pPr indent="0" marL="0">
              <a:buNone/>
            </a:pPr>
            <a:r>
              <a:rPr lang="en-US" sz="1350" dirty="0">
                <a:solidFill>
                  <a:srgbClr val="D6EFEC"/>
                </a:solidFill>
                <a:latin typeface="Calibri" pitchFamily="34" charset="0"/>
                <a:ea typeface="Calibri" pitchFamily="34" charset="-122"/>
                <a:cs typeface="Calibri" pitchFamily="34" charset="-120"/>
              </a:rPr>
              <a:t>~5h 10min</a:t>
            </a:r>
            <a:endParaRPr lang="en-US" sz="1350" dirty="0"/>
          </a:p>
        </p:txBody>
      </p:sp>
      <p:sp>
        <p:nvSpPr>
          <p:cNvPr id="20" name="Text 18"/>
          <p:cNvSpPr txBox="1"/>
          <p:nvPr/>
        </p:nvSpPr>
        <p:spPr>
          <a:xfrm>
            <a:off x="7315200" y="3931920"/>
            <a:ext cx="2011680" cy="411480"/>
          </a:xfrm>
          <a:prstGeom prst="rect">
            <a:avLst/>
          </a:prstGeom>
          <a:noFill/>
          <a:ln/>
        </p:spPr>
        <p:txBody>
          <a:bodyPr wrap="square" lIns="0" tIns="0" rIns="0" bIns="0" rtlCol="0" anchor="ctr"/>
          <a:lstStyle/>
          <a:p>
            <a:pPr indent="0" marL="0">
              <a:buNone/>
            </a:pPr>
            <a:r>
              <a:rPr lang="en-US" sz="1350" dirty="0">
                <a:solidFill>
                  <a:srgbClr val="D6EFEC"/>
                </a:solidFill>
                <a:latin typeface="Calibri" pitchFamily="34" charset="0"/>
                <a:ea typeface="Calibri" pitchFamily="34" charset="-122"/>
                <a:cs typeface="Calibri" pitchFamily="34" charset="-120"/>
              </a:rPr>
              <a:t>58 ms</a:t>
            </a:r>
            <a:endParaRPr lang="en-US" sz="1350" dirty="0"/>
          </a:p>
        </p:txBody>
      </p:sp>
      <p:sp>
        <p:nvSpPr>
          <p:cNvPr id="21" name="Text 19"/>
          <p:cNvSpPr txBox="1"/>
          <p:nvPr/>
        </p:nvSpPr>
        <p:spPr>
          <a:xfrm>
            <a:off x="9509760" y="3931920"/>
            <a:ext cx="2103120" cy="411480"/>
          </a:xfrm>
          <a:prstGeom prst="rect">
            <a:avLst/>
          </a:prstGeom>
          <a:noFill/>
          <a:ln/>
        </p:spPr>
        <p:txBody>
          <a:bodyPr wrap="square" lIns="0" tIns="0" rIns="0" bIns="0" rtlCol="0" anchor="ctr"/>
          <a:lstStyle/>
          <a:p>
            <a:pPr indent="0" marL="0">
              <a:buNone/>
            </a:pPr>
            <a:r>
              <a:rPr lang="en-US" sz="1350" dirty="0">
                <a:solidFill>
                  <a:srgbClr val="D6EFEC"/>
                </a:solidFill>
                <a:latin typeface="Calibri" pitchFamily="34" charset="0"/>
                <a:ea typeface="Calibri" pitchFamily="34" charset="-122"/>
                <a:cs typeface="Calibri" pitchFamily="34" charset="-120"/>
              </a:rPr>
              <a:t>298 ms</a:t>
            </a:r>
            <a:endParaRPr lang="en-US" sz="1350" dirty="0"/>
          </a:p>
        </p:txBody>
      </p:sp>
      <p:sp>
        <p:nvSpPr>
          <p:cNvPr id="22" name="Text 20"/>
          <p:cNvSpPr txBox="1"/>
          <p:nvPr/>
        </p:nvSpPr>
        <p:spPr>
          <a:xfrm>
            <a:off x="640080" y="4617720"/>
            <a:ext cx="2011680" cy="41148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YOLOv11n</a:t>
            </a:r>
            <a:endParaRPr lang="en-US" sz="1350" dirty="0"/>
          </a:p>
        </p:txBody>
      </p:sp>
      <p:sp>
        <p:nvSpPr>
          <p:cNvPr id="23" name="Text 21"/>
          <p:cNvSpPr txBox="1"/>
          <p:nvPr/>
        </p:nvSpPr>
        <p:spPr>
          <a:xfrm>
            <a:off x="2834640" y="4617720"/>
            <a:ext cx="2011680" cy="411480"/>
          </a:xfrm>
          <a:prstGeom prst="rect">
            <a:avLst/>
          </a:prstGeom>
          <a:noFill/>
          <a:ln/>
        </p:spPr>
        <p:txBody>
          <a:bodyPr wrap="square" lIns="0" tIns="0" rIns="0" bIns="0" rtlCol="0" anchor="ctr"/>
          <a:lstStyle/>
          <a:p>
            <a:pPr indent="0" marL="0">
              <a:buNone/>
            </a:pPr>
            <a:r>
              <a:rPr lang="en-US" sz="1350" dirty="0">
                <a:solidFill>
                  <a:srgbClr val="D6EFEC"/>
                </a:solidFill>
                <a:latin typeface="Calibri" pitchFamily="34" charset="0"/>
                <a:ea typeface="Calibri" pitchFamily="34" charset="-122"/>
                <a:cs typeface="Calibri" pitchFamily="34" charset="-120"/>
              </a:rPr>
              <a:t>~1h 10min</a:t>
            </a:r>
            <a:endParaRPr lang="en-US" sz="1350" dirty="0"/>
          </a:p>
        </p:txBody>
      </p:sp>
      <p:sp>
        <p:nvSpPr>
          <p:cNvPr id="24" name="Text 22"/>
          <p:cNvSpPr txBox="1"/>
          <p:nvPr/>
        </p:nvSpPr>
        <p:spPr>
          <a:xfrm>
            <a:off x="5029200" y="4617720"/>
            <a:ext cx="2103120" cy="411480"/>
          </a:xfrm>
          <a:prstGeom prst="rect">
            <a:avLst/>
          </a:prstGeom>
          <a:noFill/>
          <a:ln/>
        </p:spPr>
        <p:txBody>
          <a:bodyPr wrap="square" lIns="0" tIns="0" rIns="0" bIns="0" rtlCol="0" anchor="ctr"/>
          <a:lstStyle/>
          <a:p>
            <a:pPr indent="0" marL="0">
              <a:buNone/>
            </a:pPr>
            <a:r>
              <a:rPr lang="en-US" sz="1350" dirty="0">
                <a:solidFill>
                  <a:srgbClr val="D6EFEC"/>
                </a:solidFill>
                <a:latin typeface="Calibri" pitchFamily="34" charset="0"/>
                <a:ea typeface="Calibri" pitchFamily="34" charset="-122"/>
                <a:cs typeface="Calibri" pitchFamily="34" charset="-120"/>
              </a:rPr>
              <a:t>~4h 45min</a:t>
            </a:r>
            <a:endParaRPr lang="en-US" sz="1350" dirty="0"/>
          </a:p>
        </p:txBody>
      </p:sp>
      <p:sp>
        <p:nvSpPr>
          <p:cNvPr id="25" name="Text 23"/>
          <p:cNvSpPr txBox="1"/>
          <p:nvPr/>
        </p:nvSpPr>
        <p:spPr>
          <a:xfrm>
            <a:off x="7315200" y="4617720"/>
            <a:ext cx="2011680" cy="411480"/>
          </a:xfrm>
          <a:prstGeom prst="rect">
            <a:avLst/>
          </a:prstGeom>
          <a:noFill/>
          <a:ln/>
        </p:spPr>
        <p:txBody>
          <a:bodyPr wrap="square" lIns="0" tIns="0" rIns="0" bIns="0" rtlCol="0" anchor="ctr"/>
          <a:lstStyle/>
          <a:p>
            <a:pPr indent="0" marL="0">
              <a:buNone/>
            </a:pPr>
            <a:r>
              <a:rPr lang="en-US" sz="1350" dirty="0">
                <a:solidFill>
                  <a:srgbClr val="D6EFEC"/>
                </a:solidFill>
                <a:latin typeface="Calibri" pitchFamily="34" charset="0"/>
                <a:ea typeface="Calibri" pitchFamily="34" charset="-122"/>
                <a:cs typeface="Calibri" pitchFamily="34" charset="-120"/>
              </a:rPr>
              <a:t>62 ms</a:t>
            </a:r>
            <a:endParaRPr lang="en-US" sz="1350" dirty="0"/>
          </a:p>
        </p:txBody>
      </p:sp>
      <p:sp>
        <p:nvSpPr>
          <p:cNvPr id="26" name="Text 24"/>
          <p:cNvSpPr txBox="1"/>
          <p:nvPr/>
        </p:nvSpPr>
        <p:spPr>
          <a:xfrm>
            <a:off x="9509760" y="4617720"/>
            <a:ext cx="2103120" cy="411480"/>
          </a:xfrm>
          <a:prstGeom prst="rect">
            <a:avLst/>
          </a:prstGeom>
          <a:noFill/>
          <a:ln/>
        </p:spPr>
        <p:txBody>
          <a:bodyPr wrap="square" lIns="0" tIns="0" rIns="0" bIns="0" rtlCol="0" anchor="ctr"/>
          <a:lstStyle/>
          <a:p>
            <a:pPr indent="0" marL="0">
              <a:buNone/>
            </a:pPr>
            <a:r>
              <a:rPr lang="en-US" sz="1350" dirty="0">
                <a:solidFill>
                  <a:srgbClr val="D6EFEC"/>
                </a:solidFill>
                <a:latin typeface="Calibri" pitchFamily="34" charset="0"/>
                <a:ea typeface="Calibri" pitchFamily="34" charset="-122"/>
                <a:cs typeface="Calibri" pitchFamily="34" charset="-120"/>
              </a:rPr>
              <a:t>312 ms</a:t>
            </a:r>
            <a:endParaRPr lang="en-US" sz="1350" dirty="0"/>
          </a:p>
        </p:txBody>
      </p:sp>
      <p:sp>
        <p:nvSpPr>
          <p:cNvPr id="27" name="Text 25"/>
          <p:cNvSpPr txBox="1"/>
          <p:nvPr/>
        </p:nvSpPr>
        <p:spPr>
          <a:xfrm>
            <a:off x="640080" y="5669280"/>
            <a:ext cx="10881360" cy="457200"/>
          </a:xfrm>
          <a:prstGeom prst="rect">
            <a:avLst/>
          </a:prstGeom>
          <a:noFill/>
          <a:ln/>
        </p:spPr>
        <p:txBody>
          <a:bodyPr wrap="square" lIns="0" tIns="0" rIns="0" bIns="0" rtlCol="0" anchor="ctr"/>
          <a:lstStyle/>
          <a:p>
            <a:pPr indent="0" marL="0">
              <a:buNone/>
            </a:pPr>
            <a:r>
              <a:rPr lang="en-US" sz="1300" i="1" dirty="0">
                <a:solidFill>
                  <a:srgbClr val="8FC9C5"/>
                </a:solidFill>
                <a:latin typeface="Calibri" pitchFamily="34" charset="0"/>
                <a:ea typeface="Calibri" pitchFamily="34" charset="-122"/>
                <a:cs typeface="Calibri" pitchFamily="34" charset="-120"/>
              </a:rPr>
              <a:t>Whole-plate inference stays under 320 ms on a laptop RTX 3050 GPU — no TensorRT or quantisation required.</a:t>
            </a:r>
            <a:endParaRPr lang="en-US" sz="1300" dirty="0"/>
          </a:p>
        </p:txBody>
      </p:sp>
      <p:sp>
        <p:nvSpPr>
          <p:cNvPr id="28" name="Text 26"/>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7FB8BE"/>
                </a:solidFill>
                <a:latin typeface="Calibri" pitchFamily="34" charset="0"/>
                <a:ea typeface="Calibri" pitchFamily="34" charset="-122"/>
                <a:cs typeface="Calibri" pitchFamily="34" charset="-120"/>
              </a:rPr>
              <a:t>Overcoming Resolution Constraints in Automated Colony Counting via SAHI</a:t>
            </a:r>
            <a:endParaRPr lang="en-US" sz="900" dirty="0"/>
          </a:p>
        </p:txBody>
      </p:sp>
      <p:sp>
        <p:nvSpPr>
          <p:cNvPr id="29" name="Text 27"/>
          <p:cNvSpPr txBox="1"/>
          <p:nvPr/>
        </p:nvSpPr>
        <p:spPr>
          <a:xfrm>
            <a:off x="11274552" y="6473952"/>
            <a:ext cx="548640" cy="274320"/>
          </a:xfrm>
          <a:prstGeom prst="rect">
            <a:avLst/>
          </a:prstGeom>
          <a:noFill/>
          <a:ln/>
        </p:spPr>
        <p:txBody>
          <a:bodyPr wrap="square" lIns="0" tIns="0" rIns="0" bIns="0" rtlCol="0" anchor="ctr"/>
          <a:lstStyle/>
          <a:p>
            <a:pPr algn="r" indent="0" marL="0">
              <a:buNone/>
            </a:pPr>
            <a:r>
              <a:rPr lang="en-US" sz="900" dirty="0">
                <a:solidFill>
                  <a:srgbClr val="7FB8BE"/>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84048"/>
            <a:ext cx="86868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3. RESULTS — TRAINING DYNAMICS</a:t>
            </a:r>
            <a:endParaRPr lang="en-US" sz="1300" dirty="0"/>
          </a:p>
        </p:txBody>
      </p:sp>
      <p:sp>
        <p:nvSpPr>
          <p:cNvPr id="3" name="Text 1"/>
          <p:cNvSpPr txBox="1"/>
          <p:nvPr/>
        </p:nvSpPr>
        <p:spPr>
          <a:xfrm>
            <a:off x="548640" y="685800"/>
            <a:ext cx="11091672" cy="822960"/>
          </a:xfrm>
          <a:prstGeom prst="rect">
            <a:avLst/>
          </a:prstGeom>
          <a:noFill/>
          <a:ln/>
        </p:spPr>
        <p:txBody>
          <a:bodyPr wrap="square" lIns="0" tIns="0" rIns="0" bIns="0" rtlCol="0" anchor="ctr"/>
          <a:lstStyle/>
          <a:p>
            <a:pPr indent="0" marL="0">
              <a:buNone/>
            </a:pPr>
            <a:r>
              <a:rPr lang="en-US" sz="3200" b="1" dirty="0">
                <a:solidFill>
                  <a:srgbClr val="045C6E"/>
                </a:solidFill>
                <a:latin typeface="Cambria" pitchFamily="34" charset="0"/>
                <a:ea typeface="Cambria" pitchFamily="34" charset="-122"/>
                <a:cs typeface="Cambria" pitchFamily="34" charset="-120"/>
              </a:rPr>
              <a:t>YOLOv11n: Steady Gains Over 50 Epochs</a:t>
            </a:r>
            <a:endParaRPr lang="en-US" sz="3200" dirty="0"/>
          </a:p>
        </p:txBody>
      </p:sp>
      <p:graphicFrame>
        <p:nvGraphicFramePr>
          <p:cNvPr id="4" name="Chart 0" descr=""/>
          <p:cNvGraphicFramePr/>
          <p:nvPr/>
        </p:nvGraphicFramePr>
        <p:xfrm>
          <a:off x="548640" y="1600200"/>
          <a:ext cx="7406640" cy="42976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183880" y="1600200"/>
            <a:ext cx="3474720" cy="4297680"/>
          </a:xfrm>
          <a:prstGeom prst="roundRect">
            <a:avLst>
              <a:gd name="adj" fmla="val 3158"/>
            </a:avLst>
          </a:prstGeom>
          <a:solidFill>
            <a:srgbClr val="E6F5F3"/>
          </a:solidFill>
          <a:ln/>
        </p:spPr>
      </p:sp>
      <p:sp>
        <p:nvSpPr>
          <p:cNvPr id="6" name="Text 3"/>
          <p:cNvSpPr txBox="1"/>
          <p:nvPr/>
        </p:nvSpPr>
        <p:spPr>
          <a:xfrm>
            <a:off x="8458200" y="1828800"/>
            <a:ext cx="3017520" cy="320040"/>
          </a:xfrm>
          <a:prstGeom prst="rect">
            <a:avLst/>
          </a:prstGeom>
          <a:noFill/>
          <a:ln/>
        </p:spPr>
        <p:txBody>
          <a:bodyPr wrap="square" lIns="0" tIns="0" rIns="0" bIns="0" rtlCol="0" anchor="ctr"/>
          <a:lstStyle/>
          <a:p>
            <a:pPr indent="0" marL="0">
              <a:buNone/>
            </a:pPr>
            <a:r>
              <a:rPr lang="en-US" sz="1150" b="1" spc="100" kern="0" dirty="0">
                <a:solidFill>
                  <a:srgbClr val="028090"/>
                </a:solidFill>
                <a:latin typeface="Calibri" pitchFamily="34" charset="0"/>
                <a:ea typeface="Calibri" pitchFamily="34" charset="-122"/>
                <a:cs typeface="Calibri" pitchFamily="34" charset="-120"/>
              </a:rPr>
              <a:t>READING THE CURVES</a:t>
            </a:r>
            <a:endParaRPr lang="en-US" sz="1150" dirty="0"/>
          </a:p>
        </p:txBody>
      </p:sp>
      <p:sp>
        <p:nvSpPr>
          <p:cNvPr id="7" name="Text 4"/>
          <p:cNvSpPr txBox="1"/>
          <p:nvPr/>
        </p:nvSpPr>
        <p:spPr>
          <a:xfrm>
            <a:off x="8458200" y="2240280"/>
            <a:ext cx="3063240" cy="3566160"/>
          </a:xfrm>
          <a:prstGeom prst="rect">
            <a:avLst/>
          </a:prstGeom>
          <a:noFill/>
          <a:ln/>
        </p:spPr>
        <p:txBody>
          <a:bodyPr wrap="square" lIns="0" tIns="0" rIns="0" bIns="0" rtlCol="0" anchor="ctr"/>
          <a:lstStyle/>
          <a:p>
            <a:pPr indent="0" marL="0">
              <a:lnSpc>
                <a:spcPct val="120000"/>
              </a:lnSpc>
              <a:buNone/>
            </a:pPr>
            <a:r>
              <a:rPr lang="en-US" sz="1700" b="1" dirty="0">
                <a:solidFill>
                  <a:srgbClr val="028090"/>
                </a:solidFill>
                <a:latin typeface="Calibri" pitchFamily="34" charset="0"/>
                <a:ea typeface="Calibri" pitchFamily="34" charset="-122"/>
                <a:cs typeface="Calibri" pitchFamily="34" charset="-120"/>
              </a:rPr>
              <a:t>0.21 → 0.582
</a:t>
            </a:r>
            <a:endParaRPr lang="en-US" sz="1700" dirty="0"/>
          </a:p>
          <a:p>
            <a:pPr indent="0" marL="0">
              <a:lnSpc>
                <a:spcPct val="120000"/>
              </a:lnSpc>
              <a:spcAft>
                <a:spcPts val="800"/>
              </a:spcAft>
              <a:buNone/>
            </a:pPr>
            <a:r>
              <a:rPr lang="en-US" sz="1150" dirty="0">
                <a:solidFill>
                  <a:srgbClr val="0E2A2F"/>
                </a:solidFill>
                <a:latin typeface="Calibri" pitchFamily="34" charset="0"/>
                <a:ea typeface="Calibri" pitchFamily="34" charset="-122"/>
                <a:cs typeface="Calibri" pitchFamily="34" charset="-120"/>
              </a:rPr>
              <a:t>mAP@0.5:0.95 rises steadily with no plateau — more epochs or mild augmentation could push it further
</a:t>
            </a:r>
            <a:endParaRPr lang="en-US" sz="1700" dirty="0"/>
          </a:p>
          <a:p>
            <a:pPr indent="0" marL="0">
              <a:lnSpc>
                <a:spcPct val="120000"/>
              </a:lnSpc>
              <a:buNone/>
            </a:pPr>
            <a:r>
              <a:rPr lang="en-US" sz="1400" b="1" dirty="0">
                <a:solidFill>
                  <a:srgbClr val="045C6E"/>
                </a:solidFill>
                <a:latin typeface="Calibri" pitchFamily="34" charset="0"/>
                <a:ea typeface="Calibri" pitchFamily="34" charset="-122"/>
                <a:cs typeface="Calibri" pitchFamily="34" charset="-120"/>
              </a:rPr>
              <a:t>Precision ≈ Recall
</a:t>
            </a:r>
            <a:endParaRPr lang="en-US" sz="1700" dirty="0"/>
          </a:p>
          <a:p>
            <a:pPr indent="0" marL="0">
              <a:lnSpc>
                <a:spcPct val="120000"/>
              </a:lnSpc>
              <a:buNone/>
            </a:pPr>
            <a:r>
              <a:rPr lang="en-US" sz="1150" dirty="0">
                <a:solidFill>
                  <a:srgbClr val="0E2A2F"/>
                </a:solidFill>
                <a:latin typeface="Calibri" pitchFamily="34" charset="0"/>
                <a:ea typeface="Calibri" pitchFamily="34" charset="-122"/>
                <a:cs typeface="Calibri" pitchFamily="34" charset="-120"/>
              </a:rPr>
              <a:t>by epoch 50 (≈0.93/0.94) — a well-balanced detector with few false positives or missed colonies</a:t>
            </a:r>
            <a:endParaRPr lang="en-US" sz="1700" dirty="0"/>
          </a:p>
        </p:txBody>
      </p:sp>
      <p:sp>
        <p:nvSpPr>
          <p:cNvPr id="8" name="Text 5"/>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5E7D82"/>
                </a:solidFill>
                <a:latin typeface="Calibri" pitchFamily="34" charset="0"/>
                <a:ea typeface="Calibri" pitchFamily="34" charset="-122"/>
                <a:cs typeface="Calibri" pitchFamily="34" charset="-120"/>
              </a:rPr>
              <a:t>Overcoming Resolution Constraints in Automated Colony Counting via SAHI</a:t>
            </a:r>
            <a:endParaRPr lang="en-US" sz="900" dirty="0"/>
          </a:p>
        </p:txBody>
      </p:sp>
      <p:sp>
        <p:nvSpPr>
          <p:cNvPr id="9" name="Text 6"/>
          <p:cNvSpPr txBox="1"/>
          <p:nvPr/>
        </p:nvSpPr>
        <p:spPr>
          <a:xfrm>
            <a:off x="11274552" y="6473952"/>
            <a:ext cx="548640" cy="274320"/>
          </a:xfrm>
          <a:prstGeom prst="rect">
            <a:avLst/>
          </a:prstGeom>
          <a:noFill/>
          <a:ln/>
        </p:spPr>
        <p:txBody>
          <a:bodyPr wrap="square" lIns="0" tIns="0" rIns="0" bIns="0" rtlCol="0" anchor="ctr"/>
          <a:lstStyle/>
          <a:p>
            <a:pPr algn="r" indent="0" marL="0">
              <a:buNone/>
            </a:pPr>
            <a:r>
              <a:rPr lang="en-US" sz="900" dirty="0">
                <a:solidFill>
                  <a:srgbClr val="5E7D8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84048"/>
            <a:ext cx="86868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3. RESULTS — CLASSIFICATION RELIABILITY</a:t>
            </a:r>
            <a:endParaRPr lang="en-US" sz="1300" dirty="0"/>
          </a:p>
        </p:txBody>
      </p:sp>
      <p:sp>
        <p:nvSpPr>
          <p:cNvPr id="3" name="Text 1"/>
          <p:cNvSpPr txBox="1"/>
          <p:nvPr/>
        </p:nvSpPr>
        <p:spPr>
          <a:xfrm>
            <a:off x="548640" y="685800"/>
            <a:ext cx="11091672" cy="822960"/>
          </a:xfrm>
          <a:prstGeom prst="rect">
            <a:avLst/>
          </a:prstGeom>
          <a:noFill/>
          <a:ln/>
        </p:spPr>
        <p:txBody>
          <a:bodyPr wrap="square" lIns="0" tIns="0" rIns="0" bIns="0" rtlCol="0" anchor="ctr"/>
          <a:lstStyle/>
          <a:p>
            <a:pPr indent="0" marL="0">
              <a:buNone/>
            </a:pPr>
            <a:r>
              <a:rPr lang="en-US" sz="3200" b="1" dirty="0">
                <a:solidFill>
                  <a:srgbClr val="045C6E"/>
                </a:solidFill>
                <a:latin typeface="Cambria" pitchFamily="34" charset="0"/>
                <a:ea typeface="Cambria" pitchFamily="34" charset="-122"/>
                <a:cs typeface="Cambria" pitchFamily="34" charset="-120"/>
              </a:rPr>
              <a:t>Consistent Separation Across 24 Species</a:t>
            </a:r>
            <a:endParaRPr lang="en-US" sz="3200" dirty="0"/>
          </a:p>
        </p:txBody>
      </p:sp>
      <p:sp>
        <p:nvSpPr>
          <p:cNvPr id="4" name="Shape 2"/>
          <p:cNvSpPr/>
          <p:nvPr/>
        </p:nvSpPr>
        <p:spPr>
          <a:xfrm>
            <a:off x="548640" y="1828800"/>
            <a:ext cx="3429000" cy="1965960"/>
          </a:xfrm>
          <a:prstGeom prst="roundRect">
            <a:avLst>
              <a:gd name="adj" fmla="val 4651"/>
            </a:avLst>
          </a:prstGeom>
          <a:solidFill>
            <a:srgbClr val="045C6E"/>
          </a:solidFill>
          <a:ln/>
        </p:spPr>
      </p:sp>
      <p:sp>
        <p:nvSpPr>
          <p:cNvPr id="5" name="Text 3"/>
          <p:cNvSpPr txBox="1"/>
          <p:nvPr/>
        </p:nvSpPr>
        <p:spPr>
          <a:xfrm>
            <a:off x="548640" y="2057400"/>
            <a:ext cx="3429000" cy="640080"/>
          </a:xfrm>
          <a:prstGeom prst="rect">
            <a:avLst/>
          </a:prstGeom>
          <a:noFill/>
          <a:ln/>
        </p:spPr>
        <p:txBody>
          <a:bodyPr wrap="square" lIns="0" tIns="0" rIns="0" bIns="0" rtlCol="0" anchor="ctr"/>
          <a:lstStyle/>
          <a:p>
            <a:pPr algn="ctr" indent="0" marL="0">
              <a:buNone/>
            </a:pPr>
            <a:r>
              <a:rPr lang="en-US" sz="2600" b="1" dirty="0">
                <a:solidFill>
                  <a:srgbClr val="F4A100"/>
                </a:solidFill>
                <a:latin typeface="Cambria" pitchFamily="34" charset="0"/>
                <a:ea typeface="Cambria" pitchFamily="34" charset="-122"/>
                <a:cs typeface="Cambria" pitchFamily="34" charset="-120"/>
              </a:rPr>
              <a:t>23 / 24</a:t>
            </a:r>
            <a:endParaRPr lang="en-US" sz="2600" dirty="0"/>
          </a:p>
        </p:txBody>
      </p:sp>
      <p:sp>
        <p:nvSpPr>
          <p:cNvPr id="6" name="Text 4"/>
          <p:cNvSpPr txBox="1"/>
          <p:nvPr/>
        </p:nvSpPr>
        <p:spPr>
          <a:xfrm>
            <a:off x="731520" y="2743200"/>
            <a:ext cx="3063240" cy="914400"/>
          </a:xfrm>
          <a:prstGeom prst="rect">
            <a:avLst/>
          </a:prstGeom>
          <a:noFill/>
          <a:ln/>
        </p:spPr>
        <p:txBody>
          <a:bodyPr wrap="square" lIns="0" tIns="0" rIns="0" bIns="0" rtlCol="0" anchor="ctr"/>
          <a:lstStyle/>
          <a:p>
            <a:pPr algn="ctr" indent="0" marL="0">
              <a:lnSpc>
                <a:spcPct val="120000"/>
              </a:lnSpc>
              <a:buNone/>
            </a:pPr>
            <a:r>
              <a:rPr lang="en-US" sz="1200" dirty="0">
                <a:solidFill>
                  <a:srgbClr val="DCF2EF"/>
                </a:solidFill>
                <a:latin typeface="Calibri" pitchFamily="34" charset="0"/>
                <a:ea typeface="Calibri" pitchFamily="34" charset="-122"/>
                <a:cs typeface="Calibri" pitchFamily="34" charset="-120"/>
              </a:rPr>
              <a:t>Bacterial classes reaching</a:t>
            </a:r>
            <a:endParaRPr lang="en-US" sz="1200" dirty="0"/>
          </a:p>
          <a:p>
            <a:pPr algn="ctr" indent="0" marL="0">
              <a:lnSpc>
                <a:spcPct val="120000"/>
              </a:lnSpc>
              <a:buNone/>
            </a:pPr>
            <a:r>
              <a:rPr lang="en-US" sz="1200" dirty="0">
                <a:solidFill>
                  <a:srgbClr val="DCF2EF"/>
                </a:solidFill>
                <a:latin typeface="Calibri" pitchFamily="34" charset="0"/>
                <a:ea typeface="Calibri" pitchFamily="34" charset="-122"/>
                <a:cs typeface="Calibri" pitchFamily="34" charset="-120"/>
              </a:rPr>
              <a:t>≥ 0.95 diagonal accuracy</a:t>
            </a:r>
            <a:endParaRPr lang="en-US" sz="1200" dirty="0"/>
          </a:p>
        </p:txBody>
      </p:sp>
      <p:sp>
        <p:nvSpPr>
          <p:cNvPr id="7" name="Shape 5"/>
          <p:cNvSpPr/>
          <p:nvPr/>
        </p:nvSpPr>
        <p:spPr>
          <a:xfrm>
            <a:off x="4297680" y="1828800"/>
            <a:ext cx="3429000" cy="1965960"/>
          </a:xfrm>
          <a:prstGeom prst="roundRect">
            <a:avLst>
              <a:gd name="adj" fmla="val 4651"/>
            </a:avLst>
          </a:prstGeom>
          <a:solidFill>
            <a:srgbClr val="045C6E"/>
          </a:solidFill>
          <a:ln/>
        </p:spPr>
      </p:sp>
      <p:sp>
        <p:nvSpPr>
          <p:cNvPr id="8" name="Text 6"/>
          <p:cNvSpPr txBox="1"/>
          <p:nvPr/>
        </p:nvSpPr>
        <p:spPr>
          <a:xfrm>
            <a:off x="4297680" y="2057400"/>
            <a:ext cx="3429000" cy="640080"/>
          </a:xfrm>
          <a:prstGeom prst="rect">
            <a:avLst/>
          </a:prstGeom>
          <a:noFill/>
          <a:ln/>
        </p:spPr>
        <p:txBody>
          <a:bodyPr wrap="square" lIns="0" tIns="0" rIns="0" bIns="0" rtlCol="0" anchor="ctr"/>
          <a:lstStyle/>
          <a:p>
            <a:pPr algn="ctr" indent="0" marL="0">
              <a:buNone/>
            </a:pPr>
            <a:r>
              <a:rPr lang="en-US" sz="2600" b="1" dirty="0">
                <a:solidFill>
                  <a:srgbClr val="F4A100"/>
                </a:solidFill>
                <a:latin typeface="Cambria" pitchFamily="34" charset="0"/>
                <a:ea typeface="Cambria" pitchFamily="34" charset="-122"/>
                <a:cs typeface="Cambria" pitchFamily="34" charset="-120"/>
              </a:rPr>
              <a:t>&lt; 0.01</a:t>
            </a:r>
            <a:endParaRPr lang="en-US" sz="2600" dirty="0"/>
          </a:p>
        </p:txBody>
      </p:sp>
      <p:sp>
        <p:nvSpPr>
          <p:cNvPr id="9" name="Text 7"/>
          <p:cNvSpPr txBox="1"/>
          <p:nvPr/>
        </p:nvSpPr>
        <p:spPr>
          <a:xfrm>
            <a:off x="4480560" y="2743200"/>
            <a:ext cx="3063240" cy="914400"/>
          </a:xfrm>
          <a:prstGeom prst="rect">
            <a:avLst/>
          </a:prstGeom>
          <a:noFill/>
          <a:ln/>
        </p:spPr>
        <p:txBody>
          <a:bodyPr wrap="square" lIns="0" tIns="0" rIns="0" bIns="0" rtlCol="0" anchor="ctr"/>
          <a:lstStyle/>
          <a:p>
            <a:pPr algn="ctr" indent="0" marL="0">
              <a:lnSpc>
                <a:spcPct val="120000"/>
              </a:lnSpc>
              <a:buNone/>
            </a:pPr>
            <a:r>
              <a:rPr lang="en-US" sz="1200" dirty="0">
                <a:solidFill>
                  <a:srgbClr val="DCF2EF"/>
                </a:solidFill>
                <a:latin typeface="Calibri" pitchFamily="34" charset="0"/>
                <a:ea typeface="Calibri" pitchFamily="34" charset="-122"/>
                <a:cs typeface="Calibri" pitchFamily="34" charset="-120"/>
              </a:rPr>
              <a:t>Typical inter-class</a:t>
            </a:r>
            <a:endParaRPr lang="en-US" sz="1200" dirty="0"/>
          </a:p>
          <a:p>
            <a:pPr algn="ctr" indent="0" marL="0">
              <a:lnSpc>
                <a:spcPct val="120000"/>
              </a:lnSpc>
              <a:buNone/>
            </a:pPr>
            <a:r>
              <a:rPr lang="en-US" sz="1200" dirty="0">
                <a:solidFill>
                  <a:srgbClr val="DCF2EF"/>
                </a:solidFill>
                <a:latin typeface="Calibri" pitchFamily="34" charset="0"/>
                <a:ea typeface="Calibri" pitchFamily="34" charset="-122"/>
                <a:cs typeface="Calibri" pitchFamily="34" charset="-120"/>
              </a:rPr>
              <a:t>confusion rate</a:t>
            </a:r>
            <a:endParaRPr lang="en-US" sz="1200" dirty="0"/>
          </a:p>
        </p:txBody>
      </p:sp>
      <p:sp>
        <p:nvSpPr>
          <p:cNvPr id="10" name="Shape 8"/>
          <p:cNvSpPr/>
          <p:nvPr/>
        </p:nvSpPr>
        <p:spPr>
          <a:xfrm>
            <a:off x="8046720" y="1828800"/>
            <a:ext cx="3429000" cy="1965960"/>
          </a:xfrm>
          <a:prstGeom prst="roundRect">
            <a:avLst>
              <a:gd name="adj" fmla="val 4651"/>
            </a:avLst>
          </a:prstGeom>
          <a:solidFill>
            <a:srgbClr val="045C6E"/>
          </a:solidFill>
          <a:ln/>
        </p:spPr>
      </p:sp>
      <p:sp>
        <p:nvSpPr>
          <p:cNvPr id="11" name="Text 9"/>
          <p:cNvSpPr txBox="1"/>
          <p:nvPr/>
        </p:nvSpPr>
        <p:spPr>
          <a:xfrm>
            <a:off x="8046720" y="2057400"/>
            <a:ext cx="3429000" cy="640080"/>
          </a:xfrm>
          <a:prstGeom prst="rect">
            <a:avLst/>
          </a:prstGeom>
          <a:noFill/>
          <a:ln/>
        </p:spPr>
        <p:txBody>
          <a:bodyPr wrap="square" lIns="0" tIns="0" rIns="0" bIns="0" rtlCol="0" anchor="ctr"/>
          <a:lstStyle/>
          <a:p>
            <a:pPr algn="ctr" indent="0" marL="0">
              <a:buNone/>
            </a:pPr>
            <a:r>
              <a:rPr lang="en-US" sz="2600" b="1" dirty="0">
                <a:solidFill>
                  <a:srgbClr val="F4A100"/>
                </a:solidFill>
                <a:latin typeface="Cambria" pitchFamily="34" charset="0"/>
                <a:ea typeface="Cambria" pitchFamily="34" charset="-122"/>
                <a:cs typeface="Cambria" pitchFamily="34" charset="-120"/>
              </a:rPr>
              <a:t>0.16</a:t>
            </a:r>
            <a:endParaRPr lang="en-US" sz="2600" dirty="0"/>
          </a:p>
        </p:txBody>
      </p:sp>
      <p:sp>
        <p:nvSpPr>
          <p:cNvPr id="12" name="Text 10"/>
          <p:cNvSpPr txBox="1"/>
          <p:nvPr/>
        </p:nvSpPr>
        <p:spPr>
          <a:xfrm>
            <a:off x="8229600" y="2743200"/>
            <a:ext cx="3063240" cy="914400"/>
          </a:xfrm>
          <a:prstGeom prst="rect">
            <a:avLst/>
          </a:prstGeom>
          <a:noFill/>
          <a:ln/>
        </p:spPr>
        <p:txBody>
          <a:bodyPr wrap="square" lIns="0" tIns="0" rIns="0" bIns="0" rtlCol="0" anchor="ctr"/>
          <a:lstStyle/>
          <a:p>
            <a:pPr algn="ctr" indent="0" marL="0">
              <a:lnSpc>
                <a:spcPct val="120000"/>
              </a:lnSpc>
              <a:buNone/>
            </a:pPr>
            <a:r>
              <a:rPr lang="en-US" sz="1200" dirty="0">
                <a:solidFill>
                  <a:srgbClr val="DCF2EF"/>
                </a:solidFill>
                <a:latin typeface="Calibri" pitchFamily="34" charset="0"/>
                <a:ea typeface="Calibri" pitchFamily="34" charset="-122"/>
                <a:cs typeface="Calibri" pitchFamily="34" charset="-120"/>
              </a:rPr>
              <a:t>Highest background</a:t>
            </a:r>
            <a:endParaRPr lang="en-US" sz="1200" dirty="0"/>
          </a:p>
          <a:p>
            <a:pPr algn="ctr" indent="0" marL="0">
              <a:lnSpc>
                <a:spcPct val="120000"/>
              </a:lnSpc>
              <a:buNone/>
            </a:pPr>
            <a:r>
              <a:rPr lang="en-US" sz="1200" dirty="0">
                <a:solidFill>
                  <a:srgbClr val="DCF2EF"/>
                </a:solidFill>
                <a:latin typeface="Calibri" pitchFamily="34" charset="0"/>
                <a:ea typeface="Calibri" pitchFamily="34" charset="-122"/>
                <a:cs typeface="Calibri" pitchFamily="34" charset="-120"/>
              </a:rPr>
              <a:t>false-positive rate</a:t>
            </a:r>
            <a:endParaRPr lang="en-US" sz="1200" dirty="0"/>
          </a:p>
          <a:p>
            <a:pPr algn="ctr" indent="0" marL="0">
              <a:lnSpc>
                <a:spcPct val="120000"/>
              </a:lnSpc>
              <a:buNone/>
            </a:pPr>
            <a:r>
              <a:rPr lang="en-US" sz="1200" dirty="0">
                <a:solidFill>
                  <a:srgbClr val="DCF2EF"/>
                </a:solidFill>
                <a:latin typeface="Calibri" pitchFamily="34" charset="0"/>
                <a:ea typeface="Calibri" pitchFamily="34" charset="-122"/>
                <a:cs typeface="Calibri" pitchFamily="34" charset="-120"/>
              </a:rPr>
              <a:t>(Streptococcus agalactiae)</a:t>
            </a:r>
            <a:endParaRPr lang="en-US" sz="1200" dirty="0"/>
          </a:p>
        </p:txBody>
      </p:sp>
      <p:sp>
        <p:nvSpPr>
          <p:cNvPr id="13" name="Shape 11"/>
          <p:cNvSpPr/>
          <p:nvPr/>
        </p:nvSpPr>
        <p:spPr>
          <a:xfrm>
            <a:off x="548640" y="4069080"/>
            <a:ext cx="11064240" cy="1874520"/>
          </a:xfrm>
          <a:prstGeom prst="roundRect">
            <a:avLst>
              <a:gd name="adj" fmla="val 4878"/>
            </a:avLst>
          </a:prstGeom>
          <a:solidFill>
            <a:srgbClr val="E6F5F3"/>
          </a:solidFill>
          <a:ln/>
        </p:spPr>
      </p:sp>
      <p:sp>
        <p:nvSpPr>
          <p:cNvPr id="14" name="Text 12"/>
          <p:cNvSpPr txBox="1"/>
          <p:nvPr/>
        </p:nvSpPr>
        <p:spPr>
          <a:xfrm>
            <a:off x="822960" y="4251960"/>
            <a:ext cx="10515600" cy="1554480"/>
          </a:xfrm>
          <a:prstGeom prst="rect">
            <a:avLst/>
          </a:prstGeom>
          <a:noFill/>
          <a:ln/>
        </p:spPr>
        <p:txBody>
          <a:bodyPr wrap="square" lIns="0" tIns="0" rIns="0" bIns="0" rtlCol="0" anchor="ctr"/>
          <a:lstStyle/>
          <a:p>
            <a:pPr indent="0" marL="0">
              <a:lnSpc>
                <a:spcPct val="128000"/>
              </a:lnSpc>
              <a:buNone/>
            </a:pPr>
            <a:r>
              <a:rPr lang="en-US" sz="1300" dirty="0">
                <a:solidFill>
                  <a:srgbClr val="0E2A2F"/>
                </a:solidFill>
                <a:latin typeface="Calibri" pitchFamily="34" charset="0"/>
                <a:ea typeface="Calibri" pitchFamily="34" charset="-122"/>
                <a:cs typeface="Calibri" pitchFamily="34" charset="-120"/>
              </a:rPr>
              <a:t>The normalised confusion matrix (Fig. 3) shows the proposed tiled YOLOv11n model reliably distinguishes morphologically similar veterinary pathogens under varying imaging conditions. Diagonal values exceed 0.95 in 23 of 24 classes; nearly all inter-class confusions remain below 0.01. The only notable off-diagonal activity is between a few classes and the background — not between bacterial species themselves, which is the harder and more clinically important distinction.</a:t>
            </a:r>
            <a:endParaRPr lang="en-US" sz="1300" dirty="0"/>
          </a:p>
        </p:txBody>
      </p:sp>
      <p:sp>
        <p:nvSpPr>
          <p:cNvPr id="15" name="Text 13"/>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5E7D82"/>
                </a:solidFill>
                <a:latin typeface="Calibri" pitchFamily="34" charset="0"/>
                <a:ea typeface="Calibri" pitchFamily="34" charset="-122"/>
                <a:cs typeface="Calibri" pitchFamily="34" charset="-120"/>
              </a:rPr>
              <a:t>Overcoming Resolution Constraints in Automated Colony Counting via SAHI</a:t>
            </a:r>
            <a:endParaRPr lang="en-US" sz="900" dirty="0"/>
          </a:p>
        </p:txBody>
      </p:sp>
      <p:sp>
        <p:nvSpPr>
          <p:cNvPr id="16" name="Text 14"/>
          <p:cNvSpPr txBox="1"/>
          <p:nvPr/>
        </p:nvSpPr>
        <p:spPr>
          <a:xfrm>
            <a:off x="11274552" y="6473952"/>
            <a:ext cx="548640" cy="274320"/>
          </a:xfrm>
          <a:prstGeom prst="rect">
            <a:avLst/>
          </a:prstGeom>
          <a:noFill/>
          <a:ln/>
        </p:spPr>
        <p:txBody>
          <a:bodyPr wrap="square" lIns="0" tIns="0" rIns="0" bIns="0" rtlCol="0" anchor="ctr"/>
          <a:lstStyle/>
          <a:p>
            <a:pPr algn="r" indent="0" marL="0">
              <a:buNone/>
            </a:pPr>
            <a:r>
              <a:rPr lang="en-US" sz="900" dirty="0">
                <a:solidFill>
                  <a:srgbClr val="5E7D8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84048"/>
            <a:ext cx="8686800" cy="320040"/>
          </a:xfrm>
          <a:prstGeom prst="rect">
            <a:avLst/>
          </a:prstGeom>
          <a:noFill/>
          <a:ln/>
        </p:spPr>
        <p:txBody>
          <a:bodyPr wrap="square" lIns="0" tIns="0" rIns="0" bIns="0" rtlCol="0" anchor="ctr"/>
          <a:lstStyle/>
          <a:p>
            <a:pPr indent="0" marL="0">
              <a:buNone/>
            </a:pPr>
            <a:r>
              <a:rPr lang="en-US" sz="1300" b="1" spc="200" kern="0" dirty="0">
                <a:solidFill>
                  <a:srgbClr val="F4A100"/>
                </a:solidFill>
                <a:latin typeface="Calibri" pitchFamily="34" charset="0"/>
                <a:ea typeface="Calibri" pitchFamily="34" charset="-122"/>
                <a:cs typeface="Calibri" pitchFamily="34" charset="-120"/>
              </a:rPr>
              <a:t>3. RESULTS — QUALITATIVE COMPARISON</a:t>
            </a:r>
            <a:endParaRPr lang="en-US" sz="1300" dirty="0"/>
          </a:p>
        </p:txBody>
      </p:sp>
      <p:sp>
        <p:nvSpPr>
          <p:cNvPr id="3" name="Text 1"/>
          <p:cNvSpPr txBox="1"/>
          <p:nvPr/>
        </p:nvSpPr>
        <p:spPr>
          <a:xfrm>
            <a:off x="548640" y="685800"/>
            <a:ext cx="11091672"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Missed Colonies, Recovered</a:t>
            </a:r>
            <a:endParaRPr lang="en-US" sz="3200" dirty="0"/>
          </a:p>
        </p:txBody>
      </p:sp>
      <p:sp>
        <p:nvSpPr>
          <p:cNvPr id="4" name="Text 2"/>
          <p:cNvSpPr txBox="1"/>
          <p:nvPr/>
        </p:nvSpPr>
        <p:spPr>
          <a:xfrm>
            <a:off x="548640" y="1554480"/>
            <a:ext cx="10789920" cy="594360"/>
          </a:xfrm>
          <a:prstGeom prst="rect">
            <a:avLst/>
          </a:prstGeom>
          <a:noFill/>
          <a:ln/>
        </p:spPr>
        <p:txBody>
          <a:bodyPr wrap="square" lIns="0" tIns="0" rIns="0" bIns="0" rtlCol="0" anchor="ctr"/>
          <a:lstStyle/>
          <a:p>
            <a:pPr indent="0" marL="0">
              <a:buNone/>
            </a:pPr>
            <a:r>
              <a:rPr lang="en-US" sz="1450" dirty="0">
                <a:solidFill>
                  <a:srgbClr val="CFEAE7"/>
                </a:solidFill>
                <a:latin typeface="Calibri" pitchFamily="34" charset="0"/>
                <a:ea typeface="Calibri" pitchFamily="34" charset="-122"/>
                <a:cs typeface="Calibri" pitchFamily="34" charset="-120"/>
              </a:rPr>
              <a:t>On a high-density blood agar plate with 26 closely packed colonies (Fig. 4), resize-based inference lost fine spatial detail — tiled inference recovered it completely.</a:t>
            </a:r>
            <a:endParaRPr lang="en-US" sz="1450" dirty="0"/>
          </a:p>
        </p:txBody>
      </p:sp>
      <p:sp>
        <p:nvSpPr>
          <p:cNvPr id="5" name="Shape 3"/>
          <p:cNvSpPr/>
          <p:nvPr/>
        </p:nvSpPr>
        <p:spPr>
          <a:xfrm>
            <a:off x="548640" y="2331720"/>
            <a:ext cx="5349240" cy="3703320"/>
          </a:xfrm>
          <a:prstGeom prst="roundRect">
            <a:avLst>
              <a:gd name="adj" fmla="val 2963"/>
            </a:avLst>
          </a:prstGeom>
          <a:solidFill>
            <a:srgbClr val="0F3742"/>
          </a:solidFill>
          <a:ln w="12700">
            <a:solidFill>
              <a:srgbClr val="C1272D"/>
            </a:solidFill>
            <a:prstDash val="solid"/>
          </a:ln>
        </p:spPr>
      </p:sp>
      <p:sp>
        <p:nvSpPr>
          <p:cNvPr id="6" name="Text 4"/>
          <p:cNvSpPr txBox="1"/>
          <p:nvPr/>
        </p:nvSpPr>
        <p:spPr>
          <a:xfrm>
            <a:off x="822960" y="2542032"/>
            <a:ext cx="4800600" cy="365760"/>
          </a:xfrm>
          <a:prstGeom prst="rect">
            <a:avLst/>
          </a:prstGeom>
          <a:noFill/>
          <a:ln/>
        </p:spPr>
        <p:txBody>
          <a:bodyPr wrap="square" lIns="0" tIns="0" rIns="0" bIns="0" rtlCol="0" anchor="ctr"/>
          <a:lstStyle/>
          <a:p>
            <a:pPr indent="0" marL="0">
              <a:buNone/>
            </a:pPr>
            <a:r>
              <a:rPr lang="en-US" sz="1400" b="1" dirty="0">
                <a:solidFill>
                  <a:srgbClr val="C1272D"/>
                </a:solidFill>
                <a:latin typeface="Calibri" pitchFamily="34" charset="0"/>
                <a:ea typeface="Calibri" pitchFamily="34" charset="-122"/>
                <a:cs typeface="Calibri" pitchFamily="34" charset="-120"/>
              </a:rPr>
              <a:t>RESIZED (640×640)</a:t>
            </a:r>
            <a:endParaRPr lang="en-US" sz="1400" dirty="0"/>
          </a:p>
        </p:txBody>
      </p:sp>
      <p:sp>
        <p:nvSpPr>
          <p:cNvPr id="7" name="Shape 5"/>
          <p:cNvSpPr/>
          <p:nvPr/>
        </p:nvSpPr>
        <p:spPr>
          <a:xfrm>
            <a:off x="822960" y="3127248"/>
            <a:ext cx="109728" cy="109728"/>
          </a:xfrm>
          <a:prstGeom prst="ellipse">
            <a:avLst/>
          </a:prstGeom>
          <a:solidFill>
            <a:srgbClr val="C1272D"/>
          </a:solidFill>
          <a:ln/>
        </p:spPr>
      </p:sp>
      <p:sp>
        <p:nvSpPr>
          <p:cNvPr id="8" name="Text 6"/>
          <p:cNvSpPr txBox="1"/>
          <p:nvPr/>
        </p:nvSpPr>
        <p:spPr>
          <a:xfrm>
            <a:off x="1097280" y="2971800"/>
            <a:ext cx="4480560" cy="777240"/>
          </a:xfrm>
          <a:prstGeom prst="rect">
            <a:avLst/>
          </a:prstGeom>
          <a:noFill/>
          <a:ln/>
        </p:spPr>
        <p:txBody>
          <a:bodyPr wrap="square" lIns="0" tIns="0" rIns="0" bIns="0" rtlCol="0" anchor="ctr"/>
          <a:lstStyle/>
          <a:p>
            <a:pPr indent="0" marL="0">
              <a:lnSpc>
                <a:spcPct val="122000"/>
              </a:lnSpc>
              <a:buNone/>
            </a:pPr>
            <a:r>
              <a:rPr lang="en-US" sz="1300" dirty="0">
                <a:solidFill>
                  <a:srgbClr val="E8F5F2"/>
                </a:solidFill>
                <a:latin typeface="Calibri" pitchFamily="34" charset="0"/>
                <a:ea typeface="Calibri" pitchFamily="34" charset="-122"/>
                <a:cs typeface="Calibri" pitchFamily="34" charset="-120"/>
              </a:rPr>
              <a:t>YOLOv8n-resized: misses 1 colony, 5 misclassifications</a:t>
            </a:r>
            <a:endParaRPr lang="en-US" sz="1300" dirty="0"/>
          </a:p>
        </p:txBody>
      </p:sp>
      <p:sp>
        <p:nvSpPr>
          <p:cNvPr id="9" name="Shape 7"/>
          <p:cNvSpPr/>
          <p:nvPr/>
        </p:nvSpPr>
        <p:spPr>
          <a:xfrm>
            <a:off x="822960" y="3995928"/>
            <a:ext cx="109728" cy="109728"/>
          </a:xfrm>
          <a:prstGeom prst="ellipse">
            <a:avLst/>
          </a:prstGeom>
          <a:solidFill>
            <a:srgbClr val="C1272D"/>
          </a:solidFill>
          <a:ln/>
        </p:spPr>
      </p:sp>
      <p:sp>
        <p:nvSpPr>
          <p:cNvPr id="10" name="Text 8"/>
          <p:cNvSpPr txBox="1"/>
          <p:nvPr/>
        </p:nvSpPr>
        <p:spPr>
          <a:xfrm>
            <a:off x="1097280" y="3840480"/>
            <a:ext cx="4480560" cy="777240"/>
          </a:xfrm>
          <a:prstGeom prst="rect">
            <a:avLst/>
          </a:prstGeom>
          <a:noFill/>
          <a:ln/>
        </p:spPr>
        <p:txBody>
          <a:bodyPr wrap="square" lIns="0" tIns="0" rIns="0" bIns="0" rtlCol="0" anchor="ctr"/>
          <a:lstStyle/>
          <a:p>
            <a:pPr indent="0" marL="0">
              <a:lnSpc>
                <a:spcPct val="122000"/>
              </a:lnSpc>
              <a:buNone/>
            </a:pPr>
            <a:r>
              <a:rPr lang="en-US" sz="1300" dirty="0">
                <a:solidFill>
                  <a:srgbClr val="E8F5F2"/>
                </a:solidFill>
                <a:latin typeface="Calibri" pitchFamily="34" charset="0"/>
                <a:ea typeface="Calibri" pitchFamily="34" charset="-122"/>
                <a:cs typeface="Calibri" pitchFamily="34" charset="-120"/>
              </a:rPr>
              <a:t>YOLOv11n-resized: misses 2 colonies, 3 misclassifications</a:t>
            </a:r>
            <a:endParaRPr lang="en-US" sz="1300" dirty="0"/>
          </a:p>
        </p:txBody>
      </p:sp>
      <p:sp>
        <p:nvSpPr>
          <p:cNvPr id="11" name="Shape 9"/>
          <p:cNvSpPr/>
          <p:nvPr/>
        </p:nvSpPr>
        <p:spPr>
          <a:xfrm>
            <a:off x="822960" y="4864608"/>
            <a:ext cx="109728" cy="109728"/>
          </a:xfrm>
          <a:prstGeom prst="ellipse">
            <a:avLst/>
          </a:prstGeom>
          <a:solidFill>
            <a:srgbClr val="C1272D"/>
          </a:solidFill>
          <a:ln/>
        </p:spPr>
      </p:sp>
      <p:sp>
        <p:nvSpPr>
          <p:cNvPr id="12" name="Text 10"/>
          <p:cNvSpPr txBox="1"/>
          <p:nvPr/>
        </p:nvSpPr>
        <p:spPr>
          <a:xfrm>
            <a:off x="1097280" y="4709160"/>
            <a:ext cx="4480560" cy="777240"/>
          </a:xfrm>
          <a:prstGeom prst="rect">
            <a:avLst/>
          </a:prstGeom>
          <a:noFill/>
          <a:ln/>
        </p:spPr>
        <p:txBody>
          <a:bodyPr wrap="square" lIns="0" tIns="0" rIns="0" bIns="0" rtlCol="0" anchor="ctr"/>
          <a:lstStyle/>
          <a:p>
            <a:pPr indent="0" marL="0">
              <a:lnSpc>
                <a:spcPct val="122000"/>
              </a:lnSpc>
              <a:buNone/>
            </a:pPr>
            <a:r>
              <a:rPr lang="en-US" sz="1300" dirty="0">
                <a:solidFill>
                  <a:srgbClr val="E8F5F2"/>
                </a:solidFill>
                <a:latin typeface="Calibri" pitchFamily="34" charset="0"/>
                <a:ea typeface="Calibri" pitchFamily="34" charset="-122"/>
                <a:cs typeface="Calibri" pitchFamily="34" charset="-120"/>
              </a:rPr>
              <a:t>Fine spatial detail lost during downsampling</a:t>
            </a:r>
            <a:endParaRPr lang="en-US" sz="1300" dirty="0"/>
          </a:p>
        </p:txBody>
      </p:sp>
      <p:sp>
        <p:nvSpPr>
          <p:cNvPr id="13" name="Shape 11"/>
          <p:cNvSpPr/>
          <p:nvPr/>
        </p:nvSpPr>
        <p:spPr>
          <a:xfrm>
            <a:off x="6172200" y="2331720"/>
            <a:ext cx="5349240" cy="3703320"/>
          </a:xfrm>
          <a:prstGeom prst="roundRect">
            <a:avLst>
              <a:gd name="adj" fmla="val 2963"/>
            </a:avLst>
          </a:prstGeom>
          <a:solidFill>
            <a:srgbClr val="0F3742"/>
          </a:solidFill>
          <a:ln w="12700">
            <a:solidFill>
              <a:srgbClr val="02C39A"/>
            </a:solidFill>
            <a:prstDash val="solid"/>
          </a:ln>
        </p:spPr>
      </p:sp>
      <p:sp>
        <p:nvSpPr>
          <p:cNvPr id="14" name="Text 12"/>
          <p:cNvSpPr txBox="1"/>
          <p:nvPr/>
        </p:nvSpPr>
        <p:spPr>
          <a:xfrm>
            <a:off x="6446520" y="2542032"/>
            <a:ext cx="4800600" cy="365760"/>
          </a:xfrm>
          <a:prstGeom prst="rect">
            <a:avLst/>
          </a:prstGeom>
          <a:noFill/>
          <a:ln/>
        </p:spPr>
        <p:txBody>
          <a:bodyPr wrap="square" lIns="0" tIns="0" rIns="0" bIns="0"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TILED (20% overlap + NMS)</a:t>
            </a:r>
            <a:endParaRPr lang="en-US" sz="1400" dirty="0"/>
          </a:p>
        </p:txBody>
      </p:sp>
      <p:sp>
        <p:nvSpPr>
          <p:cNvPr id="15" name="Shape 13"/>
          <p:cNvSpPr/>
          <p:nvPr/>
        </p:nvSpPr>
        <p:spPr>
          <a:xfrm>
            <a:off x="6446520" y="3127248"/>
            <a:ext cx="109728" cy="109728"/>
          </a:xfrm>
          <a:prstGeom prst="ellipse">
            <a:avLst/>
          </a:prstGeom>
          <a:solidFill>
            <a:srgbClr val="02C39A"/>
          </a:solidFill>
          <a:ln/>
        </p:spPr>
      </p:sp>
      <p:sp>
        <p:nvSpPr>
          <p:cNvPr id="16" name="Text 14"/>
          <p:cNvSpPr txBox="1"/>
          <p:nvPr/>
        </p:nvSpPr>
        <p:spPr>
          <a:xfrm>
            <a:off x="6720840" y="2971800"/>
            <a:ext cx="4480560" cy="777240"/>
          </a:xfrm>
          <a:prstGeom prst="rect">
            <a:avLst/>
          </a:prstGeom>
          <a:noFill/>
          <a:ln/>
        </p:spPr>
        <p:txBody>
          <a:bodyPr wrap="square" lIns="0" tIns="0" rIns="0" bIns="0" rtlCol="0" anchor="ctr"/>
          <a:lstStyle/>
          <a:p>
            <a:pPr indent="0" marL="0">
              <a:lnSpc>
                <a:spcPct val="122000"/>
              </a:lnSpc>
              <a:buNone/>
            </a:pPr>
            <a:r>
              <a:rPr lang="en-US" sz="1300" dirty="0">
                <a:solidFill>
                  <a:srgbClr val="E8F5F2"/>
                </a:solidFill>
                <a:latin typeface="Calibri" pitchFamily="34" charset="0"/>
                <a:ea typeface="Calibri" pitchFamily="34" charset="-122"/>
                <a:cs typeface="Calibri" pitchFamily="34" charset="-120"/>
              </a:rPr>
              <a:t>YOLOv8n-tiled: zero missed detections</a:t>
            </a:r>
            <a:endParaRPr lang="en-US" sz="1300" dirty="0"/>
          </a:p>
        </p:txBody>
      </p:sp>
      <p:sp>
        <p:nvSpPr>
          <p:cNvPr id="17" name="Shape 15"/>
          <p:cNvSpPr/>
          <p:nvPr/>
        </p:nvSpPr>
        <p:spPr>
          <a:xfrm>
            <a:off x="6446520" y="3995928"/>
            <a:ext cx="109728" cy="109728"/>
          </a:xfrm>
          <a:prstGeom prst="ellipse">
            <a:avLst/>
          </a:prstGeom>
          <a:solidFill>
            <a:srgbClr val="02C39A"/>
          </a:solidFill>
          <a:ln/>
        </p:spPr>
      </p:sp>
      <p:sp>
        <p:nvSpPr>
          <p:cNvPr id="18" name="Text 16"/>
          <p:cNvSpPr txBox="1"/>
          <p:nvPr/>
        </p:nvSpPr>
        <p:spPr>
          <a:xfrm>
            <a:off x="6720840" y="3840480"/>
            <a:ext cx="4480560" cy="777240"/>
          </a:xfrm>
          <a:prstGeom prst="rect">
            <a:avLst/>
          </a:prstGeom>
          <a:noFill/>
          <a:ln/>
        </p:spPr>
        <p:txBody>
          <a:bodyPr wrap="square" lIns="0" tIns="0" rIns="0" bIns="0" rtlCol="0" anchor="ctr"/>
          <a:lstStyle/>
          <a:p>
            <a:pPr indent="0" marL="0">
              <a:lnSpc>
                <a:spcPct val="122000"/>
              </a:lnSpc>
              <a:buNone/>
            </a:pPr>
            <a:r>
              <a:rPr lang="en-US" sz="1300" dirty="0">
                <a:solidFill>
                  <a:srgbClr val="E8F5F2"/>
                </a:solidFill>
                <a:latin typeface="Calibri" pitchFamily="34" charset="0"/>
                <a:ea typeface="Calibri" pitchFamily="34" charset="-122"/>
                <a:cs typeface="Calibri" pitchFamily="34" charset="-120"/>
              </a:rPr>
              <a:t>YOLOv11n-tiled: zero missed detections</a:t>
            </a:r>
            <a:endParaRPr lang="en-US" sz="1300" dirty="0"/>
          </a:p>
        </p:txBody>
      </p:sp>
      <p:sp>
        <p:nvSpPr>
          <p:cNvPr id="19" name="Shape 17"/>
          <p:cNvSpPr/>
          <p:nvPr/>
        </p:nvSpPr>
        <p:spPr>
          <a:xfrm>
            <a:off x="6446520" y="4864608"/>
            <a:ext cx="109728" cy="109728"/>
          </a:xfrm>
          <a:prstGeom prst="ellipse">
            <a:avLst/>
          </a:prstGeom>
          <a:solidFill>
            <a:srgbClr val="02C39A"/>
          </a:solidFill>
          <a:ln/>
        </p:spPr>
      </p:sp>
      <p:sp>
        <p:nvSpPr>
          <p:cNvPr id="20" name="Text 18"/>
          <p:cNvSpPr txBox="1"/>
          <p:nvPr/>
        </p:nvSpPr>
        <p:spPr>
          <a:xfrm>
            <a:off x="6720840" y="4709160"/>
            <a:ext cx="4480560" cy="777240"/>
          </a:xfrm>
          <a:prstGeom prst="rect">
            <a:avLst/>
          </a:prstGeom>
          <a:noFill/>
          <a:ln/>
        </p:spPr>
        <p:txBody>
          <a:bodyPr wrap="square" lIns="0" tIns="0" rIns="0" bIns="0" rtlCol="0" anchor="ctr"/>
          <a:lstStyle/>
          <a:p>
            <a:pPr indent="0" marL="0">
              <a:lnSpc>
                <a:spcPct val="122000"/>
              </a:lnSpc>
              <a:buNone/>
            </a:pPr>
            <a:r>
              <a:rPr lang="en-US" sz="1300" dirty="0">
                <a:solidFill>
                  <a:srgbClr val="E8F5F2"/>
                </a:solidFill>
                <a:latin typeface="Calibri" pitchFamily="34" charset="0"/>
                <a:ea typeface="Calibri" pitchFamily="34" charset="-122"/>
                <a:cs typeface="Calibri" pitchFamily="34" charset="-120"/>
              </a:rPr>
              <a:t>Only 1 duplicate false positive per model at tile borders</a:t>
            </a:r>
            <a:endParaRPr lang="en-US" sz="1300" dirty="0"/>
          </a:p>
        </p:txBody>
      </p:sp>
      <p:sp>
        <p:nvSpPr>
          <p:cNvPr id="21" name="Text 19"/>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7FB8BE"/>
                </a:solidFill>
                <a:latin typeface="Calibri" pitchFamily="34" charset="0"/>
                <a:ea typeface="Calibri" pitchFamily="34" charset="-122"/>
                <a:cs typeface="Calibri" pitchFamily="34" charset="-120"/>
              </a:rPr>
              <a:t>Overcoming Resolution Constraints in Automated Colony Counting via SAHI</a:t>
            </a:r>
            <a:endParaRPr lang="en-US" sz="900" dirty="0"/>
          </a:p>
        </p:txBody>
      </p:sp>
      <p:sp>
        <p:nvSpPr>
          <p:cNvPr id="22" name="Text 20"/>
          <p:cNvSpPr txBox="1"/>
          <p:nvPr/>
        </p:nvSpPr>
        <p:spPr>
          <a:xfrm>
            <a:off x="11274552" y="6473952"/>
            <a:ext cx="548640" cy="274320"/>
          </a:xfrm>
          <a:prstGeom prst="rect">
            <a:avLst/>
          </a:prstGeom>
          <a:noFill/>
          <a:ln/>
        </p:spPr>
        <p:txBody>
          <a:bodyPr wrap="square" lIns="0" tIns="0" rIns="0" bIns="0" rtlCol="0" anchor="ctr"/>
          <a:lstStyle/>
          <a:p>
            <a:pPr algn="r" indent="0" marL="0">
              <a:buNone/>
            </a:pPr>
            <a:r>
              <a:rPr lang="en-US" sz="900" dirty="0">
                <a:solidFill>
                  <a:srgbClr val="7FB8BE"/>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84048"/>
            <a:ext cx="8686800" cy="320040"/>
          </a:xfrm>
          <a:prstGeom prst="rect">
            <a:avLst/>
          </a:prstGeom>
          <a:noFill/>
          <a:ln/>
        </p:spPr>
        <p:txBody>
          <a:bodyPr wrap="square" lIns="0" tIns="0" rIns="0" bIns="0" rtlCol="0" anchor="ctr"/>
          <a:lstStyle/>
          <a:p>
            <a:pPr indent="0" marL="0">
              <a:buNone/>
            </a:pPr>
            <a:r>
              <a:rPr lang="en-US" sz="1300" b="1" spc="200" kern="0" dirty="0">
                <a:solidFill>
                  <a:srgbClr val="028090"/>
                </a:solidFill>
                <a:latin typeface="Calibri" pitchFamily="34" charset="0"/>
                <a:ea typeface="Calibri" pitchFamily="34" charset="-122"/>
                <a:cs typeface="Calibri" pitchFamily="34" charset="-120"/>
              </a:rPr>
              <a:t>3. RESULTS — SOTA COMPARISON &amp; ROBUSTNESS</a:t>
            </a:r>
            <a:endParaRPr lang="en-US" sz="1300" dirty="0"/>
          </a:p>
        </p:txBody>
      </p:sp>
      <p:sp>
        <p:nvSpPr>
          <p:cNvPr id="3" name="Text 1"/>
          <p:cNvSpPr txBox="1"/>
          <p:nvPr/>
        </p:nvSpPr>
        <p:spPr>
          <a:xfrm>
            <a:off x="548640" y="685800"/>
            <a:ext cx="11091672" cy="822960"/>
          </a:xfrm>
          <a:prstGeom prst="rect">
            <a:avLst/>
          </a:prstGeom>
          <a:noFill/>
          <a:ln/>
        </p:spPr>
        <p:txBody>
          <a:bodyPr wrap="square" lIns="0" tIns="0" rIns="0" bIns="0" rtlCol="0" anchor="ctr"/>
          <a:lstStyle/>
          <a:p>
            <a:pPr indent="0" marL="0">
              <a:buNone/>
            </a:pPr>
            <a:r>
              <a:rPr lang="en-US" sz="3200" b="1" dirty="0">
                <a:solidFill>
                  <a:srgbClr val="045C6E"/>
                </a:solidFill>
                <a:latin typeface="Cambria" pitchFamily="34" charset="0"/>
                <a:ea typeface="Cambria" pitchFamily="34" charset="-122"/>
                <a:cs typeface="Cambria" pitchFamily="34" charset="-120"/>
              </a:rPr>
              <a:t>Small Model, Best-in-Class Accuracy</a:t>
            </a:r>
            <a:endParaRPr lang="en-US" sz="3200" dirty="0"/>
          </a:p>
        </p:txBody>
      </p:sp>
      <p:graphicFrame>
        <p:nvGraphicFramePr>
          <p:cNvPr id="4" name="Chart 0" descr=""/>
          <p:cNvGraphicFramePr/>
          <p:nvPr/>
        </p:nvGraphicFramePr>
        <p:xfrm>
          <a:off x="457200" y="1600200"/>
          <a:ext cx="7040880" cy="37947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5486400"/>
            <a:ext cx="7040880" cy="548640"/>
          </a:xfrm>
          <a:prstGeom prst="rect">
            <a:avLst/>
          </a:prstGeom>
          <a:noFill/>
          <a:ln/>
        </p:spPr>
        <p:txBody>
          <a:bodyPr wrap="square" lIns="0" tIns="0" rIns="0" bIns="0" rtlCol="0" anchor="ctr"/>
          <a:lstStyle/>
          <a:p>
            <a:pPr indent="0" marL="0">
              <a:lnSpc>
                <a:spcPct val="120000"/>
              </a:lnSpc>
              <a:buNone/>
            </a:pPr>
            <a:r>
              <a:rPr lang="en-US" sz="1150" i="1" dirty="0">
                <a:solidFill>
                  <a:srgbClr val="5E7D82"/>
                </a:solidFill>
                <a:latin typeface="Calibri" pitchFamily="34" charset="0"/>
                <a:ea typeface="Calibri" pitchFamily="34" charset="-122"/>
                <a:cs typeface="Calibri" pitchFamily="34" charset="-120"/>
              </a:rPr>
              <a:t>Proposed YOLOv11n reaches 0.969 mAP@0.5 with only 2.6M parameters — versus 27–304M in earlier heavy two-stage or transformer methods.</a:t>
            </a:r>
            <a:endParaRPr lang="en-US" sz="1150" dirty="0"/>
          </a:p>
        </p:txBody>
      </p:sp>
      <p:sp>
        <p:nvSpPr>
          <p:cNvPr id="6" name="Shape 3"/>
          <p:cNvSpPr/>
          <p:nvPr/>
        </p:nvSpPr>
        <p:spPr>
          <a:xfrm>
            <a:off x="7772400" y="1600200"/>
            <a:ext cx="3886200" cy="1965960"/>
          </a:xfrm>
          <a:prstGeom prst="roundRect">
            <a:avLst>
              <a:gd name="adj" fmla="val 5581"/>
            </a:avLst>
          </a:prstGeom>
          <a:solidFill>
            <a:srgbClr val="045C6E"/>
          </a:solidFill>
          <a:ln/>
        </p:spPr>
      </p:sp>
      <p:sp>
        <p:nvSpPr>
          <p:cNvPr id="7" name="Text 4"/>
          <p:cNvSpPr txBox="1"/>
          <p:nvPr/>
        </p:nvSpPr>
        <p:spPr>
          <a:xfrm>
            <a:off x="8001000" y="1783080"/>
            <a:ext cx="3474720" cy="320040"/>
          </a:xfrm>
          <a:prstGeom prst="rect">
            <a:avLst/>
          </a:prstGeom>
          <a:noFill/>
          <a:ln/>
        </p:spPr>
        <p:txBody>
          <a:bodyPr wrap="square" lIns="0" tIns="0" rIns="0" bIns="0" rtlCol="0" anchor="ctr"/>
          <a:lstStyle/>
          <a:p>
            <a:pPr indent="0" marL="0">
              <a:buNone/>
            </a:pPr>
            <a:r>
              <a:rPr lang="en-US" sz="1050" b="1" spc="80" kern="0" dirty="0">
                <a:solidFill>
                  <a:srgbClr val="F4A100"/>
                </a:solidFill>
                <a:latin typeface="Calibri" pitchFamily="34" charset="0"/>
                <a:ea typeface="Calibri" pitchFamily="34" charset="-122"/>
                <a:cs typeface="Calibri" pitchFamily="34" charset="-120"/>
              </a:rPr>
              <a:t>OVERLAP-RATIO SENSITIVITY</a:t>
            </a:r>
            <a:endParaRPr lang="en-US" sz="1050" dirty="0"/>
          </a:p>
        </p:txBody>
      </p:sp>
      <p:sp>
        <p:nvSpPr>
          <p:cNvPr id="8" name="Text 5"/>
          <p:cNvSpPr txBox="1"/>
          <p:nvPr/>
        </p:nvSpPr>
        <p:spPr>
          <a:xfrm>
            <a:off x="8001000" y="2148840"/>
            <a:ext cx="3429000" cy="1325880"/>
          </a:xfrm>
          <a:prstGeom prst="rect">
            <a:avLst/>
          </a:prstGeom>
          <a:noFill/>
          <a:ln/>
        </p:spPr>
        <p:txBody>
          <a:bodyPr wrap="square" lIns="0" tIns="0" rIns="0" bIns="0" rtlCol="0" anchor="ctr"/>
          <a:lstStyle/>
          <a:p>
            <a:pPr indent="0" marL="0">
              <a:lnSpc>
                <a:spcPct val="125000"/>
              </a:lnSpc>
              <a:buNone/>
            </a:pPr>
            <a:r>
              <a:rPr lang="en-US" sz="1200" dirty="0">
                <a:solidFill>
                  <a:srgbClr val="DCF2EF"/>
                </a:solidFill>
                <a:latin typeface="Calibri" pitchFamily="34" charset="0"/>
                <a:ea typeface="Calibri" pitchFamily="34" charset="-122"/>
                <a:cs typeface="Calibri" pitchFamily="34" charset="-120"/>
              </a:rPr>
              <a:t>10% → 25% overlap changes mAP@0.5:0.95 by only 0.002 — 20% was chosen as the balanced setting.</a:t>
            </a:r>
            <a:endParaRPr lang="en-US" sz="1200" dirty="0"/>
          </a:p>
        </p:txBody>
      </p:sp>
      <p:sp>
        <p:nvSpPr>
          <p:cNvPr id="9" name="Shape 6"/>
          <p:cNvSpPr/>
          <p:nvPr/>
        </p:nvSpPr>
        <p:spPr>
          <a:xfrm>
            <a:off x="7772400" y="3749040"/>
            <a:ext cx="3886200" cy="1874520"/>
          </a:xfrm>
          <a:prstGeom prst="roundRect">
            <a:avLst>
              <a:gd name="adj" fmla="val 5854"/>
            </a:avLst>
          </a:prstGeom>
          <a:solidFill>
            <a:srgbClr val="E6F5F3"/>
          </a:solidFill>
          <a:ln/>
        </p:spPr>
      </p:sp>
      <p:sp>
        <p:nvSpPr>
          <p:cNvPr id="10" name="Text 7"/>
          <p:cNvSpPr txBox="1"/>
          <p:nvPr/>
        </p:nvSpPr>
        <p:spPr>
          <a:xfrm>
            <a:off x="8001000" y="3931920"/>
            <a:ext cx="3474720" cy="320040"/>
          </a:xfrm>
          <a:prstGeom prst="rect">
            <a:avLst/>
          </a:prstGeom>
          <a:noFill/>
          <a:ln/>
        </p:spPr>
        <p:txBody>
          <a:bodyPr wrap="square" lIns="0" tIns="0" rIns="0" bIns="0" rtlCol="0" anchor="ctr"/>
          <a:lstStyle/>
          <a:p>
            <a:pPr indent="0" marL="0">
              <a:buNone/>
            </a:pPr>
            <a:r>
              <a:rPr lang="en-US" sz="1050" b="1" spc="80" kern="0" dirty="0">
                <a:solidFill>
                  <a:srgbClr val="028090"/>
                </a:solidFill>
                <a:latin typeface="Calibri" pitchFamily="34" charset="0"/>
                <a:ea typeface="Calibri" pitchFamily="34" charset="-122"/>
                <a:cs typeface="Calibri" pitchFamily="34" charset="-120"/>
              </a:rPr>
              <a:t>5-FOLD CROSS-VALIDATION</a:t>
            </a:r>
            <a:endParaRPr lang="en-US" sz="1050" dirty="0"/>
          </a:p>
        </p:txBody>
      </p:sp>
      <p:sp>
        <p:nvSpPr>
          <p:cNvPr id="11" name="Text 8"/>
          <p:cNvSpPr txBox="1"/>
          <p:nvPr/>
        </p:nvSpPr>
        <p:spPr>
          <a:xfrm>
            <a:off x="8001000" y="4297680"/>
            <a:ext cx="3429000" cy="1234440"/>
          </a:xfrm>
          <a:prstGeom prst="rect">
            <a:avLst/>
          </a:prstGeom>
          <a:noFill/>
          <a:ln/>
        </p:spPr>
        <p:txBody>
          <a:bodyPr wrap="square" lIns="0" tIns="0" rIns="0" bIns="0" rtlCol="0" anchor="ctr"/>
          <a:lstStyle/>
          <a:p>
            <a:pPr indent="0" marL="0">
              <a:lnSpc>
                <a:spcPct val="120000"/>
              </a:lnSpc>
              <a:buNone/>
            </a:pPr>
            <a:r>
              <a:rPr lang="en-US" sz="2000" b="1" dirty="0">
                <a:solidFill>
                  <a:srgbClr val="028090"/>
                </a:solidFill>
                <a:latin typeface="Calibri" pitchFamily="34" charset="0"/>
                <a:ea typeface="Calibri" pitchFamily="34" charset="-122"/>
                <a:cs typeface="Calibri" pitchFamily="34" charset="-120"/>
              </a:rPr>
              <a:t>0.967 ± 0.004
</a:t>
            </a:r>
            <a:endParaRPr lang="en-US" sz="2000" dirty="0"/>
          </a:p>
          <a:p>
            <a:pPr indent="0" marL="0">
              <a:lnSpc>
                <a:spcPct val="120000"/>
              </a:lnSpc>
              <a:buNone/>
            </a:pPr>
            <a:r>
              <a:rPr lang="en-US" sz="1150" dirty="0">
                <a:solidFill>
                  <a:srgbClr val="0E2A2F"/>
                </a:solidFill>
                <a:latin typeface="Calibri" pitchFamily="34" charset="0"/>
                <a:ea typeface="Calibri" pitchFamily="34" charset="-122"/>
                <a:cs typeface="Calibri" pitchFamily="34" charset="-120"/>
              </a:rPr>
              <a:t>tiled mAP@0.5, vs. 0.663 ± 0.009 resized — stable across every fold</a:t>
            </a:r>
            <a:endParaRPr lang="en-US" sz="2000" dirty="0"/>
          </a:p>
        </p:txBody>
      </p:sp>
      <p:sp>
        <p:nvSpPr>
          <p:cNvPr id="12" name="Text 9"/>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5E7D82"/>
                </a:solidFill>
                <a:latin typeface="Calibri" pitchFamily="34" charset="0"/>
                <a:ea typeface="Calibri" pitchFamily="34" charset="-122"/>
                <a:cs typeface="Calibri" pitchFamily="34" charset="-120"/>
              </a:rPr>
              <a:t>Overcoming Resolution Constraints in Automated Colony Counting via SAHI</a:t>
            </a:r>
            <a:endParaRPr lang="en-US" sz="900" dirty="0"/>
          </a:p>
        </p:txBody>
      </p:sp>
      <p:sp>
        <p:nvSpPr>
          <p:cNvPr id="13" name="Text 10"/>
          <p:cNvSpPr txBox="1"/>
          <p:nvPr/>
        </p:nvSpPr>
        <p:spPr>
          <a:xfrm>
            <a:off x="11274552" y="6473952"/>
            <a:ext cx="548640" cy="274320"/>
          </a:xfrm>
          <a:prstGeom prst="rect">
            <a:avLst/>
          </a:prstGeom>
          <a:noFill/>
          <a:ln/>
        </p:spPr>
        <p:txBody>
          <a:bodyPr wrap="square" lIns="0" tIns="0" rIns="0" bIns="0" rtlCol="0" anchor="ctr"/>
          <a:lstStyle/>
          <a:p>
            <a:pPr algn="r" indent="0" marL="0">
              <a:buNone/>
            </a:pPr>
            <a:r>
              <a:rPr lang="en-US" sz="900" dirty="0">
                <a:solidFill>
                  <a:srgbClr val="5E7D8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84048"/>
            <a:ext cx="8686800" cy="320040"/>
          </a:xfrm>
          <a:prstGeom prst="rect">
            <a:avLst/>
          </a:prstGeom>
          <a:noFill/>
          <a:ln/>
        </p:spPr>
        <p:txBody>
          <a:bodyPr wrap="square" lIns="0" tIns="0" rIns="0" bIns="0" rtlCol="0" anchor="ctr"/>
          <a:lstStyle/>
          <a:p>
            <a:pPr indent="0" marL="0">
              <a:buNone/>
            </a:pPr>
            <a:r>
              <a:rPr lang="en-US" sz="1300" b="1" spc="200" kern="0" dirty="0">
                <a:solidFill>
                  <a:srgbClr val="F4A100"/>
                </a:solidFill>
                <a:latin typeface="Calibri" pitchFamily="34" charset="0"/>
                <a:ea typeface="Calibri" pitchFamily="34" charset="-122"/>
                <a:cs typeface="Calibri" pitchFamily="34" charset="-120"/>
              </a:rPr>
              <a:t>4. CONCLUSION</a:t>
            </a:r>
            <a:endParaRPr lang="en-US" sz="1300" dirty="0"/>
          </a:p>
        </p:txBody>
      </p:sp>
      <p:sp>
        <p:nvSpPr>
          <p:cNvPr id="3" name="Text 1"/>
          <p:cNvSpPr txBox="1"/>
          <p:nvPr/>
        </p:nvSpPr>
        <p:spPr>
          <a:xfrm>
            <a:off x="548640" y="685800"/>
            <a:ext cx="11091672"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Resolution Preservation Over Model Scaling</a:t>
            </a:r>
            <a:endParaRPr lang="en-US" sz="3200" dirty="0"/>
          </a:p>
        </p:txBody>
      </p:sp>
      <p:sp>
        <p:nvSpPr>
          <p:cNvPr id="4" name="Text 2"/>
          <p:cNvSpPr txBox="1"/>
          <p:nvPr/>
        </p:nvSpPr>
        <p:spPr>
          <a:xfrm>
            <a:off x="640080" y="1737360"/>
            <a:ext cx="10698480" cy="1920240"/>
          </a:xfrm>
          <a:prstGeom prst="rect">
            <a:avLst/>
          </a:prstGeom>
          <a:noFill/>
          <a:ln/>
        </p:spPr>
        <p:txBody>
          <a:bodyPr wrap="square" lIns="0" tIns="0" rIns="0" bIns="0" rtlCol="0" anchor="ctr"/>
          <a:lstStyle/>
          <a:p>
            <a:pPr indent="0" marL="0">
              <a:lnSpc>
                <a:spcPct val="135000"/>
              </a:lnSpc>
              <a:buNone/>
            </a:pPr>
            <a:r>
              <a:rPr lang="en-US" sz="1650" i="1" dirty="0">
                <a:solidFill>
                  <a:srgbClr val="DCF2EF"/>
                </a:solidFill>
                <a:latin typeface="Cambria" pitchFamily="34" charset="0"/>
                <a:ea typeface="Cambria" pitchFamily="34" charset="-122"/>
                <a:cs typeface="Cambria" pitchFamily="34" charset="-120"/>
              </a:rPr>
              <a:t>A simple tiled-inference pipeline with 20% overlap eliminates the resolution loss that cripples lightweight YOLO models on high-density Petri dish images — reaching 96.9% mAP@0.5 and 58.2% mAP@0.5:0.95 with YOLOv11n's 2.6M parameters, and under 320 ms whole-plate inference on a laptop GPU.</a:t>
            </a:r>
            <a:endParaRPr lang="en-US" sz="1650" dirty="0"/>
          </a:p>
        </p:txBody>
      </p:sp>
      <p:sp>
        <p:nvSpPr>
          <p:cNvPr id="5" name="Shape 3"/>
          <p:cNvSpPr/>
          <p:nvPr/>
        </p:nvSpPr>
        <p:spPr>
          <a:xfrm>
            <a:off x="640080" y="3931920"/>
            <a:ext cx="2711196" cy="502920"/>
          </a:xfrm>
          <a:prstGeom prst="roundRect">
            <a:avLst>
              <a:gd name="adj" fmla="val 50909"/>
            </a:avLst>
          </a:prstGeom>
          <a:solidFill>
            <a:srgbClr val="028090"/>
          </a:solidFill>
          <a:ln/>
        </p:spPr>
      </p:sp>
      <p:sp>
        <p:nvSpPr>
          <p:cNvPr id="6" name="Text 4"/>
          <p:cNvSpPr txBox="1"/>
          <p:nvPr/>
        </p:nvSpPr>
        <p:spPr>
          <a:xfrm>
            <a:off x="640080" y="3931920"/>
            <a:ext cx="2711196"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Resolution-preserving</a:t>
            </a:r>
            <a:endParaRPr lang="en-US" sz="1300" dirty="0"/>
          </a:p>
        </p:txBody>
      </p:sp>
      <p:sp>
        <p:nvSpPr>
          <p:cNvPr id="7" name="Shape 5"/>
          <p:cNvSpPr/>
          <p:nvPr/>
        </p:nvSpPr>
        <p:spPr>
          <a:xfrm>
            <a:off x="3579876" y="3931920"/>
            <a:ext cx="1659636" cy="502920"/>
          </a:xfrm>
          <a:prstGeom prst="roundRect">
            <a:avLst>
              <a:gd name="adj" fmla="val 50909"/>
            </a:avLst>
          </a:prstGeom>
          <a:solidFill>
            <a:srgbClr val="028090"/>
          </a:solidFill>
          <a:ln/>
        </p:spPr>
      </p:sp>
      <p:sp>
        <p:nvSpPr>
          <p:cNvPr id="8" name="Text 6"/>
          <p:cNvSpPr txBox="1"/>
          <p:nvPr/>
        </p:nvSpPr>
        <p:spPr>
          <a:xfrm>
            <a:off x="3579876" y="3931920"/>
            <a:ext cx="1659636"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Lightweight</a:t>
            </a:r>
            <a:endParaRPr lang="en-US" sz="1300" dirty="0"/>
          </a:p>
        </p:txBody>
      </p:sp>
      <p:sp>
        <p:nvSpPr>
          <p:cNvPr id="9" name="Shape 7"/>
          <p:cNvSpPr/>
          <p:nvPr/>
        </p:nvSpPr>
        <p:spPr>
          <a:xfrm>
            <a:off x="5468112" y="3931920"/>
            <a:ext cx="1975104" cy="502920"/>
          </a:xfrm>
          <a:prstGeom prst="roundRect">
            <a:avLst>
              <a:gd name="adj" fmla="val 50909"/>
            </a:avLst>
          </a:prstGeom>
          <a:solidFill>
            <a:srgbClr val="028090"/>
          </a:solidFill>
          <a:ln/>
        </p:spPr>
      </p:sp>
      <p:sp>
        <p:nvSpPr>
          <p:cNvPr id="10" name="Text 8"/>
          <p:cNvSpPr txBox="1"/>
          <p:nvPr/>
        </p:nvSpPr>
        <p:spPr>
          <a:xfrm>
            <a:off x="5468112" y="3931920"/>
            <a:ext cx="1975104"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Model-agnostic</a:t>
            </a:r>
            <a:endParaRPr lang="en-US" sz="1300" dirty="0"/>
          </a:p>
        </p:txBody>
      </p:sp>
      <p:sp>
        <p:nvSpPr>
          <p:cNvPr id="11" name="Shape 9"/>
          <p:cNvSpPr/>
          <p:nvPr/>
        </p:nvSpPr>
        <p:spPr>
          <a:xfrm>
            <a:off x="7671816" y="3931920"/>
            <a:ext cx="1764792" cy="502920"/>
          </a:xfrm>
          <a:prstGeom prst="roundRect">
            <a:avLst>
              <a:gd name="adj" fmla="val 50909"/>
            </a:avLst>
          </a:prstGeom>
          <a:solidFill>
            <a:srgbClr val="028090"/>
          </a:solidFill>
          <a:ln/>
        </p:spPr>
      </p:sp>
      <p:sp>
        <p:nvSpPr>
          <p:cNvPr id="12" name="Text 10"/>
          <p:cNvSpPr txBox="1"/>
          <p:nvPr/>
        </p:nvSpPr>
        <p:spPr>
          <a:xfrm>
            <a:off x="7671816" y="3931920"/>
            <a:ext cx="1764792"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Reproducible</a:t>
            </a:r>
            <a:endParaRPr lang="en-US" sz="1300" dirty="0"/>
          </a:p>
        </p:txBody>
      </p:sp>
      <p:sp>
        <p:nvSpPr>
          <p:cNvPr id="13" name="Shape 11"/>
          <p:cNvSpPr/>
          <p:nvPr/>
        </p:nvSpPr>
        <p:spPr>
          <a:xfrm>
            <a:off x="9665208" y="3931920"/>
            <a:ext cx="1449324" cy="502920"/>
          </a:xfrm>
          <a:prstGeom prst="roundRect">
            <a:avLst>
              <a:gd name="adj" fmla="val 50909"/>
            </a:avLst>
          </a:prstGeom>
          <a:solidFill>
            <a:srgbClr val="028090"/>
          </a:solidFill>
          <a:ln/>
        </p:spPr>
      </p:sp>
      <p:sp>
        <p:nvSpPr>
          <p:cNvPr id="14" name="Text 12"/>
          <p:cNvSpPr txBox="1"/>
          <p:nvPr/>
        </p:nvSpPr>
        <p:spPr>
          <a:xfrm>
            <a:off x="9665208" y="3931920"/>
            <a:ext cx="1449324"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Real-time</a:t>
            </a:r>
            <a:endParaRPr lang="en-US" sz="1300" dirty="0"/>
          </a:p>
        </p:txBody>
      </p:sp>
      <p:sp>
        <p:nvSpPr>
          <p:cNvPr id="15" name="Shape 13"/>
          <p:cNvSpPr/>
          <p:nvPr/>
        </p:nvSpPr>
        <p:spPr>
          <a:xfrm>
            <a:off x="658368" y="4983480"/>
            <a:ext cx="2194560" cy="0"/>
          </a:xfrm>
          <a:prstGeom prst="line">
            <a:avLst/>
          </a:prstGeom>
          <a:noFill/>
          <a:ln w="25400">
            <a:solidFill>
              <a:srgbClr val="00A896"/>
            </a:solidFill>
            <a:prstDash val="solid"/>
          </a:ln>
        </p:spPr>
      </p:sp>
      <p:sp>
        <p:nvSpPr>
          <p:cNvPr id="16" name="Text 14"/>
          <p:cNvSpPr txBox="1"/>
          <p:nvPr/>
        </p:nvSpPr>
        <p:spPr>
          <a:xfrm>
            <a:off x="640080" y="5166360"/>
            <a:ext cx="82296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Sercan Külcü &amp; Duygu Balpetek Külcü  ·  Giresun University</a:t>
            </a:r>
            <a:endParaRPr lang="en-US" sz="1400" dirty="0"/>
          </a:p>
        </p:txBody>
      </p:sp>
      <p:sp>
        <p:nvSpPr>
          <p:cNvPr id="17" name="Text 15"/>
          <p:cNvSpPr txBox="1"/>
          <p:nvPr/>
        </p:nvSpPr>
        <p:spPr>
          <a:xfrm>
            <a:off x="640080" y="5532120"/>
            <a:ext cx="7315200" cy="320040"/>
          </a:xfrm>
          <a:prstGeom prst="rect">
            <a:avLst/>
          </a:prstGeom>
          <a:noFill/>
          <a:ln/>
        </p:spPr>
        <p:txBody>
          <a:bodyPr wrap="square" lIns="0" tIns="0" rIns="0" bIns="0" rtlCol="0" anchor="ctr"/>
          <a:lstStyle/>
          <a:p>
            <a:pPr indent="0" marL="0">
              <a:buNone/>
            </a:pPr>
            <a:r>
              <a:rPr lang="en-US" sz="1200" dirty="0">
                <a:solidFill>
                  <a:srgbClr val="8FC9C5"/>
                </a:solidFill>
                <a:latin typeface="Calibri" pitchFamily="34" charset="0"/>
                <a:ea typeface="Calibri" pitchFamily="34" charset="-122"/>
                <a:cs typeface="Calibri" pitchFamily="34" charset="-120"/>
              </a:rPr>
              <a:t>sercan.kulcu@giresun.edu.tr</a:t>
            </a:r>
            <a:endParaRPr lang="en-US" sz="1200" dirty="0"/>
          </a:p>
        </p:txBody>
      </p:sp>
      <p:sp>
        <p:nvSpPr>
          <p:cNvPr id="18" name="Text 16"/>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7FB8BE"/>
                </a:solidFill>
                <a:latin typeface="Calibri" pitchFamily="34" charset="0"/>
                <a:ea typeface="Calibri" pitchFamily="34" charset="-122"/>
                <a:cs typeface="Calibri" pitchFamily="34" charset="-120"/>
              </a:rPr>
              <a:t>Overcoming Resolution Constraints in Automated Colony Counting via SAHI</a:t>
            </a:r>
            <a:endParaRPr lang="en-US" sz="900" dirty="0"/>
          </a:p>
        </p:txBody>
      </p:sp>
      <p:sp>
        <p:nvSpPr>
          <p:cNvPr id="19" name="Text 17"/>
          <p:cNvSpPr txBox="1"/>
          <p:nvPr/>
        </p:nvSpPr>
        <p:spPr>
          <a:xfrm>
            <a:off x="11274552" y="6473952"/>
            <a:ext cx="548640" cy="274320"/>
          </a:xfrm>
          <a:prstGeom prst="rect">
            <a:avLst/>
          </a:prstGeom>
          <a:noFill/>
          <a:ln/>
        </p:spPr>
        <p:txBody>
          <a:bodyPr wrap="square" lIns="0" tIns="0" rIns="0" bIns="0" rtlCol="0" anchor="ctr"/>
          <a:lstStyle/>
          <a:p>
            <a:pPr algn="r" indent="0" marL="0">
              <a:buNone/>
            </a:pPr>
            <a:r>
              <a:rPr lang="en-US" sz="900" dirty="0">
                <a:solidFill>
                  <a:srgbClr val="7FB8BE"/>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9811512" y="4480560"/>
            <a:ext cx="2926080" cy="2926080"/>
          </a:xfrm>
          <a:prstGeom prst="ellipse">
            <a:avLst/>
          </a:prstGeom>
          <a:ln w="15240">
            <a:solidFill>
              <a:srgbClr val="00A896">
                <a:alpha val="60000"/>
              </a:srgbClr>
            </a:solidFill>
            <a:prstDash val="solid"/>
          </a:ln>
        </p:spPr>
      </p:sp>
      <p:sp>
        <p:nvSpPr>
          <p:cNvPr id="3" name="Shape 1"/>
          <p:cNvSpPr/>
          <p:nvPr/>
        </p:nvSpPr>
        <p:spPr>
          <a:xfrm>
            <a:off x="9079992" y="3749040"/>
            <a:ext cx="4389120" cy="4389120"/>
          </a:xfrm>
          <a:prstGeom prst="ellipse">
            <a:avLst/>
          </a:prstGeom>
          <a:ln w="15240">
            <a:solidFill>
              <a:srgbClr val="00A896">
                <a:alpha val="60000"/>
              </a:srgbClr>
            </a:solidFill>
            <a:prstDash val="solid"/>
          </a:ln>
        </p:spPr>
      </p:sp>
      <p:sp>
        <p:nvSpPr>
          <p:cNvPr id="4" name="Shape 2"/>
          <p:cNvSpPr/>
          <p:nvPr/>
        </p:nvSpPr>
        <p:spPr>
          <a:xfrm>
            <a:off x="8348472" y="3017520"/>
            <a:ext cx="5852160" cy="5852160"/>
          </a:xfrm>
          <a:prstGeom prst="ellipse">
            <a:avLst/>
          </a:prstGeom>
          <a:ln w="15240">
            <a:solidFill>
              <a:srgbClr val="00A896">
                <a:alpha val="60000"/>
              </a:srgbClr>
            </a:solidFill>
            <a:prstDash val="solid"/>
          </a:ln>
        </p:spPr>
      </p:sp>
      <p:sp>
        <p:nvSpPr>
          <p:cNvPr id="5" name="Shape 3"/>
          <p:cNvSpPr/>
          <p:nvPr/>
        </p:nvSpPr>
        <p:spPr>
          <a:xfrm>
            <a:off x="7616952" y="2286000"/>
            <a:ext cx="7315200" cy="7315200"/>
          </a:xfrm>
          <a:prstGeom prst="ellipse">
            <a:avLst/>
          </a:prstGeom>
          <a:ln w="15240">
            <a:solidFill>
              <a:srgbClr val="00A896">
                <a:alpha val="60000"/>
              </a:srgbClr>
            </a:solidFill>
            <a:prstDash val="solid"/>
          </a:ln>
        </p:spPr>
      </p:sp>
      <p:sp>
        <p:nvSpPr>
          <p:cNvPr id="6" name="Text 4"/>
          <p:cNvSpPr txBox="1"/>
          <p:nvPr/>
        </p:nvSpPr>
        <p:spPr>
          <a:xfrm>
            <a:off x="640080" y="2468880"/>
            <a:ext cx="91440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7" name="Text 5"/>
          <p:cNvSpPr txBox="1"/>
          <p:nvPr/>
        </p:nvSpPr>
        <p:spPr>
          <a:xfrm>
            <a:off x="640080" y="3429000"/>
            <a:ext cx="9144000" cy="548640"/>
          </a:xfrm>
          <a:prstGeom prst="rect">
            <a:avLst/>
          </a:prstGeom>
          <a:noFill/>
          <a:ln/>
        </p:spPr>
        <p:txBody>
          <a:bodyPr wrap="square" lIns="0" tIns="0" rIns="0" bIns="0" rtlCol="0" anchor="ctr"/>
          <a:lstStyle/>
          <a:p>
            <a:pPr indent="0" marL="0">
              <a:buNone/>
            </a:pPr>
            <a:r>
              <a:rPr lang="en-US" sz="2000" i="1" dirty="0">
                <a:solidFill>
                  <a:srgbClr val="CFEAE7"/>
                </a:solidFill>
                <a:latin typeface="Calibri" pitchFamily="34" charset="0"/>
                <a:ea typeface="Calibri" pitchFamily="34" charset="-122"/>
                <a:cs typeface="Calibri" pitchFamily="34" charset="-120"/>
              </a:rPr>
              <a:t>Questions &amp; Discussion</a:t>
            </a:r>
            <a:endParaRPr lang="en-US" sz="2000" dirty="0"/>
          </a:p>
        </p:txBody>
      </p:sp>
      <p:sp>
        <p:nvSpPr>
          <p:cNvPr id="8" name="Shape 6"/>
          <p:cNvSpPr/>
          <p:nvPr/>
        </p:nvSpPr>
        <p:spPr>
          <a:xfrm>
            <a:off x="658368" y="4297680"/>
            <a:ext cx="2194560" cy="0"/>
          </a:xfrm>
          <a:prstGeom prst="line">
            <a:avLst/>
          </a:prstGeom>
          <a:noFill/>
          <a:ln w="25400">
            <a:solidFill>
              <a:srgbClr val="00A896"/>
            </a:solidFill>
            <a:prstDash val="solid"/>
          </a:ln>
        </p:spPr>
      </p:sp>
      <p:sp>
        <p:nvSpPr>
          <p:cNvPr id="9" name="Text 7"/>
          <p:cNvSpPr txBox="1"/>
          <p:nvPr/>
        </p:nvSpPr>
        <p:spPr>
          <a:xfrm>
            <a:off x="640080" y="4480560"/>
            <a:ext cx="82296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Sercan Külcü &amp; Duygu Balpetek Külcü  ·  Giresun University</a:t>
            </a:r>
            <a:endParaRPr lang="en-US" sz="1400" dirty="0"/>
          </a:p>
        </p:txBody>
      </p:sp>
      <p:sp>
        <p:nvSpPr>
          <p:cNvPr id="10" name="Text 8"/>
          <p:cNvSpPr txBox="1"/>
          <p:nvPr/>
        </p:nvSpPr>
        <p:spPr>
          <a:xfrm>
            <a:off x="640080" y="4846320"/>
            <a:ext cx="8229600" cy="320040"/>
          </a:xfrm>
          <a:prstGeom prst="rect">
            <a:avLst/>
          </a:prstGeom>
          <a:noFill/>
          <a:ln/>
        </p:spPr>
        <p:txBody>
          <a:bodyPr wrap="square" lIns="0" tIns="0" rIns="0" bIns="0" rtlCol="0" anchor="ctr"/>
          <a:lstStyle/>
          <a:p>
            <a:pPr indent="0" marL="0">
              <a:buNone/>
            </a:pPr>
            <a:r>
              <a:rPr lang="en-US" sz="1200" dirty="0">
                <a:solidFill>
                  <a:srgbClr val="8FC9C5"/>
                </a:solidFill>
                <a:latin typeface="Calibri" pitchFamily="34" charset="0"/>
                <a:ea typeface="Calibri" pitchFamily="34" charset="-122"/>
                <a:cs typeface="Calibri" pitchFamily="34" charset="-120"/>
              </a:rPr>
              <a:t>sercan.kulcu@giresun.edu.tr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2026-09-09T21:10:09Z</dcterms:created>
  <dcterms:modified xsi:type="dcterms:W3CDTF">2026-09-09T21:10:09Z</dcterms:modified>
</cp:coreProperties>
</file>