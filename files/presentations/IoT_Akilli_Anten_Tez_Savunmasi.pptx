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Düğüm Sayısına Göre Paket İletim Oranı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Tüm yönlü anten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94.87</c:v>
                </c:pt>
                <c:pt idx="1">
                  <c:v>83.55</c:v>
                </c:pt>
                <c:pt idx="2">
                  <c:v>61.04</c:v>
                </c:pt>
                <c:pt idx="3">
                  <c:v>39.13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Anahtarlanabilir anten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97.94</c:v>
                </c:pt>
                <c:pt idx="1">
                  <c:v>87.61</c:v>
                </c:pt>
                <c:pt idx="2">
                  <c:v>63.49</c:v>
                </c:pt>
                <c:pt idx="3">
                  <c:v>42.17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Anahtarlanabilir anten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25</c:v>
                  </c:pt>
                  <c:pt idx="1">
                    <c:v>49</c:v>
                  </c:pt>
                  <c:pt idx="2">
                    <c:v>73</c:v>
                  </c:pt>
                  <c:pt idx="3">
                    <c:v>101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88.77</c:v>
                </c:pt>
                <c:pt idx="2">
                  <c:v>66.74</c:v>
                </c:pt>
                <c:pt idx="3">
                  <c:v>44.06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Ortalama Ağ Gecikmesi (sn)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anten + 1 kanal</c:v>
                </c:pt>
              </c:strCache>
            </c:strRef>
          </c:tx>
          <c:spPr>
            <a:solidFill>
              <a:srgbClr val="081226"/>
            </a:solidFill>
            <a:ln w="25400" cap="flat">
              <a:solidFill>
                <a:srgbClr val="0812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81226"/>
              </a:solidFill>
              <a:ln w="9525" cap="flat">
                <a:solidFill>
                  <a:srgbClr val="0812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1.72</c:v>
                </c:pt>
                <c:pt idx="1">
                  <c:v>3.26</c:v>
                </c:pt>
                <c:pt idx="2">
                  <c:v/>
                </c:pt>
                <c:pt idx="3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anten + 1 kanal</c:v>
                </c:pt>
              </c:strCache>
            </c:strRef>
          </c:tx>
          <c:spPr>
            <a:solidFill>
              <a:srgbClr val="3AA655"/>
            </a:solidFill>
            <a:ln w="25400" cap="flat">
              <a:solidFill>
                <a:srgbClr val="3AA6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A655"/>
              </a:solidFill>
              <a:ln w="9525" cap="flat">
                <a:solidFill>
                  <a:srgbClr val="3AA6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</c:v>
                </c:pt>
                <c:pt idx="1">
                  <c:v>1.93</c:v>
                </c:pt>
                <c:pt idx="2">
                  <c:v>3.47</c:v>
                </c:pt>
                <c:pt idx="3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anten + 1 kanal</c:v>
                </c:pt>
              </c:strCache>
            </c:strRef>
          </c:tx>
          <c:spPr>
            <a:solidFill>
              <a:srgbClr val="A569C4"/>
            </a:solidFill>
            <a:ln w="25400" cap="flat">
              <a:solidFill>
                <a:srgbClr val="A569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569C4"/>
              </a:solidFill>
              <a:ln w="9525" cap="flat">
                <a:solidFill>
                  <a:srgbClr val="A56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</c:v>
                </c:pt>
                <c:pt idx="1">
                  <c:v>1.38</c:v>
                </c:pt>
                <c:pt idx="2">
                  <c:v>3.08</c:v>
                </c:pt>
                <c:pt idx="3">
                  <c:v>4.92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 anten + 4 kanal</c:v>
                </c:pt>
              </c:strCache>
            </c:strRef>
          </c:tx>
          <c:spPr>
            <a:solidFill>
              <a:srgbClr val="F2A93B"/>
            </a:solidFill>
            <a:ln w="254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0.77</c:v>
                </c:pt>
                <c:pt idx="1">
                  <c:v>1.08</c:v>
                </c:pt>
                <c:pt idx="2">
                  <c:v>2.54</c:v>
                </c:pt>
                <c:pt idx="3">
                  <c:v>4.53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2 anten + 4 kanal</c:v>
                </c:pt>
              </c:strCache>
            </c:strRef>
          </c:tx>
          <c:spPr>
            <a:solidFill>
              <a:srgbClr val="23C6D6"/>
            </a:solidFill>
            <a:ln w="25400" cap="flat">
              <a:solidFill>
                <a:srgbClr val="23C6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3C6D6"/>
              </a:solidFill>
              <a:ln w="9525" cap="flat">
                <a:solidFill>
                  <a:srgbClr val="23C6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0.53</c:v>
                </c:pt>
                <c:pt idx="1">
                  <c:v>0.82</c:v>
                </c:pt>
                <c:pt idx="2">
                  <c:v>1.65</c:v>
                </c:pt>
                <c:pt idx="3">
                  <c:v>2.88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 anten + 4 kanal</c:v>
                </c:pt>
              </c:strCache>
            </c:strRef>
          </c:tx>
          <c:spPr>
            <a:solidFill>
              <a:srgbClr val="8B2E2E"/>
            </a:solidFill>
            <a:ln w="25400" cap="flat">
              <a:solidFill>
                <a:srgbClr val="8B2E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B2E2E"/>
              </a:solidFill>
              <a:ln w="9525" cap="flat">
                <a:solidFill>
                  <a:srgbClr val="8B2E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0.41</c:v>
                </c:pt>
                <c:pt idx="1">
                  <c:v>0.71</c:v>
                </c:pt>
                <c:pt idx="2">
                  <c:v>1.43</c:v>
                </c:pt>
                <c:pt idx="3">
                  <c:v>2.78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Düğüm Sayısına Göre Ortalama Gecikme (ms)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Merkezi – Tüm yönlü</c:v>
                </c:pt>
              </c:strCache>
            </c:strRef>
          </c:tx>
          <c:spPr>
            <a:solidFill>
              <a:srgbClr val="5B6B79"/>
            </a:solidFill>
            <a:ln w="31750" cap="flat">
              <a:solidFill>
                <a:srgbClr val="5B6B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6B79"/>
              </a:solidFill>
              <a:ln w="9525" cap="flat">
                <a:solidFill>
                  <a:srgbClr val="5B6B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957</c:v>
                </c:pt>
                <c:pt idx="1">
                  <c:v>1452</c:v>
                </c:pt>
                <c:pt idx="2">
                  <c:v>2336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Merkezi – Döner yönlü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1460</c:v>
                </c:pt>
                <c:pt idx="1">
                  <c:v>1922</c:v>
                </c:pt>
                <c:pt idx="2">
                  <c:v>2444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Dağıtık – Tüm yönlü</c:v>
                </c:pt>
              </c:strCache>
            </c:strRef>
          </c:tx>
          <c:spPr>
            <a:solidFill>
              <a:srgbClr val="9FB3C2"/>
            </a:solidFill>
            <a:ln w="31750" cap="flat">
              <a:solidFill>
                <a:srgbClr val="9FB3C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B3C2"/>
              </a:solidFill>
              <a:ln w="9525" cap="flat">
                <a:solidFill>
                  <a:srgbClr val="9FB3C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1778</c:v>
                </c:pt>
                <c:pt idx="1">
                  <c:v>2347</c:v>
                </c:pt>
                <c:pt idx="2">
                  <c:v>3056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Dağıtık – Döner yönlü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35</c:v>
                  </c:pt>
                  <c:pt idx="2">
                    <c:v>49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2129</c:v>
                </c:pt>
                <c:pt idx="1">
                  <c:v>2652</c:v>
                </c:pt>
                <c:pt idx="2">
                  <c:v>2984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Paket İletim Oranı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Tüm yönlü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94.87</c:v>
                </c:pt>
                <c:pt idx="1">
                  <c:v>83.55</c:v>
                </c:pt>
                <c:pt idx="2">
                  <c:v>57.12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Anahtarlanabilir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97.94</c:v>
                </c:pt>
                <c:pt idx="1">
                  <c:v>87.61</c:v>
                </c:pt>
                <c:pt idx="2">
                  <c:v>58.73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Anahtarlanabilir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88.77</c:v>
                </c:pt>
                <c:pt idx="2">
                  <c:v>61.34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Döner yönlü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98.44</c:v>
                </c:pt>
                <c:pt idx="2">
                  <c:v>82.64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Uçtan Uca Gecikme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Tüm yönlü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1267</c:v>
                </c:pt>
                <c:pt idx="1">
                  <c:v>1560</c:v>
                </c:pt>
                <c:pt idx="2">
                  <c:v>2433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Anahtarlanabilir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595</c:v>
                </c:pt>
                <c:pt idx="1">
                  <c:v>1174</c:v>
                </c:pt>
                <c:pt idx="2">
                  <c:v>1665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Anahtarlanabilir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536</c:v>
                </c:pt>
                <c:pt idx="1">
                  <c:v>1094</c:v>
                </c:pt>
                <c:pt idx="2">
                  <c:v>1613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Döner yönlü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544</c:v>
                </c:pt>
                <c:pt idx="1">
                  <c:v>1031</c:v>
                </c:pt>
                <c:pt idx="2">
                  <c:v>1278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2545"/>
                </a:solidFill>
                <a:latin typeface="Arial"/>
              </a:rPr>
              <a:t>Enerji Tüketimi (mWh)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Tüm yönlü</c:v>
                </c:pt>
              </c:strCache>
            </c:strRef>
          </c:tx>
          <c:spPr>
            <a:solidFill>
              <a:srgbClr val="5B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3.21</c:v>
                </c:pt>
                <c:pt idx="1">
                  <c:v>3.65</c:v>
                </c:pt>
                <c:pt idx="2">
                  <c:v>4.23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Anahtarlanabilir</c:v>
                </c:pt>
              </c:strCache>
            </c:strRef>
          </c:tx>
          <c:spPr>
            <a:solidFill>
              <a:srgbClr val="7FA6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1.55</c:v>
                </c:pt>
                <c:pt idx="1">
                  <c:v>1.82</c:v>
                </c:pt>
                <c:pt idx="2">
                  <c:v>2.01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Anahtarlanabilir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1.26</c:v>
                </c:pt>
                <c:pt idx="1">
                  <c:v>1.49</c:v>
                </c:pt>
                <c:pt idx="2">
                  <c:v>1.78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Döner yönlü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25</c:v>
                  </c:pt>
                  <c:pt idx="1">
                    <c:v>49</c:v>
                  </c:pt>
                  <c:pt idx="2">
                    <c:v>81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2.98</c:v>
                </c:pt>
                <c:pt idx="1">
                  <c:v>3.21</c:v>
                </c:pt>
                <c:pt idx="2">
                  <c:v>3.87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724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468880"/>
            <a:ext cx="6583680" cy="658368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5120640" cy="512064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3931920"/>
            <a:ext cx="3657600" cy="365760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663440"/>
            <a:ext cx="2194560" cy="2194560"/>
          </a:xfrm>
          <a:prstGeom prst="arc">
            <a:avLst>
              <a:gd name="adj1" fmla="val 12000000"/>
              <a:gd name="adj2" fmla="val 20400000"/>
            </a:avLst>
          </a:prstGeom>
          <a:ln w="19050">
            <a:solidFill>
              <a:srgbClr val="F2A93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0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KARADENİZ TEKNİK ÜNİVERSİTESİ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 BİLİMLERİ ENSTİTÜSÜ  •  BİLGİSAYAR MÜHENDİSLİĞİ ANABİLİM DALI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Ağlar İçin Akıllı Anten Tabanlı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Çizelgeleme Algoritmalarının İncelenmesi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Smart Antenna Based Scheduling Algorithms for IoT Networks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DOKTORA TEZİ SAVUNMASI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
</a:t>
            </a:r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Doktora Öğrencisi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4709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Sedat GÖRMÜŞ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Eylül 2022  •  Trabzon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PLANI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Neleri Konuşacağız?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8196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Giriş, Motivasyon ve Problem Tanımı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22951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ağlarında kaynak kısıtları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826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1640" y="33009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ve Yönlü Antenler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37764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Kavramsal arka plan ve 6TiSCH protokol yığıtı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54296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6402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4782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Anahtarlanabilir Anten ile Dağıtık Çizelgeleme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181965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 ile Dağıtık Çizelgeleme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43800" y="229514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172968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2826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43800" y="330098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 ile Merkezi Çizelgeleme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3800" y="37764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654296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476402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47823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Değerlendirme, Sonuç ve Gelecek Çalışmalar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43800" y="5257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Katkıların özeti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GIRIŞ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Nesnelerin İnterneti ve Kaynak Kısıtı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6TiSCH protokol yığıtı, zaman dilimi ve frekans kanalı kaynaklarını planlı biçimde kullanarak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güvenilir, kararlı ve düşük güçlü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kablosuz IoT ağları oluşturmayı hedefler.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44368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07208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ISM bandı; Wi-Fi, Bluetooth ve diğer IEEE 802.15.4 ağlarıyla paylaşılıyor → frekans kaynağı kısıtlı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düğümlü, yüksek trafikli ağlarda zaman dilimi kaynağı da kısıtlı kalıyor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70832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33672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yönlü (omni-directional) antenler, uzamsal boyutu değerlendirmeden kaynakları paylaştırıyor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1600200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874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FİKRİ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2194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Uzamsal Ayrım (Spatial Reuse)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86600" y="28803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Kapsama alanı değiştirilebilen Akıllı / yönlü antenler kullanılırsa, çizelgelemeye üçüncü bir boyut — uzam (space) — eklenir.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886200"/>
            <a:ext cx="4206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Frekans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4663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Daha yüksek paket iletim oranı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Daha düşük uçtan uca gecikme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Daha düşük enerji tüketimi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KAVRAMSAL ARKA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Akıllı ve Yönlü Anten Türleri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yönlü antenler her yönden gelen sinyale (ve girişime) maruz kalır. Akıllı/yönlü antenler enerjiyi bir yöne odaklayarak SINR değerini artırır ve girişim kaynaklarına doğru "sıfırlama" (nulling) uygulayabilir.</a:t>
            </a:r>
            <a:endParaRPr lang="en-US" sz="1350" dirty="0"/>
          </a:p>
        </p:txBody>
      </p:sp>
      <p:pic>
        <p:nvPicPr>
          <p:cNvPr id="5" name="Image 0" descr="figs/crop_antenna_typ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9692640" cy="3803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Şekil: Anahtarlamalı Huzme · Yönlendirilebilir Tek Huzme (Döner Yönlü) · Uyarlamalı Dizi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AMAÇ VE KATKILAR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Tezin Amacı ve Literatüre Katkıları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6TiSCH ağları için düşük karmaşıklıkta Akıllı/yönlü anten tabanlı, uzamsal boyutu da değerlendiren bir kaynak planlama (çizelgeleme) mekanizması geliştirmek.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06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 Tanıma Mekanizması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308152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Düğümlerin, ağa senkronize olmadan önce birbirlerini tanımasına imkân veren özgün bir yöntem.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26791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6060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Anten Yönü Tespiti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308152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 düğümler arasında maksimum sinyal gücünü sağlayan anten yönünün bulunması için yeni bir yöntem.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548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Hibrit Çizelgeleme Algoritması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3036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ve veri paketlerinin sağlıklı iletimi için: (i) dağıtık + özerk, (ii) merkezi + özerk çizelgeleme.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EE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828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7548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COOJA Simülatörüne Anten Modelleri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5230368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Anahtarlanabilir huzme ve Döner yönlü anten modellerinin açık kaynak COOJA simülatörüne kazandırılması.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YOL HARITASI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Tezin Yapısı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0378440" cy="0"/>
          </a:xfrm>
          <a:prstGeom prst="line">
            <a:avLst/>
          </a:prstGeom>
          <a:noFill/>
          <a:ln w="50800">
            <a:solidFill>
              <a:srgbClr val="D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Bilgiler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Taraması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697480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21408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Geliştirilen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 Modelleri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90088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773168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97096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Anahtarlanabilir Anten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Çizelgeleme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65776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48856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72784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Dağıtık Çizelgeleme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41464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924544" y="309067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4544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48472" y="196596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Çizelgeleme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17152" y="2880360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000232" y="3090672"/>
            <a:ext cx="585216" cy="58521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000232" y="3090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24160" y="3886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292840" y="3675888"/>
            <a:ext cx="0" cy="210312"/>
          </a:xfrm>
          <a:prstGeom prst="line">
            <a:avLst/>
          </a:prstGeom>
          <a:noFill/>
          <a:ln w="12700">
            <a:solidFill>
              <a:srgbClr val="D8E6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Sunumun geri kalanı, doğrudan tezin özgün katkılarının yer aldığı 4, 5 ve 6. bölümlere odaklanacaktır (altın renkli).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LITERATÜR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6TiSCH Protokol Yığıtı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TSCH MAC katmanı üzerinde; yönlendirme (RPL), sıkıştırma (6LoWPAN) ve çizelgeleme fonksiyonunu üst katmanlarla bütünleştiren 6top (6P) alt katmanı yer alır.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075688" y="2148840"/>
            <a:ext cx="201168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75688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87368" y="2148840"/>
            <a:ext cx="402336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10728" y="2148840"/>
            <a:ext cx="201168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0728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75688" y="2697480"/>
            <a:ext cx="20116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87368" y="2697480"/>
            <a:ext cx="6035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26974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ICMPv6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75688" y="3246120"/>
            <a:ext cx="8046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3246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75688" y="3794760"/>
            <a:ext cx="201168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3794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6LoWPAN HC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87368" y="3794760"/>
            <a:ext cx="6035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3794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Function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75688" y="4343400"/>
            <a:ext cx="8046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5688" y="4343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6top (6P)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75688" y="4892040"/>
            <a:ext cx="8046720" cy="502920"/>
          </a:xfrm>
          <a:prstGeom prst="rect">
            <a:avLst/>
          </a:prstGeom>
          <a:solidFill>
            <a:srgbClr val="0812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5688" y="4892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TSCH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75688" y="5623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tez, Çizelgeleme Fonksiyonu'na (Scheduling Function) uzamsal boyut kazandırır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LITERATÜR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6TiSCH'te Çizelgeleme Yaklaşımları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Özerk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8760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düğüm, kendi ID/adresine dayalı bir hash fonksiyonu ile hücrelerini bağımsız olarak belirler. Sinyalleşme gerektirmez, ölçeklenebilir.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4654296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0096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Dağıtık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340096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54296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 düğümler arasında 6P protokolü ile anlık müzakere edilerek hücre tahsisi yapılır. Trafiğe duyarlıdır.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11312" y="169164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85632" y="2011680"/>
            <a:ext cx="502920" cy="502920"/>
          </a:xfrm>
          <a:prstGeom prst="ellipse">
            <a:avLst/>
          </a:prstGeom>
          <a:solidFill>
            <a:srgbClr val="C052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71432" y="20025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71432" y="2441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85632" y="30175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genelindeki topoloji bilgisine sahip bir düğüm (PCE), tüm çizelgeyi hesaplayıp dağıtır. Optimum ama ölçeklenebilirliği sınırlı.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tez, her üç yaklaşımı da farklı bölümlerde — özerk çizelgelemeyi temel alarak — hibrit biçimde kullanır.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YÖNTEM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Geliştirilen İki Anten Modeli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0B25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Anahtarlanabilir Huzme Anten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Switchable Beam Antenna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8163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688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Önceden belirlenmiş sabit ışıma örüntülerinden biri seçilir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346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donanım karmaşıklığı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3308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005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4'te dağıtık çizelgeleme ile birlikte kullanılır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081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92024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288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Döner Yönlü Anten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22677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Steerable Directional Antenna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81635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93992" y="268833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Huzme hedefe doğru yönlendirilir, girişim kaynaklarına "sıfırlama" uygulanır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347472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334670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yüksek SINR ve menzil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133088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793992" y="400507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ve 6'da dağıtık ile merkezi çizelgeleme ile kullanılır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 model de açık kaynaklı COOJA ağ simülatörüne eklenerek Contiki OS üzerinde test edilmiştir.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YÖNTEM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Simülasyon Altyapısı: COOJA + Contiki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TI EXP430F5438 (MSP430F5437 MCU + CC2420 radyo). Cooja'nın radyo modülü, birden fazla sanal anten arayüzünü SPI portları üzerinden yönetecek şekilde genişletilmiştir.</a:t>
            </a:r>
            <a:endParaRPr lang="en-US" sz="1350" dirty="0"/>
          </a:p>
        </p:txBody>
      </p:sp>
      <p:pic>
        <p:nvPicPr>
          <p:cNvPr id="5" name="Image 0" descr="figs/crop_multiantenna_ar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377440"/>
            <a:ext cx="873252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Anahtarlanabilir Anten ile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Dağıtık Çizelgeleme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SF-DA: Yönlü Anten Tabanlı Çizelgeleme Fonksiyonu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Paylaşımlı hücrelerde tüm antenler aktif, adanmış hücrelerde tek anten aktif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6TiSCH Minimal Configuration ve Orchestra ile karşılaştırma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ÖNERILEN ALGORITMA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Uzam-Zaman Tabanlı Dağıtık Çizelgeleme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Paylaşımlı (shared) hücrelerde: tüm anten yönleri aktif edilir → tüm komşularla haberleşme garantisi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07208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9864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Adanmış (dedicated) hücrelerde: yalnızca doğru yöndeki anten aktif edilir → girişim ve çarpışma azalır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922776"/>
            <a:ext cx="544068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01421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paylaşımlı hücrede çarpışma oranı önemli ölçüde düşer, ağ kararlılığı artar</a:t>
            </a:r>
            <a:endParaRPr lang="en-US" sz="1250" dirty="0"/>
          </a:p>
        </p:txBody>
      </p:sp>
      <p:pic>
        <p:nvPicPr>
          <p:cNvPr id="10" name="Image 0" descr="figs/crop_network_exam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45920"/>
            <a:ext cx="5257800" cy="3337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5080" y="50292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18. 25 düğümden oluşan örnek ağ yapısı (yeşil: kapsama alanı)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TEST SONUÇLARI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Paket İletim Oranı: Anten Sayısına Göre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7543800" y="18470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~%10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89720" y="18653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 iyileşmesi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(yönlü antenle)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60920" y="31089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32186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~%50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89720" y="32369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azalması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60920" y="4480560"/>
            <a:ext cx="4251960" cy="1170432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590288"/>
            <a:ext cx="16459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~%60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189720" y="460857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tüketimi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azalması (25 düğüm)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Döner Yönlü Anten ile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Dağıtık Çizelgeleme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kapsama alanının getirdiği yeni zorlukların çözümü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dar huzme → uzun senkronizasyon süresi, geç ağ oluşumu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Sorun: tümegönderim (broadcast) kontrol paketleri tüm komşulara ulaşamıyor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HIBRIT 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Özerk Çizelgeleme ile Desteklenen Hibrit Yaklaşım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Sahte İşaretçi Paketi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Düğümlerin, ağa senkronize olmadan önce komşularını tanımasına imkân tanıyan yeni bir mekanizma.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Özerk Hücrelerden Kontrol İletimi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Tümegönderim paketleri, özerk çizelgelenmiş hücrelerden art arda gönderilerek tüm komşulara ulaştırılır.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Yayın Gücü / Yön Değişimi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112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çiftleri arasında maksimum sinyal gücünü veren anten yönünün zamanla izlenmesi ve güncellenmesi.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054096"/>
            <a:ext cx="5486400" cy="1298448"/>
          </a:xfrm>
          <a:prstGeom prst="roundRect">
            <a:avLst>
              <a:gd name="adj" fmla="val 4930"/>
            </a:avLst>
          </a:prstGeom>
          <a:solidFill>
            <a:srgbClr val="EE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1455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 Senkronizasyon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51129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Özerk çizelgeleme, ağ yoğunluğundan bağımsız, ölçeklenebilir bir senkronizasyon süresi sağlar.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4389120"/>
          <a:ext cx="7589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2636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Şekil 26'dan okunmuştur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366760" y="452628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081226"/>
          </a:solidFill>
          <a:ln/>
        </p:spPr>
      </p:sp>
      <p:sp>
        <p:nvSpPr>
          <p:cNvPr id="19" name="Text 16"/>
          <p:cNvSpPr/>
          <p:nvPr/>
        </p:nvSpPr>
        <p:spPr>
          <a:xfrm>
            <a:off x="859536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95360" y="498348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yönlü antene kıyasla ağ performans metriklerinde belirgin iyileşme; özerk çizelgeleme senkronizasyon sorununu ölçeklenebilir biçimde çözer.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457200"/>
            <a:ext cx="5852160" cy="585216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280160"/>
            <a:ext cx="4206240" cy="420624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F2A93B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103120"/>
            <a:ext cx="2560320" cy="2560320"/>
          </a:xfrm>
          <a:prstGeom prst="arc">
            <a:avLst>
              <a:gd name="adj1" fmla="val 0"/>
              <a:gd name="adj2" fmla="val 8400000"/>
            </a:avLst>
          </a:prstGeom>
          <a:ln w="19050">
            <a:solidFill>
              <a:srgbClr val="1C7293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Döner Yönlü Anten ile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 Çizelgeleme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algoritmasının uyarlanması ve çift yönlü çizelgeleme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5902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348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bir düğüm (PCE), ağ topolojisine göre tüm çizelgeyi hesaplar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504748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paketinin kaynaktan toplayıcıya izlediği yol dikkate alınır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MERKEZI ÇIZELGELEME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Uyarlaması ve Çift Yönlü Çizelgeleme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5F8FB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83664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83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Bağlılık / Girişim / Çakışma Matrisleri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764792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antenin yön bilgisi kullanılarak ağın çizge (graph) temsili çıkarılır.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4436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825496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Algoritmasının Uyarlanması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825496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Zaman/frekans/anten-yönü birleşik olarak atanarak çakışmasız bir çizelge üretilir.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5F8FB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05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05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886200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Tabanlı Çizelge Üretimi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886200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Paketin kaynaktan toplayıcıya izlediği çoklu-atlama yol dikkate alınarak hücreler sıralı biçimde tahsis edilir.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EEF3F8"/>
          </a:solidFill>
          <a:ln w="9525">
            <a:solidFill>
              <a:srgbClr val="D8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06577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65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4946904"/>
            <a:ext cx="4206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Yönlü Merkezi Çizelgeleme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6440" y="4946904"/>
            <a:ext cx="5623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Yukarı ve aşağı yönlü trafik aynı anda planlanarak uçtan uca gecikme azaltılır.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TEST SONUÇLARI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Merkezi ve Dağıtık Çizelgeleme Karşılaştırması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3152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4592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081226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çizelgeleme, dağıtık çizelgelemeye kıyasla daha düşük uçtan uca gecikme ve enerji tüketimi sağlar.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66760" y="342900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Ancak merkezi çözüm ölçeklenebilir değildir → küçük, yoğunluğu az ve statik ağlarda uygundur.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66760" y="4754880"/>
            <a:ext cx="30175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66760" y="4937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Algoritma, döner yönlü anten ile uyarlanmış TASA algoritmasına karşı doğrulanmıştır.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DEĞERLENDIRME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Anten Modellerinin Genel Karşılaştırması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60020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16052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172200" y="4160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/>
        </p:spPr>
      </p:sp>
      <p:sp>
        <p:nvSpPr>
          <p:cNvPr id="8" name="Text 3"/>
          <p:cNvSpPr/>
          <p:nvPr/>
        </p:nvSpPr>
        <p:spPr>
          <a:xfrm>
            <a:off x="6400800" y="43159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Bulgu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0800" y="466344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Akıllı/yönlü antenler, zaman ve frekans boyutlarına ilave olarak uzamsal boyutu kullanarak; tüm yönlü antenlere göre her üç ölçütte de (PDR, gecikme, enerji) üstün performans sergilemiştir. Yoğun ağlarda (81 düğüm) fark en belirgin haldedir.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Değerlendirme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9397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8308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Anahtarlanabilir Anten (Böl.4)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Paylaşımlı hücrede çarpışma/girişimi azaltarak ağ kararlılığını artırdı; kısıtlı frekans kaynağında PDR, enerji ve gecikmeyi iyileştirdi.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0098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99008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Döner Yönlü Anten (Böl.5)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990088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özerk+dağıtık çözüm, senkronizasyon süresi sorununu ölçeklenebilir biçimde çözdü; tüm yönlü antene göre performans arttı.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50799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197096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Çizelgeleme (Böl.6)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197096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tabanlı ve çift yönlü çizelgeleme ile dağıtık çözüme kıyasla daha düşük gecikme/enerji elde edildi; ölçeklenebilirlik küçük ağlarla sınırlı.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08122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22392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Sonuç: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5404104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Akıllı/yönlü antene sahip düğümler, bant genişliği kaynaklarını zaman-frekans-uzam boyutlarında planladığında, geleneksel tüm yönlü yönteme göre üstün ağ performansı sergiler.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ÇALIŞMALAR VE AKADEMIK KATKI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Çalışmalar ve Yayınlar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ÇALIŞMALAR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48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3055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Simülasyon sonuçlarının gerçek donanım test ortamında (testbed) doğrulanması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72968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15468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bandını paylaşan diğer teknolojilerle yüksek girişim ortamında performans analizi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05656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19709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41788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ile en iyi anten yönü ve hücre seçimi algoritmalarının geliştirilmesi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221224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520293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yollu (multipath) iletişimin yönlendirilebilir anten çözümleriyle entegrasyonu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YAYINLAR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205740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240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(2021)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20840" y="26060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Kulcu, S., Gormus, S., Jin, Y. "Integration of Steerable Smart Antennas to IETF 6TiSCH Protocol for High Reliability Wireless IoT Networks", IEEE Access, 9, (2021) 147780-147790.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40690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0812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251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TJEECS (2019)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461772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Görmüş, S. ve Külcü, S. "Enabling space time division multiple access in IETF 6TiSCH protocol", Turkish Journal of Electrical Engineering and Computer Sciences, 27, 6, (2019) 4151-4166.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tez, 118E289 numaralı TÜBİTAK 1001 projesi kapsamında desteklenmiştir.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Ağlar İçin Akıllı Anten Tabanlı Çizelgeleme Algoritmalarının İncelenmesi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38248" y="-365760"/>
            <a:ext cx="7315200" cy="731520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61208" y="457200"/>
            <a:ext cx="5669280" cy="566928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F2A93B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84168" y="1280160"/>
            <a:ext cx="4023360" cy="402336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07128" y="2103120"/>
            <a:ext cx="2377440" cy="2377440"/>
          </a:xfrm>
          <a:prstGeom prst="arc">
            <a:avLst>
              <a:gd name="adj1" fmla="val 15000000"/>
              <a:gd name="adj2" fmla="val 17400000"/>
            </a:avLst>
          </a:prstGeom>
          <a:ln w="19050">
            <a:solidFill>
              <a:srgbClr val="F2A93B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 Ederim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memnuniyetle yanıtlarım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pPr algn="ctr"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Danışman: Doç. Dr. Sedat GÖRMÜŞ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Karadeniz Teknik Üniversitesi  ·  Fen Bilimleri Enstitüsü  ·  Bilgisayar Mühendisliği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2026-09-10T14:53:18Z</dcterms:created>
  <dcterms:modified xsi:type="dcterms:W3CDTF">2026-09-10T14:53:18Z</dcterms:modified>
</cp:coreProperties>
</file>