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charts/chart2.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D2A4A"/>
                </a:solidFill>
                <a:latin typeface="Cambria"/>
              </a:defRPr>
            </a:pPr>
            <a:r>
              <a:rPr sz="1300" b="0" i="0" u="none" strike="noStrike">
                <a:solidFill>
                  <a:srgbClr val="0D2A4A"/>
                </a:solidFill>
                <a:latin typeface="Cambria"/>
              </a:rPr>
              <a:t>Nucleus-Class Pixel Counts</a:t>
            </a:r>
          </a:p>
        </c:rich>
      </c:tx>
      <c:layout/>
      <c:overlay val="0"/>
    </c:title>
    <c:autoTitleDeleted val="0"/>
    <c:plotArea>
      <c:layout/>
      <c:barChart>
        <c:barDir val="col"/>
        <c:grouping val="clustered"/>
        <c:varyColors val="0"/>
        <c:ser>
          <c:idx val="0"/>
          <c:order val="0"/>
          <c:tx>
            <c:strRef>
              <c:f>Sheet1!$B$1</c:f>
              <c:strCache>
                <c:ptCount val="1"/>
                <c:pt idx="0">
                  <c:v>YOLOv11-seg</c:v>
                </c:pt>
              </c:strCache>
            </c:strRef>
          </c:tx>
          <c:spPr>
            <a:solidFill>
              <a:srgbClr val="065A82"/>
            </a:solidFill>
            <a:effectLst/>
          </c:spPr>
          <c:invertIfNegative val="0"/>
          <c:dLbls>
            <c:numFmt formatCode="#,##0" sourceLinked="0"/>
            <c:txPr>
              <a:bodyPr/>
              <a:lstStyle/>
              <a:p>
                <a:pPr>
                  <a:defRPr b="0" i="0" strike="noStrike" sz="900" u="none">
                    <a:solidFill>
                      <a:srgbClr val="0D2A4A"/>
                    </a:solidFill>
                    <a:latin typeface="Arial"/>
                  </a:defRPr>
                </a:pPr>
              </a:p>
            </c:txPr>
            <c:showLegendKey val="0"/>
            <c:showVal val="1"/>
            <c:showCatName val="0"/>
            <c:showSerName val="0"/>
            <c:showPercent val="0"/>
            <c:showBubbleSize val="0"/>
            <c:showLeaderLines val="0"/>
          </c:dLbls>
          <c:cat>
            <c:multiLvlStrRef>
              <c:f>Sheet1!$A$2:$A$4</c:f>
              <c:multiLvlStrCache>
                <c:ptCount val="3"/>
                <c:lvl>
                  <c:pt idx="0">
                    <c:v>True Positives</c:v>
                  </c:pt>
                  <c:pt idx="1">
                    <c:v>False Negatives</c:v>
                  </c:pt>
                  <c:pt idx="2">
                    <c:v>False Positives</c:v>
                  </c:pt>
                </c:lvl>
              </c:multiLvlStrCache>
            </c:multiLvlStrRef>
          </c:cat>
          <c:val>
            <c:numRef>
              <c:f>Sheet1!$B$2:$B$4</c:f>
              <c:numCache>
                <c:formatCode>General</c:formatCode>
                <c:ptCount val="3"/>
                <c:pt idx="0">
                  <c:v>4850</c:v>
                </c:pt>
                <c:pt idx="1">
                  <c:v>834</c:v>
                </c:pt>
                <c:pt idx="2">
                  <c:v>1009</c:v>
                </c:pt>
              </c:numCache>
            </c:numRef>
          </c:val>
        </c:ser>
        <c:ser>
          <c:idx val="1"/>
          <c:order val="1"/>
          <c:tx>
            <c:strRef>
              <c:f>Sheet1!$C$1</c:f>
              <c:strCache>
                <c:ptCount val="1"/>
                <c:pt idx="0">
                  <c:v>YOLOv12-seg</c:v>
                </c:pt>
              </c:strCache>
            </c:strRef>
          </c:tx>
          <c:spPr>
            <a:solidFill>
              <a:srgbClr val="F2775E"/>
            </a:solidFill>
            <a:effectLst/>
          </c:spPr>
          <c:invertIfNegative val="0"/>
          <c:dLbls>
            <c:numFmt formatCode="#,##0" sourceLinked="0"/>
            <c:txPr>
              <a:bodyPr/>
              <a:lstStyle/>
              <a:p>
                <a:pPr>
                  <a:defRPr b="0" i="0" strike="noStrike" sz="900" u="none">
                    <a:solidFill>
                      <a:srgbClr val="0D2A4A"/>
                    </a:solidFill>
                    <a:latin typeface="Arial"/>
                  </a:defRPr>
                </a:pPr>
              </a:p>
            </c:txPr>
            <c:showLegendKey val="0"/>
            <c:showVal val="1"/>
            <c:showCatName val="0"/>
            <c:showSerName val="0"/>
            <c:showPercent val="0"/>
            <c:showBubbleSize val="0"/>
            <c:showLeaderLines val="0"/>
          </c:dLbls>
          <c:cat>
            <c:multiLvlStrRef>
              <c:f>Sheet1!$A$2:$A$4</c:f>
              <c:multiLvlStrCache>
                <c:ptCount val="3"/>
                <c:lvl>
                  <c:pt idx="0">
                    <c:v>True Positives</c:v>
                  </c:pt>
                  <c:pt idx="1">
                    <c:v>False Negatives</c:v>
                  </c:pt>
                  <c:pt idx="2">
                    <c:v>False Positives</c:v>
                  </c:pt>
                </c:lvl>
              </c:multiLvlStrCache>
            </c:multiLvlStrRef>
          </c:cat>
          <c:val>
            <c:numRef>
              <c:f>Sheet1!$C$2:$C$4</c:f>
              <c:numCache>
                <c:formatCode>General</c:formatCode>
                <c:ptCount val="3"/>
                <c:pt idx="0">
                  <c:v>4642</c:v>
                </c:pt>
                <c:pt idx="1">
                  <c:v>1042</c:v>
                </c:pt>
                <c:pt idx="2">
                  <c:v>855</c:v>
                </c:pt>
              </c:numCache>
            </c:numRef>
          </c:val>
        </c:ser>
        <c:dLbls>
          <c:numFmt formatCode="#,##0" sourceLinked="0"/>
          <c:txPr>
            <a:bodyPr/>
            <a:lstStyle/>
            <a:p>
              <a:pPr>
                <a:defRPr b="0" i="0" strike="noStrike" sz="900" u="none">
                  <a:solidFill>
                    <a:srgbClr val="0D2A4A"/>
                  </a:solidFill>
                  <a:latin typeface="Arial"/>
                </a:defRPr>
              </a:pPr>
            </a:p>
          </c:txPr>
          <c:showLegendKey val="0"/>
          <c:showVal val="1"/>
          <c:showCatName val="0"/>
          <c:showSerName val="0"/>
          <c:showPercent val="0"/>
          <c:showBubbleSize val="0"/>
          <c:showLeaderLines val="0"/>
        </c:dLbls>
        <c:gapWidth val="3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50" b="0" i="0" u="none" strike="noStrike">
                <a:solidFill>
                  <a:srgbClr val="4252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E4EAEC"/>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42525C"/>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D2A4A"/>
                </a:solidFill>
                <a:latin typeface="Cambria"/>
              </a:defRPr>
            </a:pPr>
            <a:r>
              <a:rPr sz="1300" b="0" i="0" u="none" strike="noStrike">
                <a:solidFill>
                  <a:srgbClr val="0D2A4A"/>
                </a:solidFill>
                <a:latin typeface="Cambria"/>
              </a:rPr>
              <a:t>Mask Metrics on the Validation Set</a:t>
            </a:r>
          </a:p>
        </c:rich>
      </c:tx>
      <c:layout/>
      <c:overlay val="0"/>
    </c:title>
    <c:autoTitleDeleted val="0"/>
    <c:plotArea>
      <c:layout/>
      <c:barChart>
        <c:barDir val="col"/>
        <c:grouping val="clustered"/>
        <c:varyColors val="0"/>
        <c:ser>
          <c:idx val="0"/>
          <c:order val="0"/>
          <c:tx>
            <c:strRef>
              <c:f>Sheet1!$B$1</c:f>
              <c:strCache>
                <c:ptCount val="1"/>
                <c:pt idx="0">
                  <c:v>YOLOv11s-seg</c:v>
                </c:pt>
              </c:strCache>
            </c:strRef>
          </c:tx>
          <c:spPr>
            <a:solidFill>
              <a:srgbClr val="065A82"/>
            </a:solidFill>
            <a:effectLst/>
          </c:spPr>
          <c:invertIfNegative val="0"/>
          <c:dLbls>
            <c:numFmt formatCode="0.000" sourceLinked="0"/>
            <c:txPr>
              <a:bodyPr/>
              <a:lstStyle/>
              <a:p>
                <a:pPr>
                  <a:defRPr b="0" i="0" strike="noStrike" sz="950" u="none">
                    <a:solidFill>
                      <a:srgbClr val="0D2A4A"/>
                    </a:solidFill>
                    <a:latin typeface="Arial"/>
                  </a:defRPr>
                </a:pPr>
              </a:p>
            </c:txPr>
            <c:showLegendKey val="0"/>
            <c:showVal val="1"/>
            <c:showCatName val="0"/>
            <c:showSerName val="0"/>
            <c:showPercent val="0"/>
            <c:showBubbleSize val="0"/>
            <c:showLeaderLines val="0"/>
          </c:dLbls>
          <c:cat>
            <c:multiLvlStrRef>
              <c:f>Sheet1!$A$2:$A$5</c:f>
              <c:multiLvlStrCache>
                <c:ptCount val="4"/>
                <c:lvl>
                  <c:pt idx="0">
                    <c:v>Precision</c:v>
                  </c:pt>
                  <c:pt idx="1">
                    <c:v>Recall</c:v>
                  </c:pt>
                  <c:pt idx="2">
                    <c:v>mAP@0.5</c:v>
                  </c:pt>
                  <c:pt idx="3">
                    <c:v>mAP@0.5:0.95</c:v>
                  </c:pt>
                </c:lvl>
              </c:multiLvlStrCache>
            </c:multiLvlStrRef>
          </c:cat>
          <c:val>
            <c:numRef>
              <c:f>Sheet1!$B$2:$B$5</c:f>
              <c:numCache>
                <c:formatCode>General</c:formatCode>
                <c:ptCount val="4"/>
                <c:pt idx="0">
                  <c:v>0.907</c:v>
                </c:pt>
                <c:pt idx="1">
                  <c:v>0.784</c:v>
                </c:pt>
                <c:pt idx="2">
                  <c:v>0.873</c:v>
                </c:pt>
                <c:pt idx="3">
                  <c:v>0.528</c:v>
                </c:pt>
              </c:numCache>
            </c:numRef>
          </c:val>
        </c:ser>
        <c:ser>
          <c:idx val="1"/>
          <c:order val="1"/>
          <c:tx>
            <c:strRef>
              <c:f>Sheet1!$C$1</c:f>
              <c:strCache>
                <c:ptCount val="1"/>
                <c:pt idx="0">
                  <c:v>YOLOv12s-seg</c:v>
                </c:pt>
              </c:strCache>
            </c:strRef>
          </c:tx>
          <c:spPr>
            <a:solidFill>
              <a:srgbClr val="F2775E"/>
            </a:solidFill>
            <a:effectLst/>
          </c:spPr>
          <c:invertIfNegative val="0"/>
          <c:dLbls>
            <c:numFmt formatCode="0.000" sourceLinked="0"/>
            <c:txPr>
              <a:bodyPr/>
              <a:lstStyle/>
              <a:p>
                <a:pPr>
                  <a:defRPr b="0" i="0" strike="noStrike" sz="950" u="none">
                    <a:solidFill>
                      <a:srgbClr val="0D2A4A"/>
                    </a:solidFill>
                    <a:latin typeface="Arial"/>
                  </a:defRPr>
                </a:pPr>
              </a:p>
            </c:txPr>
            <c:showLegendKey val="0"/>
            <c:showVal val="1"/>
            <c:showCatName val="0"/>
            <c:showSerName val="0"/>
            <c:showPercent val="0"/>
            <c:showBubbleSize val="0"/>
            <c:showLeaderLines val="0"/>
          </c:dLbls>
          <c:cat>
            <c:multiLvlStrRef>
              <c:f>Sheet1!$A$2:$A$5</c:f>
              <c:multiLvlStrCache>
                <c:ptCount val="4"/>
                <c:lvl>
                  <c:pt idx="0">
                    <c:v>Precision</c:v>
                  </c:pt>
                  <c:pt idx="1">
                    <c:v>Recall</c:v>
                  </c:pt>
                  <c:pt idx="2">
                    <c:v>mAP@0.5</c:v>
                  </c:pt>
                  <c:pt idx="3">
                    <c:v>mAP@0.5:0.95</c:v>
                  </c:pt>
                </c:lvl>
              </c:multiLvlStrCache>
            </c:multiLvlStrRef>
          </c:cat>
          <c:val>
            <c:numRef>
              <c:f>Sheet1!$C$2:$C$5</c:f>
              <c:numCache>
                <c:formatCode>General</c:formatCode>
                <c:ptCount val="4"/>
                <c:pt idx="0">
                  <c:v>0.905</c:v>
                </c:pt>
                <c:pt idx="1">
                  <c:v>0.755</c:v>
                </c:pt>
                <c:pt idx="2">
                  <c:v>0.839</c:v>
                </c:pt>
                <c:pt idx="3">
                  <c:v>0.478</c:v>
                </c:pt>
              </c:numCache>
            </c:numRef>
          </c:val>
        </c:ser>
        <c:dLbls>
          <c:numFmt formatCode="0.000" sourceLinked="0"/>
          <c:txPr>
            <a:bodyPr/>
            <a:lstStyle/>
            <a:p>
              <a:pPr>
                <a:defRPr b="0" i="0" strike="noStrike" sz="950" u="none">
                  <a:solidFill>
                    <a:srgbClr val="0D2A4A"/>
                  </a:solidFill>
                  <a:latin typeface="Arial"/>
                </a:defRPr>
              </a:pPr>
            </a:p>
          </c:txPr>
          <c:showLegendKey val="0"/>
          <c:showVal val="1"/>
          <c:showCatName val="0"/>
          <c:showSerName val="0"/>
          <c:showPercent val="0"/>
          <c:showBubbleSize val="0"/>
          <c:showLeaderLines val="0"/>
        </c:dLbls>
        <c:gapWidth val="3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50" b="0" i="0" u="none" strike="noStrike">
                <a:solidFill>
                  <a:srgbClr val="42525C"/>
                </a:solidFill>
                <a:latin typeface="Arial"/>
              </a:defRPr>
            </a:pPr>
            <a:endParaRPr lang="en-US"/>
          </a:p>
        </c:txPr>
        <c:crossAx val="2094734552"/>
        <c:crosses val="autoZero"/>
        <c:auto val="1"/>
        <c:lblAlgn val="ctr"/>
        <c:noMultiLvlLbl val="1"/>
      </c:catAx>
      <c:valAx>
        <c:axId val="2094734552"/>
        <c:scaling>
          <c:orientation val="minMax"/>
          <c:max val="1"/>
        </c:scaling>
        <c:delete val="0"/>
        <c:axPos val="l"/>
        <c:majorGridlines>
          <c:spPr>
            <a:ln w="12700" cap="flat">
              <a:solidFill>
                <a:srgbClr val="E4EAEC"/>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42525C"/>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2A4A"/>
        </a:solidFill>
      </p:bgPr>
    </p:bg>
    <p:spTree>
      <p:nvGrpSpPr>
        <p:cNvPr id="1" name=""/>
        <p:cNvGrpSpPr/>
        <p:nvPr/>
      </p:nvGrpSpPr>
      <p:grpSpPr>
        <a:xfrm>
          <a:off x="0" y="0"/>
          <a:ext cx="0" cy="0"/>
          <a:chOff x="0" y="0"/>
          <a:chExt cx="0" cy="0"/>
        </a:xfrm>
      </p:grpSpPr>
      <p:sp>
        <p:nvSpPr>
          <p:cNvPr id="2" name="Shape 0"/>
          <p:cNvSpPr/>
          <p:nvPr/>
        </p:nvSpPr>
        <p:spPr>
          <a:xfrm>
            <a:off x="9692640" y="457200"/>
            <a:ext cx="1005840" cy="1005840"/>
          </a:xfrm>
          <a:prstGeom prst="ellipse">
            <a:avLst/>
          </a:prstGeom>
          <a:solidFill>
            <a:srgbClr val="1C7293">
              <a:alpha val="55000"/>
            </a:srgbClr>
          </a:solidFill>
          <a:ln/>
        </p:spPr>
      </p:sp>
      <p:sp>
        <p:nvSpPr>
          <p:cNvPr id="3" name="Shape 1"/>
          <p:cNvSpPr/>
          <p:nvPr/>
        </p:nvSpPr>
        <p:spPr>
          <a:xfrm>
            <a:off x="10515600" y="914400"/>
            <a:ext cx="640080" cy="640080"/>
          </a:xfrm>
          <a:prstGeom prst="ellipse">
            <a:avLst/>
          </a:prstGeom>
          <a:solidFill>
            <a:srgbClr val="F2775E">
              <a:alpha val="60000"/>
            </a:srgbClr>
          </a:solidFill>
          <a:ln/>
        </p:spPr>
      </p:sp>
      <p:sp>
        <p:nvSpPr>
          <p:cNvPr id="4" name="Shape 2"/>
          <p:cNvSpPr/>
          <p:nvPr/>
        </p:nvSpPr>
        <p:spPr>
          <a:xfrm>
            <a:off x="9966960" y="1371600"/>
            <a:ext cx="411480" cy="411480"/>
          </a:xfrm>
          <a:prstGeom prst="ellipse">
            <a:avLst/>
          </a:prstGeom>
          <a:solidFill>
            <a:srgbClr val="5FB49C">
              <a:alpha val="60000"/>
            </a:srgbClr>
          </a:solidFill>
          <a:ln/>
        </p:spPr>
      </p:sp>
      <p:sp>
        <p:nvSpPr>
          <p:cNvPr id="5" name="Shape 3"/>
          <p:cNvSpPr/>
          <p:nvPr/>
        </p:nvSpPr>
        <p:spPr>
          <a:xfrm>
            <a:off x="11064240" y="274320"/>
            <a:ext cx="274320" cy="274320"/>
          </a:xfrm>
          <a:prstGeom prst="ellipse">
            <a:avLst/>
          </a:prstGeom>
          <a:solidFill>
            <a:srgbClr val="F5F9FA">
              <a:alpha val="35000"/>
            </a:srgbClr>
          </a:solidFill>
          <a:ln/>
        </p:spPr>
      </p:sp>
      <p:sp>
        <p:nvSpPr>
          <p:cNvPr id="6" name="Shape 4"/>
          <p:cNvSpPr/>
          <p:nvPr/>
        </p:nvSpPr>
        <p:spPr>
          <a:xfrm>
            <a:off x="9418320" y="1005840"/>
            <a:ext cx="201168" cy="201168"/>
          </a:xfrm>
          <a:prstGeom prst="ellipse">
            <a:avLst/>
          </a:prstGeom>
          <a:solidFill>
            <a:srgbClr val="F5F9FA">
              <a:alpha val="30000"/>
            </a:srgbClr>
          </a:solidFill>
          <a:ln/>
        </p:spPr>
      </p:sp>
      <p:sp>
        <p:nvSpPr>
          <p:cNvPr id="7" name="Shape 5"/>
          <p:cNvSpPr/>
          <p:nvPr/>
        </p:nvSpPr>
        <p:spPr>
          <a:xfrm>
            <a:off x="10607040" y="6126480"/>
            <a:ext cx="365760" cy="365760"/>
          </a:xfrm>
          <a:prstGeom prst="ellipse">
            <a:avLst/>
          </a:prstGeom>
          <a:solidFill>
            <a:srgbClr val="1C7293">
              <a:alpha val="40000"/>
            </a:srgbClr>
          </a:solidFill>
          <a:ln/>
        </p:spPr>
      </p:sp>
      <p:sp>
        <p:nvSpPr>
          <p:cNvPr id="8" name="Shape 6"/>
          <p:cNvSpPr/>
          <p:nvPr/>
        </p:nvSpPr>
        <p:spPr>
          <a:xfrm>
            <a:off x="10954512" y="6309360"/>
            <a:ext cx="219456" cy="219456"/>
          </a:xfrm>
          <a:prstGeom prst="ellipse">
            <a:avLst/>
          </a:prstGeom>
          <a:solidFill>
            <a:srgbClr val="5FB49C">
              <a:alpha val="40000"/>
            </a:srgbClr>
          </a:solidFill>
          <a:ln/>
        </p:spPr>
      </p:sp>
      <p:sp>
        <p:nvSpPr>
          <p:cNvPr id="9" name="Text 7"/>
          <p:cNvSpPr/>
          <p:nvPr/>
        </p:nvSpPr>
        <p:spPr>
          <a:xfrm>
            <a:off x="822960" y="1965960"/>
            <a:ext cx="10515600" cy="822960"/>
          </a:xfrm>
          <a:prstGeom prst="rect">
            <a:avLst/>
          </a:prstGeom>
          <a:noFill/>
          <a:ln/>
        </p:spPr>
        <p:txBody>
          <a:bodyPr wrap="square" rtlCol="0" anchor="ctr"/>
          <a:lstStyle/>
          <a:p>
            <a:pPr algn="l" indent="0" marL="0">
              <a:buNone/>
            </a:pPr>
            <a:r>
              <a:rPr lang="en-US" sz="4000" b="1" dirty="0">
                <a:solidFill>
                  <a:srgbClr val="FFFFFF"/>
                </a:solidFill>
                <a:latin typeface="Cambria" pitchFamily="34" charset="0"/>
                <a:ea typeface="Cambria" pitchFamily="34" charset="-122"/>
                <a:cs typeface="Cambria" pitchFamily="34" charset="-120"/>
              </a:rPr>
              <a:t>NUCLEUS SEGMENTATION</a:t>
            </a:r>
            <a:endParaRPr lang="en-US" sz="4000" dirty="0"/>
          </a:p>
        </p:txBody>
      </p:sp>
      <p:sp>
        <p:nvSpPr>
          <p:cNvPr id="10" name="Text 8"/>
          <p:cNvSpPr/>
          <p:nvPr/>
        </p:nvSpPr>
        <p:spPr>
          <a:xfrm>
            <a:off x="822960" y="2697480"/>
            <a:ext cx="10058400" cy="822960"/>
          </a:xfrm>
          <a:prstGeom prst="rect">
            <a:avLst/>
          </a:prstGeom>
          <a:noFill/>
          <a:ln/>
        </p:spPr>
        <p:txBody>
          <a:bodyPr wrap="square" rtlCol="0" anchor="ctr"/>
          <a:lstStyle/>
          <a:p>
            <a:pPr algn="l" indent="0" marL="0">
              <a:lnSpc>
                <a:spcPct val="115000"/>
              </a:lnSpc>
              <a:buNone/>
            </a:pPr>
            <a:r>
              <a:rPr lang="en-US" sz="1900" dirty="0">
                <a:solidFill>
                  <a:srgbClr val="CADCE0"/>
                </a:solidFill>
                <a:latin typeface="Calibri" pitchFamily="34" charset="0"/>
                <a:ea typeface="Calibri" pitchFamily="34" charset="-122"/>
                <a:cs typeface="Calibri" pitchFamily="34" charset="-120"/>
              </a:rPr>
              <a:t>in Heterogeneous Microscopy Images on the</a:t>
            </a:r>
            <a:endParaRPr lang="en-US" sz="1900" dirty="0"/>
          </a:p>
          <a:p>
            <a:pPr algn="l" indent="0" marL="0">
              <a:lnSpc>
                <a:spcPct val="115000"/>
              </a:lnSpc>
              <a:buNone/>
            </a:pPr>
            <a:r>
              <a:rPr lang="en-US" sz="1900" dirty="0">
                <a:solidFill>
                  <a:srgbClr val="CADCE0"/>
                </a:solidFill>
                <a:latin typeface="Calibri" pitchFamily="34" charset="0"/>
                <a:ea typeface="Calibri" pitchFamily="34" charset="-122"/>
                <a:cs typeface="Calibri" pitchFamily="34" charset="-120"/>
              </a:rPr>
              <a:t>Data Science Bowl 2018 Dataset</a:t>
            </a:r>
            <a:endParaRPr lang="en-US" sz="1900" dirty="0"/>
          </a:p>
        </p:txBody>
      </p:sp>
      <p:sp>
        <p:nvSpPr>
          <p:cNvPr id="11" name="Shape 9"/>
          <p:cNvSpPr/>
          <p:nvPr/>
        </p:nvSpPr>
        <p:spPr>
          <a:xfrm>
            <a:off x="822960" y="3703320"/>
            <a:ext cx="2743200" cy="0"/>
          </a:xfrm>
          <a:prstGeom prst="line">
            <a:avLst/>
          </a:prstGeom>
          <a:noFill/>
          <a:ln w="31750">
            <a:solidFill>
              <a:srgbClr val="F2775E"/>
            </a:solidFill>
            <a:prstDash val="solid"/>
          </a:ln>
        </p:spPr>
      </p:sp>
      <p:sp>
        <p:nvSpPr>
          <p:cNvPr id="12" name="Text 10"/>
          <p:cNvSpPr/>
          <p:nvPr/>
        </p:nvSpPr>
        <p:spPr>
          <a:xfrm>
            <a:off x="822960" y="3886200"/>
            <a:ext cx="9601200" cy="640080"/>
          </a:xfrm>
          <a:prstGeom prst="rect">
            <a:avLst/>
          </a:prstGeom>
          <a:noFill/>
          <a:ln/>
        </p:spPr>
        <p:txBody>
          <a:bodyPr wrap="square" rtlCol="0" anchor="ctr"/>
          <a:lstStyle/>
          <a:p>
            <a:pPr algn="l" indent="0" marL="0">
              <a:buNone/>
            </a:pPr>
            <a:r>
              <a:rPr lang="en-US" sz="1400" i="1" dirty="0">
                <a:solidFill>
                  <a:srgbClr val="5FB49C"/>
                </a:solidFill>
                <a:latin typeface="Calibri" pitchFamily="34" charset="0"/>
                <a:ea typeface="Calibri" pitchFamily="34" charset="-122"/>
                <a:cs typeface="Calibri" pitchFamily="34" charset="-120"/>
              </a:rPr>
              <a:t>A Comparative Study of YOLOv11-seg and YOLOv12-seg</a:t>
            </a:r>
            <a:endParaRPr lang="en-US" sz="1400" dirty="0"/>
          </a:p>
          <a:p>
            <a:pPr algn="l" indent="0" marL="0">
              <a:buNone/>
            </a:pPr>
            <a:r>
              <a:rPr lang="en-US" sz="1400" i="1" dirty="0">
                <a:solidFill>
                  <a:srgbClr val="5FB49C"/>
                </a:solidFill>
                <a:latin typeface="Calibri" pitchFamily="34" charset="0"/>
                <a:ea typeface="Calibri" pitchFamily="34" charset="-122"/>
                <a:cs typeface="Calibri" pitchFamily="34" charset="-120"/>
              </a:rPr>
              <a:t>for Instance-Level Nuclei Detection</a:t>
            </a:r>
            <a:endParaRPr lang="en-US" sz="1400" dirty="0"/>
          </a:p>
        </p:txBody>
      </p:sp>
      <p:sp>
        <p:nvSpPr>
          <p:cNvPr id="13" name="Text 11"/>
          <p:cNvSpPr/>
          <p:nvPr/>
        </p:nvSpPr>
        <p:spPr>
          <a:xfrm>
            <a:off x="822960" y="5074920"/>
            <a:ext cx="7315200" cy="365760"/>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Sercan Külcü</a:t>
            </a:r>
            <a:endParaRPr lang="en-US" sz="1600" dirty="0"/>
          </a:p>
        </p:txBody>
      </p:sp>
      <p:sp>
        <p:nvSpPr>
          <p:cNvPr id="14" name="Text 12"/>
          <p:cNvSpPr/>
          <p:nvPr/>
        </p:nvSpPr>
        <p:spPr>
          <a:xfrm>
            <a:off x="822960" y="5440680"/>
            <a:ext cx="7315200" cy="320040"/>
          </a:xfrm>
          <a:prstGeom prst="rect">
            <a:avLst/>
          </a:prstGeom>
          <a:noFill/>
          <a:ln/>
        </p:spPr>
        <p:txBody>
          <a:bodyPr wrap="square" rtlCol="0" anchor="ctr"/>
          <a:lstStyle/>
          <a:p>
            <a:pPr indent="0" marL="0">
              <a:buNone/>
            </a:pPr>
            <a:r>
              <a:rPr lang="en-US" sz="1250" dirty="0">
                <a:solidFill>
                  <a:srgbClr val="CADCE0"/>
                </a:solidFill>
                <a:latin typeface="Calibri" pitchFamily="34" charset="0"/>
                <a:ea typeface="Calibri" pitchFamily="34" charset="-122"/>
                <a:cs typeface="Calibri" pitchFamily="34" charset="-120"/>
              </a:rPr>
              <a:t>Computer Engineering Department, Giresun University, Türkiye</a:t>
            </a:r>
            <a:endParaRPr lang="en-US" sz="1250" dirty="0"/>
          </a:p>
        </p:txBody>
      </p:sp>
      <p:sp>
        <p:nvSpPr>
          <p:cNvPr id="15" name="Text 13"/>
          <p:cNvSpPr/>
          <p:nvPr/>
        </p:nvSpPr>
        <p:spPr>
          <a:xfrm>
            <a:off x="822960" y="5989320"/>
            <a:ext cx="9601200" cy="548640"/>
          </a:xfrm>
          <a:prstGeom prst="rect">
            <a:avLst/>
          </a:prstGeom>
          <a:noFill/>
          <a:ln/>
        </p:spPr>
        <p:txBody>
          <a:bodyPr wrap="square" rtlCol="0" anchor="ctr"/>
          <a:lstStyle/>
          <a:p>
            <a:pPr indent="0" marL="0">
              <a:buNone/>
            </a:pPr>
            <a:r>
              <a:rPr lang="en-US" sz="1100" dirty="0">
                <a:solidFill>
                  <a:srgbClr val="9FB8C4"/>
                </a:solidFill>
                <a:latin typeface="Calibri" pitchFamily="34" charset="0"/>
                <a:ea typeface="Calibri" pitchFamily="34" charset="-122"/>
                <a:cs typeface="Calibri" pitchFamily="34" charset="-120"/>
              </a:rPr>
              <a:t>3rd International Conference on Recent and Innovative Results in Engineering and Technology (ICRIRET 2025)</a:t>
            </a:r>
            <a:endParaRPr lang="en-US" sz="1100" dirty="0"/>
          </a:p>
          <a:p>
            <a:pPr indent="0" marL="0">
              <a:buNone/>
            </a:pPr>
            <a:r>
              <a:rPr lang="en-US" sz="1100" dirty="0">
                <a:solidFill>
                  <a:srgbClr val="9FB8C4"/>
                </a:solidFill>
                <a:latin typeface="Calibri" pitchFamily="34" charset="0"/>
                <a:ea typeface="Calibri" pitchFamily="34" charset="-122"/>
                <a:cs typeface="Calibri" pitchFamily="34" charset="-120"/>
              </a:rPr>
              <a:t>November 15–16, 2025 · Konya, Turkey</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9FA"/>
        </a:solidFill>
      </p:bgPr>
    </p:bg>
    <p:spTree>
      <p:nvGrpSpPr>
        <p:cNvPr id="1" name=""/>
        <p:cNvGrpSpPr/>
        <p:nvPr/>
      </p:nvGrpSpPr>
      <p:grpSpPr>
        <a:xfrm>
          <a:off x="0" y="0"/>
          <a:ext cx="0" cy="0"/>
          <a:chOff x="0" y="0"/>
          <a:chExt cx="0" cy="0"/>
        </a:xfrm>
      </p:grpSpPr>
      <p:sp>
        <p:nvSpPr>
          <p:cNvPr id="2" name="Text 0"/>
          <p:cNvSpPr/>
          <p:nvPr/>
        </p:nvSpPr>
        <p:spPr>
          <a:xfrm>
            <a:off x="548640" y="365760"/>
            <a:ext cx="10515600" cy="640080"/>
          </a:xfrm>
          <a:prstGeom prst="rect">
            <a:avLst/>
          </a:prstGeom>
          <a:noFill/>
          <a:ln/>
        </p:spPr>
        <p:txBody>
          <a:bodyPr wrap="square" rtlCol="0" anchor="ctr"/>
          <a:lstStyle/>
          <a:p>
            <a:pPr algn="l" indent="0" marL="0">
              <a:buNone/>
            </a:pPr>
            <a:r>
              <a:rPr lang="en-US" sz="3000" b="1" dirty="0">
                <a:solidFill>
                  <a:srgbClr val="0D2A4A"/>
                </a:solidFill>
                <a:latin typeface="Cambria" pitchFamily="34" charset="0"/>
                <a:ea typeface="Cambria" pitchFamily="34" charset="-122"/>
                <a:cs typeface="Cambria" pitchFamily="34" charset="-120"/>
              </a:rPr>
              <a:t>Introduction &amp; Motivation</a:t>
            </a:r>
            <a:endParaRPr lang="en-US" sz="3000" dirty="0"/>
          </a:p>
        </p:txBody>
      </p:sp>
      <p:sp>
        <p:nvSpPr>
          <p:cNvPr id="3" name="Shape 1"/>
          <p:cNvSpPr/>
          <p:nvPr/>
        </p:nvSpPr>
        <p:spPr>
          <a:xfrm>
            <a:off x="640080" y="1673352"/>
            <a:ext cx="457200" cy="457200"/>
          </a:xfrm>
          <a:prstGeom prst="ellipse">
            <a:avLst/>
          </a:prstGeom>
          <a:solidFill>
            <a:srgbClr val="065A82"/>
          </a:solidFill>
          <a:ln/>
        </p:spPr>
      </p:sp>
      <p:sp>
        <p:nvSpPr>
          <p:cNvPr id="4" name="Text 2"/>
          <p:cNvSpPr/>
          <p:nvPr/>
        </p:nvSpPr>
        <p:spPr>
          <a:xfrm>
            <a:off x="640080" y="1673352"/>
            <a:ext cx="457200" cy="457200"/>
          </a:xfrm>
          <a:prstGeom prst="rect">
            <a:avLst/>
          </a:prstGeom>
          <a:noFill/>
          <a:ln/>
        </p:spPr>
        <p:txBody>
          <a:bodyPr wrap="square"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5" name="Text 3"/>
          <p:cNvSpPr/>
          <p:nvPr/>
        </p:nvSpPr>
        <p:spPr>
          <a:xfrm>
            <a:off x="1325880" y="1581912"/>
            <a:ext cx="4480560" cy="365760"/>
          </a:xfrm>
          <a:prstGeom prst="rect">
            <a:avLst/>
          </a:prstGeom>
          <a:noFill/>
          <a:ln/>
        </p:spPr>
        <p:txBody>
          <a:bodyPr wrap="square" rtlCol="0" anchor="ctr"/>
          <a:lstStyle/>
          <a:p>
            <a:pPr indent="0" marL="0">
              <a:buNone/>
            </a:pPr>
            <a:r>
              <a:rPr lang="en-US" sz="1500" b="1" dirty="0">
                <a:solidFill>
                  <a:srgbClr val="0D2A4A"/>
                </a:solidFill>
                <a:latin typeface="Cambria" pitchFamily="34" charset="0"/>
                <a:ea typeface="Cambria" pitchFamily="34" charset="-122"/>
                <a:cs typeface="Cambria" pitchFamily="34" charset="-120"/>
              </a:rPr>
              <a:t>A fundamental task</a:t>
            </a:r>
            <a:endParaRPr lang="en-US" sz="1500" dirty="0"/>
          </a:p>
        </p:txBody>
      </p:sp>
      <p:sp>
        <p:nvSpPr>
          <p:cNvPr id="6" name="Text 4"/>
          <p:cNvSpPr/>
          <p:nvPr/>
        </p:nvSpPr>
        <p:spPr>
          <a:xfrm>
            <a:off x="1325880" y="1947672"/>
            <a:ext cx="9966960" cy="685800"/>
          </a:xfrm>
          <a:prstGeom prst="rect">
            <a:avLst/>
          </a:prstGeom>
          <a:noFill/>
          <a:ln/>
        </p:spPr>
        <p:txBody>
          <a:bodyPr wrap="square" rtlCol="0" anchor="ctr"/>
          <a:lstStyle/>
          <a:p>
            <a:pPr indent="0" marL="0">
              <a:lnSpc>
                <a:spcPct val="112000"/>
              </a:lnSpc>
              <a:buNone/>
            </a:pPr>
            <a:r>
              <a:rPr lang="en-US" sz="1250" dirty="0">
                <a:solidFill>
                  <a:srgbClr val="42525C"/>
                </a:solidFill>
                <a:latin typeface="Calibri" pitchFamily="34" charset="0"/>
                <a:ea typeface="Calibri" pitchFamily="34" charset="-122"/>
                <a:cs typeface="Calibri" pitchFamily="34" charset="-120"/>
              </a:rPr>
              <a:t>Accurate nucleus segmentation in microscopy images underpins computational pathology, cancer diagnosis, and biomedical research.</a:t>
            </a:r>
            <a:endParaRPr lang="en-US" sz="1250" dirty="0"/>
          </a:p>
        </p:txBody>
      </p:sp>
      <p:sp>
        <p:nvSpPr>
          <p:cNvPr id="7" name="Shape 5"/>
          <p:cNvSpPr/>
          <p:nvPr/>
        </p:nvSpPr>
        <p:spPr>
          <a:xfrm>
            <a:off x="640080" y="2788920"/>
            <a:ext cx="457200" cy="457200"/>
          </a:xfrm>
          <a:prstGeom prst="ellipse">
            <a:avLst/>
          </a:prstGeom>
          <a:solidFill>
            <a:srgbClr val="1C7293"/>
          </a:solidFill>
          <a:ln/>
        </p:spPr>
      </p:sp>
      <p:sp>
        <p:nvSpPr>
          <p:cNvPr id="8" name="Text 6"/>
          <p:cNvSpPr/>
          <p:nvPr/>
        </p:nvSpPr>
        <p:spPr>
          <a:xfrm>
            <a:off x="640080" y="2788920"/>
            <a:ext cx="457200" cy="457200"/>
          </a:xfrm>
          <a:prstGeom prst="rect">
            <a:avLst/>
          </a:prstGeom>
          <a:noFill/>
          <a:ln/>
        </p:spPr>
        <p:txBody>
          <a:bodyPr wrap="square"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9" name="Text 7"/>
          <p:cNvSpPr/>
          <p:nvPr/>
        </p:nvSpPr>
        <p:spPr>
          <a:xfrm>
            <a:off x="1325880" y="2697480"/>
            <a:ext cx="4480560" cy="365760"/>
          </a:xfrm>
          <a:prstGeom prst="rect">
            <a:avLst/>
          </a:prstGeom>
          <a:noFill/>
          <a:ln/>
        </p:spPr>
        <p:txBody>
          <a:bodyPr wrap="square" rtlCol="0" anchor="ctr"/>
          <a:lstStyle/>
          <a:p>
            <a:pPr indent="0" marL="0">
              <a:buNone/>
            </a:pPr>
            <a:r>
              <a:rPr lang="en-US" sz="1500" b="1" dirty="0">
                <a:solidFill>
                  <a:srgbClr val="0D2A4A"/>
                </a:solidFill>
                <a:latin typeface="Cambria" pitchFamily="34" charset="0"/>
                <a:ea typeface="Cambria" pitchFamily="34" charset="-122"/>
                <a:cs typeface="Cambria" pitchFamily="34" charset="-120"/>
              </a:rPr>
              <a:t>Beyond medicine</a:t>
            </a:r>
            <a:endParaRPr lang="en-US" sz="1500" dirty="0"/>
          </a:p>
        </p:txBody>
      </p:sp>
      <p:sp>
        <p:nvSpPr>
          <p:cNvPr id="10" name="Text 8"/>
          <p:cNvSpPr/>
          <p:nvPr/>
        </p:nvSpPr>
        <p:spPr>
          <a:xfrm>
            <a:off x="1325880" y="3063240"/>
            <a:ext cx="9966960" cy="685800"/>
          </a:xfrm>
          <a:prstGeom prst="rect">
            <a:avLst/>
          </a:prstGeom>
          <a:noFill/>
          <a:ln/>
        </p:spPr>
        <p:txBody>
          <a:bodyPr wrap="square" rtlCol="0" anchor="ctr"/>
          <a:lstStyle/>
          <a:p>
            <a:pPr indent="0" marL="0">
              <a:lnSpc>
                <a:spcPct val="112000"/>
              </a:lnSpc>
              <a:buNone/>
            </a:pPr>
            <a:r>
              <a:rPr lang="en-US" sz="1250" dirty="0">
                <a:solidFill>
                  <a:srgbClr val="42525C"/>
                </a:solidFill>
                <a:latin typeface="Calibri" pitchFamily="34" charset="0"/>
                <a:ea typeface="Calibri" pitchFamily="34" charset="-122"/>
                <a:cs typeface="Calibri" pitchFamily="34" charset="-120"/>
              </a:rPr>
              <a:t>The same computer-vision techniques support maritime navigation, sonar-based tracking, and MRI-based tumor detection — showing their versatility on noisy, multi-modal data.</a:t>
            </a:r>
            <a:endParaRPr lang="en-US" sz="1250" dirty="0"/>
          </a:p>
        </p:txBody>
      </p:sp>
      <p:sp>
        <p:nvSpPr>
          <p:cNvPr id="11" name="Shape 9"/>
          <p:cNvSpPr/>
          <p:nvPr/>
        </p:nvSpPr>
        <p:spPr>
          <a:xfrm>
            <a:off x="640080" y="3904488"/>
            <a:ext cx="457200" cy="457200"/>
          </a:xfrm>
          <a:prstGeom prst="ellipse">
            <a:avLst/>
          </a:prstGeom>
          <a:solidFill>
            <a:srgbClr val="065A82"/>
          </a:solidFill>
          <a:ln/>
        </p:spPr>
      </p:sp>
      <p:sp>
        <p:nvSpPr>
          <p:cNvPr id="12" name="Text 10"/>
          <p:cNvSpPr/>
          <p:nvPr/>
        </p:nvSpPr>
        <p:spPr>
          <a:xfrm>
            <a:off x="640080" y="3904488"/>
            <a:ext cx="457200" cy="457200"/>
          </a:xfrm>
          <a:prstGeom prst="rect">
            <a:avLst/>
          </a:prstGeom>
          <a:noFill/>
          <a:ln/>
        </p:spPr>
        <p:txBody>
          <a:bodyPr wrap="square"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3" name="Text 11"/>
          <p:cNvSpPr/>
          <p:nvPr/>
        </p:nvSpPr>
        <p:spPr>
          <a:xfrm>
            <a:off x="1325880" y="3813048"/>
            <a:ext cx="4480560" cy="365760"/>
          </a:xfrm>
          <a:prstGeom prst="rect">
            <a:avLst/>
          </a:prstGeom>
          <a:noFill/>
          <a:ln/>
        </p:spPr>
        <p:txBody>
          <a:bodyPr wrap="square" rtlCol="0" anchor="ctr"/>
          <a:lstStyle/>
          <a:p>
            <a:pPr indent="0" marL="0">
              <a:buNone/>
            </a:pPr>
            <a:r>
              <a:rPr lang="en-US" sz="1500" b="1" dirty="0">
                <a:solidFill>
                  <a:srgbClr val="0D2A4A"/>
                </a:solidFill>
                <a:latin typeface="Cambria" pitchFamily="34" charset="0"/>
                <a:ea typeface="Cambria" pitchFamily="34" charset="-122"/>
                <a:cs typeface="Cambria" pitchFamily="34" charset="-120"/>
              </a:rPr>
              <a:t>A growing toolbox</a:t>
            </a:r>
            <a:endParaRPr lang="en-US" sz="1500" dirty="0"/>
          </a:p>
        </p:txBody>
      </p:sp>
      <p:sp>
        <p:nvSpPr>
          <p:cNvPr id="14" name="Text 12"/>
          <p:cNvSpPr/>
          <p:nvPr/>
        </p:nvSpPr>
        <p:spPr>
          <a:xfrm>
            <a:off x="1325880" y="4178808"/>
            <a:ext cx="9966960" cy="685800"/>
          </a:xfrm>
          <a:prstGeom prst="rect">
            <a:avLst/>
          </a:prstGeom>
          <a:noFill/>
          <a:ln/>
        </p:spPr>
        <p:txBody>
          <a:bodyPr wrap="square" rtlCol="0" anchor="ctr"/>
          <a:lstStyle/>
          <a:p>
            <a:pPr indent="0" marL="0">
              <a:lnSpc>
                <a:spcPct val="112000"/>
              </a:lnSpc>
              <a:buNone/>
            </a:pPr>
            <a:r>
              <a:rPr lang="en-US" sz="1250" dirty="0">
                <a:solidFill>
                  <a:srgbClr val="42525C"/>
                </a:solidFill>
                <a:latin typeface="Calibri" pitchFamily="34" charset="0"/>
                <a:ea typeface="Calibri" pitchFamily="34" charset="-122"/>
                <a:cs typeface="Calibri" pitchFamily="34" charset="-120"/>
              </a:rPr>
              <a:t>Recent work introduces wavelet transformers, boundary-aware modules, transformers, graph networks, and real-time YOLO-based detectors for nuclei segmentation.</a:t>
            </a:r>
            <a:endParaRPr lang="en-US" sz="1250" dirty="0"/>
          </a:p>
        </p:txBody>
      </p:sp>
      <p:sp>
        <p:nvSpPr>
          <p:cNvPr id="15" name="Shape 13"/>
          <p:cNvSpPr/>
          <p:nvPr/>
        </p:nvSpPr>
        <p:spPr>
          <a:xfrm>
            <a:off x="640080" y="5020056"/>
            <a:ext cx="457200" cy="457200"/>
          </a:xfrm>
          <a:prstGeom prst="ellipse">
            <a:avLst/>
          </a:prstGeom>
          <a:solidFill>
            <a:srgbClr val="1C7293"/>
          </a:solidFill>
          <a:ln/>
        </p:spPr>
      </p:sp>
      <p:sp>
        <p:nvSpPr>
          <p:cNvPr id="16" name="Text 14"/>
          <p:cNvSpPr/>
          <p:nvPr/>
        </p:nvSpPr>
        <p:spPr>
          <a:xfrm>
            <a:off x="640080" y="5020056"/>
            <a:ext cx="457200" cy="457200"/>
          </a:xfrm>
          <a:prstGeom prst="rect">
            <a:avLst/>
          </a:prstGeom>
          <a:noFill/>
          <a:ln/>
        </p:spPr>
        <p:txBody>
          <a:bodyPr wrap="square"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4</a:t>
            </a:r>
            <a:endParaRPr lang="en-US" sz="1800" dirty="0"/>
          </a:p>
        </p:txBody>
      </p:sp>
      <p:sp>
        <p:nvSpPr>
          <p:cNvPr id="17" name="Text 15"/>
          <p:cNvSpPr/>
          <p:nvPr/>
        </p:nvSpPr>
        <p:spPr>
          <a:xfrm>
            <a:off x="1325880" y="4928616"/>
            <a:ext cx="4480560" cy="365760"/>
          </a:xfrm>
          <a:prstGeom prst="rect">
            <a:avLst/>
          </a:prstGeom>
          <a:noFill/>
          <a:ln/>
        </p:spPr>
        <p:txBody>
          <a:bodyPr wrap="square" rtlCol="0" anchor="ctr"/>
          <a:lstStyle/>
          <a:p>
            <a:pPr indent="0" marL="0">
              <a:buNone/>
            </a:pPr>
            <a:r>
              <a:rPr lang="en-US" sz="1500" b="1" dirty="0">
                <a:solidFill>
                  <a:srgbClr val="0D2A4A"/>
                </a:solidFill>
                <a:latin typeface="Cambria" pitchFamily="34" charset="0"/>
                <a:ea typeface="Cambria" pitchFamily="34" charset="-122"/>
                <a:cs typeface="Cambria" pitchFamily="34" charset="-120"/>
              </a:rPr>
              <a:t>An open question</a:t>
            </a:r>
            <a:endParaRPr lang="en-US" sz="1500" dirty="0"/>
          </a:p>
        </p:txBody>
      </p:sp>
      <p:sp>
        <p:nvSpPr>
          <p:cNvPr id="18" name="Text 16"/>
          <p:cNvSpPr/>
          <p:nvPr/>
        </p:nvSpPr>
        <p:spPr>
          <a:xfrm>
            <a:off x="1325880" y="5294376"/>
            <a:ext cx="9966960" cy="685800"/>
          </a:xfrm>
          <a:prstGeom prst="rect">
            <a:avLst/>
          </a:prstGeom>
          <a:noFill/>
          <a:ln/>
        </p:spPr>
        <p:txBody>
          <a:bodyPr wrap="square" rtlCol="0" anchor="ctr"/>
          <a:lstStyle/>
          <a:p>
            <a:pPr indent="0" marL="0">
              <a:lnSpc>
                <a:spcPct val="112000"/>
              </a:lnSpc>
              <a:buNone/>
            </a:pPr>
            <a:r>
              <a:rPr lang="en-US" sz="1250" dirty="0">
                <a:solidFill>
                  <a:srgbClr val="42525C"/>
                </a:solidFill>
                <a:latin typeface="Calibri" pitchFamily="34" charset="0"/>
                <a:ea typeface="Calibri" pitchFamily="34" charset="-122"/>
                <a:cs typeface="Calibri" pitchFamily="34" charset="-120"/>
              </a:rPr>
              <a:t>Do newer, lighter architectures reliably outperform mature, well-optimized ones in demanding biomedical imaging tasks?</a:t>
            </a:r>
            <a:endParaRPr lang="en-US" sz="1250" dirty="0"/>
          </a:p>
        </p:txBody>
      </p:sp>
      <p:sp>
        <p:nvSpPr>
          <p:cNvPr id="19" name="Text 17"/>
          <p:cNvSpPr/>
          <p:nvPr/>
        </p:nvSpPr>
        <p:spPr>
          <a:xfrm>
            <a:off x="457200" y="6528816"/>
            <a:ext cx="8229600" cy="274320"/>
          </a:xfrm>
          <a:prstGeom prst="rect">
            <a:avLst/>
          </a:prstGeom>
          <a:noFill/>
          <a:ln/>
        </p:spPr>
        <p:txBody>
          <a:bodyPr wrap="square" rtlCol="0" anchor="ctr"/>
          <a:lstStyle/>
          <a:p>
            <a:pPr algn="l" indent="0" marL="0">
              <a:buNone/>
            </a:pPr>
            <a:r>
              <a:rPr lang="en-US" sz="900" dirty="0">
                <a:solidFill>
                  <a:srgbClr val="42525C"/>
                </a:solidFill>
                <a:latin typeface="Calibri" pitchFamily="34" charset="0"/>
                <a:ea typeface="Calibri" pitchFamily="34" charset="-122"/>
                <a:cs typeface="Calibri" pitchFamily="34" charset="-120"/>
              </a:rPr>
              <a:t>ICRIRET 2025  |  Nucleus Segmentation on DSB2018</a:t>
            </a:r>
            <a:endParaRPr lang="en-US" sz="900" dirty="0"/>
          </a:p>
        </p:txBody>
      </p:sp>
      <p:sp>
        <p:nvSpPr>
          <p:cNvPr id="20" name="Text 18"/>
          <p:cNvSpPr/>
          <p:nvPr/>
        </p:nvSpPr>
        <p:spPr>
          <a:xfrm>
            <a:off x="11338560" y="6528816"/>
            <a:ext cx="457200" cy="274320"/>
          </a:xfrm>
          <a:prstGeom prst="rect">
            <a:avLst/>
          </a:prstGeom>
          <a:noFill/>
          <a:ln/>
        </p:spPr>
        <p:txBody>
          <a:bodyPr wrap="square" rtlCol="0" anchor="ctr"/>
          <a:lstStyle/>
          <a:p>
            <a:pPr algn="r" indent="0" marL="0">
              <a:buNone/>
            </a:pPr>
            <a:r>
              <a:rPr lang="en-US" sz="900" dirty="0">
                <a:solidFill>
                  <a:srgbClr val="42525C"/>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0515600" cy="640080"/>
          </a:xfrm>
          <a:prstGeom prst="rect">
            <a:avLst/>
          </a:prstGeom>
          <a:noFill/>
          <a:ln/>
        </p:spPr>
        <p:txBody>
          <a:bodyPr wrap="square" rtlCol="0" anchor="ctr"/>
          <a:lstStyle/>
          <a:p>
            <a:pPr algn="l" indent="0" marL="0">
              <a:buNone/>
            </a:pPr>
            <a:r>
              <a:rPr lang="en-US" sz="3000" b="1" dirty="0">
                <a:solidFill>
                  <a:srgbClr val="0D2A4A"/>
                </a:solidFill>
                <a:latin typeface="Cambria" pitchFamily="34" charset="0"/>
                <a:ea typeface="Cambria" pitchFamily="34" charset="-122"/>
                <a:cs typeface="Cambria" pitchFamily="34" charset="-120"/>
              </a:rPr>
              <a:t>Related Work</a:t>
            </a:r>
            <a:endParaRPr lang="en-US" sz="3000" dirty="0"/>
          </a:p>
        </p:txBody>
      </p:sp>
      <p:sp>
        <p:nvSpPr>
          <p:cNvPr id="3" name="Text 1"/>
          <p:cNvSpPr/>
          <p:nvPr/>
        </p:nvSpPr>
        <p:spPr>
          <a:xfrm>
            <a:off x="548640" y="960120"/>
            <a:ext cx="10515600" cy="365760"/>
          </a:xfrm>
          <a:prstGeom prst="rect">
            <a:avLst/>
          </a:prstGeom>
          <a:noFill/>
          <a:ln/>
        </p:spPr>
        <p:txBody>
          <a:bodyPr wrap="square" rtlCol="0" anchor="ctr"/>
          <a:lstStyle/>
          <a:p>
            <a:pPr algn="l" indent="0" marL="0">
              <a:buNone/>
            </a:pPr>
            <a:r>
              <a:rPr lang="en-US" sz="1400" i="1" dirty="0">
                <a:solidFill>
                  <a:srgbClr val="1C7293"/>
                </a:solidFill>
                <a:latin typeface="Calibri" pitchFamily="34" charset="0"/>
                <a:ea typeface="Calibri" pitchFamily="34" charset="-122"/>
                <a:cs typeface="Calibri" pitchFamily="34" charset="-120"/>
              </a:rPr>
              <a:t>Four main research directions in nucleus segmentation</a:t>
            </a:r>
            <a:endParaRPr lang="en-US" sz="1400" dirty="0"/>
          </a:p>
        </p:txBody>
      </p:sp>
      <p:sp>
        <p:nvSpPr>
          <p:cNvPr id="4" name="Shape 2"/>
          <p:cNvSpPr/>
          <p:nvPr/>
        </p:nvSpPr>
        <p:spPr>
          <a:xfrm>
            <a:off x="548640" y="1691640"/>
            <a:ext cx="5257800" cy="1965960"/>
          </a:xfrm>
          <a:prstGeom prst="roundRect">
            <a:avLst>
              <a:gd name="adj" fmla="val 3721"/>
            </a:avLst>
          </a:prstGeom>
          <a:solidFill>
            <a:srgbClr val="F5F9FA"/>
          </a:solidFill>
          <a:ln w="12700">
            <a:solidFill>
              <a:srgbClr val="DCE6E9"/>
            </a:solidFill>
            <a:prstDash val="solid"/>
          </a:ln>
          <a:effectLst>
            <a:outerShdw sx="100000" sy="100000" kx="0" ky="0" algn="bl" rotWithShape="0" blurRad="76200" dist="25400" dir="5400000">
              <a:srgbClr val="999999">
                <a:alpha val="18000"/>
              </a:srgbClr>
            </a:outerShdw>
          </a:effectLst>
        </p:spPr>
      </p:sp>
      <p:sp>
        <p:nvSpPr>
          <p:cNvPr id="5" name="Shape 3"/>
          <p:cNvSpPr/>
          <p:nvPr/>
        </p:nvSpPr>
        <p:spPr>
          <a:xfrm>
            <a:off x="548640" y="1691640"/>
            <a:ext cx="109728" cy="1965960"/>
          </a:xfrm>
          <a:prstGeom prst="rect">
            <a:avLst/>
          </a:prstGeom>
          <a:solidFill>
            <a:srgbClr val="065A82"/>
          </a:solidFill>
          <a:ln/>
        </p:spPr>
      </p:sp>
      <p:sp>
        <p:nvSpPr>
          <p:cNvPr id="6" name="Text 4"/>
          <p:cNvSpPr/>
          <p:nvPr/>
        </p:nvSpPr>
        <p:spPr>
          <a:xfrm>
            <a:off x="868680" y="1856232"/>
            <a:ext cx="4709160" cy="411480"/>
          </a:xfrm>
          <a:prstGeom prst="rect">
            <a:avLst/>
          </a:prstGeom>
          <a:noFill/>
          <a:ln/>
        </p:spPr>
        <p:txBody>
          <a:bodyPr wrap="square" rtlCol="0" anchor="ctr"/>
          <a:lstStyle/>
          <a:p>
            <a:pPr indent="0" marL="0">
              <a:buNone/>
            </a:pPr>
            <a:r>
              <a:rPr lang="en-US" sz="1500" b="1" dirty="0">
                <a:solidFill>
                  <a:srgbClr val="0D2A4A"/>
                </a:solidFill>
                <a:latin typeface="Cambria" pitchFamily="34" charset="0"/>
                <a:ea typeface="Cambria" pitchFamily="34" charset="-122"/>
                <a:cs typeface="Cambria" pitchFamily="34" charset="-120"/>
              </a:rPr>
              <a:t>Improved U-Net Designs</a:t>
            </a:r>
            <a:endParaRPr lang="en-US" sz="1500" dirty="0"/>
          </a:p>
        </p:txBody>
      </p:sp>
      <p:sp>
        <p:nvSpPr>
          <p:cNvPr id="7" name="Text 5"/>
          <p:cNvSpPr/>
          <p:nvPr/>
        </p:nvSpPr>
        <p:spPr>
          <a:xfrm>
            <a:off x="868680" y="2286000"/>
            <a:ext cx="4709160" cy="1188720"/>
          </a:xfrm>
          <a:prstGeom prst="rect">
            <a:avLst/>
          </a:prstGeom>
          <a:noFill/>
          <a:ln/>
        </p:spPr>
        <p:txBody>
          <a:bodyPr wrap="square" rtlCol="0" anchor="ctr"/>
          <a:lstStyle/>
          <a:p>
            <a:pPr indent="0" marL="0">
              <a:lnSpc>
                <a:spcPct val="115000"/>
              </a:lnSpc>
              <a:buNone/>
            </a:pPr>
            <a:r>
              <a:rPr lang="en-US" sz="1200" dirty="0">
                <a:solidFill>
                  <a:srgbClr val="42525C"/>
                </a:solidFill>
                <a:latin typeface="Calibri" pitchFamily="34" charset="0"/>
                <a:ea typeface="Calibri" pitchFamily="34" charset="-122"/>
                <a:cs typeface="Calibri" pitchFamily="34" charset="-120"/>
              </a:rPr>
              <a:t>Wavelet-guided attention (BAWGNet), contourlet-driven attention (ConDANet), and boundary-aware blocks improve edge preservation (Dice up to 90.8%).</a:t>
            </a:r>
            <a:endParaRPr lang="en-US" sz="1200" dirty="0"/>
          </a:p>
        </p:txBody>
      </p:sp>
      <p:sp>
        <p:nvSpPr>
          <p:cNvPr id="8" name="Shape 6"/>
          <p:cNvSpPr/>
          <p:nvPr/>
        </p:nvSpPr>
        <p:spPr>
          <a:xfrm>
            <a:off x="6126480" y="1691640"/>
            <a:ext cx="5257800" cy="1965960"/>
          </a:xfrm>
          <a:prstGeom prst="roundRect">
            <a:avLst>
              <a:gd name="adj" fmla="val 3721"/>
            </a:avLst>
          </a:prstGeom>
          <a:solidFill>
            <a:srgbClr val="F5F9FA"/>
          </a:solidFill>
          <a:ln w="12700">
            <a:solidFill>
              <a:srgbClr val="DCE6E9"/>
            </a:solidFill>
            <a:prstDash val="solid"/>
          </a:ln>
          <a:effectLst>
            <a:outerShdw sx="100000" sy="100000" kx="0" ky="0" algn="bl" rotWithShape="0" blurRad="76200" dist="25400" dir="5400000">
              <a:srgbClr val="999999">
                <a:alpha val="18000"/>
              </a:srgbClr>
            </a:outerShdw>
          </a:effectLst>
        </p:spPr>
      </p:sp>
      <p:sp>
        <p:nvSpPr>
          <p:cNvPr id="9" name="Shape 7"/>
          <p:cNvSpPr/>
          <p:nvPr/>
        </p:nvSpPr>
        <p:spPr>
          <a:xfrm>
            <a:off x="6126480" y="1691640"/>
            <a:ext cx="109728" cy="1965960"/>
          </a:xfrm>
          <a:prstGeom prst="rect">
            <a:avLst/>
          </a:prstGeom>
          <a:solidFill>
            <a:srgbClr val="1C7293"/>
          </a:solidFill>
          <a:ln/>
        </p:spPr>
      </p:sp>
      <p:sp>
        <p:nvSpPr>
          <p:cNvPr id="10" name="Text 8"/>
          <p:cNvSpPr/>
          <p:nvPr/>
        </p:nvSpPr>
        <p:spPr>
          <a:xfrm>
            <a:off x="6446520" y="1856232"/>
            <a:ext cx="4709160" cy="411480"/>
          </a:xfrm>
          <a:prstGeom prst="rect">
            <a:avLst/>
          </a:prstGeom>
          <a:noFill/>
          <a:ln/>
        </p:spPr>
        <p:txBody>
          <a:bodyPr wrap="square" rtlCol="0" anchor="ctr"/>
          <a:lstStyle/>
          <a:p>
            <a:pPr indent="0" marL="0">
              <a:buNone/>
            </a:pPr>
            <a:r>
              <a:rPr lang="en-US" sz="1500" b="1" dirty="0">
                <a:solidFill>
                  <a:srgbClr val="0D2A4A"/>
                </a:solidFill>
                <a:latin typeface="Cambria" pitchFamily="34" charset="0"/>
                <a:ea typeface="Cambria" pitchFamily="34" charset="-122"/>
                <a:cs typeface="Cambria" pitchFamily="34" charset="-120"/>
              </a:rPr>
              <a:t>Transformer &amp; Graph Models</a:t>
            </a:r>
            <a:endParaRPr lang="en-US" sz="1500" dirty="0"/>
          </a:p>
        </p:txBody>
      </p:sp>
      <p:sp>
        <p:nvSpPr>
          <p:cNvPr id="11" name="Text 9"/>
          <p:cNvSpPr/>
          <p:nvPr/>
        </p:nvSpPr>
        <p:spPr>
          <a:xfrm>
            <a:off x="6446520" y="2286000"/>
            <a:ext cx="4709160" cy="1188720"/>
          </a:xfrm>
          <a:prstGeom prst="rect">
            <a:avLst/>
          </a:prstGeom>
          <a:noFill/>
          <a:ln/>
        </p:spPr>
        <p:txBody>
          <a:bodyPr wrap="square" rtlCol="0" anchor="ctr"/>
          <a:lstStyle/>
          <a:p>
            <a:pPr indent="0" marL="0">
              <a:lnSpc>
                <a:spcPct val="115000"/>
              </a:lnSpc>
              <a:buNone/>
            </a:pPr>
            <a:r>
              <a:rPr lang="en-US" sz="1200" dirty="0">
                <a:solidFill>
                  <a:srgbClr val="42525C"/>
                </a:solidFill>
                <a:latin typeface="Calibri" pitchFamily="34" charset="0"/>
                <a:ea typeface="Calibri" pitchFamily="34" charset="-122"/>
                <a:cs typeface="Calibri" pitchFamily="34" charset="-120"/>
              </a:rPr>
              <a:t>Swin Transformer + graph convolutional fusion and multi-task transformer heads capture long-range context, gaining 2–5% over CNN baselines.</a:t>
            </a:r>
            <a:endParaRPr lang="en-US" sz="1200" dirty="0"/>
          </a:p>
        </p:txBody>
      </p:sp>
      <p:sp>
        <p:nvSpPr>
          <p:cNvPr id="12" name="Shape 10"/>
          <p:cNvSpPr/>
          <p:nvPr/>
        </p:nvSpPr>
        <p:spPr>
          <a:xfrm>
            <a:off x="548640" y="3931920"/>
            <a:ext cx="5257800" cy="1965960"/>
          </a:xfrm>
          <a:prstGeom prst="roundRect">
            <a:avLst>
              <a:gd name="adj" fmla="val 3721"/>
            </a:avLst>
          </a:prstGeom>
          <a:solidFill>
            <a:srgbClr val="F5F9FA"/>
          </a:solidFill>
          <a:ln w="12700">
            <a:solidFill>
              <a:srgbClr val="DCE6E9"/>
            </a:solidFill>
            <a:prstDash val="solid"/>
          </a:ln>
          <a:effectLst>
            <a:outerShdw sx="100000" sy="100000" kx="0" ky="0" algn="bl" rotWithShape="0" blurRad="76200" dist="25400" dir="5400000">
              <a:srgbClr val="999999">
                <a:alpha val="18000"/>
              </a:srgbClr>
            </a:outerShdw>
          </a:effectLst>
        </p:spPr>
      </p:sp>
      <p:sp>
        <p:nvSpPr>
          <p:cNvPr id="13" name="Shape 11"/>
          <p:cNvSpPr/>
          <p:nvPr/>
        </p:nvSpPr>
        <p:spPr>
          <a:xfrm>
            <a:off x="548640" y="3931920"/>
            <a:ext cx="109728" cy="1965960"/>
          </a:xfrm>
          <a:prstGeom prst="rect">
            <a:avLst/>
          </a:prstGeom>
          <a:solidFill>
            <a:srgbClr val="5FB49C"/>
          </a:solidFill>
          <a:ln/>
        </p:spPr>
      </p:sp>
      <p:sp>
        <p:nvSpPr>
          <p:cNvPr id="14" name="Text 12"/>
          <p:cNvSpPr/>
          <p:nvPr/>
        </p:nvSpPr>
        <p:spPr>
          <a:xfrm>
            <a:off x="868680" y="4096512"/>
            <a:ext cx="4709160" cy="411480"/>
          </a:xfrm>
          <a:prstGeom prst="rect">
            <a:avLst/>
          </a:prstGeom>
          <a:noFill/>
          <a:ln/>
        </p:spPr>
        <p:txBody>
          <a:bodyPr wrap="square" rtlCol="0" anchor="ctr"/>
          <a:lstStyle/>
          <a:p>
            <a:pPr indent="0" marL="0">
              <a:buNone/>
            </a:pPr>
            <a:r>
              <a:rPr lang="en-US" sz="1500" b="1" dirty="0">
                <a:solidFill>
                  <a:srgbClr val="0D2A4A"/>
                </a:solidFill>
                <a:latin typeface="Cambria" pitchFamily="34" charset="0"/>
                <a:ea typeface="Cambria" pitchFamily="34" charset="-122"/>
                <a:cs typeface="Cambria" pitchFamily="34" charset="-120"/>
              </a:rPr>
              <a:t>Real-Time One-Stage Detectors</a:t>
            </a:r>
            <a:endParaRPr lang="en-US" sz="1500" dirty="0"/>
          </a:p>
        </p:txBody>
      </p:sp>
      <p:sp>
        <p:nvSpPr>
          <p:cNvPr id="15" name="Text 13"/>
          <p:cNvSpPr/>
          <p:nvPr/>
        </p:nvSpPr>
        <p:spPr>
          <a:xfrm>
            <a:off x="868680" y="4526280"/>
            <a:ext cx="4709160" cy="1188720"/>
          </a:xfrm>
          <a:prstGeom prst="rect">
            <a:avLst/>
          </a:prstGeom>
          <a:noFill/>
          <a:ln/>
        </p:spPr>
        <p:txBody>
          <a:bodyPr wrap="square" rtlCol="0" anchor="ctr"/>
          <a:lstStyle/>
          <a:p>
            <a:pPr indent="0" marL="0">
              <a:lnSpc>
                <a:spcPct val="115000"/>
              </a:lnSpc>
              <a:buNone/>
            </a:pPr>
            <a:r>
              <a:rPr lang="en-US" sz="1200" dirty="0">
                <a:solidFill>
                  <a:srgbClr val="42525C"/>
                </a:solidFill>
                <a:latin typeface="Calibri" pitchFamily="34" charset="0"/>
                <a:ea typeface="Calibri" pitchFamily="34" charset="-122"/>
                <a:cs typeface="Calibri" pitchFamily="34" charset="-120"/>
              </a:rPr>
              <a:t>ASF-YOLO, YOLACT and BlendMask variants prioritize speed, reaching up to 47.3 FPS while keeping competitive accuracy.</a:t>
            </a:r>
            <a:endParaRPr lang="en-US" sz="1200" dirty="0"/>
          </a:p>
        </p:txBody>
      </p:sp>
      <p:sp>
        <p:nvSpPr>
          <p:cNvPr id="16" name="Shape 14"/>
          <p:cNvSpPr/>
          <p:nvPr/>
        </p:nvSpPr>
        <p:spPr>
          <a:xfrm>
            <a:off x="6126480" y="3931920"/>
            <a:ext cx="5257800" cy="1965960"/>
          </a:xfrm>
          <a:prstGeom prst="roundRect">
            <a:avLst>
              <a:gd name="adj" fmla="val 3721"/>
            </a:avLst>
          </a:prstGeom>
          <a:solidFill>
            <a:srgbClr val="F5F9FA"/>
          </a:solidFill>
          <a:ln w="12700">
            <a:solidFill>
              <a:srgbClr val="DCE6E9"/>
            </a:solidFill>
            <a:prstDash val="solid"/>
          </a:ln>
          <a:effectLst>
            <a:outerShdw sx="100000" sy="100000" kx="0" ky="0" algn="bl" rotWithShape="0" blurRad="76200" dist="25400" dir="5400000">
              <a:srgbClr val="999999">
                <a:alpha val="18000"/>
              </a:srgbClr>
            </a:outerShdw>
          </a:effectLst>
        </p:spPr>
      </p:sp>
      <p:sp>
        <p:nvSpPr>
          <p:cNvPr id="17" name="Shape 15"/>
          <p:cNvSpPr/>
          <p:nvPr/>
        </p:nvSpPr>
        <p:spPr>
          <a:xfrm>
            <a:off x="6126480" y="3931920"/>
            <a:ext cx="109728" cy="1965960"/>
          </a:xfrm>
          <a:prstGeom prst="rect">
            <a:avLst/>
          </a:prstGeom>
          <a:solidFill>
            <a:srgbClr val="F2775E"/>
          </a:solidFill>
          <a:ln/>
        </p:spPr>
      </p:sp>
      <p:sp>
        <p:nvSpPr>
          <p:cNvPr id="18" name="Text 16"/>
          <p:cNvSpPr/>
          <p:nvPr/>
        </p:nvSpPr>
        <p:spPr>
          <a:xfrm>
            <a:off x="6446520" y="4096512"/>
            <a:ext cx="4709160" cy="411480"/>
          </a:xfrm>
          <a:prstGeom prst="rect">
            <a:avLst/>
          </a:prstGeom>
          <a:noFill/>
          <a:ln/>
        </p:spPr>
        <p:txBody>
          <a:bodyPr wrap="square" rtlCol="0" anchor="ctr"/>
          <a:lstStyle/>
          <a:p>
            <a:pPr indent="0" marL="0">
              <a:buNone/>
            </a:pPr>
            <a:r>
              <a:rPr lang="en-US" sz="1500" b="1" dirty="0">
                <a:solidFill>
                  <a:srgbClr val="0D2A4A"/>
                </a:solidFill>
                <a:latin typeface="Cambria" pitchFamily="34" charset="0"/>
                <a:ea typeface="Cambria" pitchFamily="34" charset="-122"/>
                <a:cs typeface="Cambria" pitchFamily="34" charset="-120"/>
              </a:rPr>
              <a:t>Clinical Deployment Tools</a:t>
            </a:r>
            <a:endParaRPr lang="en-US" sz="1500" dirty="0"/>
          </a:p>
        </p:txBody>
      </p:sp>
      <p:sp>
        <p:nvSpPr>
          <p:cNvPr id="19" name="Text 17"/>
          <p:cNvSpPr/>
          <p:nvPr/>
        </p:nvSpPr>
        <p:spPr>
          <a:xfrm>
            <a:off x="6446520" y="4526280"/>
            <a:ext cx="4709160" cy="1188720"/>
          </a:xfrm>
          <a:prstGeom prst="rect">
            <a:avLst/>
          </a:prstGeom>
          <a:noFill/>
          <a:ln/>
        </p:spPr>
        <p:txBody>
          <a:bodyPr wrap="square" rtlCol="0" anchor="ctr"/>
          <a:lstStyle/>
          <a:p>
            <a:pPr indent="0" marL="0">
              <a:lnSpc>
                <a:spcPct val="115000"/>
              </a:lnSpc>
              <a:buNone/>
            </a:pPr>
            <a:r>
              <a:rPr lang="en-US" sz="1200" dirty="0">
                <a:solidFill>
                  <a:srgbClr val="42525C"/>
                </a:solidFill>
                <a:latin typeface="Calibri" pitchFamily="34" charset="0"/>
                <a:ea typeface="Calibri" pitchFamily="34" charset="-122"/>
                <a:cs typeface="Calibri" pitchFamily="34" charset="-120"/>
              </a:rPr>
              <a:t>GUI-based platforms and genetic-algorithm–optimized U-Nets (GA-UNet) focus on usability and lightweight, real-world integration.</a:t>
            </a:r>
            <a:endParaRPr lang="en-US" sz="1200" dirty="0"/>
          </a:p>
        </p:txBody>
      </p:sp>
      <p:sp>
        <p:nvSpPr>
          <p:cNvPr id="20" name="Text 18"/>
          <p:cNvSpPr/>
          <p:nvPr/>
        </p:nvSpPr>
        <p:spPr>
          <a:xfrm>
            <a:off x="548640" y="6053328"/>
            <a:ext cx="10881360" cy="320040"/>
          </a:xfrm>
          <a:prstGeom prst="rect">
            <a:avLst/>
          </a:prstGeom>
          <a:noFill/>
          <a:ln/>
        </p:spPr>
        <p:txBody>
          <a:bodyPr wrap="square" rtlCol="0" anchor="ctr"/>
          <a:lstStyle/>
          <a:p>
            <a:pPr indent="0" marL="0">
              <a:buNone/>
            </a:pPr>
            <a:r>
              <a:rPr lang="en-US" sz="1200" i="1" dirty="0">
                <a:solidFill>
                  <a:srgbClr val="1C7293"/>
                </a:solidFill>
                <a:latin typeface="Calibri" pitchFamily="34" charset="0"/>
                <a:ea typeface="Calibri" pitchFamily="34" charset="-122"/>
                <a:cs typeface="Calibri" pitchFamily="34" charset="-120"/>
              </a:rPr>
              <a:t>A common limitation persists: high computational overhead and limited generalization to unseen staining or imaging modalities.</a:t>
            </a:r>
            <a:endParaRPr lang="en-US" sz="1200" dirty="0"/>
          </a:p>
        </p:txBody>
      </p:sp>
      <p:sp>
        <p:nvSpPr>
          <p:cNvPr id="21" name="Text 19"/>
          <p:cNvSpPr/>
          <p:nvPr/>
        </p:nvSpPr>
        <p:spPr>
          <a:xfrm>
            <a:off x="457200" y="6528816"/>
            <a:ext cx="8229600" cy="274320"/>
          </a:xfrm>
          <a:prstGeom prst="rect">
            <a:avLst/>
          </a:prstGeom>
          <a:noFill/>
          <a:ln/>
        </p:spPr>
        <p:txBody>
          <a:bodyPr wrap="square" rtlCol="0" anchor="ctr"/>
          <a:lstStyle/>
          <a:p>
            <a:pPr algn="l" indent="0" marL="0">
              <a:buNone/>
            </a:pPr>
            <a:r>
              <a:rPr lang="en-US" sz="900" dirty="0">
                <a:solidFill>
                  <a:srgbClr val="42525C"/>
                </a:solidFill>
                <a:latin typeface="Calibri" pitchFamily="34" charset="0"/>
                <a:ea typeface="Calibri" pitchFamily="34" charset="-122"/>
                <a:cs typeface="Calibri" pitchFamily="34" charset="-120"/>
              </a:rPr>
              <a:t>ICRIRET 2025  |  Nucleus Segmentation on DSB2018</a:t>
            </a:r>
            <a:endParaRPr lang="en-US" sz="900" dirty="0"/>
          </a:p>
        </p:txBody>
      </p:sp>
      <p:sp>
        <p:nvSpPr>
          <p:cNvPr id="22" name="Text 20"/>
          <p:cNvSpPr/>
          <p:nvPr/>
        </p:nvSpPr>
        <p:spPr>
          <a:xfrm>
            <a:off x="11338560" y="6528816"/>
            <a:ext cx="457200" cy="274320"/>
          </a:xfrm>
          <a:prstGeom prst="rect">
            <a:avLst/>
          </a:prstGeom>
          <a:noFill/>
          <a:ln/>
        </p:spPr>
        <p:txBody>
          <a:bodyPr wrap="square" rtlCol="0" anchor="ctr"/>
          <a:lstStyle/>
          <a:p>
            <a:pPr algn="r" indent="0" marL="0">
              <a:buNone/>
            </a:pPr>
            <a:r>
              <a:rPr lang="en-US" sz="900" dirty="0">
                <a:solidFill>
                  <a:srgbClr val="42525C"/>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2A4A"/>
        </a:solidFill>
      </p:bgPr>
    </p:bg>
    <p:spTree>
      <p:nvGrpSpPr>
        <p:cNvPr id="1" name=""/>
        <p:cNvGrpSpPr/>
        <p:nvPr/>
      </p:nvGrpSpPr>
      <p:grpSpPr>
        <a:xfrm>
          <a:off x="0" y="0"/>
          <a:ext cx="0" cy="0"/>
          <a:chOff x="0" y="0"/>
          <a:chExt cx="0" cy="0"/>
        </a:xfrm>
      </p:grpSpPr>
      <p:sp>
        <p:nvSpPr>
          <p:cNvPr id="2" name="Shape 0"/>
          <p:cNvSpPr/>
          <p:nvPr/>
        </p:nvSpPr>
        <p:spPr>
          <a:xfrm>
            <a:off x="10332720" y="5394960"/>
            <a:ext cx="548640" cy="548640"/>
          </a:xfrm>
          <a:prstGeom prst="ellipse">
            <a:avLst/>
          </a:prstGeom>
          <a:solidFill>
            <a:srgbClr val="1C7293">
              <a:alpha val="55000"/>
            </a:srgbClr>
          </a:solidFill>
          <a:ln/>
        </p:spPr>
      </p:sp>
      <p:sp>
        <p:nvSpPr>
          <p:cNvPr id="3" name="Shape 1"/>
          <p:cNvSpPr/>
          <p:nvPr/>
        </p:nvSpPr>
        <p:spPr>
          <a:xfrm>
            <a:off x="10789920" y="5669280"/>
            <a:ext cx="320040" cy="320040"/>
          </a:xfrm>
          <a:prstGeom prst="ellipse">
            <a:avLst/>
          </a:prstGeom>
          <a:solidFill>
            <a:srgbClr val="F2775E">
              <a:alpha val="55000"/>
            </a:srgbClr>
          </a:solidFill>
          <a:ln/>
        </p:spPr>
      </p:sp>
      <p:sp>
        <p:nvSpPr>
          <p:cNvPr id="4" name="Text 2"/>
          <p:cNvSpPr/>
          <p:nvPr/>
        </p:nvSpPr>
        <p:spPr>
          <a:xfrm>
            <a:off x="640080" y="502920"/>
            <a:ext cx="10058400" cy="640080"/>
          </a:xfrm>
          <a:prstGeom prst="rect">
            <a:avLst/>
          </a:prstGeom>
          <a:noFill/>
          <a:ln/>
        </p:spPr>
        <p:txBody>
          <a:bodyPr wrap="square"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Research Objective</a:t>
            </a:r>
            <a:endParaRPr lang="en-US" sz="3000" dirty="0"/>
          </a:p>
        </p:txBody>
      </p:sp>
      <p:sp>
        <p:nvSpPr>
          <p:cNvPr id="5" name="Text 3"/>
          <p:cNvSpPr/>
          <p:nvPr/>
        </p:nvSpPr>
        <p:spPr>
          <a:xfrm>
            <a:off x="640080" y="1417320"/>
            <a:ext cx="10515600" cy="914400"/>
          </a:xfrm>
          <a:prstGeom prst="rect">
            <a:avLst/>
          </a:prstGeom>
          <a:noFill/>
          <a:ln/>
        </p:spPr>
        <p:txBody>
          <a:bodyPr wrap="square" rtlCol="0" anchor="ctr"/>
          <a:lstStyle/>
          <a:p>
            <a:pPr indent="0" marL="0">
              <a:lnSpc>
                <a:spcPct val="125000"/>
              </a:lnSpc>
              <a:buNone/>
            </a:pPr>
            <a:r>
              <a:rPr lang="en-US" sz="1700" dirty="0">
                <a:solidFill>
                  <a:srgbClr val="D8E6EA"/>
                </a:solidFill>
                <a:latin typeface="Calibri" pitchFamily="34" charset="0"/>
                <a:ea typeface="Calibri" pitchFamily="34" charset="-122"/>
                <a:cs typeface="Calibri" pitchFamily="34" charset="-120"/>
              </a:rPr>
              <a:t>This study offers the first direct comparison of YOLOv11-seg and YOLOv12-seg for nucleus instance segmentation on the heterogeneous DSB2018 dataset.</a:t>
            </a:r>
            <a:endParaRPr lang="en-US" sz="1700" dirty="0"/>
          </a:p>
        </p:txBody>
      </p:sp>
      <p:sp>
        <p:nvSpPr>
          <p:cNvPr id="6" name="Shape 4"/>
          <p:cNvSpPr/>
          <p:nvPr/>
        </p:nvSpPr>
        <p:spPr>
          <a:xfrm>
            <a:off x="685800" y="2862072"/>
            <a:ext cx="128016" cy="128016"/>
          </a:xfrm>
          <a:prstGeom prst="ellipse">
            <a:avLst/>
          </a:prstGeom>
          <a:solidFill>
            <a:srgbClr val="F2775E"/>
          </a:solidFill>
          <a:ln/>
        </p:spPr>
      </p:sp>
      <p:sp>
        <p:nvSpPr>
          <p:cNvPr id="7" name="Text 5"/>
          <p:cNvSpPr/>
          <p:nvPr/>
        </p:nvSpPr>
        <p:spPr>
          <a:xfrm>
            <a:off x="1005840" y="2679192"/>
            <a:ext cx="10058400" cy="640080"/>
          </a:xfrm>
          <a:prstGeom prst="rect">
            <a:avLst/>
          </a:prstGeom>
          <a:noFill/>
          <a:ln/>
        </p:spPr>
        <p:txBody>
          <a:bodyPr wrap="square" rtlCol="0" anchor="ctr"/>
          <a:lstStyle/>
          <a:p>
            <a:pPr indent="0" marL="0">
              <a:lnSpc>
                <a:spcPct val="110000"/>
              </a:lnSpc>
              <a:buNone/>
            </a:pPr>
            <a:r>
              <a:rPr lang="en-US" sz="1350" dirty="0">
                <a:solidFill>
                  <a:srgbClr val="FFFFFF"/>
                </a:solidFill>
                <a:latin typeface="Calibri" pitchFamily="34" charset="0"/>
                <a:ea typeface="Calibri" pitchFamily="34" charset="-122"/>
                <a:cs typeface="Calibri" pitchFamily="34" charset="-120"/>
              </a:rPr>
              <a:t>Compare a mature, pretrained architecture (YOLOv11-seg) against a lighter, attention-centric successor (YOLOv12-seg)</a:t>
            </a:r>
            <a:endParaRPr lang="en-US" sz="1350" dirty="0"/>
          </a:p>
        </p:txBody>
      </p:sp>
      <p:sp>
        <p:nvSpPr>
          <p:cNvPr id="8" name="Shape 6"/>
          <p:cNvSpPr/>
          <p:nvPr/>
        </p:nvSpPr>
        <p:spPr>
          <a:xfrm>
            <a:off x="685800" y="3611880"/>
            <a:ext cx="128016" cy="128016"/>
          </a:xfrm>
          <a:prstGeom prst="ellipse">
            <a:avLst/>
          </a:prstGeom>
          <a:solidFill>
            <a:srgbClr val="F2775E"/>
          </a:solidFill>
          <a:ln/>
        </p:spPr>
      </p:sp>
      <p:sp>
        <p:nvSpPr>
          <p:cNvPr id="9" name="Text 7"/>
          <p:cNvSpPr/>
          <p:nvPr/>
        </p:nvSpPr>
        <p:spPr>
          <a:xfrm>
            <a:off x="1005840" y="3429000"/>
            <a:ext cx="10058400" cy="640080"/>
          </a:xfrm>
          <a:prstGeom prst="rect">
            <a:avLst/>
          </a:prstGeom>
          <a:noFill/>
          <a:ln/>
        </p:spPr>
        <p:txBody>
          <a:bodyPr wrap="square" rtlCol="0" anchor="ctr"/>
          <a:lstStyle/>
          <a:p>
            <a:pPr indent="0" marL="0">
              <a:lnSpc>
                <a:spcPct val="110000"/>
              </a:lnSpc>
              <a:buNone/>
            </a:pPr>
            <a:r>
              <a:rPr lang="en-US" sz="1350" dirty="0">
                <a:solidFill>
                  <a:srgbClr val="FFFFFF"/>
                </a:solidFill>
                <a:latin typeface="Calibri" pitchFamily="34" charset="0"/>
                <a:ea typeface="Calibri" pitchFamily="34" charset="-122"/>
                <a:cs typeface="Calibri" pitchFamily="34" charset="-120"/>
              </a:rPr>
              <a:t>Evaluate both models under identical training conditions on 512×512 microscopy images</a:t>
            </a:r>
            <a:endParaRPr lang="en-US" sz="1350" dirty="0"/>
          </a:p>
        </p:txBody>
      </p:sp>
      <p:sp>
        <p:nvSpPr>
          <p:cNvPr id="10" name="Shape 8"/>
          <p:cNvSpPr/>
          <p:nvPr/>
        </p:nvSpPr>
        <p:spPr>
          <a:xfrm>
            <a:off x="685800" y="4361688"/>
            <a:ext cx="128016" cy="128016"/>
          </a:xfrm>
          <a:prstGeom prst="ellipse">
            <a:avLst/>
          </a:prstGeom>
          <a:solidFill>
            <a:srgbClr val="F2775E"/>
          </a:solidFill>
          <a:ln/>
        </p:spPr>
      </p:sp>
      <p:sp>
        <p:nvSpPr>
          <p:cNvPr id="11" name="Text 9"/>
          <p:cNvSpPr/>
          <p:nvPr/>
        </p:nvSpPr>
        <p:spPr>
          <a:xfrm>
            <a:off x="1005840" y="4178808"/>
            <a:ext cx="10058400" cy="640080"/>
          </a:xfrm>
          <a:prstGeom prst="rect">
            <a:avLst/>
          </a:prstGeom>
          <a:noFill/>
          <a:ln/>
        </p:spPr>
        <p:txBody>
          <a:bodyPr wrap="square" rtlCol="0" anchor="ctr"/>
          <a:lstStyle/>
          <a:p>
            <a:pPr indent="0" marL="0">
              <a:lnSpc>
                <a:spcPct val="110000"/>
              </a:lnSpc>
              <a:buNone/>
            </a:pPr>
            <a:r>
              <a:rPr lang="en-US" sz="1350" dirty="0">
                <a:solidFill>
                  <a:srgbClr val="FFFFFF"/>
                </a:solidFill>
                <a:latin typeface="Calibri" pitchFamily="34" charset="0"/>
                <a:ea typeface="Calibri" pitchFamily="34" charset="-122"/>
                <a:cs typeface="Calibri" pitchFamily="34" charset="-120"/>
              </a:rPr>
              <a:t>Assess detection and segmentation quality via mAP, precision, recall, F1-score, and inference speed</a:t>
            </a:r>
            <a:endParaRPr lang="en-US" sz="1350" dirty="0"/>
          </a:p>
        </p:txBody>
      </p:sp>
      <p:sp>
        <p:nvSpPr>
          <p:cNvPr id="12" name="Shape 10"/>
          <p:cNvSpPr/>
          <p:nvPr/>
        </p:nvSpPr>
        <p:spPr>
          <a:xfrm>
            <a:off x="685800" y="5111496"/>
            <a:ext cx="128016" cy="128016"/>
          </a:xfrm>
          <a:prstGeom prst="ellipse">
            <a:avLst/>
          </a:prstGeom>
          <a:solidFill>
            <a:srgbClr val="F2775E"/>
          </a:solidFill>
          <a:ln/>
        </p:spPr>
      </p:sp>
      <p:sp>
        <p:nvSpPr>
          <p:cNvPr id="13" name="Text 11"/>
          <p:cNvSpPr/>
          <p:nvPr/>
        </p:nvSpPr>
        <p:spPr>
          <a:xfrm>
            <a:off x="1005840" y="4928616"/>
            <a:ext cx="10058400" cy="640080"/>
          </a:xfrm>
          <a:prstGeom prst="rect">
            <a:avLst/>
          </a:prstGeom>
          <a:noFill/>
          <a:ln/>
        </p:spPr>
        <p:txBody>
          <a:bodyPr wrap="square" rtlCol="0" anchor="ctr"/>
          <a:lstStyle/>
          <a:p>
            <a:pPr indent="0" marL="0">
              <a:lnSpc>
                <a:spcPct val="110000"/>
              </a:lnSpc>
              <a:buNone/>
            </a:pPr>
            <a:r>
              <a:rPr lang="en-US" sz="1350" dirty="0">
                <a:solidFill>
                  <a:srgbClr val="FFFFFF"/>
                </a:solidFill>
                <a:latin typeface="Calibri" pitchFamily="34" charset="0"/>
                <a:ea typeface="Calibri" pitchFamily="34" charset="-122"/>
                <a:cs typeface="Calibri" pitchFamily="34" charset="-120"/>
              </a:rPr>
              <a:t>Identify whether architectural maturity outweighs novel lightweight design in biomedical imaging</a:t>
            </a:r>
            <a:endParaRPr lang="en-US" sz="1350" dirty="0"/>
          </a:p>
        </p:txBody>
      </p:sp>
      <p:sp>
        <p:nvSpPr>
          <p:cNvPr id="14" name="Text 12"/>
          <p:cNvSpPr/>
          <p:nvPr/>
        </p:nvSpPr>
        <p:spPr>
          <a:xfrm>
            <a:off x="457200" y="6528816"/>
            <a:ext cx="8229600" cy="274320"/>
          </a:xfrm>
          <a:prstGeom prst="rect">
            <a:avLst/>
          </a:prstGeom>
          <a:noFill/>
          <a:ln/>
        </p:spPr>
        <p:txBody>
          <a:bodyPr wrap="square" rtlCol="0" anchor="ctr"/>
          <a:lstStyle/>
          <a:p>
            <a:pPr algn="l" indent="0" marL="0">
              <a:buNone/>
            </a:pPr>
            <a:r>
              <a:rPr lang="en-US" sz="900" dirty="0">
                <a:solidFill>
                  <a:srgbClr val="8FA6AF"/>
                </a:solidFill>
                <a:latin typeface="Calibri" pitchFamily="34" charset="0"/>
                <a:ea typeface="Calibri" pitchFamily="34" charset="-122"/>
                <a:cs typeface="Calibri" pitchFamily="34" charset="-120"/>
              </a:rPr>
              <a:t>ICRIRET 2025  |  Nucleus Segmentation on DSB2018</a:t>
            </a:r>
            <a:endParaRPr lang="en-US" sz="900" dirty="0"/>
          </a:p>
        </p:txBody>
      </p:sp>
      <p:sp>
        <p:nvSpPr>
          <p:cNvPr id="15" name="Text 13"/>
          <p:cNvSpPr/>
          <p:nvPr/>
        </p:nvSpPr>
        <p:spPr>
          <a:xfrm>
            <a:off x="11338560" y="6528816"/>
            <a:ext cx="457200" cy="274320"/>
          </a:xfrm>
          <a:prstGeom prst="rect">
            <a:avLst/>
          </a:prstGeom>
          <a:noFill/>
          <a:ln/>
        </p:spPr>
        <p:txBody>
          <a:bodyPr wrap="square" rtlCol="0" anchor="ctr"/>
          <a:lstStyle/>
          <a:p>
            <a:pPr algn="r" indent="0" marL="0">
              <a:buNone/>
            </a:pPr>
            <a:r>
              <a:rPr lang="en-US" sz="900" dirty="0">
                <a:solidFill>
                  <a:srgbClr val="8FA6AF"/>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9FA"/>
        </a:solidFill>
      </p:bgPr>
    </p:bg>
    <p:spTree>
      <p:nvGrpSpPr>
        <p:cNvPr id="1" name=""/>
        <p:cNvGrpSpPr/>
        <p:nvPr/>
      </p:nvGrpSpPr>
      <p:grpSpPr>
        <a:xfrm>
          <a:off x="0" y="0"/>
          <a:ext cx="0" cy="0"/>
          <a:chOff x="0" y="0"/>
          <a:chExt cx="0" cy="0"/>
        </a:xfrm>
      </p:grpSpPr>
      <p:sp>
        <p:nvSpPr>
          <p:cNvPr id="2" name="Text 0"/>
          <p:cNvSpPr/>
          <p:nvPr/>
        </p:nvSpPr>
        <p:spPr>
          <a:xfrm>
            <a:off x="548640" y="365760"/>
            <a:ext cx="10515600" cy="640080"/>
          </a:xfrm>
          <a:prstGeom prst="rect">
            <a:avLst/>
          </a:prstGeom>
          <a:noFill/>
          <a:ln/>
        </p:spPr>
        <p:txBody>
          <a:bodyPr wrap="square" rtlCol="0" anchor="ctr"/>
          <a:lstStyle/>
          <a:p>
            <a:pPr algn="l" indent="0" marL="0">
              <a:buNone/>
            </a:pPr>
            <a:r>
              <a:rPr lang="en-US" sz="3000" b="1" dirty="0">
                <a:solidFill>
                  <a:srgbClr val="0D2A4A"/>
                </a:solidFill>
                <a:latin typeface="Cambria" pitchFamily="34" charset="0"/>
                <a:ea typeface="Cambria" pitchFamily="34" charset="-122"/>
                <a:cs typeface="Cambria" pitchFamily="34" charset="-120"/>
              </a:rPr>
              <a:t>Dataset: Data Science Bowl 2018 (DSB2018)</a:t>
            </a:r>
            <a:endParaRPr lang="en-US" sz="3000" dirty="0"/>
          </a:p>
        </p:txBody>
      </p:sp>
      <p:sp>
        <p:nvSpPr>
          <p:cNvPr id="3" name="Text 1"/>
          <p:cNvSpPr/>
          <p:nvPr/>
        </p:nvSpPr>
        <p:spPr>
          <a:xfrm>
            <a:off x="548640" y="960120"/>
            <a:ext cx="10515600" cy="365760"/>
          </a:xfrm>
          <a:prstGeom prst="rect">
            <a:avLst/>
          </a:prstGeom>
          <a:noFill/>
          <a:ln/>
        </p:spPr>
        <p:txBody>
          <a:bodyPr wrap="square" rtlCol="0" anchor="ctr"/>
          <a:lstStyle/>
          <a:p>
            <a:pPr algn="l" indent="0" marL="0">
              <a:buNone/>
            </a:pPr>
            <a:r>
              <a:rPr lang="en-US" sz="1400" i="1" dirty="0">
                <a:solidFill>
                  <a:srgbClr val="1C7293"/>
                </a:solidFill>
                <a:latin typeface="Calibri" pitchFamily="34" charset="0"/>
                <a:ea typeface="Calibri" pitchFamily="34" charset="-122"/>
                <a:cs typeface="Calibri" pitchFamily="34" charset="-120"/>
              </a:rPr>
              <a:t>A widely recognized benchmark for nuclei instance segmentation</a:t>
            </a:r>
            <a:endParaRPr lang="en-US" sz="1400" dirty="0"/>
          </a:p>
        </p:txBody>
      </p:sp>
      <p:sp>
        <p:nvSpPr>
          <p:cNvPr id="4" name="Shape 2"/>
          <p:cNvSpPr/>
          <p:nvPr/>
        </p:nvSpPr>
        <p:spPr>
          <a:xfrm>
            <a:off x="548640" y="1737360"/>
            <a:ext cx="3291840" cy="1737360"/>
          </a:xfrm>
          <a:prstGeom prst="roundRect">
            <a:avLst>
              <a:gd name="adj" fmla="val 4211"/>
            </a:avLst>
          </a:prstGeom>
          <a:solidFill>
            <a:srgbClr val="065A82"/>
          </a:solidFill>
          <a:ln/>
        </p:spPr>
      </p:sp>
      <p:sp>
        <p:nvSpPr>
          <p:cNvPr id="5" name="Text 3"/>
          <p:cNvSpPr/>
          <p:nvPr/>
        </p:nvSpPr>
        <p:spPr>
          <a:xfrm>
            <a:off x="548640" y="1938528"/>
            <a:ext cx="3291840" cy="685800"/>
          </a:xfrm>
          <a:prstGeom prst="rect">
            <a:avLst/>
          </a:prstGeom>
          <a:noFill/>
          <a:ln/>
        </p:spPr>
        <p:txBody>
          <a:bodyPr wrap="square" rtlCol="0" anchor="ctr"/>
          <a:lstStyle/>
          <a:p>
            <a:pPr algn="ctr" indent="0" marL="0">
              <a:buNone/>
            </a:pPr>
            <a:r>
              <a:rPr lang="en-US" sz="3400" b="1" dirty="0">
                <a:solidFill>
                  <a:srgbClr val="FFFFFF"/>
                </a:solidFill>
                <a:latin typeface="Cambria" pitchFamily="34" charset="0"/>
                <a:ea typeface="Cambria" pitchFamily="34" charset="-122"/>
                <a:cs typeface="Cambria" pitchFamily="34" charset="-120"/>
              </a:rPr>
              <a:t>670</a:t>
            </a:r>
            <a:endParaRPr lang="en-US" sz="3400" dirty="0"/>
          </a:p>
        </p:txBody>
      </p:sp>
      <p:sp>
        <p:nvSpPr>
          <p:cNvPr id="6" name="Text 4"/>
          <p:cNvSpPr/>
          <p:nvPr/>
        </p:nvSpPr>
        <p:spPr>
          <a:xfrm>
            <a:off x="731520" y="2651760"/>
            <a:ext cx="2926080" cy="731520"/>
          </a:xfrm>
          <a:prstGeom prst="rect">
            <a:avLst/>
          </a:prstGeom>
          <a:noFill/>
          <a:ln/>
        </p:spPr>
        <p:txBody>
          <a:bodyPr wrap="square" rtlCol="0" anchor="ctr"/>
          <a:lstStyle/>
          <a:p>
            <a:pPr algn="ctr" indent="0" marL="0">
              <a:lnSpc>
                <a:spcPct val="110000"/>
              </a:lnSpc>
              <a:buNone/>
            </a:pPr>
            <a:r>
              <a:rPr lang="en-US" sz="1200" dirty="0">
                <a:solidFill>
                  <a:srgbClr val="D8E6EA"/>
                </a:solidFill>
                <a:latin typeface="Calibri" pitchFamily="34" charset="0"/>
                <a:ea typeface="Calibri" pitchFamily="34" charset="-122"/>
                <a:cs typeface="Calibri" pitchFamily="34" charset="-120"/>
              </a:rPr>
              <a:t>Total labelled</a:t>
            </a:r>
            <a:endParaRPr lang="en-US" sz="1200" dirty="0"/>
          </a:p>
          <a:p>
            <a:pPr algn="ctr" indent="0" marL="0">
              <a:lnSpc>
                <a:spcPct val="110000"/>
              </a:lnSpc>
              <a:buNone/>
            </a:pPr>
            <a:r>
              <a:rPr lang="en-US" sz="1200" dirty="0">
                <a:solidFill>
                  <a:srgbClr val="D8E6EA"/>
                </a:solidFill>
                <a:latin typeface="Calibri" pitchFamily="34" charset="0"/>
                <a:ea typeface="Calibri" pitchFamily="34" charset="-122"/>
                <a:cs typeface="Calibri" pitchFamily="34" charset="-120"/>
              </a:rPr>
              <a:t>microscopy images</a:t>
            </a:r>
            <a:endParaRPr lang="en-US" sz="1200" dirty="0"/>
          </a:p>
        </p:txBody>
      </p:sp>
      <p:sp>
        <p:nvSpPr>
          <p:cNvPr id="7" name="Shape 5"/>
          <p:cNvSpPr/>
          <p:nvPr/>
        </p:nvSpPr>
        <p:spPr>
          <a:xfrm>
            <a:off x="4069080" y="1737360"/>
            <a:ext cx="3291840" cy="1737360"/>
          </a:xfrm>
          <a:prstGeom prst="roundRect">
            <a:avLst>
              <a:gd name="adj" fmla="val 4211"/>
            </a:avLst>
          </a:prstGeom>
          <a:solidFill>
            <a:srgbClr val="065A82"/>
          </a:solidFill>
          <a:ln/>
        </p:spPr>
      </p:sp>
      <p:sp>
        <p:nvSpPr>
          <p:cNvPr id="8" name="Text 6"/>
          <p:cNvSpPr/>
          <p:nvPr/>
        </p:nvSpPr>
        <p:spPr>
          <a:xfrm>
            <a:off x="4069080" y="1938528"/>
            <a:ext cx="3291840" cy="685800"/>
          </a:xfrm>
          <a:prstGeom prst="rect">
            <a:avLst/>
          </a:prstGeom>
          <a:noFill/>
          <a:ln/>
        </p:spPr>
        <p:txBody>
          <a:bodyPr wrap="square" rtlCol="0" anchor="ctr"/>
          <a:lstStyle/>
          <a:p>
            <a:pPr algn="ctr" indent="0" marL="0">
              <a:buNone/>
            </a:pPr>
            <a:r>
              <a:rPr lang="en-US" sz="3400" b="1" dirty="0">
                <a:solidFill>
                  <a:srgbClr val="FFFFFF"/>
                </a:solidFill>
                <a:latin typeface="Cambria" pitchFamily="34" charset="0"/>
                <a:ea typeface="Cambria" pitchFamily="34" charset="-122"/>
                <a:cs typeface="Cambria" pitchFamily="34" charset="-120"/>
              </a:rPr>
              <a:t>80 / 20</a:t>
            </a:r>
            <a:endParaRPr lang="en-US" sz="3400" dirty="0"/>
          </a:p>
        </p:txBody>
      </p:sp>
      <p:sp>
        <p:nvSpPr>
          <p:cNvPr id="9" name="Text 7"/>
          <p:cNvSpPr/>
          <p:nvPr/>
        </p:nvSpPr>
        <p:spPr>
          <a:xfrm>
            <a:off x="4251960" y="2651760"/>
            <a:ext cx="2926080" cy="731520"/>
          </a:xfrm>
          <a:prstGeom prst="rect">
            <a:avLst/>
          </a:prstGeom>
          <a:noFill/>
          <a:ln/>
        </p:spPr>
        <p:txBody>
          <a:bodyPr wrap="square" rtlCol="0" anchor="ctr"/>
          <a:lstStyle/>
          <a:p>
            <a:pPr algn="ctr" indent="0" marL="0">
              <a:lnSpc>
                <a:spcPct val="110000"/>
              </a:lnSpc>
              <a:buNone/>
            </a:pPr>
            <a:r>
              <a:rPr lang="en-US" sz="1200" dirty="0">
                <a:solidFill>
                  <a:srgbClr val="D8E6EA"/>
                </a:solidFill>
                <a:latin typeface="Calibri" pitchFamily="34" charset="0"/>
                <a:ea typeface="Calibri" pitchFamily="34" charset="-122"/>
                <a:cs typeface="Calibri" pitchFamily="34" charset="-120"/>
              </a:rPr>
              <a:t>Train / validation</a:t>
            </a:r>
            <a:endParaRPr lang="en-US" sz="1200" dirty="0"/>
          </a:p>
          <a:p>
            <a:pPr algn="ctr" indent="0" marL="0">
              <a:lnSpc>
                <a:spcPct val="110000"/>
              </a:lnSpc>
              <a:buNone/>
            </a:pPr>
            <a:r>
              <a:rPr lang="en-US" sz="1200" dirty="0">
                <a:solidFill>
                  <a:srgbClr val="D8E6EA"/>
                </a:solidFill>
                <a:latin typeface="Calibri" pitchFamily="34" charset="0"/>
                <a:ea typeface="Calibri" pitchFamily="34" charset="-122"/>
                <a:cs typeface="Calibri" pitchFamily="34" charset="-120"/>
              </a:rPr>
              <a:t>split ratio</a:t>
            </a:r>
            <a:endParaRPr lang="en-US" sz="1200" dirty="0"/>
          </a:p>
        </p:txBody>
      </p:sp>
      <p:sp>
        <p:nvSpPr>
          <p:cNvPr id="10" name="Shape 8"/>
          <p:cNvSpPr/>
          <p:nvPr/>
        </p:nvSpPr>
        <p:spPr>
          <a:xfrm>
            <a:off x="7589520" y="1737360"/>
            <a:ext cx="3291840" cy="1737360"/>
          </a:xfrm>
          <a:prstGeom prst="roundRect">
            <a:avLst>
              <a:gd name="adj" fmla="val 4211"/>
            </a:avLst>
          </a:prstGeom>
          <a:solidFill>
            <a:srgbClr val="065A82"/>
          </a:solidFill>
          <a:ln/>
        </p:spPr>
      </p:sp>
      <p:sp>
        <p:nvSpPr>
          <p:cNvPr id="11" name="Text 9"/>
          <p:cNvSpPr/>
          <p:nvPr/>
        </p:nvSpPr>
        <p:spPr>
          <a:xfrm>
            <a:off x="7589520" y="1938528"/>
            <a:ext cx="3291840" cy="685800"/>
          </a:xfrm>
          <a:prstGeom prst="rect">
            <a:avLst/>
          </a:prstGeom>
          <a:noFill/>
          <a:ln/>
        </p:spPr>
        <p:txBody>
          <a:bodyPr wrap="square" rtlCol="0" anchor="ctr"/>
          <a:lstStyle/>
          <a:p>
            <a:pPr algn="ctr" indent="0" marL="0">
              <a:buNone/>
            </a:pPr>
            <a:r>
              <a:rPr lang="en-US" sz="3400" b="1" dirty="0">
                <a:solidFill>
                  <a:srgbClr val="FFFFFF"/>
                </a:solidFill>
                <a:latin typeface="Cambria" pitchFamily="34" charset="0"/>
                <a:ea typeface="Cambria" pitchFamily="34" charset="-122"/>
                <a:cs typeface="Cambria" pitchFamily="34" charset="-120"/>
              </a:rPr>
              <a:t>10–300+</a:t>
            </a:r>
            <a:endParaRPr lang="en-US" sz="3400" dirty="0"/>
          </a:p>
        </p:txBody>
      </p:sp>
      <p:sp>
        <p:nvSpPr>
          <p:cNvPr id="12" name="Text 10"/>
          <p:cNvSpPr/>
          <p:nvPr/>
        </p:nvSpPr>
        <p:spPr>
          <a:xfrm>
            <a:off x="7772400" y="2651760"/>
            <a:ext cx="2926080" cy="731520"/>
          </a:xfrm>
          <a:prstGeom prst="rect">
            <a:avLst/>
          </a:prstGeom>
          <a:noFill/>
          <a:ln/>
        </p:spPr>
        <p:txBody>
          <a:bodyPr wrap="square" rtlCol="0" anchor="ctr"/>
          <a:lstStyle/>
          <a:p>
            <a:pPr algn="ctr" indent="0" marL="0">
              <a:lnSpc>
                <a:spcPct val="110000"/>
              </a:lnSpc>
              <a:buNone/>
            </a:pPr>
            <a:r>
              <a:rPr lang="en-US" sz="1200" dirty="0">
                <a:solidFill>
                  <a:srgbClr val="D8E6EA"/>
                </a:solidFill>
                <a:latin typeface="Calibri" pitchFamily="34" charset="0"/>
                <a:ea typeface="Calibri" pitchFamily="34" charset="-122"/>
                <a:cs typeface="Calibri" pitchFamily="34" charset="-120"/>
              </a:rPr>
              <a:t>Nuclei per image</a:t>
            </a:r>
            <a:endParaRPr lang="en-US" sz="1200" dirty="0"/>
          </a:p>
          <a:p>
            <a:pPr algn="ctr" indent="0" marL="0">
              <a:lnSpc>
                <a:spcPct val="110000"/>
              </a:lnSpc>
              <a:buNone/>
            </a:pPr>
            <a:r>
              <a:rPr lang="en-US" sz="1200" dirty="0">
                <a:solidFill>
                  <a:srgbClr val="D8E6EA"/>
                </a:solidFill>
                <a:latin typeface="Calibri" pitchFamily="34" charset="0"/>
                <a:ea typeface="Calibri" pitchFamily="34" charset="-122"/>
                <a:cs typeface="Calibri" pitchFamily="34" charset="-120"/>
              </a:rPr>
              <a:t>(density range)</a:t>
            </a:r>
            <a:endParaRPr lang="en-US" sz="1200" dirty="0"/>
          </a:p>
        </p:txBody>
      </p:sp>
      <p:sp>
        <p:nvSpPr>
          <p:cNvPr id="13" name="Text 11"/>
          <p:cNvSpPr/>
          <p:nvPr/>
        </p:nvSpPr>
        <p:spPr>
          <a:xfrm>
            <a:off x="548640" y="3794760"/>
            <a:ext cx="5486400" cy="365760"/>
          </a:xfrm>
          <a:prstGeom prst="rect">
            <a:avLst/>
          </a:prstGeom>
          <a:noFill/>
          <a:ln/>
        </p:spPr>
        <p:txBody>
          <a:bodyPr wrap="square" rtlCol="0" anchor="ctr"/>
          <a:lstStyle/>
          <a:p>
            <a:pPr indent="0" marL="0">
              <a:buNone/>
            </a:pPr>
            <a:r>
              <a:rPr lang="en-US" sz="1500" b="1" dirty="0">
                <a:solidFill>
                  <a:srgbClr val="0D2A4A"/>
                </a:solidFill>
                <a:latin typeface="Cambria" pitchFamily="34" charset="0"/>
                <a:ea typeface="Cambria" pitchFamily="34" charset="-122"/>
                <a:cs typeface="Cambria" pitchFamily="34" charset="-120"/>
              </a:rPr>
              <a:t>Key characteristics</a:t>
            </a:r>
            <a:endParaRPr lang="en-US" sz="1500" dirty="0"/>
          </a:p>
        </p:txBody>
      </p:sp>
      <p:sp>
        <p:nvSpPr>
          <p:cNvPr id="14" name="Shape 12"/>
          <p:cNvSpPr/>
          <p:nvPr/>
        </p:nvSpPr>
        <p:spPr>
          <a:xfrm>
            <a:off x="640080" y="4315968"/>
            <a:ext cx="109728" cy="109728"/>
          </a:xfrm>
          <a:prstGeom prst="ellipse">
            <a:avLst/>
          </a:prstGeom>
          <a:solidFill>
            <a:srgbClr val="F2775E"/>
          </a:solidFill>
          <a:ln/>
        </p:spPr>
      </p:sp>
      <p:sp>
        <p:nvSpPr>
          <p:cNvPr id="15" name="Text 13"/>
          <p:cNvSpPr/>
          <p:nvPr/>
        </p:nvSpPr>
        <p:spPr>
          <a:xfrm>
            <a:off x="914400" y="4133088"/>
            <a:ext cx="10332720" cy="384048"/>
          </a:xfrm>
          <a:prstGeom prst="rect">
            <a:avLst/>
          </a:prstGeom>
          <a:noFill/>
          <a:ln/>
        </p:spPr>
        <p:txBody>
          <a:bodyPr wrap="square" rtlCol="0" anchor="ctr"/>
          <a:lstStyle/>
          <a:p>
            <a:pPr indent="0" marL="0">
              <a:buNone/>
            </a:pPr>
            <a:r>
              <a:rPr lang="en-US" sz="1250" dirty="0">
                <a:solidFill>
                  <a:srgbClr val="42525C"/>
                </a:solidFill>
                <a:latin typeface="Calibri" pitchFamily="34" charset="0"/>
                <a:ea typeface="Calibri" pitchFamily="34" charset="-122"/>
                <a:cs typeface="Calibri" pitchFamily="34" charset="-120"/>
              </a:rPr>
              <a:t>Diverse microscopy conditions: bright-field and fluorescence imaging modalities</a:t>
            </a:r>
            <a:endParaRPr lang="en-US" sz="1250" dirty="0"/>
          </a:p>
        </p:txBody>
      </p:sp>
      <p:sp>
        <p:nvSpPr>
          <p:cNvPr id="16" name="Shape 14"/>
          <p:cNvSpPr/>
          <p:nvPr/>
        </p:nvSpPr>
        <p:spPr>
          <a:xfrm>
            <a:off x="640080" y="4700016"/>
            <a:ext cx="109728" cy="109728"/>
          </a:xfrm>
          <a:prstGeom prst="ellipse">
            <a:avLst/>
          </a:prstGeom>
          <a:solidFill>
            <a:srgbClr val="F2775E"/>
          </a:solidFill>
          <a:ln/>
        </p:spPr>
      </p:sp>
      <p:sp>
        <p:nvSpPr>
          <p:cNvPr id="17" name="Text 15"/>
          <p:cNvSpPr/>
          <p:nvPr/>
        </p:nvSpPr>
        <p:spPr>
          <a:xfrm>
            <a:off x="914400" y="4517136"/>
            <a:ext cx="10332720" cy="384048"/>
          </a:xfrm>
          <a:prstGeom prst="rect">
            <a:avLst/>
          </a:prstGeom>
          <a:noFill/>
          <a:ln/>
        </p:spPr>
        <p:txBody>
          <a:bodyPr wrap="square" rtlCol="0" anchor="ctr"/>
          <a:lstStyle/>
          <a:p>
            <a:pPr indent="0" marL="0">
              <a:buNone/>
            </a:pPr>
            <a:r>
              <a:rPr lang="en-US" sz="1250" dirty="0">
                <a:solidFill>
                  <a:srgbClr val="42525C"/>
                </a:solidFill>
                <a:latin typeface="Calibri" pitchFamily="34" charset="0"/>
                <a:ea typeface="Calibri" pitchFamily="34" charset="-122"/>
                <a:cs typeface="Calibri" pitchFamily="34" charset="-120"/>
              </a:rPr>
              <a:t>Variation in staining protocols, magnification levels, and cell types</a:t>
            </a:r>
            <a:endParaRPr lang="en-US" sz="1250" dirty="0"/>
          </a:p>
        </p:txBody>
      </p:sp>
      <p:sp>
        <p:nvSpPr>
          <p:cNvPr id="18" name="Shape 16"/>
          <p:cNvSpPr/>
          <p:nvPr/>
        </p:nvSpPr>
        <p:spPr>
          <a:xfrm>
            <a:off x="640080" y="5084064"/>
            <a:ext cx="109728" cy="109728"/>
          </a:xfrm>
          <a:prstGeom prst="ellipse">
            <a:avLst/>
          </a:prstGeom>
          <a:solidFill>
            <a:srgbClr val="F2775E"/>
          </a:solidFill>
          <a:ln/>
        </p:spPr>
      </p:sp>
      <p:sp>
        <p:nvSpPr>
          <p:cNvPr id="19" name="Text 17"/>
          <p:cNvSpPr/>
          <p:nvPr/>
        </p:nvSpPr>
        <p:spPr>
          <a:xfrm>
            <a:off x="914400" y="4901184"/>
            <a:ext cx="10332720" cy="384048"/>
          </a:xfrm>
          <a:prstGeom prst="rect">
            <a:avLst/>
          </a:prstGeom>
          <a:noFill/>
          <a:ln/>
        </p:spPr>
        <p:txBody>
          <a:bodyPr wrap="square" rtlCol="0" anchor="ctr"/>
          <a:lstStyle/>
          <a:p>
            <a:pPr indent="0" marL="0">
              <a:buNone/>
            </a:pPr>
            <a:r>
              <a:rPr lang="en-US" sz="1250" dirty="0">
                <a:solidFill>
                  <a:srgbClr val="42525C"/>
                </a:solidFill>
                <a:latin typeface="Calibri" pitchFamily="34" charset="0"/>
                <a:ea typeface="Calibri" pitchFamily="34" charset="-122"/>
                <a:cs typeface="Calibri" pitchFamily="34" charset="-120"/>
              </a:rPr>
              <a:t>Image sizes ranging from 256×256 up to 1080×1080 pixels</a:t>
            </a:r>
            <a:endParaRPr lang="en-US" sz="1250" dirty="0"/>
          </a:p>
        </p:txBody>
      </p:sp>
      <p:sp>
        <p:nvSpPr>
          <p:cNvPr id="20" name="Shape 18"/>
          <p:cNvSpPr/>
          <p:nvPr/>
        </p:nvSpPr>
        <p:spPr>
          <a:xfrm>
            <a:off x="640080" y="5468112"/>
            <a:ext cx="109728" cy="109728"/>
          </a:xfrm>
          <a:prstGeom prst="ellipse">
            <a:avLst/>
          </a:prstGeom>
          <a:solidFill>
            <a:srgbClr val="F2775E"/>
          </a:solidFill>
          <a:ln/>
        </p:spPr>
      </p:sp>
      <p:sp>
        <p:nvSpPr>
          <p:cNvPr id="21" name="Text 19"/>
          <p:cNvSpPr/>
          <p:nvPr/>
        </p:nvSpPr>
        <p:spPr>
          <a:xfrm>
            <a:off x="914400" y="5285232"/>
            <a:ext cx="10332720" cy="384048"/>
          </a:xfrm>
          <a:prstGeom prst="rect">
            <a:avLst/>
          </a:prstGeom>
          <a:noFill/>
          <a:ln/>
        </p:spPr>
        <p:txBody>
          <a:bodyPr wrap="square" rtlCol="0" anchor="ctr"/>
          <a:lstStyle/>
          <a:p>
            <a:pPr indent="0" marL="0">
              <a:buNone/>
            </a:pPr>
            <a:r>
              <a:rPr lang="en-US" sz="1250" dirty="0">
                <a:solidFill>
                  <a:srgbClr val="42525C"/>
                </a:solidFill>
                <a:latin typeface="Calibri" pitchFamily="34" charset="0"/>
                <a:ea typeface="Calibri" pitchFamily="34" charset="-122"/>
                <a:cs typeface="Calibri" pitchFamily="34" charset="-120"/>
              </a:rPr>
              <a:t>Pixel-level instance masks, with each nucleus annotated separately</a:t>
            </a:r>
            <a:endParaRPr lang="en-US" sz="1250" dirty="0"/>
          </a:p>
        </p:txBody>
      </p:sp>
      <p:sp>
        <p:nvSpPr>
          <p:cNvPr id="22" name="Shape 20"/>
          <p:cNvSpPr/>
          <p:nvPr/>
        </p:nvSpPr>
        <p:spPr>
          <a:xfrm>
            <a:off x="640080" y="5852160"/>
            <a:ext cx="109728" cy="109728"/>
          </a:xfrm>
          <a:prstGeom prst="ellipse">
            <a:avLst/>
          </a:prstGeom>
          <a:solidFill>
            <a:srgbClr val="F2775E"/>
          </a:solidFill>
          <a:ln/>
        </p:spPr>
      </p:sp>
      <p:sp>
        <p:nvSpPr>
          <p:cNvPr id="23" name="Text 21"/>
          <p:cNvSpPr/>
          <p:nvPr/>
        </p:nvSpPr>
        <p:spPr>
          <a:xfrm>
            <a:off x="914400" y="5669280"/>
            <a:ext cx="10332720" cy="384048"/>
          </a:xfrm>
          <a:prstGeom prst="rect">
            <a:avLst/>
          </a:prstGeom>
          <a:noFill/>
          <a:ln/>
        </p:spPr>
        <p:txBody>
          <a:bodyPr wrap="square" rtlCol="0" anchor="ctr"/>
          <a:lstStyle/>
          <a:p>
            <a:pPr indent="0" marL="0">
              <a:buNone/>
            </a:pPr>
            <a:r>
              <a:rPr lang="en-US" sz="1250" dirty="0">
                <a:solidFill>
                  <a:srgbClr val="42525C"/>
                </a:solidFill>
                <a:latin typeface="Calibri" pitchFamily="34" charset="0"/>
                <a:ea typeface="Calibri" pitchFamily="34" charset="-122"/>
                <a:cs typeface="Calibri" pitchFamily="34" charset="-120"/>
              </a:rPr>
              <a:t>All images resized to 512×512 with padding, to match YOLO input requirements</a:t>
            </a:r>
            <a:endParaRPr lang="en-US" sz="1250" dirty="0"/>
          </a:p>
        </p:txBody>
      </p:sp>
      <p:sp>
        <p:nvSpPr>
          <p:cNvPr id="24" name="Text 22"/>
          <p:cNvSpPr/>
          <p:nvPr/>
        </p:nvSpPr>
        <p:spPr>
          <a:xfrm>
            <a:off x="457200" y="6528816"/>
            <a:ext cx="8229600" cy="274320"/>
          </a:xfrm>
          <a:prstGeom prst="rect">
            <a:avLst/>
          </a:prstGeom>
          <a:noFill/>
          <a:ln/>
        </p:spPr>
        <p:txBody>
          <a:bodyPr wrap="square" rtlCol="0" anchor="ctr"/>
          <a:lstStyle/>
          <a:p>
            <a:pPr algn="l" indent="0" marL="0">
              <a:buNone/>
            </a:pPr>
            <a:r>
              <a:rPr lang="en-US" sz="900" dirty="0">
                <a:solidFill>
                  <a:srgbClr val="42525C"/>
                </a:solidFill>
                <a:latin typeface="Calibri" pitchFamily="34" charset="0"/>
                <a:ea typeface="Calibri" pitchFamily="34" charset="-122"/>
                <a:cs typeface="Calibri" pitchFamily="34" charset="-120"/>
              </a:rPr>
              <a:t>ICRIRET 2025  |  Nucleus Segmentation on DSB2018</a:t>
            </a:r>
            <a:endParaRPr lang="en-US" sz="900" dirty="0"/>
          </a:p>
        </p:txBody>
      </p:sp>
      <p:sp>
        <p:nvSpPr>
          <p:cNvPr id="25" name="Text 23"/>
          <p:cNvSpPr/>
          <p:nvPr/>
        </p:nvSpPr>
        <p:spPr>
          <a:xfrm>
            <a:off x="11338560" y="6528816"/>
            <a:ext cx="457200" cy="274320"/>
          </a:xfrm>
          <a:prstGeom prst="rect">
            <a:avLst/>
          </a:prstGeom>
          <a:noFill/>
          <a:ln/>
        </p:spPr>
        <p:txBody>
          <a:bodyPr wrap="square" rtlCol="0" anchor="ctr"/>
          <a:lstStyle/>
          <a:p>
            <a:pPr algn="r" indent="0" marL="0">
              <a:buNone/>
            </a:pPr>
            <a:r>
              <a:rPr lang="en-US" sz="900" dirty="0">
                <a:solidFill>
                  <a:srgbClr val="42525C"/>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0515600" cy="640080"/>
          </a:xfrm>
          <a:prstGeom prst="rect">
            <a:avLst/>
          </a:prstGeom>
          <a:noFill/>
          <a:ln/>
        </p:spPr>
        <p:txBody>
          <a:bodyPr wrap="square" rtlCol="0" anchor="ctr"/>
          <a:lstStyle/>
          <a:p>
            <a:pPr algn="l" indent="0" marL="0">
              <a:buNone/>
            </a:pPr>
            <a:r>
              <a:rPr lang="en-US" sz="3000" b="1" dirty="0">
                <a:solidFill>
                  <a:srgbClr val="0D2A4A"/>
                </a:solidFill>
                <a:latin typeface="Cambria" pitchFamily="34" charset="0"/>
                <a:ea typeface="Cambria" pitchFamily="34" charset="-122"/>
                <a:cs typeface="Cambria" pitchFamily="34" charset="-120"/>
              </a:rPr>
              <a:t>Method: Two Competing Architectures</a:t>
            </a:r>
            <a:endParaRPr lang="en-US" sz="3000" dirty="0"/>
          </a:p>
        </p:txBody>
      </p:sp>
      <p:sp>
        <p:nvSpPr>
          <p:cNvPr id="3" name="Text 1"/>
          <p:cNvSpPr/>
          <p:nvPr/>
        </p:nvSpPr>
        <p:spPr>
          <a:xfrm>
            <a:off x="548640" y="960120"/>
            <a:ext cx="10515600" cy="365760"/>
          </a:xfrm>
          <a:prstGeom prst="rect">
            <a:avLst/>
          </a:prstGeom>
          <a:noFill/>
          <a:ln/>
        </p:spPr>
        <p:txBody>
          <a:bodyPr wrap="square" rtlCol="0" anchor="ctr"/>
          <a:lstStyle/>
          <a:p>
            <a:pPr algn="l" indent="0" marL="0">
              <a:buNone/>
            </a:pPr>
            <a:r>
              <a:rPr lang="en-US" sz="1400" i="1" dirty="0">
                <a:solidFill>
                  <a:srgbClr val="1C7293"/>
                </a:solidFill>
                <a:latin typeface="Calibri" pitchFamily="34" charset="0"/>
                <a:ea typeface="Calibri" pitchFamily="34" charset="-122"/>
                <a:cs typeface="Calibri" pitchFamily="34" charset="-120"/>
              </a:rPr>
              <a:t>Both models are pretrained on COCO and evaluated under identical conditions</a:t>
            </a:r>
            <a:endParaRPr lang="en-US" sz="1400" dirty="0"/>
          </a:p>
        </p:txBody>
      </p:sp>
      <p:sp>
        <p:nvSpPr>
          <p:cNvPr id="4" name="Shape 2"/>
          <p:cNvSpPr/>
          <p:nvPr/>
        </p:nvSpPr>
        <p:spPr>
          <a:xfrm>
            <a:off x="548640" y="1691640"/>
            <a:ext cx="5257800" cy="4297680"/>
          </a:xfrm>
          <a:prstGeom prst="roundRect">
            <a:avLst>
              <a:gd name="adj" fmla="val 1702"/>
            </a:avLst>
          </a:prstGeom>
          <a:solidFill>
            <a:srgbClr val="F5F9FA"/>
          </a:solidFill>
          <a:ln w="19050">
            <a:solidFill>
              <a:srgbClr val="065A82"/>
            </a:solidFill>
            <a:prstDash val="solid"/>
          </a:ln>
        </p:spPr>
      </p:sp>
      <p:sp>
        <p:nvSpPr>
          <p:cNvPr id="5" name="Shape 3"/>
          <p:cNvSpPr/>
          <p:nvPr/>
        </p:nvSpPr>
        <p:spPr>
          <a:xfrm>
            <a:off x="548640" y="1691640"/>
            <a:ext cx="5257800" cy="548640"/>
          </a:xfrm>
          <a:prstGeom prst="rect">
            <a:avLst/>
          </a:prstGeom>
          <a:solidFill>
            <a:srgbClr val="065A82"/>
          </a:solidFill>
          <a:ln/>
        </p:spPr>
      </p:sp>
      <p:sp>
        <p:nvSpPr>
          <p:cNvPr id="6" name="Text 4"/>
          <p:cNvSpPr/>
          <p:nvPr/>
        </p:nvSpPr>
        <p:spPr>
          <a:xfrm>
            <a:off x="548640" y="1691640"/>
            <a:ext cx="5257800" cy="548640"/>
          </a:xfrm>
          <a:prstGeom prst="rect">
            <a:avLst/>
          </a:prstGeom>
          <a:noFill/>
          <a:ln/>
        </p:spPr>
        <p:txBody>
          <a:bodyPr wrap="square"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YOLOv11-seg</a:t>
            </a:r>
            <a:endParaRPr lang="en-US" sz="1800" dirty="0"/>
          </a:p>
        </p:txBody>
      </p:sp>
      <p:sp>
        <p:nvSpPr>
          <p:cNvPr id="7" name="Shape 5"/>
          <p:cNvSpPr/>
          <p:nvPr/>
        </p:nvSpPr>
        <p:spPr>
          <a:xfrm>
            <a:off x="822960" y="2523744"/>
            <a:ext cx="91440" cy="91440"/>
          </a:xfrm>
          <a:prstGeom prst="ellipse">
            <a:avLst/>
          </a:prstGeom>
          <a:solidFill>
            <a:srgbClr val="065A82"/>
          </a:solidFill>
          <a:ln/>
        </p:spPr>
      </p:sp>
      <p:sp>
        <p:nvSpPr>
          <p:cNvPr id="8" name="Text 6"/>
          <p:cNvSpPr/>
          <p:nvPr/>
        </p:nvSpPr>
        <p:spPr>
          <a:xfrm>
            <a:off x="1051560" y="2359152"/>
            <a:ext cx="4480560" cy="502920"/>
          </a:xfrm>
          <a:prstGeom prst="rect">
            <a:avLst/>
          </a:prstGeom>
          <a:noFill/>
          <a:ln/>
        </p:spPr>
        <p:txBody>
          <a:bodyPr wrap="square" rtlCol="0" anchor="ctr"/>
          <a:lstStyle/>
          <a:p>
            <a:pPr indent="0" marL="0">
              <a:lnSpc>
                <a:spcPct val="110000"/>
              </a:lnSpc>
              <a:buNone/>
            </a:pPr>
            <a:r>
              <a:rPr lang="en-US" sz="1250" dirty="0">
                <a:solidFill>
                  <a:srgbClr val="42525C"/>
                </a:solidFill>
                <a:latin typeface="Calibri" pitchFamily="34" charset="0"/>
                <a:ea typeface="Calibri" pitchFamily="34" charset="-122"/>
                <a:cs typeface="Calibri" pitchFamily="34" charset="-120"/>
              </a:rPr>
              <a:t>CSPNet-based backbone</a:t>
            </a:r>
            <a:endParaRPr lang="en-US" sz="1250" dirty="0"/>
          </a:p>
        </p:txBody>
      </p:sp>
      <p:sp>
        <p:nvSpPr>
          <p:cNvPr id="9" name="Shape 7"/>
          <p:cNvSpPr/>
          <p:nvPr/>
        </p:nvSpPr>
        <p:spPr>
          <a:xfrm>
            <a:off x="822960" y="3090672"/>
            <a:ext cx="91440" cy="91440"/>
          </a:xfrm>
          <a:prstGeom prst="ellipse">
            <a:avLst/>
          </a:prstGeom>
          <a:solidFill>
            <a:srgbClr val="065A82"/>
          </a:solidFill>
          <a:ln/>
        </p:spPr>
      </p:sp>
      <p:sp>
        <p:nvSpPr>
          <p:cNvPr id="10" name="Text 8"/>
          <p:cNvSpPr/>
          <p:nvPr/>
        </p:nvSpPr>
        <p:spPr>
          <a:xfrm>
            <a:off x="1051560" y="2926080"/>
            <a:ext cx="4480560" cy="502920"/>
          </a:xfrm>
          <a:prstGeom prst="rect">
            <a:avLst/>
          </a:prstGeom>
          <a:noFill/>
          <a:ln/>
        </p:spPr>
        <p:txBody>
          <a:bodyPr wrap="square" rtlCol="0" anchor="ctr"/>
          <a:lstStyle/>
          <a:p>
            <a:pPr indent="0" marL="0">
              <a:lnSpc>
                <a:spcPct val="110000"/>
              </a:lnSpc>
              <a:buNone/>
            </a:pPr>
            <a:r>
              <a:rPr lang="en-US" sz="1250" dirty="0">
                <a:solidFill>
                  <a:srgbClr val="42525C"/>
                </a:solidFill>
                <a:latin typeface="Calibri" pitchFamily="34" charset="0"/>
                <a:ea typeface="Calibri" pitchFamily="34" charset="-122"/>
                <a:cs typeface="Calibri" pitchFamily="34" charset="-120"/>
              </a:rPr>
              <a:t>Path Aggregation Network (PAN) neck</a:t>
            </a:r>
            <a:endParaRPr lang="en-US" sz="1250" dirty="0"/>
          </a:p>
        </p:txBody>
      </p:sp>
      <p:sp>
        <p:nvSpPr>
          <p:cNvPr id="11" name="Shape 9"/>
          <p:cNvSpPr/>
          <p:nvPr/>
        </p:nvSpPr>
        <p:spPr>
          <a:xfrm>
            <a:off x="822960" y="3657600"/>
            <a:ext cx="91440" cy="91440"/>
          </a:xfrm>
          <a:prstGeom prst="ellipse">
            <a:avLst/>
          </a:prstGeom>
          <a:solidFill>
            <a:srgbClr val="065A82"/>
          </a:solidFill>
          <a:ln/>
        </p:spPr>
      </p:sp>
      <p:sp>
        <p:nvSpPr>
          <p:cNvPr id="12" name="Text 10"/>
          <p:cNvSpPr/>
          <p:nvPr/>
        </p:nvSpPr>
        <p:spPr>
          <a:xfrm>
            <a:off x="1051560" y="3493008"/>
            <a:ext cx="4480560" cy="502920"/>
          </a:xfrm>
          <a:prstGeom prst="rect">
            <a:avLst/>
          </a:prstGeom>
          <a:noFill/>
          <a:ln/>
        </p:spPr>
        <p:txBody>
          <a:bodyPr wrap="square" rtlCol="0" anchor="ctr"/>
          <a:lstStyle/>
          <a:p>
            <a:pPr indent="0" marL="0">
              <a:lnSpc>
                <a:spcPct val="110000"/>
              </a:lnSpc>
              <a:buNone/>
            </a:pPr>
            <a:r>
              <a:rPr lang="en-US" sz="1250" dirty="0">
                <a:solidFill>
                  <a:srgbClr val="42525C"/>
                </a:solidFill>
                <a:latin typeface="Calibri" pitchFamily="34" charset="0"/>
                <a:ea typeface="Calibri" pitchFamily="34" charset="-122"/>
                <a:cs typeface="Calibri" pitchFamily="34" charset="-120"/>
              </a:rPr>
              <a:t>Anchor-free detection head, extended for mask prediction</a:t>
            </a:r>
            <a:endParaRPr lang="en-US" sz="1250" dirty="0"/>
          </a:p>
        </p:txBody>
      </p:sp>
      <p:sp>
        <p:nvSpPr>
          <p:cNvPr id="13" name="Shape 11"/>
          <p:cNvSpPr/>
          <p:nvPr/>
        </p:nvSpPr>
        <p:spPr>
          <a:xfrm>
            <a:off x="822960" y="4224528"/>
            <a:ext cx="91440" cy="91440"/>
          </a:xfrm>
          <a:prstGeom prst="ellipse">
            <a:avLst/>
          </a:prstGeom>
          <a:solidFill>
            <a:srgbClr val="065A82"/>
          </a:solidFill>
          <a:ln/>
        </p:spPr>
      </p:sp>
      <p:sp>
        <p:nvSpPr>
          <p:cNvPr id="14" name="Text 12"/>
          <p:cNvSpPr/>
          <p:nvPr/>
        </p:nvSpPr>
        <p:spPr>
          <a:xfrm>
            <a:off x="1051560" y="4059936"/>
            <a:ext cx="4480560" cy="502920"/>
          </a:xfrm>
          <a:prstGeom prst="rect">
            <a:avLst/>
          </a:prstGeom>
          <a:noFill/>
          <a:ln/>
        </p:spPr>
        <p:txBody>
          <a:bodyPr wrap="square" rtlCol="0" anchor="ctr"/>
          <a:lstStyle/>
          <a:p>
            <a:pPr indent="0" marL="0">
              <a:lnSpc>
                <a:spcPct val="110000"/>
              </a:lnSpc>
              <a:buNone/>
            </a:pPr>
            <a:r>
              <a:rPr lang="en-US" sz="1250" dirty="0">
                <a:solidFill>
                  <a:srgbClr val="42525C"/>
                </a:solidFill>
                <a:latin typeface="Calibri" pitchFamily="34" charset="0"/>
                <a:ea typeface="Calibri" pitchFamily="34" charset="-122"/>
                <a:cs typeface="Calibri" pitchFamily="34" charset="-120"/>
              </a:rPr>
              <a:t>Mature, extensively validated design</a:t>
            </a:r>
            <a:endParaRPr lang="en-US" sz="1250" dirty="0"/>
          </a:p>
        </p:txBody>
      </p:sp>
      <p:sp>
        <p:nvSpPr>
          <p:cNvPr id="15" name="Shape 13"/>
          <p:cNvSpPr/>
          <p:nvPr/>
        </p:nvSpPr>
        <p:spPr>
          <a:xfrm>
            <a:off x="822960" y="4791456"/>
            <a:ext cx="91440" cy="91440"/>
          </a:xfrm>
          <a:prstGeom prst="ellipse">
            <a:avLst/>
          </a:prstGeom>
          <a:solidFill>
            <a:srgbClr val="065A82"/>
          </a:solidFill>
          <a:ln/>
        </p:spPr>
      </p:sp>
      <p:sp>
        <p:nvSpPr>
          <p:cNvPr id="16" name="Text 14"/>
          <p:cNvSpPr/>
          <p:nvPr/>
        </p:nvSpPr>
        <p:spPr>
          <a:xfrm>
            <a:off x="1051560" y="4626864"/>
            <a:ext cx="4480560" cy="502920"/>
          </a:xfrm>
          <a:prstGeom prst="rect">
            <a:avLst/>
          </a:prstGeom>
          <a:noFill/>
          <a:ln/>
        </p:spPr>
        <p:txBody>
          <a:bodyPr wrap="square" rtlCol="0" anchor="ctr"/>
          <a:lstStyle/>
          <a:p>
            <a:pPr indent="0" marL="0">
              <a:lnSpc>
                <a:spcPct val="110000"/>
              </a:lnSpc>
              <a:buNone/>
            </a:pPr>
            <a:r>
              <a:rPr lang="en-US" sz="1250" dirty="0">
                <a:solidFill>
                  <a:srgbClr val="42525C"/>
                </a:solidFill>
                <a:latin typeface="Calibri" pitchFamily="34" charset="0"/>
                <a:ea typeface="Calibri" pitchFamily="34" charset="-122"/>
                <a:cs typeface="Calibri" pitchFamily="34" charset="-120"/>
              </a:rPr>
              <a:t>Small variant (YOLOv11s-seg) selected for its speed/accuracy trade-off</a:t>
            </a:r>
            <a:endParaRPr lang="en-US" sz="1250" dirty="0"/>
          </a:p>
        </p:txBody>
      </p:sp>
      <p:sp>
        <p:nvSpPr>
          <p:cNvPr id="17" name="Shape 15"/>
          <p:cNvSpPr/>
          <p:nvPr/>
        </p:nvSpPr>
        <p:spPr>
          <a:xfrm>
            <a:off x="822960" y="5358384"/>
            <a:ext cx="91440" cy="91440"/>
          </a:xfrm>
          <a:prstGeom prst="ellipse">
            <a:avLst/>
          </a:prstGeom>
          <a:solidFill>
            <a:srgbClr val="065A82"/>
          </a:solidFill>
          <a:ln/>
        </p:spPr>
      </p:sp>
      <p:sp>
        <p:nvSpPr>
          <p:cNvPr id="18" name="Text 16"/>
          <p:cNvSpPr/>
          <p:nvPr/>
        </p:nvSpPr>
        <p:spPr>
          <a:xfrm>
            <a:off x="1051560" y="5193792"/>
            <a:ext cx="4480560" cy="502920"/>
          </a:xfrm>
          <a:prstGeom prst="rect">
            <a:avLst/>
          </a:prstGeom>
          <a:noFill/>
          <a:ln/>
        </p:spPr>
        <p:txBody>
          <a:bodyPr wrap="square" rtlCol="0" anchor="ctr"/>
          <a:lstStyle/>
          <a:p>
            <a:pPr indent="0" marL="0">
              <a:lnSpc>
                <a:spcPct val="110000"/>
              </a:lnSpc>
              <a:buNone/>
            </a:pPr>
            <a:r>
              <a:rPr lang="en-US" sz="1250" dirty="0">
                <a:solidFill>
                  <a:srgbClr val="42525C"/>
                </a:solidFill>
                <a:latin typeface="Calibri" pitchFamily="34" charset="0"/>
                <a:ea typeface="Calibri" pitchFamily="34" charset="-122"/>
                <a:cs typeface="Calibri" pitchFamily="34" charset="-120"/>
              </a:rPr>
              <a:t>Stable transfer learning from COCO pretraining</a:t>
            </a:r>
            <a:endParaRPr lang="en-US" sz="1250" dirty="0"/>
          </a:p>
        </p:txBody>
      </p:sp>
      <p:sp>
        <p:nvSpPr>
          <p:cNvPr id="19" name="Shape 17"/>
          <p:cNvSpPr/>
          <p:nvPr/>
        </p:nvSpPr>
        <p:spPr>
          <a:xfrm>
            <a:off x="6172200" y="1691640"/>
            <a:ext cx="5257800" cy="4297680"/>
          </a:xfrm>
          <a:prstGeom prst="roundRect">
            <a:avLst>
              <a:gd name="adj" fmla="val 1702"/>
            </a:avLst>
          </a:prstGeom>
          <a:solidFill>
            <a:srgbClr val="F5F9FA"/>
          </a:solidFill>
          <a:ln w="19050">
            <a:solidFill>
              <a:srgbClr val="F2775E"/>
            </a:solidFill>
            <a:prstDash val="solid"/>
          </a:ln>
        </p:spPr>
      </p:sp>
      <p:sp>
        <p:nvSpPr>
          <p:cNvPr id="20" name="Shape 18"/>
          <p:cNvSpPr/>
          <p:nvPr/>
        </p:nvSpPr>
        <p:spPr>
          <a:xfrm>
            <a:off x="6172200" y="1691640"/>
            <a:ext cx="5257800" cy="548640"/>
          </a:xfrm>
          <a:prstGeom prst="rect">
            <a:avLst/>
          </a:prstGeom>
          <a:solidFill>
            <a:srgbClr val="F2775E"/>
          </a:solidFill>
          <a:ln/>
        </p:spPr>
      </p:sp>
      <p:sp>
        <p:nvSpPr>
          <p:cNvPr id="21" name="Text 19"/>
          <p:cNvSpPr/>
          <p:nvPr/>
        </p:nvSpPr>
        <p:spPr>
          <a:xfrm>
            <a:off x="6172200" y="1691640"/>
            <a:ext cx="5257800" cy="548640"/>
          </a:xfrm>
          <a:prstGeom prst="rect">
            <a:avLst/>
          </a:prstGeom>
          <a:noFill/>
          <a:ln/>
        </p:spPr>
        <p:txBody>
          <a:bodyPr wrap="square"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YOLOv12-seg</a:t>
            </a:r>
            <a:endParaRPr lang="en-US" sz="1800" dirty="0"/>
          </a:p>
        </p:txBody>
      </p:sp>
      <p:sp>
        <p:nvSpPr>
          <p:cNvPr id="22" name="Shape 20"/>
          <p:cNvSpPr/>
          <p:nvPr/>
        </p:nvSpPr>
        <p:spPr>
          <a:xfrm>
            <a:off x="6446520" y="2523744"/>
            <a:ext cx="91440" cy="91440"/>
          </a:xfrm>
          <a:prstGeom prst="ellipse">
            <a:avLst/>
          </a:prstGeom>
          <a:solidFill>
            <a:srgbClr val="F2775E"/>
          </a:solidFill>
          <a:ln/>
        </p:spPr>
      </p:sp>
      <p:sp>
        <p:nvSpPr>
          <p:cNvPr id="23" name="Text 21"/>
          <p:cNvSpPr/>
          <p:nvPr/>
        </p:nvSpPr>
        <p:spPr>
          <a:xfrm>
            <a:off x="6675120" y="2359152"/>
            <a:ext cx="4480560" cy="502920"/>
          </a:xfrm>
          <a:prstGeom prst="rect">
            <a:avLst/>
          </a:prstGeom>
          <a:noFill/>
          <a:ln/>
        </p:spPr>
        <p:txBody>
          <a:bodyPr wrap="square" rtlCol="0" anchor="ctr"/>
          <a:lstStyle/>
          <a:p>
            <a:pPr indent="0" marL="0">
              <a:lnSpc>
                <a:spcPct val="110000"/>
              </a:lnSpc>
              <a:buNone/>
            </a:pPr>
            <a:r>
              <a:rPr lang="en-US" sz="1250" dirty="0">
                <a:solidFill>
                  <a:srgbClr val="42525C"/>
                </a:solidFill>
                <a:latin typeface="Calibri" pitchFamily="34" charset="0"/>
                <a:ea typeface="Calibri" pitchFamily="34" charset="-122"/>
                <a:cs typeface="Calibri" pitchFamily="34" charset="-120"/>
              </a:rPr>
              <a:t>Lightweight backbone with FlashAttention</a:t>
            </a:r>
            <a:endParaRPr lang="en-US" sz="1250" dirty="0"/>
          </a:p>
        </p:txBody>
      </p:sp>
      <p:sp>
        <p:nvSpPr>
          <p:cNvPr id="24" name="Shape 22"/>
          <p:cNvSpPr/>
          <p:nvPr/>
        </p:nvSpPr>
        <p:spPr>
          <a:xfrm>
            <a:off x="6446520" y="3090672"/>
            <a:ext cx="91440" cy="91440"/>
          </a:xfrm>
          <a:prstGeom prst="ellipse">
            <a:avLst/>
          </a:prstGeom>
          <a:solidFill>
            <a:srgbClr val="F2775E"/>
          </a:solidFill>
          <a:ln/>
        </p:spPr>
      </p:sp>
      <p:sp>
        <p:nvSpPr>
          <p:cNvPr id="25" name="Text 23"/>
          <p:cNvSpPr/>
          <p:nvPr/>
        </p:nvSpPr>
        <p:spPr>
          <a:xfrm>
            <a:off x="6675120" y="2926080"/>
            <a:ext cx="4480560" cy="502920"/>
          </a:xfrm>
          <a:prstGeom prst="rect">
            <a:avLst/>
          </a:prstGeom>
          <a:noFill/>
          <a:ln/>
        </p:spPr>
        <p:txBody>
          <a:bodyPr wrap="square" rtlCol="0" anchor="ctr"/>
          <a:lstStyle/>
          <a:p>
            <a:pPr indent="0" marL="0">
              <a:lnSpc>
                <a:spcPct val="110000"/>
              </a:lnSpc>
              <a:buNone/>
            </a:pPr>
            <a:r>
              <a:rPr lang="en-US" sz="1250" dirty="0">
                <a:solidFill>
                  <a:srgbClr val="42525C"/>
                </a:solidFill>
                <a:latin typeface="Calibri" pitchFamily="34" charset="0"/>
                <a:ea typeface="Calibri" pitchFamily="34" charset="-122"/>
                <a:cs typeface="Calibri" pitchFamily="34" charset="-120"/>
              </a:rPr>
              <a:t>Redesigned segmentation head for mask refinement</a:t>
            </a:r>
            <a:endParaRPr lang="en-US" sz="1250" dirty="0"/>
          </a:p>
        </p:txBody>
      </p:sp>
      <p:sp>
        <p:nvSpPr>
          <p:cNvPr id="26" name="Shape 24"/>
          <p:cNvSpPr/>
          <p:nvPr/>
        </p:nvSpPr>
        <p:spPr>
          <a:xfrm>
            <a:off x="6446520" y="3657600"/>
            <a:ext cx="91440" cy="91440"/>
          </a:xfrm>
          <a:prstGeom prst="ellipse">
            <a:avLst/>
          </a:prstGeom>
          <a:solidFill>
            <a:srgbClr val="F2775E"/>
          </a:solidFill>
          <a:ln/>
        </p:spPr>
      </p:sp>
      <p:sp>
        <p:nvSpPr>
          <p:cNvPr id="27" name="Text 25"/>
          <p:cNvSpPr/>
          <p:nvPr/>
        </p:nvSpPr>
        <p:spPr>
          <a:xfrm>
            <a:off x="6675120" y="3493008"/>
            <a:ext cx="4480560" cy="502920"/>
          </a:xfrm>
          <a:prstGeom prst="rect">
            <a:avLst/>
          </a:prstGeom>
          <a:noFill/>
          <a:ln/>
        </p:spPr>
        <p:txBody>
          <a:bodyPr wrap="square" rtlCol="0" anchor="ctr"/>
          <a:lstStyle/>
          <a:p>
            <a:pPr indent="0" marL="0">
              <a:lnSpc>
                <a:spcPct val="110000"/>
              </a:lnSpc>
              <a:buNone/>
            </a:pPr>
            <a:r>
              <a:rPr lang="en-US" sz="1250" dirty="0">
                <a:solidFill>
                  <a:srgbClr val="42525C"/>
                </a:solidFill>
                <a:latin typeface="Calibri" pitchFamily="34" charset="0"/>
                <a:ea typeface="Calibri" pitchFamily="34" charset="-122"/>
                <a:cs typeface="Calibri" pitchFamily="34" charset="-120"/>
              </a:rPr>
              <a:t>Focused on enhanced feature alignment, reduced overhead</a:t>
            </a:r>
            <a:endParaRPr lang="en-US" sz="1250" dirty="0"/>
          </a:p>
        </p:txBody>
      </p:sp>
      <p:sp>
        <p:nvSpPr>
          <p:cNvPr id="28" name="Shape 26"/>
          <p:cNvSpPr/>
          <p:nvPr/>
        </p:nvSpPr>
        <p:spPr>
          <a:xfrm>
            <a:off x="6446520" y="4224528"/>
            <a:ext cx="91440" cy="91440"/>
          </a:xfrm>
          <a:prstGeom prst="ellipse">
            <a:avLst/>
          </a:prstGeom>
          <a:solidFill>
            <a:srgbClr val="F2775E"/>
          </a:solidFill>
          <a:ln/>
        </p:spPr>
      </p:sp>
      <p:sp>
        <p:nvSpPr>
          <p:cNvPr id="29" name="Text 27"/>
          <p:cNvSpPr/>
          <p:nvPr/>
        </p:nvSpPr>
        <p:spPr>
          <a:xfrm>
            <a:off x="6675120" y="4059936"/>
            <a:ext cx="4480560" cy="502920"/>
          </a:xfrm>
          <a:prstGeom prst="rect">
            <a:avLst/>
          </a:prstGeom>
          <a:noFill/>
          <a:ln/>
        </p:spPr>
        <p:txBody>
          <a:bodyPr wrap="square" rtlCol="0" anchor="ctr"/>
          <a:lstStyle/>
          <a:p>
            <a:pPr indent="0" marL="0">
              <a:lnSpc>
                <a:spcPct val="110000"/>
              </a:lnSpc>
              <a:buNone/>
            </a:pPr>
            <a:r>
              <a:rPr lang="en-US" sz="1250" dirty="0">
                <a:solidFill>
                  <a:srgbClr val="42525C"/>
                </a:solidFill>
                <a:latin typeface="Calibri" pitchFamily="34" charset="0"/>
                <a:ea typeface="Calibri" pitchFamily="34" charset="-122"/>
                <a:cs typeface="Calibri" pitchFamily="34" charset="-120"/>
              </a:rPr>
              <a:t>Newer, attention-centric architecture (2025)</a:t>
            </a:r>
            <a:endParaRPr lang="en-US" sz="1250" dirty="0"/>
          </a:p>
        </p:txBody>
      </p:sp>
      <p:sp>
        <p:nvSpPr>
          <p:cNvPr id="30" name="Shape 28"/>
          <p:cNvSpPr/>
          <p:nvPr/>
        </p:nvSpPr>
        <p:spPr>
          <a:xfrm>
            <a:off x="6446520" y="4791456"/>
            <a:ext cx="91440" cy="91440"/>
          </a:xfrm>
          <a:prstGeom prst="ellipse">
            <a:avLst/>
          </a:prstGeom>
          <a:solidFill>
            <a:srgbClr val="F2775E"/>
          </a:solidFill>
          <a:ln/>
        </p:spPr>
      </p:sp>
      <p:sp>
        <p:nvSpPr>
          <p:cNvPr id="31" name="Text 29"/>
          <p:cNvSpPr/>
          <p:nvPr/>
        </p:nvSpPr>
        <p:spPr>
          <a:xfrm>
            <a:off x="6675120" y="4626864"/>
            <a:ext cx="4480560" cy="502920"/>
          </a:xfrm>
          <a:prstGeom prst="rect">
            <a:avLst/>
          </a:prstGeom>
          <a:noFill/>
          <a:ln/>
        </p:spPr>
        <p:txBody>
          <a:bodyPr wrap="square" rtlCol="0" anchor="ctr"/>
          <a:lstStyle/>
          <a:p>
            <a:pPr indent="0" marL="0">
              <a:lnSpc>
                <a:spcPct val="110000"/>
              </a:lnSpc>
              <a:buNone/>
            </a:pPr>
            <a:r>
              <a:rPr lang="en-US" sz="1250" dirty="0">
                <a:solidFill>
                  <a:srgbClr val="42525C"/>
                </a:solidFill>
                <a:latin typeface="Calibri" pitchFamily="34" charset="0"/>
                <a:ea typeface="Calibri" pitchFamily="34" charset="-122"/>
                <a:cs typeface="Calibri" pitchFamily="34" charset="-120"/>
              </a:rPr>
              <a:t>Small variant (YOLOv12s-seg) evaluated under identical conditions</a:t>
            </a:r>
            <a:endParaRPr lang="en-US" sz="1250" dirty="0"/>
          </a:p>
        </p:txBody>
      </p:sp>
      <p:sp>
        <p:nvSpPr>
          <p:cNvPr id="32" name="Shape 30"/>
          <p:cNvSpPr/>
          <p:nvPr/>
        </p:nvSpPr>
        <p:spPr>
          <a:xfrm>
            <a:off x="6446520" y="5358384"/>
            <a:ext cx="91440" cy="91440"/>
          </a:xfrm>
          <a:prstGeom prst="ellipse">
            <a:avLst/>
          </a:prstGeom>
          <a:solidFill>
            <a:srgbClr val="F2775E"/>
          </a:solidFill>
          <a:ln/>
        </p:spPr>
      </p:sp>
      <p:sp>
        <p:nvSpPr>
          <p:cNvPr id="33" name="Text 31"/>
          <p:cNvSpPr/>
          <p:nvPr/>
        </p:nvSpPr>
        <p:spPr>
          <a:xfrm>
            <a:off x="6675120" y="5193792"/>
            <a:ext cx="4480560" cy="502920"/>
          </a:xfrm>
          <a:prstGeom prst="rect">
            <a:avLst/>
          </a:prstGeom>
          <a:noFill/>
          <a:ln/>
        </p:spPr>
        <p:txBody>
          <a:bodyPr wrap="square" rtlCol="0" anchor="ctr"/>
          <a:lstStyle/>
          <a:p>
            <a:pPr indent="0" marL="0">
              <a:lnSpc>
                <a:spcPct val="110000"/>
              </a:lnSpc>
              <a:buNone/>
            </a:pPr>
            <a:r>
              <a:rPr lang="en-US" sz="1250" dirty="0">
                <a:solidFill>
                  <a:srgbClr val="42525C"/>
                </a:solidFill>
                <a:latin typeface="Calibri" pitchFamily="34" charset="0"/>
                <a:ea typeface="Calibri" pitchFamily="34" charset="-122"/>
                <a:cs typeface="Calibri" pitchFamily="34" charset="-120"/>
              </a:rPr>
              <a:t>Scratch + COCO-initialized YAML configuration</a:t>
            </a:r>
            <a:endParaRPr lang="en-US" sz="1250" dirty="0"/>
          </a:p>
        </p:txBody>
      </p:sp>
      <p:sp>
        <p:nvSpPr>
          <p:cNvPr id="34" name="Text 32"/>
          <p:cNvSpPr/>
          <p:nvPr/>
        </p:nvSpPr>
        <p:spPr>
          <a:xfrm>
            <a:off x="457200" y="6528816"/>
            <a:ext cx="8229600" cy="274320"/>
          </a:xfrm>
          <a:prstGeom prst="rect">
            <a:avLst/>
          </a:prstGeom>
          <a:noFill/>
          <a:ln/>
        </p:spPr>
        <p:txBody>
          <a:bodyPr wrap="square" rtlCol="0" anchor="ctr"/>
          <a:lstStyle/>
          <a:p>
            <a:pPr algn="l" indent="0" marL="0">
              <a:buNone/>
            </a:pPr>
            <a:r>
              <a:rPr lang="en-US" sz="900" dirty="0">
                <a:solidFill>
                  <a:srgbClr val="42525C"/>
                </a:solidFill>
                <a:latin typeface="Calibri" pitchFamily="34" charset="0"/>
                <a:ea typeface="Calibri" pitchFamily="34" charset="-122"/>
                <a:cs typeface="Calibri" pitchFamily="34" charset="-120"/>
              </a:rPr>
              <a:t>ICRIRET 2025  |  Nucleus Segmentation on DSB2018</a:t>
            </a:r>
            <a:endParaRPr lang="en-US" sz="900" dirty="0"/>
          </a:p>
        </p:txBody>
      </p:sp>
      <p:sp>
        <p:nvSpPr>
          <p:cNvPr id="35" name="Text 33"/>
          <p:cNvSpPr/>
          <p:nvPr/>
        </p:nvSpPr>
        <p:spPr>
          <a:xfrm>
            <a:off x="11338560" y="6528816"/>
            <a:ext cx="457200" cy="274320"/>
          </a:xfrm>
          <a:prstGeom prst="rect">
            <a:avLst/>
          </a:prstGeom>
          <a:noFill/>
          <a:ln/>
        </p:spPr>
        <p:txBody>
          <a:bodyPr wrap="square" rtlCol="0" anchor="ctr"/>
          <a:lstStyle/>
          <a:p>
            <a:pPr algn="r" indent="0" marL="0">
              <a:buNone/>
            </a:pPr>
            <a:r>
              <a:rPr lang="en-US" sz="900" dirty="0">
                <a:solidFill>
                  <a:srgbClr val="42525C"/>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9FA"/>
        </a:solidFill>
      </p:bgPr>
    </p:bg>
    <p:spTree>
      <p:nvGrpSpPr>
        <p:cNvPr id="1" name=""/>
        <p:cNvGrpSpPr/>
        <p:nvPr/>
      </p:nvGrpSpPr>
      <p:grpSpPr>
        <a:xfrm>
          <a:off x="0" y="0"/>
          <a:ext cx="0" cy="0"/>
          <a:chOff x="0" y="0"/>
          <a:chExt cx="0" cy="0"/>
        </a:xfrm>
      </p:grpSpPr>
      <p:sp>
        <p:nvSpPr>
          <p:cNvPr id="2" name="Text 0"/>
          <p:cNvSpPr/>
          <p:nvPr/>
        </p:nvSpPr>
        <p:spPr>
          <a:xfrm>
            <a:off x="548640" y="365760"/>
            <a:ext cx="10515600" cy="640080"/>
          </a:xfrm>
          <a:prstGeom prst="rect">
            <a:avLst/>
          </a:prstGeom>
          <a:noFill/>
          <a:ln/>
        </p:spPr>
        <p:txBody>
          <a:bodyPr wrap="square" rtlCol="0" anchor="ctr"/>
          <a:lstStyle/>
          <a:p>
            <a:pPr algn="l" indent="0" marL="0">
              <a:buNone/>
            </a:pPr>
            <a:r>
              <a:rPr lang="en-US" sz="3000" b="1" dirty="0">
                <a:solidFill>
                  <a:srgbClr val="0D2A4A"/>
                </a:solidFill>
                <a:latin typeface="Cambria" pitchFamily="34" charset="0"/>
                <a:ea typeface="Cambria" pitchFamily="34" charset="-122"/>
                <a:cs typeface="Cambria" pitchFamily="34" charset="-120"/>
              </a:rPr>
              <a:t>Experimental Setup</a:t>
            </a:r>
            <a:endParaRPr lang="en-US" sz="3000" dirty="0"/>
          </a:p>
        </p:txBody>
      </p:sp>
      <p:sp>
        <p:nvSpPr>
          <p:cNvPr id="3" name="Text 1"/>
          <p:cNvSpPr/>
          <p:nvPr/>
        </p:nvSpPr>
        <p:spPr>
          <a:xfrm>
            <a:off x="548640" y="960120"/>
            <a:ext cx="10515600" cy="365760"/>
          </a:xfrm>
          <a:prstGeom prst="rect">
            <a:avLst/>
          </a:prstGeom>
          <a:noFill/>
          <a:ln/>
        </p:spPr>
        <p:txBody>
          <a:bodyPr wrap="square" rtlCol="0" anchor="ctr"/>
          <a:lstStyle/>
          <a:p>
            <a:pPr algn="l" indent="0" marL="0">
              <a:buNone/>
            </a:pPr>
            <a:r>
              <a:rPr lang="en-US" sz="1400" i="1" dirty="0">
                <a:solidFill>
                  <a:srgbClr val="1C7293"/>
                </a:solidFill>
                <a:latin typeface="Calibri" pitchFamily="34" charset="0"/>
                <a:ea typeface="Calibri" pitchFamily="34" charset="-122"/>
                <a:cs typeface="Calibri" pitchFamily="34" charset="-120"/>
              </a:rPr>
              <a:t>Identical training conditions ensure a fair comparison</a:t>
            </a:r>
            <a:endParaRPr lang="en-US" sz="14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6675120" cy="4023360"/>
        </p:xfrm>
        <a:graphic>
          <a:graphicData uri="http://schemas.openxmlformats.org/drawingml/2006/table">
            <a:tbl>
              <a:tblPr/>
              <a:tblGrid>
                <a:gridCol w="3337560"/>
                <a:gridCol w="3337560"/>
              </a:tblGrid>
              <a:tr h="457200">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Parameter</a:t>
                      </a:r>
                      <a:endParaRPr lang="en-US" sz="1250" dirty="0">
                        <a:latin typeface="Calibri" charset="0"/>
                        <a:ea typeface="Calibri" charset="0"/>
                        <a:cs typeface="Calibri" charset="0"/>
                      </a:endParaRPr>
                    </a:p>
                  </a:txBody>
                  <a:tcPr marL="91440" marR="91440" marT="45720" marB="45720" anchor="ctr">
                    <a:lnL w="9525" cap="flat" cmpd="sng" algn="ctr">
                      <a:solidFill>
                        <a:srgbClr val="DCE6E9"/>
                      </a:solidFill>
                      <a:prstDash val="solid"/>
                      <a:round/>
                      <a:headEnd type="none" w="med" len="med"/>
                      <a:tailEnd type="none" w="med" len="med"/>
                    </a:lnL>
                    <a:lnR w="9525" cap="flat" cmpd="sng" algn="ctr">
                      <a:solidFill>
                        <a:srgbClr val="DCE6E9"/>
                      </a:solidFill>
                      <a:prstDash val="solid"/>
                      <a:round/>
                      <a:headEnd type="none" w="med" len="med"/>
                      <a:tailEnd type="none" w="med" len="med"/>
                    </a:lnR>
                    <a:lnT w="9525" cap="flat" cmpd="sng" algn="ctr">
                      <a:solidFill>
                        <a:srgbClr val="DCE6E9"/>
                      </a:solidFill>
                      <a:prstDash val="solid"/>
                      <a:round/>
                      <a:headEnd type="none" w="med" len="med"/>
                      <a:tailEnd type="none" w="med" len="med"/>
                    </a:lnT>
                    <a:lnB w="9525" cap="flat" cmpd="sng" algn="ctr">
                      <a:solidFill>
                        <a:srgbClr val="DCE6E9"/>
                      </a:solidFill>
                      <a:prstDash val="solid"/>
                      <a:round/>
                      <a:headEnd type="none" w="med" len="med"/>
                      <a:tailEnd type="none" w="med" len="med"/>
                    </a:lnB>
                    <a:solidFill>
                      <a:srgbClr val="065A82"/>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Value</a:t>
                      </a:r>
                      <a:endParaRPr lang="en-US" sz="1250" dirty="0">
                        <a:latin typeface="Calibri" charset="0"/>
                        <a:ea typeface="Calibri" charset="0"/>
                        <a:cs typeface="Calibri" charset="0"/>
                      </a:endParaRPr>
                    </a:p>
                  </a:txBody>
                  <a:tcPr marL="91440" marR="91440" marT="45720" marB="45720" anchor="ctr">
                    <a:lnL w="9525" cap="flat" cmpd="sng" algn="ctr">
                      <a:solidFill>
                        <a:srgbClr val="DCE6E9"/>
                      </a:solidFill>
                      <a:prstDash val="solid"/>
                      <a:round/>
                      <a:headEnd type="none" w="med" len="med"/>
                      <a:tailEnd type="none" w="med" len="med"/>
                    </a:lnL>
                    <a:lnR w="9525" cap="flat" cmpd="sng" algn="ctr">
                      <a:solidFill>
                        <a:srgbClr val="DCE6E9"/>
                      </a:solidFill>
                      <a:prstDash val="solid"/>
                      <a:round/>
                      <a:headEnd type="none" w="med" len="med"/>
                      <a:tailEnd type="none" w="med" len="med"/>
                    </a:lnR>
                    <a:lnT w="9525" cap="flat" cmpd="sng" algn="ctr">
                      <a:solidFill>
                        <a:srgbClr val="DCE6E9"/>
                      </a:solidFill>
                      <a:prstDash val="solid"/>
                      <a:round/>
                      <a:headEnd type="none" w="med" len="med"/>
                      <a:tailEnd type="none" w="med" len="med"/>
                    </a:lnT>
                    <a:lnB w="9525" cap="flat" cmpd="sng" algn="ctr">
                      <a:solidFill>
                        <a:srgbClr val="DCE6E9"/>
                      </a:solidFill>
                      <a:prstDash val="solid"/>
                      <a:round/>
                      <a:headEnd type="none" w="med" len="med"/>
                      <a:tailEnd type="none" w="med" len="med"/>
                    </a:lnB>
                    <a:solidFill>
                      <a:srgbClr val="065A82"/>
                    </a:solidFill>
                  </a:tcPr>
                </a:tc>
              </a:tr>
              <a:tr h="457200">
                <a:tc>
                  <a:txBody>
                    <a:bodyPr/>
                    <a:lstStyle/>
                    <a:p>
                      <a:pPr indent="0" marL="0">
                        <a:buNone/>
                      </a:pPr>
                      <a:r>
                        <a:rPr lang="en-US" sz="1250" dirty="0">
                          <a:solidFill>
                            <a:srgbClr val="42525C"/>
                          </a:solidFill>
                          <a:latin typeface="Calibri" pitchFamily="34" charset="0"/>
                          <a:ea typeface="Calibri" pitchFamily="34" charset="-122"/>
                          <a:cs typeface="Calibri" pitchFamily="34" charset="-120"/>
                        </a:rPr>
                        <a:t>Optimizer</a:t>
                      </a:r>
                      <a:endParaRPr lang="en-US" sz="1250" dirty="0">
                        <a:latin typeface="Calibri" charset="0"/>
                        <a:ea typeface="Calibri" charset="0"/>
                        <a:cs typeface="Calibri" charset="0"/>
                      </a:endParaRPr>
                    </a:p>
                  </a:txBody>
                  <a:tcPr marL="91440" marR="91440" marT="45720" marB="45720" anchor="ctr">
                    <a:lnL w="9525" cap="flat" cmpd="sng" algn="ctr">
                      <a:solidFill>
                        <a:srgbClr val="DCE6E9"/>
                      </a:solidFill>
                      <a:prstDash val="solid"/>
                      <a:round/>
                      <a:headEnd type="none" w="med" len="med"/>
                      <a:tailEnd type="none" w="med" len="med"/>
                    </a:lnL>
                    <a:lnR w="9525" cap="flat" cmpd="sng" algn="ctr">
                      <a:solidFill>
                        <a:srgbClr val="DCE6E9"/>
                      </a:solidFill>
                      <a:prstDash val="solid"/>
                      <a:round/>
                      <a:headEnd type="none" w="med" len="med"/>
                      <a:tailEnd type="none" w="med" len="med"/>
                    </a:lnR>
                    <a:lnT w="9525" cap="flat" cmpd="sng" algn="ctr">
                      <a:solidFill>
                        <a:srgbClr val="DCE6E9"/>
                      </a:solidFill>
                      <a:prstDash val="solid"/>
                      <a:round/>
                      <a:headEnd type="none" w="med" len="med"/>
                      <a:tailEnd type="none" w="med" len="med"/>
                    </a:lnT>
                    <a:lnB w="9525" cap="flat" cmpd="sng" algn="ctr">
                      <a:solidFill>
                        <a:srgbClr val="DCE6E9"/>
                      </a:solidFill>
                      <a:prstDash val="solid"/>
                      <a:round/>
                      <a:headEnd type="none" w="med" len="med"/>
                      <a:tailEnd type="none" w="med" len="med"/>
                    </a:lnB>
                  </a:tcPr>
                </a:tc>
                <a:tc>
                  <a:txBody>
                    <a:bodyPr/>
                    <a:lstStyle/>
                    <a:p>
                      <a:pPr indent="0" marL="0">
                        <a:buNone/>
                      </a:pPr>
                      <a:r>
                        <a:rPr lang="en-US" sz="1250" dirty="0">
                          <a:solidFill>
                            <a:srgbClr val="42525C"/>
                          </a:solidFill>
                          <a:latin typeface="Calibri" pitchFamily="34" charset="0"/>
                          <a:ea typeface="Calibri" pitchFamily="34" charset="-122"/>
                          <a:cs typeface="Calibri" pitchFamily="34" charset="-120"/>
                        </a:rPr>
                        <a:t>AdamW (learning rate = 0.002)</a:t>
                      </a:r>
                      <a:endParaRPr lang="en-US" sz="1250" dirty="0">
                        <a:latin typeface="Calibri" charset="0"/>
                        <a:ea typeface="Calibri" charset="0"/>
                        <a:cs typeface="Calibri" charset="0"/>
                      </a:endParaRPr>
                    </a:p>
                  </a:txBody>
                  <a:tcPr marL="91440" marR="91440" marT="45720" marB="45720" anchor="ctr">
                    <a:lnL w="9525" cap="flat" cmpd="sng" algn="ctr">
                      <a:solidFill>
                        <a:srgbClr val="DCE6E9"/>
                      </a:solidFill>
                      <a:prstDash val="solid"/>
                      <a:round/>
                      <a:headEnd type="none" w="med" len="med"/>
                      <a:tailEnd type="none" w="med" len="med"/>
                    </a:lnL>
                    <a:lnR w="9525" cap="flat" cmpd="sng" algn="ctr">
                      <a:solidFill>
                        <a:srgbClr val="DCE6E9"/>
                      </a:solidFill>
                      <a:prstDash val="solid"/>
                      <a:round/>
                      <a:headEnd type="none" w="med" len="med"/>
                      <a:tailEnd type="none" w="med" len="med"/>
                    </a:lnR>
                    <a:lnT w="9525" cap="flat" cmpd="sng" algn="ctr">
                      <a:solidFill>
                        <a:srgbClr val="DCE6E9"/>
                      </a:solidFill>
                      <a:prstDash val="solid"/>
                      <a:round/>
                      <a:headEnd type="none" w="med" len="med"/>
                      <a:tailEnd type="none" w="med" len="med"/>
                    </a:lnT>
                    <a:lnB w="9525" cap="flat" cmpd="sng" algn="ctr">
                      <a:solidFill>
                        <a:srgbClr val="DCE6E9"/>
                      </a:solidFill>
                      <a:prstDash val="solid"/>
                      <a:round/>
                      <a:headEnd type="none" w="med" len="med"/>
                      <a:tailEnd type="none" w="med" len="med"/>
                    </a:lnB>
                  </a:tcPr>
                </a:tc>
              </a:tr>
              <a:tr h="457200">
                <a:tc>
                  <a:txBody>
                    <a:bodyPr/>
                    <a:lstStyle/>
                    <a:p>
                      <a:pPr indent="0" marL="0">
                        <a:buNone/>
                      </a:pPr>
                      <a:r>
                        <a:rPr lang="en-US" sz="1250" dirty="0">
                          <a:solidFill>
                            <a:srgbClr val="42525C"/>
                          </a:solidFill>
                          <a:latin typeface="Calibri" pitchFamily="34" charset="0"/>
                          <a:ea typeface="Calibri" pitchFamily="34" charset="-122"/>
                          <a:cs typeface="Calibri" pitchFamily="34" charset="-120"/>
                        </a:rPr>
                        <a:t>Batch size</a:t>
                      </a:r>
                      <a:endParaRPr lang="en-US" sz="1250" dirty="0">
                        <a:latin typeface="Calibri" charset="0"/>
                        <a:ea typeface="Calibri" charset="0"/>
                        <a:cs typeface="Calibri" charset="0"/>
                      </a:endParaRPr>
                    </a:p>
                  </a:txBody>
                  <a:tcPr marL="91440" marR="91440" marT="45720" marB="45720" anchor="ctr">
                    <a:lnL w="9525" cap="flat" cmpd="sng" algn="ctr">
                      <a:solidFill>
                        <a:srgbClr val="DCE6E9"/>
                      </a:solidFill>
                      <a:prstDash val="solid"/>
                      <a:round/>
                      <a:headEnd type="none" w="med" len="med"/>
                      <a:tailEnd type="none" w="med" len="med"/>
                    </a:lnL>
                    <a:lnR w="9525" cap="flat" cmpd="sng" algn="ctr">
                      <a:solidFill>
                        <a:srgbClr val="DCE6E9"/>
                      </a:solidFill>
                      <a:prstDash val="solid"/>
                      <a:round/>
                      <a:headEnd type="none" w="med" len="med"/>
                      <a:tailEnd type="none" w="med" len="med"/>
                    </a:lnR>
                    <a:lnT w="9525" cap="flat" cmpd="sng" algn="ctr">
                      <a:solidFill>
                        <a:srgbClr val="DCE6E9"/>
                      </a:solidFill>
                      <a:prstDash val="solid"/>
                      <a:round/>
                      <a:headEnd type="none" w="med" len="med"/>
                      <a:tailEnd type="none" w="med" len="med"/>
                    </a:lnT>
                    <a:lnB w="9525" cap="flat" cmpd="sng" algn="ctr">
                      <a:solidFill>
                        <a:srgbClr val="DCE6E9"/>
                      </a:solidFill>
                      <a:prstDash val="solid"/>
                      <a:round/>
                      <a:headEnd type="none" w="med" len="med"/>
                      <a:tailEnd type="none" w="med" len="med"/>
                    </a:lnB>
                  </a:tcPr>
                </a:tc>
                <a:tc>
                  <a:txBody>
                    <a:bodyPr/>
                    <a:lstStyle/>
                    <a:p>
                      <a:pPr indent="0" marL="0">
                        <a:buNone/>
                      </a:pPr>
                      <a:r>
                        <a:rPr lang="en-US" sz="1250" dirty="0">
                          <a:solidFill>
                            <a:srgbClr val="42525C"/>
                          </a:solidFill>
                          <a:latin typeface="Calibri" pitchFamily="34" charset="0"/>
                          <a:ea typeface="Calibri" pitchFamily="34" charset="-122"/>
                          <a:cs typeface="Calibri" pitchFamily="34" charset="-120"/>
                        </a:rPr>
                        <a:t>16</a:t>
                      </a:r>
                      <a:endParaRPr lang="en-US" sz="1250" dirty="0">
                        <a:latin typeface="Calibri" charset="0"/>
                        <a:ea typeface="Calibri" charset="0"/>
                        <a:cs typeface="Calibri" charset="0"/>
                      </a:endParaRPr>
                    </a:p>
                  </a:txBody>
                  <a:tcPr marL="91440" marR="91440" marT="45720" marB="45720" anchor="ctr">
                    <a:lnL w="9525" cap="flat" cmpd="sng" algn="ctr">
                      <a:solidFill>
                        <a:srgbClr val="DCE6E9"/>
                      </a:solidFill>
                      <a:prstDash val="solid"/>
                      <a:round/>
                      <a:headEnd type="none" w="med" len="med"/>
                      <a:tailEnd type="none" w="med" len="med"/>
                    </a:lnL>
                    <a:lnR w="9525" cap="flat" cmpd="sng" algn="ctr">
                      <a:solidFill>
                        <a:srgbClr val="DCE6E9"/>
                      </a:solidFill>
                      <a:prstDash val="solid"/>
                      <a:round/>
                      <a:headEnd type="none" w="med" len="med"/>
                      <a:tailEnd type="none" w="med" len="med"/>
                    </a:lnR>
                    <a:lnT w="9525" cap="flat" cmpd="sng" algn="ctr">
                      <a:solidFill>
                        <a:srgbClr val="DCE6E9"/>
                      </a:solidFill>
                      <a:prstDash val="solid"/>
                      <a:round/>
                      <a:headEnd type="none" w="med" len="med"/>
                      <a:tailEnd type="none" w="med" len="med"/>
                    </a:lnT>
                    <a:lnB w="9525" cap="flat" cmpd="sng" algn="ctr">
                      <a:solidFill>
                        <a:srgbClr val="DCE6E9"/>
                      </a:solidFill>
                      <a:prstDash val="solid"/>
                      <a:round/>
                      <a:headEnd type="none" w="med" len="med"/>
                      <a:tailEnd type="none" w="med" len="med"/>
                    </a:lnB>
                  </a:tcPr>
                </a:tc>
              </a:tr>
              <a:tr h="457200">
                <a:tc>
                  <a:txBody>
                    <a:bodyPr/>
                    <a:lstStyle/>
                    <a:p>
                      <a:pPr indent="0" marL="0">
                        <a:buNone/>
                      </a:pPr>
                      <a:r>
                        <a:rPr lang="en-US" sz="1250" dirty="0">
                          <a:solidFill>
                            <a:srgbClr val="42525C"/>
                          </a:solidFill>
                          <a:latin typeface="Calibri" pitchFamily="34" charset="0"/>
                          <a:ea typeface="Calibri" pitchFamily="34" charset="-122"/>
                          <a:cs typeface="Calibri" pitchFamily="34" charset="-120"/>
                        </a:rPr>
                        <a:t>Input resolution</a:t>
                      </a:r>
                      <a:endParaRPr lang="en-US" sz="1250" dirty="0">
                        <a:latin typeface="Calibri" charset="0"/>
                        <a:ea typeface="Calibri" charset="0"/>
                        <a:cs typeface="Calibri" charset="0"/>
                      </a:endParaRPr>
                    </a:p>
                  </a:txBody>
                  <a:tcPr marL="91440" marR="91440" marT="45720" marB="45720" anchor="ctr">
                    <a:lnL w="9525" cap="flat" cmpd="sng" algn="ctr">
                      <a:solidFill>
                        <a:srgbClr val="DCE6E9"/>
                      </a:solidFill>
                      <a:prstDash val="solid"/>
                      <a:round/>
                      <a:headEnd type="none" w="med" len="med"/>
                      <a:tailEnd type="none" w="med" len="med"/>
                    </a:lnL>
                    <a:lnR w="9525" cap="flat" cmpd="sng" algn="ctr">
                      <a:solidFill>
                        <a:srgbClr val="DCE6E9"/>
                      </a:solidFill>
                      <a:prstDash val="solid"/>
                      <a:round/>
                      <a:headEnd type="none" w="med" len="med"/>
                      <a:tailEnd type="none" w="med" len="med"/>
                    </a:lnR>
                    <a:lnT w="9525" cap="flat" cmpd="sng" algn="ctr">
                      <a:solidFill>
                        <a:srgbClr val="DCE6E9"/>
                      </a:solidFill>
                      <a:prstDash val="solid"/>
                      <a:round/>
                      <a:headEnd type="none" w="med" len="med"/>
                      <a:tailEnd type="none" w="med" len="med"/>
                    </a:lnT>
                    <a:lnB w="9525" cap="flat" cmpd="sng" algn="ctr">
                      <a:solidFill>
                        <a:srgbClr val="DCE6E9"/>
                      </a:solidFill>
                      <a:prstDash val="solid"/>
                      <a:round/>
                      <a:headEnd type="none" w="med" len="med"/>
                      <a:tailEnd type="none" w="med" len="med"/>
                    </a:lnB>
                  </a:tcPr>
                </a:tc>
                <a:tc>
                  <a:txBody>
                    <a:bodyPr/>
                    <a:lstStyle/>
                    <a:p>
                      <a:pPr indent="0" marL="0">
                        <a:buNone/>
                      </a:pPr>
                      <a:r>
                        <a:rPr lang="en-US" sz="1250" dirty="0">
                          <a:solidFill>
                            <a:srgbClr val="42525C"/>
                          </a:solidFill>
                          <a:latin typeface="Calibri" pitchFamily="34" charset="0"/>
                          <a:ea typeface="Calibri" pitchFamily="34" charset="-122"/>
                          <a:cs typeface="Calibri" pitchFamily="34" charset="-120"/>
                        </a:rPr>
                        <a:t>512 × 512 pixels</a:t>
                      </a:r>
                      <a:endParaRPr lang="en-US" sz="1250" dirty="0">
                        <a:latin typeface="Calibri" charset="0"/>
                        <a:ea typeface="Calibri" charset="0"/>
                        <a:cs typeface="Calibri" charset="0"/>
                      </a:endParaRPr>
                    </a:p>
                  </a:txBody>
                  <a:tcPr marL="91440" marR="91440" marT="45720" marB="45720" anchor="ctr">
                    <a:lnL w="9525" cap="flat" cmpd="sng" algn="ctr">
                      <a:solidFill>
                        <a:srgbClr val="DCE6E9"/>
                      </a:solidFill>
                      <a:prstDash val="solid"/>
                      <a:round/>
                      <a:headEnd type="none" w="med" len="med"/>
                      <a:tailEnd type="none" w="med" len="med"/>
                    </a:lnL>
                    <a:lnR w="9525" cap="flat" cmpd="sng" algn="ctr">
                      <a:solidFill>
                        <a:srgbClr val="DCE6E9"/>
                      </a:solidFill>
                      <a:prstDash val="solid"/>
                      <a:round/>
                      <a:headEnd type="none" w="med" len="med"/>
                      <a:tailEnd type="none" w="med" len="med"/>
                    </a:lnR>
                    <a:lnT w="9525" cap="flat" cmpd="sng" algn="ctr">
                      <a:solidFill>
                        <a:srgbClr val="DCE6E9"/>
                      </a:solidFill>
                      <a:prstDash val="solid"/>
                      <a:round/>
                      <a:headEnd type="none" w="med" len="med"/>
                      <a:tailEnd type="none" w="med" len="med"/>
                    </a:lnT>
                    <a:lnB w="9525" cap="flat" cmpd="sng" algn="ctr">
                      <a:solidFill>
                        <a:srgbClr val="DCE6E9"/>
                      </a:solidFill>
                      <a:prstDash val="solid"/>
                      <a:round/>
                      <a:headEnd type="none" w="med" len="med"/>
                      <a:tailEnd type="none" w="med" len="med"/>
                    </a:lnB>
                  </a:tcPr>
                </a:tc>
              </a:tr>
              <a:tr h="457200">
                <a:tc>
                  <a:txBody>
                    <a:bodyPr/>
                    <a:lstStyle/>
                    <a:p>
                      <a:pPr indent="0" marL="0">
                        <a:buNone/>
                      </a:pPr>
                      <a:r>
                        <a:rPr lang="en-US" sz="1250" dirty="0">
                          <a:solidFill>
                            <a:srgbClr val="42525C"/>
                          </a:solidFill>
                          <a:latin typeface="Calibri" pitchFamily="34" charset="0"/>
                          <a:ea typeface="Calibri" pitchFamily="34" charset="-122"/>
                          <a:cs typeface="Calibri" pitchFamily="34" charset="-120"/>
                        </a:rPr>
                        <a:t>Epochs</a:t>
                      </a:r>
                      <a:endParaRPr lang="en-US" sz="1250" dirty="0">
                        <a:latin typeface="Calibri" charset="0"/>
                        <a:ea typeface="Calibri" charset="0"/>
                        <a:cs typeface="Calibri" charset="0"/>
                      </a:endParaRPr>
                    </a:p>
                  </a:txBody>
                  <a:tcPr marL="91440" marR="91440" marT="45720" marB="45720" anchor="ctr">
                    <a:lnL w="9525" cap="flat" cmpd="sng" algn="ctr">
                      <a:solidFill>
                        <a:srgbClr val="DCE6E9"/>
                      </a:solidFill>
                      <a:prstDash val="solid"/>
                      <a:round/>
                      <a:headEnd type="none" w="med" len="med"/>
                      <a:tailEnd type="none" w="med" len="med"/>
                    </a:lnL>
                    <a:lnR w="9525" cap="flat" cmpd="sng" algn="ctr">
                      <a:solidFill>
                        <a:srgbClr val="DCE6E9"/>
                      </a:solidFill>
                      <a:prstDash val="solid"/>
                      <a:round/>
                      <a:headEnd type="none" w="med" len="med"/>
                      <a:tailEnd type="none" w="med" len="med"/>
                    </a:lnR>
                    <a:lnT w="9525" cap="flat" cmpd="sng" algn="ctr">
                      <a:solidFill>
                        <a:srgbClr val="DCE6E9"/>
                      </a:solidFill>
                      <a:prstDash val="solid"/>
                      <a:round/>
                      <a:headEnd type="none" w="med" len="med"/>
                      <a:tailEnd type="none" w="med" len="med"/>
                    </a:lnT>
                    <a:lnB w="9525" cap="flat" cmpd="sng" algn="ctr">
                      <a:solidFill>
                        <a:srgbClr val="DCE6E9"/>
                      </a:solidFill>
                      <a:prstDash val="solid"/>
                      <a:round/>
                      <a:headEnd type="none" w="med" len="med"/>
                      <a:tailEnd type="none" w="med" len="med"/>
                    </a:lnB>
                  </a:tcPr>
                </a:tc>
                <a:tc>
                  <a:txBody>
                    <a:bodyPr/>
                    <a:lstStyle/>
                    <a:p>
                      <a:pPr indent="0" marL="0">
                        <a:buNone/>
                      </a:pPr>
                      <a:r>
                        <a:rPr lang="en-US" sz="1250" dirty="0">
                          <a:solidFill>
                            <a:srgbClr val="42525C"/>
                          </a:solidFill>
                          <a:latin typeface="Calibri" pitchFamily="34" charset="0"/>
                          <a:ea typeface="Calibri" pitchFamily="34" charset="-122"/>
                          <a:cs typeface="Calibri" pitchFamily="34" charset="-120"/>
                        </a:rPr>
                        <a:t>100 (cosine learning-rate schedule)</a:t>
                      </a:r>
                      <a:endParaRPr lang="en-US" sz="1250" dirty="0">
                        <a:latin typeface="Calibri" charset="0"/>
                        <a:ea typeface="Calibri" charset="0"/>
                        <a:cs typeface="Calibri" charset="0"/>
                      </a:endParaRPr>
                    </a:p>
                  </a:txBody>
                  <a:tcPr marL="91440" marR="91440" marT="45720" marB="45720" anchor="ctr">
                    <a:lnL w="9525" cap="flat" cmpd="sng" algn="ctr">
                      <a:solidFill>
                        <a:srgbClr val="DCE6E9"/>
                      </a:solidFill>
                      <a:prstDash val="solid"/>
                      <a:round/>
                      <a:headEnd type="none" w="med" len="med"/>
                      <a:tailEnd type="none" w="med" len="med"/>
                    </a:lnL>
                    <a:lnR w="9525" cap="flat" cmpd="sng" algn="ctr">
                      <a:solidFill>
                        <a:srgbClr val="DCE6E9"/>
                      </a:solidFill>
                      <a:prstDash val="solid"/>
                      <a:round/>
                      <a:headEnd type="none" w="med" len="med"/>
                      <a:tailEnd type="none" w="med" len="med"/>
                    </a:lnR>
                    <a:lnT w="9525" cap="flat" cmpd="sng" algn="ctr">
                      <a:solidFill>
                        <a:srgbClr val="DCE6E9"/>
                      </a:solidFill>
                      <a:prstDash val="solid"/>
                      <a:round/>
                      <a:headEnd type="none" w="med" len="med"/>
                      <a:tailEnd type="none" w="med" len="med"/>
                    </a:lnT>
                    <a:lnB w="9525" cap="flat" cmpd="sng" algn="ctr">
                      <a:solidFill>
                        <a:srgbClr val="DCE6E9"/>
                      </a:solidFill>
                      <a:prstDash val="solid"/>
                      <a:round/>
                      <a:headEnd type="none" w="med" len="med"/>
                      <a:tailEnd type="none" w="med" len="med"/>
                    </a:lnB>
                  </a:tcPr>
                </a:tc>
              </a:tr>
              <a:tr h="457200">
                <a:tc>
                  <a:txBody>
                    <a:bodyPr/>
                    <a:lstStyle/>
                    <a:p>
                      <a:pPr indent="0" marL="0">
                        <a:buNone/>
                      </a:pPr>
                      <a:r>
                        <a:rPr lang="en-US" sz="1250" dirty="0">
                          <a:solidFill>
                            <a:srgbClr val="42525C"/>
                          </a:solidFill>
                          <a:latin typeface="Calibri" pitchFamily="34" charset="0"/>
                          <a:ea typeface="Calibri" pitchFamily="34" charset="-122"/>
                          <a:cs typeface="Calibri" pitchFamily="34" charset="-120"/>
                        </a:rPr>
                        <a:t>Data augmentation</a:t>
                      </a:r>
                      <a:endParaRPr lang="en-US" sz="1250" dirty="0">
                        <a:latin typeface="Calibri" charset="0"/>
                        <a:ea typeface="Calibri" charset="0"/>
                        <a:cs typeface="Calibri" charset="0"/>
                      </a:endParaRPr>
                    </a:p>
                  </a:txBody>
                  <a:tcPr marL="91440" marR="91440" marT="45720" marB="45720" anchor="ctr">
                    <a:lnL w="9525" cap="flat" cmpd="sng" algn="ctr">
                      <a:solidFill>
                        <a:srgbClr val="DCE6E9"/>
                      </a:solidFill>
                      <a:prstDash val="solid"/>
                      <a:round/>
                      <a:headEnd type="none" w="med" len="med"/>
                      <a:tailEnd type="none" w="med" len="med"/>
                    </a:lnL>
                    <a:lnR w="9525" cap="flat" cmpd="sng" algn="ctr">
                      <a:solidFill>
                        <a:srgbClr val="DCE6E9"/>
                      </a:solidFill>
                      <a:prstDash val="solid"/>
                      <a:round/>
                      <a:headEnd type="none" w="med" len="med"/>
                      <a:tailEnd type="none" w="med" len="med"/>
                    </a:lnR>
                    <a:lnT w="9525" cap="flat" cmpd="sng" algn="ctr">
                      <a:solidFill>
                        <a:srgbClr val="DCE6E9"/>
                      </a:solidFill>
                      <a:prstDash val="solid"/>
                      <a:round/>
                      <a:headEnd type="none" w="med" len="med"/>
                      <a:tailEnd type="none" w="med" len="med"/>
                    </a:lnT>
                    <a:lnB w="9525" cap="flat" cmpd="sng" algn="ctr">
                      <a:solidFill>
                        <a:srgbClr val="DCE6E9"/>
                      </a:solidFill>
                      <a:prstDash val="solid"/>
                      <a:round/>
                      <a:headEnd type="none" w="med" len="med"/>
                      <a:tailEnd type="none" w="med" len="med"/>
                    </a:lnB>
                  </a:tcPr>
                </a:tc>
                <a:tc>
                  <a:txBody>
                    <a:bodyPr/>
                    <a:lstStyle/>
                    <a:p>
                      <a:pPr indent="0" marL="0">
                        <a:buNone/>
                      </a:pPr>
                      <a:r>
                        <a:rPr lang="en-US" sz="1250" dirty="0">
                          <a:solidFill>
                            <a:srgbClr val="42525C"/>
                          </a:solidFill>
                          <a:latin typeface="Calibri" pitchFamily="34" charset="0"/>
                          <a:ea typeface="Calibri" pitchFamily="34" charset="-122"/>
                          <a:cs typeface="Calibri" pitchFamily="34" charset="-120"/>
                        </a:rPr>
                        <a:t>Mosaic, HSV adjustment, random flips</a:t>
                      </a:r>
                      <a:endParaRPr lang="en-US" sz="1250" dirty="0">
                        <a:latin typeface="Calibri" charset="0"/>
                        <a:ea typeface="Calibri" charset="0"/>
                        <a:cs typeface="Calibri" charset="0"/>
                      </a:endParaRPr>
                    </a:p>
                  </a:txBody>
                  <a:tcPr marL="91440" marR="91440" marT="45720" marB="45720" anchor="ctr">
                    <a:lnL w="9525" cap="flat" cmpd="sng" algn="ctr">
                      <a:solidFill>
                        <a:srgbClr val="DCE6E9"/>
                      </a:solidFill>
                      <a:prstDash val="solid"/>
                      <a:round/>
                      <a:headEnd type="none" w="med" len="med"/>
                      <a:tailEnd type="none" w="med" len="med"/>
                    </a:lnL>
                    <a:lnR w="9525" cap="flat" cmpd="sng" algn="ctr">
                      <a:solidFill>
                        <a:srgbClr val="DCE6E9"/>
                      </a:solidFill>
                      <a:prstDash val="solid"/>
                      <a:round/>
                      <a:headEnd type="none" w="med" len="med"/>
                      <a:tailEnd type="none" w="med" len="med"/>
                    </a:lnR>
                    <a:lnT w="9525" cap="flat" cmpd="sng" algn="ctr">
                      <a:solidFill>
                        <a:srgbClr val="DCE6E9"/>
                      </a:solidFill>
                      <a:prstDash val="solid"/>
                      <a:round/>
                      <a:headEnd type="none" w="med" len="med"/>
                      <a:tailEnd type="none" w="med" len="med"/>
                    </a:lnT>
                    <a:lnB w="9525" cap="flat" cmpd="sng" algn="ctr">
                      <a:solidFill>
                        <a:srgbClr val="DCE6E9"/>
                      </a:solidFill>
                      <a:prstDash val="solid"/>
                      <a:round/>
                      <a:headEnd type="none" w="med" len="med"/>
                      <a:tailEnd type="none" w="med" len="med"/>
                    </a:lnB>
                  </a:tcPr>
                </a:tc>
              </a:tr>
              <a:tr h="457200">
                <a:tc>
                  <a:txBody>
                    <a:bodyPr/>
                    <a:lstStyle/>
                    <a:p>
                      <a:pPr indent="0" marL="0">
                        <a:buNone/>
                      </a:pPr>
                      <a:r>
                        <a:rPr lang="en-US" sz="1250" dirty="0">
                          <a:solidFill>
                            <a:srgbClr val="42525C"/>
                          </a:solidFill>
                          <a:latin typeface="Calibri" pitchFamily="34" charset="0"/>
                          <a:ea typeface="Calibri" pitchFamily="34" charset="-122"/>
                          <a:cs typeface="Calibri" pitchFamily="34" charset="-120"/>
                        </a:rPr>
                        <a:t>Hardware</a:t>
                      </a:r>
                      <a:endParaRPr lang="en-US" sz="1250" dirty="0">
                        <a:latin typeface="Calibri" charset="0"/>
                        <a:ea typeface="Calibri" charset="0"/>
                        <a:cs typeface="Calibri" charset="0"/>
                      </a:endParaRPr>
                    </a:p>
                  </a:txBody>
                  <a:tcPr marL="91440" marR="91440" marT="45720" marB="45720" anchor="ctr">
                    <a:lnL w="9525" cap="flat" cmpd="sng" algn="ctr">
                      <a:solidFill>
                        <a:srgbClr val="DCE6E9"/>
                      </a:solidFill>
                      <a:prstDash val="solid"/>
                      <a:round/>
                      <a:headEnd type="none" w="med" len="med"/>
                      <a:tailEnd type="none" w="med" len="med"/>
                    </a:lnL>
                    <a:lnR w="9525" cap="flat" cmpd="sng" algn="ctr">
                      <a:solidFill>
                        <a:srgbClr val="DCE6E9"/>
                      </a:solidFill>
                      <a:prstDash val="solid"/>
                      <a:round/>
                      <a:headEnd type="none" w="med" len="med"/>
                      <a:tailEnd type="none" w="med" len="med"/>
                    </a:lnR>
                    <a:lnT w="9525" cap="flat" cmpd="sng" algn="ctr">
                      <a:solidFill>
                        <a:srgbClr val="DCE6E9"/>
                      </a:solidFill>
                      <a:prstDash val="solid"/>
                      <a:round/>
                      <a:headEnd type="none" w="med" len="med"/>
                      <a:tailEnd type="none" w="med" len="med"/>
                    </a:lnT>
                    <a:lnB w="9525" cap="flat" cmpd="sng" algn="ctr">
                      <a:solidFill>
                        <a:srgbClr val="DCE6E9"/>
                      </a:solidFill>
                      <a:prstDash val="solid"/>
                      <a:round/>
                      <a:headEnd type="none" w="med" len="med"/>
                      <a:tailEnd type="none" w="med" len="med"/>
                    </a:lnB>
                  </a:tcPr>
                </a:tc>
                <a:tc>
                  <a:txBody>
                    <a:bodyPr/>
                    <a:lstStyle/>
                    <a:p>
                      <a:pPr indent="0" marL="0">
                        <a:buNone/>
                      </a:pPr>
                      <a:r>
                        <a:rPr lang="en-US" sz="1250" dirty="0">
                          <a:solidFill>
                            <a:srgbClr val="42525C"/>
                          </a:solidFill>
                          <a:latin typeface="Calibri" pitchFamily="34" charset="0"/>
                          <a:ea typeface="Calibri" pitchFamily="34" charset="-122"/>
                          <a:cs typeface="Calibri" pitchFamily="34" charset="-120"/>
                        </a:rPr>
                        <a:t>NVIDIA RTX 3050 Laptop GPU (6 GB VRAM), CUDA 11.8</a:t>
                      </a:r>
                      <a:endParaRPr lang="en-US" sz="1250" dirty="0">
                        <a:latin typeface="Calibri" charset="0"/>
                        <a:ea typeface="Calibri" charset="0"/>
                        <a:cs typeface="Calibri" charset="0"/>
                      </a:endParaRPr>
                    </a:p>
                  </a:txBody>
                  <a:tcPr marL="91440" marR="91440" marT="45720" marB="45720" anchor="ctr">
                    <a:lnL w="9525" cap="flat" cmpd="sng" algn="ctr">
                      <a:solidFill>
                        <a:srgbClr val="DCE6E9"/>
                      </a:solidFill>
                      <a:prstDash val="solid"/>
                      <a:round/>
                      <a:headEnd type="none" w="med" len="med"/>
                      <a:tailEnd type="none" w="med" len="med"/>
                    </a:lnL>
                    <a:lnR w="9525" cap="flat" cmpd="sng" algn="ctr">
                      <a:solidFill>
                        <a:srgbClr val="DCE6E9"/>
                      </a:solidFill>
                      <a:prstDash val="solid"/>
                      <a:round/>
                      <a:headEnd type="none" w="med" len="med"/>
                      <a:tailEnd type="none" w="med" len="med"/>
                    </a:lnR>
                    <a:lnT w="9525" cap="flat" cmpd="sng" algn="ctr">
                      <a:solidFill>
                        <a:srgbClr val="DCE6E9"/>
                      </a:solidFill>
                      <a:prstDash val="solid"/>
                      <a:round/>
                      <a:headEnd type="none" w="med" len="med"/>
                      <a:tailEnd type="none" w="med" len="med"/>
                    </a:lnT>
                    <a:lnB w="9525" cap="flat" cmpd="sng" algn="ctr">
                      <a:solidFill>
                        <a:srgbClr val="DCE6E9"/>
                      </a:solidFill>
                      <a:prstDash val="solid"/>
                      <a:round/>
                      <a:headEnd type="none" w="med" len="med"/>
                      <a:tailEnd type="none" w="med" len="med"/>
                    </a:lnB>
                  </a:tcPr>
                </a:tc>
              </a:tr>
              <a:tr h="457200">
                <a:tc>
                  <a:txBody>
                    <a:bodyPr/>
                    <a:lstStyle/>
                    <a:p>
                      <a:pPr indent="0" marL="0">
                        <a:buNone/>
                      </a:pPr>
                      <a:r>
                        <a:rPr lang="en-US" sz="1250" dirty="0">
                          <a:solidFill>
                            <a:srgbClr val="42525C"/>
                          </a:solidFill>
                          <a:latin typeface="Calibri" pitchFamily="34" charset="0"/>
                          <a:ea typeface="Calibri" pitchFamily="34" charset="-122"/>
                          <a:cs typeface="Calibri" pitchFamily="34" charset="-120"/>
                        </a:rPr>
                        <a:t>Framework</a:t>
                      </a:r>
                      <a:endParaRPr lang="en-US" sz="1250" dirty="0">
                        <a:latin typeface="Calibri" charset="0"/>
                        <a:ea typeface="Calibri" charset="0"/>
                        <a:cs typeface="Calibri" charset="0"/>
                      </a:endParaRPr>
                    </a:p>
                  </a:txBody>
                  <a:tcPr marL="91440" marR="91440" marT="45720" marB="45720" anchor="ctr">
                    <a:lnL w="9525" cap="flat" cmpd="sng" algn="ctr">
                      <a:solidFill>
                        <a:srgbClr val="DCE6E9"/>
                      </a:solidFill>
                      <a:prstDash val="solid"/>
                      <a:round/>
                      <a:headEnd type="none" w="med" len="med"/>
                      <a:tailEnd type="none" w="med" len="med"/>
                    </a:lnL>
                    <a:lnR w="9525" cap="flat" cmpd="sng" algn="ctr">
                      <a:solidFill>
                        <a:srgbClr val="DCE6E9"/>
                      </a:solidFill>
                      <a:prstDash val="solid"/>
                      <a:round/>
                      <a:headEnd type="none" w="med" len="med"/>
                      <a:tailEnd type="none" w="med" len="med"/>
                    </a:lnR>
                    <a:lnT w="9525" cap="flat" cmpd="sng" algn="ctr">
                      <a:solidFill>
                        <a:srgbClr val="DCE6E9"/>
                      </a:solidFill>
                      <a:prstDash val="solid"/>
                      <a:round/>
                      <a:headEnd type="none" w="med" len="med"/>
                      <a:tailEnd type="none" w="med" len="med"/>
                    </a:lnT>
                    <a:lnB w="9525" cap="flat" cmpd="sng" algn="ctr">
                      <a:solidFill>
                        <a:srgbClr val="DCE6E9"/>
                      </a:solidFill>
                      <a:prstDash val="solid"/>
                      <a:round/>
                      <a:headEnd type="none" w="med" len="med"/>
                      <a:tailEnd type="none" w="med" len="med"/>
                    </a:lnB>
                  </a:tcPr>
                </a:tc>
                <a:tc>
                  <a:txBody>
                    <a:bodyPr/>
                    <a:lstStyle/>
                    <a:p>
                      <a:pPr indent="0" marL="0">
                        <a:buNone/>
                      </a:pPr>
                      <a:r>
                        <a:rPr lang="en-US" sz="1250" dirty="0">
                          <a:solidFill>
                            <a:srgbClr val="42525C"/>
                          </a:solidFill>
                          <a:latin typeface="Calibri" pitchFamily="34" charset="0"/>
                          <a:ea typeface="Calibri" pitchFamily="34" charset="-122"/>
                          <a:cs typeface="Calibri" pitchFamily="34" charset="-120"/>
                        </a:rPr>
                        <a:t>PyTorch with automatic mixed precision (AMP)</a:t>
                      </a:r>
                      <a:endParaRPr lang="en-US" sz="1250" dirty="0">
                        <a:latin typeface="Calibri" charset="0"/>
                        <a:ea typeface="Calibri" charset="0"/>
                        <a:cs typeface="Calibri" charset="0"/>
                      </a:endParaRPr>
                    </a:p>
                  </a:txBody>
                  <a:tcPr marL="91440" marR="91440" marT="45720" marB="45720" anchor="ctr">
                    <a:lnL w="9525" cap="flat" cmpd="sng" algn="ctr">
                      <a:solidFill>
                        <a:srgbClr val="DCE6E9"/>
                      </a:solidFill>
                      <a:prstDash val="solid"/>
                      <a:round/>
                      <a:headEnd type="none" w="med" len="med"/>
                      <a:tailEnd type="none" w="med" len="med"/>
                    </a:lnL>
                    <a:lnR w="9525" cap="flat" cmpd="sng" algn="ctr">
                      <a:solidFill>
                        <a:srgbClr val="DCE6E9"/>
                      </a:solidFill>
                      <a:prstDash val="solid"/>
                      <a:round/>
                      <a:headEnd type="none" w="med" len="med"/>
                      <a:tailEnd type="none" w="med" len="med"/>
                    </a:lnR>
                    <a:lnT w="9525" cap="flat" cmpd="sng" algn="ctr">
                      <a:solidFill>
                        <a:srgbClr val="DCE6E9"/>
                      </a:solidFill>
                      <a:prstDash val="solid"/>
                      <a:round/>
                      <a:headEnd type="none" w="med" len="med"/>
                      <a:tailEnd type="none" w="med" len="med"/>
                    </a:lnT>
                    <a:lnB w="9525" cap="flat" cmpd="sng" algn="ctr">
                      <a:solidFill>
                        <a:srgbClr val="DCE6E9"/>
                      </a:solidFill>
                      <a:prstDash val="solid"/>
                      <a:round/>
                      <a:headEnd type="none" w="med" len="med"/>
                      <a:tailEnd type="none" w="med" len="med"/>
                    </a:lnB>
                  </a:tcPr>
                </a:tc>
              </a:tr>
            </a:tbl>
          </a:graphicData>
        </a:graphic>
      </p:graphicFrame>
      <p:sp>
        <p:nvSpPr>
          <p:cNvPr id="5" name="Shape 2"/>
          <p:cNvSpPr/>
          <p:nvPr/>
        </p:nvSpPr>
        <p:spPr>
          <a:xfrm>
            <a:off x="7498080" y="1691640"/>
            <a:ext cx="3931920" cy="4023360"/>
          </a:xfrm>
          <a:prstGeom prst="roundRect">
            <a:avLst>
              <a:gd name="adj" fmla="val 1860"/>
            </a:avLst>
          </a:prstGeom>
          <a:solidFill>
            <a:srgbClr val="0D2A4A"/>
          </a:solidFill>
          <a:ln/>
        </p:spPr>
      </p:sp>
      <p:sp>
        <p:nvSpPr>
          <p:cNvPr id="6" name="Text 3"/>
          <p:cNvSpPr/>
          <p:nvPr/>
        </p:nvSpPr>
        <p:spPr>
          <a:xfrm>
            <a:off x="7772400" y="1920240"/>
            <a:ext cx="3383280" cy="365760"/>
          </a:xfrm>
          <a:prstGeom prst="rect">
            <a:avLst/>
          </a:prstGeom>
          <a:noFill/>
          <a:ln/>
        </p:spPr>
        <p:txBody>
          <a:bodyPr wrap="square" rtlCol="0" anchor="ctr"/>
          <a:lstStyle/>
          <a:p>
            <a:pPr indent="0" marL="0">
              <a:buNone/>
            </a:pPr>
            <a:r>
              <a:rPr lang="en-US" sz="1500" b="1" dirty="0">
                <a:solidFill>
                  <a:srgbClr val="5FB49C"/>
                </a:solidFill>
                <a:latin typeface="Cambria" pitchFamily="34" charset="0"/>
                <a:ea typeface="Cambria" pitchFamily="34" charset="-122"/>
                <a:cs typeface="Cambria" pitchFamily="34" charset="-120"/>
              </a:rPr>
              <a:t>Why this matters</a:t>
            </a:r>
            <a:endParaRPr lang="en-US" sz="1500" dirty="0"/>
          </a:p>
        </p:txBody>
      </p:sp>
      <p:sp>
        <p:nvSpPr>
          <p:cNvPr id="7" name="Text 4"/>
          <p:cNvSpPr/>
          <p:nvPr/>
        </p:nvSpPr>
        <p:spPr>
          <a:xfrm>
            <a:off x="7772400" y="2377440"/>
            <a:ext cx="3383280" cy="3108960"/>
          </a:xfrm>
          <a:prstGeom prst="rect">
            <a:avLst/>
          </a:prstGeom>
          <a:noFill/>
          <a:ln/>
        </p:spPr>
        <p:txBody>
          <a:bodyPr wrap="square" rtlCol="0" anchor="ctr"/>
          <a:lstStyle/>
          <a:p>
            <a:pPr indent="0" marL="0">
              <a:lnSpc>
                <a:spcPct val="125000"/>
              </a:lnSpc>
              <a:buNone/>
            </a:pPr>
            <a:r>
              <a:rPr lang="en-US" sz="1250" dirty="0">
                <a:solidFill>
                  <a:srgbClr val="D8E6EA"/>
                </a:solidFill>
                <a:latin typeface="Calibri" pitchFamily="34" charset="0"/>
                <a:ea typeface="Calibri" pitchFamily="34" charset="-122"/>
                <a:cs typeface="Calibri" pitchFamily="34" charset="-120"/>
              </a:rPr>
              <a:t>Both YOLOv11s-seg and YOLOv12s-seg are trained with the exact same hyperparameters, hardware, and augmentation pipeline. This removes confounding factors so that any performance gap can be attributed to architectural design rather than training setup.</a:t>
            </a:r>
            <a:endParaRPr lang="en-US" sz="1250" dirty="0"/>
          </a:p>
        </p:txBody>
      </p:sp>
      <p:sp>
        <p:nvSpPr>
          <p:cNvPr id="8" name="Text 5"/>
          <p:cNvSpPr/>
          <p:nvPr/>
        </p:nvSpPr>
        <p:spPr>
          <a:xfrm>
            <a:off x="457200" y="6528816"/>
            <a:ext cx="8229600" cy="274320"/>
          </a:xfrm>
          <a:prstGeom prst="rect">
            <a:avLst/>
          </a:prstGeom>
          <a:noFill/>
          <a:ln/>
        </p:spPr>
        <p:txBody>
          <a:bodyPr wrap="square" rtlCol="0" anchor="ctr"/>
          <a:lstStyle/>
          <a:p>
            <a:pPr algn="l" indent="0" marL="0">
              <a:buNone/>
            </a:pPr>
            <a:r>
              <a:rPr lang="en-US" sz="900" dirty="0">
                <a:solidFill>
                  <a:srgbClr val="42525C"/>
                </a:solidFill>
                <a:latin typeface="Calibri" pitchFamily="34" charset="0"/>
                <a:ea typeface="Calibri" pitchFamily="34" charset="-122"/>
                <a:cs typeface="Calibri" pitchFamily="34" charset="-120"/>
              </a:rPr>
              <a:t>ICRIRET 2025  |  Nucleus Segmentation on DSB2018</a:t>
            </a:r>
            <a:endParaRPr lang="en-US" sz="900" dirty="0"/>
          </a:p>
        </p:txBody>
      </p:sp>
      <p:sp>
        <p:nvSpPr>
          <p:cNvPr id="9" name="Text 6"/>
          <p:cNvSpPr/>
          <p:nvPr/>
        </p:nvSpPr>
        <p:spPr>
          <a:xfrm>
            <a:off x="11338560" y="6528816"/>
            <a:ext cx="457200" cy="274320"/>
          </a:xfrm>
          <a:prstGeom prst="rect">
            <a:avLst/>
          </a:prstGeom>
          <a:noFill/>
          <a:ln/>
        </p:spPr>
        <p:txBody>
          <a:bodyPr wrap="square" rtlCol="0" anchor="ctr"/>
          <a:lstStyle/>
          <a:p>
            <a:pPr algn="r" indent="0" marL="0">
              <a:buNone/>
            </a:pPr>
            <a:r>
              <a:rPr lang="en-US" sz="900" dirty="0">
                <a:solidFill>
                  <a:srgbClr val="42525C"/>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0515600" cy="640080"/>
          </a:xfrm>
          <a:prstGeom prst="rect">
            <a:avLst/>
          </a:prstGeom>
          <a:noFill/>
          <a:ln/>
        </p:spPr>
        <p:txBody>
          <a:bodyPr wrap="square" rtlCol="0" anchor="ctr"/>
          <a:lstStyle/>
          <a:p>
            <a:pPr algn="l" indent="0" marL="0">
              <a:buNone/>
            </a:pPr>
            <a:r>
              <a:rPr lang="en-US" sz="3000" b="1" dirty="0">
                <a:solidFill>
                  <a:srgbClr val="0D2A4A"/>
                </a:solidFill>
                <a:latin typeface="Cambria" pitchFamily="34" charset="0"/>
                <a:ea typeface="Cambria" pitchFamily="34" charset="-122"/>
                <a:cs typeface="Cambria" pitchFamily="34" charset="-120"/>
              </a:rPr>
              <a:t>Results: Confusion Matrix Analysis</a:t>
            </a:r>
            <a:endParaRPr lang="en-US" sz="3000" dirty="0"/>
          </a:p>
        </p:txBody>
      </p:sp>
      <p:sp>
        <p:nvSpPr>
          <p:cNvPr id="3" name="Text 1"/>
          <p:cNvSpPr/>
          <p:nvPr/>
        </p:nvSpPr>
        <p:spPr>
          <a:xfrm>
            <a:off x="548640" y="960120"/>
            <a:ext cx="10515600" cy="365760"/>
          </a:xfrm>
          <a:prstGeom prst="rect">
            <a:avLst/>
          </a:prstGeom>
          <a:noFill/>
          <a:ln/>
        </p:spPr>
        <p:txBody>
          <a:bodyPr wrap="square" rtlCol="0" anchor="ctr"/>
          <a:lstStyle/>
          <a:p>
            <a:pPr algn="l" indent="0" marL="0">
              <a:buNone/>
            </a:pPr>
            <a:r>
              <a:rPr lang="en-US" sz="1400" i="1" dirty="0">
                <a:solidFill>
                  <a:srgbClr val="1C7293"/>
                </a:solidFill>
                <a:latin typeface="Calibri" pitchFamily="34" charset="0"/>
                <a:ea typeface="Calibri" pitchFamily="34" charset="-122"/>
                <a:cs typeface="Calibri" pitchFamily="34" charset="-120"/>
              </a:rPr>
              <a:t>Pixel-level counts aggregated across 134 validation images</a:t>
            </a:r>
            <a:endParaRPr lang="en-US" sz="1400" dirty="0"/>
          </a:p>
        </p:txBody>
      </p:sp>
      <p:graphicFrame>
        <p:nvGraphicFramePr>
          <p:cNvPr id="4" name="Chart 0" descr=""/>
          <p:cNvGraphicFramePr/>
          <p:nvPr/>
        </p:nvGraphicFramePr>
        <p:xfrm>
          <a:off x="548640" y="1691640"/>
          <a:ext cx="6858000" cy="411480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7635240" y="1691640"/>
            <a:ext cx="3794760" cy="4114800"/>
          </a:xfrm>
          <a:prstGeom prst="roundRect">
            <a:avLst>
              <a:gd name="adj" fmla="val 1928"/>
            </a:avLst>
          </a:prstGeom>
          <a:solidFill>
            <a:srgbClr val="F5F9FA"/>
          </a:solidFill>
          <a:ln w="12700">
            <a:solidFill>
              <a:srgbClr val="DCE6E9"/>
            </a:solidFill>
            <a:prstDash val="solid"/>
          </a:ln>
        </p:spPr>
      </p:sp>
      <p:sp>
        <p:nvSpPr>
          <p:cNvPr id="6" name="Text 3"/>
          <p:cNvSpPr/>
          <p:nvPr/>
        </p:nvSpPr>
        <p:spPr>
          <a:xfrm>
            <a:off x="7863840" y="1874520"/>
            <a:ext cx="3383280" cy="365760"/>
          </a:xfrm>
          <a:prstGeom prst="rect">
            <a:avLst/>
          </a:prstGeom>
          <a:noFill/>
          <a:ln/>
        </p:spPr>
        <p:txBody>
          <a:bodyPr wrap="square" rtlCol="0" anchor="ctr"/>
          <a:lstStyle/>
          <a:p>
            <a:pPr indent="0" marL="0">
              <a:buNone/>
            </a:pPr>
            <a:r>
              <a:rPr lang="en-US" sz="1400" b="1" dirty="0">
                <a:solidFill>
                  <a:srgbClr val="0D2A4A"/>
                </a:solidFill>
                <a:latin typeface="Cambria" pitchFamily="34" charset="0"/>
                <a:ea typeface="Cambria" pitchFamily="34" charset="-122"/>
                <a:cs typeface="Cambria" pitchFamily="34" charset="-120"/>
              </a:rPr>
              <a:t>Reading the matrix</a:t>
            </a:r>
            <a:endParaRPr lang="en-US" sz="1400" dirty="0"/>
          </a:p>
        </p:txBody>
      </p:sp>
      <p:sp>
        <p:nvSpPr>
          <p:cNvPr id="7" name="Shape 4"/>
          <p:cNvSpPr/>
          <p:nvPr/>
        </p:nvSpPr>
        <p:spPr>
          <a:xfrm>
            <a:off x="7863840" y="2386584"/>
            <a:ext cx="91440" cy="91440"/>
          </a:xfrm>
          <a:prstGeom prst="ellipse">
            <a:avLst/>
          </a:prstGeom>
          <a:solidFill>
            <a:srgbClr val="1C7293"/>
          </a:solidFill>
          <a:ln/>
        </p:spPr>
      </p:sp>
      <p:sp>
        <p:nvSpPr>
          <p:cNvPr id="8" name="Text 5"/>
          <p:cNvSpPr/>
          <p:nvPr/>
        </p:nvSpPr>
        <p:spPr>
          <a:xfrm>
            <a:off x="8092440" y="2221992"/>
            <a:ext cx="3200400" cy="777240"/>
          </a:xfrm>
          <a:prstGeom prst="rect">
            <a:avLst/>
          </a:prstGeom>
          <a:noFill/>
          <a:ln/>
        </p:spPr>
        <p:txBody>
          <a:bodyPr wrap="square" rtlCol="0" anchor="ctr"/>
          <a:lstStyle/>
          <a:p>
            <a:pPr indent="0" marL="0">
              <a:lnSpc>
                <a:spcPct val="115000"/>
              </a:lnSpc>
              <a:buNone/>
            </a:pPr>
            <a:r>
              <a:rPr lang="en-US" sz="1150" dirty="0">
                <a:solidFill>
                  <a:srgbClr val="42525C"/>
                </a:solidFill>
                <a:latin typeface="Calibri" pitchFamily="34" charset="0"/>
                <a:ea typeface="Calibri" pitchFamily="34" charset="-122"/>
                <a:cs typeface="Calibri" pitchFamily="34" charset="-120"/>
              </a:rPr>
              <a:t>YOLOv11-seg detects more true nuclei pixels (4,850) with fewer missed detections (834 false negatives).</a:t>
            </a:r>
            <a:endParaRPr lang="en-US" sz="1150" dirty="0"/>
          </a:p>
        </p:txBody>
      </p:sp>
      <p:sp>
        <p:nvSpPr>
          <p:cNvPr id="9" name="Shape 6"/>
          <p:cNvSpPr/>
          <p:nvPr/>
        </p:nvSpPr>
        <p:spPr>
          <a:xfrm>
            <a:off x="7863840" y="3282696"/>
            <a:ext cx="91440" cy="91440"/>
          </a:xfrm>
          <a:prstGeom prst="ellipse">
            <a:avLst/>
          </a:prstGeom>
          <a:solidFill>
            <a:srgbClr val="1C7293"/>
          </a:solidFill>
          <a:ln/>
        </p:spPr>
      </p:sp>
      <p:sp>
        <p:nvSpPr>
          <p:cNvPr id="10" name="Text 7"/>
          <p:cNvSpPr/>
          <p:nvPr/>
        </p:nvSpPr>
        <p:spPr>
          <a:xfrm>
            <a:off x="8092440" y="3118104"/>
            <a:ext cx="3200400" cy="777240"/>
          </a:xfrm>
          <a:prstGeom prst="rect">
            <a:avLst/>
          </a:prstGeom>
          <a:noFill/>
          <a:ln/>
        </p:spPr>
        <p:txBody>
          <a:bodyPr wrap="square" rtlCol="0" anchor="ctr"/>
          <a:lstStyle/>
          <a:p>
            <a:pPr indent="0" marL="0">
              <a:lnSpc>
                <a:spcPct val="115000"/>
              </a:lnSpc>
              <a:buNone/>
            </a:pPr>
            <a:r>
              <a:rPr lang="en-US" sz="1150" dirty="0">
                <a:solidFill>
                  <a:srgbClr val="42525C"/>
                </a:solidFill>
                <a:latin typeface="Calibri" pitchFamily="34" charset="0"/>
                <a:ea typeface="Calibri" pitchFamily="34" charset="-122"/>
                <a:cs typeface="Calibri" pitchFamily="34" charset="-120"/>
              </a:rPr>
              <a:t>YOLOv12-seg produces fewer false positives (855) but misses more real nuclei (1,042 false negatives).</a:t>
            </a:r>
            <a:endParaRPr lang="en-US" sz="1150" dirty="0"/>
          </a:p>
        </p:txBody>
      </p:sp>
      <p:sp>
        <p:nvSpPr>
          <p:cNvPr id="11" name="Shape 8"/>
          <p:cNvSpPr/>
          <p:nvPr/>
        </p:nvSpPr>
        <p:spPr>
          <a:xfrm>
            <a:off x="7863840" y="4178808"/>
            <a:ext cx="91440" cy="91440"/>
          </a:xfrm>
          <a:prstGeom prst="ellipse">
            <a:avLst/>
          </a:prstGeom>
          <a:solidFill>
            <a:srgbClr val="1C7293"/>
          </a:solidFill>
          <a:ln/>
        </p:spPr>
      </p:sp>
      <p:sp>
        <p:nvSpPr>
          <p:cNvPr id="12" name="Text 9"/>
          <p:cNvSpPr/>
          <p:nvPr/>
        </p:nvSpPr>
        <p:spPr>
          <a:xfrm>
            <a:off x="8092440" y="4014216"/>
            <a:ext cx="3200400" cy="777240"/>
          </a:xfrm>
          <a:prstGeom prst="rect">
            <a:avLst/>
          </a:prstGeom>
          <a:noFill/>
          <a:ln/>
        </p:spPr>
        <p:txBody>
          <a:bodyPr wrap="square" rtlCol="0" anchor="ctr"/>
          <a:lstStyle/>
          <a:p>
            <a:pPr indent="0" marL="0">
              <a:lnSpc>
                <a:spcPct val="115000"/>
              </a:lnSpc>
              <a:buNone/>
            </a:pPr>
            <a:r>
              <a:rPr lang="en-US" sz="1150" dirty="0">
                <a:solidFill>
                  <a:srgbClr val="42525C"/>
                </a:solidFill>
                <a:latin typeface="Calibri" pitchFamily="34" charset="0"/>
                <a:ea typeface="Calibri" pitchFamily="34" charset="-122"/>
                <a:cs typeface="Calibri" pitchFamily="34" charset="-120"/>
              </a:rPr>
              <a:t>Overall detection sensitivity is lower for YOLOv12-seg, despite its lighter design.</a:t>
            </a:r>
            <a:endParaRPr lang="en-US" sz="1150" dirty="0"/>
          </a:p>
        </p:txBody>
      </p:sp>
      <p:sp>
        <p:nvSpPr>
          <p:cNvPr id="13" name="Text 10"/>
          <p:cNvSpPr/>
          <p:nvPr/>
        </p:nvSpPr>
        <p:spPr>
          <a:xfrm>
            <a:off x="457200" y="6528816"/>
            <a:ext cx="8229600" cy="274320"/>
          </a:xfrm>
          <a:prstGeom prst="rect">
            <a:avLst/>
          </a:prstGeom>
          <a:noFill/>
          <a:ln/>
        </p:spPr>
        <p:txBody>
          <a:bodyPr wrap="square" rtlCol="0" anchor="ctr"/>
          <a:lstStyle/>
          <a:p>
            <a:pPr algn="l" indent="0" marL="0">
              <a:buNone/>
            </a:pPr>
            <a:r>
              <a:rPr lang="en-US" sz="900" dirty="0">
                <a:solidFill>
                  <a:srgbClr val="42525C"/>
                </a:solidFill>
                <a:latin typeface="Calibri" pitchFamily="34" charset="0"/>
                <a:ea typeface="Calibri" pitchFamily="34" charset="-122"/>
                <a:cs typeface="Calibri" pitchFamily="34" charset="-120"/>
              </a:rPr>
              <a:t>ICRIRET 2025  |  Nucleus Segmentation on DSB2018</a:t>
            </a:r>
            <a:endParaRPr lang="en-US" sz="900" dirty="0"/>
          </a:p>
        </p:txBody>
      </p:sp>
      <p:sp>
        <p:nvSpPr>
          <p:cNvPr id="14" name="Text 11"/>
          <p:cNvSpPr/>
          <p:nvPr/>
        </p:nvSpPr>
        <p:spPr>
          <a:xfrm>
            <a:off x="11338560" y="6528816"/>
            <a:ext cx="457200" cy="274320"/>
          </a:xfrm>
          <a:prstGeom prst="rect">
            <a:avLst/>
          </a:prstGeom>
          <a:noFill/>
          <a:ln/>
        </p:spPr>
        <p:txBody>
          <a:bodyPr wrap="square" rtlCol="0" anchor="ctr"/>
          <a:lstStyle/>
          <a:p>
            <a:pPr algn="r" indent="0" marL="0">
              <a:buNone/>
            </a:pPr>
            <a:r>
              <a:rPr lang="en-US" sz="900" dirty="0">
                <a:solidFill>
                  <a:srgbClr val="42525C"/>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9FA"/>
        </a:solidFill>
      </p:bgPr>
    </p:bg>
    <p:spTree>
      <p:nvGrpSpPr>
        <p:cNvPr id="1" name=""/>
        <p:cNvGrpSpPr/>
        <p:nvPr/>
      </p:nvGrpSpPr>
      <p:grpSpPr>
        <a:xfrm>
          <a:off x="0" y="0"/>
          <a:ext cx="0" cy="0"/>
          <a:chOff x="0" y="0"/>
          <a:chExt cx="0" cy="0"/>
        </a:xfrm>
      </p:grpSpPr>
      <p:sp>
        <p:nvSpPr>
          <p:cNvPr id="2" name="Text 0"/>
          <p:cNvSpPr/>
          <p:nvPr/>
        </p:nvSpPr>
        <p:spPr>
          <a:xfrm>
            <a:off x="548640" y="365760"/>
            <a:ext cx="10515600" cy="640080"/>
          </a:xfrm>
          <a:prstGeom prst="rect">
            <a:avLst/>
          </a:prstGeom>
          <a:noFill/>
          <a:ln/>
        </p:spPr>
        <p:txBody>
          <a:bodyPr wrap="square" rtlCol="0" anchor="ctr"/>
          <a:lstStyle/>
          <a:p>
            <a:pPr algn="l" indent="0" marL="0">
              <a:buNone/>
            </a:pPr>
            <a:r>
              <a:rPr lang="en-US" sz="3000" b="1" dirty="0">
                <a:solidFill>
                  <a:srgbClr val="0D2A4A"/>
                </a:solidFill>
                <a:latin typeface="Cambria" pitchFamily="34" charset="0"/>
                <a:ea typeface="Cambria" pitchFamily="34" charset="-122"/>
                <a:cs typeface="Cambria" pitchFamily="34" charset="-120"/>
              </a:rPr>
              <a:t>Results: Mask-Level Performance</a:t>
            </a:r>
            <a:endParaRPr lang="en-US" sz="3000" dirty="0"/>
          </a:p>
        </p:txBody>
      </p:sp>
      <p:sp>
        <p:nvSpPr>
          <p:cNvPr id="3" name="Text 1"/>
          <p:cNvSpPr/>
          <p:nvPr/>
        </p:nvSpPr>
        <p:spPr>
          <a:xfrm>
            <a:off x="548640" y="960120"/>
            <a:ext cx="10515600" cy="365760"/>
          </a:xfrm>
          <a:prstGeom prst="rect">
            <a:avLst/>
          </a:prstGeom>
          <a:noFill/>
          <a:ln/>
        </p:spPr>
        <p:txBody>
          <a:bodyPr wrap="square" rtlCol="0" anchor="ctr"/>
          <a:lstStyle/>
          <a:p>
            <a:pPr algn="l" indent="0" marL="0">
              <a:buNone/>
            </a:pPr>
            <a:r>
              <a:rPr lang="en-US" sz="1400" i="1" dirty="0">
                <a:solidFill>
                  <a:srgbClr val="1C7293"/>
                </a:solidFill>
                <a:latin typeface="Calibri" pitchFamily="34" charset="0"/>
                <a:ea typeface="Calibri" pitchFamily="34" charset="-122"/>
                <a:cs typeface="Calibri" pitchFamily="34" charset="-120"/>
              </a:rPr>
              <a:t>YOLOv11s-seg outperforms YOLOv12s-seg across every evaluated metric</a:t>
            </a:r>
            <a:endParaRPr lang="en-US" sz="1400" dirty="0"/>
          </a:p>
        </p:txBody>
      </p:sp>
      <p:graphicFrame>
        <p:nvGraphicFramePr>
          <p:cNvPr id="4" name="Chart 0" descr=""/>
          <p:cNvGraphicFramePr/>
          <p:nvPr/>
        </p:nvGraphicFramePr>
        <p:xfrm>
          <a:off x="548640" y="1645920"/>
          <a:ext cx="7498080" cy="416052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8275320" y="1645920"/>
            <a:ext cx="3337560" cy="1965960"/>
          </a:xfrm>
          <a:prstGeom prst="roundRect">
            <a:avLst>
              <a:gd name="adj" fmla="val 3721"/>
            </a:avLst>
          </a:prstGeom>
          <a:solidFill>
            <a:srgbClr val="0D2A4A"/>
          </a:solidFill>
          <a:ln/>
        </p:spPr>
      </p:sp>
      <p:sp>
        <p:nvSpPr>
          <p:cNvPr id="6" name="Text 3"/>
          <p:cNvSpPr/>
          <p:nvPr/>
        </p:nvSpPr>
        <p:spPr>
          <a:xfrm>
            <a:off x="8275320" y="1828800"/>
            <a:ext cx="3337560" cy="777240"/>
          </a:xfrm>
          <a:prstGeom prst="rect">
            <a:avLst/>
          </a:prstGeom>
          <a:noFill/>
          <a:ln/>
        </p:spPr>
        <p:txBody>
          <a:bodyPr wrap="square" rtlCol="0" anchor="ctr"/>
          <a:lstStyle/>
          <a:p>
            <a:pPr algn="ctr" indent="0" marL="0">
              <a:buNone/>
            </a:pPr>
            <a:r>
              <a:rPr lang="en-US" sz="3600" b="1" dirty="0">
                <a:solidFill>
                  <a:srgbClr val="5FB49C"/>
                </a:solidFill>
                <a:latin typeface="Cambria" pitchFamily="34" charset="0"/>
                <a:ea typeface="Cambria" pitchFamily="34" charset="-122"/>
                <a:cs typeface="Cambria" pitchFamily="34" charset="-120"/>
              </a:rPr>
              <a:t>+10.7%</a:t>
            </a:r>
            <a:endParaRPr lang="en-US" sz="3600" dirty="0"/>
          </a:p>
        </p:txBody>
      </p:sp>
      <p:sp>
        <p:nvSpPr>
          <p:cNvPr id="7" name="Text 4"/>
          <p:cNvSpPr/>
          <p:nvPr/>
        </p:nvSpPr>
        <p:spPr>
          <a:xfrm>
            <a:off x="8458200" y="2606040"/>
            <a:ext cx="2971800" cy="914400"/>
          </a:xfrm>
          <a:prstGeom prst="rect">
            <a:avLst/>
          </a:prstGeom>
          <a:noFill/>
          <a:ln/>
        </p:spPr>
        <p:txBody>
          <a:bodyPr wrap="square" rtlCol="0" anchor="ctr"/>
          <a:lstStyle/>
          <a:p>
            <a:pPr algn="ctr" indent="0" marL="0">
              <a:lnSpc>
                <a:spcPct val="115000"/>
              </a:lnSpc>
              <a:buNone/>
            </a:pPr>
            <a:r>
              <a:rPr lang="en-US" sz="1150" dirty="0">
                <a:solidFill>
                  <a:srgbClr val="D8E6EA"/>
                </a:solidFill>
                <a:latin typeface="Calibri" pitchFamily="34" charset="0"/>
                <a:ea typeface="Calibri" pitchFamily="34" charset="-122"/>
                <a:cs typeface="Calibri" pitchFamily="34" charset="-120"/>
              </a:rPr>
              <a:t>relative improvement in Mask mAP@0.5:0.95</a:t>
            </a:r>
            <a:endParaRPr lang="en-US" sz="1150" dirty="0"/>
          </a:p>
          <a:p>
            <a:pPr algn="ctr" indent="0" marL="0">
              <a:lnSpc>
                <a:spcPct val="115000"/>
              </a:lnSpc>
              <a:buNone/>
            </a:pPr>
            <a:r>
              <a:rPr lang="en-US" sz="1150" dirty="0">
                <a:solidFill>
                  <a:srgbClr val="D8E6EA"/>
                </a:solidFill>
                <a:latin typeface="Calibri" pitchFamily="34" charset="0"/>
                <a:ea typeface="Calibri" pitchFamily="34" charset="-122"/>
                <a:cs typeface="Calibri" pitchFamily="34" charset="-120"/>
              </a:rPr>
              <a:t>(0.528 vs. 0.478)</a:t>
            </a:r>
            <a:endParaRPr lang="en-US" sz="1150" dirty="0"/>
          </a:p>
        </p:txBody>
      </p:sp>
      <p:sp>
        <p:nvSpPr>
          <p:cNvPr id="8" name="Shape 5"/>
          <p:cNvSpPr/>
          <p:nvPr/>
        </p:nvSpPr>
        <p:spPr>
          <a:xfrm>
            <a:off x="8275320" y="3794760"/>
            <a:ext cx="3337560" cy="1965960"/>
          </a:xfrm>
          <a:prstGeom prst="roundRect">
            <a:avLst>
              <a:gd name="adj" fmla="val 3721"/>
            </a:avLst>
          </a:prstGeom>
          <a:solidFill>
            <a:srgbClr val="065A82"/>
          </a:solidFill>
          <a:ln/>
        </p:spPr>
      </p:sp>
      <p:sp>
        <p:nvSpPr>
          <p:cNvPr id="9" name="Text 6"/>
          <p:cNvSpPr/>
          <p:nvPr/>
        </p:nvSpPr>
        <p:spPr>
          <a:xfrm>
            <a:off x="8275320" y="3977640"/>
            <a:ext cx="3337560" cy="777240"/>
          </a:xfrm>
          <a:prstGeom prst="rect">
            <a:avLst/>
          </a:prstGeom>
          <a:noFill/>
          <a:ln/>
        </p:spPr>
        <p:txBody>
          <a:bodyPr wrap="square" rtlCol="0" anchor="ctr"/>
          <a:lstStyle/>
          <a:p>
            <a:pPr algn="ctr" indent="0" marL="0">
              <a:buNone/>
            </a:pPr>
            <a:r>
              <a:rPr lang="en-US" sz="3600" b="1" dirty="0">
                <a:solidFill>
                  <a:srgbClr val="FFFFFF"/>
                </a:solidFill>
                <a:latin typeface="Cambria" pitchFamily="34" charset="0"/>
                <a:ea typeface="Cambria" pitchFamily="34" charset="-122"/>
                <a:cs typeface="Cambria" pitchFamily="34" charset="-120"/>
              </a:rPr>
              <a:t>6.3 ms</a:t>
            </a:r>
            <a:endParaRPr lang="en-US" sz="3600" dirty="0"/>
          </a:p>
        </p:txBody>
      </p:sp>
      <p:sp>
        <p:nvSpPr>
          <p:cNvPr id="10" name="Text 7"/>
          <p:cNvSpPr/>
          <p:nvPr/>
        </p:nvSpPr>
        <p:spPr>
          <a:xfrm>
            <a:off x="8458200" y="4754880"/>
            <a:ext cx="2971800" cy="914400"/>
          </a:xfrm>
          <a:prstGeom prst="rect">
            <a:avLst/>
          </a:prstGeom>
          <a:noFill/>
          <a:ln/>
        </p:spPr>
        <p:txBody>
          <a:bodyPr wrap="square" rtlCol="0" anchor="ctr"/>
          <a:lstStyle/>
          <a:p>
            <a:pPr algn="ctr" indent="0" marL="0">
              <a:lnSpc>
                <a:spcPct val="115000"/>
              </a:lnSpc>
              <a:buNone/>
            </a:pPr>
            <a:r>
              <a:rPr lang="en-US" sz="1150" dirty="0">
                <a:solidFill>
                  <a:srgbClr val="D8E6EA"/>
                </a:solidFill>
                <a:latin typeface="Calibri" pitchFamily="34" charset="0"/>
                <a:ea typeface="Calibri" pitchFamily="34" charset="-122"/>
                <a:cs typeface="Calibri" pitchFamily="34" charset="-120"/>
              </a:rPr>
              <a:t>inference latency for YOLOv11s-seg,</a:t>
            </a:r>
            <a:endParaRPr lang="en-US" sz="1150" dirty="0"/>
          </a:p>
          <a:p>
            <a:pPr algn="ctr" indent="0" marL="0">
              <a:lnSpc>
                <a:spcPct val="115000"/>
              </a:lnSpc>
              <a:buNone/>
            </a:pPr>
            <a:r>
              <a:rPr lang="en-US" sz="1150" dirty="0">
                <a:solidFill>
                  <a:srgbClr val="D8E6EA"/>
                </a:solidFill>
                <a:latin typeface="Calibri" pitchFamily="34" charset="0"/>
                <a:ea typeface="Calibri" pitchFamily="34" charset="-122"/>
                <a:cs typeface="Calibri" pitchFamily="34" charset="-120"/>
              </a:rPr>
              <a:t>vs. 11.3 ms for YOLOv12s-seg</a:t>
            </a:r>
            <a:endParaRPr lang="en-US" sz="1150" dirty="0"/>
          </a:p>
        </p:txBody>
      </p:sp>
      <p:sp>
        <p:nvSpPr>
          <p:cNvPr id="11" name="Text 8"/>
          <p:cNvSpPr/>
          <p:nvPr/>
        </p:nvSpPr>
        <p:spPr>
          <a:xfrm>
            <a:off x="457200" y="6528816"/>
            <a:ext cx="8229600" cy="274320"/>
          </a:xfrm>
          <a:prstGeom prst="rect">
            <a:avLst/>
          </a:prstGeom>
          <a:noFill/>
          <a:ln/>
        </p:spPr>
        <p:txBody>
          <a:bodyPr wrap="square" rtlCol="0" anchor="ctr"/>
          <a:lstStyle/>
          <a:p>
            <a:pPr algn="l" indent="0" marL="0">
              <a:buNone/>
            </a:pPr>
            <a:r>
              <a:rPr lang="en-US" sz="900" dirty="0">
                <a:solidFill>
                  <a:srgbClr val="42525C"/>
                </a:solidFill>
                <a:latin typeface="Calibri" pitchFamily="34" charset="0"/>
                <a:ea typeface="Calibri" pitchFamily="34" charset="-122"/>
                <a:cs typeface="Calibri" pitchFamily="34" charset="-120"/>
              </a:rPr>
              <a:t>ICRIRET 2025  |  Nucleus Segmentation on DSB2018</a:t>
            </a:r>
            <a:endParaRPr lang="en-US" sz="900" dirty="0"/>
          </a:p>
        </p:txBody>
      </p:sp>
      <p:sp>
        <p:nvSpPr>
          <p:cNvPr id="12" name="Text 9"/>
          <p:cNvSpPr/>
          <p:nvPr/>
        </p:nvSpPr>
        <p:spPr>
          <a:xfrm>
            <a:off x="11338560" y="6528816"/>
            <a:ext cx="457200" cy="274320"/>
          </a:xfrm>
          <a:prstGeom prst="rect">
            <a:avLst/>
          </a:prstGeom>
          <a:noFill/>
          <a:ln/>
        </p:spPr>
        <p:txBody>
          <a:bodyPr wrap="square" rtlCol="0" anchor="ctr"/>
          <a:lstStyle/>
          <a:p>
            <a:pPr algn="r" indent="0" marL="0">
              <a:buNone/>
            </a:pPr>
            <a:r>
              <a:rPr lang="en-US" sz="900" dirty="0">
                <a:solidFill>
                  <a:srgbClr val="42525C"/>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0515600" cy="640080"/>
          </a:xfrm>
          <a:prstGeom prst="rect">
            <a:avLst/>
          </a:prstGeom>
          <a:noFill/>
          <a:ln/>
        </p:spPr>
        <p:txBody>
          <a:bodyPr wrap="square" rtlCol="0" anchor="ctr"/>
          <a:lstStyle/>
          <a:p>
            <a:pPr algn="l" indent="0" marL="0">
              <a:buNone/>
            </a:pPr>
            <a:r>
              <a:rPr lang="en-US" sz="3000" b="1" dirty="0">
                <a:solidFill>
                  <a:srgbClr val="0D2A4A"/>
                </a:solidFill>
                <a:latin typeface="Cambria" pitchFamily="34" charset="0"/>
                <a:ea typeface="Cambria" pitchFamily="34" charset="-122"/>
                <a:cs typeface="Cambria" pitchFamily="34" charset="-120"/>
              </a:rPr>
              <a:t>Training Dynamics &amp; Computational Efficiency</a:t>
            </a:r>
            <a:endParaRPr lang="en-US" sz="3000" dirty="0"/>
          </a:p>
        </p:txBody>
      </p:sp>
      <p:sp>
        <p:nvSpPr>
          <p:cNvPr id="3" name="Text 1"/>
          <p:cNvSpPr/>
          <p:nvPr/>
        </p:nvSpPr>
        <p:spPr>
          <a:xfrm>
            <a:off x="548640" y="960120"/>
            <a:ext cx="10515600" cy="365760"/>
          </a:xfrm>
          <a:prstGeom prst="rect">
            <a:avLst/>
          </a:prstGeom>
          <a:noFill/>
          <a:ln/>
        </p:spPr>
        <p:txBody>
          <a:bodyPr wrap="square" rtlCol="0" anchor="ctr"/>
          <a:lstStyle/>
          <a:p>
            <a:pPr algn="l" indent="0" marL="0">
              <a:buNone/>
            </a:pPr>
            <a:r>
              <a:rPr lang="en-US" sz="1400" i="1" dirty="0">
                <a:solidFill>
                  <a:srgbClr val="1C7293"/>
                </a:solidFill>
                <a:latin typeface="Calibri" pitchFamily="34" charset="0"/>
                <a:ea typeface="Calibri" pitchFamily="34" charset="-122"/>
                <a:cs typeface="Calibri" pitchFamily="34" charset="-120"/>
              </a:rPr>
              <a:t>Architectural maturity translates into a smoother, faster training process</a:t>
            </a:r>
            <a:endParaRPr lang="en-US" sz="14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6949440" cy="3931920"/>
        </p:xfrm>
        <a:graphic>
          <a:graphicData uri="http://schemas.openxmlformats.org/drawingml/2006/table">
            <a:tbl>
              <a:tblPr/>
              <a:tblGrid>
                <a:gridCol w="2316480"/>
                <a:gridCol w="2316480"/>
                <a:gridCol w="2316480"/>
              </a:tblGrid>
              <a:tr h="50292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Metric</a:t>
                      </a:r>
                      <a:endParaRPr lang="en-US" sz="1200" dirty="0">
                        <a:latin typeface="Calibri" charset="0"/>
                        <a:ea typeface="Calibri" charset="0"/>
                        <a:cs typeface="Calibri" charset="0"/>
                      </a:endParaRPr>
                    </a:p>
                  </a:txBody>
                  <a:tcPr marL="91440" marR="91440" marT="45720" marB="45720" anchor="ctr">
                    <a:lnL w="9525" cap="flat" cmpd="sng" algn="ctr">
                      <a:solidFill>
                        <a:srgbClr val="DCE6E9"/>
                      </a:solidFill>
                      <a:prstDash val="solid"/>
                      <a:round/>
                      <a:headEnd type="none" w="med" len="med"/>
                      <a:tailEnd type="none" w="med" len="med"/>
                    </a:lnL>
                    <a:lnR w="9525" cap="flat" cmpd="sng" algn="ctr">
                      <a:solidFill>
                        <a:srgbClr val="DCE6E9"/>
                      </a:solidFill>
                      <a:prstDash val="solid"/>
                      <a:round/>
                      <a:headEnd type="none" w="med" len="med"/>
                      <a:tailEnd type="none" w="med" len="med"/>
                    </a:lnR>
                    <a:lnT w="9525" cap="flat" cmpd="sng" algn="ctr">
                      <a:solidFill>
                        <a:srgbClr val="DCE6E9"/>
                      </a:solidFill>
                      <a:prstDash val="solid"/>
                      <a:round/>
                      <a:headEnd type="none" w="med" len="med"/>
                      <a:tailEnd type="none" w="med" len="med"/>
                    </a:lnT>
                    <a:lnB w="9525" cap="flat" cmpd="sng" algn="ctr">
                      <a:solidFill>
                        <a:srgbClr val="DCE6E9"/>
                      </a:solidFill>
                      <a:prstDash val="solid"/>
                      <a:round/>
                      <a:headEnd type="none" w="med" len="med"/>
                      <a:tailEnd type="none" w="med" len="med"/>
                    </a:lnB>
                    <a:solidFill>
                      <a:srgbClr val="065A82"/>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YOLOv11s-seg</a:t>
                      </a:r>
                      <a:endParaRPr lang="en-US" sz="1200" dirty="0">
                        <a:latin typeface="Calibri" charset="0"/>
                        <a:ea typeface="Calibri" charset="0"/>
                        <a:cs typeface="Calibri" charset="0"/>
                      </a:endParaRPr>
                    </a:p>
                  </a:txBody>
                  <a:tcPr marL="91440" marR="91440" marT="45720" marB="45720" anchor="ctr">
                    <a:lnL w="9525" cap="flat" cmpd="sng" algn="ctr">
                      <a:solidFill>
                        <a:srgbClr val="DCE6E9"/>
                      </a:solidFill>
                      <a:prstDash val="solid"/>
                      <a:round/>
                      <a:headEnd type="none" w="med" len="med"/>
                      <a:tailEnd type="none" w="med" len="med"/>
                    </a:lnL>
                    <a:lnR w="9525" cap="flat" cmpd="sng" algn="ctr">
                      <a:solidFill>
                        <a:srgbClr val="DCE6E9"/>
                      </a:solidFill>
                      <a:prstDash val="solid"/>
                      <a:round/>
                      <a:headEnd type="none" w="med" len="med"/>
                      <a:tailEnd type="none" w="med" len="med"/>
                    </a:lnR>
                    <a:lnT w="9525" cap="flat" cmpd="sng" algn="ctr">
                      <a:solidFill>
                        <a:srgbClr val="DCE6E9"/>
                      </a:solidFill>
                      <a:prstDash val="solid"/>
                      <a:round/>
                      <a:headEnd type="none" w="med" len="med"/>
                      <a:tailEnd type="none" w="med" len="med"/>
                    </a:lnT>
                    <a:lnB w="9525" cap="flat" cmpd="sng" algn="ctr">
                      <a:solidFill>
                        <a:srgbClr val="DCE6E9"/>
                      </a:solidFill>
                      <a:prstDash val="solid"/>
                      <a:round/>
                      <a:headEnd type="none" w="med" len="med"/>
                      <a:tailEnd type="none" w="med" len="med"/>
                    </a:lnB>
                    <a:solidFill>
                      <a:srgbClr val="065A82"/>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YOLOv12s-seg</a:t>
                      </a:r>
                      <a:endParaRPr lang="en-US" sz="1200" dirty="0">
                        <a:latin typeface="Calibri" charset="0"/>
                        <a:ea typeface="Calibri" charset="0"/>
                        <a:cs typeface="Calibri" charset="0"/>
                      </a:endParaRPr>
                    </a:p>
                  </a:txBody>
                  <a:tcPr marL="91440" marR="91440" marT="45720" marB="45720" anchor="ctr">
                    <a:lnL w="9525" cap="flat" cmpd="sng" algn="ctr">
                      <a:solidFill>
                        <a:srgbClr val="DCE6E9"/>
                      </a:solidFill>
                      <a:prstDash val="solid"/>
                      <a:round/>
                      <a:headEnd type="none" w="med" len="med"/>
                      <a:tailEnd type="none" w="med" len="med"/>
                    </a:lnL>
                    <a:lnR w="9525" cap="flat" cmpd="sng" algn="ctr">
                      <a:solidFill>
                        <a:srgbClr val="DCE6E9"/>
                      </a:solidFill>
                      <a:prstDash val="solid"/>
                      <a:round/>
                      <a:headEnd type="none" w="med" len="med"/>
                      <a:tailEnd type="none" w="med" len="med"/>
                    </a:lnR>
                    <a:lnT w="9525" cap="flat" cmpd="sng" algn="ctr">
                      <a:solidFill>
                        <a:srgbClr val="DCE6E9"/>
                      </a:solidFill>
                      <a:prstDash val="solid"/>
                      <a:round/>
                      <a:headEnd type="none" w="med" len="med"/>
                      <a:tailEnd type="none" w="med" len="med"/>
                    </a:lnT>
                    <a:lnB w="9525" cap="flat" cmpd="sng" algn="ctr">
                      <a:solidFill>
                        <a:srgbClr val="DCE6E9"/>
                      </a:solidFill>
                      <a:prstDash val="solid"/>
                      <a:round/>
                      <a:headEnd type="none" w="med" len="med"/>
                      <a:tailEnd type="none" w="med" len="med"/>
                    </a:lnB>
                    <a:solidFill>
                      <a:srgbClr val="F2775E"/>
                    </a:solidFill>
                  </a:tcPr>
                </a:tc>
              </a:tr>
              <a:tr h="502920">
                <a:tc>
                  <a:txBody>
                    <a:bodyPr/>
                    <a:lstStyle/>
                    <a:p>
                      <a:pPr indent="0" marL="0">
                        <a:buNone/>
                      </a:pPr>
                      <a:r>
                        <a:rPr lang="en-US" sz="1200" dirty="0">
                          <a:solidFill>
                            <a:srgbClr val="42525C"/>
                          </a:solidFill>
                          <a:latin typeface="Calibri" pitchFamily="34" charset="0"/>
                          <a:ea typeface="Calibri" pitchFamily="34" charset="-122"/>
                          <a:cs typeface="Calibri" pitchFamily="34" charset="-120"/>
                        </a:rPr>
                        <a:t>Parameters</a:t>
                      </a:r>
                      <a:endParaRPr lang="en-US" sz="1200" dirty="0">
                        <a:latin typeface="Calibri" charset="0"/>
                        <a:ea typeface="Calibri" charset="0"/>
                        <a:cs typeface="Calibri" charset="0"/>
                      </a:endParaRPr>
                    </a:p>
                  </a:txBody>
                  <a:tcPr marL="91440" marR="91440" marT="45720" marB="45720" anchor="ctr">
                    <a:lnL w="9525" cap="flat" cmpd="sng" algn="ctr">
                      <a:solidFill>
                        <a:srgbClr val="DCE6E9"/>
                      </a:solidFill>
                      <a:prstDash val="solid"/>
                      <a:round/>
                      <a:headEnd type="none" w="med" len="med"/>
                      <a:tailEnd type="none" w="med" len="med"/>
                    </a:lnL>
                    <a:lnR w="9525" cap="flat" cmpd="sng" algn="ctr">
                      <a:solidFill>
                        <a:srgbClr val="DCE6E9"/>
                      </a:solidFill>
                      <a:prstDash val="solid"/>
                      <a:round/>
                      <a:headEnd type="none" w="med" len="med"/>
                      <a:tailEnd type="none" w="med" len="med"/>
                    </a:lnR>
                    <a:lnT w="9525" cap="flat" cmpd="sng" algn="ctr">
                      <a:solidFill>
                        <a:srgbClr val="DCE6E9"/>
                      </a:solidFill>
                      <a:prstDash val="solid"/>
                      <a:round/>
                      <a:headEnd type="none" w="med" len="med"/>
                      <a:tailEnd type="none" w="med" len="med"/>
                    </a:lnT>
                    <a:lnB w="9525" cap="flat" cmpd="sng" algn="ctr">
                      <a:solidFill>
                        <a:srgbClr val="DCE6E9"/>
                      </a:solidFill>
                      <a:prstDash val="solid"/>
                      <a:round/>
                      <a:headEnd type="none" w="med" len="med"/>
                      <a:tailEnd type="none" w="med" len="med"/>
                    </a:lnB>
                  </a:tcPr>
                </a:tc>
                <a:tc>
                  <a:txBody>
                    <a:bodyPr/>
                    <a:lstStyle/>
                    <a:p>
                      <a:pPr algn="ctr" indent="0" marL="0">
                        <a:buNone/>
                      </a:pPr>
                      <a:r>
                        <a:rPr lang="en-US" sz="1200" dirty="0">
                          <a:solidFill>
                            <a:srgbClr val="42525C"/>
                          </a:solidFill>
                          <a:latin typeface="Calibri" pitchFamily="34" charset="0"/>
                          <a:ea typeface="Calibri" pitchFamily="34" charset="-122"/>
                          <a:cs typeface="Calibri" pitchFamily="34" charset="-120"/>
                        </a:rPr>
                        <a:t>10.08 M</a:t>
                      </a:r>
                      <a:endParaRPr lang="en-US" sz="1200" dirty="0">
                        <a:latin typeface="Calibri" charset="0"/>
                        <a:ea typeface="Calibri" charset="0"/>
                        <a:cs typeface="Calibri" charset="0"/>
                      </a:endParaRPr>
                    </a:p>
                  </a:txBody>
                  <a:tcPr marL="91440" marR="91440" marT="45720" marB="45720" anchor="ctr">
                    <a:lnL w="9525" cap="flat" cmpd="sng" algn="ctr">
                      <a:solidFill>
                        <a:srgbClr val="DCE6E9"/>
                      </a:solidFill>
                      <a:prstDash val="solid"/>
                      <a:round/>
                      <a:headEnd type="none" w="med" len="med"/>
                      <a:tailEnd type="none" w="med" len="med"/>
                    </a:lnL>
                    <a:lnR w="9525" cap="flat" cmpd="sng" algn="ctr">
                      <a:solidFill>
                        <a:srgbClr val="DCE6E9"/>
                      </a:solidFill>
                      <a:prstDash val="solid"/>
                      <a:round/>
                      <a:headEnd type="none" w="med" len="med"/>
                      <a:tailEnd type="none" w="med" len="med"/>
                    </a:lnR>
                    <a:lnT w="9525" cap="flat" cmpd="sng" algn="ctr">
                      <a:solidFill>
                        <a:srgbClr val="DCE6E9"/>
                      </a:solidFill>
                      <a:prstDash val="solid"/>
                      <a:round/>
                      <a:headEnd type="none" w="med" len="med"/>
                      <a:tailEnd type="none" w="med" len="med"/>
                    </a:lnT>
                    <a:lnB w="9525" cap="flat" cmpd="sng" algn="ctr">
                      <a:solidFill>
                        <a:srgbClr val="DCE6E9"/>
                      </a:solidFill>
                      <a:prstDash val="solid"/>
                      <a:round/>
                      <a:headEnd type="none" w="med" len="med"/>
                      <a:tailEnd type="none" w="med" len="med"/>
                    </a:lnB>
                  </a:tcPr>
                </a:tc>
                <a:tc>
                  <a:txBody>
                    <a:bodyPr/>
                    <a:lstStyle/>
                    <a:p>
                      <a:pPr algn="ctr" indent="0" marL="0">
                        <a:buNone/>
                      </a:pPr>
                      <a:r>
                        <a:rPr lang="en-US" sz="1200" dirty="0">
                          <a:solidFill>
                            <a:srgbClr val="42525C"/>
                          </a:solidFill>
                          <a:latin typeface="Calibri" pitchFamily="34" charset="0"/>
                          <a:ea typeface="Calibri" pitchFamily="34" charset="-122"/>
                          <a:cs typeface="Calibri" pitchFamily="34" charset="-120"/>
                        </a:rPr>
                        <a:t>9.91 M</a:t>
                      </a:r>
                      <a:endParaRPr lang="en-US" sz="1200" dirty="0">
                        <a:latin typeface="Calibri" charset="0"/>
                        <a:ea typeface="Calibri" charset="0"/>
                        <a:cs typeface="Calibri" charset="0"/>
                      </a:endParaRPr>
                    </a:p>
                  </a:txBody>
                  <a:tcPr marL="91440" marR="91440" marT="45720" marB="45720" anchor="ctr">
                    <a:lnL w="9525" cap="flat" cmpd="sng" algn="ctr">
                      <a:solidFill>
                        <a:srgbClr val="DCE6E9"/>
                      </a:solidFill>
                      <a:prstDash val="solid"/>
                      <a:round/>
                      <a:headEnd type="none" w="med" len="med"/>
                      <a:tailEnd type="none" w="med" len="med"/>
                    </a:lnL>
                    <a:lnR w="9525" cap="flat" cmpd="sng" algn="ctr">
                      <a:solidFill>
                        <a:srgbClr val="DCE6E9"/>
                      </a:solidFill>
                      <a:prstDash val="solid"/>
                      <a:round/>
                      <a:headEnd type="none" w="med" len="med"/>
                      <a:tailEnd type="none" w="med" len="med"/>
                    </a:lnR>
                    <a:lnT w="9525" cap="flat" cmpd="sng" algn="ctr">
                      <a:solidFill>
                        <a:srgbClr val="DCE6E9"/>
                      </a:solidFill>
                      <a:prstDash val="solid"/>
                      <a:round/>
                      <a:headEnd type="none" w="med" len="med"/>
                      <a:tailEnd type="none" w="med" len="med"/>
                    </a:lnT>
                    <a:lnB w="9525" cap="flat" cmpd="sng" algn="ctr">
                      <a:solidFill>
                        <a:srgbClr val="DCE6E9"/>
                      </a:solidFill>
                      <a:prstDash val="solid"/>
                      <a:round/>
                      <a:headEnd type="none" w="med" len="med"/>
                      <a:tailEnd type="none" w="med" len="med"/>
                    </a:lnB>
                  </a:tcPr>
                </a:tc>
              </a:tr>
              <a:tr h="502920">
                <a:tc>
                  <a:txBody>
                    <a:bodyPr/>
                    <a:lstStyle/>
                    <a:p>
                      <a:pPr indent="0" marL="0">
                        <a:buNone/>
                      </a:pPr>
                      <a:r>
                        <a:rPr lang="en-US" sz="1200" dirty="0">
                          <a:solidFill>
                            <a:srgbClr val="42525C"/>
                          </a:solidFill>
                          <a:latin typeface="Calibri" pitchFamily="34" charset="0"/>
                          <a:ea typeface="Calibri" pitchFamily="34" charset="-122"/>
                          <a:cs typeface="Calibri" pitchFamily="34" charset="-120"/>
                        </a:rPr>
                        <a:t>Network layers</a:t>
                      </a:r>
                      <a:endParaRPr lang="en-US" sz="1200" dirty="0">
                        <a:latin typeface="Calibri" charset="0"/>
                        <a:ea typeface="Calibri" charset="0"/>
                        <a:cs typeface="Calibri" charset="0"/>
                      </a:endParaRPr>
                    </a:p>
                  </a:txBody>
                  <a:tcPr marL="91440" marR="91440" marT="45720" marB="45720" anchor="ctr">
                    <a:lnL w="9525" cap="flat" cmpd="sng" algn="ctr">
                      <a:solidFill>
                        <a:srgbClr val="DCE6E9"/>
                      </a:solidFill>
                      <a:prstDash val="solid"/>
                      <a:round/>
                      <a:headEnd type="none" w="med" len="med"/>
                      <a:tailEnd type="none" w="med" len="med"/>
                    </a:lnL>
                    <a:lnR w="9525" cap="flat" cmpd="sng" algn="ctr">
                      <a:solidFill>
                        <a:srgbClr val="DCE6E9"/>
                      </a:solidFill>
                      <a:prstDash val="solid"/>
                      <a:round/>
                      <a:headEnd type="none" w="med" len="med"/>
                      <a:tailEnd type="none" w="med" len="med"/>
                    </a:lnR>
                    <a:lnT w="9525" cap="flat" cmpd="sng" algn="ctr">
                      <a:solidFill>
                        <a:srgbClr val="DCE6E9"/>
                      </a:solidFill>
                      <a:prstDash val="solid"/>
                      <a:round/>
                      <a:headEnd type="none" w="med" len="med"/>
                      <a:tailEnd type="none" w="med" len="med"/>
                    </a:lnT>
                    <a:lnB w="9525" cap="flat" cmpd="sng" algn="ctr">
                      <a:solidFill>
                        <a:srgbClr val="DCE6E9"/>
                      </a:solidFill>
                      <a:prstDash val="solid"/>
                      <a:round/>
                      <a:headEnd type="none" w="med" len="med"/>
                      <a:tailEnd type="none" w="med" len="med"/>
                    </a:lnB>
                  </a:tcPr>
                </a:tc>
                <a:tc>
                  <a:txBody>
                    <a:bodyPr/>
                    <a:lstStyle/>
                    <a:p>
                      <a:pPr algn="ctr" indent="0" marL="0">
                        <a:buNone/>
                      </a:pPr>
                      <a:r>
                        <a:rPr lang="en-US" sz="1200" dirty="0">
                          <a:solidFill>
                            <a:srgbClr val="42525C"/>
                          </a:solidFill>
                          <a:latin typeface="Calibri" pitchFamily="34" charset="0"/>
                          <a:ea typeface="Calibri" pitchFamily="34" charset="-122"/>
                          <a:cs typeface="Calibri" pitchFamily="34" charset="-120"/>
                        </a:rPr>
                        <a:t>203</a:t>
                      </a:r>
                      <a:endParaRPr lang="en-US" sz="1200" dirty="0">
                        <a:latin typeface="Calibri" charset="0"/>
                        <a:ea typeface="Calibri" charset="0"/>
                        <a:cs typeface="Calibri" charset="0"/>
                      </a:endParaRPr>
                    </a:p>
                  </a:txBody>
                  <a:tcPr marL="91440" marR="91440" marT="45720" marB="45720" anchor="ctr">
                    <a:lnL w="9525" cap="flat" cmpd="sng" algn="ctr">
                      <a:solidFill>
                        <a:srgbClr val="DCE6E9"/>
                      </a:solidFill>
                      <a:prstDash val="solid"/>
                      <a:round/>
                      <a:headEnd type="none" w="med" len="med"/>
                      <a:tailEnd type="none" w="med" len="med"/>
                    </a:lnL>
                    <a:lnR w="9525" cap="flat" cmpd="sng" algn="ctr">
                      <a:solidFill>
                        <a:srgbClr val="DCE6E9"/>
                      </a:solidFill>
                      <a:prstDash val="solid"/>
                      <a:round/>
                      <a:headEnd type="none" w="med" len="med"/>
                      <a:tailEnd type="none" w="med" len="med"/>
                    </a:lnR>
                    <a:lnT w="9525" cap="flat" cmpd="sng" algn="ctr">
                      <a:solidFill>
                        <a:srgbClr val="DCE6E9"/>
                      </a:solidFill>
                      <a:prstDash val="solid"/>
                      <a:round/>
                      <a:headEnd type="none" w="med" len="med"/>
                      <a:tailEnd type="none" w="med" len="med"/>
                    </a:lnT>
                    <a:lnB w="9525" cap="flat" cmpd="sng" algn="ctr">
                      <a:solidFill>
                        <a:srgbClr val="DCE6E9"/>
                      </a:solidFill>
                      <a:prstDash val="solid"/>
                      <a:round/>
                      <a:headEnd type="none" w="med" len="med"/>
                      <a:tailEnd type="none" w="med" len="med"/>
                    </a:lnB>
                  </a:tcPr>
                </a:tc>
                <a:tc>
                  <a:txBody>
                    <a:bodyPr/>
                    <a:lstStyle/>
                    <a:p>
                      <a:pPr algn="ctr" indent="0" marL="0">
                        <a:buNone/>
                      </a:pPr>
                      <a:r>
                        <a:rPr lang="en-US" sz="1200" dirty="0">
                          <a:solidFill>
                            <a:srgbClr val="42525C"/>
                          </a:solidFill>
                          <a:latin typeface="Calibri" pitchFamily="34" charset="0"/>
                          <a:ea typeface="Calibri" pitchFamily="34" charset="-122"/>
                          <a:cs typeface="Calibri" pitchFamily="34" charset="-120"/>
                        </a:rPr>
                        <a:t>294</a:t>
                      </a:r>
                      <a:endParaRPr lang="en-US" sz="1200" dirty="0">
                        <a:latin typeface="Calibri" charset="0"/>
                        <a:ea typeface="Calibri" charset="0"/>
                        <a:cs typeface="Calibri" charset="0"/>
                      </a:endParaRPr>
                    </a:p>
                  </a:txBody>
                  <a:tcPr marL="91440" marR="91440" marT="45720" marB="45720" anchor="ctr">
                    <a:lnL w="9525" cap="flat" cmpd="sng" algn="ctr">
                      <a:solidFill>
                        <a:srgbClr val="DCE6E9"/>
                      </a:solidFill>
                      <a:prstDash val="solid"/>
                      <a:round/>
                      <a:headEnd type="none" w="med" len="med"/>
                      <a:tailEnd type="none" w="med" len="med"/>
                    </a:lnL>
                    <a:lnR w="9525" cap="flat" cmpd="sng" algn="ctr">
                      <a:solidFill>
                        <a:srgbClr val="DCE6E9"/>
                      </a:solidFill>
                      <a:prstDash val="solid"/>
                      <a:round/>
                      <a:headEnd type="none" w="med" len="med"/>
                      <a:tailEnd type="none" w="med" len="med"/>
                    </a:lnR>
                    <a:lnT w="9525" cap="flat" cmpd="sng" algn="ctr">
                      <a:solidFill>
                        <a:srgbClr val="DCE6E9"/>
                      </a:solidFill>
                      <a:prstDash val="solid"/>
                      <a:round/>
                      <a:headEnd type="none" w="med" len="med"/>
                      <a:tailEnd type="none" w="med" len="med"/>
                    </a:lnT>
                    <a:lnB w="9525" cap="flat" cmpd="sng" algn="ctr">
                      <a:solidFill>
                        <a:srgbClr val="DCE6E9"/>
                      </a:solidFill>
                      <a:prstDash val="solid"/>
                      <a:round/>
                      <a:headEnd type="none" w="med" len="med"/>
                      <a:tailEnd type="none" w="med" len="med"/>
                    </a:lnB>
                  </a:tcPr>
                </a:tc>
              </a:tr>
              <a:tr h="502920">
                <a:tc>
                  <a:txBody>
                    <a:bodyPr/>
                    <a:lstStyle/>
                    <a:p>
                      <a:pPr indent="0" marL="0">
                        <a:buNone/>
                      </a:pPr>
                      <a:r>
                        <a:rPr lang="en-US" sz="1200" dirty="0">
                          <a:solidFill>
                            <a:srgbClr val="42525C"/>
                          </a:solidFill>
                          <a:latin typeface="Calibri" pitchFamily="34" charset="0"/>
                          <a:ea typeface="Calibri" pitchFamily="34" charset="-122"/>
                          <a:cs typeface="Calibri" pitchFamily="34" charset="-120"/>
                        </a:rPr>
                        <a:t>Training duration</a:t>
                      </a:r>
                      <a:endParaRPr lang="en-US" sz="1200" dirty="0">
                        <a:latin typeface="Calibri" charset="0"/>
                        <a:ea typeface="Calibri" charset="0"/>
                        <a:cs typeface="Calibri" charset="0"/>
                      </a:endParaRPr>
                    </a:p>
                  </a:txBody>
                  <a:tcPr marL="91440" marR="91440" marT="45720" marB="45720" anchor="ctr">
                    <a:lnL w="9525" cap="flat" cmpd="sng" algn="ctr">
                      <a:solidFill>
                        <a:srgbClr val="DCE6E9"/>
                      </a:solidFill>
                      <a:prstDash val="solid"/>
                      <a:round/>
                      <a:headEnd type="none" w="med" len="med"/>
                      <a:tailEnd type="none" w="med" len="med"/>
                    </a:lnL>
                    <a:lnR w="9525" cap="flat" cmpd="sng" algn="ctr">
                      <a:solidFill>
                        <a:srgbClr val="DCE6E9"/>
                      </a:solidFill>
                      <a:prstDash val="solid"/>
                      <a:round/>
                      <a:headEnd type="none" w="med" len="med"/>
                      <a:tailEnd type="none" w="med" len="med"/>
                    </a:lnR>
                    <a:lnT w="9525" cap="flat" cmpd="sng" algn="ctr">
                      <a:solidFill>
                        <a:srgbClr val="DCE6E9"/>
                      </a:solidFill>
                      <a:prstDash val="solid"/>
                      <a:round/>
                      <a:headEnd type="none" w="med" len="med"/>
                      <a:tailEnd type="none" w="med" len="med"/>
                    </a:lnT>
                    <a:lnB w="9525" cap="flat" cmpd="sng" algn="ctr">
                      <a:solidFill>
                        <a:srgbClr val="DCE6E9"/>
                      </a:solidFill>
                      <a:prstDash val="solid"/>
                      <a:round/>
                      <a:headEnd type="none" w="med" len="med"/>
                      <a:tailEnd type="none" w="med" len="med"/>
                    </a:lnB>
                  </a:tcPr>
                </a:tc>
                <a:tc>
                  <a:txBody>
                    <a:bodyPr/>
                    <a:lstStyle/>
                    <a:p>
                      <a:pPr algn="ctr" indent="0" marL="0">
                        <a:buNone/>
                      </a:pPr>
                      <a:r>
                        <a:rPr lang="en-US" sz="1200" dirty="0">
                          <a:solidFill>
                            <a:srgbClr val="42525C"/>
                          </a:solidFill>
                          <a:latin typeface="Calibri" pitchFamily="34" charset="0"/>
                          <a:ea typeface="Calibri" pitchFamily="34" charset="-122"/>
                          <a:cs typeface="Calibri" pitchFamily="34" charset="-120"/>
                        </a:rPr>
                        <a:t>~35 min</a:t>
                      </a:r>
                      <a:endParaRPr lang="en-US" sz="1200" dirty="0">
                        <a:latin typeface="Calibri" charset="0"/>
                        <a:ea typeface="Calibri" charset="0"/>
                        <a:cs typeface="Calibri" charset="0"/>
                      </a:endParaRPr>
                    </a:p>
                  </a:txBody>
                  <a:tcPr marL="91440" marR="91440" marT="45720" marB="45720" anchor="ctr">
                    <a:lnL w="9525" cap="flat" cmpd="sng" algn="ctr">
                      <a:solidFill>
                        <a:srgbClr val="DCE6E9"/>
                      </a:solidFill>
                      <a:prstDash val="solid"/>
                      <a:round/>
                      <a:headEnd type="none" w="med" len="med"/>
                      <a:tailEnd type="none" w="med" len="med"/>
                    </a:lnL>
                    <a:lnR w="9525" cap="flat" cmpd="sng" algn="ctr">
                      <a:solidFill>
                        <a:srgbClr val="DCE6E9"/>
                      </a:solidFill>
                      <a:prstDash val="solid"/>
                      <a:round/>
                      <a:headEnd type="none" w="med" len="med"/>
                      <a:tailEnd type="none" w="med" len="med"/>
                    </a:lnR>
                    <a:lnT w="9525" cap="flat" cmpd="sng" algn="ctr">
                      <a:solidFill>
                        <a:srgbClr val="DCE6E9"/>
                      </a:solidFill>
                      <a:prstDash val="solid"/>
                      <a:round/>
                      <a:headEnd type="none" w="med" len="med"/>
                      <a:tailEnd type="none" w="med" len="med"/>
                    </a:lnT>
                    <a:lnB w="9525" cap="flat" cmpd="sng" algn="ctr">
                      <a:solidFill>
                        <a:srgbClr val="DCE6E9"/>
                      </a:solidFill>
                      <a:prstDash val="solid"/>
                      <a:round/>
                      <a:headEnd type="none" w="med" len="med"/>
                      <a:tailEnd type="none" w="med" len="med"/>
                    </a:lnB>
                  </a:tcPr>
                </a:tc>
                <a:tc>
                  <a:txBody>
                    <a:bodyPr/>
                    <a:lstStyle/>
                    <a:p>
                      <a:pPr algn="ctr" indent="0" marL="0">
                        <a:buNone/>
                      </a:pPr>
                      <a:r>
                        <a:rPr lang="en-US" sz="1200" dirty="0">
                          <a:solidFill>
                            <a:srgbClr val="42525C"/>
                          </a:solidFill>
                          <a:latin typeface="Calibri" pitchFamily="34" charset="0"/>
                          <a:ea typeface="Calibri" pitchFamily="34" charset="-122"/>
                          <a:cs typeface="Calibri" pitchFamily="34" charset="-120"/>
                        </a:rPr>
                        <a:t>~44 min</a:t>
                      </a:r>
                      <a:endParaRPr lang="en-US" sz="1200" dirty="0">
                        <a:latin typeface="Calibri" charset="0"/>
                        <a:ea typeface="Calibri" charset="0"/>
                        <a:cs typeface="Calibri" charset="0"/>
                      </a:endParaRPr>
                    </a:p>
                  </a:txBody>
                  <a:tcPr marL="91440" marR="91440" marT="45720" marB="45720" anchor="ctr">
                    <a:lnL w="9525" cap="flat" cmpd="sng" algn="ctr">
                      <a:solidFill>
                        <a:srgbClr val="DCE6E9"/>
                      </a:solidFill>
                      <a:prstDash val="solid"/>
                      <a:round/>
                      <a:headEnd type="none" w="med" len="med"/>
                      <a:tailEnd type="none" w="med" len="med"/>
                    </a:lnL>
                    <a:lnR w="9525" cap="flat" cmpd="sng" algn="ctr">
                      <a:solidFill>
                        <a:srgbClr val="DCE6E9"/>
                      </a:solidFill>
                      <a:prstDash val="solid"/>
                      <a:round/>
                      <a:headEnd type="none" w="med" len="med"/>
                      <a:tailEnd type="none" w="med" len="med"/>
                    </a:lnR>
                    <a:lnT w="9525" cap="flat" cmpd="sng" algn="ctr">
                      <a:solidFill>
                        <a:srgbClr val="DCE6E9"/>
                      </a:solidFill>
                      <a:prstDash val="solid"/>
                      <a:round/>
                      <a:headEnd type="none" w="med" len="med"/>
                      <a:tailEnd type="none" w="med" len="med"/>
                    </a:lnT>
                    <a:lnB w="9525" cap="flat" cmpd="sng" algn="ctr">
                      <a:solidFill>
                        <a:srgbClr val="DCE6E9"/>
                      </a:solidFill>
                      <a:prstDash val="solid"/>
                      <a:round/>
                      <a:headEnd type="none" w="med" len="med"/>
                      <a:tailEnd type="none" w="med" len="med"/>
                    </a:lnB>
                  </a:tcPr>
                </a:tc>
              </a:tr>
              <a:tr h="502920">
                <a:tc>
                  <a:txBody>
                    <a:bodyPr/>
                    <a:lstStyle/>
                    <a:p>
                      <a:pPr indent="0" marL="0">
                        <a:buNone/>
                      </a:pPr>
                      <a:r>
                        <a:rPr lang="en-US" sz="1200" dirty="0">
                          <a:solidFill>
                            <a:srgbClr val="42525C"/>
                          </a:solidFill>
                          <a:latin typeface="Calibri" pitchFamily="34" charset="0"/>
                          <a:ea typeface="Calibri" pitchFamily="34" charset="-122"/>
                          <a:cs typeface="Calibri" pitchFamily="34" charset="-120"/>
                        </a:rPr>
                        <a:t>Training speed</a:t>
                      </a:r>
                      <a:endParaRPr lang="en-US" sz="1200" dirty="0">
                        <a:latin typeface="Calibri" charset="0"/>
                        <a:ea typeface="Calibri" charset="0"/>
                        <a:cs typeface="Calibri" charset="0"/>
                      </a:endParaRPr>
                    </a:p>
                  </a:txBody>
                  <a:tcPr marL="91440" marR="91440" marT="45720" marB="45720" anchor="ctr">
                    <a:lnL w="9525" cap="flat" cmpd="sng" algn="ctr">
                      <a:solidFill>
                        <a:srgbClr val="DCE6E9"/>
                      </a:solidFill>
                      <a:prstDash val="solid"/>
                      <a:round/>
                      <a:headEnd type="none" w="med" len="med"/>
                      <a:tailEnd type="none" w="med" len="med"/>
                    </a:lnL>
                    <a:lnR w="9525" cap="flat" cmpd="sng" algn="ctr">
                      <a:solidFill>
                        <a:srgbClr val="DCE6E9"/>
                      </a:solidFill>
                      <a:prstDash val="solid"/>
                      <a:round/>
                      <a:headEnd type="none" w="med" len="med"/>
                      <a:tailEnd type="none" w="med" len="med"/>
                    </a:lnR>
                    <a:lnT w="9525" cap="flat" cmpd="sng" algn="ctr">
                      <a:solidFill>
                        <a:srgbClr val="DCE6E9"/>
                      </a:solidFill>
                      <a:prstDash val="solid"/>
                      <a:round/>
                      <a:headEnd type="none" w="med" len="med"/>
                      <a:tailEnd type="none" w="med" len="med"/>
                    </a:lnT>
                    <a:lnB w="9525" cap="flat" cmpd="sng" algn="ctr">
                      <a:solidFill>
                        <a:srgbClr val="DCE6E9"/>
                      </a:solidFill>
                      <a:prstDash val="solid"/>
                      <a:round/>
                      <a:headEnd type="none" w="med" len="med"/>
                      <a:tailEnd type="none" w="med" len="med"/>
                    </a:lnB>
                  </a:tcPr>
                </a:tc>
                <a:tc>
                  <a:txBody>
                    <a:bodyPr/>
                    <a:lstStyle/>
                    <a:p>
                      <a:pPr algn="ctr" indent="0" marL="0">
                        <a:buNone/>
                      </a:pPr>
                      <a:r>
                        <a:rPr lang="en-US" sz="1200" dirty="0">
                          <a:solidFill>
                            <a:srgbClr val="42525C"/>
                          </a:solidFill>
                          <a:latin typeface="Calibri" pitchFamily="34" charset="0"/>
                          <a:ea typeface="Calibri" pitchFamily="34" charset="-122"/>
                          <a:cs typeface="Calibri" pitchFamily="34" charset="-120"/>
                        </a:rPr>
                        <a:t>2.5 it/s</a:t>
                      </a:r>
                      <a:endParaRPr lang="en-US" sz="1200" dirty="0">
                        <a:latin typeface="Calibri" charset="0"/>
                        <a:ea typeface="Calibri" charset="0"/>
                        <a:cs typeface="Calibri" charset="0"/>
                      </a:endParaRPr>
                    </a:p>
                  </a:txBody>
                  <a:tcPr marL="91440" marR="91440" marT="45720" marB="45720" anchor="ctr">
                    <a:lnL w="9525" cap="flat" cmpd="sng" algn="ctr">
                      <a:solidFill>
                        <a:srgbClr val="DCE6E9"/>
                      </a:solidFill>
                      <a:prstDash val="solid"/>
                      <a:round/>
                      <a:headEnd type="none" w="med" len="med"/>
                      <a:tailEnd type="none" w="med" len="med"/>
                    </a:lnL>
                    <a:lnR w="9525" cap="flat" cmpd="sng" algn="ctr">
                      <a:solidFill>
                        <a:srgbClr val="DCE6E9"/>
                      </a:solidFill>
                      <a:prstDash val="solid"/>
                      <a:round/>
                      <a:headEnd type="none" w="med" len="med"/>
                      <a:tailEnd type="none" w="med" len="med"/>
                    </a:lnR>
                    <a:lnT w="9525" cap="flat" cmpd="sng" algn="ctr">
                      <a:solidFill>
                        <a:srgbClr val="DCE6E9"/>
                      </a:solidFill>
                      <a:prstDash val="solid"/>
                      <a:round/>
                      <a:headEnd type="none" w="med" len="med"/>
                      <a:tailEnd type="none" w="med" len="med"/>
                    </a:lnT>
                    <a:lnB w="9525" cap="flat" cmpd="sng" algn="ctr">
                      <a:solidFill>
                        <a:srgbClr val="DCE6E9"/>
                      </a:solidFill>
                      <a:prstDash val="solid"/>
                      <a:round/>
                      <a:headEnd type="none" w="med" len="med"/>
                      <a:tailEnd type="none" w="med" len="med"/>
                    </a:lnB>
                  </a:tcPr>
                </a:tc>
                <a:tc>
                  <a:txBody>
                    <a:bodyPr/>
                    <a:lstStyle/>
                    <a:p>
                      <a:pPr algn="ctr" indent="0" marL="0">
                        <a:buNone/>
                      </a:pPr>
                      <a:r>
                        <a:rPr lang="en-US" sz="1200" dirty="0">
                          <a:solidFill>
                            <a:srgbClr val="42525C"/>
                          </a:solidFill>
                          <a:latin typeface="Calibri" pitchFamily="34" charset="0"/>
                          <a:ea typeface="Calibri" pitchFamily="34" charset="-122"/>
                          <a:cs typeface="Calibri" pitchFamily="34" charset="-120"/>
                        </a:rPr>
                        <a:t>1.7 it/s</a:t>
                      </a:r>
                      <a:endParaRPr lang="en-US" sz="1200" dirty="0">
                        <a:latin typeface="Calibri" charset="0"/>
                        <a:ea typeface="Calibri" charset="0"/>
                        <a:cs typeface="Calibri" charset="0"/>
                      </a:endParaRPr>
                    </a:p>
                  </a:txBody>
                  <a:tcPr marL="91440" marR="91440" marT="45720" marB="45720" anchor="ctr">
                    <a:lnL w="9525" cap="flat" cmpd="sng" algn="ctr">
                      <a:solidFill>
                        <a:srgbClr val="DCE6E9"/>
                      </a:solidFill>
                      <a:prstDash val="solid"/>
                      <a:round/>
                      <a:headEnd type="none" w="med" len="med"/>
                      <a:tailEnd type="none" w="med" len="med"/>
                    </a:lnL>
                    <a:lnR w="9525" cap="flat" cmpd="sng" algn="ctr">
                      <a:solidFill>
                        <a:srgbClr val="DCE6E9"/>
                      </a:solidFill>
                      <a:prstDash val="solid"/>
                      <a:round/>
                      <a:headEnd type="none" w="med" len="med"/>
                      <a:tailEnd type="none" w="med" len="med"/>
                    </a:lnR>
                    <a:lnT w="9525" cap="flat" cmpd="sng" algn="ctr">
                      <a:solidFill>
                        <a:srgbClr val="DCE6E9"/>
                      </a:solidFill>
                      <a:prstDash val="solid"/>
                      <a:round/>
                      <a:headEnd type="none" w="med" len="med"/>
                      <a:tailEnd type="none" w="med" len="med"/>
                    </a:lnT>
                    <a:lnB w="9525" cap="flat" cmpd="sng" algn="ctr">
                      <a:solidFill>
                        <a:srgbClr val="DCE6E9"/>
                      </a:solidFill>
                      <a:prstDash val="solid"/>
                      <a:round/>
                      <a:headEnd type="none" w="med" len="med"/>
                      <a:tailEnd type="none" w="med" len="med"/>
                    </a:lnB>
                  </a:tcPr>
                </a:tc>
              </a:tr>
              <a:tr h="502920">
                <a:tc>
                  <a:txBody>
                    <a:bodyPr/>
                    <a:lstStyle/>
                    <a:p>
                      <a:pPr indent="0" marL="0">
                        <a:buNone/>
                      </a:pPr>
                      <a:r>
                        <a:rPr lang="en-US" sz="1200" dirty="0">
                          <a:solidFill>
                            <a:srgbClr val="42525C"/>
                          </a:solidFill>
                          <a:latin typeface="Calibri" pitchFamily="34" charset="0"/>
                          <a:ea typeface="Calibri" pitchFamily="34" charset="-122"/>
                          <a:cs typeface="Calibri" pitchFamily="34" charset="-120"/>
                        </a:rPr>
                        <a:t>Peak GPU memory</a:t>
                      </a:r>
                      <a:endParaRPr lang="en-US" sz="1200" dirty="0">
                        <a:latin typeface="Calibri" charset="0"/>
                        <a:ea typeface="Calibri" charset="0"/>
                        <a:cs typeface="Calibri" charset="0"/>
                      </a:endParaRPr>
                    </a:p>
                  </a:txBody>
                  <a:tcPr marL="91440" marR="91440" marT="45720" marB="45720" anchor="ctr">
                    <a:lnL w="9525" cap="flat" cmpd="sng" algn="ctr">
                      <a:solidFill>
                        <a:srgbClr val="DCE6E9"/>
                      </a:solidFill>
                      <a:prstDash val="solid"/>
                      <a:round/>
                      <a:headEnd type="none" w="med" len="med"/>
                      <a:tailEnd type="none" w="med" len="med"/>
                    </a:lnL>
                    <a:lnR w="9525" cap="flat" cmpd="sng" algn="ctr">
                      <a:solidFill>
                        <a:srgbClr val="DCE6E9"/>
                      </a:solidFill>
                      <a:prstDash val="solid"/>
                      <a:round/>
                      <a:headEnd type="none" w="med" len="med"/>
                      <a:tailEnd type="none" w="med" len="med"/>
                    </a:lnR>
                    <a:lnT w="9525" cap="flat" cmpd="sng" algn="ctr">
                      <a:solidFill>
                        <a:srgbClr val="DCE6E9"/>
                      </a:solidFill>
                      <a:prstDash val="solid"/>
                      <a:round/>
                      <a:headEnd type="none" w="med" len="med"/>
                      <a:tailEnd type="none" w="med" len="med"/>
                    </a:lnT>
                    <a:lnB w="9525" cap="flat" cmpd="sng" algn="ctr">
                      <a:solidFill>
                        <a:srgbClr val="DCE6E9"/>
                      </a:solidFill>
                      <a:prstDash val="solid"/>
                      <a:round/>
                      <a:headEnd type="none" w="med" len="med"/>
                      <a:tailEnd type="none" w="med" len="med"/>
                    </a:lnB>
                  </a:tcPr>
                </a:tc>
                <a:tc>
                  <a:txBody>
                    <a:bodyPr/>
                    <a:lstStyle/>
                    <a:p>
                      <a:pPr algn="ctr" indent="0" marL="0">
                        <a:buNone/>
                      </a:pPr>
                      <a:r>
                        <a:rPr lang="en-US" sz="1200" dirty="0">
                          <a:solidFill>
                            <a:srgbClr val="42525C"/>
                          </a:solidFill>
                          <a:latin typeface="Calibri" pitchFamily="34" charset="0"/>
                          <a:ea typeface="Calibri" pitchFamily="34" charset="-122"/>
                          <a:cs typeface="Calibri" pitchFamily="34" charset="-120"/>
                        </a:rPr>
                        <a:t>4.62 GB</a:t>
                      </a:r>
                      <a:endParaRPr lang="en-US" sz="1200" dirty="0">
                        <a:latin typeface="Calibri" charset="0"/>
                        <a:ea typeface="Calibri" charset="0"/>
                        <a:cs typeface="Calibri" charset="0"/>
                      </a:endParaRPr>
                    </a:p>
                  </a:txBody>
                  <a:tcPr marL="91440" marR="91440" marT="45720" marB="45720" anchor="ctr">
                    <a:lnL w="9525" cap="flat" cmpd="sng" algn="ctr">
                      <a:solidFill>
                        <a:srgbClr val="DCE6E9"/>
                      </a:solidFill>
                      <a:prstDash val="solid"/>
                      <a:round/>
                      <a:headEnd type="none" w="med" len="med"/>
                      <a:tailEnd type="none" w="med" len="med"/>
                    </a:lnL>
                    <a:lnR w="9525" cap="flat" cmpd="sng" algn="ctr">
                      <a:solidFill>
                        <a:srgbClr val="DCE6E9"/>
                      </a:solidFill>
                      <a:prstDash val="solid"/>
                      <a:round/>
                      <a:headEnd type="none" w="med" len="med"/>
                      <a:tailEnd type="none" w="med" len="med"/>
                    </a:lnR>
                    <a:lnT w="9525" cap="flat" cmpd="sng" algn="ctr">
                      <a:solidFill>
                        <a:srgbClr val="DCE6E9"/>
                      </a:solidFill>
                      <a:prstDash val="solid"/>
                      <a:round/>
                      <a:headEnd type="none" w="med" len="med"/>
                      <a:tailEnd type="none" w="med" len="med"/>
                    </a:lnT>
                    <a:lnB w="9525" cap="flat" cmpd="sng" algn="ctr">
                      <a:solidFill>
                        <a:srgbClr val="DCE6E9"/>
                      </a:solidFill>
                      <a:prstDash val="solid"/>
                      <a:round/>
                      <a:headEnd type="none" w="med" len="med"/>
                      <a:tailEnd type="none" w="med" len="med"/>
                    </a:lnB>
                  </a:tcPr>
                </a:tc>
                <a:tc>
                  <a:txBody>
                    <a:bodyPr/>
                    <a:lstStyle/>
                    <a:p>
                      <a:pPr algn="ctr" indent="0" marL="0">
                        <a:buNone/>
                      </a:pPr>
                      <a:r>
                        <a:rPr lang="en-US" sz="1200" dirty="0">
                          <a:solidFill>
                            <a:srgbClr val="42525C"/>
                          </a:solidFill>
                          <a:latin typeface="Calibri" pitchFamily="34" charset="0"/>
                          <a:ea typeface="Calibri" pitchFamily="34" charset="-122"/>
                          <a:cs typeface="Calibri" pitchFamily="34" charset="-120"/>
                        </a:rPr>
                        <a:t>5.52 GB</a:t>
                      </a:r>
                      <a:endParaRPr lang="en-US" sz="1200" dirty="0">
                        <a:latin typeface="Calibri" charset="0"/>
                        <a:ea typeface="Calibri" charset="0"/>
                        <a:cs typeface="Calibri" charset="0"/>
                      </a:endParaRPr>
                    </a:p>
                  </a:txBody>
                  <a:tcPr marL="91440" marR="91440" marT="45720" marB="45720" anchor="ctr">
                    <a:lnL w="9525" cap="flat" cmpd="sng" algn="ctr">
                      <a:solidFill>
                        <a:srgbClr val="DCE6E9"/>
                      </a:solidFill>
                      <a:prstDash val="solid"/>
                      <a:round/>
                      <a:headEnd type="none" w="med" len="med"/>
                      <a:tailEnd type="none" w="med" len="med"/>
                    </a:lnL>
                    <a:lnR w="9525" cap="flat" cmpd="sng" algn="ctr">
                      <a:solidFill>
                        <a:srgbClr val="DCE6E9"/>
                      </a:solidFill>
                      <a:prstDash val="solid"/>
                      <a:round/>
                      <a:headEnd type="none" w="med" len="med"/>
                      <a:tailEnd type="none" w="med" len="med"/>
                    </a:lnR>
                    <a:lnT w="9525" cap="flat" cmpd="sng" algn="ctr">
                      <a:solidFill>
                        <a:srgbClr val="DCE6E9"/>
                      </a:solidFill>
                      <a:prstDash val="solid"/>
                      <a:round/>
                      <a:headEnd type="none" w="med" len="med"/>
                      <a:tailEnd type="none" w="med" len="med"/>
                    </a:lnT>
                    <a:lnB w="9525" cap="flat" cmpd="sng" algn="ctr">
                      <a:solidFill>
                        <a:srgbClr val="DCE6E9"/>
                      </a:solidFill>
                      <a:prstDash val="solid"/>
                      <a:round/>
                      <a:headEnd type="none" w="med" len="med"/>
                      <a:tailEnd type="none" w="med" len="med"/>
                    </a:lnB>
                  </a:tcPr>
                </a:tc>
              </a:tr>
              <a:tr h="502920">
                <a:tc>
                  <a:txBody>
                    <a:bodyPr/>
                    <a:lstStyle/>
                    <a:p>
                      <a:pPr indent="0" marL="0">
                        <a:buNone/>
                      </a:pPr>
                      <a:r>
                        <a:rPr lang="en-US" sz="1200" dirty="0">
                          <a:solidFill>
                            <a:srgbClr val="42525C"/>
                          </a:solidFill>
                          <a:latin typeface="Calibri" pitchFamily="34" charset="0"/>
                          <a:ea typeface="Calibri" pitchFamily="34" charset="-122"/>
                          <a:cs typeface="Calibri" pitchFamily="34" charset="-120"/>
                        </a:rPr>
                        <a:t>Best epoch (of 100)</a:t>
                      </a:r>
                      <a:endParaRPr lang="en-US" sz="1200" dirty="0">
                        <a:latin typeface="Calibri" charset="0"/>
                        <a:ea typeface="Calibri" charset="0"/>
                        <a:cs typeface="Calibri" charset="0"/>
                      </a:endParaRPr>
                    </a:p>
                  </a:txBody>
                  <a:tcPr marL="91440" marR="91440" marT="45720" marB="45720" anchor="ctr">
                    <a:lnL w="9525" cap="flat" cmpd="sng" algn="ctr">
                      <a:solidFill>
                        <a:srgbClr val="DCE6E9"/>
                      </a:solidFill>
                      <a:prstDash val="solid"/>
                      <a:round/>
                      <a:headEnd type="none" w="med" len="med"/>
                      <a:tailEnd type="none" w="med" len="med"/>
                    </a:lnL>
                    <a:lnR w="9525" cap="flat" cmpd="sng" algn="ctr">
                      <a:solidFill>
                        <a:srgbClr val="DCE6E9"/>
                      </a:solidFill>
                      <a:prstDash val="solid"/>
                      <a:round/>
                      <a:headEnd type="none" w="med" len="med"/>
                      <a:tailEnd type="none" w="med" len="med"/>
                    </a:lnR>
                    <a:lnT w="9525" cap="flat" cmpd="sng" algn="ctr">
                      <a:solidFill>
                        <a:srgbClr val="DCE6E9"/>
                      </a:solidFill>
                      <a:prstDash val="solid"/>
                      <a:round/>
                      <a:headEnd type="none" w="med" len="med"/>
                      <a:tailEnd type="none" w="med" len="med"/>
                    </a:lnT>
                    <a:lnB w="9525" cap="flat" cmpd="sng" algn="ctr">
                      <a:solidFill>
                        <a:srgbClr val="DCE6E9"/>
                      </a:solidFill>
                      <a:prstDash val="solid"/>
                      <a:round/>
                      <a:headEnd type="none" w="med" len="med"/>
                      <a:tailEnd type="none" w="med" len="med"/>
                    </a:lnB>
                  </a:tcPr>
                </a:tc>
                <a:tc>
                  <a:txBody>
                    <a:bodyPr/>
                    <a:lstStyle/>
                    <a:p>
                      <a:pPr algn="ctr" indent="0" marL="0">
                        <a:buNone/>
                      </a:pPr>
                      <a:r>
                        <a:rPr lang="en-US" sz="1200" dirty="0">
                          <a:solidFill>
                            <a:srgbClr val="42525C"/>
                          </a:solidFill>
                          <a:latin typeface="Calibri" pitchFamily="34" charset="0"/>
                          <a:ea typeface="Calibri" pitchFamily="34" charset="-122"/>
                          <a:cs typeface="Calibri" pitchFamily="34" charset="-120"/>
                        </a:rPr>
                        <a:t>88</a:t>
                      </a:r>
                      <a:endParaRPr lang="en-US" sz="1200" dirty="0">
                        <a:latin typeface="Calibri" charset="0"/>
                        <a:ea typeface="Calibri" charset="0"/>
                        <a:cs typeface="Calibri" charset="0"/>
                      </a:endParaRPr>
                    </a:p>
                  </a:txBody>
                  <a:tcPr marL="91440" marR="91440" marT="45720" marB="45720" anchor="ctr">
                    <a:lnL w="9525" cap="flat" cmpd="sng" algn="ctr">
                      <a:solidFill>
                        <a:srgbClr val="DCE6E9"/>
                      </a:solidFill>
                      <a:prstDash val="solid"/>
                      <a:round/>
                      <a:headEnd type="none" w="med" len="med"/>
                      <a:tailEnd type="none" w="med" len="med"/>
                    </a:lnL>
                    <a:lnR w="9525" cap="flat" cmpd="sng" algn="ctr">
                      <a:solidFill>
                        <a:srgbClr val="DCE6E9"/>
                      </a:solidFill>
                      <a:prstDash val="solid"/>
                      <a:round/>
                      <a:headEnd type="none" w="med" len="med"/>
                      <a:tailEnd type="none" w="med" len="med"/>
                    </a:lnR>
                    <a:lnT w="9525" cap="flat" cmpd="sng" algn="ctr">
                      <a:solidFill>
                        <a:srgbClr val="DCE6E9"/>
                      </a:solidFill>
                      <a:prstDash val="solid"/>
                      <a:round/>
                      <a:headEnd type="none" w="med" len="med"/>
                      <a:tailEnd type="none" w="med" len="med"/>
                    </a:lnT>
                    <a:lnB w="9525" cap="flat" cmpd="sng" algn="ctr">
                      <a:solidFill>
                        <a:srgbClr val="DCE6E9"/>
                      </a:solidFill>
                      <a:prstDash val="solid"/>
                      <a:round/>
                      <a:headEnd type="none" w="med" len="med"/>
                      <a:tailEnd type="none" w="med" len="med"/>
                    </a:lnB>
                  </a:tcPr>
                </a:tc>
                <a:tc>
                  <a:txBody>
                    <a:bodyPr/>
                    <a:lstStyle/>
                    <a:p>
                      <a:pPr algn="ctr" indent="0" marL="0">
                        <a:buNone/>
                      </a:pPr>
                      <a:r>
                        <a:rPr lang="en-US" sz="1200" dirty="0">
                          <a:solidFill>
                            <a:srgbClr val="42525C"/>
                          </a:solidFill>
                          <a:latin typeface="Calibri" pitchFamily="34" charset="0"/>
                          <a:ea typeface="Calibri" pitchFamily="34" charset="-122"/>
                          <a:cs typeface="Calibri" pitchFamily="34" charset="-120"/>
                        </a:rPr>
                        <a:t>98</a:t>
                      </a:r>
                      <a:endParaRPr lang="en-US" sz="1200" dirty="0">
                        <a:latin typeface="Calibri" charset="0"/>
                        <a:ea typeface="Calibri" charset="0"/>
                        <a:cs typeface="Calibri" charset="0"/>
                      </a:endParaRPr>
                    </a:p>
                  </a:txBody>
                  <a:tcPr marL="91440" marR="91440" marT="45720" marB="45720" anchor="ctr">
                    <a:lnL w="9525" cap="flat" cmpd="sng" algn="ctr">
                      <a:solidFill>
                        <a:srgbClr val="DCE6E9"/>
                      </a:solidFill>
                      <a:prstDash val="solid"/>
                      <a:round/>
                      <a:headEnd type="none" w="med" len="med"/>
                      <a:tailEnd type="none" w="med" len="med"/>
                    </a:lnL>
                    <a:lnR w="9525" cap="flat" cmpd="sng" algn="ctr">
                      <a:solidFill>
                        <a:srgbClr val="DCE6E9"/>
                      </a:solidFill>
                      <a:prstDash val="solid"/>
                      <a:round/>
                      <a:headEnd type="none" w="med" len="med"/>
                      <a:tailEnd type="none" w="med" len="med"/>
                    </a:lnR>
                    <a:lnT w="9525" cap="flat" cmpd="sng" algn="ctr">
                      <a:solidFill>
                        <a:srgbClr val="DCE6E9"/>
                      </a:solidFill>
                      <a:prstDash val="solid"/>
                      <a:round/>
                      <a:headEnd type="none" w="med" len="med"/>
                      <a:tailEnd type="none" w="med" len="med"/>
                    </a:lnT>
                    <a:lnB w="9525" cap="flat" cmpd="sng" algn="ctr">
                      <a:solidFill>
                        <a:srgbClr val="DCE6E9"/>
                      </a:solidFill>
                      <a:prstDash val="solid"/>
                      <a:round/>
                      <a:headEnd type="none" w="med" len="med"/>
                      <a:tailEnd type="none" w="med" len="med"/>
                    </a:lnB>
                  </a:tcPr>
                </a:tc>
              </a:tr>
            </a:tbl>
          </a:graphicData>
        </a:graphic>
      </p:graphicFrame>
      <p:sp>
        <p:nvSpPr>
          <p:cNvPr id="5" name="Shape 2"/>
          <p:cNvSpPr/>
          <p:nvPr/>
        </p:nvSpPr>
        <p:spPr>
          <a:xfrm>
            <a:off x="7772400" y="1691640"/>
            <a:ext cx="3657600" cy="3931920"/>
          </a:xfrm>
          <a:prstGeom prst="roundRect">
            <a:avLst>
              <a:gd name="adj" fmla="val 2000"/>
            </a:avLst>
          </a:prstGeom>
          <a:solidFill>
            <a:srgbClr val="F5F9FA"/>
          </a:solidFill>
          <a:ln w="12700">
            <a:solidFill>
              <a:srgbClr val="DCE6E9"/>
            </a:solidFill>
            <a:prstDash val="solid"/>
          </a:ln>
        </p:spPr>
      </p:sp>
      <p:sp>
        <p:nvSpPr>
          <p:cNvPr id="6" name="Text 3"/>
          <p:cNvSpPr/>
          <p:nvPr/>
        </p:nvSpPr>
        <p:spPr>
          <a:xfrm>
            <a:off x="8001000" y="1920240"/>
            <a:ext cx="3200400" cy="365760"/>
          </a:xfrm>
          <a:prstGeom prst="rect">
            <a:avLst/>
          </a:prstGeom>
          <a:noFill/>
          <a:ln/>
        </p:spPr>
        <p:txBody>
          <a:bodyPr wrap="square" rtlCol="0" anchor="ctr"/>
          <a:lstStyle/>
          <a:p>
            <a:pPr indent="0" marL="0">
              <a:buNone/>
            </a:pPr>
            <a:r>
              <a:rPr lang="en-US" sz="1400" b="1" dirty="0">
                <a:solidFill>
                  <a:srgbClr val="0D2A4A"/>
                </a:solidFill>
                <a:latin typeface="Cambria" pitchFamily="34" charset="0"/>
                <a:ea typeface="Cambria" pitchFamily="34" charset="-122"/>
                <a:cs typeface="Cambria" pitchFamily="34" charset="-120"/>
              </a:rPr>
              <a:t>Key takeaway</a:t>
            </a:r>
            <a:endParaRPr lang="en-US" sz="1400" dirty="0"/>
          </a:p>
        </p:txBody>
      </p:sp>
      <p:sp>
        <p:nvSpPr>
          <p:cNvPr id="7" name="Text 4"/>
          <p:cNvSpPr/>
          <p:nvPr/>
        </p:nvSpPr>
        <p:spPr>
          <a:xfrm>
            <a:off x="8001000" y="2377440"/>
            <a:ext cx="3200400" cy="3108960"/>
          </a:xfrm>
          <a:prstGeom prst="rect">
            <a:avLst/>
          </a:prstGeom>
          <a:noFill/>
          <a:ln/>
        </p:spPr>
        <p:txBody>
          <a:bodyPr wrap="square" rtlCol="0" anchor="ctr"/>
          <a:lstStyle/>
          <a:p>
            <a:pPr indent="0" marL="0">
              <a:lnSpc>
                <a:spcPct val="125000"/>
              </a:lnSpc>
              <a:buNone/>
            </a:pPr>
            <a:r>
              <a:rPr lang="en-US" sz="1200" dirty="0">
                <a:solidFill>
                  <a:srgbClr val="42525C"/>
                </a:solidFill>
                <a:latin typeface="Calibri" pitchFamily="34" charset="0"/>
                <a:ea typeface="Calibri" pitchFamily="34" charset="-122"/>
                <a:cs typeface="Calibri" pitchFamily="34" charset="-120"/>
              </a:rPr>
              <a:t>Although YOLOv12s-seg has slightly fewer parameters, its deeper 294-layer structure and FlashAttention mechanism introduce training instability, slower throughput, and higher memory demand. YOLOv11s-seg converges earlier and more reliably, thanks to its mature, well-optimized checkpoint.</a:t>
            </a:r>
            <a:endParaRPr lang="en-US" sz="1200" dirty="0"/>
          </a:p>
        </p:txBody>
      </p:sp>
      <p:sp>
        <p:nvSpPr>
          <p:cNvPr id="8" name="Text 5"/>
          <p:cNvSpPr/>
          <p:nvPr/>
        </p:nvSpPr>
        <p:spPr>
          <a:xfrm>
            <a:off x="457200" y="6528816"/>
            <a:ext cx="8229600" cy="274320"/>
          </a:xfrm>
          <a:prstGeom prst="rect">
            <a:avLst/>
          </a:prstGeom>
          <a:noFill/>
          <a:ln/>
        </p:spPr>
        <p:txBody>
          <a:bodyPr wrap="square" rtlCol="0" anchor="ctr"/>
          <a:lstStyle/>
          <a:p>
            <a:pPr algn="l" indent="0" marL="0">
              <a:buNone/>
            </a:pPr>
            <a:r>
              <a:rPr lang="en-US" sz="900" dirty="0">
                <a:solidFill>
                  <a:srgbClr val="42525C"/>
                </a:solidFill>
                <a:latin typeface="Calibri" pitchFamily="34" charset="0"/>
                <a:ea typeface="Calibri" pitchFamily="34" charset="-122"/>
                <a:cs typeface="Calibri" pitchFamily="34" charset="-120"/>
              </a:rPr>
              <a:t>ICRIRET 2025  |  Nucleus Segmentation on DSB2018</a:t>
            </a:r>
            <a:endParaRPr lang="en-US" sz="900" dirty="0"/>
          </a:p>
        </p:txBody>
      </p:sp>
      <p:sp>
        <p:nvSpPr>
          <p:cNvPr id="9" name="Text 6"/>
          <p:cNvSpPr/>
          <p:nvPr/>
        </p:nvSpPr>
        <p:spPr>
          <a:xfrm>
            <a:off x="11338560" y="6528816"/>
            <a:ext cx="457200" cy="274320"/>
          </a:xfrm>
          <a:prstGeom prst="rect">
            <a:avLst/>
          </a:prstGeom>
          <a:noFill/>
          <a:ln/>
        </p:spPr>
        <p:txBody>
          <a:bodyPr wrap="square" rtlCol="0" anchor="ctr"/>
          <a:lstStyle/>
          <a:p>
            <a:pPr algn="r" indent="0" marL="0">
              <a:buNone/>
            </a:pPr>
            <a:r>
              <a:rPr lang="en-US" sz="900" dirty="0">
                <a:solidFill>
                  <a:srgbClr val="42525C"/>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9FA"/>
        </a:solidFill>
      </p:bgPr>
    </p:bg>
    <p:spTree>
      <p:nvGrpSpPr>
        <p:cNvPr id="1" name=""/>
        <p:cNvGrpSpPr/>
        <p:nvPr/>
      </p:nvGrpSpPr>
      <p:grpSpPr>
        <a:xfrm>
          <a:off x="0" y="0"/>
          <a:ext cx="0" cy="0"/>
          <a:chOff x="0" y="0"/>
          <a:chExt cx="0" cy="0"/>
        </a:xfrm>
      </p:grpSpPr>
      <p:sp>
        <p:nvSpPr>
          <p:cNvPr id="2" name="Text 0"/>
          <p:cNvSpPr/>
          <p:nvPr/>
        </p:nvSpPr>
        <p:spPr>
          <a:xfrm>
            <a:off x="548640" y="365760"/>
            <a:ext cx="10515600" cy="640080"/>
          </a:xfrm>
          <a:prstGeom prst="rect">
            <a:avLst/>
          </a:prstGeom>
          <a:noFill/>
          <a:ln/>
        </p:spPr>
        <p:txBody>
          <a:bodyPr wrap="square" rtlCol="0" anchor="ctr"/>
          <a:lstStyle/>
          <a:p>
            <a:pPr algn="l" indent="0" marL="0">
              <a:buNone/>
            </a:pPr>
            <a:r>
              <a:rPr lang="en-US" sz="3000" b="1" dirty="0">
                <a:solidFill>
                  <a:srgbClr val="0D2A4A"/>
                </a:solidFill>
                <a:latin typeface="Cambria" pitchFamily="34" charset="0"/>
                <a:ea typeface="Cambria" pitchFamily="34" charset="-122"/>
                <a:cs typeface="Cambria" pitchFamily="34" charset="-120"/>
              </a:rPr>
              <a:t>Qualitative Comparison</a:t>
            </a:r>
            <a:endParaRPr lang="en-US" sz="3000" dirty="0"/>
          </a:p>
        </p:txBody>
      </p:sp>
      <p:sp>
        <p:nvSpPr>
          <p:cNvPr id="3" name="Text 1"/>
          <p:cNvSpPr/>
          <p:nvPr/>
        </p:nvSpPr>
        <p:spPr>
          <a:xfrm>
            <a:off x="548640" y="960120"/>
            <a:ext cx="10515600" cy="365760"/>
          </a:xfrm>
          <a:prstGeom prst="rect">
            <a:avLst/>
          </a:prstGeom>
          <a:noFill/>
          <a:ln/>
        </p:spPr>
        <p:txBody>
          <a:bodyPr wrap="square" rtlCol="0" anchor="ctr"/>
          <a:lstStyle/>
          <a:p>
            <a:pPr algn="l" indent="0" marL="0">
              <a:buNone/>
            </a:pPr>
            <a:r>
              <a:rPr lang="en-US" sz="1400" i="1" dirty="0">
                <a:solidFill>
                  <a:srgbClr val="1C7293"/>
                </a:solidFill>
                <a:latin typeface="Calibri" pitchFamily="34" charset="0"/>
                <a:ea typeface="Calibri" pitchFamily="34" charset="-122"/>
                <a:cs typeface="Calibri" pitchFamily="34" charset="-120"/>
              </a:rPr>
              <a:t>Visual inspection confirms the quantitative findings</a:t>
            </a:r>
            <a:endParaRPr lang="en-US" sz="1400" dirty="0"/>
          </a:p>
        </p:txBody>
      </p:sp>
      <p:sp>
        <p:nvSpPr>
          <p:cNvPr id="4" name="Shape 2"/>
          <p:cNvSpPr/>
          <p:nvPr/>
        </p:nvSpPr>
        <p:spPr>
          <a:xfrm>
            <a:off x="548640" y="1691640"/>
            <a:ext cx="5257800" cy="4114800"/>
          </a:xfrm>
          <a:prstGeom prst="roundRect">
            <a:avLst>
              <a:gd name="adj" fmla="val 1778"/>
            </a:avLst>
          </a:prstGeom>
          <a:solidFill>
            <a:srgbClr val="FFFFFF"/>
          </a:solidFill>
          <a:ln w="19050">
            <a:solidFill>
              <a:srgbClr val="065A82"/>
            </a:solidFill>
            <a:prstDash val="solid"/>
          </a:ln>
        </p:spPr>
      </p:sp>
      <p:sp>
        <p:nvSpPr>
          <p:cNvPr id="5" name="Shape 3"/>
          <p:cNvSpPr/>
          <p:nvPr/>
        </p:nvSpPr>
        <p:spPr>
          <a:xfrm>
            <a:off x="548640" y="1691640"/>
            <a:ext cx="5257800" cy="502920"/>
          </a:xfrm>
          <a:prstGeom prst="rect">
            <a:avLst/>
          </a:prstGeom>
          <a:solidFill>
            <a:srgbClr val="065A82"/>
          </a:solidFill>
          <a:ln/>
        </p:spPr>
      </p:sp>
      <p:sp>
        <p:nvSpPr>
          <p:cNvPr id="6" name="Text 4"/>
          <p:cNvSpPr/>
          <p:nvPr/>
        </p:nvSpPr>
        <p:spPr>
          <a:xfrm>
            <a:off x="548640" y="1691640"/>
            <a:ext cx="5257800" cy="502920"/>
          </a:xfrm>
          <a:prstGeom prst="rect">
            <a:avLst/>
          </a:prstGeom>
          <a:noFill/>
          <a:ln/>
        </p:spPr>
        <p:txBody>
          <a:bodyPr wrap="square"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YOLOv11-seg Predictions</a:t>
            </a:r>
            <a:endParaRPr lang="en-US" sz="1500" dirty="0"/>
          </a:p>
        </p:txBody>
      </p:sp>
      <p:sp>
        <p:nvSpPr>
          <p:cNvPr id="7" name="Shape 5"/>
          <p:cNvSpPr/>
          <p:nvPr/>
        </p:nvSpPr>
        <p:spPr>
          <a:xfrm>
            <a:off x="822960" y="2523744"/>
            <a:ext cx="109728" cy="109728"/>
          </a:xfrm>
          <a:prstGeom prst="ellipse">
            <a:avLst/>
          </a:prstGeom>
          <a:solidFill>
            <a:srgbClr val="5FB49C"/>
          </a:solidFill>
          <a:ln/>
        </p:spPr>
      </p:sp>
      <p:sp>
        <p:nvSpPr>
          <p:cNvPr id="8" name="Text 6"/>
          <p:cNvSpPr/>
          <p:nvPr/>
        </p:nvSpPr>
        <p:spPr>
          <a:xfrm>
            <a:off x="1078992" y="2340864"/>
            <a:ext cx="4434840" cy="548640"/>
          </a:xfrm>
          <a:prstGeom prst="rect">
            <a:avLst/>
          </a:prstGeom>
          <a:noFill/>
          <a:ln/>
        </p:spPr>
        <p:txBody>
          <a:bodyPr wrap="square" rtlCol="0" anchor="ctr"/>
          <a:lstStyle/>
          <a:p>
            <a:pPr indent="0" marL="0">
              <a:lnSpc>
                <a:spcPct val="115000"/>
              </a:lnSpc>
              <a:buNone/>
            </a:pPr>
            <a:r>
              <a:rPr lang="en-US" sz="1300" dirty="0">
                <a:solidFill>
                  <a:srgbClr val="42525C"/>
                </a:solidFill>
                <a:latin typeface="Calibri" pitchFamily="34" charset="0"/>
                <a:ea typeface="Calibri" pitchFamily="34" charset="-122"/>
                <a:cs typeface="Calibri" pitchFamily="34" charset="-120"/>
              </a:rPr>
              <a:t>Tight boundary adherence around individual nuclei</a:t>
            </a:r>
            <a:endParaRPr lang="en-US" sz="1300" dirty="0"/>
          </a:p>
        </p:txBody>
      </p:sp>
      <p:sp>
        <p:nvSpPr>
          <p:cNvPr id="9" name="Shape 7"/>
          <p:cNvSpPr/>
          <p:nvPr/>
        </p:nvSpPr>
        <p:spPr>
          <a:xfrm>
            <a:off x="822960" y="3300984"/>
            <a:ext cx="109728" cy="109728"/>
          </a:xfrm>
          <a:prstGeom prst="ellipse">
            <a:avLst/>
          </a:prstGeom>
          <a:solidFill>
            <a:srgbClr val="5FB49C"/>
          </a:solidFill>
          <a:ln/>
        </p:spPr>
      </p:sp>
      <p:sp>
        <p:nvSpPr>
          <p:cNvPr id="10" name="Text 8"/>
          <p:cNvSpPr/>
          <p:nvPr/>
        </p:nvSpPr>
        <p:spPr>
          <a:xfrm>
            <a:off x="1078992" y="3118104"/>
            <a:ext cx="4434840" cy="548640"/>
          </a:xfrm>
          <a:prstGeom prst="rect">
            <a:avLst/>
          </a:prstGeom>
          <a:noFill/>
          <a:ln/>
        </p:spPr>
        <p:txBody>
          <a:bodyPr wrap="square" rtlCol="0" anchor="ctr"/>
          <a:lstStyle/>
          <a:p>
            <a:pPr indent="0" marL="0">
              <a:lnSpc>
                <a:spcPct val="115000"/>
              </a:lnSpc>
              <a:buNone/>
            </a:pPr>
            <a:r>
              <a:rPr lang="en-US" sz="1300" dirty="0">
                <a:solidFill>
                  <a:srgbClr val="42525C"/>
                </a:solidFill>
                <a:latin typeface="Calibri" pitchFamily="34" charset="0"/>
                <a:ea typeface="Calibri" pitchFamily="34" charset="-122"/>
                <a:cs typeface="Calibri" pitchFamily="34" charset="-120"/>
              </a:rPr>
              <a:t>Accurate instance separation, even in dense clusters</a:t>
            </a:r>
            <a:endParaRPr lang="en-US" sz="1300" dirty="0"/>
          </a:p>
        </p:txBody>
      </p:sp>
      <p:sp>
        <p:nvSpPr>
          <p:cNvPr id="11" name="Shape 9"/>
          <p:cNvSpPr/>
          <p:nvPr/>
        </p:nvSpPr>
        <p:spPr>
          <a:xfrm>
            <a:off x="822960" y="4078224"/>
            <a:ext cx="109728" cy="109728"/>
          </a:xfrm>
          <a:prstGeom prst="ellipse">
            <a:avLst/>
          </a:prstGeom>
          <a:solidFill>
            <a:srgbClr val="5FB49C"/>
          </a:solidFill>
          <a:ln/>
        </p:spPr>
      </p:sp>
      <p:sp>
        <p:nvSpPr>
          <p:cNvPr id="12" name="Text 10"/>
          <p:cNvSpPr/>
          <p:nvPr/>
        </p:nvSpPr>
        <p:spPr>
          <a:xfrm>
            <a:off x="1078992" y="3895344"/>
            <a:ext cx="4434840" cy="548640"/>
          </a:xfrm>
          <a:prstGeom prst="rect">
            <a:avLst/>
          </a:prstGeom>
          <a:noFill/>
          <a:ln/>
        </p:spPr>
        <p:txBody>
          <a:bodyPr wrap="square" rtlCol="0" anchor="ctr"/>
          <a:lstStyle/>
          <a:p>
            <a:pPr indent="0" marL="0">
              <a:lnSpc>
                <a:spcPct val="115000"/>
              </a:lnSpc>
              <a:buNone/>
            </a:pPr>
            <a:r>
              <a:rPr lang="en-US" sz="1300" dirty="0">
                <a:solidFill>
                  <a:srgbClr val="42525C"/>
                </a:solidFill>
                <a:latin typeface="Calibri" pitchFamily="34" charset="0"/>
                <a:ea typeface="Calibri" pitchFamily="34" charset="-122"/>
                <a:cs typeface="Calibri" pitchFamily="34" charset="-120"/>
              </a:rPr>
              <a:t>Minimal over-segmentation in crowded regions</a:t>
            </a:r>
            <a:endParaRPr lang="en-US" sz="1300" dirty="0"/>
          </a:p>
        </p:txBody>
      </p:sp>
      <p:sp>
        <p:nvSpPr>
          <p:cNvPr id="13" name="Shape 11"/>
          <p:cNvSpPr/>
          <p:nvPr/>
        </p:nvSpPr>
        <p:spPr>
          <a:xfrm>
            <a:off x="822960" y="4855464"/>
            <a:ext cx="109728" cy="109728"/>
          </a:xfrm>
          <a:prstGeom prst="ellipse">
            <a:avLst/>
          </a:prstGeom>
          <a:solidFill>
            <a:srgbClr val="5FB49C"/>
          </a:solidFill>
          <a:ln/>
        </p:spPr>
      </p:sp>
      <p:sp>
        <p:nvSpPr>
          <p:cNvPr id="14" name="Text 12"/>
          <p:cNvSpPr/>
          <p:nvPr/>
        </p:nvSpPr>
        <p:spPr>
          <a:xfrm>
            <a:off x="1078992" y="4672584"/>
            <a:ext cx="4434840" cy="548640"/>
          </a:xfrm>
          <a:prstGeom prst="rect">
            <a:avLst/>
          </a:prstGeom>
          <a:noFill/>
          <a:ln/>
        </p:spPr>
        <p:txBody>
          <a:bodyPr wrap="square" rtlCol="0" anchor="ctr"/>
          <a:lstStyle/>
          <a:p>
            <a:pPr indent="0" marL="0">
              <a:lnSpc>
                <a:spcPct val="115000"/>
              </a:lnSpc>
              <a:buNone/>
            </a:pPr>
            <a:r>
              <a:rPr lang="en-US" sz="1300" dirty="0">
                <a:solidFill>
                  <a:srgbClr val="42525C"/>
                </a:solidFill>
                <a:latin typeface="Calibri" pitchFamily="34" charset="0"/>
                <a:ea typeface="Calibri" pitchFamily="34" charset="-122"/>
                <a:cs typeface="Calibri" pitchFamily="34" charset="-120"/>
              </a:rPr>
              <a:t>Consistent performance across staining types</a:t>
            </a:r>
            <a:endParaRPr lang="en-US" sz="1300" dirty="0"/>
          </a:p>
        </p:txBody>
      </p:sp>
      <p:sp>
        <p:nvSpPr>
          <p:cNvPr id="15" name="Shape 13"/>
          <p:cNvSpPr/>
          <p:nvPr/>
        </p:nvSpPr>
        <p:spPr>
          <a:xfrm>
            <a:off x="6172200" y="1691640"/>
            <a:ext cx="5257800" cy="4114800"/>
          </a:xfrm>
          <a:prstGeom prst="roundRect">
            <a:avLst>
              <a:gd name="adj" fmla="val 1778"/>
            </a:avLst>
          </a:prstGeom>
          <a:solidFill>
            <a:srgbClr val="FFFFFF"/>
          </a:solidFill>
          <a:ln w="19050">
            <a:solidFill>
              <a:srgbClr val="F2775E"/>
            </a:solidFill>
            <a:prstDash val="solid"/>
          </a:ln>
        </p:spPr>
      </p:sp>
      <p:sp>
        <p:nvSpPr>
          <p:cNvPr id="16" name="Shape 14"/>
          <p:cNvSpPr/>
          <p:nvPr/>
        </p:nvSpPr>
        <p:spPr>
          <a:xfrm>
            <a:off x="6172200" y="1691640"/>
            <a:ext cx="5257800" cy="502920"/>
          </a:xfrm>
          <a:prstGeom prst="rect">
            <a:avLst/>
          </a:prstGeom>
          <a:solidFill>
            <a:srgbClr val="F2775E"/>
          </a:solidFill>
          <a:ln/>
        </p:spPr>
      </p:sp>
      <p:sp>
        <p:nvSpPr>
          <p:cNvPr id="17" name="Text 15"/>
          <p:cNvSpPr/>
          <p:nvPr/>
        </p:nvSpPr>
        <p:spPr>
          <a:xfrm>
            <a:off x="6172200" y="1691640"/>
            <a:ext cx="5257800" cy="502920"/>
          </a:xfrm>
          <a:prstGeom prst="rect">
            <a:avLst/>
          </a:prstGeom>
          <a:noFill/>
          <a:ln/>
        </p:spPr>
        <p:txBody>
          <a:bodyPr wrap="square"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YOLOv12-seg Predictions</a:t>
            </a:r>
            <a:endParaRPr lang="en-US" sz="1500" dirty="0"/>
          </a:p>
        </p:txBody>
      </p:sp>
      <p:sp>
        <p:nvSpPr>
          <p:cNvPr id="18" name="Shape 16"/>
          <p:cNvSpPr/>
          <p:nvPr/>
        </p:nvSpPr>
        <p:spPr>
          <a:xfrm>
            <a:off x="6446520" y="2523744"/>
            <a:ext cx="109728" cy="109728"/>
          </a:xfrm>
          <a:prstGeom prst="ellipse">
            <a:avLst/>
          </a:prstGeom>
          <a:solidFill>
            <a:srgbClr val="F2775E"/>
          </a:solidFill>
          <a:ln/>
        </p:spPr>
      </p:sp>
      <p:sp>
        <p:nvSpPr>
          <p:cNvPr id="19" name="Text 17"/>
          <p:cNvSpPr/>
          <p:nvPr/>
        </p:nvSpPr>
        <p:spPr>
          <a:xfrm>
            <a:off x="6702552" y="2340864"/>
            <a:ext cx="4434840" cy="548640"/>
          </a:xfrm>
          <a:prstGeom prst="rect">
            <a:avLst/>
          </a:prstGeom>
          <a:noFill/>
          <a:ln/>
        </p:spPr>
        <p:txBody>
          <a:bodyPr wrap="square" rtlCol="0" anchor="ctr"/>
          <a:lstStyle/>
          <a:p>
            <a:pPr indent="0" marL="0">
              <a:lnSpc>
                <a:spcPct val="115000"/>
              </a:lnSpc>
              <a:buNone/>
            </a:pPr>
            <a:r>
              <a:rPr lang="en-US" sz="1300" dirty="0">
                <a:solidFill>
                  <a:srgbClr val="42525C"/>
                </a:solidFill>
                <a:latin typeface="Calibri" pitchFamily="34" charset="0"/>
                <a:ea typeface="Calibri" pitchFamily="34" charset="-122"/>
                <a:cs typeface="Calibri" pitchFamily="34" charset="-120"/>
              </a:rPr>
              <a:t>Occasional boundary artifacts around nuclei edges</a:t>
            </a:r>
            <a:endParaRPr lang="en-US" sz="1300" dirty="0"/>
          </a:p>
        </p:txBody>
      </p:sp>
      <p:sp>
        <p:nvSpPr>
          <p:cNvPr id="20" name="Shape 18"/>
          <p:cNvSpPr/>
          <p:nvPr/>
        </p:nvSpPr>
        <p:spPr>
          <a:xfrm>
            <a:off x="6446520" y="3300984"/>
            <a:ext cx="109728" cy="109728"/>
          </a:xfrm>
          <a:prstGeom prst="ellipse">
            <a:avLst/>
          </a:prstGeom>
          <a:solidFill>
            <a:srgbClr val="F2775E"/>
          </a:solidFill>
          <a:ln/>
        </p:spPr>
      </p:sp>
      <p:sp>
        <p:nvSpPr>
          <p:cNvPr id="21" name="Text 19"/>
          <p:cNvSpPr/>
          <p:nvPr/>
        </p:nvSpPr>
        <p:spPr>
          <a:xfrm>
            <a:off x="6702552" y="3118104"/>
            <a:ext cx="4434840" cy="548640"/>
          </a:xfrm>
          <a:prstGeom prst="rect">
            <a:avLst/>
          </a:prstGeom>
          <a:noFill/>
          <a:ln/>
        </p:spPr>
        <p:txBody>
          <a:bodyPr wrap="square" rtlCol="0" anchor="ctr"/>
          <a:lstStyle/>
          <a:p>
            <a:pPr indent="0" marL="0">
              <a:lnSpc>
                <a:spcPct val="115000"/>
              </a:lnSpc>
              <a:buNone/>
            </a:pPr>
            <a:r>
              <a:rPr lang="en-US" sz="1300" dirty="0">
                <a:solidFill>
                  <a:srgbClr val="42525C"/>
                </a:solidFill>
                <a:latin typeface="Calibri" pitchFamily="34" charset="0"/>
                <a:ea typeface="Calibri" pitchFamily="34" charset="-122"/>
                <a:cs typeface="Calibri" pitchFamily="34" charset="-120"/>
              </a:rPr>
              <a:t>Small or faint nuclei sometimes missed entirely</a:t>
            </a:r>
            <a:endParaRPr lang="en-US" sz="1300" dirty="0"/>
          </a:p>
        </p:txBody>
      </p:sp>
      <p:sp>
        <p:nvSpPr>
          <p:cNvPr id="22" name="Shape 20"/>
          <p:cNvSpPr/>
          <p:nvPr/>
        </p:nvSpPr>
        <p:spPr>
          <a:xfrm>
            <a:off x="6446520" y="4078224"/>
            <a:ext cx="109728" cy="109728"/>
          </a:xfrm>
          <a:prstGeom prst="ellipse">
            <a:avLst/>
          </a:prstGeom>
          <a:solidFill>
            <a:srgbClr val="F2775E"/>
          </a:solidFill>
          <a:ln/>
        </p:spPr>
      </p:sp>
      <p:sp>
        <p:nvSpPr>
          <p:cNvPr id="23" name="Text 21"/>
          <p:cNvSpPr/>
          <p:nvPr/>
        </p:nvSpPr>
        <p:spPr>
          <a:xfrm>
            <a:off x="6702552" y="3895344"/>
            <a:ext cx="4434840" cy="548640"/>
          </a:xfrm>
          <a:prstGeom prst="rect">
            <a:avLst/>
          </a:prstGeom>
          <a:noFill/>
          <a:ln/>
        </p:spPr>
        <p:txBody>
          <a:bodyPr wrap="square" rtlCol="0" anchor="ctr"/>
          <a:lstStyle/>
          <a:p>
            <a:pPr indent="0" marL="0">
              <a:lnSpc>
                <a:spcPct val="115000"/>
              </a:lnSpc>
              <a:buNone/>
            </a:pPr>
            <a:r>
              <a:rPr lang="en-US" sz="1300" dirty="0">
                <a:solidFill>
                  <a:srgbClr val="42525C"/>
                </a:solidFill>
                <a:latin typeface="Calibri" pitchFamily="34" charset="0"/>
                <a:ea typeface="Calibri" pitchFamily="34" charset="-122"/>
                <a:cs typeface="Calibri" pitchFamily="34" charset="-120"/>
              </a:rPr>
              <a:t>Adjacent instances occasionally merged together</a:t>
            </a:r>
            <a:endParaRPr lang="en-US" sz="1300" dirty="0"/>
          </a:p>
        </p:txBody>
      </p:sp>
      <p:sp>
        <p:nvSpPr>
          <p:cNvPr id="24" name="Shape 22"/>
          <p:cNvSpPr/>
          <p:nvPr/>
        </p:nvSpPr>
        <p:spPr>
          <a:xfrm>
            <a:off x="6446520" y="4855464"/>
            <a:ext cx="109728" cy="109728"/>
          </a:xfrm>
          <a:prstGeom prst="ellipse">
            <a:avLst/>
          </a:prstGeom>
          <a:solidFill>
            <a:srgbClr val="F2775E"/>
          </a:solidFill>
          <a:ln/>
        </p:spPr>
      </p:sp>
      <p:sp>
        <p:nvSpPr>
          <p:cNvPr id="25" name="Text 23"/>
          <p:cNvSpPr/>
          <p:nvPr/>
        </p:nvSpPr>
        <p:spPr>
          <a:xfrm>
            <a:off x="6702552" y="4672584"/>
            <a:ext cx="4434840" cy="548640"/>
          </a:xfrm>
          <a:prstGeom prst="rect">
            <a:avLst/>
          </a:prstGeom>
          <a:noFill/>
          <a:ln/>
        </p:spPr>
        <p:txBody>
          <a:bodyPr wrap="square" rtlCol="0" anchor="ctr"/>
          <a:lstStyle/>
          <a:p>
            <a:pPr indent="0" marL="0">
              <a:lnSpc>
                <a:spcPct val="115000"/>
              </a:lnSpc>
              <a:buNone/>
            </a:pPr>
            <a:r>
              <a:rPr lang="en-US" sz="1300" dirty="0">
                <a:solidFill>
                  <a:srgbClr val="42525C"/>
                </a:solidFill>
                <a:latin typeface="Calibri" pitchFamily="34" charset="0"/>
                <a:ea typeface="Calibri" pitchFamily="34" charset="-122"/>
                <a:cs typeface="Calibri" pitchFamily="34" charset="-120"/>
              </a:rPr>
              <a:t>Slightly less stable across heterogeneous images</a:t>
            </a:r>
            <a:endParaRPr lang="en-US" sz="1300" dirty="0"/>
          </a:p>
        </p:txBody>
      </p:sp>
      <p:sp>
        <p:nvSpPr>
          <p:cNvPr id="26" name="Text 24"/>
          <p:cNvSpPr/>
          <p:nvPr/>
        </p:nvSpPr>
        <p:spPr>
          <a:xfrm>
            <a:off x="457200" y="6528816"/>
            <a:ext cx="8229600" cy="274320"/>
          </a:xfrm>
          <a:prstGeom prst="rect">
            <a:avLst/>
          </a:prstGeom>
          <a:noFill/>
          <a:ln/>
        </p:spPr>
        <p:txBody>
          <a:bodyPr wrap="square" rtlCol="0" anchor="ctr"/>
          <a:lstStyle/>
          <a:p>
            <a:pPr algn="l" indent="0" marL="0">
              <a:buNone/>
            </a:pPr>
            <a:r>
              <a:rPr lang="en-US" sz="900" dirty="0">
                <a:solidFill>
                  <a:srgbClr val="42525C"/>
                </a:solidFill>
                <a:latin typeface="Calibri" pitchFamily="34" charset="0"/>
                <a:ea typeface="Calibri" pitchFamily="34" charset="-122"/>
                <a:cs typeface="Calibri" pitchFamily="34" charset="-120"/>
              </a:rPr>
              <a:t>ICRIRET 2025  |  Nucleus Segmentation on DSB2018</a:t>
            </a:r>
            <a:endParaRPr lang="en-US" sz="900" dirty="0"/>
          </a:p>
        </p:txBody>
      </p:sp>
      <p:sp>
        <p:nvSpPr>
          <p:cNvPr id="27" name="Text 25"/>
          <p:cNvSpPr/>
          <p:nvPr/>
        </p:nvSpPr>
        <p:spPr>
          <a:xfrm>
            <a:off x="11338560" y="6528816"/>
            <a:ext cx="457200" cy="274320"/>
          </a:xfrm>
          <a:prstGeom prst="rect">
            <a:avLst/>
          </a:prstGeom>
          <a:noFill/>
          <a:ln/>
        </p:spPr>
        <p:txBody>
          <a:bodyPr wrap="square" rtlCol="0" anchor="ctr"/>
          <a:lstStyle/>
          <a:p>
            <a:pPr algn="r" indent="0" marL="0">
              <a:buNone/>
            </a:pPr>
            <a:r>
              <a:rPr lang="en-US" sz="900" dirty="0">
                <a:solidFill>
                  <a:srgbClr val="42525C"/>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D2A4A"/>
        </a:solidFill>
      </p:bgPr>
    </p:bg>
    <p:spTree>
      <p:nvGrpSpPr>
        <p:cNvPr id="1" name=""/>
        <p:cNvGrpSpPr/>
        <p:nvPr/>
      </p:nvGrpSpPr>
      <p:grpSpPr>
        <a:xfrm>
          <a:off x="0" y="0"/>
          <a:ext cx="0" cy="0"/>
          <a:chOff x="0" y="0"/>
          <a:chExt cx="0" cy="0"/>
        </a:xfrm>
      </p:grpSpPr>
      <p:sp>
        <p:nvSpPr>
          <p:cNvPr id="2" name="Shape 0"/>
          <p:cNvSpPr/>
          <p:nvPr/>
        </p:nvSpPr>
        <p:spPr>
          <a:xfrm>
            <a:off x="10698480" y="502920"/>
            <a:ext cx="310896" cy="310896"/>
          </a:xfrm>
          <a:prstGeom prst="ellipse">
            <a:avLst/>
          </a:prstGeom>
          <a:solidFill>
            <a:srgbClr val="1C7293">
              <a:alpha val="50000"/>
            </a:srgbClr>
          </a:solidFill>
          <a:ln/>
        </p:spPr>
      </p:sp>
      <p:sp>
        <p:nvSpPr>
          <p:cNvPr id="3" name="Shape 1"/>
          <p:cNvSpPr/>
          <p:nvPr/>
        </p:nvSpPr>
        <p:spPr>
          <a:xfrm>
            <a:off x="10972800" y="649224"/>
            <a:ext cx="182880" cy="182880"/>
          </a:xfrm>
          <a:prstGeom prst="ellipse">
            <a:avLst/>
          </a:prstGeom>
          <a:solidFill>
            <a:srgbClr val="5FB49C">
              <a:alpha val="50000"/>
            </a:srgbClr>
          </a:solidFill>
          <a:ln/>
        </p:spPr>
      </p:sp>
      <p:sp>
        <p:nvSpPr>
          <p:cNvPr id="4" name="Text 2"/>
          <p:cNvSpPr/>
          <p:nvPr/>
        </p:nvSpPr>
        <p:spPr>
          <a:xfrm>
            <a:off x="640080" y="502920"/>
            <a:ext cx="10058400" cy="640080"/>
          </a:xfrm>
          <a:prstGeom prst="rect">
            <a:avLst/>
          </a:prstGeom>
          <a:noFill/>
          <a:ln/>
        </p:spPr>
        <p:txBody>
          <a:bodyPr wrap="square"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Discussion &amp; Conclusion</a:t>
            </a:r>
            <a:endParaRPr lang="en-US" sz="3000" dirty="0"/>
          </a:p>
        </p:txBody>
      </p:sp>
      <p:sp>
        <p:nvSpPr>
          <p:cNvPr id="5" name="Text 3"/>
          <p:cNvSpPr/>
          <p:nvPr/>
        </p:nvSpPr>
        <p:spPr>
          <a:xfrm>
            <a:off x="640080" y="1325880"/>
            <a:ext cx="10515600" cy="640080"/>
          </a:xfrm>
          <a:prstGeom prst="rect">
            <a:avLst/>
          </a:prstGeom>
          <a:noFill/>
          <a:ln/>
        </p:spPr>
        <p:txBody>
          <a:bodyPr wrap="square" rtlCol="0" anchor="ctr"/>
          <a:lstStyle/>
          <a:p>
            <a:pPr indent="0" marL="0">
              <a:lnSpc>
                <a:spcPct val="120000"/>
              </a:lnSpc>
              <a:buNone/>
            </a:pPr>
            <a:r>
              <a:rPr lang="en-US" sz="1600" dirty="0">
                <a:solidFill>
                  <a:srgbClr val="D8E6EA"/>
                </a:solidFill>
                <a:latin typeface="Calibri" pitchFamily="34" charset="0"/>
                <a:ea typeface="Calibri" pitchFamily="34" charset="-122"/>
                <a:cs typeface="Calibri" pitchFamily="34" charset="-120"/>
              </a:rPr>
              <a:t>YOLOv11-seg outperforms YOLOv12-seg on the heterogeneous DSB2018 dataset for nucleus instance segmentation.</a:t>
            </a:r>
            <a:endParaRPr lang="en-US" sz="1600" dirty="0"/>
          </a:p>
        </p:txBody>
      </p:sp>
      <p:sp>
        <p:nvSpPr>
          <p:cNvPr id="6" name="Shape 4"/>
          <p:cNvSpPr/>
          <p:nvPr/>
        </p:nvSpPr>
        <p:spPr>
          <a:xfrm>
            <a:off x="640080" y="2148840"/>
            <a:ext cx="3429000" cy="1371600"/>
          </a:xfrm>
          <a:prstGeom prst="roundRect">
            <a:avLst>
              <a:gd name="adj" fmla="val 5333"/>
            </a:avLst>
          </a:prstGeom>
          <a:solidFill>
            <a:srgbClr val="065A82"/>
          </a:solidFill>
          <a:ln/>
        </p:spPr>
      </p:sp>
      <p:sp>
        <p:nvSpPr>
          <p:cNvPr id="7" name="Text 5"/>
          <p:cNvSpPr/>
          <p:nvPr/>
        </p:nvSpPr>
        <p:spPr>
          <a:xfrm>
            <a:off x="822960" y="2286000"/>
            <a:ext cx="3063240" cy="365760"/>
          </a:xfrm>
          <a:prstGeom prst="rect">
            <a:avLst/>
          </a:prstGeom>
          <a:noFill/>
          <a:ln/>
        </p:spPr>
        <p:txBody>
          <a:bodyPr wrap="square" rtlCol="0" anchor="ctr"/>
          <a:lstStyle/>
          <a:p>
            <a:pPr indent="0" marL="0">
              <a:buNone/>
            </a:pPr>
            <a:r>
              <a:rPr lang="en-US" sz="1400" b="1" dirty="0">
                <a:solidFill>
                  <a:srgbClr val="5FB49C"/>
                </a:solidFill>
                <a:latin typeface="Cambria" pitchFamily="34" charset="0"/>
                <a:ea typeface="Cambria" pitchFamily="34" charset="-122"/>
                <a:cs typeface="Cambria" pitchFamily="34" charset="-120"/>
              </a:rPr>
              <a:t>Higher accuracy</a:t>
            </a:r>
            <a:endParaRPr lang="en-US" sz="1400" dirty="0"/>
          </a:p>
        </p:txBody>
      </p:sp>
      <p:sp>
        <p:nvSpPr>
          <p:cNvPr id="8" name="Text 6"/>
          <p:cNvSpPr/>
          <p:nvPr/>
        </p:nvSpPr>
        <p:spPr>
          <a:xfrm>
            <a:off x="822960" y="2670048"/>
            <a:ext cx="3063240" cy="731520"/>
          </a:xfrm>
          <a:prstGeom prst="rect">
            <a:avLst/>
          </a:prstGeom>
          <a:noFill/>
          <a:ln/>
        </p:spPr>
        <p:txBody>
          <a:bodyPr wrap="square" rtlCol="0" anchor="ctr"/>
          <a:lstStyle/>
          <a:p>
            <a:pPr indent="0" marL="0">
              <a:lnSpc>
                <a:spcPct val="115000"/>
              </a:lnSpc>
              <a:buNone/>
            </a:pPr>
            <a:r>
              <a:rPr lang="en-US" sz="1250" dirty="0">
                <a:solidFill>
                  <a:srgbClr val="FFFFFF"/>
                </a:solidFill>
                <a:latin typeface="Calibri" pitchFamily="34" charset="0"/>
                <a:ea typeface="Calibri" pitchFamily="34" charset="-122"/>
                <a:cs typeface="Calibri" pitchFamily="34" charset="-120"/>
              </a:rPr>
              <a:t>Mask mAP@0.5:0.95 of 0.528 vs. 0.478</a:t>
            </a:r>
            <a:endParaRPr lang="en-US" sz="1250" dirty="0"/>
          </a:p>
        </p:txBody>
      </p:sp>
      <p:sp>
        <p:nvSpPr>
          <p:cNvPr id="9" name="Shape 7"/>
          <p:cNvSpPr/>
          <p:nvPr/>
        </p:nvSpPr>
        <p:spPr>
          <a:xfrm>
            <a:off x="4297680" y="2148840"/>
            <a:ext cx="3429000" cy="1371600"/>
          </a:xfrm>
          <a:prstGeom prst="roundRect">
            <a:avLst>
              <a:gd name="adj" fmla="val 5333"/>
            </a:avLst>
          </a:prstGeom>
          <a:solidFill>
            <a:srgbClr val="065A82"/>
          </a:solidFill>
          <a:ln/>
        </p:spPr>
      </p:sp>
      <p:sp>
        <p:nvSpPr>
          <p:cNvPr id="10" name="Text 8"/>
          <p:cNvSpPr/>
          <p:nvPr/>
        </p:nvSpPr>
        <p:spPr>
          <a:xfrm>
            <a:off x="4480560" y="2286000"/>
            <a:ext cx="3063240" cy="365760"/>
          </a:xfrm>
          <a:prstGeom prst="rect">
            <a:avLst/>
          </a:prstGeom>
          <a:noFill/>
          <a:ln/>
        </p:spPr>
        <p:txBody>
          <a:bodyPr wrap="square" rtlCol="0" anchor="ctr"/>
          <a:lstStyle/>
          <a:p>
            <a:pPr indent="0" marL="0">
              <a:buNone/>
            </a:pPr>
            <a:r>
              <a:rPr lang="en-US" sz="1400" b="1" dirty="0">
                <a:solidFill>
                  <a:srgbClr val="5FB49C"/>
                </a:solidFill>
                <a:latin typeface="Cambria" pitchFamily="34" charset="0"/>
                <a:ea typeface="Cambria" pitchFamily="34" charset="-122"/>
                <a:cs typeface="Cambria" pitchFamily="34" charset="-120"/>
              </a:rPr>
              <a:t>Better boundaries</a:t>
            </a:r>
            <a:endParaRPr lang="en-US" sz="1400" dirty="0"/>
          </a:p>
        </p:txBody>
      </p:sp>
      <p:sp>
        <p:nvSpPr>
          <p:cNvPr id="11" name="Text 9"/>
          <p:cNvSpPr/>
          <p:nvPr/>
        </p:nvSpPr>
        <p:spPr>
          <a:xfrm>
            <a:off x="4480560" y="2670048"/>
            <a:ext cx="3063240" cy="731520"/>
          </a:xfrm>
          <a:prstGeom prst="rect">
            <a:avLst/>
          </a:prstGeom>
          <a:noFill/>
          <a:ln/>
        </p:spPr>
        <p:txBody>
          <a:bodyPr wrap="square" rtlCol="0" anchor="ctr"/>
          <a:lstStyle/>
          <a:p>
            <a:pPr indent="0" marL="0">
              <a:lnSpc>
                <a:spcPct val="115000"/>
              </a:lnSpc>
              <a:buNone/>
            </a:pPr>
            <a:r>
              <a:rPr lang="en-US" sz="1250" dirty="0">
                <a:solidFill>
                  <a:srgbClr val="FFFFFF"/>
                </a:solidFill>
                <a:latin typeface="Calibri" pitchFamily="34" charset="0"/>
                <a:ea typeface="Calibri" pitchFamily="34" charset="-122"/>
                <a:cs typeface="Calibri" pitchFamily="34" charset="-120"/>
              </a:rPr>
              <a:t>Boundary-aware F1-score of 85.3% vs. 82.9%</a:t>
            </a:r>
            <a:endParaRPr lang="en-US" sz="1250" dirty="0"/>
          </a:p>
        </p:txBody>
      </p:sp>
      <p:sp>
        <p:nvSpPr>
          <p:cNvPr id="12" name="Shape 10"/>
          <p:cNvSpPr/>
          <p:nvPr/>
        </p:nvSpPr>
        <p:spPr>
          <a:xfrm>
            <a:off x="7955280" y="2148840"/>
            <a:ext cx="3429000" cy="1371600"/>
          </a:xfrm>
          <a:prstGeom prst="roundRect">
            <a:avLst>
              <a:gd name="adj" fmla="val 5333"/>
            </a:avLst>
          </a:prstGeom>
          <a:solidFill>
            <a:srgbClr val="065A82"/>
          </a:solidFill>
          <a:ln/>
        </p:spPr>
      </p:sp>
      <p:sp>
        <p:nvSpPr>
          <p:cNvPr id="13" name="Text 11"/>
          <p:cNvSpPr/>
          <p:nvPr/>
        </p:nvSpPr>
        <p:spPr>
          <a:xfrm>
            <a:off x="8138160" y="2286000"/>
            <a:ext cx="3063240" cy="365760"/>
          </a:xfrm>
          <a:prstGeom prst="rect">
            <a:avLst/>
          </a:prstGeom>
          <a:noFill/>
          <a:ln/>
        </p:spPr>
        <p:txBody>
          <a:bodyPr wrap="square" rtlCol="0" anchor="ctr"/>
          <a:lstStyle/>
          <a:p>
            <a:pPr indent="0" marL="0">
              <a:buNone/>
            </a:pPr>
            <a:r>
              <a:rPr lang="en-US" sz="1400" b="1" dirty="0">
                <a:solidFill>
                  <a:srgbClr val="5FB49C"/>
                </a:solidFill>
                <a:latin typeface="Cambria" pitchFamily="34" charset="0"/>
                <a:ea typeface="Cambria" pitchFamily="34" charset="-122"/>
                <a:cs typeface="Cambria" pitchFamily="34" charset="-120"/>
              </a:rPr>
              <a:t>Faster inference</a:t>
            </a:r>
            <a:endParaRPr lang="en-US" sz="1400" dirty="0"/>
          </a:p>
        </p:txBody>
      </p:sp>
      <p:sp>
        <p:nvSpPr>
          <p:cNvPr id="14" name="Text 12"/>
          <p:cNvSpPr/>
          <p:nvPr/>
        </p:nvSpPr>
        <p:spPr>
          <a:xfrm>
            <a:off x="8138160" y="2670048"/>
            <a:ext cx="3063240" cy="731520"/>
          </a:xfrm>
          <a:prstGeom prst="rect">
            <a:avLst/>
          </a:prstGeom>
          <a:noFill/>
          <a:ln/>
        </p:spPr>
        <p:txBody>
          <a:bodyPr wrap="square" rtlCol="0" anchor="ctr"/>
          <a:lstStyle/>
          <a:p>
            <a:pPr indent="0" marL="0">
              <a:lnSpc>
                <a:spcPct val="115000"/>
              </a:lnSpc>
              <a:buNone/>
            </a:pPr>
            <a:r>
              <a:rPr lang="en-US" sz="1250" dirty="0">
                <a:solidFill>
                  <a:srgbClr val="FFFFFF"/>
                </a:solidFill>
                <a:latin typeface="Calibri" pitchFamily="34" charset="0"/>
                <a:ea typeface="Calibri" pitchFamily="34" charset="-122"/>
                <a:cs typeface="Calibri" pitchFamily="34" charset="-120"/>
              </a:rPr>
              <a:t>6.3 ms vs. 11.3 ms per image</a:t>
            </a:r>
            <a:endParaRPr lang="en-US" sz="1250" dirty="0"/>
          </a:p>
        </p:txBody>
      </p:sp>
      <p:sp>
        <p:nvSpPr>
          <p:cNvPr id="15" name="Text 13"/>
          <p:cNvSpPr/>
          <p:nvPr/>
        </p:nvSpPr>
        <p:spPr>
          <a:xfrm>
            <a:off x="640080" y="3840480"/>
            <a:ext cx="7315200" cy="365760"/>
          </a:xfrm>
          <a:prstGeom prst="rect">
            <a:avLst/>
          </a:prstGeom>
          <a:noFill/>
          <a:ln/>
        </p:spPr>
        <p:txBody>
          <a:bodyPr wrap="square"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Why does the mature model win?</a:t>
            </a:r>
            <a:endParaRPr lang="en-US" sz="1600" dirty="0"/>
          </a:p>
        </p:txBody>
      </p:sp>
      <p:sp>
        <p:nvSpPr>
          <p:cNvPr id="16" name="Shape 14"/>
          <p:cNvSpPr/>
          <p:nvPr/>
        </p:nvSpPr>
        <p:spPr>
          <a:xfrm>
            <a:off x="685800" y="4361688"/>
            <a:ext cx="109728" cy="109728"/>
          </a:xfrm>
          <a:prstGeom prst="ellipse">
            <a:avLst/>
          </a:prstGeom>
          <a:solidFill>
            <a:srgbClr val="F2775E"/>
          </a:solidFill>
          <a:ln/>
        </p:spPr>
      </p:sp>
      <p:sp>
        <p:nvSpPr>
          <p:cNvPr id="17" name="Text 15"/>
          <p:cNvSpPr/>
          <p:nvPr/>
        </p:nvSpPr>
        <p:spPr>
          <a:xfrm>
            <a:off x="960120" y="4197096"/>
            <a:ext cx="10058400" cy="365760"/>
          </a:xfrm>
          <a:prstGeom prst="rect">
            <a:avLst/>
          </a:prstGeom>
          <a:noFill/>
          <a:ln/>
        </p:spPr>
        <p:txBody>
          <a:bodyPr wrap="square" rtlCol="0" anchor="ctr"/>
          <a:lstStyle/>
          <a:p>
            <a:pPr indent="0" marL="0">
              <a:buNone/>
            </a:pPr>
            <a:r>
              <a:rPr lang="en-US" sz="1300" dirty="0">
                <a:solidFill>
                  <a:srgbClr val="D8E6EA"/>
                </a:solidFill>
                <a:latin typeface="Calibri" pitchFamily="34" charset="0"/>
                <a:ea typeface="Calibri" pitchFamily="34" charset="-122"/>
                <a:cs typeface="Calibri" pitchFamily="34" charset="-120"/>
              </a:rPr>
              <a:t>Optimized feature aggregation via the Path Aggregation Network (PAN)</a:t>
            </a:r>
            <a:endParaRPr lang="en-US" sz="1300" dirty="0"/>
          </a:p>
        </p:txBody>
      </p:sp>
      <p:sp>
        <p:nvSpPr>
          <p:cNvPr id="18" name="Shape 16"/>
          <p:cNvSpPr/>
          <p:nvPr/>
        </p:nvSpPr>
        <p:spPr>
          <a:xfrm>
            <a:off x="685800" y="4773168"/>
            <a:ext cx="109728" cy="109728"/>
          </a:xfrm>
          <a:prstGeom prst="ellipse">
            <a:avLst/>
          </a:prstGeom>
          <a:solidFill>
            <a:srgbClr val="F2775E"/>
          </a:solidFill>
          <a:ln/>
        </p:spPr>
      </p:sp>
      <p:sp>
        <p:nvSpPr>
          <p:cNvPr id="19" name="Text 17"/>
          <p:cNvSpPr/>
          <p:nvPr/>
        </p:nvSpPr>
        <p:spPr>
          <a:xfrm>
            <a:off x="960120" y="4608576"/>
            <a:ext cx="10058400" cy="365760"/>
          </a:xfrm>
          <a:prstGeom prst="rect">
            <a:avLst/>
          </a:prstGeom>
          <a:noFill/>
          <a:ln/>
        </p:spPr>
        <p:txBody>
          <a:bodyPr wrap="square" rtlCol="0" anchor="ctr"/>
          <a:lstStyle/>
          <a:p>
            <a:pPr indent="0" marL="0">
              <a:buNone/>
            </a:pPr>
            <a:r>
              <a:rPr lang="en-US" sz="1300" dirty="0">
                <a:solidFill>
                  <a:srgbClr val="D8E6EA"/>
                </a:solidFill>
                <a:latin typeface="Calibri" pitchFamily="34" charset="0"/>
                <a:ea typeface="Calibri" pitchFamily="34" charset="-122"/>
                <a:cs typeface="Calibri" pitchFamily="34" charset="-120"/>
              </a:rPr>
              <a:t>Stable transfer learning from large-scale COCO pretraining</a:t>
            </a:r>
            <a:endParaRPr lang="en-US" sz="1300" dirty="0"/>
          </a:p>
        </p:txBody>
      </p:sp>
      <p:sp>
        <p:nvSpPr>
          <p:cNvPr id="20" name="Shape 18"/>
          <p:cNvSpPr/>
          <p:nvPr/>
        </p:nvSpPr>
        <p:spPr>
          <a:xfrm>
            <a:off x="685800" y="5184648"/>
            <a:ext cx="109728" cy="109728"/>
          </a:xfrm>
          <a:prstGeom prst="ellipse">
            <a:avLst/>
          </a:prstGeom>
          <a:solidFill>
            <a:srgbClr val="F2775E"/>
          </a:solidFill>
          <a:ln/>
        </p:spPr>
      </p:sp>
      <p:sp>
        <p:nvSpPr>
          <p:cNvPr id="21" name="Text 19"/>
          <p:cNvSpPr/>
          <p:nvPr/>
        </p:nvSpPr>
        <p:spPr>
          <a:xfrm>
            <a:off x="960120" y="5020056"/>
            <a:ext cx="10058400" cy="365760"/>
          </a:xfrm>
          <a:prstGeom prst="rect">
            <a:avLst/>
          </a:prstGeom>
          <a:noFill/>
          <a:ln/>
        </p:spPr>
        <p:txBody>
          <a:bodyPr wrap="square" rtlCol="0" anchor="ctr"/>
          <a:lstStyle/>
          <a:p>
            <a:pPr indent="0" marL="0">
              <a:buNone/>
            </a:pPr>
            <a:r>
              <a:rPr lang="en-US" sz="1300" dirty="0">
                <a:solidFill>
                  <a:srgbClr val="D8E6EA"/>
                </a:solidFill>
                <a:latin typeface="Calibri" pitchFamily="34" charset="0"/>
                <a:ea typeface="Calibri" pitchFamily="34" charset="-122"/>
                <a:cs typeface="Calibri" pitchFamily="34" charset="-120"/>
              </a:rPr>
              <a:t>Well-established design principles outweigh novel lightweight mechanisms</a:t>
            </a:r>
            <a:endParaRPr lang="en-US" sz="1300" dirty="0"/>
          </a:p>
        </p:txBody>
      </p:sp>
      <p:sp>
        <p:nvSpPr>
          <p:cNvPr id="22" name="Shape 20"/>
          <p:cNvSpPr/>
          <p:nvPr/>
        </p:nvSpPr>
        <p:spPr>
          <a:xfrm>
            <a:off x="640080" y="5715000"/>
            <a:ext cx="10881360" cy="0"/>
          </a:xfrm>
          <a:prstGeom prst="line">
            <a:avLst/>
          </a:prstGeom>
          <a:noFill/>
          <a:ln w="12700">
            <a:solidFill>
              <a:srgbClr val="2C4A66"/>
            </a:solidFill>
            <a:prstDash val="solid"/>
          </a:ln>
        </p:spPr>
      </p:sp>
      <p:sp>
        <p:nvSpPr>
          <p:cNvPr id="23" name="Text 21"/>
          <p:cNvSpPr/>
          <p:nvPr/>
        </p:nvSpPr>
        <p:spPr>
          <a:xfrm>
            <a:off x="640080" y="5852160"/>
            <a:ext cx="10881360" cy="640080"/>
          </a:xfrm>
          <a:prstGeom prst="rect">
            <a:avLst/>
          </a:prstGeom>
          <a:noFill/>
          <a:ln/>
        </p:spPr>
        <p:txBody>
          <a:bodyPr wrap="square" rtlCol="0" anchor="ctr"/>
          <a:lstStyle/>
          <a:p>
            <a:pPr indent="0" marL="0">
              <a:lnSpc>
                <a:spcPct val="120000"/>
              </a:lnSpc>
              <a:buNone/>
            </a:pPr>
            <a:r>
              <a:rPr lang="en-US" sz="1200" i="1" dirty="0">
                <a:solidFill>
                  <a:srgbClr val="5FB49C"/>
                </a:solidFill>
                <a:latin typeface="Calibri" pitchFamily="34" charset="0"/>
                <a:ea typeface="Calibri" pitchFamily="34" charset="-122"/>
                <a:cs typeface="Calibri" pitchFamily="34" charset="-120"/>
              </a:rPr>
              <a:t>Future work: hybrid models with domain-specific attention, cross-dataset generalization across multi-organ histopathology, and interactive pathologist-in-the-loop refinement tools.</a:t>
            </a:r>
            <a:endParaRPr lang="en-US" sz="1200" dirty="0"/>
          </a:p>
        </p:txBody>
      </p:sp>
      <p:sp>
        <p:nvSpPr>
          <p:cNvPr id="24" name="Text 22"/>
          <p:cNvSpPr/>
          <p:nvPr/>
        </p:nvSpPr>
        <p:spPr>
          <a:xfrm>
            <a:off x="457200" y="6528816"/>
            <a:ext cx="8229600" cy="274320"/>
          </a:xfrm>
          <a:prstGeom prst="rect">
            <a:avLst/>
          </a:prstGeom>
          <a:noFill/>
          <a:ln/>
        </p:spPr>
        <p:txBody>
          <a:bodyPr wrap="square" rtlCol="0" anchor="ctr"/>
          <a:lstStyle/>
          <a:p>
            <a:pPr algn="l" indent="0" marL="0">
              <a:buNone/>
            </a:pPr>
            <a:r>
              <a:rPr lang="en-US" sz="900" dirty="0">
                <a:solidFill>
                  <a:srgbClr val="8FA6AF"/>
                </a:solidFill>
                <a:latin typeface="Calibri" pitchFamily="34" charset="0"/>
                <a:ea typeface="Calibri" pitchFamily="34" charset="-122"/>
                <a:cs typeface="Calibri" pitchFamily="34" charset="-120"/>
              </a:rPr>
              <a:t>ICRIRET 2025  |  Nucleus Segmentation on DSB2018</a:t>
            </a:r>
            <a:endParaRPr lang="en-US" sz="900" dirty="0"/>
          </a:p>
        </p:txBody>
      </p:sp>
      <p:sp>
        <p:nvSpPr>
          <p:cNvPr id="25" name="Text 23"/>
          <p:cNvSpPr/>
          <p:nvPr/>
        </p:nvSpPr>
        <p:spPr>
          <a:xfrm>
            <a:off x="11338560" y="6528816"/>
            <a:ext cx="457200" cy="274320"/>
          </a:xfrm>
          <a:prstGeom prst="rect">
            <a:avLst/>
          </a:prstGeom>
          <a:noFill/>
          <a:ln/>
        </p:spPr>
        <p:txBody>
          <a:bodyPr wrap="square" rtlCol="0" anchor="ctr"/>
          <a:lstStyle/>
          <a:p>
            <a:pPr algn="r" indent="0" marL="0">
              <a:buNone/>
            </a:pPr>
            <a:r>
              <a:rPr lang="en-US" sz="900" dirty="0">
                <a:solidFill>
                  <a:srgbClr val="8FA6AF"/>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D2A4A"/>
        </a:solidFill>
      </p:bgPr>
    </p:bg>
    <p:spTree>
      <p:nvGrpSpPr>
        <p:cNvPr id="1" name=""/>
        <p:cNvGrpSpPr/>
        <p:nvPr/>
      </p:nvGrpSpPr>
      <p:grpSpPr>
        <a:xfrm>
          <a:off x="0" y="0"/>
          <a:ext cx="0" cy="0"/>
          <a:chOff x="0" y="0"/>
          <a:chExt cx="0" cy="0"/>
        </a:xfrm>
      </p:grpSpPr>
      <p:sp>
        <p:nvSpPr>
          <p:cNvPr id="2" name="Shape 0"/>
          <p:cNvSpPr/>
          <p:nvPr/>
        </p:nvSpPr>
        <p:spPr>
          <a:xfrm>
            <a:off x="9875520" y="548640"/>
            <a:ext cx="914400" cy="914400"/>
          </a:xfrm>
          <a:prstGeom prst="ellipse">
            <a:avLst/>
          </a:prstGeom>
          <a:solidFill>
            <a:srgbClr val="1C7293">
              <a:alpha val="55000"/>
            </a:srgbClr>
          </a:solidFill>
          <a:ln/>
        </p:spPr>
      </p:sp>
      <p:sp>
        <p:nvSpPr>
          <p:cNvPr id="3" name="Shape 1"/>
          <p:cNvSpPr/>
          <p:nvPr/>
        </p:nvSpPr>
        <p:spPr>
          <a:xfrm>
            <a:off x="10652760" y="960120"/>
            <a:ext cx="548640" cy="548640"/>
          </a:xfrm>
          <a:prstGeom prst="ellipse">
            <a:avLst/>
          </a:prstGeom>
          <a:solidFill>
            <a:srgbClr val="F2775E">
              <a:alpha val="55000"/>
            </a:srgbClr>
          </a:solidFill>
          <a:ln/>
        </p:spPr>
      </p:sp>
      <p:sp>
        <p:nvSpPr>
          <p:cNvPr id="4" name="Shape 2"/>
          <p:cNvSpPr/>
          <p:nvPr/>
        </p:nvSpPr>
        <p:spPr>
          <a:xfrm>
            <a:off x="10104120" y="1371600"/>
            <a:ext cx="320040" cy="320040"/>
          </a:xfrm>
          <a:prstGeom prst="ellipse">
            <a:avLst/>
          </a:prstGeom>
          <a:solidFill>
            <a:srgbClr val="5FB49C">
              <a:alpha val="55000"/>
            </a:srgbClr>
          </a:solidFill>
          <a:ln/>
        </p:spPr>
      </p:sp>
      <p:sp>
        <p:nvSpPr>
          <p:cNvPr id="5" name="Shape 3"/>
          <p:cNvSpPr/>
          <p:nvPr/>
        </p:nvSpPr>
        <p:spPr>
          <a:xfrm>
            <a:off x="548640" y="5303520"/>
            <a:ext cx="502920" cy="502920"/>
          </a:xfrm>
          <a:prstGeom prst="ellipse">
            <a:avLst/>
          </a:prstGeom>
          <a:solidFill>
            <a:srgbClr val="1C7293">
              <a:alpha val="45000"/>
            </a:srgbClr>
          </a:solidFill>
          <a:ln/>
        </p:spPr>
      </p:sp>
      <p:sp>
        <p:nvSpPr>
          <p:cNvPr id="6" name="Shape 4"/>
          <p:cNvSpPr/>
          <p:nvPr/>
        </p:nvSpPr>
        <p:spPr>
          <a:xfrm>
            <a:off x="1005840" y="5577840"/>
            <a:ext cx="274320" cy="274320"/>
          </a:xfrm>
          <a:prstGeom prst="ellipse">
            <a:avLst/>
          </a:prstGeom>
          <a:solidFill>
            <a:srgbClr val="F2775E">
              <a:alpha val="45000"/>
            </a:srgbClr>
          </a:solidFill>
          <a:ln/>
        </p:spPr>
      </p:sp>
      <p:sp>
        <p:nvSpPr>
          <p:cNvPr id="7" name="Text 5"/>
          <p:cNvSpPr/>
          <p:nvPr/>
        </p:nvSpPr>
        <p:spPr>
          <a:xfrm>
            <a:off x="822960" y="2468880"/>
            <a:ext cx="9144000" cy="914400"/>
          </a:xfrm>
          <a:prstGeom prst="rect">
            <a:avLst/>
          </a:prstGeom>
          <a:noFill/>
          <a:ln/>
        </p:spPr>
        <p:txBody>
          <a:bodyPr wrap="square"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Thank You</a:t>
            </a:r>
            <a:endParaRPr lang="en-US" sz="4400" dirty="0"/>
          </a:p>
        </p:txBody>
      </p:sp>
      <p:sp>
        <p:nvSpPr>
          <p:cNvPr id="8" name="Text 6"/>
          <p:cNvSpPr/>
          <p:nvPr/>
        </p:nvSpPr>
        <p:spPr>
          <a:xfrm>
            <a:off x="822960" y="3246120"/>
            <a:ext cx="9144000" cy="548640"/>
          </a:xfrm>
          <a:prstGeom prst="rect">
            <a:avLst/>
          </a:prstGeom>
          <a:noFill/>
          <a:ln/>
        </p:spPr>
        <p:txBody>
          <a:bodyPr wrap="square" rtlCol="0" anchor="ctr"/>
          <a:lstStyle/>
          <a:p>
            <a:pPr indent="0" marL="0">
              <a:buNone/>
            </a:pPr>
            <a:r>
              <a:rPr lang="en-US" sz="1800" i="1" dirty="0">
                <a:solidFill>
                  <a:srgbClr val="5FB49C"/>
                </a:solidFill>
                <a:latin typeface="Calibri" pitchFamily="34" charset="0"/>
                <a:ea typeface="Calibri" pitchFamily="34" charset="-122"/>
                <a:cs typeface="Calibri" pitchFamily="34" charset="-120"/>
              </a:rPr>
              <a:t>Questions &amp; Discussion</a:t>
            </a:r>
            <a:endParaRPr lang="en-US" sz="1800" dirty="0"/>
          </a:p>
        </p:txBody>
      </p:sp>
      <p:sp>
        <p:nvSpPr>
          <p:cNvPr id="9" name="Shape 7"/>
          <p:cNvSpPr/>
          <p:nvPr/>
        </p:nvSpPr>
        <p:spPr>
          <a:xfrm>
            <a:off x="822960" y="4069080"/>
            <a:ext cx="2743200" cy="0"/>
          </a:xfrm>
          <a:prstGeom prst="line">
            <a:avLst/>
          </a:prstGeom>
          <a:noFill/>
          <a:ln w="31750">
            <a:solidFill>
              <a:srgbClr val="F2775E"/>
            </a:solidFill>
            <a:prstDash val="solid"/>
          </a:ln>
        </p:spPr>
      </p:sp>
      <p:sp>
        <p:nvSpPr>
          <p:cNvPr id="10" name="Text 8"/>
          <p:cNvSpPr/>
          <p:nvPr/>
        </p:nvSpPr>
        <p:spPr>
          <a:xfrm>
            <a:off x="822960" y="4251960"/>
            <a:ext cx="7315200" cy="36576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Sercan Külcü</a:t>
            </a:r>
            <a:endParaRPr lang="en-US" sz="1500" dirty="0"/>
          </a:p>
        </p:txBody>
      </p:sp>
      <p:sp>
        <p:nvSpPr>
          <p:cNvPr id="11" name="Text 9"/>
          <p:cNvSpPr/>
          <p:nvPr/>
        </p:nvSpPr>
        <p:spPr>
          <a:xfrm>
            <a:off x="822960" y="4617720"/>
            <a:ext cx="7315200" cy="320040"/>
          </a:xfrm>
          <a:prstGeom prst="rect">
            <a:avLst/>
          </a:prstGeom>
          <a:noFill/>
          <a:ln/>
        </p:spPr>
        <p:txBody>
          <a:bodyPr wrap="square" rtlCol="0" anchor="ctr"/>
          <a:lstStyle/>
          <a:p>
            <a:pPr indent="0" marL="0">
              <a:buNone/>
            </a:pPr>
            <a:r>
              <a:rPr lang="en-US" sz="1300" dirty="0">
                <a:solidFill>
                  <a:srgbClr val="CADCE0"/>
                </a:solidFill>
                <a:latin typeface="Calibri" pitchFamily="34" charset="0"/>
                <a:ea typeface="Calibri" pitchFamily="34" charset="-122"/>
                <a:cs typeface="Calibri" pitchFamily="34" charset="-120"/>
              </a:rPr>
              <a:t>sercan.kulcu@giresun.edu.tr</a:t>
            </a:r>
            <a:endParaRPr lang="en-US" sz="1300" dirty="0"/>
          </a:p>
        </p:txBody>
      </p:sp>
      <p:sp>
        <p:nvSpPr>
          <p:cNvPr id="12" name="Text 10"/>
          <p:cNvSpPr/>
          <p:nvPr/>
        </p:nvSpPr>
        <p:spPr>
          <a:xfrm>
            <a:off x="822960" y="4937760"/>
            <a:ext cx="7315200" cy="320040"/>
          </a:xfrm>
          <a:prstGeom prst="rect">
            <a:avLst/>
          </a:prstGeom>
          <a:noFill/>
          <a:ln/>
        </p:spPr>
        <p:txBody>
          <a:bodyPr wrap="square" rtlCol="0" anchor="ctr"/>
          <a:lstStyle/>
          <a:p>
            <a:pPr indent="0" marL="0">
              <a:buNone/>
            </a:pPr>
            <a:r>
              <a:rPr lang="en-US" sz="1200" dirty="0">
                <a:solidFill>
                  <a:srgbClr val="9FB8C4"/>
                </a:solidFill>
                <a:latin typeface="Calibri" pitchFamily="34" charset="0"/>
                <a:ea typeface="Calibri" pitchFamily="34" charset="-122"/>
                <a:cs typeface="Calibri" pitchFamily="34" charset="-120"/>
              </a:rPr>
              <a:t>Computer Engineering Department, Giresun University, Türkiye</a:t>
            </a:r>
            <a:endParaRPr lang="en-US" sz="1200" dirty="0"/>
          </a:p>
        </p:txBody>
      </p:sp>
      <p:sp>
        <p:nvSpPr>
          <p:cNvPr id="13" name="Text 11"/>
          <p:cNvSpPr/>
          <p:nvPr/>
        </p:nvSpPr>
        <p:spPr>
          <a:xfrm>
            <a:off x="822960" y="6035040"/>
            <a:ext cx="7315200" cy="274320"/>
          </a:xfrm>
          <a:prstGeom prst="rect">
            <a:avLst/>
          </a:prstGeom>
          <a:noFill/>
          <a:ln/>
        </p:spPr>
        <p:txBody>
          <a:bodyPr wrap="square" rtlCol="0" anchor="ctr"/>
          <a:lstStyle/>
          <a:p>
            <a:pPr indent="0" marL="0">
              <a:buNone/>
            </a:pPr>
            <a:r>
              <a:rPr lang="en-US" sz="1050" dirty="0">
                <a:solidFill>
                  <a:srgbClr val="7E96A2"/>
                </a:solidFill>
                <a:latin typeface="Calibri" pitchFamily="34" charset="0"/>
                <a:ea typeface="Calibri" pitchFamily="34" charset="-122"/>
                <a:cs typeface="Calibri" pitchFamily="34" charset="-120"/>
              </a:rPr>
              <a:t>ORCID: 0000-0002-4871-709X</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2026-09-10T05:32:46Z</dcterms:created>
  <dcterms:modified xsi:type="dcterms:W3CDTF">2026-09-10T05:32:46Z</dcterms:modified>
</cp:coreProperties>
</file>