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1295C"/>
                </a:solidFill>
                <a:latin typeface="Calibri"/>
              </a:defRPr>
            </a:pPr>
            <a:r>
              <a:rPr lang="tr-TR" sz="1200" b="0" i="0" u="none" strike="noStrike">
                <a:solidFill>
                  <a:srgbClr val="21295C"/>
                </a:solidFill>
                <a:latin typeface="Calibri"/>
              </a:rPr>
              <a:t>Reported relative speed-up (x)</a:t>
            </a:r>
          </a:p>
        </c:rich>
      </c:tx>
      <c:overlay val="0"/>
    </c:title>
    <c:autoTitleDeleted val="0"/>
    <c:plotArea>
      <c:layout/>
      <c:barChart>
        <c:barDir val="col"/>
        <c:grouping val="clustered"/>
        <c:varyColors val="0"/>
        <c:ser>
          <c:idx val="0"/>
          <c:order val="0"/>
          <c:tx>
            <c:strRef>
              <c:f>Sheet1!$B$1</c:f>
              <c:strCache>
                <c:ptCount val="1"/>
                <c:pt idx="0">
                  <c:v>Relative speed-up vs. baseline</c:v>
                </c:pt>
              </c:strCache>
            </c:strRef>
          </c:tx>
          <c:spPr>
            <a:solidFill>
              <a:srgbClr val="065A82"/>
            </a:solidFill>
            <a:effectLst/>
          </c:spPr>
          <c:invertIfNegative val="0"/>
          <c:dLbls>
            <c:numFmt formatCode="#,##0" sourceLinked="0"/>
            <c:spPr>
              <a:noFill/>
              <a:ln>
                <a:noFill/>
              </a:ln>
              <a:effectLst/>
            </c:spPr>
            <c:txPr>
              <a:bodyPr/>
              <a:lstStyle/>
              <a:p>
                <a:pPr>
                  <a:defRPr sz="1000" b="0" i="0" u="none" strike="noStrike">
                    <a:solidFill>
                      <a:srgbClr val="1B2436"/>
                    </a:solidFill>
                    <a:latin typeface="Arial"/>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Hadoop
MapReduce</c:v>
                </c:pt>
                <c:pt idx="1">
                  <c:v>Apache
Spark</c:v>
                </c:pt>
                <c:pt idx="2">
                  <c:v>GraphX
(vs Hadoop)</c:v>
                </c:pt>
                <c:pt idx="3">
                  <c:v>Presto
(vs Hive)</c:v>
                </c:pt>
              </c:strCache>
            </c:strRef>
          </c:cat>
          <c:val>
            <c:numRef>
              <c:f>Sheet1!$B$2:$B$5</c:f>
              <c:numCache>
                <c:formatCode>General</c:formatCode>
                <c:ptCount val="4"/>
                <c:pt idx="0">
                  <c:v>1</c:v>
                </c:pt>
                <c:pt idx="1">
                  <c:v>100</c:v>
                </c:pt>
                <c:pt idx="2">
                  <c:v>8</c:v>
                </c:pt>
                <c:pt idx="3">
                  <c:v>2</c:v>
                </c:pt>
              </c:numCache>
            </c:numRef>
          </c:val>
          <c:extLst>
            <c:ext xmlns:c16="http://schemas.microsoft.com/office/drawing/2014/chart" uri="{C3380CC4-5D6E-409C-BE32-E72D297353CC}">
              <c16:uniqueId val="{00000000-2777-4758-AF7C-73138CFFE74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436"/>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A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9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2075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731520"/>
            <a:ext cx="146304" cy="146304"/>
          </a:xfrm>
          <a:prstGeom prst="ellipse">
            <a:avLst/>
          </a:prstGeom>
          <a:solidFill>
            <a:srgbClr val="1C7293"/>
          </a:solidFill>
          <a:ln/>
        </p:spPr>
        <p:txBody>
          <a:bodyPr/>
          <a:lstStyle/>
          <a:p>
            <a:endParaRPr lang="tr-TR"/>
          </a:p>
        </p:txBody>
      </p:sp>
      <p:sp>
        <p:nvSpPr>
          <p:cNvPr id="3" name="Shape 1"/>
          <p:cNvSpPr/>
          <p:nvPr/>
        </p:nvSpPr>
        <p:spPr>
          <a:xfrm>
            <a:off x="10698480" y="1371600"/>
            <a:ext cx="91440" cy="91440"/>
          </a:xfrm>
          <a:prstGeom prst="ellipse">
            <a:avLst/>
          </a:prstGeom>
          <a:solidFill>
            <a:srgbClr val="CADCFC"/>
          </a:solidFill>
          <a:ln/>
        </p:spPr>
        <p:txBody>
          <a:bodyPr/>
          <a:lstStyle/>
          <a:p>
            <a:endParaRPr lang="tr-TR"/>
          </a:p>
        </p:txBody>
      </p:sp>
      <p:sp>
        <p:nvSpPr>
          <p:cNvPr id="4" name="Shape 2"/>
          <p:cNvSpPr/>
          <p:nvPr/>
        </p:nvSpPr>
        <p:spPr>
          <a:xfrm>
            <a:off x="9418320" y="1737360"/>
            <a:ext cx="146304" cy="146304"/>
          </a:xfrm>
          <a:prstGeom prst="ellipse">
            <a:avLst/>
          </a:prstGeom>
          <a:solidFill>
            <a:srgbClr val="CADCFC"/>
          </a:solidFill>
          <a:ln/>
        </p:spPr>
        <p:txBody>
          <a:bodyPr/>
          <a:lstStyle/>
          <a:p>
            <a:endParaRPr lang="tr-TR"/>
          </a:p>
        </p:txBody>
      </p:sp>
      <p:sp>
        <p:nvSpPr>
          <p:cNvPr id="5" name="Shape 3"/>
          <p:cNvSpPr/>
          <p:nvPr/>
        </p:nvSpPr>
        <p:spPr>
          <a:xfrm>
            <a:off x="11338560" y="822960"/>
            <a:ext cx="91440" cy="91440"/>
          </a:xfrm>
          <a:prstGeom prst="ellipse">
            <a:avLst/>
          </a:prstGeom>
          <a:solidFill>
            <a:srgbClr val="1C7293"/>
          </a:solidFill>
          <a:ln/>
        </p:spPr>
        <p:txBody>
          <a:bodyPr/>
          <a:lstStyle/>
          <a:p>
            <a:endParaRPr lang="tr-TR"/>
          </a:p>
        </p:txBody>
      </p:sp>
      <p:sp>
        <p:nvSpPr>
          <p:cNvPr id="6" name="Shape 4"/>
          <p:cNvSpPr/>
          <p:nvPr/>
        </p:nvSpPr>
        <p:spPr>
          <a:xfrm>
            <a:off x="10241280" y="2377440"/>
            <a:ext cx="146304" cy="146304"/>
          </a:xfrm>
          <a:prstGeom prst="ellipse">
            <a:avLst/>
          </a:prstGeom>
          <a:solidFill>
            <a:srgbClr val="CADCFC"/>
          </a:solidFill>
          <a:ln/>
        </p:spPr>
        <p:txBody>
          <a:bodyPr/>
          <a:lstStyle/>
          <a:p>
            <a:endParaRPr lang="tr-TR"/>
          </a:p>
        </p:txBody>
      </p:sp>
      <p:sp>
        <p:nvSpPr>
          <p:cNvPr id="7" name="Shape 5"/>
          <p:cNvSpPr/>
          <p:nvPr/>
        </p:nvSpPr>
        <p:spPr>
          <a:xfrm>
            <a:off x="11521440" y="1920240"/>
            <a:ext cx="91440" cy="91440"/>
          </a:xfrm>
          <a:prstGeom prst="ellipse">
            <a:avLst/>
          </a:prstGeom>
          <a:solidFill>
            <a:srgbClr val="CADCFC"/>
          </a:solidFill>
          <a:ln/>
        </p:spPr>
        <p:txBody>
          <a:bodyPr/>
          <a:lstStyle/>
          <a:p>
            <a:endParaRPr lang="tr-TR"/>
          </a:p>
        </p:txBody>
      </p:sp>
      <p:sp>
        <p:nvSpPr>
          <p:cNvPr id="8" name="Shape 6"/>
          <p:cNvSpPr/>
          <p:nvPr/>
        </p:nvSpPr>
        <p:spPr>
          <a:xfrm>
            <a:off x="9765792" y="804672"/>
            <a:ext cx="1005840" cy="640080"/>
          </a:xfrm>
          <a:prstGeom prst="line">
            <a:avLst/>
          </a:prstGeom>
          <a:noFill/>
          <a:ln w="12700">
            <a:solidFill>
              <a:srgbClr val="3E5C9A"/>
            </a:solidFill>
            <a:prstDash val="solid"/>
          </a:ln>
        </p:spPr>
        <p:txBody>
          <a:bodyPr/>
          <a:lstStyle/>
          <a:p>
            <a:endParaRPr lang="tr-TR"/>
          </a:p>
        </p:txBody>
      </p:sp>
      <p:sp>
        <p:nvSpPr>
          <p:cNvPr id="9" name="Shape 7"/>
          <p:cNvSpPr/>
          <p:nvPr/>
        </p:nvSpPr>
        <p:spPr>
          <a:xfrm>
            <a:off x="9491472" y="804672"/>
            <a:ext cx="274320" cy="1005840"/>
          </a:xfrm>
          <a:prstGeom prst="line">
            <a:avLst/>
          </a:prstGeom>
          <a:noFill/>
          <a:ln w="12700">
            <a:solidFill>
              <a:srgbClr val="3E5C9A"/>
            </a:solidFill>
            <a:prstDash val="solid"/>
          </a:ln>
        </p:spPr>
        <p:txBody>
          <a:bodyPr/>
          <a:lstStyle/>
          <a:p>
            <a:endParaRPr lang="tr-TR"/>
          </a:p>
        </p:txBody>
      </p:sp>
      <p:sp>
        <p:nvSpPr>
          <p:cNvPr id="10" name="Shape 8"/>
          <p:cNvSpPr/>
          <p:nvPr/>
        </p:nvSpPr>
        <p:spPr>
          <a:xfrm flipV="1">
            <a:off x="10771632" y="896112"/>
            <a:ext cx="640080" cy="548640"/>
          </a:xfrm>
          <a:prstGeom prst="line">
            <a:avLst/>
          </a:prstGeom>
          <a:noFill/>
          <a:ln w="12700">
            <a:solidFill>
              <a:srgbClr val="3E5C9A"/>
            </a:solidFill>
            <a:prstDash val="solid"/>
          </a:ln>
        </p:spPr>
        <p:txBody>
          <a:bodyPr/>
          <a:lstStyle/>
          <a:p>
            <a:endParaRPr lang="tr-TR"/>
          </a:p>
        </p:txBody>
      </p:sp>
      <p:sp>
        <p:nvSpPr>
          <p:cNvPr id="11" name="Shape 9"/>
          <p:cNvSpPr/>
          <p:nvPr/>
        </p:nvSpPr>
        <p:spPr>
          <a:xfrm>
            <a:off x="10314432" y="1444752"/>
            <a:ext cx="457200" cy="1005840"/>
          </a:xfrm>
          <a:prstGeom prst="line">
            <a:avLst/>
          </a:prstGeom>
          <a:noFill/>
          <a:ln w="12700">
            <a:solidFill>
              <a:srgbClr val="3E5C9A"/>
            </a:solidFill>
            <a:prstDash val="solid"/>
          </a:ln>
        </p:spPr>
        <p:txBody>
          <a:bodyPr/>
          <a:lstStyle/>
          <a:p>
            <a:endParaRPr lang="tr-TR"/>
          </a:p>
        </p:txBody>
      </p:sp>
      <p:sp>
        <p:nvSpPr>
          <p:cNvPr id="12" name="Shape 10"/>
          <p:cNvSpPr/>
          <p:nvPr/>
        </p:nvSpPr>
        <p:spPr>
          <a:xfrm flipV="1">
            <a:off x="10314432" y="1993392"/>
            <a:ext cx="1280160" cy="457200"/>
          </a:xfrm>
          <a:prstGeom prst="line">
            <a:avLst/>
          </a:prstGeom>
          <a:noFill/>
          <a:ln w="12700">
            <a:solidFill>
              <a:srgbClr val="3E5C9A"/>
            </a:solidFill>
            <a:prstDash val="solid"/>
          </a:ln>
        </p:spPr>
        <p:txBody>
          <a:bodyPr/>
          <a:lstStyle/>
          <a:p>
            <a:endParaRPr lang="tr-TR"/>
          </a:p>
        </p:txBody>
      </p:sp>
      <p:sp>
        <p:nvSpPr>
          <p:cNvPr id="13" name="Shape 11"/>
          <p:cNvSpPr/>
          <p:nvPr/>
        </p:nvSpPr>
        <p:spPr>
          <a:xfrm>
            <a:off x="11411712" y="896112"/>
            <a:ext cx="182880" cy="1097280"/>
          </a:xfrm>
          <a:prstGeom prst="line">
            <a:avLst/>
          </a:prstGeom>
          <a:noFill/>
          <a:ln w="12700">
            <a:solidFill>
              <a:srgbClr val="3E5C9A"/>
            </a:solidFill>
            <a:prstDash val="solid"/>
          </a:ln>
        </p:spPr>
        <p:txBody>
          <a:bodyPr/>
          <a:lstStyle/>
          <a:p>
            <a:endParaRPr lang="tr-TR"/>
          </a:p>
        </p:txBody>
      </p:sp>
      <p:sp>
        <p:nvSpPr>
          <p:cNvPr id="14" name="Text 12"/>
          <p:cNvSpPr/>
          <p:nvPr/>
        </p:nvSpPr>
        <p:spPr>
          <a:xfrm>
            <a:off x="640080" y="2148840"/>
            <a:ext cx="8229600" cy="365760"/>
          </a:xfrm>
          <a:prstGeom prst="rect">
            <a:avLst/>
          </a:prstGeom>
          <a:noFill/>
          <a:ln/>
        </p:spPr>
        <p:txBody>
          <a:bodyPr wrap="square" lIns="0" tIns="0" rIns="0" bIns="0"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SOCIAL NETWORK ANALYSIS</a:t>
            </a:r>
            <a:endParaRPr lang="en-US" sz="1400" dirty="0"/>
          </a:p>
        </p:txBody>
      </p:sp>
      <p:sp>
        <p:nvSpPr>
          <p:cNvPr id="15" name="Text 13"/>
          <p:cNvSpPr/>
          <p:nvPr/>
        </p:nvSpPr>
        <p:spPr>
          <a:xfrm>
            <a:off x="640080" y="2514600"/>
            <a:ext cx="9875520" cy="164592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 Survey on Semantic Web and Big Data</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Technologies for Social Network Analysis</a:t>
            </a:r>
            <a:endParaRPr lang="en-US" sz="4000" dirty="0"/>
          </a:p>
        </p:txBody>
      </p:sp>
      <p:sp>
        <p:nvSpPr>
          <p:cNvPr id="16" name="Text 14"/>
          <p:cNvSpPr/>
          <p:nvPr/>
        </p:nvSpPr>
        <p:spPr>
          <a:xfrm>
            <a:off x="640080" y="4343400"/>
            <a:ext cx="914400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Sercan Kulcu   •   Erdogan Dogdu   •   A. Murat Ozbayoglu</a:t>
            </a:r>
            <a:endParaRPr lang="en-US" sz="1600" dirty="0"/>
          </a:p>
        </p:txBody>
      </p:sp>
      <p:sp>
        <p:nvSpPr>
          <p:cNvPr id="17" name="Text 15"/>
          <p:cNvSpPr/>
          <p:nvPr/>
        </p:nvSpPr>
        <p:spPr>
          <a:xfrm>
            <a:off x="640080" y="4709160"/>
            <a:ext cx="9144000" cy="365760"/>
          </a:xfrm>
          <a:prstGeom prst="rect">
            <a:avLst/>
          </a:prstGeom>
          <a:noFill/>
          <a:ln/>
        </p:spPr>
        <p:txBody>
          <a:bodyPr wrap="square" lIns="0" tIns="0" rIns="0" bIns="0" rtlCol="0" anchor="ctr"/>
          <a:lstStyle/>
          <a:p>
            <a:pPr marL="0" indent="0">
              <a:buNone/>
            </a:pPr>
            <a:r>
              <a:rPr lang="en-US" sz="1200" i="1" dirty="0">
                <a:solidFill>
                  <a:srgbClr val="9FB3E0"/>
                </a:solidFill>
                <a:latin typeface="Calibri" pitchFamily="34" charset="0"/>
                <a:ea typeface="Calibri" pitchFamily="34" charset="-122"/>
                <a:cs typeface="Calibri" pitchFamily="34" charset="-120"/>
              </a:rPr>
              <a:t>Computer Engineering Department, TOBB University of Economics and Technology, Ankara, Turkey</a:t>
            </a:r>
            <a:endParaRPr lang="en-US" sz="1200" dirty="0"/>
          </a:p>
        </p:txBody>
      </p:sp>
      <p:sp>
        <p:nvSpPr>
          <p:cNvPr id="18" name="Shape 16"/>
          <p:cNvSpPr/>
          <p:nvPr/>
        </p:nvSpPr>
        <p:spPr>
          <a:xfrm>
            <a:off x="640080" y="5532120"/>
            <a:ext cx="4114800" cy="0"/>
          </a:xfrm>
          <a:prstGeom prst="line">
            <a:avLst/>
          </a:prstGeom>
          <a:noFill/>
          <a:ln w="25400">
            <a:solidFill>
              <a:srgbClr val="1C7293"/>
            </a:solidFill>
            <a:prstDash val="solid"/>
          </a:ln>
        </p:spPr>
        <p:txBody>
          <a:bodyPr/>
          <a:lstStyle/>
          <a:p>
            <a:endParaRPr lang="tr-TR"/>
          </a:p>
        </p:txBody>
      </p:sp>
      <p:sp>
        <p:nvSpPr>
          <p:cNvPr id="19" name="Text 17"/>
          <p:cNvSpPr/>
          <p:nvPr/>
        </p:nvSpPr>
        <p:spPr>
          <a:xfrm>
            <a:off x="640080" y="5715000"/>
            <a:ext cx="9144000" cy="320040"/>
          </a:xfrm>
          <a:prstGeom prst="rect">
            <a:avLst/>
          </a:prstGeom>
          <a:noFill/>
          <a:ln/>
        </p:spPr>
        <p:txBody>
          <a:bodyPr wrap="square" lIns="0" tIns="0" rIns="0" bIns="0" rtlCol="0" anchor="ctr"/>
          <a:lstStyle/>
          <a:p>
            <a:pPr marL="0" indent="0">
              <a:buNone/>
            </a:pPr>
            <a:r>
              <a:rPr lang="en-US" sz="1200" dirty="0">
                <a:solidFill>
                  <a:srgbClr val="9FB3E0"/>
                </a:solidFill>
                <a:latin typeface="Calibri" pitchFamily="34" charset="0"/>
                <a:ea typeface="Calibri" pitchFamily="34" charset="-122"/>
                <a:cs typeface="Calibri" pitchFamily="34" charset="-120"/>
              </a:rPr>
              <a:t>2016 IEEE International Conference on Big Data  |  Washington D.C.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Outline</a:t>
            </a:r>
            <a:endParaRPr lang="en-US" sz="3400" dirty="0"/>
          </a:p>
        </p:txBody>
      </p:sp>
      <p:sp>
        <p:nvSpPr>
          <p:cNvPr id="3" name="Shape 1"/>
          <p:cNvSpPr/>
          <p:nvPr/>
        </p:nvSpPr>
        <p:spPr>
          <a:xfrm>
            <a:off x="548640" y="1097280"/>
            <a:ext cx="11064240" cy="18288"/>
          </a:xfrm>
          <a:prstGeom prst="rect">
            <a:avLst/>
          </a:prstGeom>
          <a:solidFill>
            <a:srgbClr val="CADCFC"/>
          </a:solidFill>
          <a:ln/>
        </p:spPr>
        <p:txBody>
          <a:bodyPr/>
          <a:lstStyle/>
          <a:p>
            <a:endParaRPr lang="tr-TR"/>
          </a:p>
        </p:txBody>
      </p:sp>
      <p:sp>
        <p:nvSpPr>
          <p:cNvPr id="4" name="Shape 2"/>
          <p:cNvSpPr/>
          <p:nvPr/>
        </p:nvSpPr>
        <p:spPr>
          <a:xfrm>
            <a:off x="640080" y="1463040"/>
            <a:ext cx="594360" cy="594360"/>
          </a:xfrm>
          <a:prstGeom prst="ellipse">
            <a:avLst/>
          </a:prstGeom>
          <a:solidFill>
            <a:srgbClr val="1C7293"/>
          </a:solidFill>
          <a:ln w="12700">
            <a:solidFill>
              <a:srgbClr val="CADCFC"/>
            </a:solidFill>
            <a:prstDash val="solid"/>
          </a:ln>
        </p:spPr>
        <p:txBody>
          <a:bodyPr/>
          <a:lstStyle/>
          <a:p>
            <a:endParaRPr lang="tr-TR"/>
          </a:p>
        </p:txBody>
      </p:sp>
      <p:sp>
        <p:nvSpPr>
          <p:cNvPr id="5" name="Text 3"/>
          <p:cNvSpPr/>
          <p:nvPr/>
        </p:nvSpPr>
        <p:spPr>
          <a:xfrm>
            <a:off x="640080" y="1463040"/>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6" name="Text 4"/>
          <p:cNvSpPr/>
          <p:nvPr/>
        </p:nvSpPr>
        <p:spPr>
          <a:xfrm>
            <a:off x="1508760" y="1417320"/>
            <a:ext cx="5669280" cy="365760"/>
          </a:xfrm>
          <a:prstGeom prst="rect">
            <a:avLst/>
          </a:prstGeom>
          <a:noFill/>
          <a:ln/>
        </p:spPr>
        <p:txBody>
          <a:bodyPr wrap="square" lIns="0" tIns="0" rIns="0" bIns="0" rtlCol="0" anchor="ctr"/>
          <a:lstStyle/>
          <a:p>
            <a:pPr marL="0" indent="0">
              <a:buNone/>
            </a:pPr>
            <a:r>
              <a:rPr lang="en-US" sz="1700" b="1" dirty="0">
                <a:solidFill>
                  <a:srgbClr val="1B2436"/>
                </a:solidFill>
                <a:latin typeface="Calibri" pitchFamily="34" charset="0"/>
                <a:ea typeface="Calibri" pitchFamily="34" charset="-122"/>
                <a:cs typeface="Calibri" pitchFamily="34" charset="-120"/>
              </a:rPr>
              <a:t>Motivation &amp; Challenges</a:t>
            </a:r>
            <a:endParaRPr lang="en-US" sz="1700" dirty="0"/>
          </a:p>
        </p:txBody>
      </p:sp>
      <p:sp>
        <p:nvSpPr>
          <p:cNvPr id="7" name="Text 5"/>
          <p:cNvSpPr/>
          <p:nvPr/>
        </p:nvSpPr>
        <p:spPr>
          <a:xfrm>
            <a:off x="1508760" y="1783080"/>
            <a:ext cx="9144000" cy="365760"/>
          </a:xfrm>
          <a:prstGeom prst="rect">
            <a:avLst/>
          </a:prstGeom>
          <a:noFill/>
          <a:ln/>
        </p:spPr>
        <p:txBody>
          <a:bodyPr wrap="square" lIns="0" tIns="0" rIns="0" bIns="0" rtlCol="0" anchor="ctr"/>
          <a:lstStyle/>
          <a:p>
            <a:pPr marL="0" indent="0">
              <a:buNone/>
            </a:pPr>
            <a:r>
              <a:rPr lang="en-US" sz="1250" dirty="0">
                <a:solidFill>
                  <a:srgbClr val="6B7A99"/>
                </a:solidFill>
                <a:latin typeface="Calibri" pitchFamily="34" charset="0"/>
                <a:ea typeface="Calibri" pitchFamily="34" charset="-122"/>
                <a:cs typeface="Calibri" pitchFamily="34" charset="-120"/>
              </a:rPr>
              <a:t>Why social network analysis needs both Semantic Web and Big Data</a:t>
            </a:r>
            <a:endParaRPr lang="en-US" sz="1250" dirty="0"/>
          </a:p>
        </p:txBody>
      </p:sp>
      <p:sp>
        <p:nvSpPr>
          <p:cNvPr id="8" name="Shape 6"/>
          <p:cNvSpPr/>
          <p:nvPr/>
        </p:nvSpPr>
        <p:spPr>
          <a:xfrm>
            <a:off x="640080" y="2423160"/>
            <a:ext cx="594360" cy="594360"/>
          </a:xfrm>
          <a:prstGeom prst="ellipse">
            <a:avLst/>
          </a:prstGeom>
          <a:solidFill>
            <a:srgbClr val="F4F7FA"/>
          </a:solidFill>
          <a:ln w="12700">
            <a:solidFill>
              <a:srgbClr val="CADCFC"/>
            </a:solidFill>
            <a:prstDash val="solid"/>
          </a:ln>
        </p:spPr>
        <p:txBody>
          <a:bodyPr/>
          <a:lstStyle/>
          <a:p>
            <a:endParaRPr lang="tr-TR"/>
          </a:p>
        </p:txBody>
      </p:sp>
      <p:sp>
        <p:nvSpPr>
          <p:cNvPr id="9" name="Text 7"/>
          <p:cNvSpPr/>
          <p:nvPr/>
        </p:nvSpPr>
        <p:spPr>
          <a:xfrm>
            <a:off x="640080" y="2423160"/>
            <a:ext cx="594360" cy="594360"/>
          </a:xfrm>
          <a:prstGeom prst="rect">
            <a:avLst/>
          </a:prstGeom>
          <a:noFill/>
          <a:ln/>
        </p:spPr>
        <p:txBody>
          <a:bodyPr wrap="square" lIns="0" tIns="0" rIns="0" bIns="0" rtlCol="0" anchor="ctr"/>
          <a:lstStyle/>
          <a:p>
            <a:pPr marL="0" indent="0" algn="ctr">
              <a:buNone/>
            </a:pPr>
            <a:r>
              <a:rPr lang="en-US" sz="1800" b="1" dirty="0">
                <a:solidFill>
                  <a:srgbClr val="065A82"/>
                </a:solidFill>
                <a:latin typeface="Cambria" pitchFamily="34" charset="0"/>
                <a:ea typeface="Cambria" pitchFamily="34" charset="-122"/>
                <a:cs typeface="Cambria" pitchFamily="34" charset="-120"/>
              </a:rPr>
              <a:t>02</a:t>
            </a:r>
            <a:endParaRPr lang="en-US" sz="1800" dirty="0"/>
          </a:p>
        </p:txBody>
      </p:sp>
      <p:sp>
        <p:nvSpPr>
          <p:cNvPr id="10" name="Text 8"/>
          <p:cNvSpPr/>
          <p:nvPr/>
        </p:nvSpPr>
        <p:spPr>
          <a:xfrm>
            <a:off x="1508760" y="2377440"/>
            <a:ext cx="5669280" cy="365760"/>
          </a:xfrm>
          <a:prstGeom prst="rect">
            <a:avLst/>
          </a:prstGeom>
          <a:noFill/>
          <a:ln/>
        </p:spPr>
        <p:txBody>
          <a:bodyPr wrap="square" lIns="0" tIns="0" rIns="0" bIns="0" rtlCol="0" anchor="ctr"/>
          <a:lstStyle/>
          <a:p>
            <a:pPr marL="0" indent="0">
              <a:buNone/>
            </a:pPr>
            <a:r>
              <a:rPr lang="en-US" sz="1700" b="1" dirty="0">
                <a:solidFill>
                  <a:srgbClr val="1B2436"/>
                </a:solidFill>
                <a:latin typeface="Calibri" pitchFamily="34" charset="0"/>
                <a:ea typeface="Calibri" pitchFamily="34" charset="-122"/>
                <a:cs typeface="Calibri" pitchFamily="34" charset="-120"/>
              </a:rPr>
              <a:t>Semantic Web Technologies</a:t>
            </a:r>
            <a:endParaRPr lang="en-US" sz="1700" dirty="0"/>
          </a:p>
        </p:txBody>
      </p:sp>
      <p:sp>
        <p:nvSpPr>
          <p:cNvPr id="11" name="Text 9"/>
          <p:cNvSpPr/>
          <p:nvPr/>
        </p:nvSpPr>
        <p:spPr>
          <a:xfrm>
            <a:off x="1508760" y="2743200"/>
            <a:ext cx="9144000" cy="365760"/>
          </a:xfrm>
          <a:prstGeom prst="rect">
            <a:avLst/>
          </a:prstGeom>
          <a:noFill/>
          <a:ln/>
        </p:spPr>
        <p:txBody>
          <a:bodyPr wrap="square" lIns="0" tIns="0" rIns="0" bIns="0" rtlCol="0" anchor="ctr"/>
          <a:lstStyle/>
          <a:p>
            <a:pPr marL="0" indent="0">
              <a:buNone/>
            </a:pPr>
            <a:r>
              <a:rPr lang="en-US" sz="1250" dirty="0">
                <a:solidFill>
                  <a:srgbClr val="6B7A99"/>
                </a:solidFill>
                <a:latin typeface="Calibri" pitchFamily="34" charset="0"/>
                <a:ea typeface="Calibri" pitchFamily="34" charset="-122"/>
                <a:cs typeface="Calibri" pitchFamily="34" charset="-120"/>
              </a:rPr>
              <a:t>RDF, RDFS, OWL, SPARQL, triplestores &amp; vocabularies</a:t>
            </a:r>
            <a:endParaRPr lang="en-US" sz="1250" dirty="0"/>
          </a:p>
        </p:txBody>
      </p:sp>
      <p:sp>
        <p:nvSpPr>
          <p:cNvPr id="12" name="Shape 10"/>
          <p:cNvSpPr/>
          <p:nvPr/>
        </p:nvSpPr>
        <p:spPr>
          <a:xfrm>
            <a:off x="640080" y="3383280"/>
            <a:ext cx="594360" cy="594360"/>
          </a:xfrm>
          <a:prstGeom prst="ellipse">
            <a:avLst/>
          </a:prstGeom>
          <a:solidFill>
            <a:srgbClr val="F4F7FA"/>
          </a:solidFill>
          <a:ln w="12700">
            <a:solidFill>
              <a:srgbClr val="CADCFC"/>
            </a:solidFill>
            <a:prstDash val="solid"/>
          </a:ln>
        </p:spPr>
        <p:txBody>
          <a:bodyPr/>
          <a:lstStyle/>
          <a:p>
            <a:endParaRPr lang="tr-TR"/>
          </a:p>
        </p:txBody>
      </p:sp>
      <p:sp>
        <p:nvSpPr>
          <p:cNvPr id="13" name="Text 11"/>
          <p:cNvSpPr/>
          <p:nvPr/>
        </p:nvSpPr>
        <p:spPr>
          <a:xfrm>
            <a:off x="640080" y="3383280"/>
            <a:ext cx="594360" cy="594360"/>
          </a:xfrm>
          <a:prstGeom prst="rect">
            <a:avLst/>
          </a:prstGeom>
          <a:noFill/>
          <a:ln/>
        </p:spPr>
        <p:txBody>
          <a:bodyPr wrap="square" lIns="0" tIns="0" rIns="0" bIns="0" rtlCol="0" anchor="ctr"/>
          <a:lstStyle/>
          <a:p>
            <a:pPr marL="0" indent="0" algn="ctr">
              <a:buNone/>
            </a:pPr>
            <a:r>
              <a:rPr lang="en-US" sz="1800" b="1" dirty="0">
                <a:solidFill>
                  <a:srgbClr val="065A82"/>
                </a:solidFill>
                <a:latin typeface="Cambria" pitchFamily="34" charset="0"/>
                <a:ea typeface="Cambria" pitchFamily="34" charset="-122"/>
                <a:cs typeface="Cambria" pitchFamily="34" charset="-120"/>
              </a:rPr>
              <a:t>03</a:t>
            </a:r>
            <a:endParaRPr lang="en-US" sz="1800" dirty="0"/>
          </a:p>
        </p:txBody>
      </p:sp>
      <p:sp>
        <p:nvSpPr>
          <p:cNvPr id="14" name="Text 12"/>
          <p:cNvSpPr/>
          <p:nvPr/>
        </p:nvSpPr>
        <p:spPr>
          <a:xfrm>
            <a:off x="1508760" y="3337560"/>
            <a:ext cx="5669280" cy="365760"/>
          </a:xfrm>
          <a:prstGeom prst="rect">
            <a:avLst/>
          </a:prstGeom>
          <a:noFill/>
          <a:ln/>
        </p:spPr>
        <p:txBody>
          <a:bodyPr wrap="square" lIns="0" tIns="0" rIns="0" bIns="0" rtlCol="0" anchor="ctr"/>
          <a:lstStyle/>
          <a:p>
            <a:pPr marL="0" indent="0">
              <a:buNone/>
            </a:pPr>
            <a:r>
              <a:rPr lang="en-US" sz="1700" b="1" dirty="0">
                <a:solidFill>
                  <a:srgbClr val="1B2436"/>
                </a:solidFill>
                <a:latin typeface="Calibri" pitchFamily="34" charset="0"/>
                <a:ea typeface="Calibri" pitchFamily="34" charset="-122"/>
                <a:cs typeface="Calibri" pitchFamily="34" charset="-120"/>
              </a:rPr>
              <a:t>Big Data Architectures</a:t>
            </a:r>
            <a:endParaRPr lang="en-US" sz="1700" dirty="0"/>
          </a:p>
        </p:txBody>
      </p:sp>
      <p:sp>
        <p:nvSpPr>
          <p:cNvPr id="15" name="Text 13"/>
          <p:cNvSpPr/>
          <p:nvPr/>
        </p:nvSpPr>
        <p:spPr>
          <a:xfrm>
            <a:off x="1508760" y="3703320"/>
            <a:ext cx="9144000" cy="365760"/>
          </a:xfrm>
          <a:prstGeom prst="rect">
            <a:avLst/>
          </a:prstGeom>
          <a:noFill/>
          <a:ln/>
        </p:spPr>
        <p:txBody>
          <a:bodyPr wrap="square" lIns="0" tIns="0" rIns="0" bIns="0" rtlCol="0" anchor="ctr"/>
          <a:lstStyle/>
          <a:p>
            <a:pPr marL="0" indent="0">
              <a:buNone/>
            </a:pPr>
            <a:r>
              <a:rPr lang="en-US" sz="1250" dirty="0">
                <a:solidFill>
                  <a:srgbClr val="6B7A99"/>
                </a:solidFill>
                <a:latin typeface="Calibri" pitchFamily="34" charset="0"/>
                <a:ea typeface="Calibri" pitchFamily="34" charset="-122"/>
                <a:cs typeface="Calibri" pitchFamily="34" charset="-120"/>
              </a:rPr>
              <a:t>Parallel processing frameworks &amp; NoSQL database technologies</a:t>
            </a:r>
            <a:endParaRPr lang="en-US" sz="1250" dirty="0"/>
          </a:p>
        </p:txBody>
      </p:sp>
      <p:sp>
        <p:nvSpPr>
          <p:cNvPr id="16" name="Shape 14"/>
          <p:cNvSpPr/>
          <p:nvPr/>
        </p:nvSpPr>
        <p:spPr>
          <a:xfrm>
            <a:off x="640080" y="4343400"/>
            <a:ext cx="594360" cy="594360"/>
          </a:xfrm>
          <a:prstGeom prst="ellipse">
            <a:avLst/>
          </a:prstGeom>
          <a:solidFill>
            <a:srgbClr val="F4F7FA"/>
          </a:solidFill>
          <a:ln w="12700">
            <a:solidFill>
              <a:srgbClr val="CADCFC"/>
            </a:solidFill>
            <a:prstDash val="solid"/>
          </a:ln>
        </p:spPr>
        <p:txBody>
          <a:bodyPr/>
          <a:lstStyle/>
          <a:p>
            <a:endParaRPr lang="tr-TR"/>
          </a:p>
        </p:txBody>
      </p:sp>
      <p:sp>
        <p:nvSpPr>
          <p:cNvPr id="17" name="Text 15"/>
          <p:cNvSpPr/>
          <p:nvPr/>
        </p:nvSpPr>
        <p:spPr>
          <a:xfrm>
            <a:off x="640080" y="4343400"/>
            <a:ext cx="594360" cy="594360"/>
          </a:xfrm>
          <a:prstGeom prst="rect">
            <a:avLst/>
          </a:prstGeom>
          <a:noFill/>
          <a:ln/>
        </p:spPr>
        <p:txBody>
          <a:bodyPr wrap="square" lIns="0" tIns="0" rIns="0" bIns="0" rtlCol="0" anchor="ctr"/>
          <a:lstStyle/>
          <a:p>
            <a:pPr marL="0" indent="0" algn="ctr">
              <a:buNone/>
            </a:pPr>
            <a:r>
              <a:rPr lang="en-US" sz="1800" b="1" dirty="0">
                <a:solidFill>
                  <a:srgbClr val="065A82"/>
                </a:solidFill>
                <a:latin typeface="Cambria" pitchFamily="34" charset="0"/>
                <a:ea typeface="Cambria" pitchFamily="34" charset="-122"/>
                <a:cs typeface="Cambria" pitchFamily="34" charset="-120"/>
              </a:rPr>
              <a:t>04</a:t>
            </a:r>
            <a:endParaRPr lang="en-US" sz="1800" dirty="0"/>
          </a:p>
        </p:txBody>
      </p:sp>
      <p:sp>
        <p:nvSpPr>
          <p:cNvPr id="18" name="Text 16"/>
          <p:cNvSpPr/>
          <p:nvPr/>
        </p:nvSpPr>
        <p:spPr>
          <a:xfrm>
            <a:off x="1508760" y="4297680"/>
            <a:ext cx="5669280" cy="365760"/>
          </a:xfrm>
          <a:prstGeom prst="rect">
            <a:avLst/>
          </a:prstGeom>
          <a:noFill/>
          <a:ln/>
        </p:spPr>
        <p:txBody>
          <a:bodyPr wrap="square" lIns="0" tIns="0" rIns="0" bIns="0" rtlCol="0" anchor="ctr"/>
          <a:lstStyle/>
          <a:p>
            <a:pPr marL="0" indent="0">
              <a:buNone/>
            </a:pPr>
            <a:r>
              <a:rPr lang="en-US" sz="1700" b="1" dirty="0">
                <a:solidFill>
                  <a:srgbClr val="1B2436"/>
                </a:solidFill>
                <a:latin typeface="Calibri" pitchFamily="34" charset="0"/>
                <a:ea typeface="Calibri" pitchFamily="34" charset="-122"/>
                <a:cs typeface="Calibri" pitchFamily="34" charset="-120"/>
              </a:rPr>
              <a:t>Open Research Directions</a:t>
            </a:r>
            <a:endParaRPr lang="en-US" sz="1700" dirty="0"/>
          </a:p>
        </p:txBody>
      </p:sp>
      <p:sp>
        <p:nvSpPr>
          <p:cNvPr id="19" name="Text 17"/>
          <p:cNvSpPr/>
          <p:nvPr/>
        </p:nvSpPr>
        <p:spPr>
          <a:xfrm>
            <a:off x="1508760" y="4663440"/>
            <a:ext cx="9144000" cy="365760"/>
          </a:xfrm>
          <a:prstGeom prst="rect">
            <a:avLst/>
          </a:prstGeom>
          <a:noFill/>
          <a:ln/>
        </p:spPr>
        <p:txBody>
          <a:bodyPr wrap="square" lIns="0" tIns="0" rIns="0" bIns="0" rtlCol="0" anchor="ctr"/>
          <a:lstStyle/>
          <a:p>
            <a:pPr marL="0" indent="0">
              <a:buNone/>
            </a:pPr>
            <a:r>
              <a:rPr lang="en-US" sz="1250" dirty="0">
                <a:solidFill>
                  <a:srgbClr val="6B7A99"/>
                </a:solidFill>
                <a:latin typeface="Calibri" pitchFamily="34" charset="0"/>
                <a:ea typeface="Calibri" pitchFamily="34" charset="-122"/>
                <a:cs typeface="Calibri" pitchFamily="34" charset="-120"/>
              </a:rPr>
              <a:t>Privacy, profile matching, scalable RDF processing</a:t>
            </a:r>
            <a:endParaRPr lang="en-US" sz="1250" dirty="0"/>
          </a:p>
        </p:txBody>
      </p:sp>
      <p:sp>
        <p:nvSpPr>
          <p:cNvPr id="20" name="Shape 18"/>
          <p:cNvSpPr/>
          <p:nvPr/>
        </p:nvSpPr>
        <p:spPr>
          <a:xfrm>
            <a:off x="640080" y="5303520"/>
            <a:ext cx="594360" cy="594360"/>
          </a:xfrm>
          <a:prstGeom prst="ellipse">
            <a:avLst/>
          </a:prstGeom>
          <a:solidFill>
            <a:srgbClr val="F4F7FA"/>
          </a:solidFill>
          <a:ln w="12700">
            <a:solidFill>
              <a:srgbClr val="CADCFC"/>
            </a:solidFill>
            <a:prstDash val="solid"/>
          </a:ln>
        </p:spPr>
        <p:txBody>
          <a:bodyPr/>
          <a:lstStyle/>
          <a:p>
            <a:endParaRPr lang="tr-TR"/>
          </a:p>
        </p:txBody>
      </p:sp>
      <p:sp>
        <p:nvSpPr>
          <p:cNvPr id="21" name="Text 19"/>
          <p:cNvSpPr/>
          <p:nvPr/>
        </p:nvSpPr>
        <p:spPr>
          <a:xfrm>
            <a:off x="640080" y="5303520"/>
            <a:ext cx="594360" cy="594360"/>
          </a:xfrm>
          <a:prstGeom prst="rect">
            <a:avLst/>
          </a:prstGeom>
          <a:noFill/>
          <a:ln/>
        </p:spPr>
        <p:txBody>
          <a:bodyPr wrap="square" lIns="0" tIns="0" rIns="0" bIns="0" rtlCol="0" anchor="ctr"/>
          <a:lstStyle/>
          <a:p>
            <a:pPr marL="0" indent="0" algn="ctr">
              <a:buNone/>
            </a:pPr>
            <a:r>
              <a:rPr lang="en-US" sz="1800" b="1" dirty="0">
                <a:solidFill>
                  <a:srgbClr val="065A82"/>
                </a:solidFill>
                <a:latin typeface="Cambria" pitchFamily="34" charset="0"/>
                <a:ea typeface="Cambria" pitchFamily="34" charset="-122"/>
                <a:cs typeface="Cambria" pitchFamily="34" charset="-120"/>
              </a:rPr>
              <a:t>05</a:t>
            </a:r>
            <a:endParaRPr lang="en-US" sz="1800" dirty="0"/>
          </a:p>
        </p:txBody>
      </p:sp>
      <p:sp>
        <p:nvSpPr>
          <p:cNvPr id="22" name="Text 20"/>
          <p:cNvSpPr/>
          <p:nvPr/>
        </p:nvSpPr>
        <p:spPr>
          <a:xfrm>
            <a:off x="1508760" y="5257800"/>
            <a:ext cx="5669280" cy="365760"/>
          </a:xfrm>
          <a:prstGeom prst="rect">
            <a:avLst/>
          </a:prstGeom>
          <a:noFill/>
          <a:ln/>
        </p:spPr>
        <p:txBody>
          <a:bodyPr wrap="square" lIns="0" tIns="0" rIns="0" bIns="0" rtlCol="0" anchor="ctr"/>
          <a:lstStyle/>
          <a:p>
            <a:pPr marL="0" indent="0">
              <a:buNone/>
            </a:pPr>
            <a:r>
              <a:rPr lang="en-US" sz="1700" b="1" dirty="0">
                <a:solidFill>
                  <a:srgbClr val="1B2436"/>
                </a:solidFill>
                <a:latin typeface="Calibri" pitchFamily="34" charset="0"/>
                <a:ea typeface="Calibri" pitchFamily="34" charset="-122"/>
                <a:cs typeface="Calibri" pitchFamily="34" charset="-120"/>
              </a:rPr>
              <a:t>Conclusion</a:t>
            </a:r>
            <a:endParaRPr lang="en-US" sz="1700" dirty="0"/>
          </a:p>
        </p:txBody>
      </p:sp>
      <p:sp>
        <p:nvSpPr>
          <p:cNvPr id="23" name="Text 21"/>
          <p:cNvSpPr/>
          <p:nvPr/>
        </p:nvSpPr>
        <p:spPr>
          <a:xfrm>
            <a:off x="1508760" y="5623560"/>
            <a:ext cx="9144000" cy="365760"/>
          </a:xfrm>
          <a:prstGeom prst="rect">
            <a:avLst/>
          </a:prstGeom>
          <a:noFill/>
          <a:ln/>
        </p:spPr>
        <p:txBody>
          <a:bodyPr wrap="square" lIns="0" tIns="0" rIns="0" bIns="0" rtlCol="0" anchor="ctr"/>
          <a:lstStyle/>
          <a:p>
            <a:pPr marL="0" indent="0">
              <a:buNone/>
            </a:pPr>
            <a:r>
              <a:rPr lang="en-US" sz="1250" dirty="0">
                <a:solidFill>
                  <a:srgbClr val="6B7A99"/>
                </a:solidFill>
                <a:latin typeface="Calibri" pitchFamily="34" charset="0"/>
                <a:ea typeface="Calibri" pitchFamily="34" charset="-122"/>
                <a:cs typeface="Calibri" pitchFamily="34" charset="-120"/>
              </a:rPr>
              <a:t>Synthesis and outlook</a:t>
            </a:r>
            <a:endParaRPr lang="en-US" sz="1250" dirty="0"/>
          </a:p>
        </p:txBody>
      </p:sp>
      <p:sp>
        <p:nvSpPr>
          <p:cNvPr id="24" name="Text 22"/>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25" name="Text 23"/>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Motivation</a:t>
            </a:r>
            <a:endParaRPr lang="en-US" sz="3200" dirty="0"/>
          </a:p>
        </p:txBody>
      </p:sp>
      <p:sp>
        <p:nvSpPr>
          <p:cNvPr id="3" name="Text 1"/>
          <p:cNvSpPr/>
          <p:nvPr/>
        </p:nvSpPr>
        <p:spPr>
          <a:xfrm>
            <a:off x="548640" y="960120"/>
            <a:ext cx="9144000" cy="32004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Two grand challenges in analyzing large-scale social networks</a:t>
            </a:r>
            <a:endParaRPr lang="en-US" sz="1400" dirty="0"/>
          </a:p>
        </p:txBody>
      </p:sp>
      <p:sp>
        <p:nvSpPr>
          <p:cNvPr id="4" name="Shape 2"/>
          <p:cNvSpPr/>
          <p:nvPr/>
        </p:nvSpPr>
        <p:spPr>
          <a:xfrm>
            <a:off x="548640" y="1554480"/>
            <a:ext cx="5212080" cy="2651760"/>
          </a:xfrm>
          <a:prstGeom prst="roundRect">
            <a:avLst>
              <a:gd name="adj" fmla="val 4138"/>
            </a:avLst>
          </a:prstGeom>
          <a:solidFill>
            <a:srgbClr val="FFFFFF"/>
          </a:solidFill>
          <a:ln/>
          <a:effectLst>
            <a:outerShdw blurRad="101600" dist="38100" dir="5400000" algn="bl" rotWithShape="0">
              <a:srgbClr val="1B2436">
                <a:alpha val="15000"/>
              </a:srgbClr>
            </a:outerShdw>
          </a:effectLst>
        </p:spPr>
        <p:txBody>
          <a:bodyPr/>
          <a:lstStyle/>
          <a:p>
            <a:endParaRPr lang="tr-TR"/>
          </a:p>
        </p:txBody>
      </p:sp>
      <p:sp>
        <p:nvSpPr>
          <p:cNvPr id="5" name="Shape 3"/>
          <p:cNvSpPr/>
          <p:nvPr/>
        </p:nvSpPr>
        <p:spPr>
          <a:xfrm>
            <a:off x="868680" y="1874520"/>
            <a:ext cx="640080" cy="640080"/>
          </a:xfrm>
          <a:prstGeom prst="ellipse">
            <a:avLst/>
          </a:prstGeom>
          <a:solidFill>
            <a:srgbClr val="065A82"/>
          </a:solidFill>
          <a:ln/>
        </p:spPr>
        <p:txBody>
          <a:bodyPr/>
          <a:lstStyle/>
          <a:p>
            <a:endParaRPr lang="tr-TR"/>
          </a:p>
        </p:txBody>
      </p:sp>
      <p:sp>
        <p:nvSpPr>
          <p:cNvPr id="6" name="Text 4"/>
          <p:cNvSpPr/>
          <p:nvPr/>
        </p:nvSpPr>
        <p:spPr>
          <a:xfrm>
            <a:off x="868680" y="187452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868680" y="2651760"/>
            <a:ext cx="4572000" cy="411480"/>
          </a:xfrm>
          <a:prstGeom prst="rect">
            <a:avLst/>
          </a:prstGeom>
          <a:noFill/>
          <a:ln/>
        </p:spPr>
        <p:txBody>
          <a:bodyPr wrap="square" lIns="0" tIns="0" rIns="0" bIns="0"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Scale</a:t>
            </a:r>
            <a:endParaRPr lang="en-US" sz="2000" dirty="0"/>
          </a:p>
        </p:txBody>
      </p:sp>
      <p:sp>
        <p:nvSpPr>
          <p:cNvPr id="8" name="Text 6"/>
          <p:cNvSpPr/>
          <p:nvPr/>
        </p:nvSpPr>
        <p:spPr>
          <a:xfrm>
            <a:off x="868680" y="3108960"/>
            <a:ext cx="4572000" cy="1005840"/>
          </a:xfrm>
          <a:prstGeom prst="rect">
            <a:avLst/>
          </a:prstGeom>
          <a:noFill/>
          <a:ln/>
        </p:spPr>
        <p:txBody>
          <a:bodyPr wrap="square" lIns="0" tIns="0" rIns="0" bIns="0" rtlCol="0" anchor="ctr"/>
          <a:lstStyle/>
          <a:p>
            <a:pPr marL="0" indent="0">
              <a:lnSpc>
                <a:spcPct val="115000"/>
              </a:lnSpc>
              <a:buNone/>
            </a:pPr>
            <a:r>
              <a:rPr lang="en-US" sz="1300" dirty="0">
                <a:solidFill>
                  <a:srgbClr val="1B2436"/>
                </a:solidFill>
                <a:latin typeface="Calibri" pitchFamily="34" charset="0"/>
                <a:ea typeface="Calibri" pitchFamily="34" charset="-122"/>
                <a:cs typeface="Calibri" pitchFamily="34" charset="-120"/>
              </a:rPr>
              <a:t>Social networks generate massive, fast-growing, unstructured or semi-structured data that must be processed in a reasonable time.</a:t>
            </a:r>
            <a:endParaRPr lang="en-US" sz="1300" dirty="0"/>
          </a:p>
        </p:txBody>
      </p:sp>
      <p:sp>
        <p:nvSpPr>
          <p:cNvPr id="9" name="Shape 7"/>
          <p:cNvSpPr/>
          <p:nvPr/>
        </p:nvSpPr>
        <p:spPr>
          <a:xfrm>
            <a:off x="6126480" y="1554480"/>
            <a:ext cx="5212080" cy="2651760"/>
          </a:xfrm>
          <a:prstGeom prst="roundRect">
            <a:avLst>
              <a:gd name="adj" fmla="val 4138"/>
            </a:avLst>
          </a:prstGeom>
          <a:solidFill>
            <a:srgbClr val="FFFFFF"/>
          </a:solidFill>
          <a:ln/>
          <a:effectLst>
            <a:outerShdw blurRad="101600" dist="38100" dir="5400000" algn="bl" rotWithShape="0">
              <a:srgbClr val="1B2436">
                <a:alpha val="15000"/>
              </a:srgbClr>
            </a:outerShdw>
          </a:effectLst>
        </p:spPr>
        <p:txBody>
          <a:bodyPr/>
          <a:lstStyle/>
          <a:p>
            <a:endParaRPr lang="tr-TR"/>
          </a:p>
        </p:txBody>
      </p:sp>
      <p:sp>
        <p:nvSpPr>
          <p:cNvPr id="10" name="Shape 8"/>
          <p:cNvSpPr/>
          <p:nvPr/>
        </p:nvSpPr>
        <p:spPr>
          <a:xfrm>
            <a:off x="6446520" y="1874520"/>
            <a:ext cx="640080" cy="640080"/>
          </a:xfrm>
          <a:prstGeom prst="ellipse">
            <a:avLst/>
          </a:prstGeom>
          <a:solidFill>
            <a:srgbClr val="1C7293"/>
          </a:solidFill>
          <a:ln/>
        </p:spPr>
        <p:txBody>
          <a:bodyPr/>
          <a:lstStyle/>
          <a:p>
            <a:endParaRPr lang="tr-TR"/>
          </a:p>
        </p:txBody>
      </p:sp>
      <p:sp>
        <p:nvSpPr>
          <p:cNvPr id="11" name="Text 9"/>
          <p:cNvSpPr/>
          <p:nvPr/>
        </p:nvSpPr>
        <p:spPr>
          <a:xfrm>
            <a:off x="6446520" y="187452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6446520" y="2651760"/>
            <a:ext cx="4572000" cy="411480"/>
          </a:xfrm>
          <a:prstGeom prst="rect">
            <a:avLst/>
          </a:prstGeom>
          <a:noFill/>
          <a:ln/>
        </p:spPr>
        <p:txBody>
          <a:bodyPr wrap="square" lIns="0" tIns="0" rIns="0" bIns="0"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Integration</a:t>
            </a:r>
            <a:endParaRPr lang="en-US" sz="2000" dirty="0"/>
          </a:p>
        </p:txBody>
      </p:sp>
      <p:sp>
        <p:nvSpPr>
          <p:cNvPr id="13" name="Text 11"/>
          <p:cNvSpPr/>
          <p:nvPr/>
        </p:nvSpPr>
        <p:spPr>
          <a:xfrm>
            <a:off x="6446520" y="3108960"/>
            <a:ext cx="4572000" cy="1005840"/>
          </a:xfrm>
          <a:prstGeom prst="rect">
            <a:avLst/>
          </a:prstGeom>
          <a:noFill/>
          <a:ln/>
        </p:spPr>
        <p:txBody>
          <a:bodyPr wrap="square" lIns="0" tIns="0" rIns="0" bIns="0" rtlCol="0" anchor="ctr"/>
          <a:lstStyle/>
          <a:p>
            <a:pPr marL="0" indent="0">
              <a:lnSpc>
                <a:spcPct val="115000"/>
              </a:lnSpc>
              <a:buNone/>
            </a:pPr>
            <a:r>
              <a:rPr lang="en-US" sz="1300" dirty="0">
                <a:solidFill>
                  <a:srgbClr val="1B2436"/>
                </a:solidFill>
                <a:latin typeface="Calibri" pitchFamily="34" charset="0"/>
                <a:ea typeface="Calibri" pitchFamily="34" charset="-122"/>
                <a:cs typeface="Calibri" pitchFamily="34" charset="-120"/>
              </a:rPr>
              <a:t>Distinct datasets from heterogeneous sources (Facebook, Twitter, Google+...) must be merged into a semantically consistent whole.</a:t>
            </a:r>
            <a:endParaRPr lang="en-US" sz="1300" dirty="0"/>
          </a:p>
        </p:txBody>
      </p:sp>
      <p:sp>
        <p:nvSpPr>
          <p:cNvPr id="14" name="Shape 12"/>
          <p:cNvSpPr/>
          <p:nvPr/>
        </p:nvSpPr>
        <p:spPr>
          <a:xfrm>
            <a:off x="548640" y="4480560"/>
            <a:ext cx="10789920" cy="1371600"/>
          </a:xfrm>
          <a:prstGeom prst="roundRect">
            <a:avLst>
              <a:gd name="adj" fmla="val 6667"/>
            </a:avLst>
          </a:prstGeom>
          <a:solidFill>
            <a:srgbClr val="21295C"/>
          </a:solidFill>
          <a:ln/>
        </p:spPr>
        <p:txBody>
          <a:bodyPr/>
          <a:lstStyle/>
          <a:p>
            <a:endParaRPr lang="tr-TR"/>
          </a:p>
        </p:txBody>
      </p:sp>
      <p:sp>
        <p:nvSpPr>
          <p:cNvPr id="15" name="Text 13"/>
          <p:cNvSpPr/>
          <p:nvPr/>
        </p:nvSpPr>
        <p:spPr>
          <a:xfrm>
            <a:off x="914400" y="4617720"/>
            <a:ext cx="10058400" cy="1097280"/>
          </a:xfrm>
          <a:prstGeom prst="rect">
            <a:avLst/>
          </a:prstGeom>
          <a:noFill/>
          <a:ln/>
        </p:spPr>
        <p:txBody>
          <a:bodyPr wrap="square" lIns="0" tIns="0" rIns="0" bIns="0" rtlCol="0" anchor="ctr"/>
          <a:lstStyle/>
          <a:p>
            <a:pPr marL="0" indent="0">
              <a:lnSpc>
                <a:spcPct val="120000"/>
              </a:lnSpc>
              <a:buNone/>
            </a:pPr>
            <a:r>
              <a:rPr lang="en-US" sz="1350" i="1" dirty="0">
                <a:solidFill>
                  <a:srgbClr val="CADCFC"/>
                </a:solidFill>
                <a:latin typeface="Calibri" pitchFamily="34" charset="0"/>
                <a:ea typeface="Calibri" pitchFamily="34" charset="-122"/>
                <a:cs typeface="Calibri" pitchFamily="34" charset="-120"/>
              </a:rPr>
              <a:t>“Friends are likely to have similar interests” — SNA aims to uncover hidden associations and structural knowledge from social data by combining graph algorithms, Semantic Web modeling, and Big Data-scale processing.</a:t>
            </a:r>
            <a:endParaRPr lang="en-US" sz="1350" dirty="0"/>
          </a:p>
        </p:txBody>
      </p:sp>
      <p:sp>
        <p:nvSpPr>
          <p:cNvPr id="16" name="Text 14"/>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17" name="Text 1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The RDF Data Model</a:t>
            </a:r>
            <a:endParaRPr lang="en-US" sz="3200" dirty="0"/>
          </a:p>
        </p:txBody>
      </p:sp>
      <p:sp>
        <p:nvSpPr>
          <p:cNvPr id="3" name="Text 1"/>
          <p:cNvSpPr/>
          <p:nvPr/>
        </p:nvSpPr>
        <p:spPr>
          <a:xfrm>
            <a:off x="548640" y="960120"/>
            <a:ext cx="9144000" cy="32004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Representing social relationships as a graph of triples</a:t>
            </a:r>
            <a:endParaRPr lang="en-US" sz="1400" dirty="0"/>
          </a:p>
        </p:txBody>
      </p:sp>
      <p:sp>
        <p:nvSpPr>
          <p:cNvPr id="4" name="Text 2"/>
          <p:cNvSpPr/>
          <p:nvPr/>
        </p:nvSpPr>
        <p:spPr>
          <a:xfrm>
            <a:off x="548640" y="1554480"/>
            <a:ext cx="5120640" cy="822960"/>
          </a:xfrm>
          <a:prstGeom prst="rect">
            <a:avLst/>
          </a:prstGeom>
          <a:noFill/>
          <a:ln/>
        </p:spPr>
        <p:txBody>
          <a:bodyPr wrap="square" lIns="0" tIns="0" rIns="0" bIns="0" rtlCol="0" anchor="t"/>
          <a:lstStyle/>
          <a:p>
            <a:pPr marL="0" indent="0">
              <a:lnSpc>
                <a:spcPct val="130000"/>
              </a:lnSpc>
              <a:buNone/>
            </a:pPr>
            <a:r>
              <a:rPr lang="en-US" sz="1600" b="1" dirty="0">
                <a:solidFill>
                  <a:srgbClr val="065A82"/>
                </a:solidFill>
                <a:latin typeface="Calibri" pitchFamily="34" charset="0"/>
                <a:ea typeface="Calibri" pitchFamily="34" charset="-122"/>
                <a:cs typeface="Calibri" pitchFamily="34" charset="-120"/>
              </a:rPr>
              <a:t>Triple = </a:t>
            </a:r>
            <a:endParaRPr lang="en-US" sz="1600" dirty="0"/>
          </a:p>
          <a:p>
            <a:pPr marL="0" indent="0">
              <a:lnSpc>
                <a:spcPct val="130000"/>
              </a:lnSpc>
              <a:buNone/>
            </a:pPr>
            <a:r>
              <a:rPr lang="en-US" sz="1600" dirty="0">
                <a:solidFill>
                  <a:srgbClr val="1B2436"/>
                </a:solidFill>
                <a:latin typeface="Calibri" pitchFamily="34" charset="0"/>
                <a:ea typeface="Calibri" pitchFamily="34" charset="-122"/>
                <a:cs typeface="Calibri" pitchFamily="34" charset="-120"/>
              </a:rPr>
              <a:t>⟨subject, predicate, object⟩</a:t>
            </a:r>
            <a:endParaRPr lang="en-US" sz="1600" dirty="0"/>
          </a:p>
        </p:txBody>
      </p:sp>
      <p:sp>
        <p:nvSpPr>
          <p:cNvPr id="5" name="Text 3"/>
          <p:cNvSpPr/>
          <p:nvPr/>
        </p:nvSpPr>
        <p:spPr>
          <a:xfrm>
            <a:off x="548640" y="2468880"/>
            <a:ext cx="5120640" cy="292608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400" dirty="0">
                <a:solidFill>
                  <a:srgbClr val="1B2436"/>
                </a:solidFill>
                <a:latin typeface="Calibri" pitchFamily="34" charset="0"/>
                <a:ea typeface="Calibri" pitchFamily="34" charset="-122"/>
                <a:cs typeface="Calibri" pitchFamily="34" charset="-120"/>
              </a:rPr>
              <a:t>Each triple = a labeled directed edge</a:t>
            </a:r>
            <a:endParaRPr lang="en-US" sz="1400" dirty="0"/>
          </a:p>
          <a:p>
            <a:pPr marL="342900" indent="-342900">
              <a:lnSpc>
                <a:spcPct val="120000"/>
              </a:lnSpc>
              <a:spcAft>
                <a:spcPts val="1400"/>
              </a:spcAft>
              <a:buSzPct val="100000"/>
              <a:buChar char="•"/>
            </a:pPr>
            <a:r>
              <a:rPr lang="en-US" sz="1400" dirty="0">
                <a:solidFill>
                  <a:srgbClr val="1B2436"/>
                </a:solidFill>
                <a:latin typeface="Calibri" pitchFamily="34" charset="0"/>
                <a:ea typeface="Calibri" pitchFamily="34" charset="-122"/>
                <a:cs typeface="Calibri" pitchFamily="34" charset="-120"/>
              </a:rPr>
              <a:t>A set of triples forms an RDF graph</a:t>
            </a:r>
            <a:endParaRPr lang="en-US" sz="1400" dirty="0"/>
          </a:p>
          <a:p>
            <a:pPr marL="342900" indent="-342900">
              <a:lnSpc>
                <a:spcPct val="120000"/>
              </a:lnSpc>
              <a:spcAft>
                <a:spcPts val="1400"/>
              </a:spcAft>
              <a:buSzPct val="100000"/>
              <a:buChar char="•"/>
            </a:pPr>
            <a:r>
              <a:rPr lang="en-US" sz="1400" dirty="0">
                <a:solidFill>
                  <a:srgbClr val="1B2436"/>
                </a:solidFill>
                <a:latin typeface="Calibri" pitchFamily="34" charset="0"/>
                <a:ea typeface="Calibri" pitchFamily="34" charset="-122"/>
                <a:cs typeface="Calibri" pitchFamily="34" charset="-120"/>
              </a:rPr>
              <a:t>Naturally matches social network structure (people = nodes, relations = edges)</a:t>
            </a:r>
            <a:endParaRPr lang="en-US" sz="1400" dirty="0"/>
          </a:p>
          <a:p>
            <a:pPr marL="342900" indent="-342900">
              <a:lnSpc>
                <a:spcPct val="120000"/>
              </a:lnSpc>
              <a:buSzPct val="100000"/>
              <a:buChar char="•"/>
            </a:pPr>
            <a:r>
              <a:rPr lang="en-US" sz="1400" dirty="0">
                <a:solidFill>
                  <a:srgbClr val="1B2436"/>
                </a:solidFill>
                <a:latin typeface="Calibri" pitchFamily="34" charset="0"/>
                <a:ea typeface="Calibri" pitchFamily="34" charset="-122"/>
                <a:cs typeface="Calibri" pitchFamily="34" charset="-120"/>
              </a:rPr>
              <a:t>Queried using SPARQL, the standard graph pattern-matching language</a:t>
            </a:r>
            <a:endParaRPr lang="en-US" sz="1400" dirty="0"/>
          </a:p>
        </p:txBody>
      </p:sp>
      <p:sp>
        <p:nvSpPr>
          <p:cNvPr id="6" name="Shape 4"/>
          <p:cNvSpPr/>
          <p:nvPr/>
        </p:nvSpPr>
        <p:spPr>
          <a:xfrm>
            <a:off x="6126480" y="1737360"/>
            <a:ext cx="5394960" cy="3931920"/>
          </a:xfrm>
          <a:prstGeom prst="roundRect">
            <a:avLst>
              <a:gd name="adj" fmla="val 2326"/>
            </a:avLst>
          </a:prstGeom>
          <a:solidFill>
            <a:srgbClr val="F4F7FA"/>
          </a:solidFill>
          <a:ln w="12700">
            <a:solidFill>
              <a:srgbClr val="CADCFC"/>
            </a:solidFill>
            <a:prstDash val="solid"/>
          </a:ln>
        </p:spPr>
        <p:txBody>
          <a:bodyPr/>
          <a:lstStyle/>
          <a:p>
            <a:endParaRPr lang="tr-TR"/>
          </a:p>
        </p:txBody>
      </p:sp>
      <p:sp>
        <p:nvSpPr>
          <p:cNvPr id="7" name="Shape 5"/>
          <p:cNvSpPr/>
          <p:nvPr/>
        </p:nvSpPr>
        <p:spPr>
          <a:xfrm>
            <a:off x="6492240" y="2103120"/>
            <a:ext cx="1005840" cy="457200"/>
          </a:xfrm>
          <a:prstGeom prst="roundRect">
            <a:avLst>
              <a:gd name="adj" fmla="val 16000"/>
            </a:avLst>
          </a:prstGeom>
          <a:solidFill>
            <a:srgbClr val="FFFFFF"/>
          </a:solidFill>
          <a:ln w="19050">
            <a:solidFill>
              <a:srgbClr val="065A82"/>
            </a:solidFill>
            <a:prstDash val="solid"/>
          </a:ln>
        </p:spPr>
        <p:txBody>
          <a:bodyPr/>
          <a:lstStyle/>
          <a:p>
            <a:endParaRPr lang="tr-TR"/>
          </a:p>
        </p:txBody>
      </p:sp>
      <p:sp>
        <p:nvSpPr>
          <p:cNvPr id="8" name="Text 6"/>
          <p:cNvSpPr/>
          <p:nvPr/>
        </p:nvSpPr>
        <p:spPr>
          <a:xfrm>
            <a:off x="6492240" y="2103120"/>
            <a:ext cx="1005840" cy="45720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:sercan</a:t>
            </a:r>
            <a:endParaRPr lang="en-US" sz="1200" dirty="0"/>
          </a:p>
        </p:txBody>
      </p:sp>
      <p:sp>
        <p:nvSpPr>
          <p:cNvPr id="9" name="Shape 7"/>
          <p:cNvSpPr/>
          <p:nvPr/>
        </p:nvSpPr>
        <p:spPr>
          <a:xfrm>
            <a:off x="9784080" y="2103120"/>
            <a:ext cx="1005840" cy="457200"/>
          </a:xfrm>
          <a:prstGeom prst="roundRect">
            <a:avLst>
              <a:gd name="adj" fmla="val 16000"/>
            </a:avLst>
          </a:prstGeom>
          <a:solidFill>
            <a:srgbClr val="FFFFFF"/>
          </a:solidFill>
          <a:ln w="19050">
            <a:solidFill>
              <a:srgbClr val="065A82"/>
            </a:solidFill>
            <a:prstDash val="solid"/>
          </a:ln>
        </p:spPr>
        <p:txBody>
          <a:bodyPr/>
          <a:lstStyle/>
          <a:p>
            <a:endParaRPr lang="tr-TR"/>
          </a:p>
        </p:txBody>
      </p:sp>
      <p:sp>
        <p:nvSpPr>
          <p:cNvPr id="10" name="Text 8"/>
          <p:cNvSpPr/>
          <p:nvPr/>
        </p:nvSpPr>
        <p:spPr>
          <a:xfrm>
            <a:off x="9784080" y="2103120"/>
            <a:ext cx="1005840" cy="45720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:omer</a:t>
            </a:r>
            <a:endParaRPr lang="en-US" sz="1200" dirty="0"/>
          </a:p>
        </p:txBody>
      </p:sp>
      <p:sp>
        <p:nvSpPr>
          <p:cNvPr id="11" name="Shape 9"/>
          <p:cNvSpPr/>
          <p:nvPr/>
        </p:nvSpPr>
        <p:spPr>
          <a:xfrm>
            <a:off x="8138160" y="3291840"/>
            <a:ext cx="1005840" cy="457200"/>
          </a:xfrm>
          <a:prstGeom prst="roundRect">
            <a:avLst>
              <a:gd name="adj" fmla="val 16000"/>
            </a:avLst>
          </a:prstGeom>
          <a:solidFill>
            <a:srgbClr val="FFFFFF"/>
          </a:solidFill>
          <a:ln w="19050">
            <a:solidFill>
              <a:srgbClr val="065A82"/>
            </a:solidFill>
            <a:prstDash val="solid"/>
          </a:ln>
        </p:spPr>
        <p:txBody>
          <a:bodyPr/>
          <a:lstStyle/>
          <a:p>
            <a:endParaRPr lang="tr-TR"/>
          </a:p>
        </p:txBody>
      </p:sp>
      <p:sp>
        <p:nvSpPr>
          <p:cNvPr id="12" name="Text 10"/>
          <p:cNvSpPr/>
          <p:nvPr/>
        </p:nvSpPr>
        <p:spPr>
          <a:xfrm>
            <a:off x="8138160" y="3291840"/>
            <a:ext cx="1005840" cy="45720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:dido</a:t>
            </a:r>
            <a:endParaRPr lang="en-US" sz="1200" dirty="0"/>
          </a:p>
        </p:txBody>
      </p:sp>
      <p:sp>
        <p:nvSpPr>
          <p:cNvPr id="13" name="Shape 11"/>
          <p:cNvSpPr/>
          <p:nvPr/>
        </p:nvSpPr>
        <p:spPr>
          <a:xfrm>
            <a:off x="6766560" y="4663440"/>
            <a:ext cx="1005840" cy="457200"/>
          </a:xfrm>
          <a:prstGeom prst="roundRect">
            <a:avLst>
              <a:gd name="adj" fmla="val 16000"/>
            </a:avLst>
          </a:prstGeom>
          <a:solidFill>
            <a:srgbClr val="FFFFFF"/>
          </a:solidFill>
          <a:ln w="19050">
            <a:solidFill>
              <a:srgbClr val="065A82"/>
            </a:solidFill>
            <a:prstDash val="solid"/>
          </a:ln>
        </p:spPr>
        <p:txBody>
          <a:bodyPr/>
          <a:lstStyle/>
          <a:p>
            <a:endParaRPr lang="tr-TR"/>
          </a:p>
        </p:txBody>
      </p:sp>
      <p:sp>
        <p:nvSpPr>
          <p:cNvPr id="14" name="Text 12"/>
          <p:cNvSpPr/>
          <p:nvPr/>
        </p:nvSpPr>
        <p:spPr>
          <a:xfrm>
            <a:off x="6766560" y="4663440"/>
            <a:ext cx="1005840" cy="45720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:doruk</a:t>
            </a:r>
            <a:endParaRPr lang="en-US" sz="1200" dirty="0"/>
          </a:p>
        </p:txBody>
      </p:sp>
      <p:sp>
        <p:nvSpPr>
          <p:cNvPr id="15" name="Shape 13"/>
          <p:cNvSpPr/>
          <p:nvPr/>
        </p:nvSpPr>
        <p:spPr>
          <a:xfrm>
            <a:off x="9509760" y="4663440"/>
            <a:ext cx="1005840" cy="457200"/>
          </a:xfrm>
          <a:prstGeom prst="roundRect">
            <a:avLst>
              <a:gd name="adj" fmla="val 16000"/>
            </a:avLst>
          </a:prstGeom>
          <a:solidFill>
            <a:srgbClr val="FFFFFF"/>
          </a:solidFill>
          <a:ln w="19050">
            <a:solidFill>
              <a:srgbClr val="065A82"/>
            </a:solidFill>
            <a:prstDash val="solid"/>
          </a:ln>
        </p:spPr>
        <p:txBody>
          <a:bodyPr/>
          <a:lstStyle/>
          <a:p>
            <a:endParaRPr lang="tr-TR"/>
          </a:p>
        </p:txBody>
      </p:sp>
      <p:sp>
        <p:nvSpPr>
          <p:cNvPr id="16" name="Text 14"/>
          <p:cNvSpPr/>
          <p:nvPr/>
        </p:nvSpPr>
        <p:spPr>
          <a:xfrm>
            <a:off x="9509760" y="4663440"/>
            <a:ext cx="1005840" cy="45720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:melis</a:t>
            </a:r>
            <a:endParaRPr lang="en-US" sz="1200" dirty="0"/>
          </a:p>
        </p:txBody>
      </p:sp>
      <p:sp>
        <p:nvSpPr>
          <p:cNvPr id="17" name="Shape 15"/>
          <p:cNvSpPr/>
          <p:nvPr/>
        </p:nvSpPr>
        <p:spPr>
          <a:xfrm>
            <a:off x="7565366" y="2331720"/>
            <a:ext cx="2127274" cy="0"/>
          </a:xfrm>
          <a:prstGeom prst="line">
            <a:avLst/>
          </a:prstGeom>
          <a:noFill/>
          <a:ln w="15875">
            <a:solidFill>
              <a:srgbClr val="9AAFD1"/>
            </a:solidFill>
            <a:prstDash val="solid"/>
          </a:ln>
        </p:spPr>
        <p:txBody>
          <a:bodyPr/>
          <a:lstStyle/>
          <a:p>
            <a:endParaRPr lang="tr-TR"/>
          </a:p>
        </p:txBody>
      </p:sp>
      <p:sp>
        <p:nvSpPr>
          <p:cNvPr id="18" name="Shape 16"/>
          <p:cNvSpPr/>
          <p:nvPr/>
        </p:nvSpPr>
        <p:spPr>
          <a:xfrm>
            <a:off x="7315201" y="2606040"/>
            <a:ext cx="897146" cy="623682"/>
          </a:xfrm>
          <a:prstGeom prst="line">
            <a:avLst/>
          </a:prstGeom>
          <a:noFill/>
          <a:ln w="15875">
            <a:solidFill>
              <a:srgbClr val="9AAFD1"/>
            </a:solidFill>
            <a:prstDash val="solid"/>
          </a:ln>
        </p:spPr>
        <p:txBody>
          <a:bodyPr/>
          <a:lstStyle/>
          <a:p>
            <a:endParaRPr lang="tr-TR"/>
          </a:p>
        </p:txBody>
      </p:sp>
      <p:sp>
        <p:nvSpPr>
          <p:cNvPr id="19" name="Shape 17"/>
          <p:cNvSpPr/>
          <p:nvPr/>
        </p:nvSpPr>
        <p:spPr>
          <a:xfrm flipV="1">
            <a:off x="8961120" y="2589640"/>
            <a:ext cx="1005832" cy="565037"/>
          </a:xfrm>
          <a:prstGeom prst="line">
            <a:avLst/>
          </a:prstGeom>
          <a:noFill/>
          <a:ln w="15875">
            <a:solidFill>
              <a:srgbClr val="9AAFD1"/>
            </a:solidFill>
            <a:prstDash val="solid"/>
          </a:ln>
        </p:spPr>
        <p:txBody>
          <a:bodyPr/>
          <a:lstStyle/>
          <a:p>
            <a:endParaRPr lang="tr-TR"/>
          </a:p>
        </p:txBody>
      </p:sp>
      <p:sp>
        <p:nvSpPr>
          <p:cNvPr id="20" name="Shape 18"/>
          <p:cNvSpPr/>
          <p:nvPr/>
        </p:nvSpPr>
        <p:spPr>
          <a:xfrm>
            <a:off x="7863840" y="4892030"/>
            <a:ext cx="1600200" cy="0"/>
          </a:xfrm>
          <a:prstGeom prst="line">
            <a:avLst/>
          </a:prstGeom>
          <a:noFill/>
          <a:ln w="15875">
            <a:solidFill>
              <a:srgbClr val="9AAFD1"/>
            </a:solidFill>
            <a:prstDash val="solid"/>
          </a:ln>
        </p:spPr>
        <p:txBody>
          <a:bodyPr/>
          <a:lstStyle/>
          <a:p>
            <a:endParaRPr lang="tr-TR"/>
          </a:p>
        </p:txBody>
      </p:sp>
      <p:sp>
        <p:nvSpPr>
          <p:cNvPr id="21" name="Shape 19"/>
          <p:cNvSpPr/>
          <p:nvPr/>
        </p:nvSpPr>
        <p:spPr>
          <a:xfrm flipH="1">
            <a:off x="7635240" y="3749040"/>
            <a:ext cx="777239" cy="914400"/>
          </a:xfrm>
          <a:prstGeom prst="line">
            <a:avLst/>
          </a:prstGeom>
          <a:noFill/>
          <a:ln w="15875">
            <a:solidFill>
              <a:srgbClr val="9AAFD1"/>
            </a:solidFill>
            <a:prstDash val="solid"/>
          </a:ln>
        </p:spPr>
        <p:txBody>
          <a:bodyPr/>
          <a:lstStyle/>
          <a:p>
            <a:endParaRPr lang="tr-TR"/>
          </a:p>
        </p:txBody>
      </p:sp>
      <p:sp>
        <p:nvSpPr>
          <p:cNvPr id="22" name="Shape 20"/>
          <p:cNvSpPr/>
          <p:nvPr/>
        </p:nvSpPr>
        <p:spPr>
          <a:xfrm>
            <a:off x="7040880" y="2560320"/>
            <a:ext cx="0" cy="1965957"/>
          </a:xfrm>
          <a:prstGeom prst="line">
            <a:avLst/>
          </a:prstGeom>
          <a:noFill/>
          <a:ln w="15875">
            <a:solidFill>
              <a:srgbClr val="9AAFD1"/>
            </a:solidFill>
            <a:prstDash val="solid"/>
          </a:ln>
        </p:spPr>
        <p:txBody>
          <a:bodyPr/>
          <a:lstStyle/>
          <a:p>
            <a:endParaRPr lang="tr-TR"/>
          </a:p>
        </p:txBody>
      </p:sp>
      <p:sp>
        <p:nvSpPr>
          <p:cNvPr id="23" name="Shape 21"/>
          <p:cNvSpPr/>
          <p:nvPr/>
        </p:nvSpPr>
        <p:spPr>
          <a:xfrm>
            <a:off x="10287000" y="2606041"/>
            <a:ext cx="45720" cy="2011680"/>
          </a:xfrm>
          <a:prstGeom prst="line">
            <a:avLst/>
          </a:prstGeom>
          <a:noFill/>
          <a:ln w="15875">
            <a:solidFill>
              <a:srgbClr val="9AAFD1"/>
            </a:solidFill>
            <a:prstDash val="solid"/>
          </a:ln>
        </p:spPr>
        <p:txBody>
          <a:bodyPr/>
          <a:lstStyle/>
          <a:p>
            <a:endParaRPr lang="tr-TR"/>
          </a:p>
        </p:txBody>
      </p:sp>
      <p:sp>
        <p:nvSpPr>
          <p:cNvPr id="24" name="Text 22"/>
          <p:cNvSpPr/>
          <p:nvPr/>
        </p:nvSpPr>
        <p:spPr>
          <a:xfrm>
            <a:off x="7863840" y="1874520"/>
            <a:ext cx="1097280" cy="27432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:knows</a:t>
            </a:r>
            <a:endParaRPr lang="en-US" sz="1000" dirty="0"/>
          </a:p>
        </p:txBody>
      </p:sp>
      <p:sp>
        <p:nvSpPr>
          <p:cNvPr id="25" name="Text 23"/>
          <p:cNvSpPr/>
          <p:nvPr/>
        </p:nvSpPr>
        <p:spPr>
          <a:xfrm>
            <a:off x="7938027" y="2643561"/>
            <a:ext cx="1097280" cy="27432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:listens / :follows</a:t>
            </a:r>
            <a:endParaRPr lang="en-US" sz="1000" dirty="0"/>
          </a:p>
        </p:txBody>
      </p:sp>
      <p:sp>
        <p:nvSpPr>
          <p:cNvPr id="26" name="Text 24"/>
          <p:cNvSpPr/>
          <p:nvPr/>
        </p:nvSpPr>
        <p:spPr>
          <a:xfrm>
            <a:off x="6766560" y="3931920"/>
            <a:ext cx="1097280" cy="27432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:fatherOf</a:t>
            </a:r>
            <a:endParaRPr lang="en-US" sz="1000" dirty="0"/>
          </a:p>
        </p:txBody>
      </p:sp>
      <p:sp>
        <p:nvSpPr>
          <p:cNvPr id="27" name="Text 25"/>
          <p:cNvSpPr/>
          <p:nvPr/>
        </p:nvSpPr>
        <p:spPr>
          <a:xfrm>
            <a:off x="10012680" y="3793030"/>
            <a:ext cx="1097280" cy="27432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:fatherOf</a:t>
            </a:r>
            <a:endParaRPr lang="en-US" sz="1000" dirty="0"/>
          </a:p>
        </p:txBody>
      </p:sp>
      <p:sp>
        <p:nvSpPr>
          <p:cNvPr id="28" name="Text 26"/>
          <p:cNvSpPr/>
          <p:nvPr/>
        </p:nvSpPr>
        <p:spPr>
          <a:xfrm>
            <a:off x="8046720" y="4954149"/>
            <a:ext cx="1097280" cy="274320"/>
          </a:xfrm>
          <a:prstGeom prst="rect">
            <a:avLst/>
          </a:prstGeom>
          <a:noFill/>
          <a:ln/>
        </p:spPr>
        <p:txBody>
          <a:bodyPr wrap="square" lIns="0" tIns="0" rIns="0" bIns="0" rtlCol="0" anchor="ctr"/>
          <a:lstStyle/>
          <a:p>
            <a:pPr marL="0" indent="0" algn="ctr">
              <a:buNone/>
            </a:pPr>
            <a:r>
              <a:rPr lang="en-US" sz="1000" i="1" dirty="0">
                <a:solidFill>
                  <a:srgbClr val="1C7293"/>
                </a:solidFill>
                <a:latin typeface="Calibri" pitchFamily="34" charset="0"/>
                <a:ea typeface="Calibri" pitchFamily="34" charset="-122"/>
                <a:cs typeface="Calibri" pitchFamily="34" charset="-120"/>
              </a:rPr>
              <a:t>:likes / :friendOf</a:t>
            </a:r>
            <a:endParaRPr lang="en-US" sz="1000" dirty="0"/>
          </a:p>
        </p:txBody>
      </p:sp>
      <p:sp>
        <p:nvSpPr>
          <p:cNvPr id="29" name="Text 27"/>
          <p:cNvSpPr/>
          <p:nvPr/>
        </p:nvSpPr>
        <p:spPr>
          <a:xfrm>
            <a:off x="6126480" y="5394960"/>
            <a:ext cx="5394960" cy="228600"/>
          </a:xfrm>
          <a:prstGeom prst="rect">
            <a:avLst/>
          </a:prstGeom>
          <a:noFill/>
          <a:ln/>
        </p:spPr>
        <p:txBody>
          <a:bodyPr wrap="square" lIns="0" tIns="0" rIns="0" bIns="0" rtlCol="0" anchor="ctr"/>
          <a:lstStyle/>
          <a:p>
            <a:pPr marL="0" indent="0" algn="ctr">
              <a:buNone/>
            </a:pPr>
            <a:r>
              <a:rPr lang="en-US" sz="900" i="1" dirty="0">
                <a:solidFill>
                  <a:srgbClr val="6B7A99"/>
                </a:solidFill>
                <a:latin typeface="Calibri" pitchFamily="34" charset="0"/>
                <a:ea typeface="Calibri" pitchFamily="34" charset="-122"/>
                <a:cs typeface="Calibri" pitchFamily="34" charset="-120"/>
              </a:rPr>
              <a:t>Adapted from Fig. 1 in the source paper</a:t>
            </a:r>
            <a:endParaRPr lang="en-US" sz="900" dirty="0"/>
          </a:p>
        </p:txBody>
      </p:sp>
      <p:sp>
        <p:nvSpPr>
          <p:cNvPr id="30" name="Text 28"/>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31" name="Text 29"/>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Semantic Web Building Blocks</a:t>
            </a:r>
            <a:endParaRPr lang="en-US" sz="3200" dirty="0"/>
          </a:p>
        </p:txBody>
      </p:sp>
      <p:sp>
        <p:nvSpPr>
          <p:cNvPr id="3" name="Text 1"/>
          <p:cNvSpPr/>
          <p:nvPr/>
        </p:nvSpPr>
        <p:spPr>
          <a:xfrm>
            <a:off x="548640" y="960120"/>
            <a:ext cx="9144000" cy="32004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From raw triples to query-able social knowledge</a:t>
            </a:r>
            <a:endParaRPr lang="en-US" sz="1400" dirty="0"/>
          </a:p>
        </p:txBody>
      </p:sp>
      <p:sp>
        <p:nvSpPr>
          <p:cNvPr id="4" name="Shape 2"/>
          <p:cNvSpPr/>
          <p:nvPr/>
        </p:nvSpPr>
        <p:spPr>
          <a:xfrm>
            <a:off x="640080" y="1828800"/>
            <a:ext cx="2057400" cy="1371600"/>
          </a:xfrm>
          <a:prstGeom prst="roundRect">
            <a:avLst>
              <a:gd name="adj" fmla="val 5333"/>
            </a:avLst>
          </a:prstGeom>
          <a:solidFill>
            <a:srgbClr val="065A82"/>
          </a:solidFill>
          <a:ln/>
        </p:spPr>
        <p:txBody>
          <a:bodyPr/>
          <a:lstStyle/>
          <a:p>
            <a:endParaRPr lang="tr-TR"/>
          </a:p>
        </p:txBody>
      </p:sp>
      <p:sp>
        <p:nvSpPr>
          <p:cNvPr id="5" name="Text 3"/>
          <p:cNvSpPr/>
          <p:nvPr/>
        </p:nvSpPr>
        <p:spPr>
          <a:xfrm>
            <a:off x="640080" y="1965960"/>
            <a:ext cx="20574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RDF</a:t>
            </a:r>
            <a:endParaRPr lang="en-US" sz="1600" dirty="0"/>
          </a:p>
        </p:txBody>
      </p:sp>
      <p:sp>
        <p:nvSpPr>
          <p:cNvPr id="6" name="Text 4"/>
          <p:cNvSpPr/>
          <p:nvPr/>
        </p:nvSpPr>
        <p:spPr>
          <a:xfrm>
            <a:off x="749808" y="2331720"/>
            <a:ext cx="1837944" cy="822960"/>
          </a:xfrm>
          <a:prstGeom prst="rect">
            <a:avLst/>
          </a:prstGeom>
          <a:noFill/>
          <a:ln/>
        </p:spPr>
        <p:txBody>
          <a:bodyPr wrap="square" lIns="0" tIns="0" rIns="0" bIns="0" rtlCol="0" anchor="ctr"/>
          <a:lstStyle/>
          <a:p>
            <a:pPr marL="0" indent="0" algn="ctr">
              <a:lnSpc>
                <a:spcPct val="110000"/>
              </a:lnSpc>
              <a:buNone/>
            </a:pPr>
            <a:r>
              <a:rPr lang="en-US" sz="950" dirty="0">
                <a:solidFill>
                  <a:srgbClr val="E7ECF7"/>
                </a:solidFill>
                <a:latin typeface="Calibri" pitchFamily="34" charset="0"/>
                <a:ea typeface="Calibri" pitchFamily="34" charset="-122"/>
                <a:cs typeface="Calibri" pitchFamily="34" charset="-120"/>
              </a:rPr>
              <a:t>Graph data model: subject–predicate–object triples linking resources</a:t>
            </a:r>
            <a:endParaRPr lang="en-US" sz="950" dirty="0"/>
          </a:p>
        </p:txBody>
      </p:sp>
      <p:sp>
        <p:nvSpPr>
          <p:cNvPr id="7" name="Text 5"/>
          <p:cNvSpPr/>
          <p:nvPr/>
        </p:nvSpPr>
        <p:spPr>
          <a:xfrm>
            <a:off x="2651760" y="2331720"/>
            <a:ext cx="274320" cy="365760"/>
          </a:xfrm>
          <a:prstGeom prst="rect">
            <a:avLst/>
          </a:prstGeom>
          <a:noFill/>
          <a:ln/>
        </p:spPr>
        <p:txBody>
          <a:bodyPr wrap="square" lIns="0" tIns="0" rIns="0" bIns="0" rtlCol="0" anchor="ctr"/>
          <a:lstStyle/>
          <a:p>
            <a:pPr marL="0" indent="0" algn="ctr">
              <a:buNone/>
            </a:pPr>
            <a:r>
              <a:rPr lang="en-US" sz="1800" b="1" dirty="0">
                <a:solidFill>
                  <a:srgbClr val="21295C"/>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862072" y="1828800"/>
            <a:ext cx="2057400" cy="1371600"/>
          </a:xfrm>
          <a:prstGeom prst="roundRect">
            <a:avLst>
              <a:gd name="adj" fmla="val 5333"/>
            </a:avLst>
          </a:prstGeom>
          <a:solidFill>
            <a:srgbClr val="1C7293"/>
          </a:solidFill>
          <a:ln/>
        </p:spPr>
        <p:txBody>
          <a:bodyPr/>
          <a:lstStyle/>
          <a:p>
            <a:endParaRPr lang="tr-TR"/>
          </a:p>
        </p:txBody>
      </p:sp>
      <p:sp>
        <p:nvSpPr>
          <p:cNvPr id="9" name="Text 7"/>
          <p:cNvSpPr/>
          <p:nvPr/>
        </p:nvSpPr>
        <p:spPr>
          <a:xfrm>
            <a:off x="2862072" y="1965960"/>
            <a:ext cx="20574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RDFS</a:t>
            </a:r>
            <a:endParaRPr lang="en-US" sz="1600" dirty="0"/>
          </a:p>
        </p:txBody>
      </p:sp>
      <p:sp>
        <p:nvSpPr>
          <p:cNvPr id="10" name="Text 8"/>
          <p:cNvSpPr/>
          <p:nvPr/>
        </p:nvSpPr>
        <p:spPr>
          <a:xfrm>
            <a:off x="2971800" y="2331720"/>
            <a:ext cx="1837944" cy="822960"/>
          </a:xfrm>
          <a:prstGeom prst="rect">
            <a:avLst/>
          </a:prstGeom>
          <a:noFill/>
          <a:ln/>
        </p:spPr>
        <p:txBody>
          <a:bodyPr wrap="square" lIns="0" tIns="0" rIns="0" bIns="0" rtlCol="0" anchor="ctr"/>
          <a:lstStyle/>
          <a:p>
            <a:pPr marL="0" indent="0" algn="ctr">
              <a:lnSpc>
                <a:spcPct val="110000"/>
              </a:lnSpc>
              <a:buNone/>
            </a:pPr>
            <a:r>
              <a:rPr lang="en-US" sz="950" dirty="0">
                <a:solidFill>
                  <a:srgbClr val="E7ECF7"/>
                </a:solidFill>
                <a:latin typeface="Calibri" pitchFamily="34" charset="0"/>
                <a:ea typeface="Calibri" pitchFamily="34" charset="-122"/>
                <a:cs typeface="Calibri" pitchFamily="34" charset="-120"/>
              </a:rPr>
              <a:t>Vocabulary to describe classes and properties / relationships between them</a:t>
            </a:r>
            <a:endParaRPr lang="en-US" sz="950" dirty="0"/>
          </a:p>
        </p:txBody>
      </p:sp>
      <p:sp>
        <p:nvSpPr>
          <p:cNvPr id="11" name="Text 9"/>
          <p:cNvSpPr/>
          <p:nvPr/>
        </p:nvSpPr>
        <p:spPr>
          <a:xfrm>
            <a:off x="4873752" y="2331720"/>
            <a:ext cx="274320" cy="365760"/>
          </a:xfrm>
          <a:prstGeom prst="rect">
            <a:avLst/>
          </a:prstGeom>
          <a:noFill/>
          <a:ln/>
        </p:spPr>
        <p:txBody>
          <a:bodyPr wrap="square" lIns="0" tIns="0" rIns="0" bIns="0" rtlCol="0" anchor="ctr"/>
          <a:lstStyle/>
          <a:p>
            <a:pPr marL="0" indent="0" algn="ctr">
              <a:buNone/>
            </a:pPr>
            <a:r>
              <a:rPr lang="en-US" sz="1800" b="1" dirty="0">
                <a:solidFill>
                  <a:srgbClr val="21295C"/>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084064" y="1828800"/>
            <a:ext cx="2057400" cy="1371600"/>
          </a:xfrm>
          <a:prstGeom prst="roundRect">
            <a:avLst>
              <a:gd name="adj" fmla="val 5333"/>
            </a:avLst>
          </a:prstGeom>
          <a:solidFill>
            <a:srgbClr val="3E7CB1"/>
          </a:solidFill>
          <a:ln/>
        </p:spPr>
        <p:txBody>
          <a:bodyPr/>
          <a:lstStyle/>
          <a:p>
            <a:endParaRPr lang="tr-TR"/>
          </a:p>
        </p:txBody>
      </p:sp>
      <p:sp>
        <p:nvSpPr>
          <p:cNvPr id="13" name="Text 11"/>
          <p:cNvSpPr/>
          <p:nvPr/>
        </p:nvSpPr>
        <p:spPr>
          <a:xfrm>
            <a:off x="5084064" y="1965960"/>
            <a:ext cx="20574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OWL</a:t>
            </a:r>
            <a:endParaRPr lang="en-US" sz="1600" dirty="0"/>
          </a:p>
        </p:txBody>
      </p:sp>
      <p:sp>
        <p:nvSpPr>
          <p:cNvPr id="14" name="Text 12"/>
          <p:cNvSpPr/>
          <p:nvPr/>
        </p:nvSpPr>
        <p:spPr>
          <a:xfrm>
            <a:off x="5193792" y="2331720"/>
            <a:ext cx="1837944" cy="822960"/>
          </a:xfrm>
          <a:prstGeom prst="rect">
            <a:avLst/>
          </a:prstGeom>
          <a:noFill/>
          <a:ln/>
        </p:spPr>
        <p:txBody>
          <a:bodyPr wrap="square" lIns="0" tIns="0" rIns="0" bIns="0" rtlCol="0" anchor="ctr"/>
          <a:lstStyle/>
          <a:p>
            <a:pPr marL="0" indent="0" algn="ctr">
              <a:lnSpc>
                <a:spcPct val="110000"/>
              </a:lnSpc>
              <a:buNone/>
            </a:pPr>
            <a:r>
              <a:rPr lang="en-US" sz="950" dirty="0">
                <a:solidFill>
                  <a:srgbClr val="E7ECF7"/>
                </a:solidFill>
                <a:latin typeface="Calibri" pitchFamily="34" charset="0"/>
                <a:ea typeface="Calibri" pitchFamily="34" charset="-122"/>
                <a:cs typeface="Calibri" pitchFamily="34" charset="-120"/>
              </a:rPr>
              <a:t>Richer ontology language for machine-processable class &amp; property semantics</a:t>
            </a:r>
            <a:endParaRPr lang="en-US" sz="950" dirty="0"/>
          </a:p>
        </p:txBody>
      </p:sp>
      <p:sp>
        <p:nvSpPr>
          <p:cNvPr id="15" name="Text 13"/>
          <p:cNvSpPr/>
          <p:nvPr/>
        </p:nvSpPr>
        <p:spPr>
          <a:xfrm>
            <a:off x="7095744" y="2331720"/>
            <a:ext cx="274320" cy="365760"/>
          </a:xfrm>
          <a:prstGeom prst="rect">
            <a:avLst/>
          </a:prstGeom>
          <a:noFill/>
          <a:ln/>
        </p:spPr>
        <p:txBody>
          <a:bodyPr wrap="square" lIns="0" tIns="0" rIns="0" bIns="0" rtlCol="0" anchor="ctr"/>
          <a:lstStyle/>
          <a:p>
            <a:pPr marL="0" indent="0" algn="ctr">
              <a:buNone/>
            </a:pPr>
            <a:r>
              <a:rPr lang="en-US" sz="1800" b="1" dirty="0">
                <a:solidFill>
                  <a:srgbClr val="21295C"/>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306056" y="1828800"/>
            <a:ext cx="2057400" cy="1371600"/>
          </a:xfrm>
          <a:prstGeom prst="roundRect">
            <a:avLst>
              <a:gd name="adj" fmla="val 5333"/>
            </a:avLst>
          </a:prstGeom>
          <a:solidFill>
            <a:srgbClr val="21295C"/>
          </a:solidFill>
          <a:ln/>
        </p:spPr>
        <p:txBody>
          <a:bodyPr/>
          <a:lstStyle/>
          <a:p>
            <a:endParaRPr lang="tr-TR"/>
          </a:p>
        </p:txBody>
      </p:sp>
      <p:sp>
        <p:nvSpPr>
          <p:cNvPr id="17" name="Text 15"/>
          <p:cNvSpPr/>
          <p:nvPr/>
        </p:nvSpPr>
        <p:spPr>
          <a:xfrm>
            <a:off x="7306056" y="1965960"/>
            <a:ext cx="20574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SPARQL</a:t>
            </a:r>
            <a:endParaRPr lang="en-US" sz="1600" dirty="0"/>
          </a:p>
        </p:txBody>
      </p:sp>
      <p:sp>
        <p:nvSpPr>
          <p:cNvPr id="18" name="Text 16"/>
          <p:cNvSpPr/>
          <p:nvPr/>
        </p:nvSpPr>
        <p:spPr>
          <a:xfrm>
            <a:off x="7415784" y="2331720"/>
            <a:ext cx="1837944" cy="822960"/>
          </a:xfrm>
          <a:prstGeom prst="rect">
            <a:avLst/>
          </a:prstGeom>
          <a:noFill/>
          <a:ln/>
        </p:spPr>
        <p:txBody>
          <a:bodyPr wrap="square" lIns="0" tIns="0" rIns="0" bIns="0" rtlCol="0" anchor="ctr"/>
          <a:lstStyle/>
          <a:p>
            <a:pPr marL="0" indent="0" algn="ctr">
              <a:lnSpc>
                <a:spcPct val="110000"/>
              </a:lnSpc>
              <a:buNone/>
            </a:pPr>
            <a:r>
              <a:rPr lang="en-US" sz="950" dirty="0">
                <a:solidFill>
                  <a:srgbClr val="E7ECF7"/>
                </a:solidFill>
                <a:latin typeface="Calibri" pitchFamily="34" charset="0"/>
                <a:ea typeface="Calibri" pitchFamily="34" charset="-122"/>
                <a:cs typeface="Calibri" pitchFamily="34" charset="-120"/>
              </a:rPr>
              <a:t>Standard query language for pattern-matching over RDF graphs</a:t>
            </a:r>
            <a:endParaRPr lang="en-US" sz="950" dirty="0"/>
          </a:p>
        </p:txBody>
      </p:sp>
      <p:sp>
        <p:nvSpPr>
          <p:cNvPr id="19" name="Text 17"/>
          <p:cNvSpPr/>
          <p:nvPr/>
        </p:nvSpPr>
        <p:spPr>
          <a:xfrm>
            <a:off x="9317736" y="2331720"/>
            <a:ext cx="274320" cy="365760"/>
          </a:xfrm>
          <a:prstGeom prst="rect">
            <a:avLst/>
          </a:prstGeom>
          <a:noFill/>
          <a:ln/>
        </p:spPr>
        <p:txBody>
          <a:bodyPr wrap="square" lIns="0" tIns="0" rIns="0" bIns="0" rtlCol="0" anchor="ctr"/>
          <a:lstStyle/>
          <a:p>
            <a:pPr marL="0" indent="0" algn="ctr">
              <a:buNone/>
            </a:pPr>
            <a:r>
              <a:rPr lang="en-US" sz="1800" b="1" dirty="0">
                <a:solidFill>
                  <a:srgbClr val="21295C"/>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9528048" y="1828800"/>
            <a:ext cx="2057400" cy="1371600"/>
          </a:xfrm>
          <a:prstGeom prst="roundRect">
            <a:avLst>
              <a:gd name="adj" fmla="val 5333"/>
            </a:avLst>
          </a:prstGeom>
          <a:solidFill>
            <a:srgbClr val="4A5FA5"/>
          </a:solidFill>
          <a:ln/>
        </p:spPr>
        <p:txBody>
          <a:bodyPr/>
          <a:lstStyle/>
          <a:p>
            <a:endParaRPr lang="tr-TR"/>
          </a:p>
        </p:txBody>
      </p:sp>
      <p:sp>
        <p:nvSpPr>
          <p:cNvPr id="21" name="Text 19"/>
          <p:cNvSpPr/>
          <p:nvPr/>
        </p:nvSpPr>
        <p:spPr>
          <a:xfrm>
            <a:off x="9528048" y="1965960"/>
            <a:ext cx="20574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Triplestores</a:t>
            </a:r>
            <a:endParaRPr lang="en-US" sz="1600" dirty="0"/>
          </a:p>
        </p:txBody>
      </p:sp>
      <p:sp>
        <p:nvSpPr>
          <p:cNvPr id="22" name="Text 20"/>
          <p:cNvSpPr/>
          <p:nvPr/>
        </p:nvSpPr>
        <p:spPr>
          <a:xfrm>
            <a:off x="9637776" y="2331720"/>
            <a:ext cx="1837944" cy="822960"/>
          </a:xfrm>
          <a:prstGeom prst="rect">
            <a:avLst/>
          </a:prstGeom>
          <a:noFill/>
          <a:ln/>
        </p:spPr>
        <p:txBody>
          <a:bodyPr wrap="square" lIns="0" tIns="0" rIns="0" bIns="0" rtlCol="0" anchor="ctr"/>
          <a:lstStyle/>
          <a:p>
            <a:pPr marL="0" indent="0" algn="ctr">
              <a:lnSpc>
                <a:spcPct val="110000"/>
              </a:lnSpc>
              <a:buNone/>
            </a:pPr>
            <a:r>
              <a:rPr lang="en-US" sz="950" dirty="0">
                <a:solidFill>
                  <a:srgbClr val="E7ECF7"/>
                </a:solidFill>
                <a:latin typeface="Calibri" pitchFamily="34" charset="0"/>
                <a:ea typeface="Calibri" pitchFamily="34" charset="-122"/>
                <a:cs typeface="Calibri" pitchFamily="34" charset="-120"/>
              </a:rPr>
              <a:t>Storage &amp; SPARQL-endpoint systems: Jena TDB, Virtuoso, AllegroGraph, RDFox…</a:t>
            </a:r>
            <a:endParaRPr lang="en-US" sz="950" dirty="0"/>
          </a:p>
        </p:txBody>
      </p:sp>
      <p:sp>
        <p:nvSpPr>
          <p:cNvPr id="23" name="Text 21"/>
          <p:cNvSpPr/>
          <p:nvPr/>
        </p:nvSpPr>
        <p:spPr>
          <a:xfrm>
            <a:off x="548640" y="3520440"/>
            <a:ext cx="7315200" cy="36576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Frequently Used RDF Vocabularies for SNA</a:t>
            </a:r>
            <a:endParaRPr lang="en-US" sz="1800" dirty="0"/>
          </a:p>
        </p:txBody>
      </p:sp>
      <p:sp>
        <p:nvSpPr>
          <p:cNvPr id="24" name="Shape 22"/>
          <p:cNvSpPr/>
          <p:nvPr/>
        </p:nvSpPr>
        <p:spPr>
          <a:xfrm>
            <a:off x="548640" y="3977640"/>
            <a:ext cx="5349240" cy="658368"/>
          </a:xfrm>
          <a:prstGeom prst="roundRect">
            <a:avLst>
              <a:gd name="adj" fmla="val 8333"/>
            </a:avLst>
          </a:prstGeom>
          <a:solidFill>
            <a:srgbClr val="FFFFFF"/>
          </a:solidFill>
          <a:ln w="12700">
            <a:solidFill>
              <a:srgbClr val="CADCFC"/>
            </a:solidFill>
            <a:prstDash val="solid"/>
          </a:ln>
        </p:spPr>
        <p:txBody>
          <a:bodyPr/>
          <a:lstStyle/>
          <a:p>
            <a:endParaRPr lang="tr-TR"/>
          </a:p>
        </p:txBody>
      </p:sp>
      <p:sp>
        <p:nvSpPr>
          <p:cNvPr id="25" name="Text 23"/>
          <p:cNvSpPr/>
          <p:nvPr/>
        </p:nvSpPr>
        <p:spPr>
          <a:xfrm>
            <a:off x="685800" y="4032504"/>
            <a:ext cx="507492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FOAF</a:t>
            </a:r>
            <a:endParaRPr lang="en-US" sz="1250" dirty="0"/>
          </a:p>
        </p:txBody>
      </p:sp>
      <p:sp>
        <p:nvSpPr>
          <p:cNvPr id="26" name="Text 24"/>
          <p:cNvSpPr/>
          <p:nvPr/>
        </p:nvSpPr>
        <p:spPr>
          <a:xfrm>
            <a:off x="685800" y="4297680"/>
            <a:ext cx="5074920" cy="292608"/>
          </a:xfrm>
          <a:prstGeom prst="rect">
            <a:avLst/>
          </a:prstGeom>
          <a:noFill/>
          <a:ln/>
        </p:spPr>
        <p:txBody>
          <a:bodyPr wrap="square" lIns="0" tIns="0" rIns="0" bIns="0" rtlCol="0" anchor="ctr"/>
          <a:lstStyle/>
          <a:p>
            <a:pPr marL="0" indent="0">
              <a:buNone/>
            </a:pPr>
            <a:r>
              <a:rPr lang="en-US" sz="1000" dirty="0">
                <a:solidFill>
                  <a:srgbClr val="6B7A99"/>
                </a:solidFill>
                <a:latin typeface="Calibri" pitchFamily="34" charset="0"/>
                <a:ea typeface="Calibri" pitchFamily="34" charset="-122"/>
                <a:cs typeface="Calibri" pitchFamily="34" charset="-120"/>
              </a:rPr>
              <a:t>Friend-of-a-Friend — user profiles &amp; friendships</a:t>
            </a:r>
            <a:endParaRPr lang="en-US" sz="1000" dirty="0"/>
          </a:p>
        </p:txBody>
      </p:sp>
      <p:sp>
        <p:nvSpPr>
          <p:cNvPr id="27" name="Shape 25"/>
          <p:cNvSpPr/>
          <p:nvPr/>
        </p:nvSpPr>
        <p:spPr>
          <a:xfrm>
            <a:off x="6126480" y="3977640"/>
            <a:ext cx="5349240" cy="658368"/>
          </a:xfrm>
          <a:prstGeom prst="roundRect">
            <a:avLst>
              <a:gd name="adj" fmla="val 8333"/>
            </a:avLst>
          </a:prstGeom>
          <a:solidFill>
            <a:srgbClr val="FFFFFF"/>
          </a:solidFill>
          <a:ln w="12700">
            <a:solidFill>
              <a:srgbClr val="CADCFC"/>
            </a:solidFill>
            <a:prstDash val="solid"/>
          </a:ln>
        </p:spPr>
        <p:txBody>
          <a:bodyPr/>
          <a:lstStyle/>
          <a:p>
            <a:endParaRPr lang="tr-TR"/>
          </a:p>
        </p:txBody>
      </p:sp>
      <p:sp>
        <p:nvSpPr>
          <p:cNvPr id="28" name="Text 26"/>
          <p:cNvSpPr/>
          <p:nvPr/>
        </p:nvSpPr>
        <p:spPr>
          <a:xfrm>
            <a:off x="6263640" y="4032504"/>
            <a:ext cx="507492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SIOC</a:t>
            </a:r>
            <a:endParaRPr lang="en-US" sz="1250" dirty="0"/>
          </a:p>
        </p:txBody>
      </p:sp>
      <p:sp>
        <p:nvSpPr>
          <p:cNvPr id="29" name="Text 27"/>
          <p:cNvSpPr/>
          <p:nvPr/>
        </p:nvSpPr>
        <p:spPr>
          <a:xfrm>
            <a:off x="6263640" y="4297680"/>
            <a:ext cx="5074920" cy="292608"/>
          </a:xfrm>
          <a:prstGeom prst="rect">
            <a:avLst/>
          </a:prstGeom>
          <a:noFill/>
          <a:ln/>
        </p:spPr>
        <p:txBody>
          <a:bodyPr wrap="square" lIns="0" tIns="0" rIns="0" bIns="0" rtlCol="0" anchor="ctr"/>
          <a:lstStyle/>
          <a:p>
            <a:pPr marL="0" indent="0">
              <a:buNone/>
            </a:pPr>
            <a:r>
              <a:rPr lang="en-US" sz="1000" dirty="0">
                <a:solidFill>
                  <a:srgbClr val="6B7A99"/>
                </a:solidFill>
                <a:latin typeface="Calibri" pitchFamily="34" charset="0"/>
                <a:ea typeface="Calibri" pitchFamily="34" charset="-122"/>
                <a:cs typeface="Calibri" pitchFamily="34" charset="-120"/>
              </a:rPr>
              <a:t>Semantically-Interlinked Online Communities — forums, blogs, wikis</a:t>
            </a:r>
            <a:endParaRPr lang="en-US" sz="1000" dirty="0"/>
          </a:p>
        </p:txBody>
      </p:sp>
      <p:sp>
        <p:nvSpPr>
          <p:cNvPr id="30" name="Shape 28"/>
          <p:cNvSpPr/>
          <p:nvPr/>
        </p:nvSpPr>
        <p:spPr>
          <a:xfrm>
            <a:off x="548640" y="4764024"/>
            <a:ext cx="5349240" cy="658368"/>
          </a:xfrm>
          <a:prstGeom prst="roundRect">
            <a:avLst>
              <a:gd name="adj" fmla="val 8333"/>
            </a:avLst>
          </a:prstGeom>
          <a:solidFill>
            <a:srgbClr val="FFFFFF"/>
          </a:solidFill>
          <a:ln w="12700">
            <a:solidFill>
              <a:srgbClr val="CADCFC"/>
            </a:solidFill>
            <a:prstDash val="solid"/>
          </a:ln>
        </p:spPr>
        <p:txBody>
          <a:bodyPr/>
          <a:lstStyle/>
          <a:p>
            <a:endParaRPr lang="tr-TR"/>
          </a:p>
        </p:txBody>
      </p:sp>
      <p:sp>
        <p:nvSpPr>
          <p:cNvPr id="31" name="Text 29"/>
          <p:cNvSpPr/>
          <p:nvPr/>
        </p:nvSpPr>
        <p:spPr>
          <a:xfrm>
            <a:off x="685800" y="4818888"/>
            <a:ext cx="507492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SKOS / MOAT</a:t>
            </a:r>
            <a:endParaRPr lang="en-US" sz="1250" dirty="0"/>
          </a:p>
        </p:txBody>
      </p:sp>
      <p:sp>
        <p:nvSpPr>
          <p:cNvPr id="32" name="Text 30"/>
          <p:cNvSpPr/>
          <p:nvPr/>
        </p:nvSpPr>
        <p:spPr>
          <a:xfrm>
            <a:off x="685800" y="5084064"/>
            <a:ext cx="5074920" cy="292608"/>
          </a:xfrm>
          <a:prstGeom prst="rect">
            <a:avLst/>
          </a:prstGeom>
          <a:noFill/>
          <a:ln/>
        </p:spPr>
        <p:txBody>
          <a:bodyPr wrap="square" lIns="0" tIns="0" rIns="0" bIns="0" rtlCol="0" anchor="ctr"/>
          <a:lstStyle/>
          <a:p>
            <a:pPr marL="0" indent="0">
              <a:buNone/>
            </a:pPr>
            <a:r>
              <a:rPr lang="en-US" sz="1000" dirty="0">
                <a:solidFill>
                  <a:srgbClr val="6B7A99"/>
                </a:solidFill>
                <a:latin typeface="Calibri" pitchFamily="34" charset="0"/>
                <a:ea typeface="Calibri" pitchFamily="34" charset="-122"/>
                <a:cs typeface="Calibri" pitchFamily="34" charset="-120"/>
              </a:rPr>
              <a:t>Concept organization &amp; tag semantics</a:t>
            </a:r>
            <a:endParaRPr lang="en-US" sz="1000" dirty="0"/>
          </a:p>
        </p:txBody>
      </p:sp>
      <p:sp>
        <p:nvSpPr>
          <p:cNvPr id="33" name="Shape 31"/>
          <p:cNvSpPr/>
          <p:nvPr/>
        </p:nvSpPr>
        <p:spPr>
          <a:xfrm>
            <a:off x="6126480" y="4764024"/>
            <a:ext cx="5349240" cy="658368"/>
          </a:xfrm>
          <a:prstGeom prst="roundRect">
            <a:avLst>
              <a:gd name="adj" fmla="val 8333"/>
            </a:avLst>
          </a:prstGeom>
          <a:solidFill>
            <a:srgbClr val="FFFFFF"/>
          </a:solidFill>
          <a:ln w="12700">
            <a:solidFill>
              <a:srgbClr val="CADCFC"/>
            </a:solidFill>
            <a:prstDash val="solid"/>
          </a:ln>
        </p:spPr>
        <p:txBody>
          <a:bodyPr/>
          <a:lstStyle/>
          <a:p>
            <a:endParaRPr lang="tr-TR"/>
          </a:p>
        </p:txBody>
      </p:sp>
      <p:sp>
        <p:nvSpPr>
          <p:cNvPr id="34" name="Text 32"/>
          <p:cNvSpPr/>
          <p:nvPr/>
        </p:nvSpPr>
        <p:spPr>
          <a:xfrm>
            <a:off x="6263640" y="4818888"/>
            <a:ext cx="507492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SemSNI</a:t>
            </a:r>
            <a:endParaRPr lang="en-US" sz="1250" dirty="0"/>
          </a:p>
        </p:txBody>
      </p:sp>
      <p:sp>
        <p:nvSpPr>
          <p:cNvPr id="35" name="Text 33"/>
          <p:cNvSpPr/>
          <p:nvPr/>
        </p:nvSpPr>
        <p:spPr>
          <a:xfrm>
            <a:off x="6263640" y="5084064"/>
            <a:ext cx="5074920" cy="292608"/>
          </a:xfrm>
          <a:prstGeom prst="rect">
            <a:avLst/>
          </a:prstGeom>
          <a:noFill/>
          <a:ln/>
        </p:spPr>
        <p:txBody>
          <a:bodyPr wrap="square" lIns="0" tIns="0" rIns="0" bIns="0" rtlCol="0" anchor="ctr"/>
          <a:lstStyle/>
          <a:p>
            <a:pPr marL="0" indent="0">
              <a:buNone/>
            </a:pPr>
            <a:r>
              <a:rPr lang="en-US" sz="1000" dirty="0">
                <a:solidFill>
                  <a:srgbClr val="6B7A99"/>
                </a:solidFill>
                <a:latin typeface="Calibri" pitchFamily="34" charset="0"/>
                <a:ea typeface="Calibri" pitchFamily="34" charset="-122"/>
                <a:cs typeface="Calibri" pitchFamily="34" charset="-120"/>
              </a:rPr>
              <a:t>Tracks member visits &amp; private messages</a:t>
            </a:r>
            <a:endParaRPr lang="en-US" sz="1000" dirty="0"/>
          </a:p>
        </p:txBody>
      </p:sp>
      <p:sp>
        <p:nvSpPr>
          <p:cNvPr id="36" name="Shape 34"/>
          <p:cNvSpPr/>
          <p:nvPr/>
        </p:nvSpPr>
        <p:spPr>
          <a:xfrm>
            <a:off x="548640" y="5550408"/>
            <a:ext cx="5349240" cy="658368"/>
          </a:xfrm>
          <a:prstGeom prst="roundRect">
            <a:avLst>
              <a:gd name="adj" fmla="val 8333"/>
            </a:avLst>
          </a:prstGeom>
          <a:solidFill>
            <a:srgbClr val="FFFFFF"/>
          </a:solidFill>
          <a:ln w="12700">
            <a:solidFill>
              <a:srgbClr val="CADCFC"/>
            </a:solidFill>
            <a:prstDash val="solid"/>
          </a:ln>
        </p:spPr>
        <p:txBody>
          <a:bodyPr/>
          <a:lstStyle/>
          <a:p>
            <a:endParaRPr lang="tr-TR"/>
          </a:p>
        </p:txBody>
      </p:sp>
      <p:sp>
        <p:nvSpPr>
          <p:cNvPr id="37" name="Text 35"/>
          <p:cNvSpPr/>
          <p:nvPr/>
        </p:nvSpPr>
        <p:spPr>
          <a:xfrm>
            <a:off x="685800" y="5605272"/>
            <a:ext cx="507492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RELATIONSHIP</a:t>
            </a:r>
            <a:endParaRPr lang="en-US" sz="1250" dirty="0"/>
          </a:p>
        </p:txBody>
      </p:sp>
      <p:sp>
        <p:nvSpPr>
          <p:cNvPr id="38" name="Text 36"/>
          <p:cNvSpPr/>
          <p:nvPr/>
        </p:nvSpPr>
        <p:spPr>
          <a:xfrm>
            <a:off x="685800" y="5870448"/>
            <a:ext cx="5074920" cy="292608"/>
          </a:xfrm>
          <a:prstGeom prst="rect">
            <a:avLst/>
          </a:prstGeom>
          <a:noFill/>
          <a:ln/>
        </p:spPr>
        <p:txBody>
          <a:bodyPr wrap="square" lIns="0" tIns="0" rIns="0" bIns="0" rtlCol="0" anchor="ctr"/>
          <a:lstStyle/>
          <a:p>
            <a:pPr marL="0" indent="0">
              <a:buNone/>
            </a:pPr>
            <a:r>
              <a:rPr lang="en-US" sz="1000" dirty="0">
                <a:solidFill>
                  <a:srgbClr val="6B7A99"/>
                </a:solidFill>
                <a:latin typeface="Calibri" pitchFamily="34" charset="0"/>
                <a:ea typeface="Calibri" pitchFamily="34" charset="-122"/>
                <a:cs typeface="Calibri" pitchFamily="34" charset="-120"/>
              </a:rPr>
              <a:t>Vocabulary describing relation types between people</a:t>
            </a:r>
            <a:endParaRPr lang="en-US" sz="1000" dirty="0"/>
          </a:p>
        </p:txBody>
      </p:sp>
      <p:sp>
        <p:nvSpPr>
          <p:cNvPr id="39" name="Shape 37"/>
          <p:cNvSpPr/>
          <p:nvPr/>
        </p:nvSpPr>
        <p:spPr>
          <a:xfrm>
            <a:off x="6126480" y="5550408"/>
            <a:ext cx="5349240" cy="658368"/>
          </a:xfrm>
          <a:prstGeom prst="roundRect">
            <a:avLst>
              <a:gd name="adj" fmla="val 8333"/>
            </a:avLst>
          </a:prstGeom>
          <a:solidFill>
            <a:srgbClr val="FFFFFF"/>
          </a:solidFill>
          <a:ln w="12700">
            <a:solidFill>
              <a:srgbClr val="CADCFC"/>
            </a:solidFill>
            <a:prstDash val="solid"/>
          </a:ln>
        </p:spPr>
        <p:txBody>
          <a:bodyPr/>
          <a:lstStyle/>
          <a:p>
            <a:endParaRPr lang="tr-TR"/>
          </a:p>
        </p:txBody>
      </p:sp>
      <p:sp>
        <p:nvSpPr>
          <p:cNvPr id="40" name="Text 38"/>
          <p:cNvSpPr/>
          <p:nvPr/>
        </p:nvSpPr>
        <p:spPr>
          <a:xfrm>
            <a:off x="6263640" y="5605272"/>
            <a:ext cx="5074920" cy="27432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OntoSNA / MUTO</a:t>
            </a:r>
            <a:endParaRPr lang="en-US" sz="1250" dirty="0"/>
          </a:p>
        </p:txBody>
      </p:sp>
      <p:sp>
        <p:nvSpPr>
          <p:cNvPr id="41" name="Text 39"/>
          <p:cNvSpPr/>
          <p:nvPr/>
        </p:nvSpPr>
        <p:spPr>
          <a:xfrm>
            <a:off x="6263640" y="5870448"/>
            <a:ext cx="5074920" cy="292608"/>
          </a:xfrm>
          <a:prstGeom prst="rect">
            <a:avLst/>
          </a:prstGeom>
          <a:noFill/>
          <a:ln/>
        </p:spPr>
        <p:txBody>
          <a:bodyPr wrap="square" lIns="0" tIns="0" rIns="0" bIns="0" rtlCol="0" anchor="ctr"/>
          <a:lstStyle/>
          <a:p>
            <a:pPr marL="0" indent="0">
              <a:buNone/>
            </a:pPr>
            <a:r>
              <a:rPr lang="en-US" sz="1000" dirty="0">
                <a:solidFill>
                  <a:srgbClr val="6B7A99"/>
                </a:solidFill>
                <a:latin typeface="Calibri" pitchFamily="34" charset="0"/>
                <a:ea typeface="Calibri" pitchFamily="34" charset="-122"/>
                <a:cs typeface="Calibri" pitchFamily="34" charset="-120"/>
              </a:rPr>
              <a:t>General-purpose SNA &amp; tagging ontologies</a:t>
            </a:r>
            <a:endParaRPr lang="en-US" sz="1000" dirty="0"/>
          </a:p>
        </p:txBody>
      </p:sp>
      <p:sp>
        <p:nvSpPr>
          <p:cNvPr id="42" name="Text 40"/>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43" name="Text 41"/>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Triplestores: Centralized vs. Distributed</a:t>
            </a:r>
            <a:endParaRPr lang="en-US" sz="3000" dirty="0"/>
          </a:p>
        </p:txBody>
      </p:sp>
      <p:sp>
        <p:nvSpPr>
          <p:cNvPr id="3" name="Text 1"/>
          <p:cNvSpPr/>
          <p:nvPr/>
        </p:nvSpPr>
        <p:spPr>
          <a:xfrm>
            <a:off x="548640" y="960120"/>
            <a:ext cx="10058400" cy="32004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Storage &amp; query performance is critical for real-time SNA applications</a:t>
            </a:r>
            <a:endParaRPr lang="en-US" sz="1400" dirty="0"/>
          </a:p>
        </p:txBody>
      </p:sp>
      <p:sp>
        <p:nvSpPr>
          <p:cNvPr id="4" name="Shape 2"/>
          <p:cNvSpPr/>
          <p:nvPr/>
        </p:nvSpPr>
        <p:spPr>
          <a:xfrm>
            <a:off x="548640" y="1554480"/>
            <a:ext cx="5212080" cy="548640"/>
          </a:xfrm>
          <a:prstGeom prst="roundRect">
            <a:avLst>
              <a:gd name="adj" fmla="val 13333"/>
            </a:avLst>
          </a:prstGeom>
          <a:solidFill>
            <a:srgbClr val="065A82"/>
          </a:solidFill>
          <a:ln/>
        </p:spPr>
        <p:txBody>
          <a:bodyPr/>
          <a:lstStyle/>
          <a:p>
            <a:endParaRPr lang="tr-TR"/>
          </a:p>
        </p:txBody>
      </p:sp>
      <p:sp>
        <p:nvSpPr>
          <p:cNvPr id="5" name="Text 3"/>
          <p:cNvSpPr/>
          <p:nvPr/>
        </p:nvSpPr>
        <p:spPr>
          <a:xfrm>
            <a:off x="548640" y="1554480"/>
            <a:ext cx="521208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Centralized (single machine)</a:t>
            </a:r>
            <a:endParaRPr lang="en-US" sz="1600" dirty="0"/>
          </a:p>
        </p:txBody>
      </p:sp>
      <p:sp>
        <p:nvSpPr>
          <p:cNvPr id="6" name="Shape 4"/>
          <p:cNvSpPr/>
          <p:nvPr/>
        </p:nvSpPr>
        <p:spPr>
          <a:xfrm>
            <a:off x="548640" y="2240280"/>
            <a:ext cx="5212080" cy="2423160"/>
          </a:xfrm>
          <a:prstGeom prst="roundRect">
            <a:avLst>
              <a:gd name="adj" fmla="val 3019"/>
            </a:avLst>
          </a:prstGeom>
          <a:solidFill>
            <a:srgbClr val="F4F7FA"/>
          </a:solidFill>
          <a:ln w="12700">
            <a:solidFill>
              <a:srgbClr val="CADCFC"/>
            </a:solidFill>
            <a:prstDash val="solid"/>
          </a:ln>
        </p:spPr>
        <p:txBody>
          <a:bodyPr/>
          <a:lstStyle/>
          <a:p>
            <a:endParaRPr lang="tr-TR"/>
          </a:p>
        </p:txBody>
      </p:sp>
      <p:sp>
        <p:nvSpPr>
          <p:cNvPr id="7" name="Shape 5"/>
          <p:cNvSpPr/>
          <p:nvPr/>
        </p:nvSpPr>
        <p:spPr>
          <a:xfrm>
            <a:off x="822960" y="2496312"/>
            <a:ext cx="82296" cy="82296"/>
          </a:xfrm>
          <a:prstGeom prst="ellipse">
            <a:avLst/>
          </a:prstGeom>
          <a:solidFill>
            <a:srgbClr val="065A82"/>
          </a:solidFill>
          <a:ln/>
        </p:spPr>
        <p:txBody>
          <a:bodyPr/>
          <a:lstStyle/>
          <a:p>
            <a:endParaRPr lang="tr-TR"/>
          </a:p>
        </p:txBody>
      </p:sp>
      <p:sp>
        <p:nvSpPr>
          <p:cNvPr id="8" name="Text 6"/>
          <p:cNvSpPr/>
          <p:nvPr/>
        </p:nvSpPr>
        <p:spPr>
          <a:xfrm>
            <a:off x="1051560" y="242316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Jena TDB</a:t>
            </a:r>
            <a:endParaRPr lang="en-US" sz="1300" dirty="0"/>
          </a:p>
        </p:txBody>
      </p:sp>
      <p:sp>
        <p:nvSpPr>
          <p:cNvPr id="9" name="Shape 7"/>
          <p:cNvSpPr/>
          <p:nvPr/>
        </p:nvSpPr>
        <p:spPr>
          <a:xfrm>
            <a:off x="822960" y="2816352"/>
            <a:ext cx="82296" cy="82296"/>
          </a:xfrm>
          <a:prstGeom prst="ellipse">
            <a:avLst/>
          </a:prstGeom>
          <a:solidFill>
            <a:srgbClr val="065A82"/>
          </a:solidFill>
          <a:ln/>
        </p:spPr>
        <p:txBody>
          <a:bodyPr/>
          <a:lstStyle/>
          <a:p>
            <a:endParaRPr lang="tr-TR"/>
          </a:p>
        </p:txBody>
      </p:sp>
      <p:sp>
        <p:nvSpPr>
          <p:cNvPr id="10" name="Text 8"/>
          <p:cNvSpPr/>
          <p:nvPr/>
        </p:nvSpPr>
        <p:spPr>
          <a:xfrm>
            <a:off x="1051560" y="274320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RDF4J (Sesame)</a:t>
            </a:r>
            <a:endParaRPr lang="en-US" sz="1300" dirty="0"/>
          </a:p>
        </p:txBody>
      </p:sp>
      <p:sp>
        <p:nvSpPr>
          <p:cNvPr id="11" name="Shape 9"/>
          <p:cNvSpPr/>
          <p:nvPr/>
        </p:nvSpPr>
        <p:spPr>
          <a:xfrm>
            <a:off x="822960" y="3136392"/>
            <a:ext cx="82296" cy="82296"/>
          </a:xfrm>
          <a:prstGeom prst="ellipse">
            <a:avLst/>
          </a:prstGeom>
          <a:solidFill>
            <a:srgbClr val="065A82"/>
          </a:solidFill>
          <a:ln/>
        </p:spPr>
        <p:txBody>
          <a:bodyPr/>
          <a:lstStyle/>
          <a:p>
            <a:endParaRPr lang="tr-TR"/>
          </a:p>
        </p:txBody>
      </p:sp>
      <p:sp>
        <p:nvSpPr>
          <p:cNvPr id="12" name="Text 10"/>
          <p:cNvSpPr/>
          <p:nvPr/>
        </p:nvSpPr>
        <p:spPr>
          <a:xfrm>
            <a:off x="1051560" y="306324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RDFSuite</a:t>
            </a:r>
            <a:endParaRPr lang="en-US" sz="1300" dirty="0"/>
          </a:p>
        </p:txBody>
      </p:sp>
      <p:sp>
        <p:nvSpPr>
          <p:cNvPr id="13" name="Shape 11"/>
          <p:cNvSpPr/>
          <p:nvPr/>
        </p:nvSpPr>
        <p:spPr>
          <a:xfrm>
            <a:off x="822960" y="3456432"/>
            <a:ext cx="82296" cy="82296"/>
          </a:xfrm>
          <a:prstGeom prst="ellipse">
            <a:avLst/>
          </a:prstGeom>
          <a:solidFill>
            <a:srgbClr val="065A82"/>
          </a:solidFill>
          <a:ln/>
        </p:spPr>
        <p:txBody>
          <a:bodyPr/>
          <a:lstStyle/>
          <a:p>
            <a:endParaRPr lang="tr-TR"/>
          </a:p>
        </p:txBody>
      </p:sp>
      <p:sp>
        <p:nvSpPr>
          <p:cNvPr id="14" name="Text 12"/>
          <p:cNvSpPr/>
          <p:nvPr/>
        </p:nvSpPr>
        <p:spPr>
          <a:xfrm>
            <a:off x="1051560" y="338328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AllegroGraph</a:t>
            </a:r>
            <a:endParaRPr lang="en-US" sz="1300" dirty="0"/>
          </a:p>
        </p:txBody>
      </p:sp>
      <p:sp>
        <p:nvSpPr>
          <p:cNvPr id="15" name="Shape 13"/>
          <p:cNvSpPr/>
          <p:nvPr/>
        </p:nvSpPr>
        <p:spPr>
          <a:xfrm>
            <a:off x="822960" y="3776472"/>
            <a:ext cx="82296" cy="82296"/>
          </a:xfrm>
          <a:prstGeom prst="ellipse">
            <a:avLst/>
          </a:prstGeom>
          <a:solidFill>
            <a:srgbClr val="065A82"/>
          </a:solidFill>
          <a:ln/>
        </p:spPr>
        <p:txBody>
          <a:bodyPr/>
          <a:lstStyle/>
          <a:p>
            <a:endParaRPr lang="tr-TR"/>
          </a:p>
        </p:txBody>
      </p:sp>
      <p:sp>
        <p:nvSpPr>
          <p:cNvPr id="16" name="Text 14"/>
          <p:cNvSpPr/>
          <p:nvPr/>
        </p:nvSpPr>
        <p:spPr>
          <a:xfrm>
            <a:off x="1051560" y="370332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RDF-3X</a:t>
            </a:r>
            <a:endParaRPr lang="en-US" sz="1300" dirty="0"/>
          </a:p>
        </p:txBody>
      </p:sp>
      <p:sp>
        <p:nvSpPr>
          <p:cNvPr id="17" name="Shape 15"/>
          <p:cNvSpPr/>
          <p:nvPr/>
        </p:nvSpPr>
        <p:spPr>
          <a:xfrm>
            <a:off x="822960" y="4096512"/>
            <a:ext cx="82296" cy="82296"/>
          </a:xfrm>
          <a:prstGeom prst="ellipse">
            <a:avLst/>
          </a:prstGeom>
          <a:solidFill>
            <a:srgbClr val="065A82"/>
          </a:solidFill>
          <a:ln/>
        </p:spPr>
        <p:txBody>
          <a:bodyPr/>
          <a:lstStyle/>
          <a:p>
            <a:endParaRPr lang="tr-TR"/>
          </a:p>
        </p:txBody>
      </p:sp>
      <p:sp>
        <p:nvSpPr>
          <p:cNvPr id="18" name="Text 16"/>
          <p:cNvSpPr/>
          <p:nvPr/>
        </p:nvSpPr>
        <p:spPr>
          <a:xfrm>
            <a:off x="1051560" y="402336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Hexastore</a:t>
            </a:r>
            <a:endParaRPr lang="en-US" sz="1300" dirty="0"/>
          </a:p>
        </p:txBody>
      </p:sp>
      <p:sp>
        <p:nvSpPr>
          <p:cNvPr id="19" name="Shape 17"/>
          <p:cNvSpPr/>
          <p:nvPr/>
        </p:nvSpPr>
        <p:spPr>
          <a:xfrm>
            <a:off x="822960" y="4416552"/>
            <a:ext cx="82296" cy="82296"/>
          </a:xfrm>
          <a:prstGeom prst="ellipse">
            <a:avLst/>
          </a:prstGeom>
          <a:solidFill>
            <a:srgbClr val="065A82"/>
          </a:solidFill>
          <a:ln/>
        </p:spPr>
        <p:txBody>
          <a:bodyPr/>
          <a:lstStyle/>
          <a:p>
            <a:endParaRPr lang="tr-TR"/>
          </a:p>
        </p:txBody>
      </p:sp>
      <p:sp>
        <p:nvSpPr>
          <p:cNvPr id="20" name="Text 18"/>
          <p:cNvSpPr/>
          <p:nvPr/>
        </p:nvSpPr>
        <p:spPr>
          <a:xfrm>
            <a:off x="1051560" y="434340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RDFox</a:t>
            </a:r>
            <a:endParaRPr lang="en-US" sz="1300" dirty="0"/>
          </a:p>
        </p:txBody>
      </p:sp>
      <p:sp>
        <p:nvSpPr>
          <p:cNvPr id="21" name="Shape 19"/>
          <p:cNvSpPr/>
          <p:nvPr/>
        </p:nvSpPr>
        <p:spPr>
          <a:xfrm>
            <a:off x="6126480" y="1554480"/>
            <a:ext cx="5212080" cy="548640"/>
          </a:xfrm>
          <a:prstGeom prst="roundRect">
            <a:avLst>
              <a:gd name="adj" fmla="val 13333"/>
            </a:avLst>
          </a:prstGeom>
          <a:solidFill>
            <a:srgbClr val="1C7293"/>
          </a:solidFill>
          <a:ln/>
        </p:spPr>
        <p:txBody>
          <a:bodyPr/>
          <a:lstStyle/>
          <a:p>
            <a:endParaRPr lang="tr-TR"/>
          </a:p>
        </p:txBody>
      </p:sp>
      <p:sp>
        <p:nvSpPr>
          <p:cNvPr id="22" name="Text 20"/>
          <p:cNvSpPr/>
          <p:nvPr/>
        </p:nvSpPr>
        <p:spPr>
          <a:xfrm>
            <a:off x="6126480" y="1554480"/>
            <a:ext cx="521208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Distributed (multi-machine)</a:t>
            </a:r>
            <a:endParaRPr lang="en-US" sz="1600" dirty="0"/>
          </a:p>
        </p:txBody>
      </p:sp>
      <p:sp>
        <p:nvSpPr>
          <p:cNvPr id="23" name="Shape 21"/>
          <p:cNvSpPr/>
          <p:nvPr/>
        </p:nvSpPr>
        <p:spPr>
          <a:xfrm>
            <a:off x="6126480" y="2240280"/>
            <a:ext cx="5212080" cy="2423160"/>
          </a:xfrm>
          <a:prstGeom prst="roundRect">
            <a:avLst>
              <a:gd name="adj" fmla="val 3019"/>
            </a:avLst>
          </a:prstGeom>
          <a:solidFill>
            <a:srgbClr val="F4F7FA"/>
          </a:solidFill>
          <a:ln w="12700">
            <a:solidFill>
              <a:srgbClr val="CADCFC"/>
            </a:solidFill>
            <a:prstDash val="solid"/>
          </a:ln>
        </p:spPr>
        <p:txBody>
          <a:bodyPr/>
          <a:lstStyle/>
          <a:p>
            <a:endParaRPr lang="tr-TR"/>
          </a:p>
        </p:txBody>
      </p:sp>
      <p:sp>
        <p:nvSpPr>
          <p:cNvPr id="24" name="Shape 22"/>
          <p:cNvSpPr/>
          <p:nvPr/>
        </p:nvSpPr>
        <p:spPr>
          <a:xfrm>
            <a:off x="6400800" y="2496312"/>
            <a:ext cx="82296" cy="82296"/>
          </a:xfrm>
          <a:prstGeom prst="ellipse">
            <a:avLst/>
          </a:prstGeom>
          <a:solidFill>
            <a:srgbClr val="1C7293"/>
          </a:solidFill>
          <a:ln/>
        </p:spPr>
        <p:txBody>
          <a:bodyPr/>
          <a:lstStyle/>
          <a:p>
            <a:endParaRPr lang="tr-TR"/>
          </a:p>
        </p:txBody>
      </p:sp>
      <p:sp>
        <p:nvSpPr>
          <p:cNvPr id="25" name="Text 23"/>
          <p:cNvSpPr/>
          <p:nvPr/>
        </p:nvSpPr>
        <p:spPr>
          <a:xfrm>
            <a:off x="6629400" y="242316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Virtuoso</a:t>
            </a:r>
            <a:endParaRPr lang="en-US" sz="1300" dirty="0"/>
          </a:p>
        </p:txBody>
      </p:sp>
      <p:sp>
        <p:nvSpPr>
          <p:cNvPr id="26" name="Shape 24"/>
          <p:cNvSpPr/>
          <p:nvPr/>
        </p:nvSpPr>
        <p:spPr>
          <a:xfrm>
            <a:off x="6400800" y="2816352"/>
            <a:ext cx="82296" cy="82296"/>
          </a:xfrm>
          <a:prstGeom prst="ellipse">
            <a:avLst/>
          </a:prstGeom>
          <a:solidFill>
            <a:srgbClr val="1C7293"/>
          </a:solidFill>
          <a:ln/>
        </p:spPr>
        <p:txBody>
          <a:bodyPr/>
          <a:lstStyle/>
          <a:p>
            <a:endParaRPr lang="tr-TR"/>
          </a:p>
        </p:txBody>
      </p:sp>
      <p:sp>
        <p:nvSpPr>
          <p:cNvPr id="27" name="Text 25"/>
          <p:cNvSpPr/>
          <p:nvPr/>
        </p:nvSpPr>
        <p:spPr>
          <a:xfrm>
            <a:off x="6629400" y="274320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EAGRE</a:t>
            </a:r>
            <a:endParaRPr lang="en-US" sz="1300" dirty="0"/>
          </a:p>
        </p:txBody>
      </p:sp>
      <p:sp>
        <p:nvSpPr>
          <p:cNvPr id="28" name="Shape 26"/>
          <p:cNvSpPr/>
          <p:nvPr/>
        </p:nvSpPr>
        <p:spPr>
          <a:xfrm>
            <a:off x="6400800" y="3136392"/>
            <a:ext cx="82296" cy="82296"/>
          </a:xfrm>
          <a:prstGeom prst="ellipse">
            <a:avLst/>
          </a:prstGeom>
          <a:solidFill>
            <a:srgbClr val="1C7293"/>
          </a:solidFill>
          <a:ln/>
        </p:spPr>
        <p:txBody>
          <a:bodyPr/>
          <a:lstStyle/>
          <a:p>
            <a:endParaRPr lang="tr-TR"/>
          </a:p>
        </p:txBody>
      </p:sp>
      <p:sp>
        <p:nvSpPr>
          <p:cNvPr id="29" name="Text 27"/>
          <p:cNvSpPr/>
          <p:nvPr/>
        </p:nvSpPr>
        <p:spPr>
          <a:xfrm>
            <a:off x="6629400" y="306324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TriAD</a:t>
            </a:r>
            <a:endParaRPr lang="en-US" sz="1300" dirty="0"/>
          </a:p>
        </p:txBody>
      </p:sp>
      <p:sp>
        <p:nvSpPr>
          <p:cNvPr id="30" name="Shape 28"/>
          <p:cNvSpPr/>
          <p:nvPr/>
        </p:nvSpPr>
        <p:spPr>
          <a:xfrm>
            <a:off x="6400800" y="3456432"/>
            <a:ext cx="82296" cy="82296"/>
          </a:xfrm>
          <a:prstGeom prst="ellipse">
            <a:avLst/>
          </a:prstGeom>
          <a:solidFill>
            <a:srgbClr val="1C7293"/>
          </a:solidFill>
          <a:ln/>
        </p:spPr>
        <p:txBody>
          <a:bodyPr/>
          <a:lstStyle/>
          <a:p>
            <a:endParaRPr lang="tr-TR"/>
          </a:p>
        </p:txBody>
      </p:sp>
      <p:sp>
        <p:nvSpPr>
          <p:cNvPr id="31" name="Text 29"/>
          <p:cNvSpPr/>
          <p:nvPr/>
        </p:nvSpPr>
        <p:spPr>
          <a:xfrm>
            <a:off x="6629400" y="338328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4Store</a:t>
            </a:r>
            <a:endParaRPr lang="en-US" sz="1300" dirty="0"/>
          </a:p>
        </p:txBody>
      </p:sp>
      <p:sp>
        <p:nvSpPr>
          <p:cNvPr id="32" name="Shape 30"/>
          <p:cNvSpPr/>
          <p:nvPr/>
        </p:nvSpPr>
        <p:spPr>
          <a:xfrm>
            <a:off x="6400800" y="3776472"/>
            <a:ext cx="82296" cy="82296"/>
          </a:xfrm>
          <a:prstGeom prst="ellipse">
            <a:avLst/>
          </a:prstGeom>
          <a:solidFill>
            <a:srgbClr val="1C7293"/>
          </a:solidFill>
          <a:ln/>
        </p:spPr>
        <p:txBody>
          <a:bodyPr/>
          <a:lstStyle/>
          <a:p>
            <a:endParaRPr lang="tr-TR"/>
          </a:p>
        </p:txBody>
      </p:sp>
      <p:sp>
        <p:nvSpPr>
          <p:cNvPr id="33" name="Text 31"/>
          <p:cNvSpPr/>
          <p:nvPr/>
        </p:nvSpPr>
        <p:spPr>
          <a:xfrm>
            <a:off x="6629400" y="3703320"/>
            <a:ext cx="4480560" cy="292608"/>
          </a:xfrm>
          <a:prstGeom prst="rect">
            <a:avLst/>
          </a:prstGeom>
          <a:noFill/>
          <a:ln/>
        </p:spPr>
        <p:txBody>
          <a:bodyPr wrap="square" lIns="0" tIns="0" rIns="0" bIns="0" rtlCol="0" anchor="ctr"/>
          <a:lstStyle/>
          <a:p>
            <a:pPr marL="0" indent="0">
              <a:buNone/>
            </a:pPr>
            <a:r>
              <a:rPr lang="en-US" sz="1300" dirty="0">
                <a:solidFill>
                  <a:srgbClr val="1B2436"/>
                </a:solidFill>
                <a:latin typeface="Calibri" pitchFamily="34" charset="0"/>
                <a:ea typeface="Calibri" pitchFamily="34" charset="-122"/>
                <a:cs typeface="Calibri" pitchFamily="34" charset="-120"/>
              </a:rPr>
              <a:t>TripleRush</a:t>
            </a:r>
            <a:endParaRPr lang="en-US" sz="1300" dirty="0"/>
          </a:p>
        </p:txBody>
      </p:sp>
      <p:sp>
        <p:nvSpPr>
          <p:cNvPr id="34" name="Shape 32"/>
          <p:cNvSpPr/>
          <p:nvPr/>
        </p:nvSpPr>
        <p:spPr>
          <a:xfrm>
            <a:off x="548640" y="4892040"/>
            <a:ext cx="10789920" cy="960120"/>
          </a:xfrm>
          <a:prstGeom prst="roundRect">
            <a:avLst>
              <a:gd name="adj" fmla="val 7619"/>
            </a:avLst>
          </a:prstGeom>
          <a:solidFill>
            <a:srgbClr val="21295C"/>
          </a:solidFill>
          <a:ln/>
        </p:spPr>
        <p:txBody>
          <a:bodyPr/>
          <a:lstStyle/>
          <a:p>
            <a:endParaRPr lang="tr-TR"/>
          </a:p>
        </p:txBody>
      </p:sp>
      <p:sp>
        <p:nvSpPr>
          <p:cNvPr id="35" name="Text 33"/>
          <p:cNvSpPr/>
          <p:nvPr/>
        </p:nvSpPr>
        <p:spPr>
          <a:xfrm>
            <a:off x="822960" y="5029200"/>
            <a:ext cx="10241280" cy="731520"/>
          </a:xfrm>
          <a:prstGeom prst="rect">
            <a:avLst/>
          </a:prstGeom>
          <a:noFill/>
          <a:ln/>
        </p:spPr>
        <p:txBody>
          <a:bodyPr wrap="square" lIns="0" tIns="0" rIns="0" bIns="0" rtlCol="0" anchor="ctr"/>
          <a:lstStyle/>
          <a:p>
            <a:pPr marL="0" indent="0">
              <a:lnSpc>
                <a:spcPct val="120000"/>
              </a:lnSpc>
              <a:buNone/>
            </a:pPr>
            <a:r>
              <a:rPr lang="en-US" sz="1300" b="1" dirty="0">
                <a:solidFill>
                  <a:srgbClr val="CADCFC"/>
                </a:solidFill>
                <a:latin typeface="Calibri" pitchFamily="34" charset="0"/>
                <a:ea typeface="Calibri" pitchFamily="34" charset="-122"/>
                <a:cs typeface="Calibri" pitchFamily="34" charset="-120"/>
              </a:rPr>
              <a:t>Key finding (Bizer &amp; Schultz): </a:t>
            </a:r>
            <a:r>
              <a:rPr lang="en-US" sz="1300" dirty="0">
                <a:solidFill>
                  <a:srgbClr val="DCE5F7"/>
                </a:solidFill>
                <a:latin typeface="Calibri" pitchFamily="34" charset="0"/>
                <a:ea typeface="Calibri" pitchFamily="34" charset="-122"/>
                <a:cs typeface="Calibri" pitchFamily="34" charset="-120"/>
              </a:rPr>
              <a:t>Virtuoso performs best on large datasets; Sesame performs better on smaller datasets — no single triplestore dominates across all workloads.</a:t>
            </a:r>
            <a:endParaRPr lang="en-US" sz="1300" dirty="0"/>
          </a:p>
        </p:txBody>
      </p:sp>
      <p:sp>
        <p:nvSpPr>
          <p:cNvPr id="36" name="Text 34"/>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37" name="Text 3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Big Data Architectures for SNA</a:t>
            </a:r>
            <a:endParaRPr lang="en-US" sz="3200" dirty="0"/>
          </a:p>
        </p:txBody>
      </p:sp>
      <p:sp>
        <p:nvSpPr>
          <p:cNvPr id="3" name="Text 1"/>
          <p:cNvSpPr/>
          <p:nvPr/>
        </p:nvSpPr>
        <p:spPr>
          <a:xfrm>
            <a:off x="548640" y="960120"/>
            <a:ext cx="9144000" cy="320040"/>
          </a:xfrm>
          <a:prstGeom prst="rect">
            <a:avLst/>
          </a:prstGeom>
          <a:noFill/>
          <a:ln/>
        </p:spPr>
        <p:txBody>
          <a:bodyPr wrap="square" lIns="0" tIns="0" rIns="0" bIns="0" rtlCol="0" anchor="ctr"/>
          <a:lstStyle/>
          <a:p>
            <a:pPr marL="0" indent="0">
              <a:buNone/>
            </a:pPr>
            <a:r>
              <a:rPr lang="en-US" sz="1400" i="1" dirty="0">
                <a:solidFill>
                  <a:srgbClr val="9FB3E0"/>
                </a:solidFill>
                <a:latin typeface="Calibri" pitchFamily="34" charset="0"/>
                <a:ea typeface="Calibri" pitchFamily="34" charset="-122"/>
                <a:cs typeface="Calibri" pitchFamily="34" charset="-120"/>
              </a:rPr>
              <a:t>The 5 Vs and the two dominant architectural families</a:t>
            </a:r>
            <a:endParaRPr lang="en-US" sz="1400" dirty="0"/>
          </a:p>
        </p:txBody>
      </p:sp>
      <p:sp>
        <p:nvSpPr>
          <p:cNvPr id="4" name="Shape 2"/>
          <p:cNvSpPr/>
          <p:nvPr/>
        </p:nvSpPr>
        <p:spPr>
          <a:xfrm>
            <a:off x="548640" y="1508760"/>
            <a:ext cx="2011680" cy="685800"/>
          </a:xfrm>
          <a:prstGeom prst="roundRect">
            <a:avLst>
              <a:gd name="adj" fmla="val 46667"/>
            </a:avLst>
          </a:prstGeom>
          <a:solidFill>
            <a:srgbClr val="1C7293"/>
          </a:solidFill>
          <a:ln/>
        </p:spPr>
        <p:txBody>
          <a:bodyPr/>
          <a:lstStyle/>
          <a:p>
            <a:endParaRPr lang="tr-TR"/>
          </a:p>
        </p:txBody>
      </p:sp>
      <p:sp>
        <p:nvSpPr>
          <p:cNvPr id="5" name="Text 3"/>
          <p:cNvSpPr/>
          <p:nvPr/>
        </p:nvSpPr>
        <p:spPr>
          <a:xfrm>
            <a:off x="548640" y="1508760"/>
            <a:ext cx="20116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Volume</a:t>
            </a:r>
            <a:endParaRPr lang="en-US" sz="1400" dirty="0"/>
          </a:p>
        </p:txBody>
      </p:sp>
      <p:sp>
        <p:nvSpPr>
          <p:cNvPr id="6" name="Shape 4"/>
          <p:cNvSpPr/>
          <p:nvPr/>
        </p:nvSpPr>
        <p:spPr>
          <a:xfrm>
            <a:off x="2697480" y="1508760"/>
            <a:ext cx="2011680" cy="685800"/>
          </a:xfrm>
          <a:prstGeom prst="roundRect">
            <a:avLst>
              <a:gd name="adj" fmla="val 46667"/>
            </a:avLst>
          </a:prstGeom>
          <a:solidFill>
            <a:srgbClr val="1C7293"/>
          </a:solidFill>
          <a:ln/>
        </p:spPr>
        <p:txBody>
          <a:bodyPr/>
          <a:lstStyle/>
          <a:p>
            <a:endParaRPr lang="tr-TR"/>
          </a:p>
        </p:txBody>
      </p:sp>
      <p:sp>
        <p:nvSpPr>
          <p:cNvPr id="7" name="Text 5"/>
          <p:cNvSpPr/>
          <p:nvPr/>
        </p:nvSpPr>
        <p:spPr>
          <a:xfrm>
            <a:off x="2697480" y="1508760"/>
            <a:ext cx="20116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Velocity</a:t>
            </a:r>
            <a:endParaRPr lang="en-US" sz="1400" dirty="0"/>
          </a:p>
        </p:txBody>
      </p:sp>
      <p:sp>
        <p:nvSpPr>
          <p:cNvPr id="8" name="Shape 6"/>
          <p:cNvSpPr/>
          <p:nvPr/>
        </p:nvSpPr>
        <p:spPr>
          <a:xfrm>
            <a:off x="4846320" y="1508760"/>
            <a:ext cx="2011680" cy="685800"/>
          </a:xfrm>
          <a:prstGeom prst="roundRect">
            <a:avLst>
              <a:gd name="adj" fmla="val 46667"/>
            </a:avLst>
          </a:prstGeom>
          <a:solidFill>
            <a:srgbClr val="1C7293"/>
          </a:solidFill>
          <a:ln/>
        </p:spPr>
        <p:txBody>
          <a:bodyPr/>
          <a:lstStyle/>
          <a:p>
            <a:endParaRPr lang="tr-TR"/>
          </a:p>
        </p:txBody>
      </p:sp>
      <p:sp>
        <p:nvSpPr>
          <p:cNvPr id="9" name="Text 7"/>
          <p:cNvSpPr/>
          <p:nvPr/>
        </p:nvSpPr>
        <p:spPr>
          <a:xfrm>
            <a:off x="4846320" y="1508760"/>
            <a:ext cx="20116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Variety</a:t>
            </a:r>
            <a:endParaRPr lang="en-US" sz="1400" dirty="0"/>
          </a:p>
        </p:txBody>
      </p:sp>
      <p:sp>
        <p:nvSpPr>
          <p:cNvPr id="10" name="Shape 8"/>
          <p:cNvSpPr/>
          <p:nvPr/>
        </p:nvSpPr>
        <p:spPr>
          <a:xfrm>
            <a:off x="6995160" y="1508760"/>
            <a:ext cx="2011680" cy="685800"/>
          </a:xfrm>
          <a:prstGeom prst="roundRect">
            <a:avLst>
              <a:gd name="adj" fmla="val 46667"/>
            </a:avLst>
          </a:prstGeom>
          <a:solidFill>
            <a:srgbClr val="1C7293"/>
          </a:solidFill>
          <a:ln/>
        </p:spPr>
        <p:txBody>
          <a:bodyPr/>
          <a:lstStyle/>
          <a:p>
            <a:endParaRPr lang="tr-TR"/>
          </a:p>
        </p:txBody>
      </p:sp>
      <p:sp>
        <p:nvSpPr>
          <p:cNvPr id="11" name="Text 9"/>
          <p:cNvSpPr/>
          <p:nvPr/>
        </p:nvSpPr>
        <p:spPr>
          <a:xfrm>
            <a:off x="6995160" y="1508760"/>
            <a:ext cx="20116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Value</a:t>
            </a:r>
            <a:endParaRPr lang="en-US" sz="1400" dirty="0"/>
          </a:p>
        </p:txBody>
      </p:sp>
      <p:sp>
        <p:nvSpPr>
          <p:cNvPr id="12" name="Shape 10"/>
          <p:cNvSpPr/>
          <p:nvPr/>
        </p:nvSpPr>
        <p:spPr>
          <a:xfrm>
            <a:off x="9144000" y="1508760"/>
            <a:ext cx="2011680" cy="685800"/>
          </a:xfrm>
          <a:prstGeom prst="roundRect">
            <a:avLst>
              <a:gd name="adj" fmla="val 46667"/>
            </a:avLst>
          </a:prstGeom>
          <a:solidFill>
            <a:srgbClr val="1C7293"/>
          </a:solidFill>
          <a:ln/>
        </p:spPr>
        <p:txBody>
          <a:bodyPr/>
          <a:lstStyle/>
          <a:p>
            <a:endParaRPr lang="tr-TR"/>
          </a:p>
        </p:txBody>
      </p:sp>
      <p:sp>
        <p:nvSpPr>
          <p:cNvPr id="13" name="Text 11"/>
          <p:cNvSpPr/>
          <p:nvPr/>
        </p:nvSpPr>
        <p:spPr>
          <a:xfrm>
            <a:off x="9144000" y="1508760"/>
            <a:ext cx="20116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Veracity</a:t>
            </a:r>
            <a:endParaRPr lang="en-US" sz="1400" dirty="0"/>
          </a:p>
        </p:txBody>
      </p:sp>
      <p:sp>
        <p:nvSpPr>
          <p:cNvPr id="14" name="Shape 12"/>
          <p:cNvSpPr/>
          <p:nvPr/>
        </p:nvSpPr>
        <p:spPr>
          <a:xfrm>
            <a:off x="548640" y="2606040"/>
            <a:ext cx="5212080" cy="3291840"/>
          </a:xfrm>
          <a:prstGeom prst="roundRect">
            <a:avLst>
              <a:gd name="adj" fmla="val 2778"/>
            </a:avLst>
          </a:prstGeom>
          <a:solidFill>
            <a:srgbClr val="2A3568"/>
          </a:solidFill>
          <a:ln w="12700">
            <a:solidFill>
              <a:srgbClr val="3E4E8C"/>
            </a:solidFill>
            <a:prstDash val="solid"/>
          </a:ln>
        </p:spPr>
        <p:txBody>
          <a:bodyPr/>
          <a:lstStyle/>
          <a:p>
            <a:endParaRPr lang="tr-TR"/>
          </a:p>
        </p:txBody>
      </p:sp>
      <p:sp>
        <p:nvSpPr>
          <p:cNvPr id="15" name="Shape 13"/>
          <p:cNvSpPr/>
          <p:nvPr/>
        </p:nvSpPr>
        <p:spPr>
          <a:xfrm>
            <a:off x="822960" y="2880360"/>
            <a:ext cx="548640" cy="548640"/>
          </a:xfrm>
          <a:prstGeom prst="ellipse">
            <a:avLst/>
          </a:prstGeom>
          <a:solidFill>
            <a:srgbClr val="065A82"/>
          </a:solidFill>
          <a:ln/>
        </p:spPr>
        <p:txBody>
          <a:bodyPr/>
          <a:lstStyle/>
          <a:p>
            <a:endParaRPr lang="tr-TR"/>
          </a:p>
        </p:txBody>
      </p:sp>
      <p:sp>
        <p:nvSpPr>
          <p:cNvPr id="16" name="Text 14"/>
          <p:cNvSpPr/>
          <p:nvPr/>
        </p:nvSpPr>
        <p:spPr>
          <a:xfrm>
            <a:off x="1554480" y="2926080"/>
            <a:ext cx="38404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Parallel Processing</a:t>
            </a:r>
            <a:endParaRPr lang="en-US" sz="1800" dirty="0"/>
          </a:p>
        </p:txBody>
      </p:sp>
      <p:sp>
        <p:nvSpPr>
          <p:cNvPr id="17" name="Shape 15"/>
          <p:cNvSpPr/>
          <p:nvPr/>
        </p:nvSpPr>
        <p:spPr>
          <a:xfrm>
            <a:off x="868680" y="3739896"/>
            <a:ext cx="73152" cy="73152"/>
          </a:xfrm>
          <a:prstGeom prst="ellipse">
            <a:avLst/>
          </a:prstGeom>
          <a:solidFill>
            <a:srgbClr val="065A82"/>
          </a:solidFill>
          <a:ln/>
        </p:spPr>
        <p:txBody>
          <a:bodyPr/>
          <a:lstStyle/>
          <a:p>
            <a:endParaRPr lang="tr-TR"/>
          </a:p>
        </p:txBody>
      </p:sp>
      <p:sp>
        <p:nvSpPr>
          <p:cNvPr id="18" name="Text 16"/>
          <p:cNvSpPr/>
          <p:nvPr/>
        </p:nvSpPr>
        <p:spPr>
          <a:xfrm>
            <a:off x="1097280" y="3657600"/>
            <a:ext cx="4389120" cy="502920"/>
          </a:xfrm>
          <a:prstGeom prst="rect">
            <a:avLst/>
          </a:prstGeom>
          <a:noFill/>
          <a:ln/>
        </p:spPr>
        <p:txBody>
          <a:bodyPr wrap="square" lIns="0" tIns="0" rIns="0" bIns="0" rtlCol="0" anchor="ctr"/>
          <a:lstStyle/>
          <a:p>
            <a:pPr marL="0" indent="0">
              <a:lnSpc>
                <a:spcPct val="110000"/>
              </a:lnSpc>
              <a:buNone/>
            </a:pPr>
            <a:r>
              <a:rPr lang="en-US" sz="1250" dirty="0">
                <a:solidFill>
                  <a:srgbClr val="D4DBF0"/>
                </a:solidFill>
                <a:latin typeface="Calibri" pitchFamily="34" charset="0"/>
                <a:ea typeface="Calibri" pitchFamily="34" charset="-122"/>
                <a:cs typeface="Calibri" pitchFamily="34" charset="-120"/>
              </a:rPr>
              <a:t>MapReduce / Hadoop (HDFS)</a:t>
            </a:r>
            <a:endParaRPr lang="en-US" sz="1250" dirty="0"/>
          </a:p>
        </p:txBody>
      </p:sp>
      <p:sp>
        <p:nvSpPr>
          <p:cNvPr id="19" name="Shape 17"/>
          <p:cNvSpPr/>
          <p:nvPr/>
        </p:nvSpPr>
        <p:spPr>
          <a:xfrm>
            <a:off x="868680" y="4288536"/>
            <a:ext cx="73152" cy="73152"/>
          </a:xfrm>
          <a:prstGeom prst="ellipse">
            <a:avLst/>
          </a:prstGeom>
          <a:solidFill>
            <a:srgbClr val="065A82"/>
          </a:solidFill>
          <a:ln/>
        </p:spPr>
        <p:txBody>
          <a:bodyPr/>
          <a:lstStyle/>
          <a:p>
            <a:endParaRPr lang="tr-TR"/>
          </a:p>
        </p:txBody>
      </p:sp>
      <p:sp>
        <p:nvSpPr>
          <p:cNvPr id="20" name="Text 18"/>
          <p:cNvSpPr/>
          <p:nvPr/>
        </p:nvSpPr>
        <p:spPr>
          <a:xfrm>
            <a:off x="1097280" y="4206240"/>
            <a:ext cx="4389120" cy="502920"/>
          </a:xfrm>
          <a:prstGeom prst="rect">
            <a:avLst/>
          </a:prstGeom>
          <a:noFill/>
          <a:ln/>
        </p:spPr>
        <p:txBody>
          <a:bodyPr wrap="square" lIns="0" tIns="0" rIns="0" bIns="0" rtlCol="0" anchor="ctr"/>
          <a:lstStyle/>
          <a:p>
            <a:pPr marL="0" indent="0">
              <a:lnSpc>
                <a:spcPct val="110000"/>
              </a:lnSpc>
              <a:buNone/>
            </a:pPr>
            <a:r>
              <a:rPr lang="en-US" sz="1250" dirty="0">
                <a:solidFill>
                  <a:srgbClr val="D4DBF0"/>
                </a:solidFill>
                <a:latin typeface="Calibri" pitchFamily="34" charset="0"/>
                <a:ea typeface="Calibri" pitchFamily="34" charset="-122"/>
                <a:cs typeface="Calibri" pitchFamily="34" charset="-120"/>
              </a:rPr>
              <a:t>Apache Spark (in-memory RDD)</a:t>
            </a:r>
            <a:endParaRPr lang="en-US" sz="1250" dirty="0"/>
          </a:p>
        </p:txBody>
      </p:sp>
      <p:sp>
        <p:nvSpPr>
          <p:cNvPr id="21" name="Shape 19"/>
          <p:cNvSpPr/>
          <p:nvPr/>
        </p:nvSpPr>
        <p:spPr>
          <a:xfrm>
            <a:off x="868680" y="4837176"/>
            <a:ext cx="73152" cy="73152"/>
          </a:xfrm>
          <a:prstGeom prst="ellipse">
            <a:avLst/>
          </a:prstGeom>
          <a:solidFill>
            <a:srgbClr val="065A82"/>
          </a:solidFill>
          <a:ln/>
        </p:spPr>
        <p:txBody>
          <a:bodyPr/>
          <a:lstStyle/>
          <a:p>
            <a:endParaRPr lang="tr-TR"/>
          </a:p>
        </p:txBody>
      </p:sp>
      <p:sp>
        <p:nvSpPr>
          <p:cNvPr id="22" name="Text 20"/>
          <p:cNvSpPr/>
          <p:nvPr/>
        </p:nvSpPr>
        <p:spPr>
          <a:xfrm>
            <a:off x="1097280" y="4754880"/>
            <a:ext cx="4389120" cy="502920"/>
          </a:xfrm>
          <a:prstGeom prst="rect">
            <a:avLst/>
          </a:prstGeom>
          <a:noFill/>
          <a:ln/>
        </p:spPr>
        <p:txBody>
          <a:bodyPr wrap="square" lIns="0" tIns="0" rIns="0" bIns="0" rtlCol="0" anchor="ctr"/>
          <a:lstStyle/>
          <a:p>
            <a:pPr marL="0" indent="0">
              <a:lnSpc>
                <a:spcPct val="110000"/>
              </a:lnSpc>
              <a:buNone/>
            </a:pPr>
            <a:r>
              <a:rPr lang="en-US" sz="1250" dirty="0">
                <a:solidFill>
                  <a:srgbClr val="D4DBF0"/>
                </a:solidFill>
                <a:latin typeface="Calibri" pitchFamily="34" charset="0"/>
                <a:ea typeface="Calibri" pitchFamily="34" charset="-122"/>
                <a:cs typeface="Calibri" pitchFamily="34" charset="-120"/>
              </a:rPr>
              <a:t>Graph engines: Pregel, Giraph, GraphX, GraphLab</a:t>
            </a:r>
            <a:endParaRPr lang="en-US" sz="1250" dirty="0"/>
          </a:p>
        </p:txBody>
      </p:sp>
      <p:sp>
        <p:nvSpPr>
          <p:cNvPr id="23" name="Shape 21"/>
          <p:cNvSpPr/>
          <p:nvPr/>
        </p:nvSpPr>
        <p:spPr>
          <a:xfrm>
            <a:off x="868680" y="5385816"/>
            <a:ext cx="73152" cy="73152"/>
          </a:xfrm>
          <a:prstGeom prst="ellipse">
            <a:avLst/>
          </a:prstGeom>
          <a:solidFill>
            <a:srgbClr val="065A82"/>
          </a:solidFill>
          <a:ln/>
        </p:spPr>
        <p:txBody>
          <a:bodyPr/>
          <a:lstStyle/>
          <a:p>
            <a:endParaRPr lang="tr-TR"/>
          </a:p>
        </p:txBody>
      </p:sp>
      <p:sp>
        <p:nvSpPr>
          <p:cNvPr id="24" name="Text 22"/>
          <p:cNvSpPr/>
          <p:nvPr/>
        </p:nvSpPr>
        <p:spPr>
          <a:xfrm>
            <a:off x="1097280" y="5303520"/>
            <a:ext cx="4389120" cy="502920"/>
          </a:xfrm>
          <a:prstGeom prst="rect">
            <a:avLst/>
          </a:prstGeom>
          <a:noFill/>
          <a:ln/>
        </p:spPr>
        <p:txBody>
          <a:bodyPr wrap="square" lIns="0" tIns="0" rIns="0" bIns="0" rtlCol="0" anchor="ctr"/>
          <a:lstStyle/>
          <a:p>
            <a:pPr marL="0" indent="0">
              <a:lnSpc>
                <a:spcPct val="110000"/>
              </a:lnSpc>
              <a:buNone/>
            </a:pPr>
            <a:r>
              <a:rPr lang="en-US" sz="1250" dirty="0">
                <a:solidFill>
                  <a:srgbClr val="D4DBF0"/>
                </a:solidFill>
                <a:latin typeface="Calibri" pitchFamily="34" charset="0"/>
                <a:ea typeface="Calibri" pitchFamily="34" charset="-122"/>
                <a:cs typeface="Calibri" pitchFamily="34" charset="-120"/>
              </a:rPr>
              <a:t>Scripting: Pig Latin, HiveQL</a:t>
            </a:r>
            <a:endParaRPr lang="en-US" sz="1250" dirty="0"/>
          </a:p>
        </p:txBody>
      </p:sp>
      <p:sp>
        <p:nvSpPr>
          <p:cNvPr id="25" name="Shape 23"/>
          <p:cNvSpPr/>
          <p:nvPr/>
        </p:nvSpPr>
        <p:spPr>
          <a:xfrm>
            <a:off x="6126480" y="2606040"/>
            <a:ext cx="5212080" cy="3291840"/>
          </a:xfrm>
          <a:prstGeom prst="roundRect">
            <a:avLst>
              <a:gd name="adj" fmla="val 2778"/>
            </a:avLst>
          </a:prstGeom>
          <a:solidFill>
            <a:srgbClr val="2A3568"/>
          </a:solidFill>
          <a:ln w="12700">
            <a:solidFill>
              <a:srgbClr val="3E4E8C"/>
            </a:solidFill>
            <a:prstDash val="solid"/>
          </a:ln>
        </p:spPr>
        <p:txBody>
          <a:bodyPr/>
          <a:lstStyle/>
          <a:p>
            <a:endParaRPr lang="tr-TR"/>
          </a:p>
        </p:txBody>
      </p:sp>
      <p:sp>
        <p:nvSpPr>
          <p:cNvPr id="26" name="Shape 24"/>
          <p:cNvSpPr/>
          <p:nvPr/>
        </p:nvSpPr>
        <p:spPr>
          <a:xfrm>
            <a:off x="6400800" y="2880360"/>
            <a:ext cx="548640" cy="548640"/>
          </a:xfrm>
          <a:prstGeom prst="ellipse">
            <a:avLst/>
          </a:prstGeom>
          <a:solidFill>
            <a:srgbClr val="1C7293"/>
          </a:solidFill>
          <a:ln/>
        </p:spPr>
        <p:txBody>
          <a:bodyPr/>
          <a:lstStyle/>
          <a:p>
            <a:endParaRPr lang="tr-TR"/>
          </a:p>
        </p:txBody>
      </p:sp>
      <p:sp>
        <p:nvSpPr>
          <p:cNvPr id="27" name="Text 25"/>
          <p:cNvSpPr/>
          <p:nvPr/>
        </p:nvSpPr>
        <p:spPr>
          <a:xfrm>
            <a:off x="7132320" y="2926080"/>
            <a:ext cx="38404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NoSQL Databases</a:t>
            </a:r>
            <a:endParaRPr lang="en-US" sz="1800" dirty="0"/>
          </a:p>
        </p:txBody>
      </p:sp>
      <p:sp>
        <p:nvSpPr>
          <p:cNvPr id="28" name="Shape 26"/>
          <p:cNvSpPr/>
          <p:nvPr/>
        </p:nvSpPr>
        <p:spPr>
          <a:xfrm>
            <a:off x="6446520" y="3739896"/>
            <a:ext cx="73152" cy="73152"/>
          </a:xfrm>
          <a:prstGeom prst="ellipse">
            <a:avLst/>
          </a:prstGeom>
          <a:solidFill>
            <a:srgbClr val="1C7293"/>
          </a:solidFill>
          <a:ln/>
        </p:spPr>
        <p:txBody>
          <a:bodyPr/>
          <a:lstStyle/>
          <a:p>
            <a:endParaRPr lang="tr-TR"/>
          </a:p>
        </p:txBody>
      </p:sp>
      <p:sp>
        <p:nvSpPr>
          <p:cNvPr id="29" name="Text 27"/>
          <p:cNvSpPr/>
          <p:nvPr/>
        </p:nvSpPr>
        <p:spPr>
          <a:xfrm>
            <a:off x="6675120" y="3657600"/>
            <a:ext cx="4389120" cy="502920"/>
          </a:xfrm>
          <a:prstGeom prst="rect">
            <a:avLst/>
          </a:prstGeom>
          <a:noFill/>
          <a:ln/>
        </p:spPr>
        <p:txBody>
          <a:bodyPr wrap="square" lIns="0" tIns="0" rIns="0" bIns="0" rtlCol="0" anchor="ctr"/>
          <a:lstStyle/>
          <a:p>
            <a:pPr marL="0" indent="0">
              <a:lnSpc>
                <a:spcPct val="110000"/>
              </a:lnSpc>
              <a:buNone/>
            </a:pPr>
            <a:r>
              <a:rPr lang="en-US" sz="1250" dirty="0">
                <a:solidFill>
                  <a:srgbClr val="D4DBF0"/>
                </a:solidFill>
                <a:latin typeface="Calibri" pitchFamily="34" charset="0"/>
                <a:ea typeface="Calibri" pitchFamily="34" charset="-122"/>
                <a:cs typeface="Calibri" pitchFamily="34" charset="-120"/>
              </a:rPr>
              <a:t>Tabular: HBase, Cassandra, MongoDB, Accumulo</a:t>
            </a:r>
            <a:endParaRPr lang="en-US" sz="1250" dirty="0"/>
          </a:p>
        </p:txBody>
      </p:sp>
      <p:sp>
        <p:nvSpPr>
          <p:cNvPr id="30" name="Shape 28"/>
          <p:cNvSpPr/>
          <p:nvPr/>
        </p:nvSpPr>
        <p:spPr>
          <a:xfrm>
            <a:off x="6446520" y="4288536"/>
            <a:ext cx="73152" cy="73152"/>
          </a:xfrm>
          <a:prstGeom prst="ellipse">
            <a:avLst/>
          </a:prstGeom>
          <a:solidFill>
            <a:srgbClr val="1C7293"/>
          </a:solidFill>
          <a:ln/>
        </p:spPr>
        <p:txBody>
          <a:bodyPr/>
          <a:lstStyle/>
          <a:p>
            <a:endParaRPr lang="tr-TR"/>
          </a:p>
        </p:txBody>
      </p:sp>
      <p:sp>
        <p:nvSpPr>
          <p:cNvPr id="31" name="Text 29"/>
          <p:cNvSpPr/>
          <p:nvPr/>
        </p:nvSpPr>
        <p:spPr>
          <a:xfrm>
            <a:off x="6675120" y="4206240"/>
            <a:ext cx="4389120" cy="502920"/>
          </a:xfrm>
          <a:prstGeom prst="rect">
            <a:avLst/>
          </a:prstGeom>
          <a:noFill/>
          <a:ln/>
        </p:spPr>
        <p:txBody>
          <a:bodyPr wrap="square" lIns="0" tIns="0" rIns="0" bIns="0" rtlCol="0" anchor="ctr"/>
          <a:lstStyle/>
          <a:p>
            <a:pPr marL="0" indent="0">
              <a:lnSpc>
                <a:spcPct val="110000"/>
              </a:lnSpc>
              <a:buNone/>
            </a:pPr>
            <a:r>
              <a:rPr lang="en-US" sz="1250" dirty="0">
                <a:solidFill>
                  <a:srgbClr val="D4DBF0"/>
                </a:solidFill>
                <a:latin typeface="Calibri" pitchFamily="34" charset="0"/>
                <a:ea typeface="Calibri" pitchFamily="34" charset="-122"/>
                <a:cs typeface="Calibri" pitchFamily="34" charset="-120"/>
              </a:rPr>
              <a:t>Graph DBs: Neo4j, DEX, Titan, HyperGraphDB</a:t>
            </a:r>
            <a:endParaRPr lang="en-US" sz="1250" dirty="0"/>
          </a:p>
        </p:txBody>
      </p:sp>
      <p:sp>
        <p:nvSpPr>
          <p:cNvPr id="32" name="Shape 30"/>
          <p:cNvSpPr/>
          <p:nvPr/>
        </p:nvSpPr>
        <p:spPr>
          <a:xfrm>
            <a:off x="6446520" y="4837176"/>
            <a:ext cx="73152" cy="73152"/>
          </a:xfrm>
          <a:prstGeom prst="ellipse">
            <a:avLst/>
          </a:prstGeom>
          <a:solidFill>
            <a:srgbClr val="1C7293"/>
          </a:solidFill>
          <a:ln/>
        </p:spPr>
        <p:txBody>
          <a:bodyPr/>
          <a:lstStyle/>
          <a:p>
            <a:endParaRPr lang="tr-TR"/>
          </a:p>
        </p:txBody>
      </p:sp>
      <p:sp>
        <p:nvSpPr>
          <p:cNvPr id="33" name="Text 31"/>
          <p:cNvSpPr/>
          <p:nvPr/>
        </p:nvSpPr>
        <p:spPr>
          <a:xfrm>
            <a:off x="6675120" y="4754880"/>
            <a:ext cx="4389120" cy="502920"/>
          </a:xfrm>
          <a:prstGeom prst="rect">
            <a:avLst/>
          </a:prstGeom>
          <a:noFill/>
          <a:ln/>
        </p:spPr>
        <p:txBody>
          <a:bodyPr wrap="square" lIns="0" tIns="0" rIns="0" bIns="0" rtlCol="0" anchor="ctr"/>
          <a:lstStyle/>
          <a:p>
            <a:pPr marL="0" indent="0">
              <a:lnSpc>
                <a:spcPct val="110000"/>
              </a:lnSpc>
              <a:buNone/>
            </a:pPr>
            <a:r>
              <a:rPr lang="en-US" sz="1250" dirty="0">
                <a:solidFill>
                  <a:srgbClr val="D4DBF0"/>
                </a:solidFill>
                <a:latin typeface="Calibri" pitchFamily="34" charset="0"/>
                <a:ea typeface="Calibri" pitchFamily="34" charset="-122"/>
                <a:cs typeface="Calibri" pitchFamily="34" charset="-120"/>
              </a:rPr>
              <a:t>Graph query languages: Cypher, Gremlin, GraphQL</a:t>
            </a:r>
            <a:endParaRPr lang="en-US" sz="1250" dirty="0"/>
          </a:p>
        </p:txBody>
      </p:sp>
      <p:sp>
        <p:nvSpPr>
          <p:cNvPr id="34" name="Text 32"/>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AEB9D6"/>
                </a:solidFill>
                <a:latin typeface="Calibri" pitchFamily="34" charset="0"/>
                <a:ea typeface="Calibri" pitchFamily="34" charset="-122"/>
                <a:cs typeface="Calibri" pitchFamily="34" charset="-120"/>
              </a:rPr>
              <a:t>Kulcu, Dogdu &amp; Ozbayoglu — IEEE Big Data 2016</a:t>
            </a:r>
            <a:endParaRPr lang="en-US" sz="900" dirty="0"/>
          </a:p>
        </p:txBody>
      </p:sp>
      <p:sp>
        <p:nvSpPr>
          <p:cNvPr id="35" name="Text 33"/>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AEB9D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Spark vs. Hadoop MapReduce</a:t>
            </a:r>
            <a:endParaRPr lang="en-US" sz="3200" dirty="0"/>
          </a:p>
        </p:txBody>
      </p:sp>
      <p:sp>
        <p:nvSpPr>
          <p:cNvPr id="3" name="Text 1"/>
          <p:cNvSpPr/>
          <p:nvPr/>
        </p:nvSpPr>
        <p:spPr>
          <a:xfrm>
            <a:off x="548640" y="960120"/>
            <a:ext cx="10515600" cy="32004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Why the field is porting RDF &amp; graph workloads away from batch MapReduce</a:t>
            </a:r>
            <a:endParaRPr lang="en-US" sz="1400" dirty="0"/>
          </a:p>
        </p:txBody>
      </p:sp>
      <p:graphicFrame>
        <p:nvGraphicFramePr>
          <p:cNvPr id="4" name="Chart 0"/>
          <p:cNvGraphicFramePr/>
          <p:nvPr/>
        </p:nvGraphicFramePr>
        <p:xfrm>
          <a:off x="548640" y="1508760"/>
          <a:ext cx="53949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172200" y="1554480"/>
            <a:ext cx="5394960" cy="365760"/>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Why Spark wins for RDF/graph workloads</a:t>
            </a:r>
            <a:endParaRPr lang="en-US" sz="1500" dirty="0"/>
          </a:p>
        </p:txBody>
      </p:sp>
      <p:sp>
        <p:nvSpPr>
          <p:cNvPr id="6" name="Text 3"/>
          <p:cNvSpPr/>
          <p:nvPr/>
        </p:nvSpPr>
        <p:spPr>
          <a:xfrm>
            <a:off x="6172200" y="2011680"/>
            <a:ext cx="5394960" cy="310896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50" dirty="0">
                <a:solidFill>
                  <a:srgbClr val="1B2436"/>
                </a:solidFill>
                <a:latin typeface="Calibri" pitchFamily="34" charset="0"/>
                <a:ea typeface="Calibri" pitchFamily="34" charset="-122"/>
                <a:cs typeface="Calibri" pitchFamily="34" charset="-120"/>
              </a:rPr>
              <a:t>In-memory RDDs avoid repeated HDFS read/write between iterations</a:t>
            </a:r>
            <a:endParaRPr lang="en-US" sz="1250" dirty="0"/>
          </a:p>
          <a:p>
            <a:pPr marL="342900" indent="-342900">
              <a:lnSpc>
                <a:spcPct val="120000"/>
              </a:lnSpc>
              <a:spcAft>
                <a:spcPts val="1000"/>
              </a:spcAft>
              <a:buSzPct val="100000"/>
              <a:buChar char="•"/>
            </a:pPr>
            <a:r>
              <a:rPr lang="en-US" sz="1250" dirty="0">
                <a:solidFill>
                  <a:srgbClr val="1B2436"/>
                </a:solidFill>
                <a:latin typeface="Calibri" pitchFamily="34" charset="0"/>
                <a:ea typeface="Calibri" pitchFamily="34" charset="-122"/>
                <a:cs typeface="Calibri" pitchFamily="34" charset="-120"/>
              </a:rPr>
              <a:t>Native support for iterative computation — critical for graph algorithms</a:t>
            </a:r>
            <a:endParaRPr lang="en-US" sz="1250" dirty="0"/>
          </a:p>
          <a:p>
            <a:pPr marL="342900" indent="-342900">
              <a:lnSpc>
                <a:spcPct val="120000"/>
              </a:lnSpc>
              <a:spcAft>
                <a:spcPts val="1000"/>
              </a:spcAft>
              <a:buSzPct val="100000"/>
              <a:buChar char="•"/>
            </a:pPr>
            <a:r>
              <a:rPr lang="en-US" sz="1250" dirty="0">
                <a:solidFill>
                  <a:srgbClr val="1B2436"/>
                </a:solidFill>
                <a:latin typeface="Calibri" pitchFamily="34" charset="0"/>
                <a:ea typeface="Calibri" pitchFamily="34" charset="-122"/>
                <a:cs typeface="Calibri" pitchFamily="34" charset="-120"/>
              </a:rPr>
              <a:t>GraphX (Spark) reported up to 8× faster than Hadoop MapReduce</a:t>
            </a:r>
            <a:endParaRPr lang="en-US" sz="1250" dirty="0"/>
          </a:p>
          <a:p>
            <a:pPr marL="342900" indent="-342900">
              <a:lnSpc>
                <a:spcPct val="120000"/>
              </a:lnSpc>
              <a:spcAft>
                <a:spcPts val="1000"/>
              </a:spcAft>
              <a:buSzPct val="100000"/>
              <a:buChar char="•"/>
            </a:pPr>
            <a:r>
              <a:rPr lang="en-US" sz="1250" dirty="0">
                <a:solidFill>
                  <a:srgbClr val="1B2436"/>
                </a:solidFill>
                <a:latin typeface="Calibri" pitchFamily="34" charset="0"/>
                <a:ea typeface="Calibri" pitchFamily="34" charset="-122"/>
                <a:cs typeface="Calibri" pitchFamily="34" charset="-120"/>
              </a:rPr>
              <a:t>Facebook migrated production RDF/graph pipelines from Hive to Spark</a:t>
            </a:r>
            <a:endParaRPr lang="en-US" sz="1250" dirty="0"/>
          </a:p>
          <a:p>
            <a:pPr marL="342900" indent="-342900">
              <a:lnSpc>
                <a:spcPct val="120000"/>
              </a:lnSpc>
              <a:buSzPct val="100000"/>
              <a:buChar char="•"/>
            </a:pPr>
            <a:r>
              <a:rPr lang="en-US" sz="1250" dirty="0">
                <a:solidFill>
                  <a:srgbClr val="1B2436"/>
                </a:solidFill>
                <a:latin typeface="Calibri" pitchFamily="34" charset="0"/>
                <a:ea typeface="Calibri" pitchFamily="34" charset="-122"/>
                <a:cs typeface="Calibri" pitchFamily="34" charset="-120"/>
              </a:rPr>
              <a:t>Hadoop MapReduce remains preferred for large batch jobs where the full graph can't fit in memory</a:t>
            </a:r>
            <a:endParaRPr lang="en-US" sz="1250" dirty="0"/>
          </a:p>
        </p:txBody>
      </p:sp>
      <p:sp>
        <p:nvSpPr>
          <p:cNvPr id="7" name="Text 4"/>
          <p:cNvSpPr/>
          <p:nvPr/>
        </p:nvSpPr>
        <p:spPr>
          <a:xfrm>
            <a:off x="548640" y="5074920"/>
            <a:ext cx="10515600" cy="320040"/>
          </a:xfrm>
          <a:prstGeom prst="rect">
            <a:avLst/>
          </a:prstGeom>
          <a:noFill/>
          <a:ln/>
        </p:spPr>
        <p:txBody>
          <a:bodyPr wrap="square" lIns="0" tIns="0" rIns="0" bIns="0" rtlCol="0" anchor="ctr"/>
          <a:lstStyle/>
          <a:p>
            <a:pPr marL="0" indent="0">
              <a:buNone/>
            </a:pPr>
            <a:r>
              <a:rPr lang="en-US" sz="950" i="1" dirty="0">
                <a:solidFill>
                  <a:srgbClr val="6B7A99"/>
                </a:solidFill>
                <a:latin typeface="Calibri" pitchFamily="34" charset="0"/>
                <a:ea typeface="Calibri" pitchFamily="34" charset="-122"/>
                <a:cs typeface="Calibri" pitchFamily="34" charset="-120"/>
              </a:rPr>
              <a:t>Figures are illustrative, aggregated from claims cited across the surveyed literature.</a:t>
            </a:r>
            <a:endParaRPr lang="en-US" sz="950" dirty="0"/>
          </a:p>
        </p:txBody>
      </p:sp>
      <p:sp>
        <p:nvSpPr>
          <p:cNvPr id="8" name="Text 5"/>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9" name="Text 6"/>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What Big Platforms Actually Use</a:t>
            </a:r>
            <a:endParaRPr lang="en-US" sz="3200" dirty="0"/>
          </a:p>
        </p:txBody>
      </p:sp>
      <p:sp>
        <p:nvSpPr>
          <p:cNvPr id="3" name="Text 1"/>
          <p:cNvSpPr/>
          <p:nvPr/>
        </p:nvSpPr>
        <p:spPr>
          <a:xfrm>
            <a:off x="548640" y="960120"/>
            <a:ext cx="9144000" cy="32004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Big data technologies behind major social network services</a:t>
            </a:r>
            <a:endParaRPr lang="en-US" sz="1400" dirty="0"/>
          </a:p>
        </p:txBody>
      </p:sp>
      <p:sp>
        <p:nvSpPr>
          <p:cNvPr id="4" name="Shape 2"/>
          <p:cNvSpPr/>
          <p:nvPr/>
        </p:nvSpPr>
        <p:spPr>
          <a:xfrm>
            <a:off x="548640" y="1554480"/>
            <a:ext cx="10789920" cy="457200"/>
          </a:xfrm>
          <a:prstGeom prst="rect">
            <a:avLst/>
          </a:prstGeom>
          <a:solidFill>
            <a:srgbClr val="21295C"/>
          </a:solidFill>
          <a:ln/>
        </p:spPr>
        <p:txBody>
          <a:bodyPr/>
          <a:lstStyle/>
          <a:p>
            <a:endParaRPr lang="tr-TR"/>
          </a:p>
        </p:txBody>
      </p:sp>
      <p:sp>
        <p:nvSpPr>
          <p:cNvPr id="5" name="Text 3"/>
          <p:cNvSpPr/>
          <p:nvPr/>
        </p:nvSpPr>
        <p:spPr>
          <a:xfrm>
            <a:off x="731520" y="1554480"/>
            <a:ext cx="32004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p>
        </p:txBody>
      </p:sp>
      <p:sp>
        <p:nvSpPr>
          <p:cNvPr id="6" name="Text 4"/>
          <p:cNvSpPr/>
          <p:nvPr/>
        </p:nvSpPr>
        <p:spPr>
          <a:xfrm>
            <a:off x="4206240" y="1554480"/>
            <a:ext cx="694944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Big Data Technologies Used</a:t>
            </a:r>
            <a:endParaRPr lang="en-US" sz="1300" dirty="0"/>
          </a:p>
        </p:txBody>
      </p:sp>
      <p:sp>
        <p:nvSpPr>
          <p:cNvPr id="7" name="Shape 5"/>
          <p:cNvSpPr/>
          <p:nvPr/>
        </p:nvSpPr>
        <p:spPr>
          <a:xfrm>
            <a:off x="548640" y="2011680"/>
            <a:ext cx="10789920" cy="457200"/>
          </a:xfrm>
          <a:prstGeom prst="rect">
            <a:avLst/>
          </a:prstGeom>
          <a:solidFill>
            <a:srgbClr val="FFFFFF"/>
          </a:solidFill>
          <a:ln/>
        </p:spPr>
        <p:txBody>
          <a:bodyPr/>
          <a:lstStyle/>
          <a:p>
            <a:endParaRPr lang="tr-TR"/>
          </a:p>
        </p:txBody>
      </p:sp>
      <p:sp>
        <p:nvSpPr>
          <p:cNvPr id="8" name="Text 6"/>
          <p:cNvSpPr/>
          <p:nvPr/>
        </p:nvSpPr>
        <p:spPr>
          <a:xfrm>
            <a:off x="731520" y="2011680"/>
            <a:ext cx="3200400" cy="45720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Facebook</a:t>
            </a:r>
            <a:endParaRPr lang="en-US" sz="1250" dirty="0"/>
          </a:p>
        </p:txBody>
      </p:sp>
      <p:sp>
        <p:nvSpPr>
          <p:cNvPr id="9" name="Text 7"/>
          <p:cNvSpPr/>
          <p:nvPr/>
        </p:nvSpPr>
        <p:spPr>
          <a:xfrm>
            <a:off x="4206240" y="2011680"/>
            <a:ext cx="6949440" cy="457200"/>
          </a:xfrm>
          <a:prstGeom prst="rect">
            <a:avLst/>
          </a:prstGeom>
          <a:noFill/>
          <a:ln/>
        </p:spPr>
        <p:txBody>
          <a:bodyPr wrap="square" lIns="0" tIns="0" rIns="0" bIns="0" rtlCol="0" anchor="ctr"/>
          <a:lstStyle/>
          <a:p>
            <a:pPr marL="0" indent="0">
              <a:buNone/>
            </a:pPr>
            <a:r>
              <a:rPr lang="en-US" sz="1200" dirty="0">
                <a:solidFill>
                  <a:srgbClr val="1B2436"/>
                </a:solidFill>
                <a:latin typeface="Calibri" pitchFamily="34" charset="0"/>
                <a:ea typeface="Calibri" pitchFamily="34" charset="-122"/>
                <a:cs typeface="Calibri" pitchFamily="34" charset="-120"/>
              </a:rPr>
              <a:t>Cassandra, HBase, Giraph, Presto, Neo4j</a:t>
            </a:r>
            <a:endParaRPr lang="en-US" sz="1200" dirty="0"/>
          </a:p>
        </p:txBody>
      </p:sp>
      <p:sp>
        <p:nvSpPr>
          <p:cNvPr id="10" name="Shape 8"/>
          <p:cNvSpPr/>
          <p:nvPr/>
        </p:nvSpPr>
        <p:spPr>
          <a:xfrm>
            <a:off x="548640" y="2468880"/>
            <a:ext cx="10789920" cy="457200"/>
          </a:xfrm>
          <a:prstGeom prst="rect">
            <a:avLst/>
          </a:prstGeom>
          <a:solidFill>
            <a:srgbClr val="EAF0F8"/>
          </a:solidFill>
          <a:ln/>
        </p:spPr>
        <p:txBody>
          <a:bodyPr/>
          <a:lstStyle/>
          <a:p>
            <a:endParaRPr lang="tr-TR"/>
          </a:p>
        </p:txBody>
      </p:sp>
      <p:sp>
        <p:nvSpPr>
          <p:cNvPr id="11" name="Text 9"/>
          <p:cNvSpPr/>
          <p:nvPr/>
        </p:nvSpPr>
        <p:spPr>
          <a:xfrm>
            <a:off x="731520" y="2468880"/>
            <a:ext cx="3200400" cy="45720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Twitter</a:t>
            </a:r>
            <a:endParaRPr lang="en-US" sz="1250" dirty="0"/>
          </a:p>
        </p:txBody>
      </p:sp>
      <p:sp>
        <p:nvSpPr>
          <p:cNvPr id="12" name="Text 10"/>
          <p:cNvSpPr/>
          <p:nvPr/>
        </p:nvSpPr>
        <p:spPr>
          <a:xfrm>
            <a:off x="4206240" y="2468880"/>
            <a:ext cx="6949440" cy="457200"/>
          </a:xfrm>
          <a:prstGeom prst="rect">
            <a:avLst/>
          </a:prstGeom>
          <a:noFill/>
          <a:ln/>
        </p:spPr>
        <p:txBody>
          <a:bodyPr wrap="square" lIns="0" tIns="0" rIns="0" bIns="0" rtlCol="0" anchor="ctr"/>
          <a:lstStyle/>
          <a:p>
            <a:pPr marL="0" indent="0">
              <a:buNone/>
            </a:pPr>
            <a:r>
              <a:rPr lang="en-US" sz="1200" dirty="0">
                <a:solidFill>
                  <a:srgbClr val="1B2436"/>
                </a:solidFill>
                <a:latin typeface="Calibri" pitchFamily="34" charset="0"/>
                <a:ea typeface="Calibri" pitchFamily="34" charset="-122"/>
                <a:cs typeface="Calibri" pitchFamily="34" charset="-120"/>
              </a:rPr>
              <a:t>Cassandra, FlockDB, HBase, Neo4j, Pig</a:t>
            </a:r>
            <a:endParaRPr lang="en-US" sz="1200" dirty="0"/>
          </a:p>
        </p:txBody>
      </p:sp>
      <p:sp>
        <p:nvSpPr>
          <p:cNvPr id="13" name="Shape 11"/>
          <p:cNvSpPr/>
          <p:nvPr/>
        </p:nvSpPr>
        <p:spPr>
          <a:xfrm>
            <a:off x="548640" y="2926080"/>
            <a:ext cx="10789920" cy="457200"/>
          </a:xfrm>
          <a:prstGeom prst="rect">
            <a:avLst/>
          </a:prstGeom>
          <a:solidFill>
            <a:srgbClr val="FFFFFF"/>
          </a:solidFill>
          <a:ln/>
        </p:spPr>
        <p:txBody>
          <a:bodyPr/>
          <a:lstStyle/>
          <a:p>
            <a:endParaRPr lang="tr-TR"/>
          </a:p>
        </p:txBody>
      </p:sp>
      <p:sp>
        <p:nvSpPr>
          <p:cNvPr id="14" name="Text 12"/>
          <p:cNvSpPr/>
          <p:nvPr/>
        </p:nvSpPr>
        <p:spPr>
          <a:xfrm>
            <a:off x="731520" y="2926080"/>
            <a:ext cx="3200400" cy="45720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LinkedIn</a:t>
            </a:r>
            <a:endParaRPr lang="en-US" sz="1250" dirty="0"/>
          </a:p>
        </p:txBody>
      </p:sp>
      <p:sp>
        <p:nvSpPr>
          <p:cNvPr id="15" name="Text 13"/>
          <p:cNvSpPr/>
          <p:nvPr/>
        </p:nvSpPr>
        <p:spPr>
          <a:xfrm>
            <a:off x="4206240" y="2926080"/>
            <a:ext cx="6949440" cy="457200"/>
          </a:xfrm>
          <a:prstGeom prst="rect">
            <a:avLst/>
          </a:prstGeom>
          <a:noFill/>
          <a:ln/>
        </p:spPr>
        <p:txBody>
          <a:bodyPr wrap="square" lIns="0" tIns="0" rIns="0" bIns="0" rtlCol="0" anchor="ctr"/>
          <a:lstStyle/>
          <a:p>
            <a:pPr marL="0" indent="0">
              <a:buNone/>
            </a:pPr>
            <a:r>
              <a:rPr lang="en-US" sz="1200" dirty="0">
                <a:solidFill>
                  <a:srgbClr val="1B2436"/>
                </a:solidFill>
                <a:latin typeface="Calibri" pitchFamily="34" charset="0"/>
                <a:ea typeface="Calibri" pitchFamily="34" charset="-122"/>
                <a:cs typeface="Calibri" pitchFamily="34" charset="-120"/>
              </a:rPr>
              <a:t>AllegroGraph, HBase, MongoDB, Neo4j</a:t>
            </a:r>
            <a:endParaRPr lang="en-US" sz="1200" dirty="0"/>
          </a:p>
        </p:txBody>
      </p:sp>
      <p:sp>
        <p:nvSpPr>
          <p:cNvPr id="16" name="Shape 14"/>
          <p:cNvSpPr/>
          <p:nvPr/>
        </p:nvSpPr>
        <p:spPr>
          <a:xfrm>
            <a:off x="548640" y="3383280"/>
            <a:ext cx="10789920" cy="457200"/>
          </a:xfrm>
          <a:prstGeom prst="rect">
            <a:avLst/>
          </a:prstGeom>
          <a:solidFill>
            <a:srgbClr val="EAF0F8"/>
          </a:solidFill>
          <a:ln/>
        </p:spPr>
        <p:txBody>
          <a:bodyPr/>
          <a:lstStyle/>
          <a:p>
            <a:endParaRPr lang="tr-TR"/>
          </a:p>
        </p:txBody>
      </p:sp>
      <p:sp>
        <p:nvSpPr>
          <p:cNvPr id="17" name="Text 15"/>
          <p:cNvSpPr/>
          <p:nvPr/>
        </p:nvSpPr>
        <p:spPr>
          <a:xfrm>
            <a:off x="731520" y="3383280"/>
            <a:ext cx="3200400" cy="45720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Amazon</a:t>
            </a:r>
            <a:endParaRPr lang="en-US" sz="1250" dirty="0"/>
          </a:p>
        </p:txBody>
      </p:sp>
      <p:sp>
        <p:nvSpPr>
          <p:cNvPr id="18" name="Text 16"/>
          <p:cNvSpPr/>
          <p:nvPr/>
        </p:nvSpPr>
        <p:spPr>
          <a:xfrm>
            <a:off x="4206240" y="3383280"/>
            <a:ext cx="6949440" cy="457200"/>
          </a:xfrm>
          <a:prstGeom prst="rect">
            <a:avLst/>
          </a:prstGeom>
          <a:noFill/>
          <a:ln/>
        </p:spPr>
        <p:txBody>
          <a:bodyPr wrap="square" lIns="0" tIns="0" rIns="0" bIns="0" rtlCol="0" anchor="ctr"/>
          <a:lstStyle/>
          <a:p>
            <a:pPr marL="0" indent="0">
              <a:buNone/>
            </a:pPr>
            <a:r>
              <a:rPr lang="en-US" sz="1200" dirty="0">
                <a:solidFill>
                  <a:srgbClr val="1B2436"/>
                </a:solidFill>
                <a:latin typeface="Calibri" pitchFamily="34" charset="0"/>
                <a:ea typeface="Calibri" pitchFamily="34" charset="-122"/>
                <a:cs typeface="Calibri" pitchFamily="34" charset="-120"/>
              </a:rPr>
              <a:t>DynamoDB, SimpleDB</a:t>
            </a:r>
            <a:endParaRPr lang="en-US" sz="1200" dirty="0"/>
          </a:p>
        </p:txBody>
      </p:sp>
      <p:sp>
        <p:nvSpPr>
          <p:cNvPr id="19" name="Shape 17"/>
          <p:cNvSpPr/>
          <p:nvPr/>
        </p:nvSpPr>
        <p:spPr>
          <a:xfrm>
            <a:off x="548640" y="3840480"/>
            <a:ext cx="10789920" cy="457200"/>
          </a:xfrm>
          <a:prstGeom prst="rect">
            <a:avLst/>
          </a:prstGeom>
          <a:solidFill>
            <a:srgbClr val="FFFFFF"/>
          </a:solidFill>
          <a:ln/>
        </p:spPr>
        <p:txBody>
          <a:bodyPr/>
          <a:lstStyle/>
          <a:p>
            <a:endParaRPr lang="tr-TR"/>
          </a:p>
        </p:txBody>
      </p:sp>
      <p:sp>
        <p:nvSpPr>
          <p:cNvPr id="20" name="Text 18"/>
          <p:cNvSpPr/>
          <p:nvPr/>
        </p:nvSpPr>
        <p:spPr>
          <a:xfrm>
            <a:off x="731520" y="3840480"/>
            <a:ext cx="3200400" cy="45720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eBay</a:t>
            </a:r>
            <a:endParaRPr lang="en-US" sz="1250" dirty="0"/>
          </a:p>
        </p:txBody>
      </p:sp>
      <p:sp>
        <p:nvSpPr>
          <p:cNvPr id="21" name="Text 19"/>
          <p:cNvSpPr/>
          <p:nvPr/>
        </p:nvSpPr>
        <p:spPr>
          <a:xfrm>
            <a:off x="4206240" y="3840480"/>
            <a:ext cx="6949440" cy="457200"/>
          </a:xfrm>
          <a:prstGeom prst="rect">
            <a:avLst/>
          </a:prstGeom>
          <a:noFill/>
          <a:ln/>
        </p:spPr>
        <p:txBody>
          <a:bodyPr wrap="square" lIns="0" tIns="0" rIns="0" bIns="0" rtlCol="0" anchor="ctr"/>
          <a:lstStyle/>
          <a:p>
            <a:pPr marL="0" indent="0">
              <a:buNone/>
            </a:pPr>
            <a:r>
              <a:rPr lang="en-US" sz="1200" dirty="0">
                <a:solidFill>
                  <a:srgbClr val="1B2436"/>
                </a:solidFill>
                <a:latin typeface="Calibri" pitchFamily="34" charset="0"/>
                <a:ea typeface="Calibri" pitchFamily="34" charset="-122"/>
                <a:cs typeface="Calibri" pitchFamily="34" charset="-120"/>
              </a:rPr>
              <a:t>MongoDB, Neo4j</a:t>
            </a:r>
            <a:endParaRPr lang="en-US" sz="1200" dirty="0"/>
          </a:p>
        </p:txBody>
      </p:sp>
      <p:sp>
        <p:nvSpPr>
          <p:cNvPr id="22" name="Shape 20"/>
          <p:cNvSpPr/>
          <p:nvPr/>
        </p:nvSpPr>
        <p:spPr>
          <a:xfrm>
            <a:off x="548640" y="4297680"/>
            <a:ext cx="10789920" cy="457200"/>
          </a:xfrm>
          <a:prstGeom prst="rect">
            <a:avLst/>
          </a:prstGeom>
          <a:solidFill>
            <a:srgbClr val="EAF0F8"/>
          </a:solidFill>
          <a:ln/>
        </p:spPr>
        <p:txBody>
          <a:bodyPr/>
          <a:lstStyle/>
          <a:p>
            <a:endParaRPr lang="tr-TR"/>
          </a:p>
        </p:txBody>
      </p:sp>
      <p:sp>
        <p:nvSpPr>
          <p:cNvPr id="23" name="Text 21"/>
          <p:cNvSpPr/>
          <p:nvPr/>
        </p:nvSpPr>
        <p:spPr>
          <a:xfrm>
            <a:off x="731520" y="4297680"/>
            <a:ext cx="3200400" cy="45720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Google+ / YouTube</a:t>
            </a:r>
            <a:endParaRPr lang="en-US" sz="1250" dirty="0"/>
          </a:p>
        </p:txBody>
      </p:sp>
      <p:sp>
        <p:nvSpPr>
          <p:cNvPr id="24" name="Text 22"/>
          <p:cNvSpPr/>
          <p:nvPr/>
        </p:nvSpPr>
        <p:spPr>
          <a:xfrm>
            <a:off x="4206240" y="4297680"/>
            <a:ext cx="6949440" cy="457200"/>
          </a:xfrm>
          <a:prstGeom prst="rect">
            <a:avLst/>
          </a:prstGeom>
          <a:noFill/>
          <a:ln/>
        </p:spPr>
        <p:txBody>
          <a:bodyPr wrap="square" lIns="0" tIns="0" rIns="0" bIns="0" rtlCol="0" anchor="ctr"/>
          <a:lstStyle/>
          <a:p>
            <a:pPr marL="0" indent="0">
              <a:buNone/>
            </a:pPr>
            <a:r>
              <a:rPr lang="en-US" sz="1200" dirty="0">
                <a:solidFill>
                  <a:srgbClr val="1B2436"/>
                </a:solidFill>
                <a:latin typeface="Calibri" pitchFamily="34" charset="0"/>
                <a:ea typeface="Calibri" pitchFamily="34" charset="-122"/>
                <a:cs typeface="Calibri" pitchFamily="34" charset="-120"/>
              </a:rPr>
              <a:t>BigTable</a:t>
            </a:r>
            <a:endParaRPr lang="en-US" sz="1200" dirty="0"/>
          </a:p>
        </p:txBody>
      </p:sp>
      <p:sp>
        <p:nvSpPr>
          <p:cNvPr id="25" name="Shape 23"/>
          <p:cNvSpPr/>
          <p:nvPr/>
        </p:nvSpPr>
        <p:spPr>
          <a:xfrm>
            <a:off x="548640" y="4754880"/>
            <a:ext cx="10789920" cy="457200"/>
          </a:xfrm>
          <a:prstGeom prst="rect">
            <a:avLst/>
          </a:prstGeom>
          <a:solidFill>
            <a:srgbClr val="FFFFFF"/>
          </a:solidFill>
          <a:ln/>
        </p:spPr>
        <p:txBody>
          <a:bodyPr/>
          <a:lstStyle/>
          <a:p>
            <a:endParaRPr lang="tr-TR"/>
          </a:p>
        </p:txBody>
      </p:sp>
      <p:sp>
        <p:nvSpPr>
          <p:cNvPr id="26" name="Text 24"/>
          <p:cNvSpPr/>
          <p:nvPr/>
        </p:nvSpPr>
        <p:spPr>
          <a:xfrm>
            <a:off x="731520" y="4754880"/>
            <a:ext cx="3200400" cy="45720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Foursquare</a:t>
            </a:r>
            <a:endParaRPr lang="en-US" sz="1250" dirty="0"/>
          </a:p>
        </p:txBody>
      </p:sp>
      <p:sp>
        <p:nvSpPr>
          <p:cNvPr id="27" name="Text 25"/>
          <p:cNvSpPr/>
          <p:nvPr/>
        </p:nvSpPr>
        <p:spPr>
          <a:xfrm>
            <a:off x="4206240" y="4754880"/>
            <a:ext cx="6949440" cy="457200"/>
          </a:xfrm>
          <a:prstGeom prst="rect">
            <a:avLst/>
          </a:prstGeom>
          <a:noFill/>
          <a:ln/>
        </p:spPr>
        <p:txBody>
          <a:bodyPr wrap="square" lIns="0" tIns="0" rIns="0" bIns="0" rtlCol="0" anchor="ctr"/>
          <a:lstStyle/>
          <a:p>
            <a:pPr marL="0" indent="0">
              <a:buNone/>
            </a:pPr>
            <a:r>
              <a:rPr lang="en-US" sz="1200" dirty="0">
                <a:solidFill>
                  <a:srgbClr val="1B2436"/>
                </a:solidFill>
                <a:latin typeface="Calibri" pitchFamily="34" charset="0"/>
                <a:ea typeface="Calibri" pitchFamily="34" charset="-122"/>
                <a:cs typeface="Calibri" pitchFamily="34" charset="-120"/>
              </a:rPr>
              <a:t>Cassandra, CouchDB, InfoGrid, MongoDB, Riak</a:t>
            </a:r>
            <a:endParaRPr lang="en-US" sz="1200" dirty="0"/>
          </a:p>
        </p:txBody>
      </p:sp>
      <p:sp>
        <p:nvSpPr>
          <p:cNvPr id="28" name="Shape 26"/>
          <p:cNvSpPr/>
          <p:nvPr/>
        </p:nvSpPr>
        <p:spPr>
          <a:xfrm>
            <a:off x="548640" y="5212080"/>
            <a:ext cx="10789920" cy="457200"/>
          </a:xfrm>
          <a:prstGeom prst="rect">
            <a:avLst/>
          </a:prstGeom>
          <a:solidFill>
            <a:srgbClr val="EAF0F8"/>
          </a:solidFill>
          <a:ln/>
        </p:spPr>
        <p:txBody>
          <a:bodyPr/>
          <a:lstStyle/>
          <a:p>
            <a:endParaRPr lang="tr-TR"/>
          </a:p>
        </p:txBody>
      </p:sp>
      <p:sp>
        <p:nvSpPr>
          <p:cNvPr id="29" name="Text 27"/>
          <p:cNvSpPr/>
          <p:nvPr/>
        </p:nvSpPr>
        <p:spPr>
          <a:xfrm>
            <a:off x="731520" y="5212080"/>
            <a:ext cx="3200400" cy="457200"/>
          </a:xfrm>
          <a:prstGeom prst="rect">
            <a:avLst/>
          </a:prstGeom>
          <a:noFill/>
          <a:ln/>
        </p:spPr>
        <p:txBody>
          <a:bodyPr wrap="square" lIns="0" tIns="0" rIns="0" bIns="0"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Instagram / Flickr</a:t>
            </a:r>
            <a:endParaRPr lang="en-US" sz="1250" dirty="0"/>
          </a:p>
        </p:txBody>
      </p:sp>
      <p:sp>
        <p:nvSpPr>
          <p:cNvPr id="30" name="Text 28"/>
          <p:cNvSpPr/>
          <p:nvPr/>
        </p:nvSpPr>
        <p:spPr>
          <a:xfrm>
            <a:off x="4206240" y="5212080"/>
            <a:ext cx="6949440" cy="457200"/>
          </a:xfrm>
          <a:prstGeom prst="rect">
            <a:avLst/>
          </a:prstGeom>
          <a:noFill/>
          <a:ln/>
        </p:spPr>
        <p:txBody>
          <a:bodyPr wrap="square" lIns="0" tIns="0" rIns="0" bIns="0" rtlCol="0" anchor="ctr"/>
          <a:lstStyle/>
          <a:p>
            <a:pPr marL="0" indent="0">
              <a:buNone/>
            </a:pPr>
            <a:r>
              <a:rPr lang="en-US" sz="1200" dirty="0">
                <a:solidFill>
                  <a:srgbClr val="1B2436"/>
                </a:solidFill>
                <a:latin typeface="Calibri" pitchFamily="34" charset="0"/>
                <a:ea typeface="Calibri" pitchFamily="34" charset="-122"/>
                <a:cs typeface="Calibri" pitchFamily="34" charset="-120"/>
              </a:rPr>
              <a:t>Cassandra / MongoDB, Neo4j</a:t>
            </a:r>
            <a:endParaRPr lang="en-US" sz="1200" dirty="0"/>
          </a:p>
        </p:txBody>
      </p:sp>
      <p:sp>
        <p:nvSpPr>
          <p:cNvPr id="31" name="Shape 29"/>
          <p:cNvSpPr/>
          <p:nvPr/>
        </p:nvSpPr>
        <p:spPr>
          <a:xfrm>
            <a:off x="548640" y="1554480"/>
            <a:ext cx="0" cy="4114800"/>
          </a:xfrm>
          <a:prstGeom prst="line">
            <a:avLst/>
          </a:prstGeom>
          <a:noFill/>
          <a:ln w="12700">
            <a:solidFill>
              <a:srgbClr val="CADCFC"/>
            </a:solidFill>
            <a:prstDash val="solid"/>
          </a:ln>
        </p:spPr>
        <p:txBody>
          <a:bodyPr/>
          <a:lstStyle/>
          <a:p>
            <a:endParaRPr lang="tr-TR"/>
          </a:p>
        </p:txBody>
      </p:sp>
      <p:sp>
        <p:nvSpPr>
          <p:cNvPr id="32" name="Text 30"/>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33" name="Text 31"/>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Graph Databases for SNA</a:t>
            </a:r>
            <a:endParaRPr lang="en-US" sz="3200" dirty="0"/>
          </a:p>
        </p:txBody>
      </p:sp>
      <p:sp>
        <p:nvSpPr>
          <p:cNvPr id="3" name="Text 1"/>
          <p:cNvSpPr/>
          <p:nvPr/>
        </p:nvSpPr>
        <p:spPr>
          <a:xfrm>
            <a:off x="548640" y="960120"/>
            <a:ext cx="9144000" cy="32004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Why graph storage often beats tabular storage for social data</a:t>
            </a:r>
            <a:endParaRPr lang="en-US" sz="1400" dirty="0"/>
          </a:p>
        </p:txBody>
      </p:sp>
      <p:sp>
        <p:nvSpPr>
          <p:cNvPr id="4" name="Shape 2"/>
          <p:cNvSpPr/>
          <p:nvPr/>
        </p:nvSpPr>
        <p:spPr>
          <a:xfrm>
            <a:off x="548640" y="1600200"/>
            <a:ext cx="5120640" cy="3200400"/>
          </a:xfrm>
          <a:prstGeom prst="roundRect">
            <a:avLst>
              <a:gd name="adj" fmla="val 2857"/>
            </a:avLst>
          </a:prstGeom>
          <a:solidFill>
            <a:srgbClr val="F4F7FA"/>
          </a:solidFill>
          <a:ln w="12700">
            <a:solidFill>
              <a:srgbClr val="CADCFC"/>
            </a:solidFill>
            <a:prstDash val="solid"/>
          </a:ln>
        </p:spPr>
        <p:txBody>
          <a:bodyPr/>
          <a:lstStyle/>
          <a:p>
            <a:endParaRPr lang="tr-TR"/>
          </a:p>
        </p:txBody>
      </p:sp>
      <p:sp>
        <p:nvSpPr>
          <p:cNvPr id="5" name="Text 3"/>
          <p:cNvSpPr/>
          <p:nvPr/>
        </p:nvSpPr>
        <p:spPr>
          <a:xfrm>
            <a:off x="822960" y="1828800"/>
            <a:ext cx="45720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Graph DB vs. Tabular DB</a:t>
            </a:r>
            <a:endParaRPr lang="en-US" sz="1600" dirty="0"/>
          </a:p>
        </p:txBody>
      </p:sp>
      <p:sp>
        <p:nvSpPr>
          <p:cNvPr id="6" name="Shape 4"/>
          <p:cNvSpPr/>
          <p:nvPr/>
        </p:nvSpPr>
        <p:spPr>
          <a:xfrm>
            <a:off x="822960" y="2414016"/>
            <a:ext cx="82296" cy="82296"/>
          </a:xfrm>
          <a:prstGeom prst="ellipse">
            <a:avLst/>
          </a:prstGeom>
          <a:solidFill>
            <a:srgbClr val="1C7293"/>
          </a:solidFill>
          <a:ln/>
        </p:spPr>
        <p:txBody>
          <a:bodyPr/>
          <a:lstStyle/>
          <a:p>
            <a:endParaRPr lang="tr-TR"/>
          </a:p>
        </p:txBody>
      </p:sp>
      <p:sp>
        <p:nvSpPr>
          <p:cNvPr id="7" name="Text 5"/>
          <p:cNvSpPr/>
          <p:nvPr/>
        </p:nvSpPr>
        <p:spPr>
          <a:xfrm>
            <a:off x="1051560" y="2331720"/>
            <a:ext cx="4389120" cy="502920"/>
          </a:xfrm>
          <a:prstGeom prst="rect">
            <a:avLst/>
          </a:prstGeom>
          <a:noFill/>
          <a:ln/>
        </p:spPr>
        <p:txBody>
          <a:bodyPr wrap="square" lIns="0" tIns="0" rIns="0" bIns="0" rtlCol="0" anchor="ctr"/>
          <a:lstStyle/>
          <a:p>
            <a:pPr marL="0" indent="0">
              <a:lnSpc>
                <a:spcPct val="115000"/>
              </a:lnSpc>
              <a:buNone/>
            </a:pPr>
            <a:r>
              <a:rPr lang="en-US" sz="1200" dirty="0">
                <a:solidFill>
                  <a:srgbClr val="1B2436"/>
                </a:solidFill>
                <a:latin typeface="Calibri" pitchFamily="34" charset="0"/>
                <a:ea typeface="Calibri" pitchFamily="34" charset="-122"/>
                <a:cs typeface="Calibri" pitchFamily="34" charset="-120"/>
              </a:rPr>
              <a:t>Query time is largely independent of graph size</a:t>
            </a:r>
            <a:endParaRPr lang="en-US" sz="1200" dirty="0"/>
          </a:p>
        </p:txBody>
      </p:sp>
      <p:sp>
        <p:nvSpPr>
          <p:cNvPr id="8" name="Shape 6"/>
          <p:cNvSpPr/>
          <p:nvPr/>
        </p:nvSpPr>
        <p:spPr>
          <a:xfrm>
            <a:off x="822960" y="2980944"/>
            <a:ext cx="82296" cy="82296"/>
          </a:xfrm>
          <a:prstGeom prst="ellipse">
            <a:avLst/>
          </a:prstGeom>
          <a:solidFill>
            <a:srgbClr val="1C7293"/>
          </a:solidFill>
          <a:ln/>
        </p:spPr>
        <p:txBody>
          <a:bodyPr/>
          <a:lstStyle/>
          <a:p>
            <a:endParaRPr lang="tr-TR"/>
          </a:p>
        </p:txBody>
      </p:sp>
      <p:sp>
        <p:nvSpPr>
          <p:cNvPr id="9" name="Text 7"/>
          <p:cNvSpPr/>
          <p:nvPr/>
        </p:nvSpPr>
        <p:spPr>
          <a:xfrm>
            <a:off x="1051560" y="2898648"/>
            <a:ext cx="4389120" cy="502920"/>
          </a:xfrm>
          <a:prstGeom prst="rect">
            <a:avLst/>
          </a:prstGeom>
          <a:noFill/>
          <a:ln/>
        </p:spPr>
        <p:txBody>
          <a:bodyPr wrap="square" lIns="0" tIns="0" rIns="0" bIns="0" rtlCol="0" anchor="ctr"/>
          <a:lstStyle/>
          <a:p>
            <a:pPr marL="0" indent="0">
              <a:lnSpc>
                <a:spcPct val="115000"/>
              </a:lnSpc>
              <a:buNone/>
            </a:pPr>
            <a:r>
              <a:rPr lang="en-US" sz="1200" dirty="0">
                <a:solidFill>
                  <a:srgbClr val="1B2436"/>
                </a:solidFill>
                <a:latin typeface="Calibri" pitchFamily="34" charset="0"/>
                <a:ea typeface="Calibri" pitchFamily="34" charset="-122"/>
                <a:cs typeface="Calibri" pitchFamily="34" charset="-120"/>
              </a:rPr>
              <a:t>Nodes are directly connected — no costly join operations</a:t>
            </a:r>
            <a:endParaRPr lang="en-US" sz="1200" dirty="0"/>
          </a:p>
        </p:txBody>
      </p:sp>
      <p:sp>
        <p:nvSpPr>
          <p:cNvPr id="10" name="Shape 8"/>
          <p:cNvSpPr/>
          <p:nvPr/>
        </p:nvSpPr>
        <p:spPr>
          <a:xfrm>
            <a:off x="822960" y="3547872"/>
            <a:ext cx="82296" cy="82296"/>
          </a:xfrm>
          <a:prstGeom prst="ellipse">
            <a:avLst/>
          </a:prstGeom>
          <a:solidFill>
            <a:srgbClr val="1C7293"/>
          </a:solidFill>
          <a:ln/>
        </p:spPr>
        <p:txBody>
          <a:bodyPr/>
          <a:lstStyle/>
          <a:p>
            <a:endParaRPr lang="tr-TR"/>
          </a:p>
        </p:txBody>
      </p:sp>
      <p:sp>
        <p:nvSpPr>
          <p:cNvPr id="11" name="Text 9"/>
          <p:cNvSpPr/>
          <p:nvPr/>
        </p:nvSpPr>
        <p:spPr>
          <a:xfrm>
            <a:off x="1051560" y="3465576"/>
            <a:ext cx="4389120" cy="502920"/>
          </a:xfrm>
          <a:prstGeom prst="rect">
            <a:avLst/>
          </a:prstGeom>
          <a:noFill/>
          <a:ln/>
        </p:spPr>
        <p:txBody>
          <a:bodyPr wrap="square" lIns="0" tIns="0" rIns="0" bIns="0" rtlCol="0" anchor="ctr"/>
          <a:lstStyle/>
          <a:p>
            <a:pPr marL="0" indent="0">
              <a:lnSpc>
                <a:spcPct val="115000"/>
              </a:lnSpc>
              <a:buNone/>
            </a:pPr>
            <a:r>
              <a:rPr lang="en-US" sz="1200" dirty="0">
                <a:solidFill>
                  <a:srgbClr val="1B2436"/>
                </a:solidFill>
                <a:latin typeface="Calibri" pitchFamily="34" charset="0"/>
                <a:ea typeface="Calibri" pitchFamily="34" charset="-122"/>
                <a:cs typeface="Calibri" pitchFamily="34" charset="-120"/>
              </a:rPr>
              <a:t>Better suited for densely connected, complex social data</a:t>
            </a:r>
            <a:endParaRPr lang="en-US" sz="1200" dirty="0"/>
          </a:p>
        </p:txBody>
      </p:sp>
      <p:sp>
        <p:nvSpPr>
          <p:cNvPr id="12" name="Shape 10"/>
          <p:cNvSpPr/>
          <p:nvPr/>
        </p:nvSpPr>
        <p:spPr>
          <a:xfrm>
            <a:off x="822960" y="4114800"/>
            <a:ext cx="82296" cy="82296"/>
          </a:xfrm>
          <a:prstGeom prst="ellipse">
            <a:avLst/>
          </a:prstGeom>
          <a:solidFill>
            <a:srgbClr val="1C7293"/>
          </a:solidFill>
          <a:ln/>
        </p:spPr>
        <p:txBody>
          <a:bodyPr/>
          <a:lstStyle/>
          <a:p>
            <a:endParaRPr lang="tr-TR"/>
          </a:p>
        </p:txBody>
      </p:sp>
      <p:sp>
        <p:nvSpPr>
          <p:cNvPr id="13" name="Text 11"/>
          <p:cNvSpPr/>
          <p:nvPr/>
        </p:nvSpPr>
        <p:spPr>
          <a:xfrm>
            <a:off x="1051560" y="4032504"/>
            <a:ext cx="4389120" cy="502920"/>
          </a:xfrm>
          <a:prstGeom prst="rect">
            <a:avLst/>
          </a:prstGeom>
          <a:noFill/>
          <a:ln/>
        </p:spPr>
        <p:txBody>
          <a:bodyPr wrap="square" lIns="0" tIns="0" rIns="0" bIns="0" rtlCol="0" anchor="ctr"/>
          <a:lstStyle/>
          <a:p>
            <a:pPr marL="0" indent="0">
              <a:lnSpc>
                <a:spcPct val="115000"/>
              </a:lnSpc>
              <a:buNone/>
            </a:pPr>
            <a:r>
              <a:rPr lang="en-US" sz="1200" dirty="0">
                <a:solidFill>
                  <a:srgbClr val="1B2436"/>
                </a:solidFill>
                <a:latin typeface="Calibri" pitchFamily="34" charset="0"/>
                <a:ea typeface="Calibri" pitchFamily="34" charset="-122"/>
                <a:cs typeface="Calibri" pitchFamily="34" charset="-120"/>
              </a:rPr>
              <a:t>Tabular DBs remain simpler for structured, high-volume writes (e.g., timelines, logs)</a:t>
            </a:r>
            <a:endParaRPr lang="en-US" sz="1200" dirty="0"/>
          </a:p>
        </p:txBody>
      </p:sp>
      <p:sp>
        <p:nvSpPr>
          <p:cNvPr id="14" name="Text 12"/>
          <p:cNvSpPr/>
          <p:nvPr/>
        </p:nvSpPr>
        <p:spPr>
          <a:xfrm>
            <a:off x="6035040" y="1600200"/>
            <a:ext cx="54864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Popular Graph Databases</a:t>
            </a:r>
            <a:endParaRPr lang="en-US" sz="1600" dirty="0"/>
          </a:p>
        </p:txBody>
      </p:sp>
      <p:sp>
        <p:nvSpPr>
          <p:cNvPr id="15" name="Shape 13"/>
          <p:cNvSpPr/>
          <p:nvPr/>
        </p:nvSpPr>
        <p:spPr>
          <a:xfrm>
            <a:off x="6035040" y="2103120"/>
            <a:ext cx="1280160" cy="640080"/>
          </a:xfrm>
          <a:prstGeom prst="roundRect">
            <a:avLst>
              <a:gd name="adj" fmla="val 11429"/>
            </a:avLst>
          </a:prstGeom>
          <a:solidFill>
            <a:srgbClr val="065A82"/>
          </a:solidFill>
          <a:ln/>
        </p:spPr>
        <p:txBody>
          <a:bodyPr/>
          <a:lstStyle/>
          <a:p>
            <a:endParaRPr lang="tr-TR"/>
          </a:p>
        </p:txBody>
      </p:sp>
      <p:sp>
        <p:nvSpPr>
          <p:cNvPr id="16" name="Text 14"/>
          <p:cNvSpPr/>
          <p:nvPr/>
        </p:nvSpPr>
        <p:spPr>
          <a:xfrm>
            <a:off x="6080760" y="2103120"/>
            <a:ext cx="1188720"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Neo4j</a:t>
            </a:r>
            <a:endParaRPr lang="en-US" sz="1050" dirty="0"/>
          </a:p>
        </p:txBody>
      </p:sp>
      <p:sp>
        <p:nvSpPr>
          <p:cNvPr id="17" name="Shape 15"/>
          <p:cNvSpPr/>
          <p:nvPr/>
        </p:nvSpPr>
        <p:spPr>
          <a:xfrm>
            <a:off x="7434072" y="2103120"/>
            <a:ext cx="1280160" cy="640080"/>
          </a:xfrm>
          <a:prstGeom prst="roundRect">
            <a:avLst>
              <a:gd name="adj" fmla="val 11429"/>
            </a:avLst>
          </a:prstGeom>
          <a:solidFill>
            <a:srgbClr val="065A82"/>
          </a:solidFill>
          <a:ln/>
        </p:spPr>
        <p:txBody>
          <a:bodyPr/>
          <a:lstStyle/>
          <a:p>
            <a:endParaRPr lang="tr-TR"/>
          </a:p>
        </p:txBody>
      </p:sp>
      <p:sp>
        <p:nvSpPr>
          <p:cNvPr id="18" name="Text 16"/>
          <p:cNvSpPr/>
          <p:nvPr/>
        </p:nvSpPr>
        <p:spPr>
          <a:xfrm>
            <a:off x="7479792" y="2103120"/>
            <a:ext cx="1188720"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RDF TripleStore</a:t>
            </a:r>
            <a:endParaRPr lang="en-US" sz="1050" dirty="0"/>
          </a:p>
        </p:txBody>
      </p:sp>
      <p:sp>
        <p:nvSpPr>
          <p:cNvPr id="19" name="Shape 17"/>
          <p:cNvSpPr/>
          <p:nvPr/>
        </p:nvSpPr>
        <p:spPr>
          <a:xfrm>
            <a:off x="8833104" y="2103120"/>
            <a:ext cx="1280160" cy="640080"/>
          </a:xfrm>
          <a:prstGeom prst="roundRect">
            <a:avLst>
              <a:gd name="adj" fmla="val 11429"/>
            </a:avLst>
          </a:prstGeom>
          <a:solidFill>
            <a:srgbClr val="065A82"/>
          </a:solidFill>
          <a:ln/>
        </p:spPr>
        <p:txBody>
          <a:bodyPr/>
          <a:lstStyle/>
          <a:p>
            <a:endParaRPr lang="tr-TR"/>
          </a:p>
        </p:txBody>
      </p:sp>
      <p:sp>
        <p:nvSpPr>
          <p:cNvPr id="20" name="Text 18"/>
          <p:cNvSpPr/>
          <p:nvPr/>
        </p:nvSpPr>
        <p:spPr>
          <a:xfrm>
            <a:off x="8878824" y="2103120"/>
            <a:ext cx="1188720"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DEX</a:t>
            </a:r>
            <a:endParaRPr lang="en-US" sz="1050" dirty="0"/>
          </a:p>
        </p:txBody>
      </p:sp>
      <p:sp>
        <p:nvSpPr>
          <p:cNvPr id="21" name="Shape 19"/>
          <p:cNvSpPr/>
          <p:nvPr/>
        </p:nvSpPr>
        <p:spPr>
          <a:xfrm>
            <a:off x="10232136" y="2103120"/>
            <a:ext cx="1280160" cy="640080"/>
          </a:xfrm>
          <a:prstGeom prst="roundRect">
            <a:avLst>
              <a:gd name="adj" fmla="val 11429"/>
            </a:avLst>
          </a:prstGeom>
          <a:solidFill>
            <a:srgbClr val="065A82"/>
          </a:solidFill>
          <a:ln/>
        </p:spPr>
        <p:txBody>
          <a:bodyPr/>
          <a:lstStyle/>
          <a:p>
            <a:endParaRPr lang="tr-TR"/>
          </a:p>
        </p:txBody>
      </p:sp>
      <p:sp>
        <p:nvSpPr>
          <p:cNvPr id="22" name="Text 20"/>
          <p:cNvSpPr/>
          <p:nvPr/>
        </p:nvSpPr>
        <p:spPr>
          <a:xfrm>
            <a:off x="10277856" y="2103120"/>
            <a:ext cx="1188720"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InfiniteGraph</a:t>
            </a:r>
            <a:endParaRPr lang="en-US" sz="1050" dirty="0"/>
          </a:p>
        </p:txBody>
      </p:sp>
      <p:sp>
        <p:nvSpPr>
          <p:cNvPr id="23" name="Shape 21"/>
          <p:cNvSpPr/>
          <p:nvPr/>
        </p:nvSpPr>
        <p:spPr>
          <a:xfrm>
            <a:off x="6035040" y="2862072"/>
            <a:ext cx="1280160" cy="640080"/>
          </a:xfrm>
          <a:prstGeom prst="roundRect">
            <a:avLst>
              <a:gd name="adj" fmla="val 11429"/>
            </a:avLst>
          </a:prstGeom>
          <a:solidFill>
            <a:srgbClr val="1C7293"/>
          </a:solidFill>
          <a:ln/>
        </p:spPr>
        <p:txBody>
          <a:bodyPr/>
          <a:lstStyle/>
          <a:p>
            <a:endParaRPr lang="tr-TR"/>
          </a:p>
        </p:txBody>
      </p:sp>
      <p:sp>
        <p:nvSpPr>
          <p:cNvPr id="24" name="Text 22"/>
          <p:cNvSpPr/>
          <p:nvPr/>
        </p:nvSpPr>
        <p:spPr>
          <a:xfrm>
            <a:off x="6080760" y="2862072"/>
            <a:ext cx="1188720"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HyperGraphDB</a:t>
            </a:r>
            <a:endParaRPr lang="en-US" sz="1050" dirty="0"/>
          </a:p>
        </p:txBody>
      </p:sp>
      <p:sp>
        <p:nvSpPr>
          <p:cNvPr id="25" name="Shape 23"/>
          <p:cNvSpPr/>
          <p:nvPr/>
        </p:nvSpPr>
        <p:spPr>
          <a:xfrm>
            <a:off x="7434072" y="2862072"/>
            <a:ext cx="1280160" cy="640080"/>
          </a:xfrm>
          <a:prstGeom prst="roundRect">
            <a:avLst>
              <a:gd name="adj" fmla="val 11429"/>
            </a:avLst>
          </a:prstGeom>
          <a:solidFill>
            <a:srgbClr val="1C7293"/>
          </a:solidFill>
          <a:ln/>
        </p:spPr>
        <p:txBody>
          <a:bodyPr/>
          <a:lstStyle/>
          <a:p>
            <a:endParaRPr lang="tr-TR"/>
          </a:p>
        </p:txBody>
      </p:sp>
      <p:sp>
        <p:nvSpPr>
          <p:cNvPr id="26" name="Text 24"/>
          <p:cNvSpPr/>
          <p:nvPr/>
        </p:nvSpPr>
        <p:spPr>
          <a:xfrm>
            <a:off x="7479792" y="2862072"/>
            <a:ext cx="1188720"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FlockDB</a:t>
            </a:r>
            <a:endParaRPr lang="en-US" sz="1050" dirty="0"/>
          </a:p>
        </p:txBody>
      </p:sp>
      <p:sp>
        <p:nvSpPr>
          <p:cNvPr id="27" name="Shape 25"/>
          <p:cNvSpPr/>
          <p:nvPr/>
        </p:nvSpPr>
        <p:spPr>
          <a:xfrm>
            <a:off x="8833104" y="2862072"/>
            <a:ext cx="1280160" cy="640080"/>
          </a:xfrm>
          <a:prstGeom prst="roundRect">
            <a:avLst>
              <a:gd name="adj" fmla="val 11429"/>
            </a:avLst>
          </a:prstGeom>
          <a:solidFill>
            <a:srgbClr val="1C7293"/>
          </a:solidFill>
          <a:ln/>
        </p:spPr>
        <p:txBody>
          <a:bodyPr/>
          <a:lstStyle/>
          <a:p>
            <a:endParaRPr lang="tr-TR"/>
          </a:p>
        </p:txBody>
      </p:sp>
      <p:sp>
        <p:nvSpPr>
          <p:cNvPr id="28" name="Text 26"/>
          <p:cNvSpPr/>
          <p:nvPr/>
        </p:nvSpPr>
        <p:spPr>
          <a:xfrm>
            <a:off x="8878824" y="2862072"/>
            <a:ext cx="1188720"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OrientDB</a:t>
            </a:r>
            <a:endParaRPr lang="en-US" sz="1050" dirty="0"/>
          </a:p>
        </p:txBody>
      </p:sp>
      <p:sp>
        <p:nvSpPr>
          <p:cNvPr id="29" name="Shape 27"/>
          <p:cNvSpPr/>
          <p:nvPr/>
        </p:nvSpPr>
        <p:spPr>
          <a:xfrm>
            <a:off x="10232136" y="2862072"/>
            <a:ext cx="1280160" cy="640080"/>
          </a:xfrm>
          <a:prstGeom prst="roundRect">
            <a:avLst>
              <a:gd name="adj" fmla="val 11429"/>
            </a:avLst>
          </a:prstGeom>
          <a:solidFill>
            <a:srgbClr val="1C7293"/>
          </a:solidFill>
          <a:ln/>
        </p:spPr>
        <p:txBody>
          <a:bodyPr/>
          <a:lstStyle/>
          <a:p>
            <a:endParaRPr lang="tr-TR"/>
          </a:p>
        </p:txBody>
      </p:sp>
      <p:sp>
        <p:nvSpPr>
          <p:cNvPr id="30" name="Text 28"/>
          <p:cNvSpPr/>
          <p:nvPr/>
        </p:nvSpPr>
        <p:spPr>
          <a:xfrm>
            <a:off x="10277856" y="2862072"/>
            <a:ext cx="1188720"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Titan</a:t>
            </a:r>
            <a:endParaRPr lang="en-US" sz="1050" dirty="0"/>
          </a:p>
        </p:txBody>
      </p:sp>
      <p:sp>
        <p:nvSpPr>
          <p:cNvPr id="31" name="Shape 29"/>
          <p:cNvSpPr/>
          <p:nvPr/>
        </p:nvSpPr>
        <p:spPr>
          <a:xfrm>
            <a:off x="6035040" y="3566160"/>
            <a:ext cx="5394960" cy="1234440"/>
          </a:xfrm>
          <a:prstGeom prst="roundRect">
            <a:avLst>
              <a:gd name="adj" fmla="val 7407"/>
            </a:avLst>
          </a:prstGeom>
          <a:solidFill>
            <a:srgbClr val="21295C"/>
          </a:solidFill>
          <a:ln/>
        </p:spPr>
        <p:txBody>
          <a:bodyPr/>
          <a:lstStyle/>
          <a:p>
            <a:endParaRPr lang="tr-TR"/>
          </a:p>
        </p:txBody>
      </p:sp>
      <p:sp>
        <p:nvSpPr>
          <p:cNvPr id="32" name="Text 30"/>
          <p:cNvSpPr/>
          <p:nvPr/>
        </p:nvSpPr>
        <p:spPr>
          <a:xfrm>
            <a:off x="6263640" y="3566160"/>
            <a:ext cx="4937760" cy="1234440"/>
          </a:xfrm>
          <a:prstGeom prst="rect">
            <a:avLst/>
          </a:prstGeom>
          <a:noFill/>
          <a:ln/>
        </p:spPr>
        <p:txBody>
          <a:bodyPr wrap="square" lIns="0" tIns="0" rIns="0" bIns="0" rtlCol="0" anchor="ctr"/>
          <a:lstStyle/>
          <a:p>
            <a:pPr marL="0" indent="0">
              <a:lnSpc>
                <a:spcPct val="115000"/>
              </a:lnSpc>
              <a:buNone/>
            </a:pPr>
            <a:r>
              <a:rPr lang="en-US" sz="1200" b="1" dirty="0">
                <a:solidFill>
                  <a:srgbClr val="CADCFC"/>
                </a:solidFill>
                <a:latin typeface="Calibri" pitchFamily="34" charset="0"/>
                <a:ea typeface="Calibri" pitchFamily="34" charset="-122"/>
                <a:cs typeface="Calibri" pitchFamily="34" charset="-120"/>
              </a:rPr>
              <a:t>Benchmark result: </a:t>
            </a:r>
            <a:r>
              <a:rPr lang="en-US" sz="1200" dirty="0">
                <a:solidFill>
                  <a:srgbClr val="DCE5F7"/>
                </a:solidFill>
                <a:latin typeface="Calibri" pitchFamily="34" charset="0"/>
                <a:ea typeface="Calibri" pitchFamily="34" charset="-122"/>
                <a:cs typeface="Calibri" pitchFamily="34" charset="-120"/>
              </a:rPr>
              <a:t>Mathew &amp; Kumar compared Neo4j, FlockDB, OrientDB, InfoGrid, and AllegroGraph on SNA workloads — Neo4j outperformed the others.</a:t>
            </a:r>
            <a:endParaRPr lang="en-US" sz="1200" dirty="0"/>
          </a:p>
        </p:txBody>
      </p:sp>
      <p:sp>
        <p:nvSpPr>
          <p:cNvPr id="33" name="Text 31"/>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34" name="Text 32"/>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Open Research Directions</a:t>
            </a:r>
            <a:endParaRPr lang="en-US" sz="3200" dirty="0"/>
          </a:p>
        </p:txBody>
      </p:sp>
      <p:sp>
        <p:nvSpPr>
          <p:cNvPr id="3" name="Text 1"/>
          <p:cNvSpPr/>
          <p:nvPr/>
        </p:nvSpPr>
        <p:spPr>
          <a:xfrm>
            <a:off x="548640" y="960120"/>
            <a:ext cx="9144000" cy="32004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Unsolved problems identified across the surveyed literature</a:t>
            </a:r>
            <a:endParaRPr lang="en-US" sz="1400" dirty="0"/>
          </a:p>
        </p:txBody>
      </p:sp>
      <p:sp>
        <p:nvSpPr>
          <p:cNvPr id="4" name="Shape 2"/>
          <p:cNvSpPr/>
          <p:nvPr/>
        </p:nvSpPr>
        <p:spPr>
          <a:xfrm>
            <a:off x="548640" y="1600200"/>
            <a:ext cx="2514600" cy="3566160"/>
          </a:xfrm>
          <a:prstGeom prst="roundRect">
            <a:avLst>
              <a:gd name="adj" fmla="val 3636"/>
            </a:avLst>
          </a:prstGeom>
          <a:solidFill>
            <a:srgbClr val="FFFFFF"/>
          </a:solidFill>
          <a:ln w="12700">
            <a:solidFill>
              <a:srgbClr val="CADCFC"/>
            </a:solidFill>
            <a:prstDash val="solid"/>
          </a:ln>
          <a:effectLst>
            <a:outerShdw blurRad="76200" dist="25400" dir="5400000" algn="bl" rotWithShape="0">
              <a:srgbClr val="1B2436">
                <a:alpha val="10000"/>
              </a:srgbClr>
            </a:outerShdw>
          </a:effectLst>
        </p:spPr>
        <p:txBody>
          <a:bodyPr/>
          <a:lstStyle/>
          <a:p>
            <a:endParaRPr lang="tr-TR"/>
          </a:p>
        </p:txBody>
      </p:sp>
      <p:sp>
        <p:nvSpPr>
          <p:cNvPr id="5" name="Shape 3"/>
          <p:cNvSpPr/>
          <p:nvPr/>
        </p:nvSpPr>
        <p:spPr>
          <a:xfrm>
            <a:off x="548640" y="1600200"/>
            <a:ext cx="2514600" cy="137160"/>
          </a:xfrm>
          <a:prstGeom prst="rect">
            <a:avLst/>
          </a:prstGeom>
          <a:solidFill>
            <a:srgbClr val="065A82"/>
          </a:solidFill>
          <a:ln/>
        </p:spPr>
        <p:txBody>
          <a:bodyPr/>
          <a:lstStyle/>
          <a:p>
            <a:endParaRPr lang="tr-TR"/>
          </a:p>
        </p:txBody>
      </p:sp>
      <p:sp>
        <p:nvSpPr>
          <p:cNvPr id="6" name="Text 4"/>
          <p:cNvSpPr/>
          <p:nvPr/>
        </p:nvSpPr>
        <p:spPr>
          <a:xfrm>
            <a:off x="731520" y="1920240"/>
            <a:ext cx="914400" cy="457200"/>
          </a:xfrm>
          <a:prstGeom prst="rect">
            <a:avLst/>
          </a:prstGeom>
          <a:noFill/>
          <a:ln/>
        </p:spPr>
        <p:txBody>
          <a:bodyPr wrap="square" lIns="0" tIns="0" rIns="0" bIns="0" rtlCol="0" anchor="ctr"/>
          <a:lstStyle/>
          <a:p>
            <a:pPr marL="0" indent="0">
              <a:buNone/>
            </a:pPr>
            <a:r>
              <a:rPr lang="en-US" sz="2400" b="1" dirty="0">
                <a:solidFill>
                  <a:srgbClr val="065A82"/>
                </a:solidFill>
                <a:latin typeface="Cambria" pitchFamily="34" charset="0"/>
                <a:ea typeface="Cambria" pitchFamily="34" charset="-122"/>
                <a:cs typeface="Cambria" pitchFamily="34" charset="-120"/>
              </a:rPr>
              <a:t>01</a:t>
            </a:r>
            <a:endParaRPr lang="en-US" sz="2400" dirty="0"/>
          </a:p>
        </p:txBody>
      </p:sp>
      <p:sp>
        <p:nvSpPr>
          <p:cNvPr id="7" name="Text 5"/>
          <p:cNvSpPr/>
          <p:nvPr/>
        </p:nvSpPr>
        <p:spPr>
          <a:xfrm>
            <a:off x="731520" y="2468880"/>
            <a:ext cx="2148840" cy="685800"/>
          </a:xfrm>
          <a:prstGeom prst="rect">
            <a:avLst/>
          </a:prstGeom>
          <a:noFill/>
          <a:ln/>
        </p:spPr>
        <p:txBody>
          <a:bodyPr wrap="square" lIns="0" tIns="0" rIns="0" bIns="0" rtlCol="0" anchor="ctr"/>
          <a:lstStyle/>
          <a:p>
            <a:pPr marL="0" indent="0">
              <a:lnSpc>
                <a:spcPct val="105000"/>
              </a:lnSpc>
              <a:buNone/>
            </a:pPr>
            <a:r>
              <a:rPr lang="en-US" sz="1500" b="1" dirty="0">
                <a:solidFill>
                  <a:srgbClr val="1B2436"/>
                </a:solidFill>
                <a:latin typeface="Cambria" pitchFamily="34" charset="0"/>
                <a:ea typeface="Cambria" pitchFamily="34" charset="-122"/>
                <a:cs typeface="Cambria" pitchFamily="34" charset="-120"/>
              </a:rPr>
              <a:t>Privacy &amp; Trust</a:t>
            </a:r>
            <a:endParaRPr lang="en-US" sz="1500" dirty="0"/>
          </a:p>
        </p:txBody>
      </p:sp>
      <p:sp>
        <p:nvSpPr>
          <p:cNvPr id="8" name="Text 6"/>
          <p:cNvSpPr/>
          <p:nvPr/>
        </p:nvSpPr>
        <p:spPr>
          <a:xfrm>
            <a:off x="731520" y="3200400"/>
            <a:ext cx="2148840" cy="1828800"/>
          </a:xfrm>
          <a:prstGeom prst="rect">
            <a:avLst/>
          </a:prstGeom>
          <a:noFill/>
          <a:ln/>
        </p:spPr>
        <p:txBody>
          <a:bodyPr wrap="square" lIns="0" tIns="0" rIns="0" bIns="0" rtlCol="0" anchor="ctr"/>
          <a:lstStyle/>
          <a:p>
            <a:pPr marL="0" indent="0">
              <a:lnSpc>
                <a:spcPct val="120000"/>
              </a:lnSpc>
              <a:buNone/>
            </a:pPr>
            <a:r>
              <a:rPr lang="en-US" sz="1100" dirty="0">
                <a:solidFill>
                  <a:srgbClr val="6B7A99"/>
                </a:solidFill>
                <a:latin typeface="Calibri" pitchFamily="34" charset="0"/>
                <a:ea typeface="Calibri" pitchFamily="34" charset="-122"/>
                <a:cs typeface="Calibri" pitchFamily="34" charset="-120"/>
              </a:rPr>
              <a:t>De-anonymization risk and preserving privacy while sharing social data remains open.</a:t>
            </a:r>
            <a:endParaRPr lang="en-US" sz="1100" dirty="0"/>
          </a:p>
        </p:txBody>
      </p:sp>
      <p:sp>
        <p:nvSpPr>
          <p:cNvPr id="9" name="Shape 7"/>
          <p:cNvSpPr/>
          <p:nvPr/>
        </p:nvSpPr>
        <p:spPr>
          <a:xfrm>
            <a:off x="3246120" y="1600200"/>
            <a:ext cx="2514600" cy="3566160"/>
          </a:xfrm>
          <a:prstGeom prst="roundRect">
            <a:avLst>
              <a:gd name="adj" fmla="val 3636"/>
            </a:avLst>
          </a:prstGeom>
          <a:solidFill>
            <a:srgbClr val="FFFFFF"/>
          </a:solidFill>
          <a:ln w="12700">
            <a:solidFill>
              <a:srgbClr val="CADCFC"/>
            </a:solidFill>
            <a:prstDash val="solid"/>
          </a:ln>
          <a:effectLst>
            <a:outerShdw blurRad="76200" dist="25400" dir="5400000" algn="bl" rotWithShape="0">
              <a:srgbClr val="1B2436">
                <a:alpha val="10000"/>
              </a:srgbClr>
            </a:outerShdw>
          </a:effectLst>
        </p:spPr>
        <p:txBody>
          <a:bodyPr/>
          <a:lstStyle/>
          <a:p>
            <a:endParaRPr lang="tr-TR"/>
          </a:p>
        </p:txBody>
      </p:sp>
      <p:sp>
        <p:nvSpPr>
          <p:cNvPr id="10" name="Shape 8"/>
          <p:cNvSpPr/>
          <p:nvPr/>
        </p:nvSpPr>
        <p:spPr>
          <a:xfrm>
            <a:off x="3246120" y="1600200"/>
            <a:ext cx="2514600" cy="137160"/>
          </a:xfrm>
          <a:prstGeom prst="rect">
            <a:avLst/>
          </a:prstGeom>
          <a:solidFill>
            <a:srgbClr val="1C7293"/>
          </a:solidFill>
          <a:ln/>
        </p:spPr>
        <p:txBody>
          <a:bodyPr/>
          <a:lstStyle/>
          <a:p>
            <a:endParaRPr lang="tr-TR"/>
          </a:p>
        </p:txBody>
      </p:sp>
      <p:sp>
        <p:nvSpPr>
          <p:cNvPr id="11" name="Text 9"/>
          <p:cNvSpPr/>
          <p:nvPr/>
        </p:nvSpPr>
        <p:spPr>
          <a:xfrm>
            <a:off x="3429000" y="1920240"/>
            <a:ext cx="914400" cy="457200"/>
          </a:xfrm>
          <a:prstGeom prst="rect">
            <a:avLst/>
          </a:prstGeom>
          <a:noFill/>
          <a:ln/>
        </p:spPr>
        <p:txBody>
          <a:bodyPr wrap="square" lIns="0" tIns="0" rIns="0" bIns="0" rtlCol="0" anchor="ctr"/>
          <a:lstStyle/>
          <a:p>
            <a:pPr marL="0" indent="0">
              <a:buNone/>
            </a:pPr>
            <a:r>
              <a:rPr lang="en-US" sz="2400" b="1" dirty="0">
                <a:solidFill>
                  <a:srgbClr val="1C7293"/>
                </a:solidFill>
                <a:latin typeface="Cambria" pitchFamily="34" charset="0"/>
                <a:ea typeface="Cambria" pitchFamily="34" charset="-122"/>
                <a:cs typeface="Cambria" pitchFamily="34" charset="-120"/>
              </a:rPr>
              <a:t>02</a:t>
            </a:r>
            <a:endParaRPr lang="en-US" sz="2400" dirty="0"/>
          </a:p>
        </p:txBody>
      </p:sp>
      <p:sp>
        <p:nvSpPr>
          <p:cNvPr id="12" name="Text 10"/>
          <p:cNvSpPr/>
          <p:nvPr/>
        </p:nvSpPr>
        <p:spPr>
          <a:xfrm>
            <a:off x="3429000" y="2468880"/>
            <a:ext cx="2148840" cy="685800"/>
          </a:xfrm>
          <a:prstGeom prst="rect">
            <a:avLst/>
          </a:prstGeom>
          <a:noFill/>
          <a:ln/>
        </p:spPr>
        <p:txBody>
          <a:bodyPr wrap="square" lIns="0" tIns="0" rIns="0" bIns="0" rtlCol="0" anchor="ctr"/>
          <a:lstStyle/>
          <a:p>
            <a:pPr marL="0" indent="0">
              <a:lnSpc>
                <a:spcPct val="105000"/>
              </a:lnSpc>
              <a:buNone/>
            </a:pPr>
            <a:r>
              <a:rPr lang="en-US" sz="1500" b="1" dirty="0">
                <a:solidFill>
                  <a:srgbClr val="1B2436"/>
                </a:solidFill>
                <a:latin typeface="Cambria" pitchFamily="34" charset="0"/>
                <a:ea typeface="Cambria" pitchFamily="34" charset="-122"/>
                <a:cs typeface="Cambria" pitchFamily="34" charset="-120"/>
              </a:rPr>
              <a:t>Limited API Access</a:t>
            </a:r>
            <a:endParaRPr lang="en-US" sz="1500" dirty="0"/>
          </a:p>
        </p:txBody>
      </p:sp>
      <p:sp>
        <p:nvSpPr>
          <p:cNvPr id="13" name="Text 11"/>
          <p:cNvSpPr/>
          <p:nvPr/>
        </p:nvSpPr>
        <p:spPr>
          <a:xfrm>
            <a:off x="3429000" y="3200400"/>
            <a:ext cx="2148840" cy="1828800"/>
          </a:xfrm>
          <a:prstGeom prst="rect">
            <a:avLst/>
          </a:prstGeom>
          <a:noFill/>
          <a:ln/>
        </p:spPr>
        <p:txBody>
          <a:bodyPr wrap="square" lIns="0" tIns="0" rIns="0" bIns="0" rtlCol="0" anchor="ctr"/>
          <a:lstStyle/>
          <a:p>
            <a:pPr marL="0" indent="0">
              <a:lnSpc>
                <a:spcPct val="120000"/>
              </a:lnSpc>
              <a:buNone/>
            </a:pPr>
            <a:r>
              <a:rPr lang="en-US" sz="1100" dirty="0">
                <a:solidFill>
                  <a:srgbClr val="6B7A99"/>
                </a:solidFill>
                <a:latin typeface="Calibri" pitchFamily="34" charset="0"/>
                <a:ea typeface="Calibri" pitchFamily="34" charset="-122"/>
                <a:cs typeface="Calibri" pitchFamily="34" charset="-120"/>
              </a:rPr>
              <a:t>Platforms rarely expose the full graph — algorithms must work correctly on partial data.</a:t>
            </a:r>
            <a:endParaRPr lang="en-US" sz="1100" dirty="0"/>
          </a:p>
        </p:txBody>
      </p:sp>
      <p:sp>
        <p:nvSpPr>
          <p:cNvPr id="14" name="Shape 12"/>
          <p:cNvSpPr/>
          <p:nvPr/>
        </p:nvSpPr>
        <p:spPr>
          <a:xfrm>
            <a:off x="5943600" y="1600200"/>
            <a:ext cx="2514600" cy="3566160"/>
          </a:xfrm>
          <a:prstGeom prst="roundRect">
            <a:avLst>
              <a:gd name="adj" fmla="val 3636"/>
            </a:avLst>
          </a:prstGeom>
          <a:solidFill>
            <a:srgbClr val="FFFFFF"/>
          </a:solidFill>
          <a:ln w="12700">
            <a:solidFill>
              <a:srgbClr val="CADCFC"/>
            </a:solidFill>
            <a:prstDash val="solid"/>
          </a:ln>
          <a:effectLst>
            <a:outerShdw blurRad="76200" dist="25400" dir="5400000" algn="bl" rotWithShape="0">
              <a:srgbClr val="1B2436">
                <a:alpha val="10000"/>
              </a:srgbClr>
            </a:outerShdw>
          </a:effectLst>
        </p:spPr>
        <p:txBody>
          <a:bodyPr/>
          <a:lstStyle/>
          <a:p>
            <a:endParaRPr lang="tr-TR"/>
          </a:p>
        </p:txBody>
      </p:sp>
      <p:sp>
        <p:nvSpPr>
          <p:cNvPr id="15" name="Shape 13"/>
          <p:cNvSpPr/>
          <p:nvPr/>
        </p:nvSpPr>
        <p:spPr>
          <a:xfrm>
            <a:off x="5943600" y="1600200"/>
            <a:ext cx="2514600" cy="137160"/>
          </a:xfrm>
          <a:prstGeom prst="rect">
            <a:avLst/>
          </a:prstGeom>
          <a:solidFill>
            <a:srgbClr val="3E7CB1"/>
          </a:solidFill>
          <a:ln/>
        </p:spPr>
        <p:txBody>
          <a:bodyPr/>
          <a:lstStyle/>
          <a:p>
            <a:endParaRPr lang="tr-TR"/>
          </a:p>
        </p:txBody>
      </p:sp>
      <p:sp>
        <p:nvSpPr>
          <p:cNvPr id="16" name="Text 14"/>
          <p:cNvSpPr/>
          <p:nvPr/>
        </p:nvSpPr>
        <p:spPr>
          <a:xfrm>
            <a:off x="6126480" y="1920240"/>
            <a:ext cx="914400" cy="457200"/>
          </a:xfrm>
          <a:prstGeom prst="rect">
            <a:avLst/>
          </a:prstGeom>
          <a:noFill/>
          <a:ln/>
        </p:spPr>
        <p:txBody>
          <a:bodyPr wrap="square" lIns="0" tIns="0" rIns="0" bIns="0" rtlCol="0" anchor="ctr"/>
          <a:lstStyle/>
          <a:p>
            <a:pPr marL="0" indent="0">
              <a:buNone/>
            </a:pPr>
            <a:r>
              <a:rPr lang="en-US" sz="2400" b="1" dirty="0">
                <a:solidFill>
                  <a:srgbClr val="3E7CB1"/>
                </a:solidFill>
                <a:latin typeface="Cambria" pitchFamily="34" charset="0"/>
                <a:ea typeface="Cambria" pitchFamily="34" charset="-122"/>
                <a:cs typeface="Cambria" pitchFamily="34" charset="-120"/>
              </a:rPr>
              <a:t>03</a:t>
            </a:r>
            <a:endParaRPr lang="en-US" sz="2400" dirty="0"/>
          </a:p>
        </p:txBody>
      </p:sp>
      <p:sp>
        <p:nvSpPr>
          <p:cNvPr id="17" name="Text 15"/>
          <p:cNvSpPr/>
          <p:nvPr/>
        </p:nvSpPr>
        <p:spPr>
          <a:xfrm>
            <a:off x="6126480" y="2468880"/>
            <a:ext cx="2148840" cy="685800"/>
          </a:xfrm>
          <a:prstGeom prst="rect">
            <a:avLst/>
          </a:prstGeom>
          <a:noFill/>
          <a:ln/>
        </p:spPr>
        <p:txBody>
          <a:bodyPr wrap="square" lIns="0" tIns="0" rIns="0" bIns="0" rtlCol="0" anchor="ctr"/>
          <a:lstStyle/>
          <a:p>
            <a:pPr marL="0" indent="0">
              <a:lnSpc>
                <a:spcPct val="105000"/>
              </a:lnSpc>
              <a:buNone/>
            </a:pPr>
            <a:r>
              <a:rPr lang="en-US" sz="1500" b="1" dirty="0">
                <a:solidFill>
                  <a:srgbClr val="1B2436"/>
                </a:solidFill>
                <a:latin typeface="Cambria" pitchFamily="34" charset="0"/>
                <a:ea typeface="Cambria" pitchFamily="34" charset="-122"/>
                <a:cs typeface="Cambria" pitchFamily="34" charset="-120"/>
              </a:rPr>
              <a:t>Cross-Platform Identity</a:t>
            </a:r>
            <a:endParaRPr lang="en-US" sz="1500" dirty="0"/>
          </a:p>
        </p:txBody>
      </p:sp>
      <p:sp>
        <p:nvSpPr>
          <p:cNvPr id="18" name="Text 16"/>
          <p:cNvSpPr/>
          <p:nvPr/>
        </p:nvSpPr>
        <p:spPr>
          <a:xfrm>
            <a:off x="6126480" y="3200400"/>
            <a:ext cx="2148840" cy="1828800"/>
          </a:xfrm>
          <a:prstGeom prst="rect">
            <a:avLst/>
          </a:prstGeom>
          <a:noFill/>
          <a:ln/>
        </p:spPr>
        <p:txBody>
          <a:bodyPr wrap="square" lIns="0" tIns="0" rIns="0" bIns="0" rtlCol="0" anchor="ctr"/>
          <a:lstStyle/>
          <a:p>
            <a:pPr marL="0" indent="0">
              <a:lnSpc>
                <a:spcPct val="120000"/>
              </a:lnSpc>
              <a:buNone/>
            </a:pPr>
            <a:r>
              <a:rPr lang="en-US" sz="1100" dirty="0">
                <a:solidFill>
                  <a:srgbClr val="6B7A99"/>
                </a:solidFill>
                <a:latin typeface="Calibri" pitchFamily="34" charset="0"/>
                <a:ea typeface="Calibri" pitchFamily="34" charset="-122"/>
                <a:cs typeface="Calibri" pitchFamily="34" charset="-120"/>
              </a:rPr>
              <a:t>Matching the same user's profile across multiple social networks is still unsolved.</a:t>
            </a:r>
            <a:endParaRPr lang="en-US" sz="1100" dirty="0"/>
          </a:p>
        </p:txBody>
      </p:sp>
      <p:sp>
        <p:nvSpPr>
          <p:cNvPr id="19" name="Shape 17"/>
          <p:cNvSpPr/>
          <p:nvPr/>
        </p:nvSpPr>
        <p:spPr>
          <a:xfrm>
            <a:off x="8641080" y="1600200"/>
            <a:ext cx="2514600" cy="3566160"/>
          </a:xfrm>
          <a:prstGeom prst="roundRect">
            <a:avLst>
              <a:gd name="adj" fmla="val 3636"/>
            </a:avLst>
          </a:prstGeom>
          <a:solidFill>
            <a:srgbClr val="FFFFFF"/>
          </a:solidFill>
          <a:ln w="12700">
            <a:solidFill>
              <a:srgbClr val="CADCFC"/>
            </a:solidFill>
            <a:prstDash val="solid"/>
          </a:ln>
          <a:effectLst>
            <a:outerShdw blurRad="76200" dist="25400" dir="5400000" algn="bl" rotWithShape="0">
              <a:srgbClr val="1B2436">
                <a:alpha val="10000"/>
              </a:srgbClr>
            </a:outerShdw>
          </a:effectLst>
        </p:spPr>
        <p:txBody>
          <a:bodyPr/>
          <a:lstStyle/>
          <a:p>
            <a:endParaRPr lang="tr-TR"/>
          </a:p>
        </p:txBody>
      </p:sp>
      <p:sp>
        <p:nvSpPr>
          <p:cNvPr id="20" name="Shape 18"/>
          <p:cNvSpPr/>
          <p:nvPr/>
        </p:nvSpPr>
        <p:spPr>
          <a:xfrm>
            <a:off x="8641080" y="1600200"/>
            <a:ext cx="2514600" cy="137160"/>
          </a:xfrm>
          <a:prstGeom prst="rect">
            <a:avLst/>
          </a:prstGeom>
          <a:solidFill>
            <a:srgbClr val="21295C"/>
          </a:solidFill>
          <a:ln/>
        </p:spPr>
        <p:txBody>
          <a:bodyPr/>
          <a:lstStyle/>
          <a:p>
            <a:endParaRPr lang="tr-TR"/>
          </a:p>
        </p:txBody>
      </p:sp>
      <p:sp>
        <p:nvSpPr>
          <p:cNvPr id="21" name="Text 19"/>
          <p:cNvSpPr/>
          <p:nvPr/>
        </p:nvSpPr>
        <p:spPr>
          <a:xfrm>
            <a:off x="8823960" y="1920240"/>
            <a:ext cx="914400" cy="45720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04</a:t>
            </a:r>
            <a:endParaRPr lang="en-US" sz="2400" dirty="0"/>
          </a:p>
        </p:txBody>
      </p:sp>
      <p:sp>
        <p:nvSpPr>
          <p:cNvPr id="22" name="Text 20"/>
          <p:cNvSpPr/>
          <p:nvPr/>
        </p:nvSpPr>
        <p:spPr>
          <a:xfrm>
            <a:off x="8823960" y="2468880"/>
            <a:ext cx="2148840" cy="685800"/>
          </a:xfrm>
          <a:prstGeom prst="rect">
            <a:avLst/>
          </a:prstGeom>
          <a:noFill/>
          <a:ln/>
        </p:spPr>
        <p:txBody>
          <a:bodyPr wrap="square" lIns="0" tIns="0" rIns="0" bIns="0" rtlCol="0" anchor="ctr"/>
          <a:lstStyle/>
          <a:p>
            <a:pPr marL="0" indent="0">
              <a:lnSpc>
                <a:spcPct val="105000"/>
              </a:lnSpc>
              <a:buNone/>
            </a:pPr>
            <a:r>
              <a:rPr lang="en-US" sz="1500" b="1" dirty="0">
                <a:solidFill>
                  <a:srgbClr val="1B2436"/>
                </a:solidFill>
                <a:latin typeface="Cambria" pitchFamily="34" charset="0"/>
                <a:ea typeface="Cambria" pitchFamily="34" charset="-122"/>
                <a:cs typeface="Cambria" pitchFamily="34" charset="-120"/>
              </a:rPr>
              <a:t>Scalable RDF Processing</a:t>
            </a:r>
            <a:endParaRPr lang="en-US" sz="1500" dirty="0"/>
          </a:p>
        </p:txBody>
      </p:sp>
      <p:sp>
        <p:nvSpPr>
          <p:cNvPr id="23" name="Text 21"/>
          <p:cNvSpPr/>
          <p:nvPr/>
        </p:nvSpPr>
        <p:spPr>
          <a:xfrm>
            <a:off x="8823960" y="3200400"/>
            <a:ext cx="2148840" cy="1828800"/>
          </a:xfrm>
          <a:prstGeom prst="rect">
            <a:avLst/>
          </a:prstGeom>
          <a:noFill/>
          <a:ln/>
        </p:spPr>
        <p:txBody>
          <a:bodyPr wrap="square" lIns="0" tIns="0" rIns="0" bIns="0" rtlCol="0" anchor="ctr"/>
          <a:lstStyle/>
          <a:p>
            <a:pPr marL="0" indent="0">
              <a:lnSpc>
                <a:spcPct val="120000"/>
              </a:lnSpc>
              <a:buNone/>
            </a:pPr>
            <a:r>
              <a:rPr lang="en-US" sz="1100" dirty="0">
                <a:solidFill>
                  <a:srgbClr val="6B7A99"/>
                </a:solidFill>
                <a:latin typeface="Calibri" pitchFamily="34" charset="0"/>
                <a:ea typeface="Calibri" pitchFamily="34" charset="-122"/>
                <a:cs typeface="Calibri" pitchFamily="34" charset="-120"/>
              </a:rPr>
              <a:t>Distributed RDF stores (Spark-, Hadoop-, Accumulo-, Cassandra-based) are actively evolving.</a:t>
            </a:r>
            <a:endParaRPr lang="en-US" sz="1100" dirty="0"/>
          </a:p>
        </p:txBody>
      </p:sp>
      <p:sp>
        <p:nvSpPr>
          <p:cNvPr id="24" name="Text 22"/>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25" name="Text 23"/>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14400" y="5212080"/>
            <a:ext cx="128016" cy="128016"/>
          </a:xfrm>
          <a:prstGeom prst="ellipse">
            <a:avLst/>
          </a:prstGeom>
          <a:solidFill>
            <a:srgbClr val="1C7293"/>
          </a:solidFill>
          <a:ln/>
        </p:spPr>
        <p:txBody>
          <a:bodyPr/>
          <a:lstStyle/>
          <a:p>
            <a:endParaRPr lang="tr-TR"/>
          </a:p>
        </p:txBody>
      </p:sp>
      <p:sp>
        <p:nvSpPr>
          <p:cNvPr id="3" name="Shape 1"/>
          <p:cNvSpPr/>
          <p:nvPr/>
        </p:nvSpPr>
        <p:spPr>
          <a:xfrm>
            <a:off x="457200" y="5760720"/>
            <a:ext cx="91440" cy="91440"/>
          </a:xfrm>
          <a:prstGeom prst="ellipse">
            <a:avLst/>
          </a:prstGeom>
          <a:solidFill>
            <a:srgbClr val="CADCFC"/>
          </a:solidFill>
          <a:ln/>
        </p:spPr>
        <p:txBody>
          <a:bodyPr/>
          <a:lstStyle/>
          <a:p>
            <a:endParaRPr lang="tr-TR"/>
          </a:p>
        </p:txBody>
      </p:sp>
      <p:sp>
        <p:nvSpPr>
          <p:cNvPr id="4" name="Shape 2"/>
          <p:cNvSpPr/>
          <p:nvPr/>
        </p:nvSpPr>
        <p:spPr>
          <a:xfrm>
            <a:off x="1463040" y="5852160"/>
            <a:ext cx="128016" cy="128016"/>
          </a:xfrm>
          <a:prstGeom prst="ellipse">
            <a:avLst/>
          </a:prstGeom>
          <a:solidFill>
            <a:srgbClr val="1C7293"/>
          </a:solidFill>
          <a:ln/>
        </p:spPr>
        <p:txBody>
          <a:bodyPr/>
          <a:lstStyle/>
          <a:p>
            <a:endParaRPr lang="tr-TR"/>
          </a:p>
        </p:txBody>
      </p:sp>
      <p:sp>
        <p:nvSpPr>
          <p:cNvPr id="5" name="Shape 3"/>
          <p:cNvSpPr/>
          <p:nvPr/>
        </p:nvSpPr>
        <p:spPr>
          <a:xfrm>
            <a:off x="10789920" y="822960"/>
            <a:ext cx="91440" cy="91440"/>
          </a:xfrm>
          <a:prstGeom prst="ellipse">
            <a:avLst/>
          </a:prstGeom>
          <a:solidFill>
            <a:srgbClr val="CADCFC"/>
          </a:solidFill>
          <a:ln/>
        </p:spPr>
        <p:txBody>
          <a:bodyPr/>
          <a:lstStyle/>
          <a:p>
            <a:endParaRPr lang="tr-TR"/>
          </a:p>
        </p:txBody>
      </p:sp>
      <p:sp>
        <p:nvSpPr>
          <p:cNvPr id="6" name="Shape 4"/>
          <p:cNvSpPr/>
          <p:nvPr/>
        </p:nvSpPr>
        <p:spPr>
          <a:xfrm>
            <a:off x="11247120" y="1371600"/>
            <a:ext cx="128016" cy="128016"/>
          </a:xfrm>
          <a:prstGeom prst="ellipse">
            <a:avLst/>
          </a:prstGeom>
          <a:solidFill>
            <a:srgbClr val="1C7293"/>
          </a:solidFill>
          <a:ln/>
        </p:spPr>
        <p:txBody>
          <a:bodyPr/>
          <a:lstStyle/>
          <a:p>
            <a:endParaRPr lang="tr-TR"/>
          </a:p>
        </p:txBody>
      </p:sp>
      <p:sp>
        <p:nvSpPr>
          <p:cNvPr id="7" name="Shape 5"/>
          <p:cNvSpPr/>
          <p:nvPr/>
        </p:nvSpPr>
        <p:spPr>
          <a:xfrm>
            <a:off x="10424160" y="1554480"/>
            <a:ext cx="91440" cy="91440"/>
          </a:xfrm>
          <a:prstGeom prst="ellipse">
            <a:avLst/>
          </a:prstGeom>
          <a:solidFill>
            <a:srgbClr val="CADCFC"/>
          </a:solidFill>
          <a:ln/>
        </p:spPr>
        <p:txBody>
          <a:bodyPr/>
          <a:lstStyle/>
          <a:p>
            <a:endParaRPr lang="tr-TR"/>
          </a:p>
        </p:txBody>
      </p:sp>
      <p:sp>
        <p:nvSpPr>
          <p:cNvPr id="8" name="Text 6"/>
          <p:cNvSpPr/>
          <p:nvPr/>
        </p:nvSpPr>
        <p:spPr>
          <a:xfrm>
            <a:off x="640080" y="54864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9" name="Shape 7"/>
          <p:cNvSpPr/>
          <p:nvPr/>
        </p:nvSpPr>
        <p:spPr>
          <a:xfrm>
            <a:off x="640080" y="1234440"/>
            <a:ext cx="2743200" cy="18288"/>
          </a:xfrm>
          <a:prstGeom prst="rect">
            <a:avLst/>
          </a:prstGeom>
          <a:solidFill>
            <a:srgbClr val="1C7293"/>
          </a:solidFill>
          <a:ln/>
        </p:spPr>
        <p:txBody>
          <a:bodyPr/>
          <a:lstStyle/>
          <a:p>
            <a:endParaRPr lang="tr-TR"/>
          </a:p>
        </p:txBody>
      </p:sp>
      <p:sp>
        <p:nvSpPr>
          <p:cNvPr id="10" name="Text 8"/>
          <p:cNvSpPr/>
          <p:nvPr/>
        </p:nvSpPr>
        <p:spPr>
          <a:xfrm>
            <a:off x="640080" y="1554480"/>
            <a:ext cx="9418320" cy="2377440"/>
          </a:xfrm>
          <a:prstGeom prst="rect">
            <a:avLst/>
          </a:prstGeom>
          <a:noFill/>
          <a:ln/>
        </p:spPr>
        <p:txBody>
          <a:bodyPr wrap="square" lIns="0" tIns="0" rIns="0" bIns="0" rtlCol="0" anchor="ctr"/>
          <a:lstStyle/>
          <a:p>
            <a:pPr marL="0" indent="0">
              <a:lnSpc>
                <a:spcPct val="135000"/>
              </a:lnSpc>
              <a:buNone/>
            </a:pPr>
            <a:r>
              <a:rPr lang="en-US" sz="1600" dirty="0">
                <a:solidFill>
                  <a:srgbClr val="E4EAF8"/>
                </a:solidFill>
                <a:latin typeface="Calibri" pitchFamily="34" charset="0"/>
                <a:ea typeface="Calibri" pitchFamily="34" charset="-122"/>
                <a:cs typeface="Calibri" pitchFamily="34" charset="-120"/>
              </a:rPr>
              <a:t>Ontologies enable schema-less, heterogeneous data integration — social data maps naturally onto RDF triples.
</a:t>
            </a:r>
            <a:endParaRPr lang="en-US" sz="1600" dirty="0"/>
          </a:p>
          <a:p>
            <a:pPr marL="0" indent="0">
              <a:lnSpc>
                <a:spcPct val="135000"/>
              </a:lnSpc>
              <a:buNone/>
            </a:pPr>
            <a:r>
              <a:rPr lang="en-US" sz="1600" b="1" dirty="0">
                <a:solidFill>
                  <a:srgbClr val="E4EAF8"/>
                </a:solidFill>
                <a:latin typeface="Calibri" pitchFamily="34" charset="0"/>
                <a:ea typeface="Calibri" pitchFamily="34" charset="-122"/>
                <a:cs typeface="Calibri" pitchFamily="34" charset="-120"/>
              </a:rPr>
              <a:t>Architecture choice depends on the workload: </a:t>
            </a:r>
            <a:r>
              <a:rPr lang="en-US" sz="1600" dirty="0">
                <a:solidFill>
                  <a:srgbClr val="E4EAF8"/>
                </a:solidFill>
                <a:latin typeface="Calibri" pitchFamily="34" charset="0"/>
                <a:ea typeface="Calibri" pitchFamily="34" charset="-122"/>
                <a:cs typeface="Calibri" pitchFamily="34" charset="-120"/>
              </a:rPr>
              <a:t>Hadoop-based systems suit large-scale batch processing; Spark-based systems suit interactive, real-time queries.
</a:t>
            </a:r>
            <a:endParaRPr lang="en-US" sz="1600" dirty="0"/>
          </a:p>
          <a:p>
            <a:pPr marL="0" indent="0">
              <a:lnSpc>
                <a:spcPct val="135000"/>
              </a:lnSpc>
              <a:buNone/>
            </a:pPr>
            <a:r>
              <a:rPr lang="en-US" sz="1600" b="1" dirty="0">
                <a:solidFill>
                  <a:srgbClr val="E4EAF8"/>
                </a:solidFill>
                <a:latin typeface="Calibri" pitchFamily="34" charset="0"/>
                <a:ea typeface="Calibri" pitchFamily="34" charset="-122"/>
                <a:cs typeface="Calibri" pitchFamily="34" charset="-120"/>
              </a:rPr>
              <a:t>Decentralized RDF triplestores </a:t>
            </a:r>
            <a:r>
              <a:rPr lang="en-US" sz="1600" dirty="0">
                <a:solidFill>
                  <a:srgbClr val="E4EAF8"/>
                </a:solidFill>
                <a:latin typeface="Calibri" pitchFamily="34" charset="0"/>
                <a:ea typeface="Calibri" pitchFamily="34" charset="-122"/>
                <a:cs typeface="Calibri" pitchFamily="34" charset="-120"/>
              </a:rPr>
              <a:t>are the key technology for handling web-scale RDF data efficiently, queried via SPARQL translated into parallel jobs.</a:t>
            </a:r>
            <a:endParaRPr lang="en-US" sz="1600" dirty="0"/>
          </a:p>
        </p:txBody>
      </p:sp>
      <p:sp>
        <p:nvSpPr>
          <p:cNvPr id="11" name="Shape 9"/>
          <p:cNvSpPr/>
          <p:nvPr/>
        </p:nvSpPr>
        <p:spPr>
          <a:xfrm>
            <a:off x="640080" y="4160520"/>
            <a:ext cx="10058400" cy="1463040"/>
          </a:xfrm>
          <a:prstGeom prst="roundRect">
            <a:avLst>
              <a:gd name="adj" fmla="val 6250"/>
            </a:avLst>
          </a:prstGeom>
          <a:solidFill>
            <a:srgbClr val="2A3568"/>
          </a:solidFill>
          <a:ln w="12700">
            <a:solidFill>
              <a:srgbClr val="3E4E8C"/>
            </a:solidFill>
            <a:prstDash val="solid"/>
          </a:ln>
        </p:spPr>
        <p:txBody>
          <a:bodyPr/>
          <a:lstStyle/>
          <a:p>
            <a:endParaRPr lang="tr-TR"/>
          </a:p>
        </p:txBody>
      </p:sp>
      <p:sp>
        <p:nvSpPr>
          <p:cNvPr id="12" name="Text 10"/>
          <p:cNvSpPr/>
          <p:nvPr/>
        </p:nvSpPr>
        <p:spPr>
          <a:xfrm>
            <a:off x="914400" y="4343400"/>
            <a:ext cx="9509760" cy="365760"/>
          </a:xfrm>
          <a:prstGeom prst="rect">
            <a:avLst/>
          </a:prstGeom>
          <a:noFill/>
          <a:ln/>
        </p:spPr>
        <p:txBody>
          <a:bodyPr wrap="square" lIns="0" tIns="0" rIns="0" bIns="0" rtlCol="0" anchor="ctr"/>
          <a:lstStyle/>
          <a:p>
            <a:pPr marL="0" indent="0">
              <a:buNone/>
            </a:pPr>
            <a:r>
              <a:rPr lang="en-US" sz="1600" b="1" dirty="0">
                <a:solidFill>
                  <a:srgbClr val="6FD3E0"/>
                </a:solidFill>
                <a:latin typeface="Cambria" pitchFamily="34" charset="0"/>
                <a:ea typeface="Cambria" pitchFamily="34" charset="-122"/>
                <a:cs typeface="Cambria" pitchFamily="34" charset="-120"/>
              </a:rPr>
              <a:t>Big Data ≠ size alone</a:t>
            </a:r>
            <a:endParaRPr lang="en-US" sz="1600" dirty="0"/>
          </a:p>
        </p:txBody>
      </p:sp>
      <p:sp>
        <p:nvSpPr>
          <p:cNvPr id="13" name="Text 11"/>
          <p:cNvSpPr/>
          <p:nvPr/>
        </p:nvSpPr>
        <p:spPr>
          <a:xfrm>
            <a:off x="914400" y="4709160"/>
            <a:ext cx="9509760" cy="822960"/>
          </a:xfrm>
          <a:prstGeom prst="rect">
            <a:avLst/>
          </a:prstGeom>
          <a:noFill/>
          <a:ln/>
        </p:spPr>
        <p:txBody>
          <a:bodyPr wrap="square" lIns="0" tIns="0" rIns="0" bIns="0" rtlCol="0" anchor="ctr"/>
          <a:lstStyle/>
          <a:p>
            <a:pPr marL="0" indent="0">
              <a:lnSpc>
                <a:spcPct val="120000"/>
              </a:lnSpc>
              <a:buNone/>
            </a:pPr>
            <a:r>
              <a:rPr lang="en-US" sz="1300" dirty="0">
                <a:solidFill>
                  <a:srgbClr val="D4DBF0"/>
                </a:solidFill>
                <a:latin typeface="Calibri" pitchFamily="34" charset="0"/>
                <a:ea typeface="Calibri" pitchFamily="34" charset="-122"/>
                <a:cs typeface="Calibri" pitchFamily="34" charset="-120"/>
              </a:rPr>
              <a:t>It is also about diversity, heterogeneity of formats and sources, and decentralized control over distributed data. Combining Semantic Web and Big Data technologies is essential to scale social network analysis to the web.</a:t>
            </a:r>
            <a:endParaRPr lang="en-US" sz="1300" dirty="0"/>
          </a:p>
        </p:txBody>
      </p:sp>
      <p:sp>
        <p:nvSpPr>
          <p:cNvPr id="14" name="Text 12"/>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AEB9D6"/>
                </a:solidFill>
                <a:latin typeface="Calibri" pitchFamily="34" charset="0"/>
                <a:ea typeface="Calibri" pitchFamily="34" charset="-122"/>
                <a:cs typeface="Calibri" pitchFamily="34" charset="-120"/>
              </a:rPr>
              <a:t>Kulcu, Dogdu &amp; Ozbayoglu — IEEE Big Data 2016</a:t>
            </a:r>
            <a:endParaRPr lang="en-US" sz="900" dirty="0"/>
          </a:p>
        </p:txBody>
      </p:sp>
      <p:sp>
        <p:nvSpPr>
          <p:cNvPr id="15" name="Text 13"/>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AEB9D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Selected References</a:t>
            </a:r>
            <a:endParaRPr lang="en-US" sz="3000" dirty="0"/>
          </a:p>
        </p:txBody>
      </p:sp>
      <p:sp>
        <p:nvSpPr>
          <p:cNvPr id="3" name="Shape 1"/>
          <p:cNvSpPr/>
          <p:nvPr/>
        </p:nvSpPr>
        <p:spPr>
          <a:xfrm>
            <a:off x="548640" y="1051560"/>
            <a:ext cx="11064240" cy="18288"/>
          </a:xfrm>
          <a:prstGeom prst="rect">
            <a:avLst/>
          </a:prstGeom>
          <a:solidFill>
            <a:srgbClr val="CADCFC"/>
          </a:solidFill>
          <a:ln/>
        </p:spPr>
        <p:txBody>
          <a:bodyPr/>
          <a:lstStyle/>
          <a:p>
            <a:endParaRPr lang="tr-TR"/>
          </a:p>
        </p:txBody>
      </p:sp>
      <p:sp>
        <p:nvSpPr>
          <p:cNvPr id="4" name="Text 2"/>
          <p:cNvSpPr/>
          <p:nvPr/>
        </p:nvSpPr>
        <p:spPr>
          <a:xfrm>
            <a:off x="548640" y="1371600"/>
            <a:ext cx="457200" cy="5486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1051560" y="1371600"/>
            <a:ext cx="10241280" cy="548640"/>
          </a:xfrm>
          <a:prstGeom prst="rect">
            <a:avLst/>
          </a:prstGeom>
          <a:noFill/>
          <a:ln/>
        </p:spPr>
        <p:txBody>
          <a:bodyPr wrap="square" lIns="0" tIns="0" rIns="0" bIns="0" rtlCol="0" anchor="ctr"/>
          <a:lstStyle/>
          <a:p>
            <a:pPr marL="0" indent="0">
              <a:lnSpc>
                <a:spcPct val="115000"/>
              </a:lnSpc>
              <a:buNone/>
            </a:pPr>
            <a:r>
              <a:rPr lang="en-US" sz="1100" dirty="0">
                <a:solidFill>
                  <a:srgbClr val="1B2436"/>
                </a:solidFill>
                <a:latin typeface="Calibri" pitchFamily="34" charset="0"/>
                <a:ea typeface="Calibri" pitchFamily="34" charset="-122"/>
                <a:cs typeface="Calibri" pitchFamily="34" charset="-120"/>
              </a:rPr>
              <a:t>Kulcu, S., Dogdu, E., &amp; Ozbayoglu, A. M. (2016). A Survey on Semantic Web and Big Data Technologies for Social Network Analysis. IEEE International Conference on Big Data.</a:t>
            </a:r>
            <a:endParaRPr lang="en-US" sz="1100" dirty="0"/>
          </a:p>
        </p:txBody>
      </p:sp>
      <p:sp>
        <p:nvSpPr>
          <p:cNvPr id="6" name="Text 4"/>
          <p:cNvSpPr/>
          <p:nvPr/>
        </p:nvSpPr>
        <p:spPr>
          <a:xfrm>
            <a:off x="548640" y="2029968"/>
            <a:ext cx="457200" cy="5486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[2]</a:t>
            </a:r>
            <a:endParaRPr lang="en-US" sz="1100" dirty="0"/>
          </a:p>
        </p:txBody>
      </p:sp>
      <p:sp>
        <p:nvSpPr>
          <p:cNvPr id="7" name="Text 5"/>
          <p:cNvSpPr/>
          <p:nvPr/>
        </p:nvSpPr>
        <p:spPr>
          <a:xfrm>
            <a:off x="1051560" y="2029968"/>
            <a:ext cx="10241280" cy="548640"/>
          </a:xfrm>
          <a:prstGeom prst="rect">
            <a:avLst/>
          </a:prstGeom>
          <a:noFill/>
          <a:ln/>
        </p:spPr>
        <p:txBody>
          <a:bodyPr wrap="square" lIns="0" tIns="0" rIns="0" bIns="0" rtlCol="0" anchor="ctr"/>
          <a:lstStyle/>
          <a:p>
            <a:pPr marL="0" indent="0">
              <a:lnSpc>
                <a:spcPct val="115000"/>
              </a:lnSpc>
              <a:buNone/>
            </a:pPr>
            <a:r>
              <a:rPr lang="en-US" sz="1100" dirty="0">
                <a:solidFill>
                  <a:srgbClr val="1B2436"/>
                </a:solidFill>
                <a:latin typeface="Calibri" pitchFamily="34" charset="0"/>
                <a:ea typeface="Calibri" pitchFamily="34" charset="-122"/>
                <a:cs typeface="Calibri" pitchFamily="34" charset="-120"/>
              </a:rPr>
              <a:t>Malewicz, G. et al. (2010). Pregel: A System for Large-Scale Graph Processing. ACM SIGMOD.</a:t>
            </a:r>
            <a:endParaRPr lang="en-US" sz="1100" dirty="0"/>
          </a:p>
        </p:txBody>
      </p:sp>
      <p:sp>
        <p:nvSpPr>
          <p:cNvPr id="8" name="Text 6"/>
          <p:cNvSpPr/>
          <p:nvPr/>
        </p:nvSpPr>
        <p:spPr>
          <a:xfrm>
            <a:off x="548640" y="2688336"/>
            <a:ext cx="457200" cy="5486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[3]</a:t>
            </a:r>
            <a:endParaRPr lang="en-US" sz="1100" dirty="0"/>
          </a:p>
        </p:txBody>
      </p:sp>
      <p:sp>
        <p:nvSpPr>
          <p:cNvPr id="9" name="Text 7"/>
          <p:cNvSpPr/>
          <p:nvPr/>
        </p:nvSpPr>
        <p:spPr>
          <a:xfrm>
            <a:off x="1051560" y="2688336"/>
            <a:ext cx="10241280" cy="548640"/>
          </a:xfrm>
          <a:prstGeom prst="rect">
            <a:avLst/>
          </a:prstGeom>
          <a:noFill/>
          <a:ln/>
        </p:spPr>
        <p:txBody>
          <a:bodyPr wrap="square" lIns="0" tIns="0" rIns="0" bIns="0" rtlCol="0" anchor="ctr"/>
          <a:lstStyle/>
          <a:p>
            <a:pPr marL="0" indent="0">
              <a:lnSpc>
                <a:spcPct val="115000"/>
              </a:lnSpc>
              <a:buNone/>
            </a:pPr>
            <a:r>
              <a:rPr lang="en-US" sz="1100" dirty="0">
                <a:solidFill>
                  <a:srgbClr val="1B2436"/>
                </a:solidFill>
                <a:latin typeface="Calibri" pitchFamily="34" charset="0"/>
                <a:ea typeface="Calibri" pitchFamily="34" charset="-122"/>
                <a:cs typeface="Calibri" pitchFamily="34" charset="-120"/>
              </a:rPr>
              <a:t>Xin, R. S. et al. (2013). GraphX: A Resilient Distributed Graph System on Spark. GRADES Workshop.</a:t>
            </a:r>
            <a:endParaRPr lang="en-US" sz="1100" dirty="0"/>
          </a:p>
        </p:txBody>
      </p:sp>
      <p:sp>
        <p:nvSpPr>
          <p:cNvPr id="10" name="Text 8"/>
          <p:cNvSpPr/>
          <p:nvPr/>
        </p:nvSpPr>
        <p:spPr>
          <a:xfrm>
            <a:off x="548640" y="3346704"/>
            <a:ext cx="457200" cy="5486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[4]</a:t>
            </a:r>
            <a:endParaRPr lang="en-US" sz="1100" dirty="0"/>
          </a:p>
        </p:txBody>
      </p:sp>
      <p:sp>
        <p:nvSpPr>
          <p:cNvPr id="11" name="Text 9"/>
          <p:cNvSpPr/>
          <p:nvPr/>
        </p:nvSpPr>
        <p:spPr>
          <a:xfrm>
            <a:off x="1051560" y="3346704"/>
            <a:ext cx="10241280" cy="548640"/>
          </a:xfrm>
          <a:prstGeom prst="rect">
            <a:avLst/>
          </a:prstGeom>
          <a:noFill/>
          <a:ln/>
        </p:spPr>
        <p:txBody>
          <a:bodyPr wrap="square" lIns="0" tIns="0" rIns="0" bIns="0" rtlCol="0" anchor="ctr"/>
          <a:lstStyle/>
          <a:p>
            <a:pPr marL="0" indent="0">
              <a:lnSpc>
                <a:spcPct val="115000"/>
              </a:lnSpc>
              <a:buNone/>
            </a:pPr>
            <a:r>
              <a:rPr lang="en-US" sz="1100" dirty="0">
                <a:solidFill>
                  <a:srgbClr val="1B2436"/>
                </a:solidFill>
                <a:latin typeface="Calibri" pitchFamily="34" charset="0"/>
                <a:ea typeface="Calibri" pitchFamily="34" charset="-122"/>
                <a:cs typeface="Calibri" pitchFamily="34" charset="-120"/>
              </a:rPr>
              <a:t>Bizer, C. &amp; Schultz, A. (2009). The Berlin SPARQL Benchmark. Int. J. on Semantic Web and Information Systems.</a:t>
            </a:r>
            <a:endParaRPr lang="en-US" sz="1100" dirty="0"/>
          </a:p>
        </p:txBody>
      </p:sp>
      <p:sp>
        <p:nvSpPr>
          <p:cNvPr id="12" name="Text 10"/>
          <p:cNvSpPr/>
          <p:nvPr/>
        </p:nvSpPr>
        <p:spPr>
          <a:xfrm>
            <a:off x="548640" y="4005072"/>
            <a:ext cx="457200" cy="5486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[5]</a:t>
            </a:r>
            <a:endParaRPr lang="en-US" sz="1100" dirty="0"/>
          </a:p>
        </p:txBody>
      </p:sp>
      <p:sp>
        <p:nvSpPr>
          <p:cNvPr id="13" name="Text 11"/>
          <p:cNvSpPr/>
          <p:nvPr/>
        </p:nvSpPr>
        <p:spPr>
          <a:xfrm>
            <a:off x="1051560" y="4005072"/>
            <a:ext cx="10241280" cy="548640"/>
          </a:xfrm>
          <a:prstGeom prst="rect">
            <a:avLst/>
          </a:prstGeom>
          <a:noFill/>
          <a:ln/>
        </p:spPr>
        <p:txBody>
          <a:bodyPr wrap="square" lIns="0" tIns="0" rIns="0" bIns="0" rtlCol="0" anchor="ctr"/>
          <a:lstStyle/>
          <a:p>
            <a:pPr marL="0" indent="0">
              <a:lnSpc>
                <a:spcPct val="115000"/>
              </a:lnSpc>
              <a:buNone/>
            </a:pPr>
            <a:r>
              <a:rPr lang="en-US" sz="1100" dirty="0">
                <a:solidFill>
                  <a:srgbClr val="1B2436"/>
                </a:solidFill>
                <a:latin typeface="Calibri" pitchFamily="34" charset="0"/>
                <a:ea typeface="Calibri" pitchFamily="34" charset="-122"/>
                <a:cs typeface="Calibri" pitchFamily="34" charset="-120"/>
              </a:rPr>
              <a:t>Mathew, A. B. &amp; Kumar, S. M. (2015). Analysis of Data Management and Query Handling in Social Networks Using NoSQL Databases. ICACCI.</a:t>
            </a:r>
            <a:endParaRPr lang="en-US" sz="1100" dirty="0"/>
          </a:p>
        </p:txBody>
      </p:sp>
      <p:sp>
        <p:nvSpPr>
          <p:cNvPr id="14" name="Text 12"/>
          <p:cNvSpPr/>
          <p:nvPr/>
        </p:nvSpPr>
        <p:spPr>
          <a:xfrm>
            <a:off x="548640" y="4663440"/>
            <a:ext cx="457200" cy="5486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[6]</a:t>
            </a:r>
            <a:endParaRPr lang="en-US" sz="1100" dirty="0"/>
          </a:p>
        </p:txBody>
      </p:sp>
      <p:sp>
        <p:nvSpPr>
          <p:cNvPr id="15" name="Text 13"/>
          <p:cNvSpPr/>
          <p:nvPr/>
        </p:nvSpPr>
        <p:spPr>
          <a:xfrm>
            <a:off x="1051560" y="4663440"/>
            <a:ext cx="10241280" cy="548640"/>
          </a:xfrm>
          <a:prstGeom prst="rect">
            <a:avLst/>
          </a:prstGeom>
          <a:noFill/>
          <a:ln/>
        </p:spPr>
        <p:txBody>
          <a:bodyPr wrap="square" lIns="0" tIns="0" rIns="0" bIns="0" rtlCol="0" anchor="ctr"/>
          <a:lstStyle/>
          <a:p>
            <a:pPr marL="0" indent="0">
              <a:lnSpc>
                <a:spcPct val="115000"/>
              </a:lnSpc>
              <a:buNone/>
            </a:pPr>
            <a:r>
              <a:rPr lang="en-US" sz="1100" dirty="0">
                <a:solidFill>
                  <a:srgbClr val="1B2436"/>
                </a:solidFill>
                <a:latin typeface="Calibri" pitchFamily="34" charset="0"/>
                <a:ea typeface="Calibri" pitchFamily="34" charset="-122"/>
                <a:cs typeface="Calibri" pitchFamily="34" charset="-120"/>
              </a:rPr>
              <a:t>Marcu, O.-C. et al. (2016). Spark versus Flink: Understanding Performance in Big Data Analytics Frameworks. IEEE Cluster.</a:t>
            </a:r>
            <a:endParaRPr lang="en-US" sz="1100" dirty="0"/>
          </a:p>
        </p:txBody>
      </p:sp>
      <p:sp>
        <p:nvSpPr>
          <p:cNvPr id="16" name="Text 14"/>
          <p:cNvSpPr/>
          <p:nvPr/>
        </p:nvSpPr>
        <p:spPr>
          <a:xfrm>
            <a:off x="548640" y="5413248"/>
            <a:ext cx="9144000" cy="320040"/>
          </a:xfrm>
          <a:prstGeom prst="rect">
            <a:avLst/>
          </a:prstGeom>
          <a:noFill/>
          <a:ln/>
        </p:spPr>
        <p:txBody>
          <a:bodyPr wrap="square" lIns="0" tIns="0" rIns="0" bIns="0" rtlCol="0" anchor="ctr"/>
          <a:lstStyle/>
          <a:p>
            <a:pPr marL="0" indent="0">
              <a:buNone/>
            </a:pPr>
            <a:r>
              <a:rPr lang="en-US" sz="1050" i="1" dirty="0">
                <a:solidFill>
                  <a:srgbClr val="6B7A99"/>
                </a:solidFill>
                <a:latin typeface="Calibri" pitchFamily="34" charset="0"/>
                <a:ea typeface="Calibri" pitchFamily="34" charset="-122"/>
                <a:cs typeface="Calibri" pitchFamily="34" charset="-120"/>
              </a:rPr>
              <a:t>Note: Full reference list (104 citations) available in the original paper.</a:t>
            </a:r>
            <a:endParaRPr lang="en-US" sz="1050" dirty="0"/>
          </a:p>
        </p:txBody>
      </p:sp>
      <p:sp>
        <p:nvSpPr>
          <p:cNvPr id="17" name="Text 15"/>
          <p:cNvSpPr/>
          <p:nvPr/>
        </p:nvSpPr>
        <p:spPr>
          <a:xfrm>
            <a:off x="457200" y="6537960"/>
            <a:ext cx="7315200" cy="274320"/>
          </a:xfrm>
          <a:prstGeom prst="rect">
            <a:avLst/>
          </a:prstGeom>
          <a:noFill/>
          <a:ln/>
        </p:spPr>
        <p:txBody>
          <a:bodyPr wrap="square" lIns="0" tIns="0" rIns="0" bIns="0" rtlCol="0" anchor="ctr"/>
          <a:lstStyle/>
          <a:p>
            <a:pPr marL="0" indent="0" algn="l">
              <a:buNone/>
            </a:pPr>
            <a:r>
              <a:rPr lang="en-US" sz="900" dirty="0">
                <a:solidFill>
                  <a:srgbClr val="6B7A99"/>
                </a:solidFill>
                <a:latin typeface="Calibri" pitchFamily="34" charset="0"/>
                <a:ea typeface="Calibri" pitchFamily="34" charset="-122"/>
                <a:cs typeface="Calibri" pitchFamily="34" charset="-120"/>
              </a:rPr>
              <a:t>Kulcu, Dogdu &amp; Ozbayoglu — IEEE Big Data 2016</a:t>
            </a:r>
            <a:endParaRPr lang="en-US" sz="900" dirty="0"/>
          </a:p>
        </p:txBody>
      </p:sp>
      <p:sp>
        <p:nvSpPr>
          <p:cNvPr id="18" name="Text 16"/>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B7A9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1396</Words>
  <Application>Microsoft Office PowerPoint</Application>
  <PresentationFormat>Widescreen</PresentationFormat>
  <Paragraphs>230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Sercan Kulcu</cp:lastModifiedBy>
  <cp:revision>2</cp:revision>
  <dcterms:created xsi:type="dcterms:W3CDTF">2026-09-10T07:07:00Z</dcterms:created>
  <dcterms:modified xsi:type="dcterms:W3CDTF">2026-09-10T07:10:44Z</dcterms:modified>
</cp:coreProperties>
</file>