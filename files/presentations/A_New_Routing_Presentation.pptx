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MRHOF</c:v>
                </c:pt>
              </c:strCache>
            </c:strRef>
          </c:tx>
          <c:spPr>
            <a:ln w="25400" cap="flat">
              <a:solidFill>
                <a:srgbClr val="5C6B85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5C6B85"/>
              </a:solidFill>
              <a:ln w="9525" cap="flat">
                <a:solidFill>
                  <a:srgbClr val="5C6B85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70%</c:v>
                </c:pt>
                <c:pt idx="1">
                  <c:v>80%</c:v>
                </c:pt>
                <c:pt idx="2">
                  <c:v>90%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</c:v>
                </c:pt>
                <c:pt idx="1">
                  <c:v>60</c:v>
                </c:pt>
                <c:pt idx="2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25-4F0D-992A-E35D2ABDCD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SR1</c:v>
                </c:pt>
              </c:strCache>
            </c:strRef>
          </c:tx>
          <c:spPr>
            <a:ln w="25400" cap="flat">
              <a:solidFill>
                <a:srgbClr val="1CA9C9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CA9C9"/>
              </a:solidFill>
              <a:ln w="9525" cap="flat">
                <a:solidFill>
                  <a:srgbClr val="1CA9C9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70%</c:v>
                </c:pt>
                <c:pt idx="1">
                  <c:v>80%</c:v>
                </c:pt>
                <c:pt idx="2">
                  <c:v>90%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61</c:v>
                </c:pt>
                <c:pt idx="2">
                  <c:v>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25-4F0D-992A-E35D2ABDCDF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SR2</c:v>
                </c:pt>
              </c:strCache>
            </c:strRef>
          </c:tx>
          <c:spPr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70%</c:v>
                </c:pt>
                <c:pt idx="1">
                  <c:v>80%</c:v>
                </c:pt>
                <c:pt idx="2">
                  <c:v>90%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46</c:v>
                </c:pt>
                <c:pt idx="1">
                  <c:v>53</c:v>
                </c:pt>
                <c:pt idx="2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25-4F0D-992A-E35D2ABDCD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C6B85"/>
                    </a:solidFill>
                    <a:latin typeface="Arial"/>
                  </a:defRPr>
                </a:pPr>
                <a:r>
                  <a:rPr lang="tr-TR" sz="900" b="0" i="0" u="none" strike="noStrike">
                    <a:solidFill>
                      <a:srgbClr val="5C6B85"/>
                    </a:solidFill>
                    <a:latin typeface="Arial"/>
                  </a:rPr>
                  <a:t>Network Rx Rate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C6B85"/>
                    </a:solidFill>
                    <a:latin typeface="Arial"/>
                  </a:defRPr>
                </a:pPr>
                <a:r>
                  <a:rPr lang="tr-TR" sz="900" b="0" i="0" u="none" strike="noStrike">
                    <a:solidFill>
                      <a:srgbClr val="5C6B85"/>
                    </a:solidFill>
                    <a:latin typeface="Arial"/>
                  </a:rPr>
                  <a:t>PDR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C6B8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MRHOF</c:v>
                </c:pt>
              </c:strCache>
            </c:strRef>
          </c:tx>
          <c:spPr>
            <a:ln w="25400" cap="flat">
              <a:solidFill>
                <a:srgbClr val="5C6B85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5C6B85"/>
              </a:solidFill>
              <a:ln w="9525" cap="flat">
                <a:solidFill>
                  <a:srgbClr val="5C6B85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70%</c:v>
                </c:pt>
                <c:pt idx="1">
                  <c:v>80%</c:v>
                </c:pt>
                <c:pt idx="2">
                  <c:v>90%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480</c:v>
                </c:pt>
                <c:pt idx="1">
                  <c:v>340</c:v>
                </c:pt>
                <c:pt idx="2">
                  <c:v>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228-456E-B15C-5BE7B0E2769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SR1</c:v>
                </c:pt>
              </c:strCache>
            </c:strRef>
          </c:tx>
          <c:spPr>
            <a:ln w="25400" cap="flat">
              <a:solidFill>
                <a:srgbClr val="1CA9C9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CA9C9"/>
              </a:solidFill>
              <a:ln w="9525" cap="flat">
                <a:solidFill>
                  <a:srgbClr val="1CA9C9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70%</c:v>
                </c:pt>
                <c:pt idx="1">
                  <c:v>80%</c:v>
                </c:pt>
                <c:pt idx="2">
                  <c:v>90%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</c:v>
                </c:pt>
                <c:pt idx="1">
                  <c:v>55</c:v>
                </c:pt>
                <c:pt idx="2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228-456E-B15C-5BE7B0E2769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SR2</c:v>
                </c:pt>
              </c:strCache>
            </c:strRef>
          </c:tx>
          <c:spPr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70%</c:v>
                </c:pt>
                <c:pt idx="1">
                  <c:v>80%</c:v>
                </c:pt>
                <c:pt idx="2">
                  <c:v>90%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265</c:v>
                </c:pt>
                <c:pt idx="1">
                  <c:v>150</c:v>
                </c:pt>
                <c:pt idx="2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228-456E-B15C-5BE7B0E276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C6B85"/>
                    </a:solidFill>
                    <a:latin typeface="Arial"/>
                  </a:defRPr>
                </a:pPr>
                <a:r>
                  <a:rPr lang="tr-TR" sz="900" b="0" i="0" u="none" strike="noStrike">
                    <a:solidFill>
                      <a:srgbClr val="5C6B85"/>
                    </a:solidFill>
                    <a:latin typeface="Arial"/>
                  </a:rPr>
                  <a:t>Network Rx Rate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C6B85"/>
                    </a:solidFill>
                    <a:latin typeface="Arial"/>
                  </a:defRPr>
                </a:pPr>
                <a:r>
                  <a:rPr lang="tr-TR" sz="900" b="0" i="0" u="none" strike="noStrike">
                    <a:solidFill>
                      <a:srgbClr val="5C6B85"/>
                    </a:solidFill>
                    <a:latin typeface="Arial"/>
                  </a:rPr>
                  <a:t>Switch Count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C6B8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sv-SE" sz="1200" b="0" i="0" u="none" strike="noStrike">
                <a:solidFill>
                  <a:srgbClr val="1B2A4A"/>
                </a:solidFill>
                <a:latin typeface="Arial"/>
              </a:rPr>
              <a:t>Avg. Delay per Packet (ms)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MRHOF</c:v>
                </c:pt>
              </c:strCache>
            </c:strRef>
          </c:tx>
          <c:spPr>
            <a:ln w="25400" cap="flat">
              <a:solidFill>
                <a:srgbClr val="5C6B85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5C6B85"/>
              </a:solidFill>
              <a:ln w="9525" cap="flat">
                <a:solidFill>
                  <a:srgbClr val="5C6B85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70%</c:v>
                </c:pt>
                <c:pt idx="1">
                  <c:v>80%</c:v>
                </c:pt>
                <c:pt idx="2">
                  <c:v>90%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190</c:v>
                </c:pt>
                <c:pt idx="1">
                  <c:v>155</c:v>
                </c:pt>
                <c:pt idx="2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1A-4184-AF74-B90946DBC5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SR1</c:v>
                </c:pt>
              </c:strCache>
            </c:strRef>
          </c:tx>
          <c:spPr>
            <a:ln w="25400" cap="flat">
              <a:solidFill>
                <a:srgbClr val="1CA9C9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CA9C9"/>
              </a:solidFill>
              <a:ln w="9525" cap="flat">
                <a:solidFill>
                  <a:srgbClr val="1CA9C9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70%</c:v>
                </c:pt>
                <c:pt idx="1">
                  <c:v>80%</c:v>
                </c:pt>
                <c:pt idx="2">
                  <c:v>90%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128</c:v>
                </c:pt>
                <c:pt idx="1">
                  <c:v>128</c:v>
                </c:pt>
                <c:pt idx="2">
                  <c:v>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1A-4184-AF74-B90946DBC55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SR2</c:v>
                </c:pt>
              </c:strCache>
            </c:strRef>
          </c:tx>
          <c:spPr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70%</c:v>
                </c:pt>
                <c:pt idx="1">
                  <c:v>80%</c:v>
                </c:pt>
                <c:pt idx="2">
                  <c:v>90%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128</c:v>
                </c:pt>
                <c:pt idx="1">
                  <c:v>128</c:v>
                </c:pt>
                <c:pt idx="2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11A-4184-AF74-B90946DBC5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C6B8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529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188720"/>
            <a:ext cx="4206240" cy="4206240"/>
          </a:xfrm>
          <a:prstGeom prst="ellipse">
            <a:avLst/>
          </a:prstGeom>
          <a:solidFill>
            <a:srgbClr val="1CA9C9">
              <a:alpha val="32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1463040" y="4663440"/>
            <a:ext cx="3566160" cy="3566160"/>
          </a:xfrm>
          <a:prstGeom prst="ellipse">
            <a:avLst/>
          </a:prstGeom>
          <a:solidFill>
            <a:srgbClr val="E8A33D">
              <a:alpha val="22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NETWORK ROUTING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Routing Objective Function for</a:t>
            </a:r>
            <a:endParaRPr lang="en-US" sz="38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IETF 6TiSCH Protocol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822960" y="4389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Burak Aydın, Sedat Görmüş, Hakan Aydın, Sercan Külcü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54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Department, Karadeniz Technical University, Trabzon, Türkiye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035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30th IEEE Signal Processing and Communications Applications Conference (SIU 2022)  |  May 15-18, 2022, Safranbolu, Türkiye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309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IoT (IIoT) demands high reliability against interference and multipath fading, plus predictable, low latency.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802.15.4e / 6TiSCH combine TSCH scheduling with IPv6 to meet these needs in low-power, lossy networks.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builds the routing topology, but its default Objective Functions cause frequent, costly parent switches — degrading reliability and increasing delay.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proposes a new parent-selection function that accounts for a node's neighbor count and traffic load to stabilize the network topology.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78040" y="1188720"/>
            <a:ext cx="4434840" cy="4846320"/>
          </a:xfrm>
          <a:prstGeom prst="roundRect">
            <a:avLst>
              <a:gd name="adj" fmla="val 2474"/>
            </a:avLst>
          </a:prstGeom>
          <a:solidFill>
            <a:srgbClr val="F3F6FA"/>
          </a:solidFill>
          <a:ln/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7452360" y="14630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452360" y="19659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965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in the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topology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2971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29718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objective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proposed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3977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3977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packet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under weak links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Background: RPL over 6TiSCH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309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 organizes the network as a Destination-Oriented Directed Acyclic Graph (DODAG), rooted at a sink node.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computes a rank (distance from the root) and advertises routing metrics via DIO messages.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Objective Function (OF) — e.g., MRHOF — defines how rank is computed and how the preferred parent is chosen.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6TiSCH allocates TSCH time-slot (cell) resources for each parent-child link — resources that must be fully reallocated on every parent switch.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or poorly chosen parent switches waste this allocation effort and cause packet loss and delay.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1234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DODAG Formation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052560" y="173736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0525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80" dirty="0"/>
          </a:p>
        </p:txBody>
      </p:sp>
      <p:sp>
        <p:nvSpPr>
          <p:cNvPr id="7" name="Shape 5"/>
          <p:cNvSpPr/>
          <p:nvPr/>
        </p:nvSpPr>
        <p:spPr>
          <a:xfrm>
            <a:off x="7955280" y="2834640"/>
            <a:ext cx="502920" cy="502920"/>
          </a:xfrm>
          <a:prstGeom prst="ellipse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9552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9" name="Shape 7"/>
          <p:cNvSpPr/>
          <p:nvPr/>
        </p:nvSpPr>
        <p:spPr>
          <a:xfrm>
            <a:off x="9966960" y="2834640"/>
            <a:ext cx="502920" cy="502920"/>
          </a:xfrm>
          <a:prstGeom prst="ellipse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99669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1" name="Shape 9"/>
          <p:cNvSpPr/>
          <p:nvPr/>
        </p:nvSpPr>
        <p:spPr>
          <a:xfrm>
            <a:off x="7315200" y="39319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3152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3920" y="39319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5039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1200" y="39319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96012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607040" y="39319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06070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flipH="1">
            <a:off x="8366760" y="2286000"/>
            <a:ext cx="731520" cy="594360"/>
          </a:xfrm>
          <a:prstGeom prst="line">
            <a:avLst/>
          </a:prstGeom>
          <a:noFill/>
          <a:ln w="1587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9326880" y="2286000"/>
            <a:ext cx="886968" cy="548640"/>
          </a:xfrm>
          <a:prstGeom prst="line">
            <a:avLst/>
          </a:prstGeom>
          <a:noFill/>
          <a:ln w="1587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 flipH="1">
            <a:off x="7653528" y="3337560"/>
            <a:ext cx="365760" cy="594360"/>
          </a:xfrm>
          <a:prstGeom prst="line">
            <a:avLst/>
          </a:prstGeom>
          <a:noFill/>
          <a:ln w="1587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8202168" y="3337560"/>
            <a:ext cx="530352" cy="594360"/>
          </a:xfrm>
          <a:prstGeom prst="line">
            <a:avLst/>
          </a:prstGeom>
          <a:noFill/>
          <a:ln w="1587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 flipH="1">
            <a:off x="9859992" y="3383280"/>
            <a:ext cx="284672" cy="502920"/>
          </a:xfrm>
          <a:prstGeom prst="line">
            <a:avLst/>
          </a:prstGeom>
          <a:noFill/>
          <a:ln w="1587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10213848" y="3337560"/>
            <a:ext cx="621792" cy="594360"/>
          </a:xfrm>
          <a:prstGeom prst="line">
            <a:avLst/>
          </a:prstGeom>
          <a:noFill/>
          <a:ln w="1587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 txBox="1"/>
          <p:nvPr/>
        </p:nvSpPr>
        <p:spPr>
          <a:xfrm>
            <a:off x="7223760" y="46634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broadcasts DIO → nodes select a parent based on the Objective Function → tree topology emerges.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Unstable Parent Switching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1264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RPL compares a candidate parent's rank to the current parent's rank using a fixed hysteresis threshold (MRHOF: 96 / 0.75 ETX; RFC 6719: 192 / 1.5 ETX).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low, fixed threshold causes continuous parent switching — halting traffic, releasing and re-negotiating TSCH cells each time.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 is especially severe at critical relay nodes that serve many downstream nodes.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relay node's parent switch forces traffic from all its dependents to buffer temporarily — risking buffer overflow and dropped packets.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49440" y="1234440"/>
            <a:ext cx="4663440" cy="4846320"/>
          </a:xfrm>
          <a:prstGeom prst="roundRect">
            <a:avLst>
              <a:gd name="adj" fmla="val 2353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7178040" y="1417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Relay Node Scenario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052560" y="19202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90525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8" name="Shape 6"/>
          <p:cNvSpPr/>
          <p:nvPr/>
        </p:nvSpPr>
        <p:spPr>
          <a:xfrm>
            <a:off x="8138160" y="29260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1381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966960" y="29260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99669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464040" y="39319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94640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14" name="Shape 12"/>
          <p:cNvSpPr/>
          <p:nvPr/>
        </p:nvSpPr>
        <p:spPr>
          <a:xfrm>
            <a:off x="7818120" y="4663440"/>
            <a:ext cx="411480" cy="411480"/>
          </a:xfrm>
          <a:prstGeom prst="ellipse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81812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8732520" y="4937760"/>
            <a:ext cx="411480" cy="411480"/>
          </a:xfrm>
          <a:prstGeom prst="ellipse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73252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9966960" y="4937760"/>
            <a:ext cx="411480" cy="411480"/>
          </a:xfrm>
          <a:prstGeom prst="ellipse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996696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10835640" y="4663440"/>
            <a:ext cx="411480" cy="411480"/>
          </a:xfrm>
          <a:prstGeom prst="ellipse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1083564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 flipH="1">
            <a:off x="8595360" y="2377440"/>
            <a:ext cx="502920" cy="502920"/>
          </a:xfrm>
          <a:prstGeom prst="line">
            <a:avLst/>
          </a:prstGeom>
          <a:noFill/>
          <a:ln w="12700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9299448" y="2423160"/>
            <a:ext cx="896112" cy="502920"/>
          </a:xfrm>
          <a:prstGeom prst="line">
            <a:avLst/>
          </a:prstGeom>
          <a:noFill/>
          <a:ln w="12700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 flipH="1">
            <a:off x="9784080" y="3406140"/>
            <a:ext cx="201168" cy="480060"/>
          </a:xfrm>
          <a:prstGeom prst="line">
            <a:avLst/>
          </a:prstGeom>
          <a:noFill/>
          <a:ln w="12700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8649361" y="3406140"/>
            <a:ext cx="758952" cy="502920"/>
          </a:xfrm>
          <a:prstGeom prst="line">
            <a:avLst/>
          </a:prstGeom>
          <a:noFill/>
          <a:ln w="12700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9825228" y="4434840"/>
            <a:ext cx="246888" cy="502920"/>
          </a:xfrm>
          <a:prstGeom prst="line">
            <a:avLst/>
          </a:prstGeom>
          <a:noFill/>
          <a:ln w="12700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 flipH="1">
            <a:off x="8138159" y="3429000"/>
            <a:ext cx="236881" cy="1234440"/>
          </a:xfrm>
          <a:prstGeom prst="line">
            <a:avLst/>
          </a:prstGeom>
          <a:noFill/>
          <a:ln w="12700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8499348" y="3474720"/>
            <a:ext cx="434340" cy="1463040"/>
          </a:xfrm>
          <a:prstGeom prst="line">
            <a:avLst/>
          </a:prstGeom>
          <a:noFill/>
          <a:ln w="12700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10195560" y="3383280"/>
            <a:ext cx="841248" cy="1280160"/>
          </a:xfrm>
          <a:prstGeom prst="line">
            <a:avLst/>
          </a:prstGeom>
          <a:noFill/>
          <a:ln w="12700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 txBox="1"/>
          <p:nvPr/>
        </p:nvSpPr>
        <p:spPr>
          <a:xfrm>
            <a:off x="7178040" y="5623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4 (red) relays traffic for nodes 5, 6, 9, 10. If node 4 switches parent, all their traffic buffers temporarily — risking loss.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Mechanism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optimize the parent-switching threshold using real-time node state, avoiding unnecessary resource-allocation cost.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Objective Functions dynamically scale MRHOF's switching threshold: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5394960" cy="2468880"/>
          </a:xfrm>
          <a:prstGeom prst="roundRect">
            <a:avLst>
              <a:gd name="adj" fmla="val 4444"/>
            </a:avLst>
          </a:prstGeom>
          <a:solidFill>
            <a:srgbClr val="1CA9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SR1 — Neighbor-Count-Based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switching threshold by the node's neighbor count (bounded between 2 and 6 neighbors), making well-connected nodes more resistant to unnecessary switches.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514600"/>
            <a:ext cx="5394960" cy="2468880"/>
          </a:xfrm>
          <a:prstGeom prst="roundRect">
            <a:avLst>
              <a:gd name="adj" fmla="val 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6492240" y="2743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SR2 — Cell-Count-Based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3832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threshold by the number of allocated transmission cells, protecting nodes that already carry significant scheduled traffic.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node has no allocated transmission cell, the maximum link metric is added to its parent's cost — keeping it from being preferred until it establishes cells.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Function Logic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3F6FA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1531620" y="16459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5316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6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Cells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node has 0 allocated transmission cells, add the maximum link metric to its cost — deprioritize it.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27432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3F6FA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366260" y="1645920"/>
            <a:ext cx="640080" cy="640080"/>
          </a:xfrm>
          <a:prstGeom prst="ellipse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3662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6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Threshold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1089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scale the switching threshold by neighbor count (SR1) or cell count (SR2), bounded to avoid runaway values.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007608" y="27432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3F6FA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7200900" y="16459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2009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6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Costs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1089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candidate parent cost against current parent cost ± the dynamic threshold.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842248" y="27432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5256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3F6FA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10035540" y="1645920"/>
            <a:ext cx="640080" cy="640080"/>
          </a:xfrm>
          <a:prstGeom prst="ellipse">
            <a:avLst/>
          </a:prstGeom>
          <a:solidFill>
            <a:srgbClr val="22345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100355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6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Parent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31089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current parent if within threshold; otherwise select the lower-cost candidate.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logic runs at every RPL parent-comparison event, keeping well-connected or heavily-loaded relay nodes stable.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13258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Cooja, on Contiki-NG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0" y="12344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6400800" y="1325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75320" y="13258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nodes (1 server + 20 client), Exp5438 modules, randomly placed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731520" y="2377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Model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3774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6TiSCH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 txBox="1"/>
          <p:nvPr/>
        </p:nvSpPr>
        <p:spPr>
          <a:xfrm>
            <a:off x="6400800" y="2377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3774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Cooja UDGM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 txBox="1"/>
          <p:nvPr/>
        </p:nvSpPr>
        <p:spPr>
          <a:xfrm>
            <a:off x="731520" y="3429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342900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MRHOF (baseline), SR1, SR2 (proposed)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337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 txBox="1"/>
          <p:nvPr/>
        </p:nvSpPr>
        <p:spPr>
          <a:xfrm>
            <a:off x="6400800" y="3429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Success Rate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42900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70%, 80%, 90% (tested separately)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 txBox="1"/>
          <p:nvPr/>
        </p:nvSpPr>
        <p:spPr>
          <a:xfrm>
            <a:off x="731520" y="4480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Range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606040" y="448056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 txBox="1"/>
          <p:nvPr/>
        </p:nvSpPr>
        <p:spPr>
          <a:xfrm>
            <a:off x="6400800" y="4480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Duration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48056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hour, 5 repetitions per configuration, averaged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Delivery Rate &amp; Parent Switches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Delivery Ratio (%)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5486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097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Parent Switches</a:t>
            </a:r>
            <a:endParaRPr lang="en-US" sz="13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6217920" y="1463040"/>
          <a:ext cx="5486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709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SR1 and SR2 improve packet delivery over baseline MRHOF, especially at lower Rx rates (weaker links) — and dramatically reduce parent-switch counts, most notably SR1.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Latency &amp; Discussion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43000"/>
          <a:ext cx="53035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1430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2"/>
          <p:cNvSpPr/>
          <p:nvPr/>
        </p:nvSpPr>
        <p:spPr>
          <a:xfrm>
            <a:off x="6355080" y="1440180"/>
            <a:ext cx="457200" cy="457200"/>
          </a:xfrm>
          <a:prstGeom prst="ellipse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6355080" y="1440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25272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50% Faster Delivery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581912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weak-link conditions (low Rx rate), SR1/SR2 reduce delay by up to 50% versus MRHOF.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23317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6355080" y="26289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6355080" y="2628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244144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Buffer Overflows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2770632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parent switches mean fewer packets stuck in limited node buffers awaiting new-parent cell allocation.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17920" y="35204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6355080" y="38176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6355080" y="3817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363016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Is Minimal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3959352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in stability and delivery come at negligible cost to rank-computation complexity.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1CA9C9">
              <a:alpha val="2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9875520" y="4572000"/>
            <a:ext cx="3840480" cy="3840480"/>
          </a:xfrm>
          <a:prstGeom prst="ellipse">
            <a:avLst/>
          </a:prstGeom>
          <a:solidFill>
            <a:srgbClr val="E8A33D">
              <a:alpha val="2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7680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Objective Functions (SR1, SR2) dynamically scale RPL's parent-switching threshold using neighbor count or allocated-cell count.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significantly reduce unnecessary parent switches versus standard MRHOF — SR1 shows the strongest stability gains.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delivery time improves by up to 50% under weak-link conditions, where stability matters most.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enhance these objective functions with reinforcement-learning-based approaches for adaptive, data-driven parent selection.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778240" y="1371600"/>
            <a:ext cx="2834640" cy="4206240"/>
          </a:xfrm>
          <a:prstGeom prst="roundRect">
            <a:avLst>
              <a:gd name="adj" fmla="val 3871"/>
            </a:avLst>
          </a:prstGeom>
          <a:solidFill>
            <a:srgbClr val="1CA9C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891540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915400" y="2560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packet delivery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weak links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98280" y="3291840"/>
            <a:ext cx="2194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8915400" y="3474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nodes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topology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4297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sercan.kulcu@ceng.ktu.edu.tr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985</Words>
  <Application>Microsoft Office PowerPoint</Application>
  <PresentationFormat>Widescreen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Sercan Kulcu</cp:lastModifiedBy>
  <cp:revision>3</cp:revision>
  <dcterms:created xsi:type="dcterms:W3CDTF">2026-09-10T06:53:48Z</dcterms:created>
  <dcterms:modified xsi:type="dcterms:W3CDTF">2026-09-10T06:57:04Z</dcterms:modified>
</cp:coreProperties>
</file>