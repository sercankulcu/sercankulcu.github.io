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365760"/>
            <a:ext cx="5852160" cy="5852160"/>
          </a:xfrm>
          <a:prstGeom prst="ellipse">
            <a:avLst/>
          </a:prstGeom>
          <a:ln w="12700">
            <a:solidFill>
              <a:srgbClr val="3E7CA6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1097280"/>
            <a:ext cx="4389120" cy="4389120"/>
          </a:xfrm>
          <a:prstGeom prst="ellipse">
            <a:avLst/>
          </a:prstGeom>
          <a:ln w="12700">
            <a:solidFill>
              <a:srgbClr val="3E7CA6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1828800"/>
            <a:ext cx="2926080" cy="2926080"/>
          </a:xfrm>
          <a:prstGeom prst="ellipse">
            <a:avLst/>
          </a:prstGeom>
          <a:ln w="12700">
            <a:solidFill>
              <a:srgbClr val="3E7CA6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2560320"/>
            <a:ext cx="1463040" cy="1463040"/>
          </a:xfrm>
          <a:prstGeom prst="ellipse">
            <a:avLst/>
          </a:prstGeom>
          <a:ln w="12700">
            <a:solidFill>
              <a:srgbClr val="3E7CA6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0" y="2103120"/>
            <a:ext cx="91440" cy="91440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3749040"/>
            <a:ext cx="82296" cy="82296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8" name="Shape 6"/>
          <p:cNvSpPr/>
          <p:nvPr/>
        </p:nvSpPr>
        <p:spPr>
          <a:xfrm>
            <a:off x="9966960" y="5029200"/>
            <a:ext cx="73152" cy="73152"/>
          </a:xfrm>
          <a:prstGeom prst="ellipse">
            <a:avLst/>
          </a:prstGeom>
          <a:solidFill>
            <a:srgbClr val="F2C230"/>
          </a:solidFill>
          <a:ln/>
        </p:spPr>
      </p:sp>
      <p:sp>
        <p:nvSpPr>
          <p:cNvPr id="9" name="Shape 7"/>
          <p:cNvSpPr/>
          <p:nvPr/>
        </p:nvSpPr>
        <p:spPr>
          <a:xfrm>
            <a:off x="-1280160" y="4937760"/>
            <a:ext cx="2926080" cy="2926080"/>
          </a:xfrm>
          <a:prstGeom prst="ellipse">
            <a:avLst/>
          </a:prstGeom>
          <a:solidFill>
            <a:srgbClr val="13456E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3716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ARTICLE  ·  IEEE ACCESS, VOLUME 14  · 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82880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Enhancing Radar PPI-Based Maritime Object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Using Hybrid Preprocessing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Deep Learning Approach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402336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YOLO models see small, low-contrast buoys through sea clutter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2743200" cy="0"/>
          </a:xfrm>
          <a:prstGeom prst="line">
            <a:avLst/>
          </a:prstGeom>
          <a:noFill/>
          <a:ln w="31750">
            <a:solidFill>
              <a:srgbClr val="F2C2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8463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Sercan Külcü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Engineering, Giresun University, Türkiye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6309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Access, vol. 14, pp. 111715–111730, 2026  ·  doi:10.1109/ACCESS.2026.3715472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This Study Achieve?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6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9842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pipeline: domain-specific image preprocessing combined with YOLOv8s and YOLOv12s, enhanced with a P2 feature layer and an area-aware loss.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78308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6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198424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Simulated-Data Result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256032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configuration reaches 0.958 mAP50 and 0.812 mAP50-95 on 350 simulated radar frames.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6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4434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40740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Real-Data Result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98348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real-world DAAN dataset, the same ideas push mAP50 from 0.698 (raw baseline) up to 0.922.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42062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EAF1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4434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440740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29400" y="498348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gains are for small, low-contrast buoys — exactly the objects that are easiest to miss and most critical for safe navigation.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Külcü (2026)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04288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04288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MOTIVATION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Standard Detectors Struggle on Radar?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AF1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📻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208483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≠ Camera Images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PPI images have diffuse boundaries, grey-scale intensity instead of colour, and clutter patterns that look like real targets.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AF1F6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057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60920" y="2084832"/>
            <a:ext cx="4069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Weak Targets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20840" y="2697480"/>
            <a:ext cx="4617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Buoys are small and low-contrast. Off-the-shelf YOLO models tend to miss them or place loose, inaccurate boxes.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image-processing fixes (thresholding, morphology) exist, but they are rarely built into an end-to-end deep learning pipeline — and newer YOLO variants are rarely tested specifically on radar PPI data.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93776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071B2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937760"/>
            <a:ext cx="10698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connects the two worlds: it builds domain-specific preprocessing directly into a modern YOLO pipeline, and adds architecture changes aimed squarely at small, low-contrast maritime targets.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 (Külcü 2026)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Contributions to Maritime Radar Detection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0F2B4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🔬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216712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high-resolution P2 layer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selected YOLO models to keep fine spatial detail for small and low-contrast objects.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9659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0F2B44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148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406640" y="216712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task-specific, area-aware loss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720840" y="27889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extra training weight to bounding boxes smaller than 8×8 pixels — exactly the safety-critical small targets.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0F2B44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251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08760" y="427024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five-model comparison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48920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YOLOv5s, v8s, v10s, v11s, and v12s, all evaluated on the same 350-frame simulated radar dataset.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40690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0F2B44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4251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406640" y="427024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external validation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720840" y="48920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 is tested on the real DAAN marine radar dataset — not just simulated data.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DATASET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350-Frame Simulated Radar Dataset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0350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 real bridge simulator, not hand-drawn images</a:t>
            </a:r>
            <a:endParaRPr lang="en-US" sz="14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come from the Wärtsilä NTPro 5000® Bridge Simulator, which models realistic maritime navigation scenes.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object classes: fixed objects (buoys), targets (moving vessels), and landmasses (coastlines).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are auto-labelled first, then manually cross-checked for accuracy.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were sampled at intervals across a ~2-hour recording — not consecutive video frames — to maximize scene diversity.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071B2E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0" y="19202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778240" y="19202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frames: 70% train / 20% val / 10% test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324612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071B2E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333756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7,847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778240" y="33375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object instances in total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466344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071B2E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0" y="475488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C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47.6%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778240" y="47548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instances are landmass — the most common class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III-A, Tables 1–2 (Külcü 2026)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66544" cy="347472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66544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 · METHOD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Four-Step Preprocessing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485900" y="2103120"/>
            <a:ext cx="640080" cy="640080"/>
          </a:xfrm>
          <a:prstGeom prst="ellipse">
            <a:avLst/>
          </a:prstGeom>
          <a:solidFill>
            <a:srgbClr val="13456E"/>
          </a:solidFill>
          <a:ln/>
        </p:spPr>
      </p:sp>
      <p:sp>
        <p:nvSpPr>
          <p:cNvPr id="7" name="Text 5"/>
          <p:cNvSpPr/>
          <p:nvPr/>
        </p:nvSpPr>
        <p:spPr>
          <a:xfrm>
            <a:off x="14859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HSV Colour Space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47472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each image from RGB to Hue-Saturation-Value, separating colour from brightness.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55848" y="187452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384548" y="2103120"/>
            <a:ext cx="640080" cy="640080"/>
          </a:xfrm>
          <a:prstGeom prst="ellipse">
            <a:avLst/>
          </a:prstGeom>
          <a:solidFill>
            <a:srgbClr val="13456E"/>
          </a:solidFill>
          <a:ln/>
        </p:spPr>
      </p:sp>
      <p:sp>
        <p:nvSpPr>
          <p:cNvPr id="12" name="Text 10"/>
          <p:cNvSpPr/>
          <p:nvPr/>
        </p:nvSpPr>
        <p:spPr>
          <a:xfrm>
            <a:off x="4384548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38728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Colour Threshold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84448" y="347472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the narrow yellow hue range that marine radar displays use for strong target echoes.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54496" y="187452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283196" y="2103120"/>
            <a:ext cx="640080" cy="640080"/>
          </a:xfrm>
          <a:prstGeom prst="ellipse">
            <a:avLst/>
          </a:prstGeom>
          <a:solidFill>
            <a:srgbClr val="13456E"/>
          </a:solidFill>
          <a:ln/>
        </p:spPr>
      </p:sp>
      <p:sp>
        <p:nvSpPr>
          <p:cNvPr id="17" name="Text 15"/>
          <p:cNvSpPr/>
          <p:nvPr/>
        </p:nvSpPr>
        <p:spPr>
          <a:xfrm>
            <a:off x="7283196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37376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Adaptive Binarization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83096" y="347472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locally-computed, Gaussian-weighted threshold turns the image into clean, high-contrast black-and-white regions.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53144" y="187452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81844" y="2103120"/>
            <a:ext cx="640080" cy="640080"/>
          </a:xfrm>
          <a:prstGeom prst="ellipse">
            <a:avLst/>
          </a:prstGeom>
          <a:solidFill>
            <a:srgbClr val="13456E"/>
          </a:solidFill>
          <a:ln/>
        </p:spPr>
      </p:sp>
      <p:sp>
        <p:nvSpPr>
          <p:cNvPr id="22" name="Text 20"/>
          <p:cNvSpPr/>
          <p:nvPr/>
        </p:nvSpPr>
        <p:spPr>
          <a:xfrm>
            <a:off x="10181844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336024" y="28803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Morphological Closing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81744" y="3474720"/>
            <a:ext cx="224028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11×11 kernel joins small gaps and fragments in each echo, without merging unrelated targets together.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52578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cleaner, high-contrast echoes with fewer clutter artefacts — a much easier input for any YOLO model to learn from.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III-B, Eq. (1)–(4) (Külcü 2026)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66544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66544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3.B · METHOD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Picking the Right Morphology Kernel Size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sizes from 1×1 to 13×13 were tested to join broken echo fragments. Too small, and echoes stay fragmented; too large, and unrelated echoes merge together.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EAF1F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432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45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7×7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79476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gaps — echoes stay broken into fragments, causing missed or split detections.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70248" y="251460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071B2E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27432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C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11×11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53128" y="3337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right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44568" y="379476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small gaps and connects fragmented land or coastline reflections, without over-merging separate targets.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3296" y="251460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EAF1F6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274320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45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11×11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66176" y="3337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large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57616" y="379476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Oversmooths detail and risks merging genuinely separate, independent echoes into one.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III-B-4, Fig. 2 (Külcü 2026)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66544" cy="347472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66544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3.C · METHOD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Contours into Bounding-Box Labels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detected contour, the bounding-box area decides its class — a simple, reproducible way to bootstrap annotations before manual review: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06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26243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(buoys)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&lt; T_fixed — small, stationary objects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70248" y="242316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2606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🚢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93208" y="26243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(vessels)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44568" y="32004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T_fixed ≤ Area &lt; T_target — moderately sized, dynamic objects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3296" y="242316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2606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🏝️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906256" y="26243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Landmass (coastline)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57616" y="32004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≥ T_target — large, stable regions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43484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071B2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5720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caveat, stated by the author: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892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alone can't capture range or aspect-angle effects, so this is only an initial annotation aid — every automatically generated label is manually cross-validated and corrected afterward.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III-C, Eq. (5), Algorithm 2 (Külcü 2026)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66544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66544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3.D · MODELS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YOLO Generations, Head to Head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914400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Key Idea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YOLOv5s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Lightweight, anchor-based baseline — solid, but anchors don't suit maritime targets' variable shapes well.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Anchor-free detection with decoupled heads — better at small, scattered, low-contrast targets.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YOLOv10s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backbone (ELAN) for resource-constrained, real-time environments.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YOLOv11s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on v8s with a refined backbone/neck and improved training for better generalization.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YOLOv12s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B21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Attention-centric design (R-ELAN, Area Attention) — the newest, most accuracy-focused variant tested.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III-D (Külcü 2026)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04288" cy="347472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04288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3.D.1 · METHOD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Smaller: The P2 Feature Layer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problem?</a:t>
            </a:r>
            <a:endParaRPr lang="en-US" sz="14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YOLOv12s looks at feature maps at scales P3, P4, and P5 — each one coarser (lower resolution) than the last.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tiny objects like buoys, even the finest of these scales can be too coarse to keep enough detail.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add a new, higher-resolution P2 layer — a quarter of the input resolution — feeding directly into the detection head.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0"/>
            <a:ext cx="4937760" cy="4114800"/>
          </a:xfrm>
          <a:prstGeom prst="roundRect">
            <a:avLst>
              <a:gd name="adj" fmla="val 1778"/>
            </a:avLst>
          </a:prstGeom>
          <a:solidFill>
            <a:srgbClr val="071B2E"/>
          </a:solidFill>
          <a:ln/>
        </p:spPr>
      </p:sp>
      <p:sp>
        <p:nvSpPr>
          <p:cNvPr id="7" name="Text 5"/>
          <p:cNvSpPr/>
          <p:nvPr/>
        </p:nvSpPr>
        <p:spPr>
          <a:xfrm>
            <a:off x="6995160" y="2011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head now covers 4 scales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995160" y="2514600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F2C230"/>
          </a:solidFill>
          <a:ln/>
        </p:spPr>
      </p:sp>
      <p:sp>
        <p:nvSpPr>
          <p:cNvPr id="9" name="Text 7"/>
          <p:cNvSpPr/>
          <p:nvPr/>
        </p:nvSpPr>
        <p:spPr>
          <a:xfrm>
            <a:off x="7178040" y="25146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/ 4  (new — high-res, for small objects)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95160" y="3108960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13314F"/>
          </a:solidFill>
          <a:ln/>
        </p:spPr>
      </p:sp>
      <p:sp>
        <p:nvSpPr>
          <p:cNvPr id="11" name="Text 9"/>
          <p:cNvSpPr/>
          <p:nvPr/>
        </p:nvSpPr>
        <p:spPr>
          <a:xfrm>
            <a:off x="7178040" y="31089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/ 8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95160" y="3703320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13314F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040" y="37033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/ 16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95160" y="4297680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13314F"/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4297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/ 32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995160" y="50749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attention-based building blocks of YOLOv12s (R-ELAN, Area Attention) stay in place — P2 is an addition, not a replacement.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III-D-1, Eq. (8)–(10), Fig. 4 (Külcü 2026)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04288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04288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3.D.2 · METHOD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Teaching the Model to Care About Small Objects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486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training, small bounding boxes naturally contribute a weaker signal to the loss — so the model can end up under-learning them.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double the loss weight for any ground-truth box smaller than 8×8 pixels — about the median size of a buoy in this dataset.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 of 2.0 was chosen empirically: higher values over-focus on small targets and start to hurt accuracy on normal-sized objects.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09360" y="19202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AF1F6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21031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345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wᵢ = 2.0  if box area &lt; 8×8 px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345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wᵢ = 1.0  otherwise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35204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071B2E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3657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changes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37960" y="4069080"/>
            <a:ext cx="4937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 is applied to both the IoU loss and the Distribution Focal Loss for small boxes — pushing the model to fit them more tightly, without touching how larger vessels or landmasses are trained.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Section III-D-2, Eq. (11)–(12) (Külcü 2026)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85416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85416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4.C · 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Baseline: Five Models on Raw, Unprocessed Data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performance (all 3 classes combined) for each model, trained and tested with no preprocessing at all.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2194560"/>
                <a:gridCol w="219456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mAP50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mAP50-95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YOLOv5s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0.748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0.820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0.663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YOLOv8s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0.837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0.840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0.685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YOLOv10s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0.717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0.766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0.788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0.637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YOLOv11s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0.770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0.662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YOLOv12s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0.836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0.686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98348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071B2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093208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YOLOv12s leads overall —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fixed objects (buoys) are the clear weak point for every model: even the best score only 0.321 mAP50-95 on that class alone. Small, low-contrast targets are the main limiting factor of the raw-data baseline.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 3, Section IV-C (Külcü 2026)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85416" cy="347472"/>
          </a:xfrm>
          <a:prstGeom prst="roundRect">
            <a:avLst>
              <a:gd name="adj" fmla="val 50000"/>
            </a:avLst>
          </a:prstGeom>
          <a:solidFill>
            <a:srgbClr val="3E7C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85416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4.D · 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Lifts Every Model — Especially Buoys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5 models, same dataset — now trained and tested on the preprocessed (clutter-reduced) radar frames.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2194560"/>
                <a:gridCol w="219456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mAP50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mAP50-95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YOLOv5s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0.859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0.890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0.902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0.742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YOLOv8s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0.887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0.891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0.910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0.762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YOLOv10s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0.859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0.885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0.742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YOLOv11s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0.839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0.878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0.884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0.739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YOLOv12s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0.886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0.904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0.917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0.748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98348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071B2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093208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fixed-object (buoy) class sees the biggest jump: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YOLOv12s, mAP50 rises from 0.576 to 0.772, and mAP50-95 rises from 0.321 to 0.503 — simply from cleaning up the input image, with no architecture change at all.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 4, Section IV-D (Külcü 2026)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85416" cy="347472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85416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4.E · 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P2 + Area-Aware Loss: The Full Recipe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 and YOLOv12s, tested on preprocessed data, with the P2 layer alone, and then with P2 + the area-aware loss together.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2011680"/>
                <a:gridCol w="2011680"/>
                <a:gridCol w="19202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Configuration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mAP50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mAP50-95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YOLOv8s + P2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0.898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0.942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0.941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0.789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YOLOv12s + P2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0.901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0.933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0.946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YOLOv8s + P2 + Loss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0.895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0.967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0.957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YOLOv12s + P2 + Loss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0.889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0.964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0.958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2135"/>
                          </a:solidFill>
                        </a:rPr>
                        <a:t>0.812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572000"/>
            <a:ext cx="11247120" cy="1188720"/>
          </a:xfrm>
          <a:prstGeom prst="roundRect">
            <a:avLst>
              <a:gd name="adj" fmla="val 6154"/>
            </a:avLst>
          </a:prstGeom>
          <a:solidFill>
            <a:srgbClr val="071B2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681728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converge to nearly identical, excellent results: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0.958 mAP50 and 0.812 mAP50-95. The area-aware loss mainly boosts recall — it makes sure weak, buoy-like echoes are no longer ignored during training.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 5, Section IV-E (Külcü 2026)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2C23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42316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4.F–G · 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All This Accuracy Worth the Extra Computation?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071B2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574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C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~36 ms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inference time for baseline models on raw images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70248" y="187452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071B2E"/>
          </a:solidFill>
          <a:ln/>
        </p:spPr>
      </p:sp>
      <p:sp>
        <p:nvSpPr>
          <p:cNvPr id="9" name="Text 7"/>
          <p:cNvSpPr/>
          <p:nvPr/>
        </p:nvSpPr>
        <p:spPr>
          <a:xfrm>
            <a:off x="4453128" y="20574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C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 ms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44568" y="26974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inference time on preprocessed images (smaller, cleaner input)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83296" y="187452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071B2E"/>
          </a:solidFill>
          <a:ln/>
        </p:spPr>
      </p:sp>
      <p:sp>
        <p:nvSpPr>
          <p:cNvPr id="12" name="Text 10"/>
          <p:cNvSpPr/>
          <p:nvPr/>
        </p:nvSpPr>
        <p:spPr>
          <a:xfrm>
            <a:off x="8266176" y="2057400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C2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+2–8 ms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57616" y="269748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latency for P2-enhanced models — the accuracy/speed trade-off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112471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backbones as an alternative</a:t>
            </a:r>
            <a:endParaRPr lang="en-US" sz="14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GhostNet, MobileNetV3, EfficientNet-B0, and ShuffleNetV2 were also tested on the preprocessed data as lighter alternatives to full YOLO models.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ShuffleNetV2 is the fastest and lightest (1.8 GFLOPs), at a small accuracy cost.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GhostNet gives the best balance among the lightweight options — competitive mAP with far fewer parameters than a full YOLO model.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Tables 6–9, Sections IV-F–G (Külcü 2026)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185416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185416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4.H · 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Test: Does This Work on Real Radar Data?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previous results used simulated radar. Here the exact same models are tested — without retraining — on real, ship-captured radar from the DAAN dataset (Baltic Sea):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2471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463040"/>
                <a:gridCol w="1463040"/>
                <a:gridCol w="1463040"/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Configuration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TP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FP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mAP50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mAP50-95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5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2135"/>
                          </a:solidFill>
                        </a:rPr>
                        <a:t>Raw (baseline)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3301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41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1339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0.698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0.675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2135"/>
                          </a:solidFill>
                        </a:rPr>
                        <a:t>Preprocessed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4296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230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344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0.915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0.724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2135"/>
                          </a:solidFill>
                        </a:rPr>
                        <a:t>Preproc. + P2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4306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315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334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0.917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B2135"/>
                          </a:solidFill>
                        </a:rPr>
                        <a:t>0.741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2135"/>
                          </a:solidFill>
                        </a:rPr>
                        <a:t>Preproc. + P2 + Loss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2135"/>
                          </a:solidFill>
                        </a:rPr>
                        <a:t>4329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2135"/>
                          </a:solidFill>
                        </a:rPr>
                        <a:t>315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2135"/>
                          </a:solidFill>
                        </a:rPr>
                        <a:t>311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2135"/>
                          </a:solidFill>
                        </a:rPr>
                        <a:t>0.922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A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B2135"/>
                          </a:solidFill>
                        </a:rPr>
                        <a:t>0.745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A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66344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071B2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800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2C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detections (FN) drop from 1,339 to 311 — a 77% reduction.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gains found on simulated data transfer to real radar imagery: mAP50 climbs from 0.698 to 0.922, confirming this isn't just an artefact of the simulator.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Table 10, Section IV-H (Külcü 2026)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291840" cy="3291840"/>
          </a:xfrm>
          <a:prstGeom prst="ellipse">
            <a:avLst/>
          </a:prstGeom>
          <a:solidFill>
            <a:srgbClr val="13456E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and Architecture Are Complementary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503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preprocessing alone closes most of the gap on small, low-contrast buoys — the hardest class in the raw-data baseline.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P2 layer and area-aware loss add a further, targeted boost to small-object sensitivity, without hurting performance on vessels or landmasses.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Crucially, these gains hold up on real DAAN radar data, not just the simulator — evidence of genuine cross-domain generalization.</a:t>
            </a:r>
            <a:endParaRPr lang="en-US" sz="1450" dirty="0"/>
          </a:p>
          <a:p>
            <a:pPr marL="254000" indent="-2540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AF1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collect larger real-world radar datasets from multiple platforms, and explore domain-adaptation methods to generalize across different radar systems.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0" cy="347472"/>
          </a:xfrm>
          <a:prstGeom prst="roundRect">
            <a:avLst>
              <a:gd name="adj" fmla="val 50000"/>
            </a:avLst>
          </a:prstGeom>
          <a:solidFill>
            <a:srgbClr val="1345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011680" cy="34747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21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EAF1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Külcü, S. (2026).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Radar PPI-Based Maritime Object Detection Using Hybrid Preprocessing and Deep Learning Approach.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B21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Access, 14, 111715–111730. doi:10.1109/ACCESS.2026.3715472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dataset: DAAN real-world marine radar repository, German Aerospace Center (DLR)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is an academic summary of the research paper above. For the full reference list (46 citations), please see the original article.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345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2026-09-10T04:46:38Z</dcterms:created>
  <dcterms:modified xsi:type="dcterms:W3CDTF">2026-09-10T04:46:38Z</dcterms:modified>
</cp:coreProperties>
</file>