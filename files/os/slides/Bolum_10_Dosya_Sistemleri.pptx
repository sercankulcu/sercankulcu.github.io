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47" r:id="rId1"/>
  </p:sldMasterIdLst>
  <p:notesMasterIdLst>
    <p:notesMasterId r:id="rId105"/>
  </p:notesMasterIdLst>
  <p:sldIdLst>
    <p:sldId id="256" r:id="rId2"/>
    <p:sldId id="257" r:id="rId3"/>
    <p:sldId id="429" r:id="rId4"/>
    <p:sldId id="315" r:id="rId5"/>
    <p:sldId id="317" r:id="rId6"/>
    <p:sldId id="313" r:id="rId7"/>
    <p:sldId id="314" r:id="rId8"/>
    <p:sldId id="411" r:id="rId9"/>
    <p:sldId id="412" r:id="rId10"/>
    <p:sldId id="413" r:id="rId11"/>
    <p:sldId id="414" r:id="rId12"/>
    <p:sldId id="318" r:id="rId13"/>
    <p:sldId id="330" r:id="rId14"/>
    <p:sldId id="319" r:id="rId15"/>
    <p:sldId id="320" r:id="rId16"/>
    <p:sldId id="321" r:id="rId17"/>
    <p:sldId id="331" r:id="rId18"/>
    <p:sldId id="322" r:id="rId19"/>
    <p:sldId id="415" r:id="rId20"/>
    <p:sldId id="416" r:id="rId21"/>
    <p:sldId id="324" r:id="rId22"/>
    <p:sldId id="409" r:id="rId23"/>
    <p:sldId id="417" r:id="rId24"/>
    <p:sldId id="408" r:id="rId25"/>
    <p:sldId id="332" r:id="rId26"/>
    <p:sldId id="325" r:id="rId27"/>
    <p:sldId id="428" r:id="rId28"/>
    <p:sldId id="326" r:id="rId29"/>
    <p:sldId id="327" r:id="rId30"/>
    <p:sldId id="328" r:id="rId31"/>
    <p:sldId id="333" r:id="rId32"/>
    <p:sldId id="334" r:id="rId33"/>
    <p:sldId id="335" r:id="rId34"/>
    <p:sldId id="337" r:id="rId35"/>
    <p:sldId id="345" r:id="rId36"/>
    <p:sldId id="338" r:id="rId37"/>
    <p:sldId id="346" r:id="rId38"/>
    <p:sldId id="418" r:id="rId39"/>
    <p:sldId id="339" r:id="rId40"/>
    <p:sldId id="347" r:id="rId41"/>
    <p:sldId id="340" r:id="rId42"/>
    <p:sldId id="348" r:id="rId43"/>
    <p:sldId id="341" r:id="rId44"/>
    <p:sldId id="342" r:id="rId45"/>
    <p:sldId id="350" r:id="rId46"/>
    <p:sldId id="349" r:id="rId47"/>
    <p:sldId id="343" r:id="rId48"/>
    <p:sldId id="420" r:id="rId49"/>
    <p:sldId id="344" r:id="rId50"/>
    <p:sldId id="329" r:id="rId51"/>
    <p:sldId id="359" r:id="rId52"/>
    <p:sldId id="351" r:id="rId53"/>
    <p:sldId id="352" r:id="rId54"/>
    <p:sldId id="353" r:id="rId55"/>
    <p:sldId id="354" r:id="rId56"/>
    <p:sldId id="355" r:id="rId57"/>
    <p:sldId id="360" r:id="rId58"/>
    <p:sldId id="357" r:id="rId59"/>
    <p:sldId id="430" r:id="rId60"/>
    <p:sldId id="421" r:id="rId61"/>
    <p:sldId id="361" r:id="rId62"/>
    <p:sldId id="358" r:id="rId63"/>
    <p:sldId id="431" r:id="rId64"/>
    <p:sldId id="422" r:id="rId65"/>
    <p:sldId id="393" r:id="rId66"/>
    <p:sldId id="362" r:id="rId67"/>
    <p:sldId id="423" r:id="rId68"/>
    <p:sldId id="394" r:id="rId69"/>
    <p:sldId id="363" r:id="rId70"/>
    <p:sldId id="364" r:id="rId71"/>
    <p:sldId id="426" r:id="rId72"/>
    <p:sldId id="427" r:id="rId73"/>
    <p:sldId id="365" r:id="rId74"/>
    <p:sldId id="366" r:id="rId75"/>
    <p:sldId id="395" r:id="rId76"/>
    <p:sldId id="396" r:id="rId77"/>
    <p:sldId id="367" r:id="rId78"/>
    <p:sldId id="368" r:id="rId79"/>
    <p:sldId id="369" r:id="rId80"/>
    <p:sldId id="371" r:id="rId81"/>
    <p:sldId id="397" r:id="rId82"/>
    <p:sldId id="372" r:id="rId83"/>
    <p:sldId id="373" r:id="rId84"/>
    <p:sldId id="374" r:id="rId85"/>
    <p:sldId id="375" r:id="rId86"/>
    <p:sldId id="376" r:id="rId87"/>
    <p:sldId id="377" r:id="rId88"/>
    <p:sldId id="378" r:id="rId89"/>
    <p:sldId id="380" r:id="rId90"/>
    <p:sldId id="381" r:id="rId91"/>
    <p:sldId id="399" r:id="rId92"/>
    <p:sldId id="382" r:id="rId93"/>
    <p:sldId id="383" r:id="rId94"/>
    <p:sldId id="384" r:id="rId95"/>
    <p:sldId id="388" r:id="rId96"/>
    <p:sldId id="389" r:id="rId97"/>
    <p:sldId id="390" r:id="rId98"/>
    <p:sldId id="391" r:id="rId99"/>
    <p:sldId id="403" r:id="rId100"/>
    <p:sldId id="425" r:id="rId101"/>
    <p:sldId id="406" r:id="rId102"/>
    <p:sldId id="407" r:id="rId103"/>
    <p:sldId id="312" r:id="rId10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5BE1F-7669-4022-8D50-8115A32E15FC}" type="datetimeFigureOut">
              <a:rPr lang="tr-TR" smtClean="0"/>
              <a:t>5.05.2026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C0638-78AE-41D6-9F5A-0F3CEA1F995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8814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0638-78AE-41D6-9F5A-0F3CEA1F9952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2486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lang="en-US" sz="40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baseline="0" dirty="0">
                <a:solidFill>
                  <a:srgbClr val="002046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061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sz="32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1pPr>
            <a:lvl2pPr marL="6858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20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6834" y="6356350"/>
            <a:ext cx="6928834" cy="365125"/>
          </a:xfrm>
        </p:spPr>
        <p:txBody>
          <a:bodyPr/>
          <a:lstStyle/>
          <a:p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Sercan KÜLCÜ,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Tanenbaum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, Modern Operating Systems 3e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kitabından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faydalanılmıştır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.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Tüm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hakları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saklıdır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aseline="0"/>
            </a:lvl1pPr>
          </a:lstStyle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6214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3568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331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878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3273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63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4239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3394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5455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3609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0" y="288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89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8" r:id="rId1"/>
    <p:sldLayoutId id="2147483949" r:id="rId2"/>
    <p:sldLayoutId id="2147483950" r:id="rId3"/>
    <p:sldLayoutId id="2147483951" r:id="rId4"/>
    <p:sldLayoutId id="2147483952" r:id="rId5"/>
    <p:sldLayoutId id="2147483953" r:id="rId6"/>
    <p:sldLayoutId id="2147483954" r:id="rId7"/>
    <p:sldLayoutId id="2147483955" r:id="rId8"/>
    <p:sldLayoutId id="2147483956" r:id="rId9"/>
    <p:sldLayoutId id="2147483957" r:id="rId10"/>
    <p:sldLayoutId id="2147483958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 dirty="0"/>
              <a:t>Bölüm 10: Dosya Sistemleri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2800" b="1" dirty="0"/>
              <a:t>İşletim Sistemleri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11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Dosya Sistemleri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Birçok uygulama, sanal adres alanına sığmayacak kadar veri depolar.</a:t>
            </a:r>
          </a:p>
          <a:p>
            <a:r>
              <a:rPr lang="tr-TR" dirty="0"/>
              <a:t>Veriler, sürecin sona ermesinden sonra da kalıcı olmalı.</a:t>
            </a:r>
          </a:p>
          <a:p>
            <a:r>
              <a:rPr lang="tr-TR" dirty="0"/>
              <a:t>Birden çok süreç aynı anda verilere erişebilmeli.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232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Dosya Sistemi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Diskteki verilerin düzenlenmesi ve yönetilmesini sağlar.</a:t>
            </a:r>
          </a:p>
          <a:p>
            <a:r>
              <a:rPr lang="tr-TR" dirty="0"/>
              <a:t>İşletim sisteminin kritik bir bileşenidir.</a:t>
            </a:r>
          </a:p>
          <a:p>
            <a:r>
              <a:rPr lang="tr-TR" dirty="0"/>
              <a:t>Tasarlanırken,</a:t>
            </a:r>
          </a:p>
          <a:p>
            <a:pPr lvl="1"/>
            <a:r>
              <a:rPr lang="tr-TR" dirty="0"/>
              <a:t>diskin boyutu, </a:t>
            </a:r>
          </a:p>
          <a:p>
            <a:pPr lvl="1"/>
            <a:r>
              <a:rPr lang="tr-TR" dirty="0"/>
              <a:t>depolanan veri türü,</a:t>
            </a:r>
          </a:p>
          <a:p>
            <a:pPr lvl="1"/>
            <a:r>
              <a:rPr lang="tr-TR" dirty="0"/>
              <a:t>verilere erişen kullanıcı sayısı, gibi</a:t>
            </a:r>
          </a:p>
          <a:p>
            <a:pPr lvl="1"/>
            <a:r>
              <a:rPr lang="tr-TR" dirty="0"/>
              <a:t>sistemin ihtiyaçları dikkate alınır.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817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Dosya Sistemleri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Dosyaları saklamak için </a:t>
            </a:r>
            <a:r>
              <a:rPr lang="tr-TR" i="1" dirty="0"/>
              <a:t>disk</a:t>
            </a:r>
            <a:r>
              <a:rPr lang="tr-TR" dirty="0"/>
              <a:t> kullanılır. Disk </a:t>
            </a:r>
            <a:r>
              <a:rPr lang="tr-TR" i="1" dirty="0"/>
              <a:t>bloklardan </a:t>
            </a:r>
            <a:r>
              <a:rPr lang="tr-TR" dirty="0"/>
              <a:t>oluşur.</a:t>
            </a:r>
          </a:p>
          <a:p>
            <a:r>
              <a:rPr lang="tr-TR" dirty="0"/>
              <a:t>Dosya sistemi diskten </a:t>
            </a:r>
            <a:r>
              <a:rPr lang="tr-TR" i="1" dirty="0"/>
              <a:t>blok </a:t>
            </a:r>
            <a:r>
              <a:rPr lang="tr-TR" i="1" dirty="0" err="1"/>
              <a:t>blok</a:t>
            </a:r>
            <a:r>
              <a:rPr lang="tr-TR" dirty="0"/>
              <a:t> okuma ve yazma yapar.</a:t>
            </a:r>
          </a:p>
          <a:p>
            <a:r>
              <a:rPr lang="tr-TR" dirty="0"/>
              <a:t>Bloklar ile başa çıkabilmek için dosya sistemi bir soyutlama sağlar.</a:t>
            </a:r>
          </a:p>
          <a:p>
            <a:r>
              <a:rPr lang="tr-TR" dirty="0"/>
              <a:t>Dosyalar, </a:t>
            </a:r>
          </a:p>
          <a:p>
            <a:pPr lvl="1"/>
            <a:r>
              <a:rPr lang="tr-TR" dirty="0"/>
              <a:t>Süreçler tarafından oluşturulur, </a:t>
            </a:r>
          </a:p>
          <a:p>
            <a:pPr lvl="1"/>
            <a:r>
              <a:rPr lang="tr-TR" dirty="0"/>
              <a:t>Bir diskte binlerce dosya bulunabilir.</a:t>
            </a:r>
          </a:p>
          <a:p>
            <a:pPr lvl="1"/>
            <a:r>
              <a:rPr lang="tr-TR" dirty="0"/>
              <a:t>Bellek </a:t>
            </a:r>
            <a:r>
              <a:rPr lang="tr-TR" i="1" dirty="0"/>
              <a:t>adres uzayına</a:t>
            </a:r>
            <a:r>
              <a:rPr lang="tr-TR" dirty="0"/>
              <a:t> benzeyen mantıksal veri </a:t>
            </a:r>
            <a:r>
              <a:rPr lang="tr-TR" i="1" dirty="0"/>
              <a:t>birimleridir</a:t>
            </a:r>
            <a:r>
              <a:rPr lang="tr-TR" dirty="0"/>
              <a:t>.</a:t>
            </a:r>
          </a:p>
          <a:p>
            <a:r>
              <a:rPr lang="tr-TR" dirty="0"/>
              <a:t>Dosya sistemi dosyaları yönetir. </a:t>
            </a:r>
          </a:p>
          <a:p>
            <a:pPr lvl="1"/>
            <a:r>
              <a:rPr lang="tr-TR" dirty="0"/>
              <a:t>Adlandırma, oluşturma, silme, erişilebilirlik, koruma gibi.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626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Dosya Sistemleri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Dosya sistemine iki farklı bakış.</a:t>
            </a:r>
          </a:p>
          <a:p>
            <a:pPr lvl="1"/>
            <a:r>
              <a:rPr lang="tr-TR" u="sng" dirty="0"/>
              <a:t>Kullanıcı</a:t>
            </a:r>
            <a:r>
              <a:rPr lang="tr-TR" dirty="0"/>
              <a:t>: dosya nasıl adlandırılır, oluşturulur, silinir, korunur?</a:t>
            </a:r>
          </a:p>
          <a:p>
            <a:pPr lvl="1"/>
            <a:r>
              <a:rPr lang="tr-TR" u="sng" dirty="0"/>
              <a:t>Uygulama</a:t>
            </a:r>
            <a:r>
              <a:rPr lang="tr-TR" dirty="0"/>
              <a:t>: dosya diskte nasıl saklanır? (</a:t>
            </a:r>
            <a:r>
              <a:rPr lang="tr-TR" i="1" dirty="0"/>
              <a:t>organize</a:t>
            </a:r>
            <a:r>
              <a:rPr lang="tr-TR" dirty="0"/>
              <a:t>)</a:t>
            </a:r>
          </a:p>
          <a:p>
            <a:r>
              <a:rPr lang="tr-TR" dirty="0"/>
              <a:t>Kullanıcı bakış açısıyla</a:t>
            </a:r>
          </a:p>
          <a:p>
            <a:pPr lvl="1"/>
            <a:r>
              <a:rPr lang="tr-TR" dirty="0"/>
              <a:t>Adlandırma (</a:t>
            </a:r>
            <a:r>
              <a:rPr lang="tr-TR" i="1" dirty="0" err="1"/>
              <a:t>naming</a:t>
            </a:r>
            <a:r>
              <a:rPr lang="tr-TR" dirty="0"/>
              <a:t>),</a:t>
            </a:r>
          </a:p>
          <a:p>
            <a:pPr lvl="1"/>
            <a:r>
              <a:rPr lang="tr-TR" dirty="0"/>
              <a:t>Yapı (</a:t>
            </a:r>
            <a:r>
              <a:rPr lang="tr-TR" i="1" dirty="0" err="1"/>
              <a:t>structure</a:t>
            </a:r>
            <a:r>
              <a:rPr lang="tr-TR" dirty="0"/>
              <a:t>),</a:t>
            </a:r>
          </a:p>
          <a:p>
            <a:pPr lvl="1"/>
            <a:r>
              <a:rPr lang="tr-TR" dirty="0"/>
              <a:t>Dizinler (</a:t>
            </a:r>
            <a:r>
              <a:rPr lang="tr-TR" i="1" dirty="0" err="1"/>
              <a:t>directories</a:t>
            </a:r>
            <a:r>
              <a:rPr lang="tr-TR" dirty="0"/>
              <a:t>).</a:t>
            </a:r>
          </a:p>
          <a:p>
            <a:pPr lvl="1"/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216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Adlandırma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Eski Windows sistemlerde </a:t>
            </a:r>
            <a:r>
              <a:rPr lang="tr-TR" i="1" dirty="0"/>
              <a:t>FAT16 </a:t>
            </a:r>
            <a:r>
              <a:rPr lang="tr-TR" dirty="0"/>
              <a:t>ve </a:t>
            </a:r>
            <a:r>
              <a:rPr lang="tr-TR" i="1" dirty="0"/>
              <a:t>FAT32 </a:t>
            </a:r>
            <a:r>
              <a:rPr lang="tr-TR" dirty="0"/>
              <a:t>kullanılmıştır.</a:t>
            </a:r>
          </a:p>
          <a:p>
            <a:r>
              <a:rPr lang="tr-TR" dirty="0"/>
              <a:t>Güncel Windows sistemler </a:t>
            </a:r>
            <a:r>
              <a:rPr lang="tr-TR" i="1" dirty="0"/>
              <a:t>NTFS</a:t>
            </a:r>
            <a:r>
              <a:rPr lang="tr-TR" dirty="0"/>
              <a:t> dosya sistemi kullanır.</a:t>
            </a:r>
          </a:p>
          <a:p>
            <a:r>
              <a:rPr lang="en-US" i="1" dirty="0"/>
              <a:t>New Technology File System (NTFS)</a:t>
            </a:r>
            <a:r>
              <a:rPr lang="tr-TR" i="1" dirty="0"/>
              <a:t>.</a:t>
            </a:r>
          </a:p>
          <a:p>
            <a:r>
              <a:rPr lang="tr-TR" i="1" dirty="0"/>
              <a:t>File </a:t>
            </a:r>
            <a:r>
              <a:rPr lang="tr-TR" i="1" dirty="0" err="1"/>
              <a:t>Allocation</a:t>
            </a:r>
            <a:r>
              <a:rPr lang="tr-TR" i="1" dirty="0"/>
              <a:t> </a:t>
            </a:r>
            <a:r>
              <a:rPr lang="tr-TR" i="1" dirty="0" err="1"/>
              <a:t>Table</a:t>
            </a:r>
            <a:r>
              <a:rPr lang="tr-TR" i="1" dirty="0"/>
              <a:t> (FAT).</a:t>
            </a:r>
          </a:p>
          <a:p>
            <a:r>
              <a:rPr lang="tr-TR" dirty="0"/>
              <a:t>Adın bir parçası olarak sonek (</a:t>
            </a:r>
            <a:r>
              <a:rPr lang="tr-TR" i="1" dirty="0" err="1"/>
              <a:t>suffix</a:t>
            </a:r>
            <a:r>
              <a:rPr lang="tr-TR" dirty="0"/>
              <a:t>) kullanır.</a:t>
            </a:r>
          </a:p>
          <a:p>
            <a:r>
              <a:rPr lang="tr-TR" dirty="0"/>
              <a:t>Sonek (</a:t>
            </a:r>
            <a:r>
              <a:rPr lang="tr-TR" i="1" dirty="0"/>
              <a:t>uzantı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Unix dosya soneklerinin bir anlam ifade etmesini zorlamazken, </a:t>
            </a:r>
          </a:p>
          <a:p>
            <a:pPr lvl="1"/>
            <a:r>
              <a:rPr lang="tr-TR" dirty="0"/>
              <a:t>DOS sistemde soneklerin bir anlamı vardır.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118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Sonek Örnekleri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Belgeler: 		.</a:t>
            </a:r>
            <a:r>
              <a:rPr lang="tr-TR" dirty="0" err="1"/>
              <a:t>doc</a:t>
            </a:r>
            <a:r>
              <a:rPr lang="tr-TR" dirty="0"/>
              <a:t>, .</a:t>
            </a:r>
            <a:r>
              <a:rPr lang="tr-TR" dirty="0" err="1"/>
              <a:t>docx</a:t>
            </a:r>
            <a:r>
              <a:rPr lang="tr-TR" dirty="0"/>
              <a:t>, .</a:t>
            </a:r>
            <a:r>
              <a:rPr lang="tr-TR" dirty="0" err="1"/>
              <a:t>pdf</a:t>
            </a:r>
            <a:r>
              <a:rPr lang="tr-TR" dirty="0"/>
              <a:t>, .</a:t>
            </a:r>
            <a:r>
              <a:rPr lang="tr-TR" dirty="0" err="1"/>
              <a:t>txt</a:t>
            </a:r>
            <a:r>
              <a:rPr lang="tr-TR" dirty="0"/>
              <a:t>, .</a:t>
            </a:r>
            <a:r>
              <a:rPr lang="tr-TR" dirty="0" err="1"/>
              <a:t>rtf</a:t>
            </a:r>
            <a:r>
              <a:rPr lang="tr-TR" dirty="0"/>
              <a:t>, .</a:t>
            </a:r>
            <a:r>
              <a:rPr lang="tr-TR" dirty="0" err="1"/>
              <a:t>odt</a:t>
            </a:r>
            <a:endParaRPr lang="tr-TR" dirty="0"/>
          </a:p>
          <a:p>
            <a:r>
              <a:rPr lang="tr-TR" dirty="0"/>
              <a:t>Görseller: 		.</a:t>
            </a:r>
            <a:r>
              <a:rPr lang="tr-TR" dirty="0" err="1"/>
              <a:t>jpg</a:t>
            </a:r>
            <a:r>
              <a:rPr lang="tr-TR" dirty="0"/>
              <a:t>, .</a:t>
            </a:r>
            <a:r>
              <a:rPr lang="tr-TR" dirty="0" err="1"/>
              <a:t>jpeg</a:t>
            </a:r>
            <a:r>
              <a:rPr lang="tr-TR" dirty="0"/>
              <a:t>, .</a:t>
            </a:r>
            <a:r>
              <a:rPr lang="tr-TR" dirty="0" err="1"/>
              <a:t>png</a:t>
            </a:r>
            <a:r>
              <a:rPr lang="tr-TR" dirty="0"/>
              <a:t>, .</a:t>
            </a:r>
            <a:r>
              <a:rPr lang="tr-TR" dirty="0" err="1"/>
              <a:t>gif</a:t>
            </a:r>
            <a:r>
              <a:rPr lang="tr-TR" dirty="0"/>
              <a:t>, .</a:t>
            </a:r>
            <a:r>
              <a:rPr lang="tr-TR" dirty="0" err="1"/>
              <a:t>bmp</a:t>
            </a:r>
            <a:r>
              <a:rPr lang="tr-TR" dirty="0"/>
              <a:t>, .</a:t>
            </a:r>
            <a:r>
              <a:rPr lang="tr-TR" dirty="0" err="1"/>
              <a:t>tiff</a:t>
            </a:r>
            <a:endParaRPr lang="tr-TR" dirty="0"/>
          </a:p>
          <a:p>
            <a:r>
              <a:rPr lang="tr-TR" dirty="0"/>
              <a:t>Ses: 		.mp3, .</a:t>
            </a:r>
            <a:r>
              <a:rPr lang="tr-TR" dirty="0" err="1"/>
              <a:t>wav</a:t>
            </a:r>
            <a:r>
              <a:rPr lang="tr-TR" dirty="0"/>
              <a:t>, .</a:t>
            </a:r>
            <a:r>
              <a:rPr lang="tr-TR" dirty="0" err="1"/>
              <a:t>aiff</a:t>
            </a:r>
            <a:r>
              <a:rPr lang="tr-TR" dirty="0"/>
              <a:t>, .m4a, .</a:t>
            </a:r>
            <a:r>
              <a:rPr lang="tr-TR" dirty="0" err="1"/>
              <a:t>wma</a:t>
            </a:r>
            <a:endParaRPr lang="tr-TR" dirty="0"/>
          </a:p>
          <a:p>
            <a:r>
              <a:rPr lang="tr-TR" dirty="0"/>
              <a:t>Video: 		.mp4, .</a:t>
            </a:r>
            <a:r>
              <a:rPr lang="tr-TR" dirty="0" err="1"/>
              <a:t>avi</a:t>
            </a:r>
            <a:r>
              <a:rPr lang="tr-TR" dirty="0"/>
              <a:t>, .</a:t>
            </a:r>
            <a:r>
              <a:rPr lang="tr-TR" dirty="0" err="1"/>
              <a:t>mov</a:t>
            </a:r>
            <a:r>
              <a:rPr lang="tr-TR" dirty="0"/>
              <a:t>, .</a:t>
            </a:r>
            <a:r>
              <a:rPr lang="tr-TR" dirty="0" err="1"/>
              <a:t>wmv</a:t>
            </a:r>
            <a:r>
              <a:rPr lang="tr-TR" dirty="0"/>
              <a:t>, .</a:t>
            </a:r>
            <a:r>
              <a:rPr lang="tr-TR" dirty="0" err="1"/>
              <a:t>flv</a:t>
            </a:r>
            <a:endParaRPr lang="tr-TR" dirty="0"/>
          </a:p>
          <a:p>
            <a:r>
              <a:rPr lang="tr-TR" dirty="0"/>
              <a:t>E-tablolar: 		.</a:t>
            </a:r>
            <a:r>
              <a:rPr lang="tr-TR" dirty="0" err="1"/>
              <a:t>xls</a:t>
            </a:r>
            <a:r>
              <a:rPr lang="tr-TR" dirty="0"/>
              <a:t>, .</a:t>
            </a:r>
            <a:r>
              <a:rPr lang="tr-TR" dirty="0" err="1"/>
              <a:t>xlsx</a:t>
            </a:r>
            <a:r>
              <a:rPr lang="tr-TR" dirty="0"/>
              <a:t>, .</a:t>
            </a:r>
            <a:r>
              <a:rPr lang="tr-TR" dirty="0" err="1"/>
              <a:t>csv</a:t>
            </a:r>
            <a:endParaRPr lang="tr-TR" dirty="0"/>
          </a:p>
          <a:p>
            <a:r>
              <a:rPr lang="tr-TR" dirty="0"/>
              <a:t>Sunumlar: 		.</a:t>
            </a:r>
            <a:r>
              <a:rPr lang="tr-TR" dirty="0" err="1"/>
              <a:t>ppt</a:t>
            </a:r>
            <a:r>
              <a:rPr lang="tr-TR" dirty="0"/>
              <a:t>, .</a:t>
            </a:r>
            <a:r>
              <a:rPr lang="tr-TR" dirty="0" err="1"/>
              <a:t>pptx</a:t>
            </a:r>
            <a:r>
              <a:rPr lang="tr-TR" dirty="0"/>
              <a:t>, .</a:t>
            </a:r>
            <a:r>
              <a:rPr lang="tr-TR" dirty="0" err="1"/>
              <a:t>odp</a:t>
            </a:r>
            <a:endParaRPr lang="tr-TR" dirty="0"/>
          </a:p>
          <a:p>
            <a:r>
              <a:rPr lang="tr-TR" dirty="0"/>
              <a:t>Web: 		.html, .</a:t>
            </a:r>
            <a:r>
              <a:rPr lang="tr-TR" dirty="0" err="1"/>
              <a:t>css</a:t>
            </a:r>
            <a:r>
              <a:rPr lang="tr-TR" dirty="0"/>
              <a:t>, .</a:t>
            </a:r>
            <a:r>
              <a:rPr lang="tr-TR" dirty="0" err="1"/>
              <a:t>js</a:t>
            </a:r>
            <a:endParaRPr lang="tr-TR" dirty="0"/>
          </a:p>
          <a:p>
            <a:r>
              <a:rPr lang="tr-TR" dirty="0"/>
              <a:t>Yürütülebilir: 	.</a:t>
            </a:r>
            <a:r>
              <a:rPr lang="tr-TR" dirty="0" err="1"/>
              <a:t>exe</a:t>
            </a:r>
            <a:r>
              <a:rPr lang="tr-TR" dirty="0"/>
              <a:t>, .</a:t>
            </a:r>
            <a:r>
              <a:rPr lang="tr-TR" dirty="0" err="1"/>
              <a:t>msi</a:t>
            </a:r>
            <a:endParaRPr lang="tr-TR" dirty="0"/>
          </a:p>
          <a:p>
            <a:r>
              <a:rPr lang="tr-TR" dirty="0"/>
              <a:t>Sıkıştırılmış: 	.</a:t>
            </a:r>
            <a:r>
              <a:rPr lang="tr-TR" dirty="0" err="1"/>
              <a:t>zip</a:t>
            </a:r>
            <a:r>
              <a:rPr lang="tr-TR" dirty="0"/>
              <a:t>, .</a:t>
            </a:r>
            <a:r>
              <a:rPr lang="tr-TR" dirty="0" err="1"/>
              <a:t>rar</a:t>
            </a:r>
            <a:r>
              <a:rPr lang="tr-TR" dirty="0"/>
              <a:t>, .tar, .</a:t>
            </a:r>
            <a:r>
              <a:rPr lang="tr-TR" dirty="0" err="1"/>
              <a:t>gz</a:t>
            </a:r>
            <a:r>
              <a:rPr lang="tr-TR" dirty="0"/>
              <a:t>, .7z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598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Uzantılar ve Açılımları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4644177"/>
              </p:ext>
            </p:extLst>
          </p:nvPr>
        </p:nvGraphicFramePr>
        <p:xfrm>
          <a:off x="838200" y="1825625"/>
          <a:ext cx="10515600" cy="3752850"/>
        </p:xfrm>
        <a:graphic>
          <a:graphicData uri="http://schemas.openxmlformats.org/drawingml/2006/table">
            <a:tbl>
              <a:tblPr firstRow="1">
                <a:tableStyleId>{D7AC3CCA-C797-4891-BE02-D94E43425B78}</a:tableStyleId>
              </a:tblPr>
              <a:tblGrid>
                <a:gridCol w="22838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1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doc</a:t>
                      </a:r>
                      <a:endParaRPr lang="tr-TR" sz="2400" b="0" kern="1200" baseline="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Microsoft Word </a:t>
                      </a:r>
                      <a:r>
                        <a:rPr lang="tr-TR" sz="2400" b="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Document</a:t>
                      </a:r>
                      <a:endParaRPr lang="tr-TR" sz="2400" b="0" kern="1200" baseline="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docx</a:t>
                      </a:r>
                      <a:endParaRPr lang="tr-TR" sz="2400" kern="1200" baseline="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Microsoft Word Open XML </a:t>
                      </a:r>
                      <a:r>
                        <a:rPr lang="tr-TR" sz="240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Document</a:t>
                      </a:r>
                      <a:endParaRPr lang="tr-TR" sz="2400" kern="1200" baseline="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pdf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Portable</a:t>
                      </a:r>
                      <a:r>
                        <a:rPr lang="tr-TR" sz="2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240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Document</a:t>
                      </a:r>
                      <a:r>
                        <a:rPr lang="tr-TR" sz="2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Format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txt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Plain</a:t>
                      </a:r>
                      <a:r>
                        <a:rPr lang="tr-TR" sz="2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240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  <a:r>
                        <a:rPr lang="tr-TR" sz="2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File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rtf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Rich</a:t>
                      </a:r>
                      <a:r>
                        <a:rPr lang="tr-TR" sz="2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240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  <a:r>
                        <a:rPr lang="tr-TR" sz="2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Format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odt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Open </a:t>
                      </a:r>
                      <a:r>
                        <a:rPr lang="tr-TR" sz="240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Document</a:t>
                      </a:r>
                      <a:r>
                        <a:rPr lang="tr-TR" sz="2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240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  <a:endParaRPr lang="tr-TR" sz="2400" kern="1200" baseline="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jpg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Joint</a:t>
                      </a:r>
                      <a:r>
                        <a:rPr lang="tr-TR" sz="2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240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Photographic</a:t>
                      </a:r>
                      <a:r>
                        <a:rPr lang="tr-TR" sz="2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240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Experts</a:t>
                      </a:r>
                      <a:r>
                        <a:rPr lang="tr-TR" sz="2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240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Group</a:t>
                      </a:r>
                      <a:r>
                        <a:rPr lang="tr-TR" sz="2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Image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jpeg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Joint</a:t>
                      </a:r>
                      <a:r>
                        <a:rPr lang="tr-TR" sz="2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240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Photographic</a:t>
                      </a:r>
                      <a:r>
                        <a:rPr lang="tr-TR" sz="2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240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Experts</a:t>
                      </a:r>
                      <a:r>
                        <a:rPr lang="tr-TR" sz="2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240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Group</a:t>
                      </a:r>
                      <a:r>
                        <a:rPr lang="tr-TR" sz="2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Image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png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Portable</a:t>
                      </a:r>
                      <a:r>
                        <a:rPr lang="tr-TR" sz="2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Network Graphics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gif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Graphics </a:t>
                      </a:r>
                      <a:r>
                        <a:rPr lang="tr-TR" sz="240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Interchange</a:t>
                      </a:r>
                      <a:r>
                        <a:rPr lang="tr-TR" sz="2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Format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196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Uzantılar ve Açılımları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8072971"/>
              </p:ext>
            </p:extLst>
          </p:nvPr>
        </p:nvGraphicFramePr>
        <p:xfrm>
          <a:off x="838200" y="1825625"/>
          <a:ext cx="10515600" cy="3752850"/>
        </p:xfrm>
        <a:graphic>
          <a:graphicData uri="http://schemas.openxmlformats.org/drawingml/2006/table">
            <a:tbl>
              <a:tblPr firstRow="1">
                <a:tableStyleId>{D7AC3CCA-C797-4891-BE02-D94E43425B78}</a:tableStyleId>
              </a:tblPr>
              <a:tblGrid>
                <a:gridCol w="22838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1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bmp</a:t>
                      </a:r>
                      <a:endParaRPr lang="tr-TR" sz="2400" b="0" kern="1200" baseline="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Bitmap Image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tiff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Tagged Image File Format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mp3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MPEG-1 Audio Layer 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wav</a:t>
                      </a:r>
                      <a:endParaRPr lang="tr-TR" sz="2400" b="0" kern="1200" baseline="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Waveform</a:t>
                      </a:r>
                      <a:r>
                        <a:rPr lang="tr-TR" sz="2400" b="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2400" b="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Audio</a:t>
                      </a:r>
                      <a:r>
                        <a:rPr lang="tr-TR" sz="2400" b="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Format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aiff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Audio Interchange File Format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m4a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MPEG-4 Audio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wma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Windows Media Audio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mp4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MPEG-4 Part 14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avi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Audio Video Interleave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mov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Apple </a:t>
                      </a:r>
                      <a:r>
                        <a:rPr lang="tr-TR" sz="2400" b="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QuickTime</a:t>
                      </a:r>
                      <a:r>
                        <a:rPr lang="tr-TR" sz="2400" b="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Movie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944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Uzantılar ve Açılımları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6477285"/>
              </p:ext>
            </p:extLst>
          </p:nvPr>
        </p:nvGraphicFramePr>
        <p:xfrm>
          <a:off x="838200" y="1825625"/>
          <a:ext cx="10515600" cy="3752850"/>
        </p:xfrm>
        <a:graphic>
          <a:graphicData uri="http://schemas.openxmlformats.org/drawingml/2006/table">
            <a:tbl>
              <a:tblPr firstRow="1">
                <a:tableStyleId>{D7AC3CCA-C797-4891-BE02-D94E43425B78}</a:tableStyleId>
              </a:tblPr>
              <a:tblGrid>
                <a:gridCol w="22838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1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wmv</a:t>
                      </a:r>
                      <a:endParaRPr lang="tr-TR" sz="2400" b="0" kern="1200" baseline="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Windows Media Video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flv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Flash Video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xls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Microsoft Excel Spreadsheet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xlsx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Microsoft Excel Open XML Spreadsheet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csv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Comma Separated Values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ppt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Microsoft PowerPoint Presentation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pptx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Microsoft PowerPoint Open XML Presentation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odp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Open Document Presentation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html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HyperText Markup Language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css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Cascading</a:t>
                      </a:r>
                      <a:r>
                        <a:rPr lang="tr-TR" sz="2400" b="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Style </a:t>
                      </a:r>
                      <a:r>
                        <a:rPr lang="tr-TR" sz="2400" b="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Sheets</a:t>
                      </a:r>
                      <a:endParaRPr lang="tr-TR" sz="2400" b="0" kern="1200" baseline="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439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Uzantılar ve Açılımları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8108615"/>
              </p:ext>
            </p:extLst>
          </p:nvPr>
        </p:nvGraphicFramePr>
        <p:xfrm>
          <a:off x="838200" y="1825625"/>
          <a:ext cx="10515600" cy="3743960"/>
        </p:xfrm>
        <a:graphic>
          <a:graphicData uri="http://schemas.openxmlformats.org/drawingml/2006/table">
            <a:tbl>
              <a:tblPr firstRow="1">
                <a:tableStyleId>{D7AC3CCA-C797-4891-BE02-D94E43425B78}</a:tableStyleId>
              </a:tblPr>
              <a:tblGrid>
                <a:gridCol w="22838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1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js</a:t>
                      </a:r>
                      <a:endParaRPr lang="tr-TR" sz="2400" b="0" kern="1200" baseline="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JavaScript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exe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Executable File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msi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Windows Installer Package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zip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Zipped</a:t>
                      </a:r>
                      <a:r>
                        <a:rPr lang="tr-TR" sz="2400" b="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File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rar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RAR Archive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tar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Tape Archive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gz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GZIP Compressed Archive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7z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7-Zip </a:t>
                      </a:r>
                      <a:r>
                        <a:rPr lang="tr-TR" sz="2400" b="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Compressed</a:t>
                      </a:r>
                      <a:r>
                        <a:rPr lang="tr-TR" sz="2400" b="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Archive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endParaRPr lang="tr-T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tr-T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52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Dosya Yapısı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i="1" dirty="0"/>
              <a:t>Maksimum esneklik</a:t>
            </a:r>
            <a:r>
              <a:rPr lang="tr-TR" dirty="0"/>
              <a:t>: içinde her şey saklanabilir.</a:t>
            </a:r>
          </a:p>
          <a:p>
            <a:r>
              <a:rPr lang="tr-TR" dirty="0"/>
              <a:t>Dosya </a:t>
            </a:r>
            <a:r>
              <a:rPr lang="tr-TR" i="1" dirty="0"/>
              <a:t>bayt </a:t>
            </a:r>
            <a:r>
              <a:rPr lang="tr-TR" dirty="0"/>
              <a:t>dizilerinden oluşabilir.</a:t>
            </a:r>
          </a:p>
          <a:p>
            <a:r>
              <a:rPr lang="tr-TR" dirty="0"/>
              <a:t>Sabit uzunluklu kayıtlardan (</a:t>
            </a:r>
            <a:r>
              <a:rPr lang="tr-TR" i="1" dirty="0"/>
              <a:t>eskiden kart imajları</a:t>
            </a:r>
            <a:r>
              <a:rPr lang="tr-TR" dirty="0"/>
              <a:t>) oluşabilir.</a:t>
            </a:r>
          </a:p>
          <a:p>
            <a:r>
              <a:rPr lang="tr-TR" i="1" dirty="0"/>
              <a:t>Kayıt ağacı</a:t>
            </a:r>
            <a:r>
              <a:rPr lang="tr-TR" dirty="0"/>
              <a:t>: kayıtları bulmak için anahtar (</a:t>
            </a:r>
            <a:r>
              <a:rPr lang="tr-TR" i="1" dirty="0" err="1"/>
              <a:t>key</a:t>
            </a:r>
            <a:r>
              <a:rPr lang="tr-TR" i="1" dirty="0"/>
              <a:t> </a:t>
            </a:r>
            <a:r>
              <a:rPr lang="tr-TR" i="1" dirty="0" err="1"/>
              <a:t>field</a:t>
            </a:r>
            <a:r>
              <a:rPr lang="tr-TR" dirty="0"/>
              <a:t>) kullanılır.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45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Dosya Yapısı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/>
              <a:t>(a) Bayt dizisi (b) Kayıt dizisi (</a:t>
            </a:r>
            <a:r>
              <a:rPr lang="tr-TR" i="1" dirty="0"/>
              <a:t>sabit boyutlu</a:t>
            </a:r>
            <a:r>
              <a:rPr lang="tr-TR" dirty="0"/>
              <a:t>) (c) Ağaç (</a:t>
            </a:r>
            <a:r>
              <a:rPr lang="tr-TR" i="1" dirty="0"/>
              <a:t>değişken boyutlu</a:t>
            </a:r>
            <a:r>
              <a:rPr lang="tr-TR" dirty="0"/>
              <a:t>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513"/>
          <a:stretch/>
        </p:blipFill>
        <p:spPr>
          <a:xfrm>
            <a:off x="1590675" y="2393410"/>
            <a:ext cx="9010650" cy="411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506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Dosya Tipleri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Normal</a:t>
            </a:r>
            <a:r>
              <a:rPr lang="tr-TR" dirty="0"/>
              <a:t>: Ham veri içerir.</a:t>
            </a:r>
          </a:p>
          <a:p>
            <a:r>
              <a:rPr lang="tr-TR" b="1" dirty="0"/>
              <a:t>Dizinler:</a:t>
            </a:r>
            <a:r>
              <a:rPr lang="tr-TR" dirty="0"/>
              <a:t> Dosyaların izini tutar.</a:t>
            </a:r>
          </a:p>
          <a:p>
            <a:r>
              <a:rPr lang="tr-TR" b="1" dirty="0"/>
              <a:t>Karakter dosyaları:</a:t>
            </a:r>
            <a:r>
              <a:rPr lang="tr-TR" dirty="0"/>
              <a:t> seri (</a:t>
            </a:r>
            <a:r>
              <a:rPr lang="tr-TR" i="1" dirty="0" err="1"/>
              <a:t>serial</a:t>
            </a:r>
            <a:r>
              <a:rPr lang="tr-TR" dirty="0"/>
              <a:t>) tabanlı G/Ç cihazları (</a:t>
            </a:r>
            <a:r>
              <a:rPr lang="tr-TR" i="1" dirty="0"/>
              <a:t>yazıcı</a:t>
            </a:r>
            <a:r>
              <a:rPr lang="tr-TR" dirty="0"/>
              <a:t>).</a:t>
            </a:r>
          </a:p>
          <a:p>
            <a:r>
              <a:rPr lang="tr-TR" b="1" dirty="0"/>
              <a:t>Blok dosyaları:</a:t>
            </a:r>
            <a:r>
              <a:rPr lang="tr-TR" dirty="0"/>
              <a:t> blok tabanlı modeller (</a:t>
            </a:r>
            <a:r>
              <a:rPr lang="tr-TR" i="1" dirty="0"/>
              <a:t>disk</a:t>
            </a:r>
            <a:r>
              <a:rPr lang="tr-TR" dirty="0"/>
              <a:t>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097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Normal Dosyalar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Metin (</a:t>
            </a:r>
            <a:r>
              <a:rPr lang="tr-TR" i="1" dirty="0" err="1"/>
              <a:t>text</a:t>
            </a:r>
            <a:r>
              <a:rPr lang="tr-TR" dirty="0"/>
              <a:t>) veya ikili (</a:t>
            </a:r>
            <a:r>
              <a:rPr lang="tr-TR" i="1" dirty="0" err="1"/>
              <a:t>binary</a:t>
            </a:r>
            <a:r>
              <a:rPr lang="tr-TR" dirty="0"/>
              <a:t>) formatta olabilir.</a:t>
            </a:r>
          </a:p>
          <a:p>
            <a:r>
              <a:rPr lang="tr-TR" dirty="0"/>
              <a:t>Metin tabanlı dosyalar yazdırılabilir.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693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İkili Dosya Tipleri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Yürütülebilir dosyalardır, UNIX'te </a:t>
            </a:r>
            <a:r>
              <a:rPr lang="tr-TR" i="1" dirty="0" err="1"/>
              <a:t>magical</a:t>
            </a:r>
            <a:r>
              <a:rPr lang="tr-TR" i="1" dirty="0"/>
              <a:t> </a:t>
            </a:r>
            <a:r>
              <a:rPr lang="tr-TR" i="1" dirty="0" err="1"/>
              <a:t>field</a:t>
            </a:r>
            <a:r>
              <a:rPr lang="tr-TR" dirty="0"/>
              <a:t> ile tanımlanır.</a:t>
            </a:r>
          </a:p>
          <a:p>
            <a:r>
              <a:rPr lang="tr-TR" dirty="0"/>
              <a:t>Arşiv olarak derlenmiş dosyalar.</a:t>
            </a:r>
          </a:p>
          <a:p>
            <a:pPr lvl="1"/>
            <a:r>
              <a:rPr lang="tr-TR" dirty="0"/>
              <a:t>Bağlanmış (</a:t>
            </a:r>
            <a:r>
              <a:rPr lang="tr-TR" i="1" dirty="0" err="1"/>
              <a:t>linked</a:t>
            </a:r>
            <a:r>
              <a:rPr lang="tr-TR" dirty="0"/>
              <a:t>) kütüphane prosedürleri hariç.</a:t>
            </a:r>
          </a:p>
          <a:p>
            <a:r>
              <a:rPr lang="tr-TR" dirty="0"/>
              <a:t>Her işletim sistemi kendi yürütülebilir dosya formatını tanır.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4538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İkili Dosya Tipleri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(a) Yürütülebilir dosya (</a:t>
            </a:r>
            <a:r>
              <a:rPr lang="tr-TR" i="1" dirty="0"/>
              <a:t>.</a:t>
            </a:r>
            <a:r>
              <a:rPr lang="tr-TR" i="1" dirty="0" err="1"/>
              <a:t>exe</a:t>
            </a:r>
            <a:r>
              <a:rPr lang="tr-TR" dirty="0"/>
              <a:t>) </a:t>
            </a:r>
          </a:p>
          <a:p>
            <a:r>
              <a:rPr lang="tr-TR" dirty="0"/>
              <a:t>(b) Derlenmiş ancak bağlanmamış</a:t>
            </a:r>
          </a:p>
          <a:p>
            <a:pPr marL="0" indent="0">
              <a:buNone/>
            </a:pPr>
            <a:r>
              <a:rPr lang="tr-TR" dirty="0"/>
              <a:t> arşiv kütüphanesi (</a:t>
            </a:r>
            <a:r>
              <a:rPr lang="tr-TR" i="1" dirty="0"/>
              <a:t>.o</a:t>
            </a:r>
            <a:r>
              <a:rPr lang="tr-TR" dirty="0"/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7" name="Picture 6" descr="D:\b\b4\IBM\04-0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4046" y="901842"/>
            <a:ext cx="5669280" cy="52386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9400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Dosya Erişimi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Sıralı erişim: okumaya baştan başlanır, atlama yapılamaz.</a:t>
            </a:r>
          </a:p>
          <a:p>
            <a:pPr lvl="1"/>
            <a:r>
              <a:rPr lang="tr-TR" dirty="0"/>
              <a:t>Manyetik bant, kaset.</a:t>
            </a:r>
          </a:p>
          <a:p>
            <a:r>
              <a:rPr lang="tr-TR" dirty="0"/>
              <a:t>Rastgele erişim: okumaya istenilen yerden başlanır.</a:t>
            </a:r>
          </a:p>
          <a:p>
            <a:pPr lvl="1"/>
            <a:r>
              <a:rPr lang="tr-TR" dirty="0"/>
              <a:t>Diskler.</a:t>
            </a:r>
          </a:p>
          <a:p>
            <a:r>
              <a:rPr lang="tr-TR" dirty="0"/>
              <a:t>Dosya tanımlayıcı (</a:t>
            </a:r>
            <a:r>
              <a:rPr lang="tr-TR" i="1" dirty="0"/>
              <a:t>file </a:t>
            </a:r>
            <a:r>
              <a:rPr lang="tr-TR" i="1" dirty="0" err="1"/>
              <a:t>identifier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Çekirdek tarafından yönetilen, bir nesneyi temsil eden tamsayı.</a:t>
            </a:r>
          </a:p>
          <a:p>
            <a:pPr lvl="1"/>
            <a:r>
              <a:rPr lang="tr-TR" dirty="0"/>
              <a:t>Her sürecin, 0'dan başlayan özel bir dosya tanımlayıcı alanı vardır.</a:t>
            </a:r>
          </a:p>
          <a:p>
            <a:pPr lvl="1"/>
            <a:r>
              <a:rPr lang="tr-TR" dirty="0"/>
              <a:t>0 standart girdiyi, 1 standart çıktıyı ve 2 standart hatayı temsil eder.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3163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Dosya Öznitelikleri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1355883"/>
              </p:ext>
            </p:extLst>
          </p:nvPr>
        </p:nvGraphicFramePr>
        <p:xfrm>
          <a:off x="838200" y="1825625"/>
          <a:ext cx="10515600" cy="47548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127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85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Read-</a:t>
                      </a:r>
                      <a:r>
                        <a:rPr lang="tr-TR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only</a:t>
                      </a:r>
                      <a:endParaRPr lang="tr-TR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tr-TR" sz="2000" b="0" dirty="0">
                          <a:latin typeface="+mn-lt"/>
                        </a:rPr>
                        <a:t>Dosya yalnızca okunabilir, değiştirilemez, silinemez.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Hidden</a:t>
                      </a:r>
                      <a:endParaRPr lang="tr-TR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tr-TR" sz="2000" dirty="0">
                          <a:latin typeface="+mn-lt"/>
                        </a:rPr>
                        <a:t>Dosya, dosya gezgininin normal görünümünde görünmez.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System</a:t>
                      </a:r>
                      <a:endParaRPr lang="tr-TR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tr-TR" sz="2000" dirty="0">
                          <a:latin typeface="+mn-lt"/>
                        </a:rPr>
                        <a:t>Dosya işletim sistemi tarafından kullanılır, değiştirilmemeli silinmemelidir.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Archive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tr-TR" sz="2000" dirty="0">
                          <a:latin typeface="+mn-lt"/>
                        </a:rPr>
                        <a:t>Dosya, yedeklendikten sonra değiştirilmiş,</a:t>
                      </a:r>
                      <a:r>
                        <a:rPr lang="tr-TR" sz="2000" baseline="0" dirty="0">
                          <a:latin typeface="+mn-lt"/>
                        </a:rPr>
                        <a:t> </a:t>
                      </a:r>
                      <a:r>
                        <a:rPr lang="tr-TR" sz="2000" dirty="0">
                          <a:latin typeface="+mn-lt"/>
                        </a:rPr>
                        <a:t>sonraki yedeklemeye dahil edilmeli.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Compressed</a:t>
                      </a:r>
                      <a:endParaRPr lang="tr-TR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tr-TR" sz="2000" dirty="0">
                          <a:latin typeface="+mn-lt"/>
                        </a:rPr>
                        <a:t>Dosya, disk alanından tasarruf etmek için sıkıştırılmıştır.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Encrypted</a:t>
                      </a:r>
                      <a:endParaRPr lang="tr-TR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tr-TR" sz="2000" dirty="0">
                          <a:latin typeface="+mn-lt"/>
                        </a:rPr>
                        <a:t>Yetkisiz erişimi önlemek için dosya şifrelenmiştir.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Temporary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tr-TR" sz="2000" dirty="0">
                          <a:latin typeface="+mn-lt"/>
                        </a:rPr>
                        <a:t>Dosya geçici olarak kullanılır ve ihtiyaç kalmadığında otomatik olarak silinir.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Executable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tr-TR" sz="2000" dirty="0">
                          <a:latin typeface="+mn-lt"/>
                        </a:rPr>
                        <a:t>Dosya çalıştırılabilen bir programdır.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Indexed</a:t>
                      </a:r>
                      <a:endParaRPr lang="tr-TR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tr-TR" sz="2000" dirty="0">
                          <a:latin typeface="+mn-lt"/>
                        </a:rPr>
                        <a:t>Dosya, daha hızlı arama için indeksleme hizmetine dahil edilmiştir.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Offline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tr-TR" sz="2000" dirty="0">
                          <a:latin typeface="+mn-lt"/>
                        </a:rPr>
                        <a:t>Dosya anlık kullanım için değildir, çevrimdışı kullanım için hazır hale getirilebilir.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 </a:t>
                      </a:r>
                      <a:r>
                        <a:rPr lang="tr-TR" sz="2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content</a:t>
                      </a:r>
                      <a:r>
                        <a:rPr lang="tr-T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2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indexed</a:t>
                      </a:r>
                      <a:endParaRPr lang="tr-TR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tr-TR" sz="2000" dirty="0"/>
                        <a:t>Dosya, aramayı hızlandırmak için indeksleme hizmetinden çıkarılır.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Reparse</a:t>
                      </a:r>
                      <a:r>
                        <a:rPr lang="tr-T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2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point</a:t>
                      </a:r>
                      <a:endParaRPr lang="tr-TR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tr-TR" sz="2000" dirty="0"/>
                        <a:t>Dosya, başka bir dosyaya veya dizine bir bağlantı veya referans içerir.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4967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Dosya Öznitelikleri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974832"/>
              </p:ext>
            </p:extLst>
          </p:nvPr>
        </p:nvGraphicFramePr>
        <p:xfrm>
          <a:off x="838200" y="1825625"/>
          <a:ext cx="10515600" cy="47294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127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85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0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Sparse</a:t>
                      </a:r>
                      <a:r>
                        <a:rPr lang="tr-TR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file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tr-TR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Dosya, diskte depolanmayan büyük sıfır blokları içeren bir dosya türüdür.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0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Symlink</a:t>
                      </a:r>
                      <a:endParaRPr lang="tr-TR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tr-TR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Dosya, başka bir dosya veya dizine sembolik bir bağlantıdır.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Device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tr-TR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Dosya, işletim sistemi tarafından kullanılan özel bir aygıt dosyasıdır.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tr-TR" sz="20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Junction</a:t>
                      </a:r>
                      <a:r>
                        <a:rPr lang="tr-TR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20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point</a:t>
                      </a:r>
                      <a:endParaRPr lang="tr-TR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tr-TR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Dosya, başka bir birimdeki bir dizine işaret eden bir tür sembolik bağlantıdır.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2000" dirty="0" err="1"/>
                        <a:t>Creation</a:t>
                      </a:r>
                      <a:r>
                        <a:rPr lang="tr-TR" sz="2000" baseline="0" dirty="0"/>
                        <a:t> time</a:t>
                      </a:r>
                      <a:endParaRPr lang="tr-TR" sz="2000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tr-TR" sz="2000" dirty="0"/>
                        <a:t>Dosyanın oluşturulduğu tarih ve saat.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2000" dirty="0" err="1"/>
                        <a:t>Last</a:t>
                      </a:r>
                      <a:r>
                        <a:rPr lang="tr-TR" sz="2000" dirty="0"/>
                        <a:t> Access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es-ES" sz="2000" dirty="0" err="1"/>
                        <a:t>Dosyaya</a:t>
                      </a:r>
                      <a:r>
                        <a:rPr lang="es-ES" sz="2000" dirty="0"/>
                        <a:t> en son </a:t>
                      </a:r>
                      <a:r>
                        <a:rPr lang="es-ES" sz="2000" dirty="0" err="1"/>
                        <a:t>erişil</a:t>
                      </a:r>
                      <a:r>
                        <a:rPr lang="tr-TR" sz="2000" dirty="0"/>
                        <a:t>en</a:t>
                      </a:r>
                      <a:r>
                        <a:rPr lang="es-ES" sz="2000" dirty="0"/>
                        <a:t> </a:t>
                      </a:r>
                      <a:r>
                        <a:rPr lang="es-ES" sz="2000" dirty="0" err="1"/>
                        <a:t>tarih</a:t>
                      </a:r>
                      <a:r>
                        <a:rPr lang="es-ES" sz="2000" dirty="0"/>
                        <a:t> ve </a:t>
                      </a:r>
                      <a:r>
                        <a:rPr lang="es-ES" sz="2000" dirty="0" err="1"/>
                        <a:t>saat</a:t>
                      </a:r>
                      <a:r>
                        <a:rPr lang="tr-TR" sz="20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2000" dirty="0" err="1"/>
                        <a:t>Last</a:t>
                      </a:r>
                      <a:r>
                        <a:rPr lang="tr-TR" sz="2000" dirty="0"/>
                        <a:t> </a:t>
                      </a:r>
                      <a:r>
                        <a:rPr lang="tr-TR" sz="2000" dirty="0" err="1"/>
                        <a:t>change</a:t>
                      </a:r>
                      <a:endParaRPr lang="tr-TR" sz="2000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tr-TR" sz="2000" dirty="0"/>
                        <a:t>Dosyanın en son değiştirildiği tarih ve saat.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2000" dirty="0" err="1"/>
                        <a:t>Current</a:t>
                      </a:r>
                      <a:r>
                        <a:rPr lang="tr-TR" sz="2000" dirty="0"/>
                        <a:t> size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tr-TR" sz="2000" dirty="0"/>
                        <a:t>Dosyadaki bayt sayısı.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2000" dirty="0" err="1"/>
                        <a:t>Max</a:t>
                      </a:r>
                      <a:r>
                        <a:rPr lang="tr-TR" sz="2000" dirty="0"/>
                        <a:t> size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tr-TR" sz="2000" dirty="0"/>
                        <a:t>Dosyanın büyüyebileceği bayt sayısı.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2000" dirty="0" err="1"/>
                        <a:t>Owner</a:t>
                      </a:r>
                      <a:endParaRPr lang="tr-TR" sz="2000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tr-TR" sz="2000" dirty="0"/>
                        <a:t>Dosyayı sahibinin kimliği.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2000" dirty="0" err="1"/>
                        <a:t>Creator</a:t>
                      </a:r>
                      <a:endParaRPr lang="tr-TR" sz="2000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tr-TR" sz="2000" dirty="0"/>
                        <a:t>Dosyayı oluşturan kişinin kimliği.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tr-TR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6058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Stat Veri Yapısı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b="1" dirty="0" err="1">
                <a:latin typeface="Consolas" panose="020B0609020204030204" pitchFamily="49" charset="0"/>
              </a:rPr>
              <a:t>s</a:t>
            </a:r>
            <a:r>
              <a:rPr lang="en-US" b="1" dirty="0" err="1">
                <a:latin typeface="Consolas" panose="020B0609020204030204" pitchFamily="49" charset="0"/>
              </a:rPr>
              <a:t>truct</a:t>
            </a:r>
            <a:r>
              <a:rPr lang="en-US" dirty="0">
                <a:latin typeface="Consolas" panose="020B0609020204030204" pitchFamily="49" charset="0"/>
              </a:rPr>
              <a:t> stat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</a:rPr>
              <a:t>mode_t</a:t>
            </a:r>
            <a:r>
              <a:rPr lang="tr-TR" dirty="0">
                <a:latin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</a:rPr>
              <a:t>st_mode</a:t>
            </a:r>
            <a:r>
              <a:rPr lang="en-US" dirty="0">
                <a:latin typeface="Consolas" panose="020B0609020204030204" pitchFamily="49" charset="0"/>
              </a:rPr>
              <a:t>; </a:t>
            </a:r>
            <a:r>
              <a:rPr lang="tr-TR" dirty="0"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// file type and mode (permission)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</a:rPr>
              <a:t>ino_t</a:t>
            </a:r>
            <a:r>
              <a:rPr lang="en-US" dirty="0">
                <a:latin typeface="Consolas" panose="020B0609020204030204" pitchFamily="49" charset="0"/>
              </a:rPr>
              <a:t>     </a:t>
            </a:r>
            <a:r>
              <a:rPr lang="tr-TR" dirty="0">
                <a:latin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</a:rPr>
              <a:t>st_ino</a:t>
            </a:r>
            <a:r>
              <a:rPr lang="en-US" dirty="0">
                <a:latin typeface="Consolas" panose="020B0609020204030204" pitchFamily="49" charset="0"/>
              </a:rPr>
              <a:t>; </a:t>
            </a:r>
            <a:r>
              <a:rPr lang="tr-TR" dirty="0"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//</a:t>
            </a:r>
            <a:r>
              <a:rPr lang="tr-TR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</a:rPr>
              <a:t>inode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 number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</a:rPr>
              <a:t>dev_t</a:t>
            </a:r>
            <a:r>
              <a:rPr lang="en-US" dirty="0">
                <a:latin typeface="Consolas" panose="020B0609020204030204" pitchFamily="49" charset="0"/>
              </a:rPr>
              <a:t> 	</a:t>
            </a:r>
            <a:r>
              <a:rPr lang="en-US" dirty="0" err="1">
                <a:latin typeface="Consolas" panose="020B0609020204030204" pitchFamily="49" charset="0"/>
              </a:rPr>
              <a:t>st_dev</a:t>
            </a:r>
            <a:r>
              <a:rPr lang="en-US" dirty="0">
                <a:latin typeface="Consolas" panose="020B0609020204030204" pitchFamily="49" charset="0"/>
              </a:rPr>
              <a:t>;  </a:t>
            </a:r>
            <a:r>
              <a:rPr lang="tr-TR" dirty="0"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//</a:t>
            </a:r>
            <a:r>
              <a:rPr lang="tr-TR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device number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</a:rPr>
              <a:t>dev_t</a:t>
            </a:r>
            <a:r>
              <a:rPr lang="en-US" dirty="0">
                <a:latin typeface="Consolas" panose="020B0609020204030204" pitchFamily="49" charset="0"/>
              </a:rPr>
              <a:t>		</a:t>
            </a:r>
            <a:r>
              <a:rPr lang="en-US" dirty="0" err="1">
                <a:latin typeface="Consolas" panose="020B0609020204030204" pitchFamily="49" charset="0"/>
              </a:rPr>
              <a:t>st_rdev</a:t>
            </a:r>
            <a:r>
              <a:rPr lang="en-US" dirty="0">
                <a:latin typeface="Consolas" panose="020B0609020204030204" pitchFamily="49" charset="0"/>
              </a:rPr>
              <a:t>;  </a:t>
            </a:r>
            <a:r>
              <a:rPr lang="tr-TR" dirty="0"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//</a:t>
            </a:r>
            <a:r>
              <a:rPr lang="tr-TR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device number (special)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</a:rPr>
              <a:t>nlink_t</a:t>
            </a:r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</a:rPr>
              <a:t>st_nlink</a:t>
            </a:r>
            <a:r>
              <a:rPr lang="en-US" dirty="0">
                <a:latin typeface="Consolas" panose="020B0609020204030204" pitchFamily="49" charset="0"/>
              </a:rPr>
              <a:t>; </a:t>
            </a:r>
            <a:r>
              <a:rPr lang="tr-TR" dirty="0"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//</a:t>
            </a:r>
            <a:r>
              <a:rPr lang="tr-TR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number of links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</a:rPr>
              <a:t>uid_t</a:t>
            </a:r>
            <a:r>
              <a:rPr lang="en-US" dirty="0">
                <a:latin typeface="Consolas" panose="020B0609020204030204" pitchFamily="49" charset="0"/>
              </a:rPr>
              <a:t>		</a:t>
            </a:r>
            <a:r>
              <a:rPr lang="en-US" dirty="0" err="1">
                <a:latin typeface="Consolas" panose="020B0609020204030204" pitchFamily="49" charset="0"/>
              </a:rPr>
              <a:t>st_uid</a:t>
            </a:r>
            <a:r>
              <a:rPr lang="en-US" dirty="0">
                <a:latin typeface="Consolas" panose="020B0609020204030204" pitchFamily="49" charset="0"/>
              </a:rPr>
              <a:t>;  </a:t>
            </a:r>
            <a:r>
              <a:rPr lang="tr-TR" dirty="0"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// user ID of owner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</a:rPr>
              <a:t>gid_t</a:t>
            </a:r>
            <a:r>
              <a:rPr lang="en-US" dirty="0">
                <a:latin typeface="Consolas" panose="020B0609020204030204" pitchFamily="49" charset="0"/>
              </a:rPr>
              <a:t>		</a:t>
            </a:r>
            <a:r>
              <a:rPr lang="en-US" dirty="0" err="1">
                <a:latin typeface="Consolas" panose="020B0609020204030204" pitchFamily="49" charset="0"/>
              </a:rPr>
              <a:t>st_gid</a:t>
            </a:r>
            <a:r>
              <a:rPr lang="en-US" dirty="0">
                <a:latin typeface="Consolas" panose="020B0609020204030204" pitchFamily="49" charset="0"/>
              </a:rPr>
              <a:t>;  </a:t>
            </a:r>
            <a:r>
              <a:rPr lang="tr-TR" dirty="0"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// group ID of owner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</a:rPr>
              <a:t>off_t</a:t>
            </a:r>
            <a:r>
              <a:rPr lang="en-US" dirty="0">
                <a:latin typeface="Consolas" panose="020B0609020204030204" pitchFamily="49" charset="0"/>
              </a:rPr>
              <a:t>		</a:t>
            </a:r>
            <a:r>
              <a:rPr lang="en-US" dirty="0" err="1">
                <a:latin typeface="Consolas" panose="020B0609020204030204" pitchFamily="49" charset="0"/>
              </a:rPr>
              <a:t>st_size</a:t>
            </a:r>
            <a:r>
              <a:rPr lang="en-US" dirty="0">
                <a:latin typeface="Consolas" panose="020B0609020204030204" pitchFamily="49" charset="0"/>
              </a:rPr>
              <a:t>;  </a:t>
            </a:r>
            <a:r>
              <a:rPr lang="tr-TR" dirty="0"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//</a:t>
            </a:r>
            <a:r>
              <a:rPr lang="tr-TR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size in bytes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</a:rPr>
              <a:t>time_t</a:t>
            </a:r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</a:rPr>
              <a:t>st_atime</a:t>
            </a:r>
            <a:r>
              <a:rPr lang="en-US" dirty="0">
                <a:latin typeface="Consolas" panose="020B0609020204030204" pitchFamily="49" charset="0"/>
              </a:rPr>
              <a:t>; </a:t>
            </a:r>
            <a:r>
              <a:rPr lang="tr-TR" dirty="0"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//</a:t>
            </a:r>
            <a:r>
              <a:rPr lang="tr-TR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time of last access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tr-TR" dirty="0"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0761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Dosya Öznitelikleri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err="1">
                <a:latin typeface="Consolas" panose="020B0609020204030204" pitchFamily="49" charset="0"/>
              </a:rPr>
              <a:t>drwxr</a:t>
            </a:r>
            <a:r>
              <a:rPr lang="tr-TR" dirty="0">
                <a:latin typeface="Consolas" panose="020B0609020204030204" pitchFamily="49" charset="0"/>
              </a:rPr>
              <a:t>-</a:t>
            </a:r>
            <a:r>
              <a:rPr lang="tr-TR" dirty="0" err="1">
                <a:latin typeface="Consolas" panose="020B0609020204030204" pitchFamily="49" charset="0"/>
              </a:rPr>
              <a:t>xr</a:t>
            </a:r>
            <a:r>
              <a:rPr lang="tr-TR" dirty="0">
                <a:latin typeface="Consolas" panose="020B0609020204030204" pitchFamily="49" charset="0"/>
              </a:rPr>
              <a:t>-x 2 </a:t>
            </a:r>
            <a:r>
              <a:rPr lang="tr-TR" dirty="0" err="1">
                <a:latin typeface="Consolas" panose="020B0609020204030204" pitchFamily="49" charset="0"/>
              </a:rPr>
              <a:t>root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root</a:t>
            </a:r>
            <a:r>
              <a:rPr lang="tr-TR" dirty="0">
                <a:latin typeface="Consolas" panose="020B0609020204030204" pitchFamily="49" charset="0"/>
              </a:rPr>
              <a:t> 4096 </a:t>
            </a:r>
            <a:r>
              <a:rPr lang="tr-TR" dirty="0" err="1">
                <a:latin typeface="Consolas" panose="020B0609020204030204" pitchFamily="49" charset="0"/>
              </a:rPr>
              <a:t>Sep</a:t>
            </a:r>
            <a:r>
              <a:rPr lang="tr-TR" dirty="0">
                <a:latin typeface="Consolas" panose="020B0609020204030204" pitchFamily="49" charset="0"/>
              </a:rPr>
              <a:t> 24  2008 Unit2</a:t>
            </a:r>
          </a:p>
          <a:p>
            <a:r>
              <a:rPr lang="tr-TR" dirty="0" err="1">
                <a:latin typeface="Consolas" panose="020B0609020204030204" pitchFamily="49" charset="0"/>
              </a:rPr>
              <a:t>drwxr</a:t>
            </a:r>
            <a:r>
              <a:rPr lang="tr-TR" dirty="0">
                <a:latin typeface="Consolas" panose="020B0609020204030204" pitchFamily="49" charset="0"/>
              </a:rPr>
              <a:t>-</a:t>
            </a:r>
            <a:r>
              <a:rPr lang="tr-TR" dirty="0" err="1">
                <a:latin typeface="Consolas" panose="020B0609020204030204" pitchFamily="49" charset="0"/>
              </a:rPr>
              <a:t>xr</a:t>
            </a:r>
            <a:r>
              <a:rPr lang="tr-TR" dirty="0">
                <a:latin typeface="Consolas" panose="020B0609020204030204" pitchFamily="49" charset="0"/>
              </a:rPr>
              <a:t>-x 2 </a:t>
            </a:r>
            <a:r>
              <a:rPr lang="tr-TR" dirty="0" err="1">
                <a:latin typeface="Consolas" panose="020B0609020204030204" pitchFamily="49" charset="0"/>
              </a:rPr>
              <a:t>root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root</a:t>
            </a:r>
            <a:r>
              <a:rPr lang="tr-TR" dirty="0">
                <a:latin typeface="Consolas" panose="020B0609020204030204" pitchFamily="49" charset="0"/>
              </a:rPr>
              <a:t> 4096 May 26 19:21 a</a:t>
            </a:r>
          </a:p>
          <a:p>
            <a:r>
              <a:rPr lang="tr-TR" dirty="0">
                <a:latin typeface="Consolas" panose="020B0609020204030204" pitchFamily="49" charset="0"/>
              </a:rPr>
              <a:t>-</a:t>
            </a:r>
            <a:r>
              <a:rPr lang="tr-TR" dirty="0" err="1">
                <a:latin typeface="Consolas" panose="020B0609020204030204" pitchFamily="49" charset="0"/>
              </a:rPr>
              <a:t>rwxr</a:t>
            </a:r>
            <a:r>
              <a:rPr lang="tr-TR" dirty="0">
                <a:latin typeface="Consolas" panose="020B0609020204030204" pitchFamily="49" charset="0"/>
              </a:rPr>
              <a:t>-</a:t>
            </a:r>
            <a:r>
              <a:rPr lang="tr-TR" dirty="0" err="1">
                <a:latin typeface="Consolas" panose="020B0609020204030204" pitchFamily="49" charset="0"/>
              </a:rPr>
              <a:t>xr</a:t>
            </a:r>
            <a:r>
              <a:rPr lang="tr-TR" dirty="0">
                <a:latin typeface="Consolas" panose="020B0609020204030204" pitchFamily="49" charset="0"/>
              </a:rPr>
              <a:t>-x 1 </a:t>
            </a:r>
            <a:r>
              <a:rPr lang="tr-TR" dirty="0" err="1">
                <a:latin typeface="Consolas" panose="020B0609020204030204" pitchFamily="49" charset="0"/>
              </a:rPr>
              <a:t>root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root</a:t>
            </a:r>
            <a:r>
              <a:rPr lang="tr-TR" dirty="0">
                <a:latin typeface="Consolas" panose="020B0609020204030204" pitchFamily="49" charset="0"/>
              </a:rPr>
              <a:t> 10930 </a:t>
            </a:r>
            <a:r>
              <a:rPr lang="tr-TR" dirty="0" err="1">
                <a:latin typeface="Consolas" panose="020B0609020204030204" pitchFamily="49" charset="0"/>
              </a:rPr>
              <a:t>Aug</a:t>
            </a:r>
            <a:r>
              <a:rPr lang="tr-TR" dirty="0">
                <a:latin typeface="Consolas" panose="020B0609020204030204" pitchFamily="49" charset="0"/>
              </a:rPr>
              <a:t>  5 22:49 </a:t>
            </a:r>
            <a:r>
              <a:rPr lang="tr-TR" dirty="0" err="1">
                <a:latin typeface="Consolas" panose="020B0609020204030204" pitchFamily="49" charset="0"/>
              </a:rPr>
              <a:t>a.out</a:t>
            </a:r>
            <a:endParaRPr lang="tr-TR" dirty="0">
              <a:latin typeface="Consolas" panose="020B0609020204030204" pitchFamily="49" charset="0"/>
            </a:endParaRPr>
          </a:p>
          <a:p>
            <a:r>
              <a:rPr lang="tr-TR" dirty="0">
                <a:latin typeface="Consolas" panose="020B0609020204030204" pitchFamily="49" charset="0"/>
              </a:rPr>
              <a:t>-</a:t>
            </a:r>
            <a:r>
              <a:rPr lang="tr-TR" dirty="0" err="1">
                <a:latin typeface="Consolas" panose="020B0609020204030204" pitchFamily="49" charset="0"/>
              </a:rPr>
              <a:t>rwxrwx</a:t>
            </a:r>
            <a:r>
              <a:rPr lang="tr-TR" dirty="0">
                <a:latin typeface="Consolas" panose="020B0609020204030204" pitchFamily="49" charset="0"/>
              </a:rPr>
              <a:t>--T 1 </a:t>
            </a:r>
            <a:r>
              <a:rPr lang="tr-TR" dirty="0" err="1">
                <a:latin typeface="Consolas" panose="020B0609020204030204" pitchFamily="49" charset="0"/>
              </a:rPr>
              <a:t>root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root</a:t>
            </a:r>
            <a:r>
              <a:rPr lang="tr-TR" dirty="0">
                <a:latin typeface="Consolas" panose="020B0609020204030204" pitchFamily="49" charset="0"/>
              </a:rPr>
              <a:t> 81 </a:t>
            </a:r>
            <a:r>
              <a:rPr lang="tr-TR" dirty="0" err="1">
                <a:latin typeface="Consolas" panose="020B0609020204030204" pitchFamily="49" charset="0"/>
              </a:rPr>
              <a:t>Aug</a:t>
            </a:r>
            <a:r>
              <a:rPr lang="tr-TR" dirty="0">
                <a:latin typeface="Consolas" panose="020B0609020204030204" pitchFamily="49" charset="0"/>
              </a:rPr>
              <a:t>  2  2008 a.txt</a:t>
            </a:r>
          </a:p>
          <a:p>
            <a:r>
              <a:rPr lang="tr-TR" dirty="0">
                <a:latin typeface="Consolas" panose="020B0609020204030204" pitchFamily="49" charset="0"/>
              </a:rPr>
              <a:t>-</a:t>
            </a:r>
            <a:r>
              <a:rPr lang="tr-TR" dirty="0" err="1">
                <a:latin typeface="Consolas" panose="020B0609020204030204" pitchFamily="49" charset="0"/>
              </a:rPr>
              <a:t>rwxr</a:t>
            </a:r>
            <a:r>
              <a:rPr lang="tr-TR" dirty="0">
                <a:latin typeface="Consolas" panose="020B0609020204030204" pitchFamily="49" charset="0"/>
              </a:rPr>
              <a:t>-x--- 1 </a:t>
            </a:r>
            <a:r>
              <a:rPr lang="tr-TR" dirty="0" err="1">
                <a:latin typeface="Consolas" panose="020B0609020204030204" pitchFamily="49" charset="0"/>
              </a:rPr>
              <a:t>root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root</a:t>
            </a:r>
            <a:r>
              <a:rPr lang="tr-TR" dirty="0">
                <a:latin typeface="Consolas" panose="020B0609020204030204" pitchFamily="49" charset="0"/>
              </a:rPr>
              <a:t> 81 May 26 19:20 b.txt</a:t>
            </a:r>
          </a:p>
          <a:p>
            <a:r>
              <a:rPr lang="tr-TR" dirty="0">
                <a:latin typeface="Consolas" panose="020B0609020204030204" pitchFamily="49" charset="0"/>
              </a:rPr>
              <a:t>-</a:t>
            </a:r>
            <a:r>
              <a:rPr lang="tr-TR" dirty="0" err="1">
                <a:latin typeface="Consolas" panose="020B0609020204030204" pitchFamily="49" charset="0"/>
              </a:rPr>
              <a:t>rwx</a:t>
            </a:r>
            <a:r>
              <a:rPr lang="tr-TR" dirty="0">
                <a:latin typeface="Consolas" panose="020B0609020204030204" pitchFamily="49" charset="0"/>
              </a:rPr>
              <a:t>------ 1 </a:t>
            </a:r>
            <a:r>
              <a:rPr lang="tr-TR" dirty="0" err="1">
                <a:latin typeface="Consolas" panose="020B0609020204030204" pitchFamily="49" charset="0"/>
              </a:rPr>
              <a:t>root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root</a:t>
            </a:r>
            <a:r>
              <a:rPr lang="tr-TR" dirty="0">
                <a:latin typeface="Consolas" panose="020B0609020204030204" pitchFamily="49" charset="0"/>
              </a:rPr>
              <a:t> 81 Jul 30 19:28 c.txt</a:t>
            </a:r>
          </a:p>
          <a:p>
            <a:r>
              <a:rPr lang="tr-TR" dirty="0">
                <a:latin typeface="Consolas" panose="020B0609020204030204" pitchFamily="49" charset="0"/>
              </a:rPr>
              <a:t>-</a:t>
            </a:r>
            <a:r>
              <a:rPr lang="tr-TR" dirty="0" err="1">
                <a:latin typeface="Consolas" panose="020B0609020204030204" pitchFamily="49" charset="0"/>
              </a:rPr>
              <a:t>rwxr</a:t>
            </a:r>
            <a:r>
              <a:rPr lang="tr-TR" dirty="0">
                <a:latin typeface="Consolas" panose="020B0609020204030204" pitchFamily="49" charset="0"/>
              </a:rPr>
              <a:t>-</a:t>
            </a:r>
            <a:r>
              <a:rPr lang="tr-TR" dirty="0" err="1">
                <a:latin typeface="Consolas" panose="020B0609020204030204" pitchFamily="49" charset="0"/>
              </a:rPr>
              <a:t>xr</a:t>
            </a:r>
            <a:r>
              <a:rPr lang="tr-TR" dirty="0">
                <a:latin typeface="Consolas" panose="020B0609020204030204" pitchFamily="49" charset="0"/>
              </a:rPr>
              <a:t>-x 1 </a:t>
            </a:r>
            <a:r>
              <a:rPr lang="tr-TR" dirty="0" err="1">
                <a:latin typeface="Consolas" panose="020B0609020204030204" pitchFamily="49" charset="0"/>
              </a:rPr>
              <a:t>root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root</a:t>
            </a:r>
            <a:r>
              <a:rPr lang="tr-TR" dirty="0">
                <a:latin typeface="Consolas" panose="020B0609020204030204" pitchFamily="49" charset="0"/>
              </a:rPr>
              <a:t> 11193 Jul 30 19:27 </a:t>
            </a:r>
            <a:r>
              <a:rPr lang="tr-TR" dirty="0" err="1">
                <a:latin typeface="Consolas" panose="020B0609020204030204" pitchFamily="49" charset="0"/>
              </a:rPr>
              <a:t>cp</a:t>
            </a:r>
            <a:endParaRPr lang="tr-TR" dirty="0">
              <a:latin typeface="Consolas" panose="020B0609020204030204" pitchFamily="49" charset="0"/>
            </a:endParaRP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669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Dosya Öznitelikleri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>
                <a:latin typeface="Consolas" panose="020B0609020204030204" pitchFamily="49" charset="0"/>
              </a:rPr>
              <a:t>- </a:t>
            </a:r>
            <a:r>
              <a:rPr lang="tr-TR" dirty="0" err="1">
                <a:latin typeface="Consolas" panose="020B0609020204030204" pitchFamily="49" charset="0"/>
              </a:rPr>
              <a:t>rwx</a:t>
            </a:r>
            <a:r>
              <a:rPr lang="tr-TR" dirty="0">
                <a:latin typeface="Consolas" panose="020B0609020204030204" pitchFamily="49" charset="0"/>
              </a:rPr>
              <a:t>  </a:t>
            </a:r>
            <a:r>
              <a:rPr lang="tr-TR" dirty="0" err="1">
                <a:latin typeface="Consolas" panose="020B0609020204030204" pitchFamily="49" charset="0"/>
              </a:rPr>
              <a:t>rw</a:t>
            </a:r>
            <a:r>
              <a:rPr lang="tr-TR" dirty="0">
                <a:latin typeface="Consolas" panose="020B0609020204030204" pitchFamily="49" charset="0"/>
              </a:rPr>
              <a:t>-  r--</a:t>
            </a:r>
          </a:p>
          <a:p>
            <a:endParaRPr lang="tr-TR" dirty="0"/>
          </a:p>
          <a:p>
            <a:r>
              <a:rPr lang="tr-TR" dirty="0"/>
              <a:t>Dosya türü: </a:t>
            </a:r>
            <a:r>
              <a:rPr lang="tr-TR" i="1" dirty="0"/>
              <a:t>-</a:t>
            </a:r>
            <a:r>
              <a:rPr lang="tr-TR" dirty="0"/>
              <a:t> bir dosya, </a:t>
            </a:r>
            <a:r>
              <a:rPr lang="tr-TR" i="1" dirty="0"/>
              <a:t>d</a:t>
            </a:r>
            <a:r>
              <a:rPr lang="tr-TR" dirty="0"/>
              <a:t> dizin anlamına gelir.</a:t>
            </a:r>
          </a:p>
          <a:p>
            <a:r>
              <a:rPr lang="tr-TR" dirty="0"/>
              <a:t>Dosyanın sahibi için okuma, yazma ve yürütme izinleri (</a:t>
            </a:r>
            <a:r>
              <a:rPr lang="tr-TR" i="1" dirty="0" err="1"/>
              <a:t>rwx</a:t>
            </a:r>
            <a:r>
              <a:rPr lang="tr-TR" dirty="0"/>
              <a:t>)</a:t>
            </a:r>
          </a:p>
          <a:p>
            <a:r>
              <a:rPr lang="tr-TR" dirty="0"/>
              <a:t>Dosyanın sahibi olan grup için okuma, yazma ve yürütme izinleri (</a:t>
            </a:r>
            <a:r>
              <a:rPr lang="tr-TR" i="1" dirty="0" err="1"/>
              <a:t>rw</a:t>
            </a:r>
            <a:r>
              <a:rPr lang="tr-TR" i="1" dirty="0"/>
              <a:t>-</a:t>
            </a:r>
            <a:r>
              <a:rPr lang="tr-TR" dirty="0"/>
              <a:t>)</a:t>
            </a:r>
          </a:p>
          <a:p>
            <a:r>
              <a:rPr lang="tr-TR" dirty="0"/>
              <a:t>Diğer tüm kullanıcılar için okuma, yazma ve yürütme izinleri (</a:t>
            </a:r>
            <a:r>
              <a:rPr lang="tr-TR" i="1" dirty="0"/>
              <a:t>r--</a:t>
            </a:r>
            <a:r>
              <a:rPr lang="tr-TR" dirty="0"/>
              <a:t>)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9671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Dosyalar için Sistem Çağrıları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 err="1"/>
              <a:t>Create</a:t>
            </a:r>
            <a:r>
              <a:rPr lang="tr-TR" dirty="0"/>
              <a:t>: veri olmadan boş dosya oluşturur, öznitelikleri atar.</a:t>
            </a:r>
          </a:p>
          <a:p>
            <a:r>
              <a:rPr lang="tr-TR" b="1" dirty="0" err="1"/>
              <a:t>Delete</a:t>
            </a:r>
            <a:r>
              <a:rPr lang="tr-TR" dirty="0"/>
              <a:t>: disk alanını boşaltmak için dosyayı serbest bırakır.</a:t>
            </a:r>
          </a:p>
          <a:p>
            <a:r>
              <a:rPr lang="tr-TR" b="1" dirty="0"/>
              <a:t>Open</a:t>
            </a:r>
            <a:r>
              <a:rPr lang="tr-TR" dirty="0"/>
              <a:t>: dosyanın öznitelikleri ve diskteki adresleri belleğe yüklenir.</a:t>
            </a:r>
          </a:p>
          <a:p>
            <a:r>
              <a:rPr lang="tr-TR" b="1" dirty="0"/>
              <a:t>Close</a:t>
            </a:r>
            <a:r>
              <a:rPr lang="tr-TR" dirty="0"/>
              <a:t>: öznitelikler ve disk adreslerin bulunduğu tablo boşaltılır.</a:t>
            </a:r>
          </a:p>
          <a:p>
            <a:r>
              <a:rPr lang="tr-TR" b="1" dirty="0"/>
              <a:t>Read</a:t>
            </a:r>
            <a:r>
              <a:rPr lang="tr-TR" dirty="0"/>
              <a:t>: dosya işaretçisinin konumundan belleğe okuma yapılır.</a:t>
            </a:r>
          </a:p>
          <a:p>
            <a:r>
              <a:rPr lang="tr-TR" b="1" dirty="0"/>
              <a:t>Write</a:t>
            </a:r>
            <a:r>
              <a:rPr lang="tr-TR" dirty="0"/>
              <a:t>: işaretçinin geçerli konumuna bellekten yazma yapılır.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7821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Dosyalar için Sistem Çağrıları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 err="1"/>
              <a:t>Append</a:t>
            </a:r>
            <a:r>
              <a:rPr lang="tr-TR" dirty="0"/>
              <a:t>: dosyanın sonuna ekleme yapar.</a:t>
            </a:r>
          </a:p>
          <a:p>
            <a:r>
              <a:rPr lang="tr-TR" b="1" dirty="0" err="1"/>
              <a:t>Seek</a:t>
            </a:r>
            <a:r>
              <a:rPr lang="tr-TR" dirty="0"/>
              <a:t>: dosya işaretçisini dosyada belirli bir yere koyar.</a:t>
            </a:r>
          </a:p>
          <a:p>
            <a:r>
              <a:rPr lang="tr-TR" b="1" dirty="0" err="1"/>
              <a:t>Rename</a:t>
            </a:r>
            <a:r>
              <a:rPr lang="tr-TR" dirty="0"/>
              <a:t>: dosya adı güncellenir.</a:t>
            </a:r>
          </a:p>
          <a:p>
            <a:r>
              <a:rPr lang="tr-TR" b="1" dirty="0" err="1"/>
              <a:t>GetProperties</a:t>
            </a:r>
            <a:r>
              <a:rPr lang="tr-TR" dirty="0"/>
              <a:t>: dosyanın öznitelikleri okunur.</a:t>
            </a:r>
          </a:p>
          <a:p>
            <a:r>
              <a:rPr lang="tr-TR" b="1" dirty="0" err="1"/>
              <a:t>SetProperties</a:t>
            </a:r>
            <a:r>
              <a:rPr lang="tr-TR" dirty="0"/>
              <a:t>: dosyanın öznitelikleri güncellenir.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7420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Dosya Kopyalama – </a:t>
            </a:r>
            <a:r>
              <a:rPr lang="tr-TR" dirty="0" err="1"/>
              <a:t>copy</a:t>
            </a:r>
            <a:r>
              <a:rPr lang="tr-TR" dirty="0"/>
              <a:t> </a:t>
            </a:r>
            <a:r>
              <a:rPr lang="tr-TR" dirty="0" err="1"/>
              <a:t>abc</a:t>
            </a:r>
            <a:r>
              <a:rPr lang="tr-TR" dirty="0"/>
              <a:t> </a:t>
            </a:r>
            <a:r>
              <a:rPr lang="tr-TR" dirty="0" err="1"/>
              <a:t>xyz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i="1" dirty="0" err="1"/>
              <a:t>abc</a:t>
            </a:r>
            <a:r>
              <a:rPr lang="tr-TR" dirty="0"/>
              <a:t> dosyasını </a:t>
            </a:r>
            <a:r>
              <a:rPr lang="tr-TR" i="1" dirty="0" err="1"/>
              <a:t>xyz</a:t>
            </a:r>
            <a:r>
              <a:rPr lang="tr-TR" dirty="0"/>
              <a:t> dosyası olarak kopyalar.</a:t>
            </a:r>
          </a:p>
          <a:p>
            <a:pPr lvl="1"/>
            <a:r>
              <a:rPr lang="tr-TR" dirty="0"/>
              <a:t>Eğer </a:t>
            </a:r>
            <a:r>
              <a:rPr lang="tr-TR" i="1" dirty="0" err="1"/>
              <a:t>xyz</a:t>
            </a:r>
            <a:r>
              <a:rPr lang="tr-TR" dirty="0"/>
              <a:t> adında bir dosya varsa üzerine yazılır.</a:t>
            </a:r>
          </a:p>
          <a:p>
            <a:pPr lvl="1"/>
            <a:r>
              <a:rPr lang="tr-TR" dirty="0"/>
              <a:t>Yok ise boş bir dosya oluşturulur.</a:t>
            </a:r>
          </a:p>
          <a:p>
            <a:r>
              <a:rPr lang="tr-TR" dirty="0"/>
              <a:t>Sistem çağrıları kullanılır. (</a:t>
            </a:r>
            <a:r>
              <a:rPr lang="tr-TR" i="1" dirty="0"/>
              <a:t>okuma, yazma</a:t>
            </a:r>
            <a:r>
              <a:rPr lang="tr-TR" dirty="0"/>
              <a:t>)</a:t>
            </a:r>
          </a:p>
          <a:p>
            <a:r>
              <a:rPr lang="tr-TR" dirty="0"/>
              <a:t>4 </a:t>
            </a:r>
            <a:r>
              <a:rPr lang="tr-TR" i="1" dirty="0"/>
              <a:t>KB</a:t>
            </a:r>
            <a:r>
              <a:rPr lang="tr-TR" dirty="0"/>
              <a:t> boyutunda parçalar halinde okur ve yazar.</a:t>
            </a:r>
          </a:p>
          <a:p>
            <a:pPr lvl="1"/>
            <a:r>
              <a:rPr lang="tr-TR" i="1" dirty="0" err="1"/>
              <a:t>abc</a:t>
            </a:r>
            <a:r>
              <a:rPr lang="tr-TR" dirty="0"/>
              <a:t> dosyasından tampon belleğe okunur. (</a:t>
            </a:r>
            <a:r>
              <a:rPr lang="tr-TR" i="1" dirty="0" err="1"/>
              <a:t>read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Tampon bellekten </a:t>
            </a:r>
            <a:r>
              <a:rPr lang="tr-TR" i="1" dirty="0" err="1"/>
              <a:t>xyz</a:t>
            </a:r>
            <a:r>
              <a:rPr lang="tr-TR" dirty="0"/>
              <a:t> dosyasına yazılır. (</a:t>
            </a:r>
            <a:r>
              <a:rPr lang="tr-TR" i="1" dirty="0" err="1"/>
              <a:t>write</a:t>
            </a:r>
            <a:r>
              <a:rPr lang="tr-TR" dirty="0"/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4837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Dosya Kopyalama – </a:t>
            </a:r>
            <a:r>
              <a:rPr lang="tr-TR" dirty="0" err="1"/>
              <a:t>copy</a:t>
            </a:r>
            <a:r>
              <a:rPr lang="tr-TR" dirty="0"/>
              <a:t> </a:t>
            </a:r>
            <a:r>
              <a:rPr lang="tr-TR" dirty="0" err="1"/>
              <a:t>abc</a:t>
            </a:r>
            <a:r>
              <a:rPr lang="tr-TR" dirty="0"/>
              <a:t> </a:t>
            </a:r>
            <a:r>
              <a:rPr lang="tr-TR" dirty="0" err="1"/>
              <a:t>xyz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tr-TR" b="1" dirty="0">
                <a:latin typeface="Consolas" panose="020B0609020204030204" pitchFamily="49" charset="0"/>
              </a:rPr>
              <a:t>#define </a:t>
            </a:r>
            <a:r>
              <a:rPr lang="tr-TR" dirty="0">
                <a:latin typeface="Consolas" panose="020B0609020204030204" pitchFamily="49" charset="0"/>
              </a:rPr>
              <a:t>BUFFER_SIZE 4096  // 4 KB</a:t>
            </a:r>
          </a:p>
          <a:p>
            <a:pPr marL="0" indent="0">
              <a:buNone/>
            </a:pPr>
            <a:endParaRPr lang="tr-TR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b="1" dirty="0" err="1">
                <a:latin typeface="Consolas" panose="020B0609020204030204" pitchFamily="49" charset="0"/>
              </a:rPr>
              <a:t>void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copyFile</a:t>
            </a:r>
            <a:r>
              <a:rPr lang="tr-TR" dirty="0">
                <a:latin typeface="Consolas" panose="020B0609020204030204" pitchFamily="49" charset="0"/>
              </a:rPr>
              <a:t>(</a:t>
            </a:r>
            <a:r>
              <a:rPr lang="tr-TR" b="1" dirty="0" err="1">
                <a:latin typeface="Consolas" panose="020B0609020204030204" pitchFamily="49" charset="0"/>
              </a:rPr>
              <a:t>char</a:t>
            </a:r>
            <a:r>
              <a:rPr lang="tr-TR" dirty="0">
                <a:latin typeface="Consolas" panose="020B0609020204030204" pitchFamily="49" charset="0"/>
              </a:rPr>
              <a:t> *</a:t>
            </a:r>
            <a:r>
              <a:rPr lang="tr-TR" dirty="0" err="1">
                <a:latin typeface="Consolas" panose="020B0609020204030204" pitchFamily="49" charset="0"/>
              </a:rPr>
              <a:t>src</a:t>
            </a:r>
            <a:r>
              <a:rPr lang="tr-TR" dirty="0">
                <a:latin typeface="Consolas" panose="020B0609020204030204" pitchFamily="49" charset="0"/>
              </a:rPr>
              <a:t>, </a:t>
            </a:r>
            <a:r>
              <a:rPr lang="tr-TR" b="1" dirty="0" err="1">
                <a:latin typeface="Consolas" panose="020B0609020204030204" pitchFamily="49" charset="0"/>
              </a:rPr>
              <a:t>char</a:t>
            </a:r>
            <a:r>
              <a:rPr lang="tr-TR" dirty="0">
                <a:latin typeface="Consolas" panose="020B0609020204030204" pitchFamily="49" charset="0"/>
              </a:rPr>
              <a:t> *dest) {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</a:t>
            </a:r>
            <a:r>
              <a:rPr lang="tr-TR" b="1" dirty="0" err="1">
                <a:latin typeface="Consolas" panose="020B0609020204030204" pitchFamily="49" charset="0"/>
              </a:rPr>
              <a:t>char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buffer</a:t>
            </a:r>
            <a:r>
              <a:rPr lang="tr-TR" dirty="0">
                <a:latin typeface="Consolas" panose="020B0609020204030204" pitchFamily="49" charset="0"/>
              </a:rPr>
              <a:t>[BUFFER_SIZE];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</a:t>
            </a:r>
            <a:r>
              <a:rPr lang="tr-TR" dirty="0" err="1">
                <a:latin typeface="Consolas" panose="020B0609020204030204" pitchFamily="49" charset="0"/>
              </a:rPr>
              <a:t>source</a:t>
            </a:r>
            <a:r>
              <a:rPr lang="tr-TR" dirty="0">
                <a:latin typeface="Consolas" panose="020B0609020204030204" pitchFamily="49" charset="0"/>
              </a:rPr>
              <a:t> = </a:t>
            </a:r>
            <a:r>
              <a:rPr lang="tr-TR" b="1" dirty="0" err="1">
                <a:latin typeface="Consolas" panose="020B0609020204030204" pitchFamily="49" charset="0"/>
              </a:rPr>
              <a:t>open</a:t>
            </a:r>
            <a:r>
              <a:rPr lang="tr-TR" dirty="0">
                <a:latin typeface="Consolas" panose="020B0609020204030204" pitchFamily="49" charset="0"/>
              </a:rPr>
              <a:t>(</a:t>
            </a:r>
            <a:r>
              <a:rPr lang="tr-TR" dirty="0" err="1">
                <a:latin typeface="Consolas" panose="020B0609020204030204" pitchFamily="49" charset="0"/>
              </a:rPr>
              <a:t>src</a:t>
            </a:r>
            <a:r>
              <a:rPr lang="tr-TR" dirty="0">
                <a:latin typeface="Consolas" panose="020B0609020204030204" pitchFamily="49" charset="0"/>
              </a:rPr>
              <a:t>, O_RDONLY);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</a:t>
            </a:r>
            <a:r>
              <a:rPr lang="tr-TR" dirty="0" err="1">
                <a:latin typeface="Consolas" panose="020B0609020204030204" pitchFamily="49" charset="0"/>
              </a:rPr>
              <a:t>destination</a:t>
            </a:r>
            <a:r>
              <a:rPr lang="tr-TR" dirty="0">
                <a:latin typeface="Consolas" panose="020B0609020204030204" pitchFamily="49" charset="0"/>
              </a:rPr>
              <a:t> = </a:t>
            </a:r>
            <a:r>
              <a:rPr lang="tr-TR" b="1" dirty="0" err="1">
                <a:latin typeface="Consolas" panose="020B0609020204030204" pitchFamily="49" charset="0"/>
              </a:rPr>
              <a:t>open</a:t>
            </a:r>
            <a:r>
              <a:rPr lang="tr-TR" dirty="0">
                <a:latin typeface="Consolas" panose="020B0609020204030204" pitchFamily="49" charset="0"/>
              </a:rPr>
              <a:t>(dest, O_WRONLY | O_CREAT | O_TRUNC);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// 4 KB'lık parçalar halinde oku ve yaz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</a:t>
            </a:r>
            <a:r>
              <a:rPr lang="tr-TR" b="1" dirty="0" err="1">
                <a:latin typeface="Consolas" panose="020B0609020204030204" pitchFamily="49" charset="0"/>
              </a:rPr>
              <a:t>while</a:t>
            </a:r>
            <a:r>
              <a:rPr lang="tr-TR" dirty="0">
                <a:latin typeface="Consolas" panose="020B0609020204030204" pitchFamily="49" charset="0"/>
              </a:rPr>
              <a:t> ((</a:t>
            </a:r>
            <a:r>
              <a:rPr lang="tr-TR" dirty="0" err="1">
                <a:latin typeface="Consolas" panose="020B0609020204030204" pitchFamily="49" charset="0"/>
              </a:rPr>
              <a:t>bytesRead</a:t>
            </a:r>
            <a:r>
              <a:rPr lang="tr-TR" dirty="0">
                <a:latin typeface="Consolas" panose="020B0609020204030204" pitchFamily="49" charset="0"/>
              </a:rPr>
              <a:t> = </a:t>
            </a:r>
            <a:r>
              <a:rPr lang="tr-TR" b="1" dirty="0" err="1">
                <a:latin typeface="Consolas" panose="020B0609020204030204" pitchFamily="49" charset="0"/>
              </a:rPr>
              <a:t>read</a:t>
            </a:r>
            <a:r>
              <a:rPr lang="tr-TR" dirty="0">
                <a:latin typeface="Consolas" panose="020B0609020204030204" pitchFamily="49" charset="0"/>
              </a:rPr>
              <a:t>(</a:t>
            </a:r>
            <a:r>
              <a:rPr lang="tr-TR" dirty="0" err="1">
                <a:latin typeface="Consolas" panose="020B0609020204030204" pitchFamily="49" charset="0"/>
              </a:rPr>
              <a:t>source</a:t>
            </a:r>
            <a:r>
              <a:rPr lang="tr-TR" dirty="0">
                <a:latin typeface="Consolas" panose="020B0609020204030204" pitchFamily="49" charset="0"/>
              </a:rPr>
              <a:t>, </a:t>
            </a:r>
            <a:r>
              <a:rPr lang="tr-TR" dirty="0" err="1">
                <a:latin typeface="Consolas" panose="020B0609020204030204" pitchFamily="49" charset="0"/>
              </a:rPr>
              <a:t>buffer</a:t>
            </a:r>
            <a:r>
              <a:rPr lang="tr-TR" dirty="0">
                <a:latin typeface="Consolas" panose="020B0609020204030204" pitchFamily="49" charset="0"/>
              </a:rPr>
              <a:t>, BUFFER_SIZE)) &gt; 0) {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</a:t>
            </a:r>
            <a:r>
              <a:rPr lang="tr-TR" dirty="0" err="1">
                <a:latin typeface="Consolas" panose="020B0609020204030204" pitchFamily="49" charset="0"/>
              </a:rPr>
              <a:t>bytesWritten</a:t>
            </a:r>
            <a:r>
              <a:rPr lang="tr-TR" dirty="0">
                <a:latin typeface="Consolas" panose="020B0609020204030204" pitchFamily="49" charset="0"/>
              </a:rPr>
              <a:t> = </a:t>
            </a:r>
            <a:r>
              <a:rPr lang="tr-TR" b="1" dirty="0" err="1">
                <a:latin typeface="Consolas" panose="020B0609020204030204" pitchFamily="49" charset="0"/>
              </a:rPr>
              <a:t>write</a:t>
            </a:r>
            <a:r>
              <a:rPr lang="tr-TR" dirty="0">
                <a:latin typeface="Consolas" panose="020B0609020204030204" pitchFamily="49" charset="0"/>
              </a:rPr>
              <a:t>(</a:t>
            </a:r>
            <a:r>
              <a:rPr lang="tr-TR" dirty="0" err="1">
                <a:latin typeface="Consolas" panose="020B0609020204030204" pitchFamily="49" charset="0"/>
              </a:rPr>
              <a:t>destination</a:t>
            </a:r>
            <a:r>
              <a:rPr lang="tr-TR" dirty="0">
                <a:latin typeface="Consolas" panose="020B0609020204030204" pitchFamily="49" charset="0"/>
              </a:rPr>
              <a:t>, </a:t>
            </a:r>
            <a:r>
              <a:rPr lang="tr-TR" dirty="0" err="1">
                <a:latin typeface="Consolas" panose="020B0609020204030204" pitchFamily="49" charset="0"/>
              </a:rPr>
              <a:t>buffer</a:t>
            </a:r>
            <a:r>
              <a:rPr lang="tr-TR" dirty="0">
                <a:latin typeface="Consolas" panose="020B0609020204030204" pitchFamily="49" charset="0"/>
              </a:rPr>
              <a:t>, </a:t>
            </a:r>
            <a:r>
              <a:rPr lang="tr-TR" dirty="0" err="1">
                <a:latin typeface="Consolas" panose="020B0609020204030204" pitchFamily="49" charset="0"/>
              </a:rPr>
              <a:t>bytesRead</a:t>
            </a:r>
            <a:r>
              <a:rPr lang="tr-TR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}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</a:t>
            </a:r>
            <a:r>
              <a:rPr lang="tr-TR" b="1" dirty="0" err="1">
                <a:latin typeface="Consolas" panose="020B0609020204030204" pitchFamily="49" charset="0"/>
              </a:rPr>
              <a:t>close</a:t>
            </a:r>
            <a:r>
              <a:rPr lang="tr-TR" dirty="0">
                <a:latin typeface="Consolas" panose="020B0609020204030204" pitchFamily="49" charset="0"/>
              </a:rPr>
              <a:t>(</a:t>
            </a:r>
            <a:r>
              <a:rPr lang="tr-TR" dirty="0" err="1">
                <a:latin typeface="Consolas" panose="020B0609020204030204" pitchFamily="49" charset="0"/>
              </a:rPr>
              <a:t>source</a:t>
            </a:r>
            <a:r>
              <a:rPr lang="tr-TR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</a:t>
            </a:r>
            <a:r>
              <a:rPr lang="tr-TR" b="1" dirty="0" err="1">
                <a:latin typeface="Consolas" panose="020B0609020204030204" pitchFamily="49" charset="0"/>
              </a:rPr>
              <a:t>close</a:t>
            </a:r>
            <a:r>
              <a:rPr lang="tr-TR" dirty="0">
                <a:latin typeface="Consolas" panose="020B0609020204030204" pitchFamily="49" charset="0"/>
              </a:rPr>
              <a:t>(</a:t>
            </a:r>
            <a:r>
              <a:rPr lang="tr-TR" dirty="0" err="1">
                <a:latin typeface="Consolas" panose="020B0609020204030204" pitchFamily="49" charset="0"/>
              </a:rPr>
              <a:t>destination</a:t>
            </a:r>
            <a:r>
              <a:rPr lang="tr-TR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8377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Dizinler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Bir dosya kümesini düzenleyen dosyalar.</a:t>
            </a:r>
          </a:p>
          <a:p>
            <a:r>
              <a:rPr lang="tr-TR" dirty="0"/>
              <a:t>Klasör (</a:t>
            </a:r>
            <a:r>
              <a:rPr lang="tr-TR" i="1" dirty="0" err="1"/>
              <a:t>folder</a:t>
            </a:r>
            <a:r>
              <a:rPr lang="tr-TR" dirty="0"/>
              <a:t>) olarak da adlandırılır.</a:t>
            </a:r>
          </a:p>
          <a:p>
            <a:r>
              <a:rPr lang="tr-TR" dirty="0"/>
              <a:t>Katı bağlama (</a:t>
            </a:r>
            <a:r>
              <a:rPr lang="tr-TR" i="1" dirty="0"/>
              <a:t>hard link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Bir dosyanın birden fazla dizinde görünmesini sağlar.</a:t>
            </a:r>
          </a:p>
          <a:p>
            <a:r>
              <a:rPr lang="tr-TR" dirty="0"/>
              <a:t>Sembolik bağlama (</a:t>
            </a:r>
            <a:r>
              <a:rPr lang="tr-TR" i="1" dirty="0" err="1"/>
              <a:t>symbolic</a:t>
            </a:r>
            <a:r>
              <a:rPr lang="tr-TR" i="1" dirty="0"/>
              <a:t> link</a:t>
            </a:r>
            <a:r>
              <a:rPr lang="tr-TR" dirty="0"/>
              <a:t>) </a:t>
            </a:r>
          </a:p>
          <a:p>
            <a:pPr lvl="1"/>
            <a:r>
              <a:rPr lang="tr-TR" dirty="0"/>
              <a:t>Başka bir dosyaya işaret (</a:t>
            </a:r>
            <a:r>
              <a:rPr lang="tr-TR" i="1" dirty="0" err="1"/>
              <a:t>point</a:t>
            </a:r>
            <a:r>
              <a:rPr lang="tr-TR" dirty="0"/>
              <a:t>) eden bir bağ (</a:t>
            </a:r>
            <a:r>
              <a:rPr lang="tr-TR" i="1" dirty="0"/>
              <a:t>link</a:t>
            </a:r>
            <a:r>
              <a:rPr lang="tr-TR" dirty="0"/>
              <a:t>) oluşturur.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3967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Dört Dosya İçeren Tek Düzeyli Dizin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Tek düzeyli dizinlerde </a:t>
            </a:r>
          </a:p>
          <a:p>
            <a:pPr lvl="1"/>
            <a:r>
              <a:rPr lang="tr-TR" dirty="0"/>
              <a:t>isimlendirme ve </a:t>
            </a:r>
          </a:p>
          <a:p>
            <a:pPr lvl="1"/>
            <a:r>
              <a:rPr lang="tr-TR" dirty="0"/>
              <a:t>gruplandırma sorunları yaşanır.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7" name="Picture 6" descr="D:\b\b4\IBM\04-0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2447" y="3670119"/>
            <a:ext cx="3507105" cy="149171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15601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Hiyerarşik Dizin Sistemleri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7" name="Picture 6" descr="D:\b\b4\IBM\04-0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2725" y="2126071"/>
            <a:ext cx="6686550" cy="368617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09757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Yol (</a:t>
            </a:r>
            <a:r>
              <a:rPr lang="tr-TR" dirty="0" err="1"/>
              <a:t>Path</a:t>
            </a:r>
            <a:r>
              <a:rPr lang="tr-TR" dirty="0"/>
              <a:t>) Adları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Mutlak adres (</a:t>
            </a:r>
            <a:r>
              <a:rPr lang="tr-TR" i="1" dirty="0" err="1"/>
              <a:t>absolute</a:t>
            </a:r>
            <a:r>
              <a:rPr lang="tr-TR" dirty="0"/>
              <a:t>) </a:t>
            </a:r>
          </a:p>
          <a:p>
            <a:pPr lvl="1"/>
            <a:r>
              <a:rPr lang="tr-TR" dirty="0"/>
              <a:t>/</a:t>
            </a:r>
            <a:r>
              <a:rPr lang="tr-TR" dirty="0" err="1"/>
              <a:t>usr</a:t>
            </a:r>
            <a:r>
              <a:rPr lang="tr-TR" dirty="0"/>
              <a:t>/sercan/</a:t>
            </a:r>
            <a:r>
              <a:rPr lang="tr-TR" dirty="0" err="1"/>
              <a:t>os</a:t>
            </a:r>
            <a:r>
              <a:rPr lang="tr-TR" dirty="0"/>
              <a:t>/slaytlar </a:t>
            </a:r>
          </a:p>
          <a:p>
            <a:r>
              <a:rPr lang="tr-TR" dirty="0"/>
              <a:t>Bağıl adres (</a:t>
            </a:r>
            <a:r>
              <a:rPr lang="tr-TR" dirty="0" err="1"/>
              <a:t>relative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../</a:t>
            </a:r>
            <a:r>
              <a:rPr lang="tr-TR" dirty="0" err="1"/>
              <a:t>os</a:t>
            </a:r>
            <a:r>
              <a:rPr lang="tr-TR" dirty="0"/>
              <a:t>/slaytlar</a:t>
            </a:r>
          </a:p>
          <a:p>
            <a:r>
              <a:rPr lang="tr-TR" dirty="0"/>
              <a:t>. içinde bulunulan (</a:t>
            </a:r>
            <a:r>
              <a:rPr lang="tr-TR" i="1" dirty="0" err="1"/>
              <a:t>working</a:t>
            </a:r>
            <a:r>
              <a:rPr lang="tr-TR" dirty="0"/>
              <a:t>) dizini ifade eder.</a:t>
            </a:r>
          </a:p>
          <a:p>
            <a:r>
              <a:rPr lang="tr-TR" dirty="0"/>
              <a:t>.. bir üst dizini ifade eder.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3369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UNIX Dizin Ağacı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7" name="Picture 1030" descr="D:\b\b4\IBM\04-0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3813" y="1533575"/>
            <a:ext cx="4714875" cy="46069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49337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Dizin İşlemleri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 err="1">
                <a:latin typeface="Consolas" panose="020B0609020204030204" pitchFamily="49" charset="0"/>
              </a:rPr>
              <a:t>Opendir</a:t>
            </a:r>
            <a:r>
              <a:rPr lang="tr-TR" dirty="0"/>
              <a:t>, bir işlem yapılmadan önce, dizin akışı (</a:t>
            </a:r>
            <a:r>
              <a:rPr lang="tr-TR" dirty="0" err="1"/>
              <a:t>stream</a:t>
            </a:r>
            <a:r>
              <a:rPr lang="tr-TR" dirty="0"/>
              <a:t>) açılır.</a:t>
            </a:r>
          </a:p>
          <a:p>
            <a:r>
              <a:rPr lang="tr-TR" b="1" dirty="0" err="1">
                <a:latin typeface="Consolas" panose="020B0609020204030204" pitchFamily="49" charset="0"/>
              </a:rPr>
              <a:t>Create</a:t>
            </a:r>
            <a:r>
              <a:rPr lang="tr-TR" dirty="0"/>
              <a:t>, dizin oluşturur.</a:t>
            </a:r>
          </a:p>
          <a:p>
            <a:r>
              <a:rPr lang="tr-TR" b="1" dirty="0" err="1">
                <a:latin typeface="Consolas" panose="020B0609020204030204" pitchFamily="49" charset="0"/>
              </a:rPr>
              <a:t>Readdir</a:t>
            </a:r>
            <a:r>
              <a:rPr lang="tr-TR" dirty="0"/>
              <a:t>, açılan dizindeki bir sonraki elemanı döndürür.</a:t>
            </a:r>
          </a:p>
          <a:p>
            <a:r>
              <a:rPr lang="tr-TR" b="1" dirty="0" err="1">
                <a:latin typeface="Consolas" panose="020B0609020204030204" pitchFamily="49" charset="0"/>
              </a:rPr>
              <a:t>Delete</a:t>
            </a:r>
            <a:r>
              <a:rPr lang="tr-TR" dirty="0"/>
              <a:t>, dizini siler, silinecek dizin boş olmalıdır.</a:t>
            </a:r>
          </a:p>
          <a:p>
            <a:r>
              <a:rPr lang="tr-TR" b="1" dirty="0" err="1">
                <a:latin typeface="Consolas" panose="020B0609020204030204" pitchFamily="49" charset="0"/>
              </a:rPr>
              <a:t>Rename</a:t>
            </a:r>
            <a:r>
              <a:rPr lang="tr-TR" dirty="0"/>
              <a:t>, dizini yeniden adlandırır.</a:t>
            </a:r>
          </a:p>
          <a:p>
            <a:r>
              <a:rPr lang="tr-TR" b="1" dirty="0" err="1">
                <a:latin typeface="Consolas" panose="020B0609020204030204" pitchFamily="49" charset="0"/>
              </a:rPr>
              <a:t>Closedir</a:t>
            </a:r>
            <a:r>
              <a:rPr lang="tr-TR" dirty="0"/>
              <a:t>, işlemler bittikten sonra dizin akışı kapatılır.</a:t>
            </a:r>
          </a:p>
          <a:p>
            <a:r>
              <a:rPr lang="tr-TR" b="1" dirty="0">
                <a:latin typeface="Consolas" panose="020B0609020204030204" pitchFamily="49" charset="0"/>
              </a:rPr>
              <a:t>Link</a:t>
            </a:r>
            <a:r>
              <a:rPr lang="tr-TR" dirty="0"/>
              <a:t>, dizini başka bir dizine bağlar.</a:t>
            </a:r>
          </a:p>
          <a:p>
            <a:r>
              <a:rPr lang="tr-TR" b="1" dirty="0" err="1">
                <a:latin typeface="Consolas" panose="020B0609020204030204" pitchFamily="49" charset="0"/>
              </a:rPr>
              <a:t>Unlink</a:t>
            </a:r>
            <a:r>
              <a:rPr lang="tr-TR" dirty="0"/>
              <a:t>, bağlantıyı kaldırır.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7254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Disk Yapısı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Dosyalar </a:t>
            </a:r>
            <a:r>
              <a:rPr lang="tr-TR" i="1" dirty="0"/>
              <a:t>diskte</a:t>
            </a:r>
            <a:r>
              <a:rPr lang="tr-TR" dirty="0"/>
              <a:t> saklanır. </a:t>
            </a:r>
          </a:p>
          <a:p>
            <a:r>
              <a:rPr lang="tr-TR" dirty="0"/>
              <a:t>Diskler bir veya daha fazla bölümden (</a:t>
            </a:r>
            <a:r>
              <a:rPr lang="tr-TR" i="1" dirty="0" err="1"/>
              <a:t>partition</a:t>
            </a:r>
            <a:r>
              <a:rPr lang="tr-TR" dirty="0"/>
              <a:t>) oluşabilir.</a:t>
            </a:r>
          </a:p>
          <a:p>
            <a:r>
              <a:rPr lang="tr-TR" dirty="0"/>
              <a:t>Diskin her bir bölümünde ayrı </a:t>
            </a:r>
            <a:r>
              <a:rPr lang="tr-TR" i="1" dirty="0"/>
              <a:t>dosya sistemi</a:t>
            </a:r>
            <a:r>
              <a:rPr lang="tr-TR" dirty="0"/>
              <a:t> olabilir.</a:t>
            </a:r>
          </a:p>
          <a:p>
            <a:r>
              <a:rPr lang="tr-TR" dirty="0"/>
              <a:t>Diskin ilk (sıfırıncı) sektörü, ana önyükleme kaydıdır (</a:t>
            </a:r>
            <a:r>
              <a:rPr lang="tr-TR" i="1" dirty="0" err="1"/>
              <a:t>master</a:t>
            </a:r>
            <a:r>
              <a:rPr lang="tr-TR" i="1" dirty="0"/>
              <a:t> </a:t>
            </a:r>
            <a:r>
              <a:rPr lang="tr-TR" i="1" dirty="0" err="1"/>
              <a:t>boot</a:t>
            </a:r>
            <a:r>
              <a:rPr lang="tr-TR" i="1" dirty="0"/>
              <a:t> </a:t>
            </a:r>
            <a:r>
              <a:rPr lang="tr-TR" i="1" dirty="0" err="1"/>
              <a:t>record</a:t>
            </a:r>
            <a:r>
              <a:rPr lang="tr-TR" dirty="0"/>
              <a:t>).</a:t>
            </a:r>
          </a:p>
          <a:p>
            <a:r>
              <a:rPr lang="tr-TR" i="1" dirty="0"/>
              <a:t>MBR</a:t>
            </a:r>
            <a:r>
              <a:rPr lang="tr-TR" dirty="0"/>
              <a:t>, bilgisayarın açılışında (</a:t>
            </a:r>
            <a:r>
              <a:rPr lang="tr-TR" i="1" dirty="0" err="1"/>
              <a:t>boot</a:t>
            </a:r>
            <a:r>
              <a:rPr lang="tr-TR" dirty="0"/>
              <a:t>) kullanılır.</a:t>
            </a:r>
          </a:p>
          <a:p>
            <a:r>
              <a:rPr lang="tr-TR" i="1" dirty="0" err="1"/>
              <a:t>MBR</a:t>
            </a:r>
            <a:r>
              <a:rPr lang="tr-TR" dirty="0" err="1"/>
              <a:t>'nin</a:t>
            </a:r>
            <a:r>
              <a:rPr lang="tr-TR" dirty="0"/>
              <a:t> sonunda bölüm tablosu (</a:t>
            </a:r>
            <a:r>
              <a:rPr lang="tr-TR" i="1" dirty="0" err="1"/>
              <a:t>partition</a:t>
            </a:r>
            <a:r>
              <a:rPr lang="tr-TR" i="1" dirty="0"/>
              <a:t> </a:t>
            </a:r>
            <a:r>
              <a:rPr lang="tr-TR" i="1" dirty="0" err="1"/>
              <a:t>table</a:t>
            </a:r>
            <a:r>
              <a:rPr lang="tr-TR" dirty="0"/>
              <a:t>) bulunur. </a:t>
            </a:r>
          </a:p>
          <a:p>
            <a:r>
              <a:rPr lang="tr-TR" dirty="0"/>
              <a:t>Tabloda her bölümün başlangıç ve bitiş adresleri bulunur.</a:t>
            </a:r>
          </a:p>
          <a:p>
            <a:r>
              <a:rPr lang="tr-TR" dirty="0"/>
              <a:t>Bölümlerden sadece biri, etkin (</a:t>
            </a:r>
            <a:r>
              <a:rPr lang="tr-TR" i="1" dirty="0" err="1"/>
              <a:t>active</a:t>
            </a:r>
            <a:r>
              <a:rPr lang="tr-TR" dirty="0"/>
              <a:t>) olarak işaretlenebilir.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5458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Bilgisayar Açılış (</a:t>
            </a:r>
            <a:r>
              <a:rPr lang="tr-TR" dirty="0" err="1"/>
              <a:t>Boot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i="1" dirty="0"/>
              <a:t>BIOS (Basic </a:t>
            </a:r>
            <a:r>
              <a:rPr lang="tr-TR" i="1" dirty="0" err="1"/>
              <a:t>input</a:t>
            </a:r>
            <a:r>
              <a:rPr lang="tr-TR" i="1" dirty="0"/>
              <a:t> </a:t>
            </a:r>
            <a:r>
              <a:rPr lang="tr-TR" i="1" dirty="0" err="1"/>
              <a:t>output</a:t>
            </a:r>
            <a:r>
              <a:rPr lang="tr-TR" i="1" dirty="0"/>
              <a:t> </a:t>
            </a:r>
            <a:r>
              <a:rPr lang="tr-TR" i="1" dirty="0" err="1"/>
              <a:t>system</a:t>
            </a:r>
            <a:r>
              <a:rPr lang="tr-TR" i="1" dirty="0"/>
              <a:t>)</a:t>
            </a:r>
            <a:r>
              <a:rPr lang="tr-TR" dirty="0"/>
              <a:t>, </a:t>
            </a:r>
            <a:r>
              <a:rPr lang="tr-TR" i="1" dirty="0" err="1"/>
              <a:t>MBR</a:t>
            </a:r>
            <a:r>
              <a:rPr lang="tr-TR" dirty="0" err="1"/>
              <a:t>'yi</a:t>
            </a:r>
            <a:r>
              <a:rPr lang="tr-TR" dirty="0"/>
              <a:t> okur, yürütür.</a:t>
            </a:r>
          </a:p>
          <a:p>
            <a:r>
              <a:rPr lang="tr-TR" i="1" dirty="0"/>
              <a:t>MBR </a:t>
            </a:r>
            <a:r>
              <a:rPr lang="tr-TR" dirty="0"/>
              <a:t>aktif bölümü bulur ve ilk bloğu (</a:t>
            </a:r>
            <a:r>
              <a:rPr lang="tr-TR" i="1" dirty="0"/>
              <a:t>önyükleme bloğu</a:t>
            </a:r>
            <a:r>
              <a:rPr lang="tr-TR" dirty="0"/>
              <a:t>) okur.</a:t>
            </a:r>
          </a:p>
          <a:p>
            <a:r>
              <a:rPr lang="tr-TR" dirty="0"/>
              <a:t>Önyükleme bloğundaki program, bölüm içinde işletim sistemini bulur, okur.</a:t>
            </a:r>
          </a:p>
          <a:p>
            <a:r>
              <a:rPr lang="tr-TR" dirty="0"/>
              <a:t>Tüm bölümler (</a:t>
            </a:r>
            <a:r>
              <a:rPr lang="tr-TR" i="1" dirty="0" err="1"/>
              <a:t>partition</a:t>
            </a:r>
            <a:r>
              <a:rPr lang="tr-TR" dirty="0"/>
              <a:t>) bir önyükleme bloğuyla başlar.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8195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Dosya Sistemi Düzeni (</a:t>
            </a:r>
            <a:r>
              <a:rPr lang="tr-TR" dirty="0" err="1"/>
              <a:t>Layout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709" y="2158433"/>
            <a:ext cx="9134582" cy="3865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0375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Dosya Sistemi Düzeni (</a:t>
            </a:r>
            <a:r>
              <a:rPr lang="tr-TR" dirty="0" err="1"/>
              <a:t>Layout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 err="1"/>
              <a:t>Boot</a:t>
            </a:r>
            <a:r>
              <a:rPr lang="tr-TR" b="1" dirty="0"/>
              <a:t> </a:t>
            </a:r>
            <a:r>
              <a:rPr lang="tr-TR" b="1" dirty="0" err="1"/>
              <a:t>block</a:t>
            </a:r>
            <a:r>
              <a:rPr lang="tr-TR" dirty="0"/>
              <a:t>: </a:t>
            </a:r>
          </a:p>
          <a:p>
            <a:pPr lvl="1"/>
            <a:r>
              <a:rPr lang="tr-TR" dirty="0"/>
              <a:t>Diskin ilk bloğu. Önyükleyici kodunu içerir. </a:t>
            </a:r>
          </a:p>
          <a:p>
            <a:pPr lvl="1"/>
            <a:r>
              <a:rPr lang="tr-TR" dirty="0"/>
              <a:t>İşletim sistemi çekirdeğini belleğe yükler ve başlatır.</a:t>
            </a:r>
          </a:p>
          <a:p>
            <a:r>
              <a:rPr lang="tr-TR" b="1" dirty="0" err="1"/>
              <a:t>Superblock</a:t>
            </a:r>
            <a:r>
              <a:rPr lang="tr-TR" dirty="0"/>
              <a:t>: </a:t>
            </a:r>
          </a:p>
          <a:p>
            <a:pPr lvl="1"/>
            <a:r>
              <a:rPr lang="tr-TR" dirty="0"/>
              <a:t>Dosya sistemi hakkında bilgi içerir.</a:t>
            </a:r>
          </a:p>
          <a:p>
            <a:pPr lvl="1"/>
            <a:r>
              <a:rPr lang="tr-TR" dirty="0"/>
              <a:t>Boyutu, boş alan yönetimi, blok boyutu gibi.</a:t>
            </a:r>
          </a:p>
          <a:p>
            <a:r>
              <a:rPr lang="tr-TR" b="1" dirty="0" err="1"/>
              <a:t>Free</a:t>
            </a:r>
            <a:r>
              <a:rPr lang="tr-TR" b="1" dirty="0"/>
              <a:t> Space Management</a:t>
            </a:r>
            <a:r>
              <a:rPr lang="tr-TR" dirty="0"/>
              <a:t>: </a:t>
            </a:r>
          </a:p>
          <a:p>
            <a:pPr lvl="1"/>
            <a:r>
              <a:rPr lang="tr-TR" dirty="0"/>
              <a:t>Diskte bulunan boş blokları takip eder. </a:t>
            </a:r>
          </a:p>
          <a:p>
            <a:pPr lvl="1"/>
            <a:r>
              <a:rPr lang="tr-TR" dirty="0"/>
              <a:t>Dosya sistemini düzenli tutar, parçalanmayı azaltır.</a:t>
            </a:r>
          </a:p>
          <a:p>
            <a:pPr lvl="1"/>
            <a:r>
              <a:rPr lang="tr-TR" dirty="0"/>
              <a:t>Disk alanını verimli kullanır.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7269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Dosya Sistemi Düzeni (</a:t>
            </a:r>
            <a:r>
              <a:rPr lang="tr-TR" dirty="0" err="1"/>
              <a:t>Layout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i-</a:t>
            </a:r>
            <a:r>
              <a:rPr lang="tr-TR" b="1" dirty="0" err="1"/>
              <a:t>nodes</a:t>
            </a:r>
            <a:r>
              <a:rPr lang="tr-TR" dirty="0"/>
              <a:t>: </a:t>
            </a:r>
          </a:p>
          <a:p>
            <a:pPr lvl="1"/>
            <a:r>
              <a:rPr lang="tr-TR" dirty="0"/>
              <a:t>Dosya ve dizinler hakkında bilgi içerir. </a:t>
            </a:r>
          </a:p>
          <a:p>
            <a:pPr lvl="1"/>
            <a:r>
              <a:rPr lang="tr-TR" dirty="0"/>
              <a:t>Boyut, izinler, sahiplik, zaman damgaları ve diskteki konumu gibi.</a:t>
            </a:r>
          </a:p>
          <a:p>
            <a:r>
              <a:rPr lang="tr-TR" b="1" dirty="0" err="1"/>
              <a:t>Root</a:t>
            </a:r>
            <a:r>
              <a:rPr lang="tr-TR" b="1" dirty="0"/>
              <a:t> </a:t>
            </a:r>
            <a:r>
              <a:rPr lang="tr-TR" b="1" dirty="0" err="1"/>
              <a:t>directory</a:t>
            </a:r>
            <a:r>
              <a:rPr lang="tr-TR" dirty="0"/>
              <a:t>: </a:t>
            </a:r>
          </a:p>
          <a:p>
            <a:pPr lvl="1"/>
            <a:r>
              <a:rPr lang="tr-TR" dirty="0"/>
              <a:t>Dosya sistemi hiyerarşisinde en üstte bulunan dizin. </a:t>
            </a:r>
          </a:p>
          <a:p>
            <a:pPr lvl="1"/>
            <a:r>
              <a:rPr lang="tr-TR" dirty="0"/>
              <a:t>Dosya ve dizinlere erişim için başlangıç noktası.</a:t>
            </a:r>
          </a:p>
          <a:p>
            <a:r>
              <a:rPr lang="tr-TR" b="1" dirty="0" err="1"/>
              <a:t>Files</a:t>
            </a:r>
            <a:r>
              <a:rPr lang="tr-TR" dirty="0"/>
              <a:t>: </a:t>
            </a:r>
          </a:p>
          <a:p>
            <a:pPr lvl="1"/>
            <a:r>
              <a:rPr lang="tr-TR" dirty="0"/>
              <a:t>Kalıcı olarak saklanması gereken verileri içerir.</a:t>
            </a:r>
          </a:p>
          <a:p>
            <a:r>
              <a:rPr lang="tr-TR" b="1" dirty="0"/>
              <a:t>Directory</a:t>
            </a:r>
            <a:r>
              <a:rPr lang="tr-TR" dirty="0"/>
              <a:t>: </a:t>
            </a:r>
          </a:p>
          <a:p>
            <a:pPr lvl="1"/>
            <a:r>
              <a:rPr lang="tr-TR" dirty="0"/>
              <a:t>Gezinme ve yönetim için dosyaları yapılandırır ve gruplar.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7999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Blokların Dosyalara Tahsisi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En önemli uygulama sorunu.</a:t>
            </a:r>
          </a:p>
          <a:p>
            <a:r>
              <a:rPr lang="tr-TR" dirty="0"/>
              <a:t>Yöntemler</a:t>
            </a:r>
          </a:p>
          <a:p>
            <a:pPr lvl="1"/>
            <a:r>
              <a:rPr lang="tr-TR" dirty="0"/>
              <a:t>Bitişik yer (</a:t>
            </a:r>
            <a:r>
              <a:rPr lang="tr-TR" i="1" dirty="0" err="1"/>
              <a:t>contiguous</a:t>
            </a:r>
            <a:r>
              <a:rPr lang="tr-TR" dirty="0"/>
              <a:t>) tahsisi.</a:t>
            </a:r>
          </a:p>
          <a:p>
            <a:pPr lvl="1"/>
            <a:r>
              <a:rPr lang="tr-TR" dirty="0"/>
              <a:t>Bağlı liste (</a:t>
            </a:r>
            <a:r>
              <a:rPr lang="tr-TR" i="1" dirty="0" err="1"/>
              <a:t>linked</a:t>
            </a:r>
            <a:r>
              <a:rPr lang="tr-TR" i="1" dirty="0"/>
              <a:t> </a:t>
            </a:r>
            <a:r>
              <a:rPr lang="tr-TR" i="1" dirty="0" err="1"/>
              <a:t>list</a:t>
            </a:r>
            <a:r>
              <a:rPr lang="tr-TR" dirty="0"/>
              <a:t>) kullanılarak tahsis.</a:t>
            </a:r>
          </a:p>
          <a:p>
            <a:pPr lvl="1"/>
            <a:r>
              <a:rPr lang="tr-TR" dirty="0"/>
              <a:t>Tablo (</a:t>
            </a:r>
            <a:r>
              <a:rPr lang="tr-TR" i="1" dirty="0" err="1"/>
              <a:t>table</a:t>
            </a:r>
            <a:r>
              <a:rPr lang="tr-TR" dirty="0"/>
              <a:t>) kullanılarak tahsis.</a:t>
            </a:r>
          </a:p>
          <a:p>
            <a:pPr lvl="1"/>
            <a:r>
              <a:rPr lang="tr-TR" dirty="0"/>
              <a:t>I-</a:t>
            </a:r>
            <a:r>
              <a:rPr lang="tr-TR" dirty="0" err="1"/>
              <a:t>nodes</a:t>
            </a:r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9630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Bitişik Yer Tahsisi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Dosyaya diskte bitişik boş bloklar atanır.</a:t>
            </a:r>
          </a:p>
          <a:p>
            <a:r>
              <a:rPr lang="tr-TR" dirty="0"/>
              <a:t>Basit bir yöntem, okuma performansı iyi. </a:t>
            </a:r>
            <a:r>
              <a:rPr lang="tr-TR" dirty="0">
                <a:sym typeface="Wingdings" panose="05000000000000000000" pitchFamily="2" charset="2"/>
              </a:rPr>
              <a:t></a:t>
            </a:r>
            <a:endParaRPr lang="tr-TR" dirty="0"/>
          </a:p>
          <a:p>
            <a:r>
              <a:rPr lang="tr-TR" dirty="0"/>
              <a:t>Dahili parçalanma nedeniyle disk alanı boşa harcanır.</a:t>
            </a:r>
          </a:p>
          <a:p>
            <a:r>
              <a:rPr lang="tr-TR" dirty="0"/>
              <a:t>Büyük dosyalara yer tahsisi zordur. </a:t>
            </a:r>
          </a:p>
          <a:p>
            <a:r>
              <a:rPr lang="tr-TR" dirty="0"/>
              <a:t>Dosyadaki ilk bloğu bulmak için sadece bir </a:t>
            </a:r>
            <a:r>
              <a:rPr lang="tr-TR" i="1" dirty="0" err="1"/>
              <a:t>seek</a:t>
            </a:r>
            <a:r>
              <a:rPr lang="tr-TR" dirty="0"/>
              <a:t> komutu yeterli.</a:t>
            </a:r>
          </a:p>
          <a:p>
            <a:r>
              <a:rPr lang="tr-TR" dirty="0"/>
              <a:t>Disk kullanıldıkça zamanla parçalanır (</a:t>
            </a:r>
            <a:r>
              <a:rPr lang="tr-TR" i="1" dirty="0" err="1"/>
              <a:t>fragmented</a:t>
            </a:r>
            <a:r>
              <a:rPr lang="tr-TR" dirty="0"/>
              <a:t>).</a:t>
            </a:r>
          </a:p>
          <a:p>
            <a:r>
              <a:rPr lang="tr-TR" i="1" dirty="0"/>
              <a:t>CD-ROM</a:t>
            </a:r>
            <a:r>
              <a:rPr lang="tr-TR" dirty="0"/>
              <a:t>, dosya sistemi boyutu sabit olduğundan bitişik yer tahsisi.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7658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Bitişik Yer Tahsisi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457200" indent="-457200">
              <a:buAutoNum type="alphaLcParenBoth"/>
            </a:pPr>
            <a:r>
              <a:rPr lang="tr-TR" dirty="0"/>
              <a:t>7 dosya için bitişik yer tahsisi. </a:t>
            </a:r>
          </a:p>
          <a:p>
            <a:pPr marL="457200" indent="-457200">
              <a:buAutoNum type="alphaLcParenBoth"/>
            </a:pPr>
            <a:r>
              <a:rPr lang="tr-TR" i="1" dirty="0"/>
              <a:t>D</a:t>
            </a:r>
            <a:r>
              <a:rPr lang="tr-TR" dirty="0"/>
              <a:t> ve </a:t>
            </a:r>
            <a:r>
              <a:rPr lang="tr-TR" i="1" dirty="0"/>
              <a:t>F</a:t>
            </a:r>
            <a:r>
              <a:rPr lang="tr-TR" dirty="0"/>
              <a:t> silindikten sonra diskin durumu.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41</a:t>
            </a:fld>
            <a:endParaRPr lang="en-US" dirty="0"/>
          </a:p>
        </p:txBody>
      </p:sp>
      <p:pic>
        <p:nvPicPr>
          <p:cNvPr id="7" name="Picture 6" descr="D:\b\b4\IBM\04-1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8556" y="2675162"/>
            <a:ext cx="6994888" cy="36137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68067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Bağlı Liste Kullanılarak Yer Tahsisi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İşaretçiler ile disk blokları birbirine bağlanır.</a:t>
            </a:r>
          </a:p>
          <a:p>
            <a:r>
              <a:rPr lang="tr-TR" dirty="0"/>
              <a:t>Bitişik yer tahsisinin kısıtlamalarını çözer. </a:t>
            </a:r>
          </a:p>
          <a:p>
            <a:r>
              <a:rPr lang="tr-TR" dirty="0"/>
              <a:t>Dahili parçalanmayı en aza indirir. </a:t>
            </a:r>
            <a:r>
              <a:rPr lang="tr-TR" dirty="0">
                <a:sym typeface="Wingdings" panose="05000000000000000000" pitchFamily="2" charset="2"/>
              </a:rPr>
              <a:t></a:t>
            </a:r>
            <a:endParaRPr lang="tr-TR" dirty="0"/>
          </a:p>
          <a:p>
            <a:r>
              <a:rPr lang="tr-TR" dirty="0"/>
              <a:t>Disk alanı dinamik ve verimli olarak kullanılır. </a:t>
            </a:r>
            <a:r>
              <a:rPr lang="tr-TR" dirty="0">
                <a:sym typeface="Wingdings" panose="05000000000000000000" pitchFamily="2" charset="2"/>
              </a:rPr>
              <a:t></a:t>
            </a:r>
            <a:endParaRPr lang="tr-TR" dirty="0"/>
          </a:p>
          <a:p>
            <a:r>
              <a:rPr lang="tr-TR" dirty="0"/>
              <a:t>Verilere erişim daha yavaş. </a:t>
            </a:r>
            <a:r>
              <a:rPr lang="tr-TR" dirty="0">
                <a:sym typeface="Wingdings" panose="05000000000000000000" pitchFamily="2" charset="2"/>
              </a:rPr>
              <a:t></a:t>
            </a:r>
            <a:endParaRPr lang="tr-TR" dirty="0"/>
          </a:p>
          <a:p>
            <a:r>
              <a:rPr lang="tr-TR" dirty="0"/>
              <a:t>Uygulanması daha karmaşık.</a:t>
            </a:r>
          </a:p>
          <a:p>
            <a:r>
              <a:rPr lang="tr-TR" dirty="0"/>
              <a:t>İşaretçileri saklamak için ekstra bellek maliyeti gerekir.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4880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Bağlı Liste Kullanılarak Yer Tahsisi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Bağlı liste yapısında tutulan disk bloklarından oluşan iki örnek dosya.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43</a:t>
            </a:fld>
            <a:endParaRPr lang="en-US" dirty="0"/>
          </a:p>
        </p:txBody>
      </p:sp>
      <p:pic>
        <p:nvPicPr>
          <p:cNvPr id="7" name="Picture 6" descr="D:\b\b4\IBM\04-1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1383" y="2323070"/>
            <a:ext cx="5309234" cy="38174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96268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Tablo Kullanılarak Yer Tahsisi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Disk bloklarını gösteren işaretçiler bir tabloda saklanır.</a:t>
            </a:r>
          </a:p>
          <a:p>
            <a:r>
              <a:rPr lang="tr-TR" dirty="0"/>
              <a:t>Bağlı liste yöntemine kıyasla,</a:t>
            </a:r>
          </a:p>
          <a:p>
            <a:pPr lvl="1"/>
            <a:r>
              <a:rPr lang="tr-TR" dirty="0"/>
              <a:t>Verilere erişim daha hızlı.</a:t>
            </a:r>
          </a:p>
          <a:p>
            <a:pPr lvl="1"/>
            <a:r>
              <a:rPr lang="tr-TR" dirty="0"/>
              <a:t>Bellek gereksinimi daha az.</a:t>
            </a:r>
          </a:p>
          <a:p>
            <a:r>
              <a:rPr lang="tr-TR" dirty="0"/>
              <a:t>Uygulaması daha karmaşık.</a:t>
            </a:r>
          </a:p>
          <a:p>
            <a:r>
              <a:rPr lang="tr-TR" dirty="0"/>
              <a:t>Dahili parçalanmaya neden olabilir.</a:t>
            </a:r>
          </a:p>
          <a:p>
            <a:r>
              <a:rPr lang="tr-TR" b="1" dirty="0"/>
              <a:t>Örnek</a:t>
            </a:r>
            <a:r>
              <a:rPr lang="tr-TR" dirty="0"/>
              <a:t>: </a:t>
            </a:r>
            <a:r>
              <a:rPr lang="en-US" i="1" dirty="0"/>
              <a:t>File Allocation Table (FAT)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0948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Tablo Kullanılarak Yer Tahsisi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tablo</a:t>
            </a:r>
            <a:r>
              <a:rPr lang="en-US" dirty="0"/>
              <a:t> </a:t>
            </a:r>
            <a:r>
              <a:rPr lang="tr-TR" dirty="0"/>
              <a:t>bellekte </a:t>
            </a:r>
            <a:r>
              <a:rPr lang="en-US" dirty="0"/>
              <a:t>tut</a:t>
            </a:r>
            <a:r>
              <a:rPr lang="tr-TR" dirty="0"/>
              <a:t>ulur! </a:t>
            </a:r>
            <a:r>
              <a:rPr lang="tr-TR" dirty="0">
                <a:sym typeface="Wingdings" panose="05000000000000000000" pitchFamily="2" charset="2"/>
              </a:rPr>
              <a:t></a:t>
            </a:r>
            <a:endParaRPr lang="tr-TR" dirty="0"/>
          </a:p>
          <a:p>
            <a:r>
              <a:rPr lang="tr-TR" dirty="0"/>
              <a:t>Ö</a:t>
            </a:r>
            <a:r>
              <a:rPr lang="en-US" dirty="0" err="1"/>
              <a:t>lçeklen</a:t>
            </a:r>
            <a:r>
              <a:rPr lang="tr-TR" dirty="0" err="1"/>
              <a:t>ebilir</a:t>
            </a:r>
            <a:r>
              <a:rPr lang="tr-TR" dirty="0"/>
              <a:t> değil! (</a:t>
            </a:r>
            <a:r>
              <a:rPr lang="tr-TR" i="1" dirty="0"/>
              <a:t>not </a:t>
            </a:r>
            <a:r>
              <a:rPr lang="tr-TR" i="1" dirty="0" err="1"/>
              <a:t>scalable</a:t>
            </a:r>
            <a:r>
              <a:rPr lang="tr-TR" dirty="0"/>
              <a:t>) </a:t>
            </a:r>
            <a:r>
              <a:rPr lang="tr-TR" dirty="0">
                <a:sym typeface="Wingdings" panose="05000000000000000000" pitchFamily="2" charset="2"/>
              </a:rPr>
              <a:t></a:t>
            </a:r>
          </a:p>
          <a:p>
            <a:r>
              <a:rPr lang="tr-TR" dirty="0"/>
              <a:t>Tablo boyutu, disk boyutu ile doğru orantılı.</a:t>
            </a:r>
          </a:p>
          <a:p>
            <a:r>
              <a:rPr lang="tr-TR" dirty="0"/>
              <a:t>Tablonun boyutu gerçekten </a:t>
            </a:r>
            <a:r>
              <a:rPr lang="tr-TR" i="1" dirty="0"/>
              <a:t>çok büyük</a:t>
            </a:r>
            <a:r>
              <a:rPr lang="tr-TR" dirty="0"/>
              <a:t>.</a:t>
            </a:r>
          </a:p>
          <a:p>
            <a:r>
              <a:rPr lang="tr-TR" dirty="0"/>
              <a:t>Örneğin, </a:t>
            </a:r>
          </a:p>
          <a:p>
            <a:pPr lvl="1"/>
            <a:r>
              <a:rPr lang="tr-TR" dirty="0"/>
              <a:t>blok boyutu 1 </a:t>
            </a:r>
            <a:r>
              <a:rPr lang="tr-TR" i="1" dirty="0"/>
              <a:t>KB</a:t>
            </a:r>
            <a:r>
              <a:rPr lang="tr-TR" dirty="0"/>
              <a:t> olsun.</a:t>
            </a:r>
          </a:p>
          <a:p>
            <a:pPr lvl="1"/>
            <a:r>
              <a:rPr lang="tr-TR" dirty="0"/>
              <a:t>disk boyutu 200 </a:t>
            </a:r>
            <a:r>
              <a:rPr lang="tr-TR" i="1" dirty="0"/>
              <a:t>GB </a:t>
            </a:r>
            <a:r>
              <a:rPr lang="tr-TR" dirty="0"/>
              <a:t>olsun.</a:t>
            </a:r>
          </a:p>
          <a:p>
            <a:pPr lvl="1"/>
            <a:r>
              <a:rPr lang="tr-TR" dirty="0"/>
              <a:t>Tablo için 800 </a:t>
            </a:r>
            <a:r>
              <a:rPr lang="tr-TR" i="1" dirty="0"/>
              <a:t>MB </a:t>
            </a:r>
            <a:r>
              <a:rPr lang="tr-TR" dirty="0"/>
              <a:t>gerekir.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810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Tablo Kullanılarak Yer Tahsisi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Ana bellekte tutulur.</a:t>
            </a:r>
          </a:p>
          <a:p>
            <a:r>
              <a:rPr lang="tr-TR" dirty="0"/>
              <a:t>Tablo kullanılır.</a:t>
            </a:r>
          </a:p>
          <a:p>
            <a:r>
              <a:rPr lang="tr-TR" dirty="0"/>
              <a:t>Örnek iki dosyanın gösterimi.</a:t>
            </a:r>
          </a:p>
          <a:p>
            <a:r>
              <a:rPr lang="tr-TR" dirty="0"/>
              <a:t>A: 7 2 10 12 -1</a:t>
            </a:r>
          </a:p>
          <a:p>
            <a:r>
              <a:rPr lang="tr-TR" dirty="0"/>
              <a:t>B: 3 11 14 -1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46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9177" y="1617842"/>
            <a:ext cx="5297639" cy="45226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24516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I-</a:t>
            </a:r>
            <a:r>
              <a:rPr lang="tr-TR" dirty="0" err="1"/>
              <a:t>nodes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i-düğüm tablosu kullanılır.</a:t>
            </a:r>
          </a:p>
          <a:p>
            <a:r>
              <a:rPr lang="tr-TR" dirty="0"/>
              <a:t>Dahili parçalanmayı en aza indirir.</a:t>
            </a:r>
          </a:p>
          <a:p>
            <a:r>
              <a:rPr lang="tr-TR" dirty="0"/>
              <a:t>Disk alanının esnek bir şekilde tahsis edilmesini sağlar.</a:t>
            </a:r>
          </a:p>
          <a:p>
            <a:r>
              <a:rPr lang="tr-TR" dirty="0"/>
              <a:t>Meta verileri yönetmek için esnek ve verimli bir yöntem sağlar.</a:t>
            </a:r>
          </a:p>
          <a:p>
            <a:r>
              <a:rPr lang="tr-TR" dirty="0"/>
              <a:t>Uygulanması daha karmaşıktır.</a:t>
            </a:r>
          </a:p>
          <a:p>
            <a:r>
              <a:rPr lang="tr-TR" dirty="0"/>
              <a:t>i-düğümleri saklamak için ekstra bellek gerektirir.</a:t>
            </a:r>
          </a:p>
          <a:p>
            <a:r>
              <a:rPr lang="tr-TR" dirty="0"/>
              <a:t>Disk kafasının daha fazla hareket etmesine neden olabilir.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9288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I-</a:t>
            </a:r>
            <a:r>
              <a:rPr lang="tr-TR" dirty="0" err="1"/>
              <a:t>nodes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Veri yapısını yalnızca açık dosyalar için bellekte tutar. </a:t>
            </a:r>
            <a:r>
              <a:rPr lang="tr-TR" dirty="0">
                <a:sym typeface="Wingdings" panose="05000000000000000000" pitchFamily="2" charset="2"/>
              </a:rPr>
              <a:t></a:t>
            </a:r>
            <a:endParaRPr lang="tr-TR" dirty="0"/>
          </a:p>
          <a:p>
            <a:r>
              <a:rPr lang="tr-TR" dirty="0"/>
              <a:t>Veri yapısı, blokların adreslerini ve dosyaların özniteliklerini saklar.</a:t>
            </a:r>
          </a:p>
          <a:p>
            <a:r>
              <a:rPr lang="tr-TR" i="1" dirty="0"/>
              <a:t>K</a:t>
            </a:r>
            <a:r>
              <a:rPr lang="tr-TR" dirty="0"/>
              <a:t> aktif dosya, dosya başına </a:t>
            </a:r>
            <a:r>
              <a:rPr lang="tr-TR" i="1" dirty="0"/>
              <a:t>N</a:t>
            </a:r>
            <a:r>
              <a:rPr lang="tr-TR" dirty="0"/>
              <a:t> blok, en fazla </a:t>
            </a:r>
            <a:r>
              <a:rPr lang="tr-TR" i="1" dirty="0"/>
              <a:t>KN</a:t>
            </a:r>
            <a:r>
              <a:rPr lang="tr-TR" dirty="0"/>
              <a:t> blok bellekte yer kaplar.</a:t>
            </a:r>
          </a:p>
          <a:p>
            <a:r>
              <a:rPr lang="tr-TR" dirty="0"/>
              <a:t>Disk boyutu ile orantılı olarak büyüme sorununu çözer. </a:t>
            </a:r>
            <a:r>
              <a:rPr lang="tr-TR" dirty="0">
                <a:sym typeface="Wingdings" panose="05000000000000000000" pitchFamily="2" charset="2"/>
              </a:rPr>
              <a:t></a:t>
            </a:r>
            <a:endParaRPr lang="tr-TR" dirty="0"/>
          </a:p>
          <a:p>
            <a:r>
              <a:rPr lang="tr-TR" i="1" dirty="0"/>
              <a:t>N</a:t>
            </a:r>
            <a:r>
              <a:rPr lang="tr-TR" dirty="0"/>
              <a:t> ne kadar büyük olabilir?</a:t>
            </a:r>
          </a:p>
          <a:p>
            <a:r>
              <a:rPr lang="tr-TR" dirty="0"/>
              <a:t>Tablodaki son satır, diğer disk bloklarına işaret eder.</a:t>
            </a:r>
          </a:p>
          <a:p>
            <a:r>
              <a:rPr lang="tr-TR" dirty="0"/>
              <a:t>i-</a:t>
            </a:r>
            <a:r>
              <a:rPr lang="tr-TR" dirty="0" err="1"/>
              <a:t>node</a:t>
            </a:r>
            <a:r>
              <a:rPr lang="tr-TR" dirty="0"/>
              <a:t> büyüklüğü sabittir!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0949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Örnek I-</a:t>
            </a:r>
            <a:r>
              <a:rPr lang="tr-TR" dirty="0" err="1"/>
              <a:t>node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49</a:t>
            </a:fld>
            <a:endParaRPr lang="en-US" dirty="0"/>
          </a:p>
        </p:txBody>
      </p:sp>
      <p:pic>
        <p:nvPicPr>
          <p:cNvPr id="7" name="Picture 6" descr="D:\b\b4\IBM\04-13.jpg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2591" y="1598291"/>
            <a:ext cx="4903763" cy="45422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85440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Dizinler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Dizinin diskteki adresini bulmak için,</a:t>
            </a:r>
          </a:p>
          <a:p>
            <a:pPr lvl="1"/>
            <a:r>
              <a:rPr lang="tr-TR" dirty="0"/>
              <a:t>İlk bloğun adresini (</a:t>
            </a:r>
            <a:r>
              <a:rPr lang="tr-TR" i="1" dirty="0"/>
              <a:t>bitişik yer tahsisi</a:t>
            </a:r>
            <a:r>
              <a:rPr lang="tr-TR" dirty="0"/>
              <a:t>).</a:t>
            </a:r>
          </a:p>
          <a:p>
            <a:pPr lvl="1"/>
            <a:r>
              <a:rPr lang="tr-TR" dirty="0"/>
              <a:t>İlk bloğun sayısını (</a:t>
            </a:r>
            <a:r>
              <a:rPr lang="tr-TR" i="1" dirty="0"/>
              <a:t>bağlı liste kullanarak yer tahsisi</a:t>
            </a:r>
            <a:r>
              <a:rPr lang="tr-TR" dirty="0"/>
              <a:t>).</a:t>
            </a:r>
          </a:p>
          <a:p>
            <a:pPr lvl="1"/>
            <a:r>
              <a:rPr lang="tr-TR" dirty="0"/>
              <a:t>i-</a:t>
            </a:r>
            <a:r>
              <a:rPr lang="tr-TR" dirty="0" err="1"/>
              <a:t>node</a:t>
            </a:r>
            <a:r>
              <a:rPr lang="tr-TR" dirty="0"/>
              <a:t> sayısını (</a:t>
            </a:r>
            <a:r>
              <a:rPr lang="tr-TR" i="1" dirty="0"/>
              <a:t>i-</a:t>
            </a:r>
            <a:r>
              <a:rPr lang="tr-TR" i="1" dirty="0" err="1"/>
              <a:t>nodes</a:t>
            </a:r>
            <a:r>
              <a:rPr lang="tr-TR" dirty="0"/>
              <a:t>) bilmek gereklidir.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2552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Dizinler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457200" indent="-457200">
              <a:buAutoNum type="alphaLcParenBoth"/>
            </a:pPr>
            <a:r>
              <a:rPr lang="tr-TR" dirty="0"/>
              <a:t>disk adresleri ve öznitelikleri tutan sabit boyutlu girdiler. (</a:t>
            </a:r>
            <a:r>
              <a:rPr lang="tr-TR" i="1" dirty="0"/>
              <a:t>DOS</a:t>
            </a:r>
            <a:r>
              <a:rPr lang="tr-TR" dirty="0"/>
              <a:t>) </a:t>
            </a:r>
          </a:p>
          <a:p>
            <a:pPr marL="457200" indent="-457200">
              <a:buAutoNum type="alphaLcParenBoth"/>
            </a:pPr>
            <a:r>
              <a:rPr lang="tr-TR" dirty="0"/>
              <a:t>her girdi öznitelikleri içeren bir i-</a:t>
            </a:r>
            <a:r>
              <a:rPr lang="tr-TR" dirty="0" err="1"/>
              <a:t>node'u</a:t>
            </a:r>
            <a:r>
              <a:rPr lang="tr-TR" dirty="0"/>
              <a:t> işaret eder. (</a:t>
            </a:r>
            <a:r>
              <a:rPr lang="tr-TR" i="1" dirty="0"/>
              <a:t>Unix</a:t>
            </a:r>
            <a:r>
              <a:rPr lang="tr-TR" dirty="0"/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51</a:t>
            </a:fld>
            <a:endParaRPr lang="en-US" dirty="0"/>
          </a:p>
        </p:txBody>
      </p:sp>
      <p:pic>
        <p:nvPicPr>
          <p:cNvPr id="7" name="Picture 6" descr="D:\b\b4\IBM\04-1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986063"/>
            <a:ext cx="7010400" cy="2562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33141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Dizinler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Değişken uzunluklu dosya/dizin adları?</a:t>
            </a:r>
          </a:p>
          <a:p>
            <a:r>
              <a:rPr lang="tr-TR" dirty="0"/>
              <a:t>Çok uzun adlar problem.! </a:t>
            </a:r>
            <a:r>
              <a:rPr lang="tr-TR" dirty="0">
                <a:sym typeface="Wingdings" panose="05000000000000000000" pitchFamily="2" charset="2"/>
              </a:rPr>
              <a:t></a:t>
            </a:r>
            <a:endParaRPr lang="tr-TR" dirty="0"/>
          </a:p>
          <a:p>
            <a:r>
              <a:rPr lang="tr-TR" dirty="0"/>
              <a:t>İki yaklaşım var.</a:t>
            </a:r>
          </a:p>
          <a:p>
            <a:pPr lvl="1"/>
            <a:r>
              <a:rPr lang="tr-TR" dirty="0"/>
              <a:t>Sabit başlık ve ardından değişken boyutlu alan kullanılır.</a:t>
            </a:r>
          </a:p>
          <a:p>
            <a:pPr lvl="1"/>
            <a:r>
              <a:rPr lang="tr-TR" dirty="0"/>
              <a:t>Yığın kullanılır.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4109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Dizinler - Uzun Dosya Adları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(a) Sabit başlık, değişken boyutlu alan. (b) Yığın içinde.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53</a:t>
            </a:fld>
            <a:endParaRPr lang="en-US" dirty="0"/>
          </a:p>
        </p:txBody>
      </p:sp>
      <p:pic>
        <p:nvPicPr>
          <p:cNvPr id="7" name="Picture 1030" descr="D:\b\b4\IBM\04-1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1982" y="2386106"/>
            <a:ext cx="5508035" cy="38353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06630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Paylaşımlı Dosyalar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Paylaşımlı dosya içeren dosya sistemi.</a:t>
            </a:r>
          </a:p>
          <a:p>
            <a:r>
              <a:rPr lang="tr-TR" i="1" dirty="0"/>
              <a:t>?</a:t>
            </a:r>
            <a:r>
              <a:rPr lang="tr-TR" dirty="0"/>
              <a:t> paylaşımlı dosyadır.</a:t>
            </a:r>
          </a:p>
          <a:p>
            <a:r>
              <a:rPr lang="tr-TR" dirty="0"/>
              <a:t>Yönlendirilmiş </a:t>
            </a:r>
            <a:r>
              <a:rPr lang="tr-TR" dirty="0" err="1"/>
              <a:t>döngüsüz</a:t>
            </a:r>
            <a:r>
              <a:rPr lang="tr-TR" dirty="0"/>
              <a:t> ağaç.</a:t>
            </a:r>
          </a:p>
          <a:p>
            <a:r>
              <a:rPr lang="tr-TR" dirty="0" err="1"/>
              <a:t>Directed</a:t>
            </a:r>
            <a:r>
              <a:rPr lang="tr-TR" dirty="0"/>
              <a:t> </a:t>
            </a:r>
            <a:r>
              <a:rPr lang="tr-TR" dirty="0" err="1"/>
              <a:t>acyclic</a:t>
            </a:r>
            <a:r>
              <a:rPr lang="tr-TR" dirty="0"/>
              <a:t> </a:t>
            </a:r>
            <a:r>
              <a:rPr lang="tr-TR" dirty="0" err="1"/>
              <a:t>graph</a:t>
            </a:r>
            <a:r>
              <a:rPr lang="tr-TR" dirty="0"/>
              <a:t> (</a:t>
            </a:r>
            <a:r>
              <a:rPr lang="tr-TR" i="1" dirty="0"/>
              <a:t>DAG</a:t>
            </a:r>
            <a:r>
              <a:rPr lang="tr-TR" dirty="0"/>
              <a:t>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54</a:t>
            </a:fld>
            <a:endParaRPr lang="en-US" dirty="0"/>
          </a:p>
        </p:txBody>
      </p:sp>
      <p:pic>
        <p:nvPicPr>
          <p:cNvPr id="7" name="Picture 6" descr="D:\b\b4\IBM\04-1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5296" y="1438748"/>
            <a:ext cx="4704888" cy="44535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08305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Paylaşımlı Dosyalar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i="1" dirty="0"/>
              <a:t>B</a:t>
            </a:r>
            <a:r>
              <a:rPr lang="tr-TR" dirty="0"/>
              <a:t> yeni blok eklerse, </a:t>
            </a:r>
            <a:r>
              <a:rPr lang="tr-TR" i="1" dirty="0"/>
              <a:t>C</a:t>
            </a:r>
            <a:r>
              <a:rPr lang="tr-TR" dirty="0"/>
              <a:t> nasıl haberdar olur?</a:t>
            </a:r>
          </a:p>
          <a:p>
            <a:r>
              <a:rPr lang="tr-TR" dirty="0"/>
              <a:t>Paylaşımlı dosyalar için özel i-</a:t>
            </a:r>
            <a:r>
              <a:rPr lang="tr-TR" dirty="0" err="1"/>
              <a:t>node</a:t>
            </a:r>
            <a:r>
              <a:rPr lang="tr-TR" dirty="0"/>
              <a:t> yapısı kullanılır.</a:t>
            </a:r>
          </a:p>
          <a:p>
            <a:r>
              <a:rPr lang="tr-TR" dirty="0"/>
              <a:t>Sembolik bağlantı (</a:t>
            </a:r>
            <a:r>
              <a:rPr lang="tr-TR" i="1" dirty="0" err="1"/>
              <a:t>symbolic</a:t>
            </a:r>
            <a:r>
              <a:rPr lang="tr-TR" i="1" dirty="0"/>
              <a:t> link</a:t>
            </a:r>
            <a:r>
              <a:rPr lang="tr-TR" dirty="0"/>
              <a:t>) kullanılır.</a:t>
            </a:r>
          </a:p>
          <a:p>
            <a:pPr lvl="1"/>
            <a:r>
              <a:rPr lang="tr-TR" dirty="0"/>
              <a:t>Dosyanın sahibi </a:t>
            </a:r>
            <a:r>
              <a:rPr lang="tr-TR" i="1" dirty="0"/>
              <a:t>C</a:t>
            </a:r>
            <a:r>
              <a:rPr lang="tr-TR" dirty="0"/>
              <a:t> ise, </a:t>
            </a:r>
            <a:r>
              <a:rPr lang="tr-TR" i="1" dirty="0"/>
              <a:t>B</a:t>
            </a:r>
            <a:r>
              <a:rPr lang="tr-TR" dirty="0"/>
              <a:t> dizinine özel bir dosya konulur. </a:t>
            </a:r>
          </a:p>
          <a:p>
            <a:pPr lvl="1"/>
            <a:r>
              <a:rPr lang="tr-TR" dirty="0"/>
              <a:t>Bağlı (</a:t>
            </a:r>
            <a:r>
              <a:rPr lang="tr-TR" i="1" dirty="0" err="1"/>
              <a:t>linked</a:t>
            </a:r>
            <a:r>
              <a:rPr lang="tr-TR" dirty="0"/>
              <a:t>) olduğu dosyanın yolunu (</a:t>
            </a:r>
            <a:r>
              <a:rPr lang="tr-TR" i="1" dirty="0" err="1"/>
              <a:t>path</a:t>
            </a:r>
            <a:r>
              <a:rPr lang="tr-TR" dirty="0"/>
              <a:t>) içerir.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7398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I-</a:t>
            </a:r>
            <a:r>
              <a:rPr lang="tr-TR" dirty="0" err="1"/>
              <a:t>node</a:t>
            </a:r>
            <a:r>
              <a:rPr lang="tr-TR" dirty="0"/>
              <a:t>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i="1" dirty="0"/>
              <a:t>C</a:t>
            </a:r>
            <a:r>
              <a:rPr lang="tr-TR" dirty="0"/>
              <a:t> dosyayı silerse, </a:t>
            </a:r>
            <a:r>
              <a:rPr lang="tr-TR" i="1" dirty="0"/>
              <a:t>B</a:t>
            </a:r>
            <a:r>
              <a:rPr lang="tr-TR" dirty="0"/>
              <a:t> dosya için hala i-</a:t>
            </a:r>
            <a:r>
              <a:rPr lang="tr-TR" dirty="0" err="1"/>
              <a:t>node'u</a:t>
            </a:r>
            <a:r>
              <a:rPr lang="tr-TR" dirty="0"/>
              <a:t> işaret etmeye devam eder.</a:t>
            </a:r>
          </a:p>
          <a:p>
            <a:r>
              <a:rPr lang="tr-TR" dirty="0"/>
              <a:t>i-</a:t>
            </a:r>
            <a:r>
              <a:rPr lang="tr-TR" dirty="0" err="1"/>
              <a:t>node</a:t>
            </a:r>
            <a:r>
              <a:rPr lang="tr-TR" dirty="0"/>
              <a:t> başka bir dosya için yeniden kullanılırsa, </a:t>
            </a:r>
            <a:r>
              <a:rPr lang="tr-TR" i="1" dirty="0"/>
              <a:t>B</a:t>
            </a:r>
            <a:r>
              <a:rPr lang="tr-TR" dirty="0"/>
              <a:t> yanlış i-</a:t>
            </a:r>
            <a:r>
              <a:rPr lang="tr-TR" dirty="0" err="1"/>
              <a:t>node'u</a:t>
            </a:r>
            <a:r>
              <a:rPr lang="tr-TR" dirty="0"/>
              <a:t> gösterir.</a:t>
            </a:r>
          </a:p>
          <a:p>
            <a:r>
              <a:rPr lang="tr-TR" dirty="0"/>
              <a:t>Çözüm, i-</a:t>
            </a:r>
            <a:r>
              <a:rPr lang="tr-TR" dirty="0" err="1"/>
              <a:t>node</a:t>
            </a:r>
            <a:r>
              <a:rPr lang="tr-TR" dirty="0"/>
              <a:t> silinmez, sahip sayısı azaltılır.</a:t>
            </a:r>
          </a:p>
          <a:p>
            <a:r>
              <a:rPr lang="tr-TR" dirty="0"/>
              <a:t>Sembolik bağlantı sorunu çözer. </a:t>
            </a:r>
            <a:r>
              <a:rPr lang="tr-TR" dirty="0">
                <a:sym typeface="Wingdings" panose="05000000000000000000" pitchFamily="2" charset="2"/>
              </a:rPr>
              <a:t></a:t>
            </a:r>
            <a:endParaRPr lang="tr-TR" dirty="0"/>
          </a:p>
          <a:p>
            <a:pPr lvl="1"/>
            <a:r>
              <a:rPr lang="tr-TR" dirty="0"/>
              <a:t>Ancak, dosya çok fazla sembolik bağlantıya sahip olabilir.</a:t>
            </a:r>
          </a:p>
          <a:p>
            <a:pPr lvl="1"/>
            <a:r>
              <a:rPr lang="tr-TR" dirty="0"/>
              <a:t>Bunların takip edilmesi zaman alır. </a:t>
            </a:r>
            <a:r>
              <a:rPr lang="tr-TR" dirty="0">
                <a:sym typeface="Wingdings" panose="05000000000000000000" pitchFamily="2" charset="2"/>
              </a:rPr>
              <a:t></a:t>
            </a:r>
          </a:p>
          <a:p>
            <a:pPr lvl="1"/>
            <a:r>
              <a:rPr lang="tr-TR" dirty="0"/>
              <a:t>Diğer makinede bir dosyaya işaret edebilir. (</a:t>
            </a:r>
            <a:r>
              <a:rPr lang="tr-TR" i="1" dirty="0"/>
              <a:t>Büyük avantaj</a:t>
            </a:r>
            <a:r>
              <a:rPr lang="tr-TR" dirty="0"/>
              <a:t>)</a:t>
            </a:r>
          </a:p>
          <a:p>
            <a:pPr lvl="1"/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0071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I-</a:t>
            </a:r>
            <a:r>
              <a:rPr lang="tr-TR" dirty="0" err="1"/>
              <a:t>node</a:t>
            </a:r>
            <a:r>
              <a:rPr lang="tr-TR" dirty="0"/>
              <a:t>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/>
              <a:t>Bağlamadan (a) önce. (b) sonra. (c) sahibi dosyayı sildikten sonra.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57</a:t>
            </a:fld>
            <a:endParaRPr lang="en-US" dirty="0"/>
          </a:p>
        </p:txBody>
      </p:sp>
      <p:pic>
        <p:nvPicPr>
          <p:cNvPr id="7" name="Picture 6" descr="D:\b\b4\IBM\04-1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8484" y="2836821"/>
            <a:ext cx="6345534" cy="33036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284839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Günlük Olarak Yapılandırılmış Dosya Sistemi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i="1" dirty="0" err="1"/>
              <a:t>Log-structured</a:t>
            </a:r>
            <a:r>
              <a:rPr lang="tr-TR" i="1" dirty="0"/>
              <a:t> file </a:t>
            </a:r>
            <a:r>
              <a:rPr lang="tr-TR" i="1" dirty="0" err="1"/>
              <a:t>system</a:t>
            </a:r>
            <a:r>
              <a:rPr lang="tr-TR" i="1" dirty="0"/>
              <a:t>.</a:t>
            </a:r>
          </a:p>
          <a:p>
            <a:r>
              <a:rPr lang="tr-TR" i="1" u="sng" dirty="0"/>
              <a:t>D</a:t>
            </a:r>
            <a:r>
              <a:rPr lang="en-US" i="1" u="sng" dirty="0" err="1"/>
              <a:t>ata</a:t>
            </a:r>
            <a:r>
              <a:rPr lang="en-US" i="1" u="sng" dirty="0"/>
              <a:t> and metadata are written sequentially to circular buffer, called a log</a:t>
            </a:r>
            <a:r>
              <a:rPr lang="tr-TR" i="1" u="sng" dirty="0"/>
              <a:t>.</a:t>
            </a:r>
          </a:p>
          <a:p>
            <a:r>
              <a:rPr lang="tr-TR" dirty="0"/>
              <a:t>Disk işlemlerini bir günlük veya güncelleme dizisi olarak kayıt eder.</a:t>
            </a:r>
          </a:p>
          <a:p>
            <a:r>
              <a:rPr lang="tr-TR" dirty="0"/>
              <a:t>Rastgele disk erişiminden kaçınarak, yüksek performans sağlar.</a:t>
            </a:r>
          </a:p>
          <a:p>
            <a:pPr lvl="1"/>
            <a:r>
              <a:rPr lang="tr-TR" dirty="0"/>
              <a:t>Geliştirilmiş yazma performansı, </a:t>
            </a:r>
            <a:r>
              <a:rPr lang="tr-TR" dirty="0">
                <a:sym typeface="Wingdings" panose="05000000000000000000" pitchFamily="2" charset="2"/>
              </a:rPr>
              <a:t></a:t>
            </a:r>
            <a:endParaRPr lang="tr-TR" dirty="0"/>
          </a:p>
          <a:p>
            <a:pPr lvl="1"/>
            <a:r>
              <a:rPr lang="tr-TR" dirty="0"/>
              <a:t>Basitleştirilmiş disk alanı yönetimi ve </a:t>
            </a:r>
          </a:p>
          <a:p>
            <a:pPr lvl="1"/>
            <a:r>
              <a:rPr lang="tr-TR" dirty="0"/>
              <a:t>Verimli disk alanı kullanımı sağlar.</a:t>
            </a:r>
          </a:p>
          <a:p>
            <a:r>
              <a:rPr lang="tr-TR" dirty="0"/>
              <a:t>Günlük düzgün bir şekilde korunmaz ise,</a:t>
            </a:r>
          </a:p>
          <a:p>
            <a:pPr lvl="1"/>
            <a:r>
              <a:rPr lang="tr-TR" dirty="0"/>
              <a:t>Potansiyel veri kaybı. </a:t>
            </a:r>
            <a:r>
              <a:rPr lang="tr-TR" dirty="0">
                <a:sym typeface="Wingdings" panose="05000000000000000000" pitchFamily="2" charset="2"/>
              </a:rPr>
              <a:t></a:t>
            </a:r>
            <a:endParaRPr lang="tr-TR" dirty="0"/>
          </a:p>
          <a:p>
            <a:pPr lvl="1"/>
            <a:r>
              <a:rPr lang="tr-TR" dirty="0"/>
              <a:t>Daha yüksek ek maliyet.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78479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Günlük Olarak Yapılandırılmış Dosya Sistemi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26" name="Picture 2" descr="https://starwindsoftware.com/blog/styles-v2/images/LSFS.jpg"/>
          <p:cNvPicPr>
            <a:picLocks noGrp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00" y="2725625"/>
            <a:ext cx="10800000" cy="288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838200" y="1825625"/>
            <a:ext cx="10515600" cy="468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400" kern="1200" baseline="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 baseline="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 baseline="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 baseline="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baseline="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u="sng" dirty="0"/>
              <a:t>A log is a database file that contains the history of</a:t>
            </a:r>
            <a:r>
              <a:rPr lang="tr-TR" i="1" u="sng" dirty="0"/>
              <a:t> </a:t>
            </a:r>
            <a:r>
              <a:rPr lang="tr-TR" i="1" u="sng" dirty="0" err="1"/>
              <a:t>operations</a:t>
            </a:r>
            <a:r>
              <a:rPr lang="tr-TR" i="1" u="sng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0508553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Günlük Olarak Yapılandırılmış Dosya Sistemi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İşlemci daha hızlı, disk ve bellek daha büyük,</a:t>
            </a:r>
          </a:p>
          <a:p>
            <a:pPr lvl="1"/>
            <a:r>
              <a:rPr lang="tr-TR" dirty="0"/>
              <a:t>Ancak; disk arama süresi kısa değil.</a:t>
            </a:r>
          </a:p>
          <a:p>
            <a:r>
              <a:rPr lang="tr-TR" dirty="0"/>
              <a:t>Diske yazma işlemleri optimize edilmeli.</a:t>
            </a:r>
          </a:p>
          <a:p>
            <a:r>
              <a:rPr lang="tr-TR" dirty="0"/>
              <a:t>Daha büyük önbellek kullanılarak, okuma işlemi önbellekten yapılabilir.</a:t>
            </a:r>
          </a:p>
          <a:p>
            <a:r>
              <a:rPr lang="tr-TR" dirty="0"/>
              <a:t>i-</a:t>
            </a:r>
            <a:r>
              <a:rPr lang="tr-TR" dirty="0" err="1"/>
              <a:t>node</a:t>
            </a:r>
            <a:r>
              <a:rPr lang="tr-TR" dirty="0"/>
              <a:t> eşlemeleri diskte tutulur, önbelleğe alınabilir.</a:t>
            </a:r>
          </a:p>
          <a:p>
            <a:r>
              <a:rPr lang="tr-TR" dirty="0"/>
              <a:t>Disk </a:t>
            </a:r>
            <a:r>
              <a:rPr lang="tr-TR" i="1" dirty="0" err="1"/>
              <a:t>log-collect</a:t>
            </a:r>
            <a:r>
              <a:rPr lang="tr-TR" dirty="0"/>
              <a:t> olarak yapılandırılır, ve </a:t>
            </a:r>
          </a:p>
          <a:p>
            <a:pPr lvl="1"/>
            <a:r>
              <a:rPr lang="tr-TR" dirty="0"/>
              <a:t>Günlükler periyodik olarak diskteki bir kesime (</a:t>
            </a:r>
            <a:r>
              <a:rPr lang="tr-TR" i="1" dirty="0" err="1"/>
              <a:t>segment</a:t>
            </a:r>
            <a:r>
              <a:rPr lang="tr-TR" dirty="0"/>
              <a:t>) gönderilir. </a:t>
            </a:r>
          </a:p>
          <a:p>
            <a:r>
              <a:rPr lang="tr-TR" dirty="0"/>
              <a:t>Kesim, içerik özetine sahiptir (</a:t>
            </a:r>
            <a:r>
              <a:rPr lang="tr-TR" i="1" dirty="0"/>
              <a:t>i-</a:t>
            </a:r>
            <a:r>
              <a:rPr lang="tr-TR" i="1" dirty="0" err="1"/>
              <a:t>nodes</a:t>
            </a:r>
            <a:r>
              <a:rPr lang="tr-TR" i="1" dirty="0"/>
              <a:t>, dizinler ..</a:t>
            </a:r>
            <a:r>
              <a:rPr lang="tr-TR" dirty="0"/>
              <a:t>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79851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Günlük Olarak Yapılandırılmış Dosya Sistemi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Temizleyici iş parçacığı,</a:t>
            </a:r>
          </a:p>
          <a:p>
            <a:pPr lvl="1"/>
            <a:r>
              <a:rPr lang="tr-TR" dirty="0"/>
              <a:t>Günlük dosyasını sıkıştırır. </a:t>
            </a:r>
          </a:p>
          <a:p>
            <a:pPr lvl="1"/>
            <a:r>
              <a:rPr lang="tr-TR" dirty="0"/>
              <a:t>Kesimi mevcut i-</a:t>
            </a:r>
            <a:r>
              <a:rPr lang="tr-TR" dirty="0" err="1"/>
              <a:t>nodes'lar</a:t>
            </a:r>
            <a:r>
              <a:rPr lang="tr-TR" dirty="0"/>
              <a:t> için tarar.</a:t>
            </a:r>
          </a:p>
          <a:p>
            <a:pPr lvl="1"/>
            <a:r>
              <a:rPr lang="tr-TR" dirty="0"/>
              <a:t>Kullanılmayanları atar.</a:t>
            </a:r>
          </a:p>
          <a:p>
            <a:pPr lvl="1"/>
            <a:r>
              <a:rPr lang="tr-TR" dirty="0"/>
              <a:t>Mevcut olanları belleğe gönderir.</a:t>
            </a:r>
          </a:p>
          <a:p>
            <a:r>
              <a:rPr lang="tr-TR" dirty="0"/>
              <a:t>Yazıcı iş parçacığı, </a:t>
            </a:r>
          </a:p>
          <a:p>
            <a:pPr lvl="1"/>
            <a:r>
              <a:rPr lang="tr-TR" dirty="0"/>
              <a:t>Mevcut olanları yeni kesime yazar.</a:t>
            </a:r>
          </a:p>
          <a:p>
            <a:r>
              <a:rPr lang="tr-TR" dirty="0"/>
              <a:t>Çoğu dosya sistemiyle uyumlu değil. </a:t>
            </a:r>
            <a:r>
              <a:rPr lang="tr-TR" dirty="0">
                <a:sym typeface="Wingdings" panose="05000000000000000000" pitchFamily="2" charset="2"/>
              </a:rPr>
              <a:t></a:t>
            </a:r>
            <a:endParaRPr lang="tr-TR" dirty="0"/>
          </a:p>
          <a:p>
            <a:r>
              <a:rPr lang="tr-TR" dirty="0"/>
              <a:t>Kullanılmıyor. </a:t>
            </a:r>
            <a:r>
              <a:rPr lang="tr-TR" dirty="0">
                <a:sym typeface="Wingdings" panose="05000000000000000000" pitchFamily="2" charset="2"/>
              </a:rPr>
              <a:t>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4370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Günlük (</a:t>
            </a:r>
            <a:r>
              <a:rPr lang="tr-TR" dirty="0" err="1"/>
              <a:t>journaling</a:t>
            </a:r>
            <a:r>
              <a:rPr lang="tr-TR" dirty="0"/>
              <a:t>) Dosya Sistemleri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Diske kaydedilmeden önce, değişikliklerin günlüğünü tutar.</a:t>
            </a:r>
          </a:p>
          <a:p>
            <a:r>
              <a:rPr lang="tr-TR" dirty="0"/>
              <a:t>Çökme veya sistem arızası durumunda dosya sistemi kurtarılabilir.</a:t>
            </a:r>
          </a:p>
          <a:p>
            <a:r>
              <a:rPr lang="tr-TR" dirty="0"/>
              <a:t>Sağlam ve güvenilir bir dosya sistemi sağlar. </a:t>
            </a:r>
            <a:r>
              <a:rPr lang="tr-TR" dirty="0">
                <a:sym typeface="Wingdings" panose="05000000000000000000" pitchFamily="2" charset="2"/>
              </a:rPr>
              <a:t></a:t>
            </a:r>
            <a:endParaRPr lang="tr-TR" dirty="0"/>
          </a:p>
          <a:p>
            <a:r>
              <a:rPr lang="tr-TR" dirty="0"/>
              <a:t>Günlük tutma işlemi nedeniyle,</a:t>
            </a:r>
          </a:p>
          <a:p>
            <a:pPr lvl="1"/>
            <a:r>
              <a:rPr lang="tr-TR" dirty="0"/>
              <a:t>Disk G/Ç maliyeti artar.</a:t>
            </a:r>
          </a:p>
          <a:p>
            <a:pPr lvl="1"/>
            <a:r>
              <a:rPr lang="tr-TR" dirty="0"/>
              <a:t>Performans düşer.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54544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Günlük (</a:t>
            </a:r>
            <a:r>
              <a:rPr lang="tr-TR" dirty="0" err="1"/>
              <a:t>journaling</a:t>
            </a:r>
            <a:r>
              <a:rPr lang="tr-TR" dirty="0"/>
              <a:t>) Dosya Sistemleri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050" name="Picture 2" descr="https://i0.wp.com/foxutech.com/wp-content/uploads/2017/03/Journaling-FileSystem.png?fit=640%2C287&amp;ssl=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33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798787"/>
            <a:ext cx="6096000" cy="27336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838200" y="1825625"/>
            <a:ext cx="10515600" cy="468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400" kern="1200" baseline="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 baseline="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 baseline="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 baseline="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baseline="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i="1" u="sng" dirty="0"/>
              <a:t>J</a:t>
            </a:r>
            <a:r>
              <a:rPr lang="en-US" i="1" u="sng" dirty="0" err="1"/>
              <a:t>ournal</a:t>
            </a:r>
            <a:r>
              <a:rPr lang="en-US" i="1" u="sng" dirty="0"/>
              <a:t> contains information about changes made to </a:t>
            </a:r>
            <a:r>
              <a:rPr lang="tr-TR" i="1" u="sng" dirty="0"/>
              <a:t>an</a:t>
            </a:r>
            <a:r>
              <a:rPr lang="en-US" i="1" u="sng" dirty="0"/>
              <a:t>other object. </a:t>
            </a:r>
            <a:endParaRPr lang="tr-TR" i="1" u="sng" dirty="0"/>
          </a:p>
        </p:txBody>
      </p:sp>
    </p:spTree>
    <p:extLst>
      <p:ext uri="{BB962C8B-B14F-4D97-AF65-F5344CB8AC3E}">
        <p14:creationId xmlns:p14="http://schemas.microsoft.com/office/powerpoint/2010/main" val="309911098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Günlük (</a:t>
            </a:r>
            <a:r>
              <a:rPr lang="tr-TR" dirty="0" err="1"/>
              <a:t>journaling</a:t>
            </a:r>
            <a:r>
              <a:rPr lang="tr-TR" dirty="0"/>
              <a:t>) Dosya Sistemleri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İşlemleri gerçekleştirmeden önce günlük tutar, günlüğü diske yazar.</a:t>
            </a:r>
          </a:p>
          <a:p>
            <a:r>
              <a:rPr lang="tr-TR" i="1" dirty="0"/>
              <a:t>Windows (NTFS</a:t>
            </a:r>
            <a:r>
              <a:rPr lang="tr-TR" dirty="0"/>
              <a:t>), </a:t>
            </a:r>
            <a:r>
              <a:rPr lang="tr-TR" i="1" dirty="0"/>
              <a:t>Linux (ext3), Apple (HFS Plus) </a:t>
            </a:r>
            <a:r>
              <a:rPr lang="tr-TR" dirty="0"/>
              <a:t>kullanır.</a:t>
            </a:r>
          </a:p>
          <a:p>
            <a:r>
              <a:rPr lang="tr-TR" dirty="0"/>
              <a:t>Bir dosya silineceğinde,</a:t>
            </a:r>
          </a:p>
          <a:p>
            <a:pPr lvl="1"/>
            <a:r>
              <a:rPr lang="tr-TR" dirty="0"/>
              <a:t>Dosyayı bulunduğu dizinden kaldırır.</a:t>
            </a:r>
          </a:p>
          <a:p>
            <a:pPr lvl="1"/>
            <a:r>
              <a:rPr lang="tr-TR" dirty="0"/>
              <a:t>i-</a:t>
            </a:r>
            <a:r>
              <a:rPr lang="tr-TR" dirty="0" err="1"/>
              <a:t>node'u</a:t>
            </a:r>
            <a:r>
              <a:rPr lang="tr-TR" dirty="0"/>
              <a:t> </a:t>
            </a:r>
            <a:r>
              <a:rPr lang="tr-TR" i="1" dirty="0"/>
              <a:t>serbest i-</a:t>
            </a:r>
            <a:r>
              <a:rPr lang="tr-TR" i="1" dirty="0" err="1"/>
              <a:t>node</a:t>
            </a:r>
            <a:r>
              <a:rPr lang="tr-TR" i="1" dirty="0"/>
              <a:t> havuzuna </a:t>
            </a:r>
            <a:r>
              <a:rPr lang="tr-TR" dirty="0"/>
              <a:t>bırakır.</a:t>
            </a:r>
          </a:p>
          <a:p>
            <a:pPr lvl="1"/>
            <a:r>
              <a:rPr lang="tr-TR" dirty="0"/>
              <a:t>Disk bloklarını, </a:t>
            </a:r>
            <a:r>
              <a:rPr lang="tr-TR" i="1" dirty="0"/>
              <a:t>boş disk blokları havuzuna</a:t>
            </a:r>
            <a:r>
              <a:rPr lang="tr-TR" dirty="0"/>
              <a:t> gönderir.</a:t>
            </a:r>
          </a:p>
          <a:p>
            <a:pPr lvl="1"/>
            <a:r>
              <a:rPr lang="tr-TR" dirty="0"/>
              <a:t>Bu süreçte bir çökme olursa, ortalık karışır. </a:t>
            </a:r>
            <a:r>
              <a:rPr lang="tr-TR" dirty="0">
                <a:sym typeface="Wingdings" panose="05000000000000000000" pitchFamily="2" charset="2"/>
              </a:rPr>
              <a:t>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99622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Günlük (</a:t>
            </a:r>
            <a:r>
              <a:rPr lang="tr-TR" dirty="0" err="1"/>
              <a:t>journaling</a:t>
            </a:r>
            <a:r>
              <a:rPr lang="tr-TR" dirty="0"/>
              <a:t>) Dosya Sistemleri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İşlemler </a:t>
            </a:r>
            <a:r>
              <a:rPr lang="tr-TR" dirty="0" err="1"/>
              <a:t>eşgüçlü</a:t>
            </a:r>
            <a:r>
              <a:rPr lang="tr-TR" dirty="0"/>
              <a:t> (</a:t>
            </a:r>
            <a:r>
              <a:rPr lang="en-US" i="1" dirty="0"/>
              <a:t>idempotent</a:t>
            </a:r>
            <a:r>
              <a:rPr lang="tr-TR" dirty="0"/>
              <a:t>) olmalı. </a:t>
            </a:r>
          </a:p>
          <a:p>
            <a:pPr lvl="1"/>
            <a:r>
              <a:rPr lang="tr-TR" dirty="0"/>
              <a:t>Uygun veri yapısı kullanılmalı.</a:t>
            </a:r>
          </a:p>
          <a:p>
            <a:r>
              <a:rPr lang="en-US" b="1" i="1" dirty="0" err="1"/>
              <a:t>İdempoten</a:t>
            </a:r>
            <a:r>
              <a:rPr lang="tr-TR" b="1" i="1" dirty="0"/>
              <a:t>ce</a:t>
            </a:r>
            <a:r>
              <a:rPr lang="tr-TR" dirty="0"/>
              <a:t>: Bir işlem kaç kere gerçekleştirilirse gerçekleştirilsin, aynı sonuç elde edilir.</a:t>
            </a:r>
          </a:p>
          <a:p>
            <a:r>
              <a:rPr lang="tr-TR" dirty="0"/>
              <a:t>Blok </a:t>
            </a:r>
            <a:r>
              <a:rPr lang="tr-TR" i="1" dirty="0"/>
              <a:t>n</a:t>
            </a:r>
            <a:r>
              <a:rPr lang="tr-TR" dirty="0"/>
              <a:t>'yi serbest bırak, </a:t>
            </a:r>
            <a:r>
              <a:rPr lang="tr-TR" i="1" dirty="0" err="1"/>
              <a:t>idempotent</a:t>
            </a:r>
            <a:r>
              <a:rPr lang="tr-TR" i="1" dirty="0"/>
              <a:t> </a:t>
            </a:r>
            <a:r>
              <a:rPr lang="tr-TR" dirty="0"/>
              <a:t>bir işlemdir.</a:t>
            </a:r>
          </a:p>
          <a:p>
            <a:r>
              <a:rPr lang="tr-TR" dirty="0"/>
              <a:t>Bir listenin sonuna, serbest bırakılmış bloklar eklemek </a:t>
            </a:r>
            <a:r>
              <a:rPr lang="tr-TR" i="1" dirty="0" err="1"/>
              <a:t>idempotent</a:t>
            </a:r>
            <a:r>
              <a:rPr lang="tr-TR" i="1" dirty="0"/>
              <a:t> </a:t>
            </a:r>
            <a:r>
              <a:rPr lang="tr-TR" dirty="0"/>
              <a:t>değildir.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2039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Sanal Dosya Sistemleri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i="1" dirty="0"/>
              <a:t>Virtual file </a:t>
            </a:r>
            <a:r>
              <a:rPr lang="tr-TR" i="1" dirty="0" err="1"/>
              <a:t>system</a:t>
            </a:r>
            <a:endParaRPr lang="tr-TR" i="1" dirty="0"/>
          </a:p>
          <a:p>
            <a:r>
              <a:rPr lang="tr-TR" dirty="0"/>
              <a:t>Farklı dosya sistemlerine erişim için ortak bir arayüz sağlar.</a:t>
            </a:r>
          </a:p>
          <a:p>
            <a:r>
              <a:rPr lang="tr-TR" dirty="0"/>
              <a:t>Farklı dosya sistemlerinin aynı disk üzerinde bulunmasına izin verir.</a:t>
            </a:r>
          </a:p>
          <a:p>
            <a:r>
              <a:rPr lang="tr-TR" dirty="0"/>
              <a:t>Esnek ve ölçeklenebilir bir dosya sistemi sağlar.</a:t>
            </a:r>
          </a:p>
          <a:p>
            <a:r>
              <a:rPr lang="tr-TR" dirty="0"/>
              <a:t>Farklı disk düzenlerini ve dosya sistemi türlerini işleyebilir,</a:t>
            </a:r>
          </a:p>
          <a:p>
            <a:pPr lvl="1"/>
            <a:r>
              <a:rPr lang="tr-TR" dirty="0"/>
              <a:t>Artan karmaşıklık.</a:t>
            </a:r>
          </a:p>
          <a:p>
            <a:pPr lvl="1"/>
            <a:r>
              <a:rPr lang="tr-TR" dirty="0"/>
              <a:t>Ek bir soyutlama katmanı.</a:t>
            </a:r>
          </a:p>
          <a:p>
            <a:pPr lvl="1"/>
            <a:r>
              <a:rPr lang="tr-TR" dirty="0"/>
              <a:t>Düşük performans.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77362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Sanal Dosya Sistemleri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Windows, </a:t>
            </a:r>
          </a:p>
          <a:p>
            <a:pPr lvl="1"/>
            <a:r>
              <a:rPr lang="tr-TR" dirty="0"/>
              <a:t>Dosya sistemi sürücüleri tanımlar.</a:t>
            </a:r>
          </a:p>
          <a:p>
            <a:r>
              <a:rPr lang="tr-TR" dirty="0"/>
              <a:t>Unix, </a:t>
            </a:r>
          </a:p>
          <a:p>
            <a:pPr lvl="1"/>
            <a:r>
              <a:rPr lang="tr-TR" dirty="0"/>
              <a:t>Sanal dosya sistemine entegre olur.</a:t>
            </a:r>
          </a:p>
          <a:p>
            <a:pPr lvl="1"/>
            <a:r>
              <a:rPr lang="tr-TR" dirty="0"/>
              <a:t>Kullanıcılar VFS sistem çağrıları yapar.</a:t>
            </a:r>
          </a:p>
          <a:p>
            <a:pPr lvl="1"/>
            <a:r>
              <a:rPr lang="tr-TR" dirty="0"/>
              <a:t>Alt seviye çağrılar, gerçek dosya sistemine yapılır.</a:t>
            </a:r>
          </a:p>
          <a:p>
            <a:r>
              <a:rPr lang="tr-TR" dirty="0"/>
              <a:t>Ağ dosya sistemini (</a:t>
            </a:r>
            <a:r>
              <a:rPr lang="tr-TR" i="1" dirty="0"/>
              <a:t>network file </a:t>
            </a:r>
            <a:r>
              <a:rPr lang="tr-TR" i="1" dirty="0" err="1"/>
              <a:t>system</a:t>
            </a:r>
            <a:r>
              <a:rPr lang="tr-TR" dirty="0"/>
              <a:t>) destekler.</a:t>
            </a:r>
          </a:p>
          <a:p>
            <a:pPr lvl="1"/>
            <a:r>
              <a:rPr lang="tr-TR" dirty="0"/>
              <a:t>Dosya başka bir makinede olabilir.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72250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Sanal Dosya Sistemleri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68</a:t>
            </a:fld>
            <a:endParaRPr lang="en-US" dirty="0"/>
          </a:p>
        </p:txBody>
      </p:sp>
      <p:pic>
        <p:nvPicPr>
          <p:cNvPr id="7" name="Picture 6" descr="D:\b\b4\IBM\04-1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000" y="1835565"/>
            <a:ext cx="8640000" cy="43049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001914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Sanal Dosya Sistemi Nasıl Çalışır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Dosya sistemi </a:t>
            </a:r>
            <a:r>
              <a:rPr lang="tr-TR" dirty="0" err="1"/>
              <a:t>VFS'ye</a:t>
            </a:r>
            <a:r>
              <a:rPr lang="tr-TR" dirty="0"/>
              <a:t> önyükleme sırasında kaydolur.</a:t>
            </a:r>
          </a:p>
          <a:p>
            <a:r>
              <a:rPr lang="tr-TR" dirty="0"/>
              <a:t>Kayıt sırasında dosya sistemi, </a:t>
            </a:r>
          </a:p>
          <a:p>
            <a:pPr lvl="1"/>
            <a:r>
              <a:rPr lang="tr-TR" dirty="0" err="1"/>
              <a:t>VFS'nin</a:t>
            </a:r>
            <a:r>
              <a:rPr lang="tr-TR" dirty="0"/>
              <a:t> istediği fonksiyon çağrılarının adres listesini sağlar.</a:t>
            </a:r>
          </a:p>
          <a:p>
            <a:r>
              <a:rPr lang="tr-TR" dirty="0"/>
              <a:t>VFS, dosya sisteminden i-</a:t>
            </a:r>
            <a:r>
              <a:rPr lang="tr-TR" dirty="0" err="1"/>
              <a:t>node</a:t>
            </a:r>
            <a:r>
              <a:rPr lang="tr-TR" dirty="0"/>
              <a:t> bilgisini alır ve bir v-</a:t>
            </a:r>
            <a:r>
              <a:rPr lang="tr-TR" dirty="0" err="1"/>
              <a:t>node'a</a:t>
            </a:r>
            <a:r>
              <a:rPr lang="tr-TR" dirty="0"/>
              <a:t> yerleştirir.</a:t>
            </a:r>
          </a:p>
          <a:p>
            <a:r>
              <a:rPr lang="tr-TR" dirty="0"/>
              <a:t>Süreç için dosya tanımlayıcı (</a:t>
            </a:r>
            <a:r>
              <a:rPr lang="tr-TR" i="1" dirty="0"/>
              <a:t>file </a:t>
            </a:r>
            <a:r>
              <a:rPr lang="tr-TR" i="1" dirty="0" err="1"/>
              <a:t>descriptor</a:t>
            </a:r>
            <a:r>
              <a:rPr lang="tr-TR" dirty="0"/>
              <a:t>) tablosuna ekler.</a:t>
            </a:r>
          </a:p>
          <a:p>
            <a:r>
              <a:rPr lang="tr-TR" dirty="0"/>
              <a:t>Süreç bir çağrı yaptığında (</a:t>
            </a:r>
            <a:r>
              <a:rPr lang="tr-TR" i="1" dirty="0" err="1"/>
              <a:t>read</a:t>
            </a:r>
            <a:r>
              <a:rPr lang="tr-TR" i="1" dirty="0"/>
              <a:t>, </a:t>
            </a:r>
            <a:r>
              <a:rPr lang="tr-TR" i="1" dirty="0" err="1"/>
              <a:t>write</a:t>
            </a:r>
            <a:r>
              <a:rPr lang="tr-TR" i="1" dirty="0"/>
              <a:t> ..</a:t>
            </a:r>
            <a:r>
              <a:rPr lang="tr-TR" dirty="0"/>
              <a:t>), </a:t>
            </a:r>
          </a:p>
          <a:p>
            <a:pPr lvl="1"/>
            <a:r>
              <a:rPr lang="tr-TR" dirty="0"/>
              <a:t>Fonksiyon işaretçileri somut fonksiyon çağrılarına işaret eder.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36452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Sanal Dosya Sistemleri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Kullanılan veri yapıları.</a:t>
            </a:r>
          </a:p>
          <a:p>
            <a:pPr lvl="1"/>
            <a:r>
              <a:rPr lang="tr-TR" dirty="0"/>
              <a:t>V-</a:t>
            </a:r>
            <a:r>
              <a:rPr lang="tr-TR" dirty="0" err="1"/>
              <a:t>nodes</a:t>
            </a:r>
            <a:r>
              <a:rPr lang="tr-TR" dirty="0"/>
              <a:t>.</a:t>
            </a:r>
          </a:p>
          <a:p>
            <a:pPr lvl="1"/>
            <a:r>
              <a:rPr lang="tr-TR" dirty="0"/>
              <a:t>Fonksiyon işaretçileri.</a:t>
            </a:r>
          </a:p>
          <a:p>
            <a:pPr lvl="1"/>
            <a:r>
              <a:rPr lang="tr-TR" dirty="0"/>
              <a:t>Süreç tablosu.</a:t>
            </a:r>
          </a:p>
          <a:p>
            <a:pPr lvl="1"/>
            <a:r>
              <a:rPr lang="tr-TR" dirty="0"/>
              <a:t>Dosya tanımlayıcıları.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70</a:t>
            </a:fld>
            <a:endParaRPr lang="en-US" dirty="0"/>
          </a:p>
        </p:txBody>
      </p:sp>
      <p:pic>
        <p:nvPicPr>
          <p:cNvPr id="7" name="Picture 6" descr="D:\b\b4\IBM\04-1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4619" y="1471023"/>
            <a:ext cx="5940425" cy="4533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831095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Ağ Dosya Sistemi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i="1" dirty="0"/>
              <a:t>Network file </a:t>
            </a:r>
            <a:r>
              <a:rPr lang="tr-TR" i="1" dirty="0" err="1"/>
              <a:t>system</a:t>
            </a:r>
            <a:r>
              <a:rPr lang="tr-TR" dirty="0"/>
              <a:t>.</a:t>
            </a:r>
          </a:p>
          <a:p>
            <a:r>
              <a:rPr lang="tr-TR" dirty="0"/>
              <a:t>Ağlar üzerinden uzak dosyalara erişim için yazılım </a:t>
            </a:r>
            <a:r>
              <a:rPr lang="tr-TR" dirty="0" err="1"/>
              <a:t>arayüzü</a:t>
            </a:r>
            <a:r>
              <a:rPr lang="tr-TR" dirty="0"/>
              <a:t>.</a:t>
            </a:r>
          </a:p>
          <a:p>
            <a:r>
              <a:rPr lang="tr-TR" i="1" dirty="0" err="1"/>
              <a:t>SunOS</a:t>
            </a:r>
            <a:r>
              <a:rPr lang="tr-TR" dirty="0" err="1"/>
              <a:t>’un</a:t>
            </a:r>
            <a:r>
              <a:rPr lang="tr-TR" dirty="0"/>
              <a:t> bir parçası iken, endüstri standardı oldu.</a:t>
            </a:r>
          </a:p>
          <a:p>
            <a:r>
              <a:rPr lang="tr-TR" i="1" dirty="0"/>
              <a:t>Ethernet </a:t>
            </a:r>
            <a:r>
              <a:rPr lang="tr-TR" dirty="0"/>
              <a:t>üzerinden </a:t>
            </a:r>
            <a:r>
              <a:rPr lang="tr-TR" i="1" dirty="0"/>
              <a:t>UDP/IP </a:t>
            </a:r>
            <a:r>
              <a:rPr lang="tr-TR" dirty="0"/>
              <a:t>veya </a:t>
            </a:r>
            <a:r>
              <a:rPr lang="tr-TR" i="1" dirty="0"/>
              <a:t>TCP/IP </a:t>
            </a:r>
            <a:r>
              <a:rPr lang="tr-TR" dirty="0"/>
              <a:t>ile kullanılabilir.</a:t>
            </a:r>
          </a:p>
          <a:p>
            <a:r>
              <a:rPr lang="tr-TR" dirty="0"/>
              <a:t>Uzakta bir dizin, yerel bir dosya sistemi dizinine bağlanır (</a:t>
            </a:r>
            <a:r>
              <a:rPr lang="tr-TR" i="1" dirty="0" err="1"/>
              <a:t>mount</a:t>
            </a:r>
            <a:r>
              <a:rPr lang="tr-TR" dirty="0"/>
              <a:t>).</a:t>
            </a:r>
          </a:p>
          <a:p>
            <a:r>
              <a:rPr lang="tr-TR" dirty="0"/>
              <a:t>Farklı makineler, işletim sistemleri ve ağ mimarilerinde çalışabilir.</a:t>
            </a:r>
          </a:p>
          <a:p>
            <a:r>
              <a:rPr lang="tr-TR" dirty="0"/>
              <a:t>Bu bağımsızlık, </a:t>
            </a:r>
          </a:p>
          <a:p>
            <a:pPr lvl="1"/>
            <a:r>
              <a:rPr lang="tr-TR" i="1" dirty="0"/>
              <a:t>XDR (</a:t>
            </a:r>
            <a:r>
              <a:rPr lang="tr-TR" i="1" dirty="0" err="1"/>
              <a:t>eXternal</a:t>
            </a:r>
            <a:r>
              <a:rPr lang="tr-TR" i="1" dirty="0"/>
              <a:t> Data </a:t>
            </a:r>
            <a:r>
              <a:rPr lang="tr-TR" i="1" dirty="0" err="1"/>
              <a:t>Representation</a:t>
            </a:r>
            <a:r>
              <a:rPr lang="tr-TR" dirty="0"/>
              <a:t>) protokolü ve </a:t>
            </a:r>
          </a:p>
          <a:p>
            <a:pPr lvl="1"/>
            <a:r>
              <a:rPr lang="tr-TR" i="1" dirty="0"/>
              <a:t>RPC (</a:t>
            </a:r>
            <a:r>
              <a:rPr lang="tr-TR" i="1" dirty="0" err="1"/>
              <a:t>remote</a:t>
            </a:r>
            <a:r>
              <a:rPr lang="tr-TR" i="1" dirty="0"/>
              <a:t> </a:t>
            </a:r>
            <a:r>
              <a:rPr lang="tr-TR" i="1" dirty="0" err="1"/>
              <a:t>procedure</a:t>
            </a:r>
            <a:r>
              <a:rPr lang="tr-TR" i="1" dirty="0"/>
              <a:t> </a:t>
            </a:r>
            <a:r>
              <a:rPr lang="tr-TR" i="1" dirty="0" err="1"/>
              <a:t>call</a:t>
            </a:r>
            <a:r>
              <a:rPr lang="tr-TR" i="1" dirty="0"/>
              <a:t>)</a:t>
            </a:r>
            <a:r>
              <a:rPr lang="tr-TR" dirty="0"/>
              <a:t> kullanılmasıyla elde edilir..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131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Ağ Dosya Sistemi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Network file </a:t>
            </a:r>
            <a:r>
              <a:rPr lang="tr-TR" dirty="0" err="1"/>
              <a:t>system</a:t>
            </a:r>
            <a:r>
              <a:rPr lang="tr-TR" dirty="0"/>
              <a:t>.</a:t>
            </a:r>
          </a:p>
          <a:p>
            <a:r>
              <a:rPr lang="tr-TR" dirty="0"/>
              <a:t>VFS </a:t>
            </a:r>
            <a:r>
              <a:rPr lang="tr-TR" dirty="0" err="1"/>
              <a:t>arayüzü</a:t>
            </a:r>
            <a:r>
              <a:rPr lang="tr-TR" dirty="0"/>
              <a:t>.</a:t>
            </a:r>
          </a:p>
          <a:p>
            <a:r>
              <a:rPr lang="tr-TR" dirty="0"/>
              <a:t>NFS sunucusu.</a:t>
            </a:r>
          </a:p>
          <a:p>
            <a:r>
              <a:rPr lang="tr-TR" dirty="0"/>
              <a:t>NFS istemcisi.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8CC88A-3C80-4C5B-ACCB-F9F8C3E338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5717" y="1690688"/>
            <a:ext cx="6485014" cy="43793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496046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Dosya Sistemi Yönetimi ve Optimizasyonu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Disk alanı yönetimi</a:t>
            </a:r>
          </a:p>
          <a:p>
            <a:r>
              <a:rPr lang="tr-TR" dirty="0"/>
              <a:t>Dosya sistemi yedekleme</a:t>
            </a:r>
          </a:p>
          <a:p>
            <a:r>
              <a:rPr lang="tr-TR" dirty="0"/>
              <a:t>Dosya sistemi tutarlılığı</a:t>
            </a:r>
          </a:p>
          <a:p>
            <a:r>
              <a:rPr lang="tr-TR" dirty="0"/>
              <a:t>Dosya sistemi performansı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97679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Disk Alanı Yönetimi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Bitişik olması gerekmeyen, sabit boyutlu bloklar kullanılmalı.</a:t>
            </a:r>
          </a:p>
          <a:p>
            <a:r>
              <a:rPr lang="tr-TR" dirty="0"/>
              <a:t>Dosyalar ardışık bayt serisi olarak saklanırsa,</a:t>
            </a:r>
          </a:p>
          <a:p>
            <a:pPr lvl="1"/>
            <a:r>
              <a:rPr lang="tr-TR" dirty="0"/>
              <a:t>Dosya büyüdüğünde taşınması gerekir!</a:t>
            </a:r>
          </a:p>
          <a:p>
            <a:r>
              <a:rPr lang="tr-TR" dirty="0"/>
              <a:t>Optimum (en iyi) blok boyutu nedir? </a:t>
            </a:r>
          </a:p>
          <a:p>
            <a:pPr lvl="1"/>
            <a:r>
              <a:rPr lang="tr-TR" dirty="0"/>
              <a:t>Dosya boyutu dağılımı bilinmeli.</a:t>
            </a:r>
          </a:p>
          <a:p>
            <a:r>
              <a:rPr lang="tr-TR" dirty="0"/>
              <a:t>Dosya sistemi tasarlarken genel (</a:t>
            </a:r>
            <a:r>
              <a:rPr lang="tr-TR" i="1" dirty="0" err="1"/>
              <a:t>generic</a:t>
            </a:r>
            <a:r>
              <a:rPr lang="tr-TR" dirty="0"/>
              <a:t>) düşünülmeli.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01906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Disk Alanı Yönetimi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Verilen boyuttan küçük olan dosyaların yüzdesi. (VU örnek bir sunucu)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75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95538" y="2222500"/>
            <a:ext cx="7400925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04585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Disk Alanı Yönetimi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Düz eğri veri hızını, kesikli eğri verimliliği gösterir. Dosya boyutu 4 </a:t>
            </a:r>
            <a:r>
              <a:rPr lang="tr-TR" i="1" dirty="0"/>
              <a:t>KB</a:t>
            </a:r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76</a:t>
            </a:fld>
            <a:endParaRPr lang="en-US" dirty="0"/>
          </a:p>
        </p:txBody>
      </p:sp>
      <p:pic>
        <p:nvPicPr>
          <p:cNvPr id="8" name="Picture 6" descr="D:\b\b4\IBM\04-2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1920" y="2600519"/>
            <a:ext cx="6914198" cy="3620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5569420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Disk Alanı Yönetimi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Büyük blok boyutu, </a:t>
            </a:r>
          </a:p>
          <a:p>
            <a:pPr lvl="1"/>
            <a:r>
              <a:rPr lang="tr-TR" dirty="0"/>
              <a:t>Daha iyi alan kullanımına, </a:t>
            </a:r>
          </a:p>
          <a:p>
            <a:pPr lvl="1"/>
            <a:r>
              <a:rPr lang="tr-TR" dirty="0"/>
              <a:t>Daha kötü aktarım (</a:t>
            </a:r>
            <a:r>
              <a:rPr lang="tr-TR" i="1" dirty="0"/>
              <a:t>transfer</a:t>
            </a:r>
            <a:r>
              <a:rPr lang="tr-TR" dirty="0"/>
              <a:t>) hızına neden olur.</a:t>
            </a:r>
          </a:p>
          <a:p>
            <a:r>
              <a:rPr lang="tr-TR" dirty="0"/>
              <a:t>Alan ve veri hızı birbiriyle ters orantılı (</a:t>
            </a:r>
            <a:r>
              <a:rPr lang="tr-TR" i="1" dirty="0" err="1"/>
              <a:t>trade-off</a:t>
            </a:r>
            <a:r>
              <a:rPr lang="tr-TR" dirty="0"/>
              <a:t>).</a:t>
            </a:r>
          </a:p>
          <a:p>
            <a:r>
              <a:rPr lang="tr-TR" dirty="0"/>
              <a:t>Kesin iyi bir çözüm yok (</a:t>
            </a:r>
            <a:r>
              <a:rPr lang="tr-TR" i="1" dirty="0"/>
              <a:t>Nature </a:t>
            </a:r>
            <a:r>
              <a:rPr lang="tr-TR" i="1" dirty="0" err="1"/>
              <a:t>wins</a:t>
            </a:r>
            <a:r>
              <a:rPr lang="tr-TR" i="1" dirty="0"/>
              <a:t> </a:t>
            </a:r>
            <a:r>
              <a:rPr lang="tr-TR" i="1" dirty="0" err="1"/>
              <a:t>this</a:t>
            </a:r>
            <a:r>
              <a:rPr lang="tr-TR" i="1" dirty="0"/>
              <a:t> time</a:t>
            </a:r>
            <a:r>
              <a:rPr lang="tr-TR" dirty="0"/>
              <a:t>).</a:t>
            </a:r>
          </a:p>
          <a:p>
            <a:r>
              <a:rPr lang="tr-TR" dirty="0"/>
              <a:t>Disk yeterince büyükse, büyük blok boyutu (64 </a:t>
            </a:r>
            <a:r>
              <a:rPr lang="tr-TR" i="1" dirty="0"/>
              <a:t>KB</a:t>
            </a:r>
            <a:r>
              <a:rPr lang="tr-TR" dirty="0"/>
              <a:t>) kullanılmalı.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24293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Boş Blokların İzini Tutma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/>
              <a:t>(a) Bağlı liste (b) </a:t>
            </a:r>
            <a:r>
              <a:rPr lang="tr-TR" dirty="0" err="1"/>
              <a:t>biteşlem</a:t>
            </a:r>
            <a:r>
              <a:rPr lang="tr-TR" dirty="0"/>
              <a:t> olarak.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78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6818" y="2458181"/>
            <a:ext cx="4625650" cy="404744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404" y="1801863"/>
            <a:ext cx="2028392" cy="4462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23894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Boş Blokların İzini Tutma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Bağlı liste yapısı ~1,9 milyon bloğa ihtiyaç duyar.</a:t>
            </a:r>
          </a:p>
          <a:p>
            <a:r>
              <a:rPr lang="tr-TR" dirty="0" err="1"/>
              <a:t>Biteşlem</a:t>
            </a:r>
            <a:r>
              <a:rPr lang="tr-TR" dirty="0"/>
              <a:t> yapısı ~60.000 bloğa ihtiyaç duyar.</a:t>
            </a:r>
          </a:p>
          <a:p>
            <a:r>
              <a:rPr lang="tr-TR" dirty="0"/>
              <a:t>Herhangi bir anda bellekte sadece bir işaretçi bloğuna ihtiyaç vardır.</a:t>
            </a:r>
          </a:p>
          <a:p>
            <a:r>
              <a:rPr lang="tr-TR" dirty="0"/>
              <a:t>Bloğu doldur, bir tane daha al.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90837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Disk Kotaları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Açık dosyalar tablosundaki satır (</a:t>
            </a:r>
            <a:r>
              <a:rPr lang="tr-TR" i="1" dirty="0" err="1"/>
              <a:t>entry</a:t>
            </a:r>
            <a:r>
              <a:rPr lang="tr-TR" dirty="0"/>
              <a:t>), </a:t>
            </a:r>
          </a:p>
          <a:p>
            <a:pPr lvl="1"/>
            <a:r>
              <a:rPr lang="tr-TR" dirty="0"/>
              <a:t>Kota tablosuna işaret eder.</a:t>
            </a:r>
          </a:p>
          <a:p>
            <a:r>
              <a:rPr lang="tr-TR" dirty="0"/>
              <a:t>Her açık dosya için bir satır var.</a:t>
            </a:r>
          </a:p>
          <a:p>
            <a:r>
              <a:rPr lang="tr-TR" dirty="0"/>
              <a:t>Kullanıcıların disk kotasına sınır (</a:t>
            </a:r>
            <a:r>
              <a:rPr lang="tr-TR" i="1" dirty="0" err="1"/>
              <a:t>soft</a:t>
            </a:r>
            <a:r>
              <a:rPr lang="tr-TR" i="1" dirty="0"/>
              <a:t>, hard</a:t>
            </a:r>
            <a:r>
              <a:rPr lang="tr-TR" dirty="0"/>
              <a:t>) konulabilir.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92982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Disk Kotaları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Kota tablosunda kullanıcı (</a:t>
            </a:r>
            <a:r>
              <a:rPr lang="tr-TR" i="1" dirty="0" err="1"/>
              <a:t>user</a:t>
            </a:r>
            <a:r>
              <a:rPr lang="tr-TR" dirty="0"/>
              <a:t>) bazlı izlenir.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81</a:t>
            </a:fld>
            <a:endParaRPr lang="en-US" dirty="0"/>
          </a:p>
        </p:txBody>
      </p:sp>
      <p:pic>
        <p:nvPicPr>
          <p:cNvPr id="7" name="Picture 6" descr="D:\b\b4\IBM\04-2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9612" y="2464918"/>
            <a:ext cx="6432776" cy="38914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079510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Dosya Sistemi Yedeklemeler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Yedeklemeler iki olası sorundan dolayı yapılır.</a:t>
            </a:r>
          </a:p>
          <a:p>
            <a:pPr lvl="1"/>
            <a:r>
              <a:rPr lang="tr-TR" dirty="0"/>
              <a:t>Felaketten (</a:t>
            </a:r>
            <a:r>
              <a:rPr lang="tr-TR" i="1" dirty="0" err="1"/>
              <a:t>disaster</a:t>
            </a:r>
            <a:r>
              <a:rPr lang="tr-TR" dirty="0"/>
              <a:t>) kurtulmak için (</a:t>
            </a:r>
            <a:r>
              <a:rPr lang="tr-TR" i="1" dirty="0"/>
              <a:t>disk çökmesi</a:t>
            </a:r>
            <a:r>
              <a:rPr lang="tr-TR" dirty="0"/>
              <a:t>).</a:t>
            </a:r>
          </a:p>
          <a:p>
            <a:pPr lvl="1"/>
            <a:r>
              <a:rPr lang="tr-TR" dirty="0"/>
              <a:t>Dikkatsizlik sonucu (</a:t>
            </a:r>
            <a:r>
              <a:rPr lang="tr-TR" i="1" dirty="0"/>
              <a:t>yanlışlıkla silinen dosya</a:t>
            </a:r>
            <a:r>
              <a:rPr lang="tr-TR" dirty="0"/>
              <a:t>).</a:t>
            </a:r>
          </a:p>
          <a:p>
            <a:r>
              <a:rPr lang="tr-TR" dirty="0"/>
              <a:t>Teypler yüzlerce </a:t>
            </a:r>
            <a:r>
              <a:rPr lang="tr-TR" i="1" dirty="0"/>
              <a:t>GB</a:t>
            </a:r>
            <a:r>
              <a:rPr lang="tr-TR" dirty="0"/>
              <a:t> veri tutar ve çok ucuzdur.</a:t>
            </a:r>
          </a:p>
          <a:p>
            <a:r>
              <a:rPr lang="tr-TR" dirty="0"/>
              <a:t>Tüm dosyaları yedeklemeye gerek yok.</a:t>
            </a:r>
          </a:p>
          <a:p>
            <a:r>
              <a:rPr lang="tr-TR" dirty="0"/>
              <a:t>Geçici dosyaların yedeklenmesi gerekmez.</a:t>
            </a:r>
          </a:p>
          <a:p>
            <a:r>
              <a:rPr lang="tr-TR" dirty="0"/>
              <a:t>Özel dosyaların (</a:t>
            </a:r>
            <a:r>
              <a:rPr lang="tr-TR" i="1" dirty="0"/>
              <a:t>G/Ç</a:t>
            </a:r>
            <a:r>
              <a:rPr lang="tr-TR" dirty="0"/>
              <a:t>) yedeklenmeye ihtiyacı yoktur.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65497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Kademeli Olarak Yedekleme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Son dökümden (</a:t>
            </a:r>
            <a:r>
              <a:rPr lang="tr-TR" b="1" dirty="0" err="1"/>
              <a:t>dump</a:t>
            </a:r>
            <a:r>
              <a:rPr lang="tr-TR" dirty="0"/>
              <a:t>) sonra değiştirilen dosyaların haftalık/aylık listesi.</a:t>
            </a:r>
          </a:p>
          <a:p>
            <a:r>
              <a:rPr lang="tr-TR" dirty="0"/>
              <a:t>Dosya sistemini geri yüklemek için tam döküm gerekli.</a:t>
            </a:r>
          </a:p>
          <a:p>
            <a:r>
              <a:rPr lang="tr-TR" dirty="0"/>
              <a:t>Değiştirilmiş dosyaları döküme dahil etmek için iyi algoritmalar gerekli.</a:t>
            </a:r>
          </a:p>
          <a:p>
            <a:r>
              <a:rPr lang="tr-TR" dirty="0"/>
              <a:t>Sistem kullanılırken döküm performans açısından zor. </a:t>
            </a:r>
          </a:p>
          <a:p>
            <a:r>
              <a:rPr lang="tr-TR" dirty="0"/>
              <a:t>Anlık görüntü (</a:t>
            </a:r>
            <a:r>
              <a:rPr lang="tr-TR" i="1" dirty="0" err="1"/>
              <a:t>snapshot</a:t>
            </a:r>
            <a:r>
              <a:rPr lang="tr-TR" dirty="0"/>
              <a:t>) algoritmaları mevcut.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36899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Döküm Stratejileri - Fiziksel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Fiziksel olarak tüm her şey dökülür, kaydedilir.</a:t>
            </a:r>
          </a:p>
          <a:p>
            <a:r>
              <a:rPr lang="tr-TR" dirty="0"/>
              <a:t>Uygulaması basit.</a:t>
            </a:r>
          </a:p>
          <a:p>
            <a:r>
              <a:rPr lang="tr-TR" dirty="0"/>
              <a:t>Kullanılan bloklar için blok numaraları teybe yazılmalı.</a:t>
            </a:r>
          </a:p>
          <a:p>
            <a:r>
              <a:rPr lang="tr-TR" dirty="0"/>
              <a:t>İşletim sistemi kullanılmayan blokların listesini tutar.</a:t>
            </a:r>
          </a:p>
          <a:p>
            <a:r>
              <a:rPr lang="tr-TR" dirty="0"/>
              <a:t>Disk denetleyicisi, </a:t>
            </a:r>
          </a:p>
          <a:p>
            <a:pPr lvl="1"/>
            <a:r>
              <a:rPr lang="tr-TR" dirty="0"/>
              <a:t>Kötü (</a:t>
            </a:r>
            <a:r>
              <a:rPr lang="tr-TR" i="1" dirty="0"/>
              <a:t>bozuk</a:t>
            </a:r>
            <a:r>
              <a:rPr lang="tr-TR" dirty="0"/>
              <a:t>) blokları algılamalı ve değiştirmelidir, veya </a:t>
            </a:r>
          </a:p>
          <a:p>
            <a:pPr lvl="1"/>
            <a:r>
              <a:rPr lang="tr-TR" dirty="0"/>
              <a:t>Nerede olduklarını bilmelidir.</a:t>
            </a:r>
          </a:p>
          <a:p>
            <a:pPr lvl="1"/>
            <a:r>
              <a:rPr lang="tr-TR" dirty="0"/>
              <a:t>İşletim sistemi kötü (</a:t>
            </a:r>
            <a:r>
              <a:rPr lang="tr-TR" i="1" dirty="0"/>
              <a:t>bozuk</a:t>
            </a:r>
            <a:r>
              <a:rPr lang="tr-TR" dirty="0"/>
              <a:t>) blokların listesini tutar.</a:t>
            </a:r>
          </a:p>
          <a:p>
            <a:pPr lvl="1"/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79333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Döküm Stratejileri - Fiziksel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Uygulaması kolay.</a:t>
            </a:r>
          </a:p>
          <a:p>
            <a:r>
              <a:rPr lang="tr-TR" dirty="0"/>
              <a:t>Belirli bir dizini atlayamaz (</a:t>
            </a:r>
            <a:r>
              <a:rPr lang="tr-TR" i="1" dirty="0" err="1"/>
              <a:t>skip</a:t>
            </a:r>
            <a:r>
              <a:rPr lang="tr-TR" dirty="0"/>
              <a:t>).</a:t>
            </a:r>
          </a:p>
          <a:p>
            <a:r>
              <a:rPr lang="tr-TR" dirty="0"/>
              <a:t>Kademeli dökümler yapamaz (</a:t>
            </a:r>
            <a:r>
              <a:rPr lang="tr-TR" i="1" dirty="0" err="1"/>
              <a:t>incremental</a:t>
            </a:r>
            <a:r>
              <a:rPr lang="tr-TR" dirty="0"/>
              <a:t>).</a:t>
            </a:r>
          </a:p>
          <a:p>
            <a:r>
              <a:rPr lang="tr-TR" dirty="0"/>
              <a:t>Dosyalar tek tek geri yüklenemez.</a:t>
            </a:r>
          </a:p>
          <a:p>
            <a:r>
              <a:rPr lang="tr-TR" dirty="0"/>
              <a:t>Mantıksal döküm stratejisi daha yaygın kullanılır.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24515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Döküm Stratejileri - Mantıksal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Verilen zamandan sonra değişen dosyaları/dizinleri özyinelemeli döker.</a:t>
            </a:r>
          </a:p>
          <a:p>
            <a:r>
              <a:rPr lang="tr-TR" dirty="0"/>
              <a:t>Dosyaları/dizinleri değiştirilmiş dosya/dizine giden yola döker.</a:t>
            </a:r>
          </a:p>
          <a:p>
            <a:r>
              <a:rPr lang="tr-TR" dirty="0"/>
              <a:t>Bu sayede yolu (</a:t>
            </a:r>
            <a:r>
              <a:rPr lang="tr-TR" i="1" dirty="0" err="1"/>
              <a:t>path</a:t>
            </a:r>
            <a:r>
              <a:rPr lang="tr-TR" dirty="0"/>
              <a:t>) farklı bir bilgisayarda geri yüklenebilir.</a:t>
            </a:r>
          </a:p>
          <a:p>
            <a:r>
              <a:rPr lang="tr-TR" dirty="0"/>
              <a:t>Tek bir dosyayı geri yükleyebilir.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25680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Dosya Sistemi Yedekleme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Kareler dizinleri, daireler dosyaları gösterir. Gölgeli öğeler, son dökümden bu yana değiştirilenler. Her dizin ve dosya, i-</a:t>
            </a:r>
            <a:r>
              <a:rPr lang="tr-TR" dirty="0" err="1"/>
              <a:t>node</a:t>
            </a:r>
            <a:r>
              <a:rPr lang="tr-TR" dirty="0"/>
              <a:t> numarasıyla etiketlenir.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87</a:t>
            </a:fld>
            <a:endParaRPr lang="en-US" dirty="0"/>
          </a:p>
        </p:txBody>
      </p:sp>
      <p:pic>
        <p:nvPicPr>
          <p:cNvPr id="7" name="Picture 1030" descr="D:\b\b4\IBM\04-2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8" y="2694580"/>
            <a:ext cx="6502219" cy="3526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828307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Mantıksal Döküm Algoritması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i-</a:t>
            </a:r>
            <a:r>
              <a:rPr lang="tr-TR" dirty="0" err="1"/>
              <a:t>node</a:t>
            </a:r>
            <a:r>
              <a:rPr lang="tr-TR" dirty="0"/>
              <a:t> tarafından indekslenmiş </a:t>
            </a:r>
            <a:r>
              <a:rPr lang="tr-TR" dirty="0" err="1"/>
              <a:t>biteşlem</a:t>
            </a:r>
            <a:r>
              <a:rPr lang="tr-TR" dirty="0"/>
              <a:t> kullanılır.</a:t>
            </a:r>
          </a:p>
          <a:p>
            <a:r>
              <a:rPr lang="tr-TR" dirty="0"/>
              <a:t>Aşama 1: kökte başlar ve değiştirilen tüm dosyalar için bitleri işaretler (a).</a:t>
            </a:r>
          </a:p>
          <a:p>
            <a:r>
              <a:rPr lang="tr-TR" dirty="0"/>
              <a:t>Aşama 2: ağacı gezer, değişiklik olmayan dizinlerin işaretini kaldırır (b).</a:t>
            </a:r>
          </a:p>
          <a:p>
            <a:r>
              <a:rPr lang="tr-TR" dirty="0"/>
              <a:t>Aşama 3 - i-</a:t>
            </a:r>
            <a:r>
              <a:rPr lang="tr-TR" dirty="0" err="1"/>
              <a:t>node’ları</a:t>
            </a:r>
            <a:r>
              <a:rPr lang="tr-TR" dirty="0"/>
              <a:t> gözden geçirir ve işaretli dizinlerin dökümünü alır (c).</a:t>
            </a:r>
          </a:p>
          <a:p>
            <a:r>
              <a:rPr lang="tr-TR" dirty="0"/>
              <a:t>Aşama 4 - döküm dosyaları (d).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88</a:t>
            </a:fld>
            <a:endParaRPr lang="en-US" dirty="0"/>
          </a:p>
        </p:txBody>
      </p:sp>
      <p:pic>
        <p:nvPicPr>
          <p:cNvPr id="7" name="Picture 6" descr="D:\b\b4\IBM\04-2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562" y="3990975"/>
            <a:ext cx="8270875" cy="286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239682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Diskteki Dosyayı Geri Yükleme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Diskte boş dosya sistemi ile başlanır.</a:t>
            </a:r>
          </a:p>
          <a:p>
            <a:r>
              <a:rPr lang="tr-TR" dirty="0"/>
              <a:t>Son alınan tam döküm geri yüklenir. </a:t>
            </a:r>
          </a:p>
          <a:p>
            <a:r>
              <a:rPr lang="tr-TR" dirty="0"/>
              <a:t>Önce dizinler, sonra dosyalar.</a:t>
            </a:r>
          </a:p>
          <a:p>
            <a:r>
              <a:rPr lang="tr-TR" dirty="0"/>
              <a:t>Ardından kademeli olarak dökümler geri yüklenir.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30038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Dosya Sistemi Tutarlılığı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Blokların tümü yazılmadan önce kilitlenme/kaza (</a:t>
            </a:r>
            <a:r>
              <a:rPr lang="tr-TR" dirty="0" err="1"/>
              <a:t>crash</a:t>
            </a:r>
            <a:r>
              <a:rPr lang="tr-TR" dirty="0"/>
              <a:t>), </a:t>
            </a:r>
          </a:p>
          <a:p>
            <a:pPr lvl="1"/>
            <a:r>
              <a:rPr lang="tr-TR" dirty="0"/>
              <a:t>Dosya sistemini tutarsız bir durumda bırakır.</a:t>
            </a:r>
          </a:p>
          <a:p>
            <a:r>
              <a:rPr lang="tr-TR" dirty="0"/>
              <a:t>Tutarlılığı kontrol etmek için yardımcı programlara ihtiyaç var. </a:t>
            </a:r>
          </a:p>
          <a:p>
            <a:pPr lvl="1"/>
            <a:r>
              <a:rPr lang="tr-TR" dirty="0"/>
              <a:t>Unix'te </a:t>
            </a:r>
            <a:r>
              <a:rPr lang="tr-TR" i="1" dirty="0" err="1"/>
              <a:t>fsck</a:t>
            </a:r>
            <a:r>
              <a:rPr lang="tr-TR" dirty="0"/>
              <a:t>, Windows'ta </a:t>
            </a:r>
            <a:r>
              <a:rPr lang="tr-TR" i="1" dirty="0" err="1"/>
              <a:t>scandisk</a:t>
            </a:r>
            <a:r>
              <a:rPr lang="tr-TR" i="1" dirty="0"/>
              <a:t>.</a:t>
            </a:r>
          </a:p>
          <a:p>
            <a:r>
              <a:rPr lang="tr-TR" dirty="0"/>
              <a:t>Bir dosyada bir blok kaç kez bulunur?</a:t>
            </a:r>
          </a:p>
          <a:p>
            <a:r>
              <a:rPr lang="tr-TR" dirty="0"/>
              <a:t>Bir blok boş alanların tutulduğu listede kaç kez var?</a:t>
            </a:r>
          </a:p>
          <a:p>
            <a:r>
              <a:rPr lang="tr-TR" dirty="0"/>
              <a:t>Cihaz tüm i-</a:t>
            </a:r>
            <a:r>
              <a:rPr lang="tr-TR" dirty="0" err="1"/>
              <a:t>node’ları</a:t>
            </a:r>
            <a:r>
              <a:rPr lang="tr-TR" dirty="0"/>
              <a:t> okur, sayaçları artırır.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52882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Dosya Sistemi Tutarlılığı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(a) Tutarlı. (b) Eksik blok. (c) Yinelenen blok. (d) Yinelenen veri bloğu.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91</a:t>
            </a:fld>
            <a:endParaRPr lang="en-US" dirty="0"/>
          </a:p>
        </p:txBody>
      </p:sp>
      <p:pic>
        <p:nvPicPr>
          <p:cNvPr id="7" name="Picture 1030" descr="D:\b\b4\IBM\04-2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5801" y="2800441"/>
            <a:ext cx="8470900" cy="307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222066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Dosya Sistemi Tutarlılığı Çözüm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Eksik blok (b) - serbest listeye konulur.</a:t>
            </a:r>
          </a:p>
          <a:p>
            <a:r>
              <a:rPr lang="tr-TR" dirty="0"/>
              <a:t>Yinelenen blok (c) - serbest liste yeniden oluşturulur.</a:t>
            </a:r>
          </a:p>
          <a:p>
            <a:r>
              <a:rPr lang="tr-TR" dirty="0"/>
              <a:t>Yinelenen veri bloğu (d) - kullanıcı bilgilendirilir.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92</a:t>
            </a:fld>
            <a:endParaRPr lang="en-US" dirty="0"/>
          </a:p>
        </p:txBody>
      </p:sp>
      <p:pic>
        <p:nvPicPr>
          <p:cNvPr id="7" name="Picture 1030" descr="D:\b\b4\IBM\04-2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5801" y="3276600"/>
            <a:ext cx="8470900" cy="307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15369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Dosya Sistemi Tutarlılığı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Bloklar yerine dosyalara bakılır.</a:t>
            </a:r>
          </a:p>
          <a:p>
            <a:r>
              <a:rPr lang="tr-TR" dirty="0"/>
              <a:t>Dosya başına bir sayaç tablosu kullanılır.</a:t>
            </a:r>
          </a:p>
          <a:p>
            <a:r>
              <a:rPr lang="tr-TR" dirty="0"/>
              <a:t>Kök dizinde başlar, dosya bir dizinde göründüğünde sayaç artırılır.</a:t>
            </a:r>
          </a:p>
          <a:p>
            <a:r>
              <a:rPr lang="tr-TR" dirty="0"/>
              <a:t>Sayaçlar i-</a:t>
            </a:r>
            <a:r>
              <a:rPr lang="tr-TR" dirty="0" err="1"/>
              <a:t>node’lardan</a:t>
            </a:r>
            <a:r>
              <a:rPr lang="tr-TR" dirty="0"/>
              <a:t> gelen bağ (</a:t>
            </a:r>
            <a:r>
              <a:rPr lang="tr-TR" i="1" dirty="0"/>
              <a:t>link</a:t>
            </a:r>
            <a:r>
              <a:rPr lang="tr-TR" dirty="0"/>
              <a:t>) sayısıyla karşılaştırılır. </a:t>
            </a:r>
          </a:p>
          <a:p>
            <a:pPr lvl="1"/>
            <a:r>
              <a:rPr lang="tr-TR" dirty="0"/>
              <a:t>Tutarlı olmak için aynı olmak zorunda.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3423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Dosya Sistemi Performansı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Bellekten sözcük (</a:t>
            </a:r>
            <a:r>
              <a:rPr lang="tr-TR" i="1" dirty="0" err="1"/>
              <a:t>word</a:t>
            </a:r>
            <a:r>
              <a:rPr lang="tr-TR" dirty="0"/>
              <a:t>) okuma: 32 </a:t>
            </a:r>
            <a:r>
              <a:rPr lang="tr-TR" i="1" dirty="0" err="1"/>
              <a:t>ns</a:t>
            </a:r>
            <a:r>
              <a:rPr lang="tr-TR" i="1" dirty="0"/>
              <a:t>.</a:t>
            </a:r>
          </a:p>
          <a:p>
            <a:r>
              <a:rPr lang="tr-TR" dirty="0"/>
              <a:t>Disk erişimi: 5-10 </a:t>
            </a:r>
            <a:r>
              <a:rPr lang="tr-TR" i="1" dirty="0" err="1"/>
              <a:t>ms</a:t>
            </a:r>
            <a:r>
              <a:rPr lang="tr-TR" i="1" dirty="0"/>
              <a:t> </a:t>
            </a:r>
            <a:r>
              <a:rPr lang="tr-TR" dirty="0"/>
              <a:t>arama (</a:t>
            </a:r>
            <a:r>
              <a:rPr lang="tr-TR" i="1" dirty="0" err="1"/>
              <a:t>seek</a:t>
            </a:r>
            <a:r>
              <a:rPr lang="tr-TR" dirty="0"/>
              <a:t>) + 100 </a:t>
            </a:r>
            <a:r>
              <a:rPr lang="tr-TR" i="1" dirty="0"/>
              <a:t>MB/</a:t>
            </a:r>
            <a:r>
              <a:rPr lang="tr-TR" i="1" dirty="0" err="1"/>
              <a:t>sn</a:t>
            </a:r>
            <a:r>
              <a:rPr lang="tr-TR" dirty="0"/>
              <a:t> aktarım (</a:t>
            </a:r>
            <a:r>
              <a:rPr lang="tr-TR" i="1" dirty="0"/>
              <a:t>transfer</a:t>
            </a:r>
            <a:r>
              <a:rPr lang="tr-TR" dirty="0"/>
              <a:t>).</a:t>
            </a:r>
          </a:p>
          <a:p>
            <a:r>
              <a:rPr lang="tr-TR" dirty="0"/>
              <a:t>Bellekte önbellek blokları tutulur.</a:t>
            </a:r>
          </a:p>
          <a:p>
            <a:r>
              <a:rPr lang="tr-TR" dirty="0"/>
              <a:t>Yönetmek için </a:t>
            </a:r>
            <a:r>
              <a:rPr lang="tr-TR" i="1" dirty="0" err="1"/>
              <a:t>hash</a:t>
            </a:r>
            <a:r>
              <a:rPr lang="tr-TR" i="1" dirty="0"/>
              <a:t> </a:t>
            </a:r>
            <a:r>
              <a:rPr lang="tr-TR" dirty="0"/>
              <a:t>tablosu (</a:t>
            </a:r>
            <a:r>
              <a:rPr lang="tr-TR" i="1" dirty="0"/>
              <a:t>cihaz, disk adresi</a:t>
            </a:r>
            <a:r>
              <a:rPr lang="tr-TR" dirty="0"/>
              <a:t>).</a:t>
            </a:r>
          </a:p>
          <a:p>
            <a:r>
              <a:rPr lang="tr-TR" dirty="0"/>
              <a:t>Önbellek bloklarını değiştirmek için algoritmaya ihtiyaç var.</a:t>
            </a:r>
          </a:p>
          <a:p>
            <a:pPr lvl="1"/>
            <a:r>
              <a:rPr lang="tr-TR" dirty="0"/>
              <a:t>Sayfalama (</a:t>
            </a:r>
            <a:r>
              <a:rPr lang="tr-TR" i="1" dirty="0" err="1"/>
              <a:t>page</a:t>
            </a:r>
            <a:r>
              <a:rPr lang="tr-TR" i="1" dirty="0"/>
              <a:t> </a:t>
            </a:r>
            <a:r>
              <a:rPr lang="tr-TR" i="1" dirty="0" err="1"/>
              <a:t>replacement</a:t>
            </a:r>
            <a:r>
              <a:rPr lang="tr-TR" dirty="0"/>
              <a:t>) algoritmaları kullanılır.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95230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İleriyi Okuma (Read </a:t>
            </a:r>
            <a:r>
              <a:rPr lang="tr-TR" dirty="0" err="1"/>
              <a:t>Ahead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Önbelleğe almak için </a:t>
            </a:r>
            <a:r>
              <a:rPr lang="tr-TR" i="1" dirty="0"/>
              <a:t>k</a:t>
            </a:r>
            <a:r>
              <a:rPr lang="tr-TR" dirty="0"/>
              <a:t> bloğu okunduğunda, </a:t>
            </a:r>
          </a:p>
          <a:p>
            <a:pPr lvl="1"/>
            <a:r>
              <a:rPr lang="tr-TR" dirty="0"/>
              <a:t>k+1 bloğu önbellekte değilse, onu da okur.</a:t>
            </a:r>
          </a:p>
          <a:p>
            <a:r>
              <a:rPr lang="tr-TR" dirty="0"/>
              <a:t>Yalnızca sıralı dosyalar için geçerlidir.</a:t>
            </a:r>
          </a:p>
          <a:p>
            <a:r>
              <a:rPr lang="tr-TR" i="1" dirty="0"/>
              <a:t>Dosya sıralı mı, rastgele mi</a:t>
            </a:r>
            <a:r>
              <a:rPr lang="tr-TR" dirty="0"/>
              <a:t> olduğunu belirlemek için bir bit kullanılır.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96186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Disk Kol Hareketini Azaltmak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Sıralı olarak erişilecek bloklar birbirine yakın yerleştirilmeye çalışılır.</a:t>
            </a:r>
          </a:p>
          <a:p>
            <a:r>
              <a:rPr lang="tr-TR" dirty="0"/>
              <a:t>Bellekte bir </a:t>
            </a:r>
            <a:r>
              <a:rPr lang="tr-TR" dirty="0" err="1"/>
              <a:t>biteşlem</a:t>
            </a:r>
            <a:r>
              <a:rPr lang="tr-TR" dirty="0"/>
              <a:t> tutarak yapmak kolaydır, </a:t>
            </a:r>
          </a:p>
          <a:p>
            <a:pPr lvl="1"/>
            <a:r>
              <a:rPr lang="tr-TR" dirty="0"/>
              <a:t>Blokları boş liste ile arka arkaya yerleştirmek gerekir.</a:t>
            </a:r>
          </a:p>
          <a:p>
            <a:r>
              <a:rPr lang="tr-TR" dirty="0"/>
              <a:t>Önbellek bloğu 1 </a:t>
            </a:r>
            <a:r>
              <a:rPr lang="tr-TR" i="1" dirty="0"/>
              <a:t>KB</a:t>
            </a:r>
            <a:r>
              <a:rPr lang="tr-TR" dirty="0"/>
              <a:t> ise, yer tahsisi boşlar listesinden 2 </a:t>
            </a:r>
            <a:r>
              <a:rPr lang="tr-TR" i="1" dirty="0"/>
              <a:t>KB </a:t>
            </a:r>
            <a:r>
              <a:rPr lang="tr-TR" dirty="0"/>
              <a:t>halinde yapılır.</a:t>
            </a:r>
          </a:p>
          <a:p>
            <a:r>
              <a:rPr lang="tr-TR" dirty="0"/>
              <a:t>Ardışık bloklar, aynı silindire konulmaya çalışılır.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50258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Kol Hareketini Azaltmak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/>
              <a:t>(a) Diskin başına yerleştirilen I-</a:t>
            </a:r>
            <a:r>
              <a:rPr lang="tr-TR" dirty="0" err="1"/>
              <a:t>nodes</a:t>
            </a:r>
            <a:r>
              <a:rPr lang="tr-TR" dirty="0"/>
              <a:t>. (b) Disk, her biri kendi blokları ve i-</a:t>
            </a:r>
            <a:r>
              <a:rPr lang="tr-TR" dirty="0" err="1"/>
              <a:t>nodes'leri</a:t>
            </a:r>
            <a:r>
              <a:rPr lang="tr-TR" dirty="0"/>
              <a:t> olan silindir gruplarına bölünmüştür.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97</a:t>
            </a:fld>
            <a:endParaRPr lang="en-US" dirty="0"/>
          </a:p>
        </p:txBody>
      </p:sp>
      <p:pic>
        <p:nvPicPr>
          <p:cNvPr id="7" name="Picture 6" descr="D:\b\b4\IBM\04-2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2907" y="2851744"/>
            <a:ext cx="7046186" cy="32887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39421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Diski Birleştirme (</a:t>
            </a:r>
            <a:r>
              <a:rPr lang="tr-TR" dirty="0" err="1"/>
              <a:t>Defragmentation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Başlangıçta, dosyalar diske bitişik olarak yerleştirilir.</a:t>
            </a:r>
          </a:p>
          <a:p>
            <a:r>
              <a:rPr lang="tr-TR" dirty="0"/>
              <a:t>Zamanla delikler, boşluklar (</a:t>
            </a:r>
            <a:r>
              <a:rPr lang="tr-TR" i="1" dirty="0"/>
              <a:t>hole</a:t>
            </a:r>
            <a:r>
              <a:rPr lang="tr-TR" dirty="0"/>
              <a:t>) oluşur.</a:t>
            </a:r>
          </a:p>
          <a:p>
            <a:r>
              <a:rPr lang="tr-TR" dirty="0"/>
              <a:t>Windows </a:t>
            </a:r>
          </a:p>
          <a:p>
            <a:pPr lvl="1"/>
            <a:r>
              <a:rPr lang="tr-TR" i="1" dirty="0" err="1"/>
              <a:t>defrag</a:t>
            </a:r>
            <a:r>
              <a:rPr lang="tr-TR" dirty="0"/>
              <a:t>, bir dosyanın farklı bloklarını bir araya getirir.</a:t>
            </a:r>
          </a:p>
          <a:p>
            <a:r>
              <a:rPr lang="tr-TR" dirty="0"/>
              <a:t>Linux </a:t>
            </a:r>
          </a:p>
          <a:p>
            <a:pPr lvl="1"/>
            <a:r>
              <a:rPr lang="tr-TR" i="1" dirty="0" err="1"/>
              <a:t>defrag</a:t>
            </a:r>
            <a:r>
              <a:rPr lang="tr-TR" dirty="0"/>
              <a:t> işlemini desteklemez. </a:t>
            </a:r>
          </a:p>
          <a:p>
            <a:pPr lvl="1"/>
            <a:r>
              <a:rPr lang="tr-TR" dirty="0"/>
              <a:t>Farklı dosyalar birbirine uzak yerleştirilir.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6865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MS-DOS Dosya Sistemi Dizini 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99</a:t>
            </a:fld>
            <a:endParaRPr lang="en-US" dirty="0"/>
          </a:p>
        </p:txBody>
      </p:sp>
      <p:pic>
        <p:nvPicPr>
          <p:cNvPr id="7" name="Picture 6" descr="D:\b\b4\IBM\04-3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9337" y="2683284"/>
            <a:ext cx="7553325" cy="20923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161440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File </a:t>
            </a:r>
            <a:r>
              <a:rPr lang="tr-TR" dirty="0" err="1"/>
              <a:t>Allocation</a:t>
            </a:r>
            <a:r>
              <a:rPr lang="tr-TR" dirty="0"/>
              <a:t> </a:t>
            </a:r>
            <a:r>
              <a:rPr lang="tr-TR" dirty="0" err="1"/>
              <a:t>Table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B119AC-E5F4-496B-8F1B-213A20BFA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6000" y="1312305"/>
            <a:ext cx="5760000" cy="50440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575103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UNIX i-</a:t>
            </a:r>
            <a:r>
              <a:rPr lang="tr-TR" dirty="0" err="1"/>
              <a:t>node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101</a:t>
            </a:fld>
            <a:endParaRPr lang="en-US" dirty="0"/>
          </a:p>
        </p:txBody>
      </p:sp>
      <p:pic>
        <p:nvPicPr>
          <p:cNvPr id="8" name="Picture 6" descr="D:\b\b4\IBM\04-3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771700"/>
            <a:ext cx="7010400" cy="4368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082585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/</a:t>
            </a:r>
            <a:r>
              <a:rPr lang="tr-TR" dirty="0" err="1"/>
              <a:t>usr</a:t>
            </a:r>
            <a:r>
              <a:rPr lang="tr-TR" dirty="0"/>
              <a:t>/ast/</a:t>
            </a:r>
            <a:r>
              <a:rPr lang="tr-TR" dirty="0" err="1"/>
              <a:t>mbox.conf</a:t>
            </a:r>
            <a:r>
              <a:rPr lang="tr-TR" dirty="0"/>
              <a:t> Arama Adımları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102</a:t>
            </a:fld>
            <a:endParaRPr lang="en-US" dirty="0"/>
          </a:p>
        </p:txBody>
      </p:sp>
      <p:pic>
        <p:nvPicPr>
          <p:cNvPr id="8" name="Picture 6" descr="D:\b\b4\IBM\04-3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3626" y="1763713"/>
            <a:ext cx="7715250" cy="4457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409550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pPr marL="0" indent="0" algn="ctr">
              <a:buNone/>
            </a:pPr>
            <a:r>
              <a:rPr lang="tr-TR" dirty="0"/>
              <a:t>SON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9277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3842</TotalTime>
  <Words>6355</Words>
  <Application>Microsoft Office PowerPoint</Application>
  <PresentationFormat>Widescreen</PresentationFormat>
  <Paragraphs>1008</Paragraphs>
  <Slides>103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103</vt:i4>
      </vt:variant>
    </vt:vector>
  </HeadingPairs>
  <TitlesOfParts>
    <vt:vector size="109" baseType="lpstr">
      <vt:lpstr>Arial</vt:lpstr>
      <vt:lpstr>Calibri</vt:lpstr>
      <vt:lpstr>Calibri Light</vt:lpstr>
      <vt:lpstr>Consolas</vt:lpstr>
      <vt:lpstr>Wingdings</vt:lpstr>
      <vt:lpstr>1_Office Theme</vt:lpstr>
      <vt:lpstr>Bölüm 10: Dosya Sistemleri</vt:lpstr>
      <vt:lpstr>Dosya Sistemleri</vt:lpstr>
      <vt:lpstr>Dosya Sistemi</vt:lpstr>
      <vt:lpstr>Dosya Sistemleri</vt:lpstr>
      <vt:lpstr>Dosya Sistemleri</vt:lpstr>
      <vt:lpstr>Adlandırma</vt:lpstr>
      <vt:lpstr>Sonek Örnekleri</vt:lpstr>
      <vt:lpstr>Uzantılar ve Açılımları</vt:lpstr>
      <vt:lpstr>Uzantılar ve Açılımları</vt:lpstr>
      <vt:lpstr>Uzantılar ve Açılımları</vt:lpstr>
      <vt:lpstr>Uzantılar ve Açılımları</vt:lpstr>
      <vt:lpstr>Dosya Yapısı</vt:lpstr>
      <vt:lpstr>Dosya Yapısı</vt:lpstr>
      <vt:lpstr>Dosya Tipleri</vt:lpstr>
      <vt:lpstr>Normal Dosyalar</vt:lpstr>
      <vt:lpstr>İkili Dosya Tipleri</vt:lpstr>
      <vt:lpstr>İkili Dosya Tipleri</vt:lpstr>
      <vt:lpstr>Dosya Erişimi</vt:lpstr>
      <vt:lpstr>Dosya Öznitelikleri</vt:lpstr>
      <vt:lpstr>Dosya Öznitelikleri</vt:lpstr>
      <vt:lpstr>Stat Veri Yapısı</vt:lpstr>
      <vt:lpstr>Dosya Öznitelikleri</vt:lpstr>
      <vt:lpstr>Dosya Öznitelikleri</vt:lpstr>
      <vt:lpstr>Dosyalar için Sistem Çağrıları</vt:lpstr>
      <vt:lpstr>Dosyalar için Sistem Çağrıları</vt:lpstr>
      <vt:lpstr>Dosya Kopyalama – copy abc xyz</vt:lpstr>
      <vt:lpstr>Dosya Kopyalama – copy abc xyz</vt:lpstr>
      <vt:lpstr>Dizinler</vt:lpstr>
      <vt:lpstr>Dört Dosya İçeren Tek Düzeyli Dizin</vt:lpstr>
      <vt:lpstr>Hiyerarşik Dizin Sistemleri</vt:lpstr>
      <vt:lpstr>Yol (Path) Adları</vt:lpstr>
      <vt:lpstr>UNIX Dizin Ağacı</vt:lpstr>
      <vt:lpstr>Dizin İşlemleri</vt:lpstr>
      <vt:lpstr>Disk Yapısı</vt:lpstr>
      <vt:lpstr>Bilgisayar Açılış (Boot)</vt:lpstr>
      <vt:lpstr>Dosya Sistemi Düzeni (Layout)</vt:lpstr>
      <vt:lpstr>Dosya Sistemi Düzeni (Layout)</vt:lpstr>
      <vt:lpstr>Dosya Sistemi Düzeni (Layout)</vt:lpstr>
      <vt:lpstr>Blokların Dosyalara Tahsisi</vt:lpstr>
      <vt:lpstr>Bitişik Yer Tahsisi</vt:lpstr>
      <vt:lpstr>Bitişik Yer Tahsisi</vt:lpstr>
      <vt:lpstr>Bağlı Liste Kullanılarak Yer Tahsisi</vt:lpstr>
      <vt:lpstr>Bağlı Liste Kullanılarak Yer Tahsisi</vt:lpstr>
      <vt:lpstr>Tablo Kullanılarak Yer Tahsisi</vt:lpstr>
      <vt:lpstr>Tablo Kullanılarak Yer Tahsisi</vt:lpstr>
      <vt:lpstr>Tablo Kullanılarak Yer Tahsisi</vt:lpstr>
      <vt:lpstr>I-nodes</vt:lpstr>
      <vt:lpstr>I-nodes</vt:lpstr>
      <vt:lpstr>Örnek I-node</vt:lpstr>
      <vt:lpstr>Dizinler</vt:lpstr>
      <vt:lpstr>Dizinler</vt:lpstr>
      <vt:lpstr>Dizinler</vt:lpstr>
      <vt:lpstr>Dizinler - Uzun Dosya Adları</vt:lpstr>
      <vt:lpstr>Paylaşımlı Dosyalar</vt:lpstr>
      <vt:lpstr>Paylaşımlı Dosyalar</vt:lpstr>
      <vt:lpstr>I-node Problem</vt:lpstr>
      <vt:lpstr>I-node Problem</vt:lpstr>
      <vt:lpstr>Günlük Olarak Yapılandırılmış Dosya Sistemi</vt:lpstr>
      <vt:lpstr>Günlük Olarak Yapılandırılmış Dosya Sistemi</vt:lpstr>
      <vt:lpstr>Günlük Olarak Yapılandırılmış Dosya Sistemi</vt:lpstr>
      <vt:lpstr>Günlük Olarak Yapılandırılmış Dosya Sistemi</vt:lpstr>
      <vt:lpstr>Günlük (journaling) Dosya Sistemleri</vt:lpstr>
      <vt:lpstr>Günlük (journaling) Dosya Sistemleri</vt:lpstr>
      <vt:lpstr>Günlük (journaling) Dosya Sistemleri</vt:lpstr>
      <vt:lpstr>Günlük (journaling) Dosya Sistemleri</vt:lpstr>
      <vt:lpstr>Sanal Dosya Sistemleri</vt:lpstr>
      <vt:lpstr>Sanal Dosya Sistemleri</vt:lpstr>
      <vt:lpstr>Sanal Dosya Sistemleri</vt:lpstr>
      <vt:lpstr>Sanal Dosya Sistemi Nasıl Çalışır</vt:lpstr>
      <vt:lpstr>Sanal Dosya Sistemleri</vt:lpstr>
      <vt:lpstr>Ağ Dosya Sistemi</vt:lpstr>
      <vt:lpstr>Ağ Dosya Sistemi</vt:lpstr>
      <vt:lpstr>Dosya Sistemi Yönetimi ve Optimizasyonu</vt:lpstr>
      <vt:lpstr>Disk Alanı Yönetimi</vt:lpstr>
      <vt:lpstr>Disk Alanı Yönetimi</vt:lpstr>
      <vt:lpstr>Disk Alanı Yönetimi</vt:lpstr>
      <vt:lpstr>Disk Alanı Yönetimi</vt:lpstr>
      <vt:lpstr>Boş Blokların İzini Tutma</vt:lpstr>
      <vt:lpstr>Boş Blokların İzini Tutma</vt:lpstr>
      <vt:lpstr>Disk Kotaları</vt:lpstr>
      <vt:lpstr>Disk Kotaları</vt:lpstr>
      <vt:lpstr>Dosya Sistemi Yedeklemeler</vt:lpstr>
      <vt:lpstr>Kademeli Olarak Yedekleme</vt:lpstr>
      <vt:lpstr>Döküm Stratejileri - Fiziksel</vt:lpstr>
      <vt:lpstr>Döküm Stratejileri - Fiziksel</vt:lpstr>
      <vt:lpstr>Döküm Stratejileri - Mantıksal</vt:lpstr>
      <vt:lpstr>Dosya Sistemi Yedekleme</vt:lpstr>
      <vt:lpstr>Mantıksal Döküm Algoritması</vt:lpstr>
      <vt:lpstr>Diskteki Dosyayı Geri Yükleme</vt:lpstr>
      <vt:lpstr>Dosya Sistemi Tutarlılığı</vt:lpstr>
      <vt:lpstr>Dosya Sistemi Tutarlılığı</vt:lpstr>
      <vt:lpstr>Dosya Sistemi Tutarlılığı Çözüm</vt:lpstr>
      <vt:lpstr>Dosya Sistemi Tutarlılığı</vt:lpstr>
      <vt:lpstr>Dosya Sistemi Performansı</vt:lpstr>
      <vt:lpstr>İleriyi Okuma (Read Ahead)</vt:lpstr>
      <vt:lpstr>Disk Kol Hareketini Azaltmak</vt:lpstr>
      <vt:lpstr>Kol Hareketini Azaltmak</vt:lpstr>
      <vt:lpstr>Diski Birleştirme (Defragmentation)</vt:lpstr>
      <vt:lpstr>MS-DOS Dosya Sistemi Dizini  </vt:lpstr>
      <vt:lpstr>File Allocation Table</vt:lpstr>
      <vt:lpstr>UNIX i-node</vt:lpstr>
      <vt:lpstr>/usr/ast/mbox.conf Arama Adımları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Dosya Sistemleri</dc:title>
  <dc:creator>sercan</dc:creator>
  <cp:lastModifiedBy>Sercan Kulcu</cp:lastModifiedBy>
  <cp:revision>406</cp:revision>
  <dcterms:created xsi:type="dcterms:W3CDTF">2023-01-12T09:23:55Z</dcterms:created>
  <dcterms:modified xsi:type="dcterms:W3CDTF">2026-05-05T05:57:29Z</dcterms:modified>
</cp:coreProperties>
</file>