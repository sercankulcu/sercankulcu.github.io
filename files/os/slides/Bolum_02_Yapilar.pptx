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69"/>
  </p:notesMasterIdLst>
  <p:sldIdLst>
    <p:sldId id="256" r:id="rId2"/>
    <p:sldId id="397" r:id="rId3"/>
    <p:sldId id="396" r:id="rId4"/>
    <p:sldId id="413" r:id="rId5"/>
    <p:sldId id="398" r:id="rId6"/>
    <p:sldId id="399" r:id="rId7"/>
    <p:sldId id="406" r:id="rId8"/>
    <p:sldId id="418" r:id="rId9"/>
    <p:sldId id="419" r:id="rId10"/>
    <p:sldId id="400" r:id="rId11"/>
    <p:sldId id="407" r:id="rId12"/>
    <p:sldId id="420" r:id="rId13"/>
    <p:sldId id="421" r:id="rId14"/>
    <p:sldId id="422" r:id="rId15"/>
    <p:sldId id="424" r:id="rId16"/>
    <p:sldId id="416" r:id="rId17"/>
    <p:sldId id="417" r:id="rId18"/>
    <p:sldId id="408" r:id="rId19"/>
    <p:sldId id="401" r:id="rId20"/>
    <p:sldId id="402" r:id="rId21"/>
    <p:sldId id="409" r:id="rId22"/>
    <p:sldId id="403" r:id="rId23"/>
    <p:sldId id="410" r:id="rId24"/>
    <p:sldId id="404" r:id="rId25"/>
    <p:sldId id="411" r:id="rId26"/>
    <p:sldId id="373" r:id="rId27"/>
    <p:sldId id="280" r:id="rId28"/>
    <p:sldId id="281" r:id="rId29"/>
    <p:sldId id="325" r:id="rId30"/>
    <p:sldId id="282" r:id="rId31"/>
    <p:sldId id="283" r:id="rId32"/>
    <p:sldId id="289" r:id="rId33"/>
    <p:sldId id="389" r:id="rId34"/>
    <p:sldId id="290" r:id="rId35"/>
    <p:sldId id="390" r:id="rId36"/>
    <p:sldId id="291" r:id="rId37"/>
    <p:sldId id="380" r:id="rId38"/>
    <p:sldId id="392" r:id="rId39"/>
    <p:sldId id="292" r:id="rId40"/>
    <p:sldId id="381" r:id="rId41"/>
    <p:sldId id="382" r:id="rId42"/>
    <p:sldId id="391" r:id="rId43"/>
    <p:sldId id="293" r:id="rId44"/>
    <p:sldId id="294" r:id="rId45"/>
    <p:sldId id="295" r:id="rId46"/>
    <p:sldId id="296" r:id="rId47"/>
    <p:sldId id="297" r:id="rId48"/>
    <p:sldId id="383" r:id="rId49"/>
    <p:sldId id="393" r:id="rId50"/>
    <p:sldId id="298" r:id="rId51"/>
    <p:sldId id="299" r:id="rId52"/>
    <p:sldId id="300" r:id="rId53"/>
    <p:sldId id="353" r:id="rId54"/>
    <p:sldId id="301" r:id="rId55"/>
    <p:sldId id="302" r:id="rId56"/>
    <p:sldId id="308" r:id="rId57"/>
    <p:sldId id="376" r:id="rId58"/>
    <p:sldId id="375" r:id="rId59"/>
    <p:sldId id="387" r:id="rId60"/>
    <p:sldId id="414" r:id="rId61"/>
    <p:sldId id="415" r:id="rId62"/>
    <p:sldId id="309" r:id="rId63"/>
    <p:sldId id="310" r:id="rId64"/>
    <p:sldId id="394" r:id="rId65"/>
    <p:sldId id="395" r:id="rId66"/>
    <p:sldId id="423" r:id="rId67"/>
    <p:sldId id="31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5.04.2025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2: Yapılar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Yapıları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Farklı işletim sistemi bileşenleri,</a:t>
            </a:r>
          </a:p>
          <a:p>
            <a:pPr lvl="1"/>
            <a:r>
              <a:rPr lang="tr-TR" dirty="0"/>
              <a:t>çekirdek içinde nasıl entegre edilecek?</a:t>
            </a:r>
          </a:p>
          <a:p>
            <a:pPr lvl="1"/>
            <a:r>
              <a:rPr lang="tr-TR" dirty="0"/>
              <a:t>bu strateji, işletim sistemi yapısı olarak adlandırılır.</a:t>
            </a:r>
          </a:p>
          <a:p>
            <a:r>
              <a:rPr lang="tr-TR" dirty="0"/>
              <a:t>Bu yapı, </a:t>
            </a:r>
          </a:p>
          <a:p>
            <a:pPr lvl="1"/>
            <a:r>
              <a:rPr lang="tr-TR" dirty="0"/>
              <a:t>işletim sisteminin nasıl çalıştığını ve </a:t>
            </a:r>
          </a:p>
          <a:p>
            <a:pPr lvl="1"/>
            <a:r>
              <a:rPr lang="tr-TR" dirty="0"/>
              <a:t>bileşenlerinin birbiriyle nasıl etkileşime girdiğini belirler.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15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Yapılandırma Önemli?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sistemi, uygulamaların donanım ile iletişim kurmasını sağlar.</a:t>
            </a:r>
          </a:p>
          <a:p>
            <a:pPr lvl="1"/>
            <a:r>
              <a:rPr lang="tr-TR" dirty="0"/>
              <a:t>Karmaşık tasarım,</a:t>
            </a:r>
          </a:p>
          <a:p>
            <a:pPr lvl="1"/>
            <a:r>
              <a:rPr lang="tr-TR" dirty="0"/>
              <a:t>Kullanım kolaylığı,</a:t>
            </a:r>
          </a:p>
          <a:p>
            <a:pPr lvl="1"/>
            <a:r>
              <a:rPr lang="tr-TR" dirty="0" err="1"/>
              <a:t>Değiştirilebilirlik</a:t>
            </a:r>
            <a:r>
              <a:rPr lang="tr-TR" dirty="0"/>
              <a:t> ihtiyacı, </a:t>
            </a:r>
          </a:p>
          <a:p>
            <a:pPr lvl="1"/>
            <a:r>
              <a:rPr lang="tr-TR" dirty="0"/>
              <a:t>İşletim sistemini özenle inşa etmeyi gerektirir.</a:t>
            </a:r>
          </a:p>
          <a:p>
            <a:r>
              <a:rPr lang="tr-TR" dirty="0"/>
              <a:t>Her bir yapı, </a:t>
            </a:r>
          </a:p>
          <a:p>
            <a:pPr lvl="1"/>
            <a:r>
              <a:rPr lang="tr-TR" dirty="0"/>
              <a:t>Bazı avantajlar sunar ve </a:t>
            </a:r>
          </a:p>
          <a:p>
            <a:pPr lvl="1"/>
            <a:r>
              <a:rPr lang="tr-TR" dirty="0"/>
              <a:t>Belirli kullanım senaryolarına uygun çözümler sağlar.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95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Servisleri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6000" y="1863519"/>
            <a:ext cx="8640000" cy="43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8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Yapıları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Basit/</a:t>
            </a:r>
            <a:r>
              <a:rPr lang="tr-TR" dirty="0" err="1"/>
              <a:t>Monolitik</a:t>
            </a:r>
            <a:r>
              <a:rPr lang="tr-TR" dirty="0"/>
              <a:t> Yapı (</a:t>
            </a:r>
            <a:r>
              <a:rPr lang="tr-TR" i="1" dirty="0"/>
              <a:t>Simple/</a:t>
            </a:r>
            <a:r>
              <a:rPr lang="tr-TR" i="1" dirty="0" err="1"/>
              <a:t>Monolithic</a:t>
            </a:r>
            <a:r>
              <a:rPr lang="tr-TR" i="1" dirty="0"/>
              <a:t> </a:t>
            </a:r>
            <a:r>
              <a:rPr lang="tr-TR" i="1" dirty="0" err="1"/>
              <a:t>Structure</a:t>
            </a:r>
            <a:r>
              <a:rPr lang="tr-TR" dirty="0"/>
              <a:t>)</a:t>
            </a:r>
          </a:p>
          <a:p>
            <a:r>
              <a:rPr lang="tr-TR" dirty="0" err="1"/>
              <a:t>Mikroçekirdek</a:t>
            </a:r>
            <a:r>
              <a:rPr lang="tr-TR" dirty="0"/>
              <a:t> Yapı (</a:t>
            </a:r>
            <a:r>
              <a:rPr lang="tr-TR" i="1" dirty="0"/>
              <a:t>Micro-</a:t>
            </a:r>
            <a:r>
              <a:rPr lang="tr-TR" i="1" dirty="0" err="1"/>
              <a:t>Kernel</a:t>
            </a:r>
            <a:r>
              <a:rPr lang="tr-TR" i="1" dirty="0"/>
              <a:t> </a:t>
            </a:r>
            <a:r>
              <a:rPr lang="tr-TR" i="1" dirty="0" err="1"/>
              <a:t>Structure</a:t>
            </a:r>
            <a:r>
              <a:rPr lang="tr-TR" dirty="0"/>
              <a:t>)</a:t>
            </a:r>
          </a:p>
          <a:p>
            <a:r>
              <a:rPr lang="tr-TR" dirty="0" err="1"/>
              <a:t>Hibrit</a:t>
            </a:r>
            <a:r>
              <a:rPr lang="tr-TR" dirty="0"/>
              <a:t>-Çekirdek Yapı (</a:t>
            </a:r>
            <a:r>
              <a:rPr lang="tr-TR" i="1" dirty="0" err="1"/>
              <a:t>Hybrid-Kernel</a:t>
            </a:r>
            <a:r>
              <a:rPr lang="tr-TR" i="1" dirty="0"/>
              <a:t> </a:t>
            </a:r>
            <a:r>
              <a:rPr lang="tr-TR" i="1" dirty="0" err="1"/>
              <a:t>Structure</a:t>
            </a:r>
            <a:r>
              <a:rPr lang="tr-TR" dirty="0"/>
              <a:t>)</a:t>
            </a:r>
          </a:p>
          <a:p>
            <a:r>
              <a:rPr lang="tr-TR" dirty="0" err="1"/>
              <a:t>Exo</a:t>
            </a:r>
            <a:r>
              <a:rPr lang="tr-TR" dirty="0"/>
              <a:t>-Çekirdek Yapı (</a:t>
            </a:r>
            <a:r>
              <a:rPr lang="tr-TR" i="1" dirty="0" err="1"/>
              <a:t>Exo-Kernel</a:t>
            </a:r>
            <a:r>
              <a:rPr lang="tr-TR" i="1" dirty="0"/>
              <a:t> </a:t>
            </a:r>
            <a:r>
              <a:rPr lang="tr-TR" i="1" dirty="0" err="1"/>
              <a:t>Structure</a:t>
            </a:r>
            <a:r>
              <a:rPr lang="tr-TR" dirty="0"/>
              <a:t>)</a:t>
            </a:r>
          </a:p>
          <a:p>
            <a:r>
              <a:rPr lang="tr-TR" dirty="0"/>
              <a:t>Katmanlı Yapı (</a:t>
            </a:r>
            <a:r>
              <a:rPr lang="tr-TR" i="1" dirty="0" err="1"/>
              <a:t>Layered</a:t>
            </a:r>
            <a:r>
              <a:rPr lang="tr-TR" i="1" dirty="0"/>
              <a:t> </a:t>
            </a:r>
            <a:r>
              <a:rPr lang="tr-TR" i="1" dirty="0" err="1"/>
              <a:t>Structure</a:t>
            </a:r>
            <a:r>
              <a:rPr lang="tr-TR" dirty="0"/>
              <a:t>)</a:t>
            </a:r>
          </a:p>
          <a:p>
            <a:r>
              <a:rPr lang="tr-TR" dirty="0"/>
              <a:t>Modüler Yapı (</a:t>
            </a:r>
            <a:r>
              <a:rPr lang="tr-TR" i="1" dirty="0"/>
              <a:t>Modular </a:t>
            </a:r>
            <a:r>
              <a:rPr lang="tr-TR" i="1" dirty="0" err="1"/>
              <a:t>Structure</a:t>
            </a:r>
            <a:r>
              <a:rPr lang="tr-TR" dirty="0"/>
              <a:t>)</a:t>
            </a:r>
          </a:p>
          <a:p>
            <a:r>
              <a:rPr lang="tr-TR" dirty="0"/>
              <a:t>Sanal Makineler (</a:t>
            </a:r>
            <a:r>
              <a:rPr lang="tr-TR" i="1" dirty="0"/>
              <a:t>Virtual </a:t>
            </a:r>
            <a:r>
              <a:rPr lang="tr-TR" i="1" dirty="0" err="1"/>
              <a:t>Machines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4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Basit/</a:t>
            </a:r>
            <a:r>
              <a:rPr lang="tr-TR" dirty="0" err="1"/>
              <a:t>Monolitik</a:t>
            </a:r>
            <a:r>
              <a:rPr lang="tr-TR" dirty="0"/>
              <a:t> 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Belirgin bir yapı yok, küçük, basit ve sınırlı.</a:t>
            </a:r>
          </a:p>
          <a:p>
            <a:r>
              <a:rPr lang="tr-TR" dirty="0" err="1"/>
              <a:t>Arayüzler</a:t>
            </a:r>
            <a:r>
              <a:rPr lang="tr-TR" dirty="0"/>
              <a:t> ve işlevsellik seviyeleri iyi bir şekilde ayrılmamış. </a:t>
            </a:r>
          </a:p>
          <a:p>
            <a:r>
              <a:rPr lang="tr-TR" dirty="0"/>
              <a:t>MS-DOS, bu tip bir işletim sistemine örnektir.</a:t>
            </a:r>
          </a:p>
          <a:p>
            <a:r>
              <a:rPr lang="tr-TR" dirty="0"/>
              <a:t>MS-DOS'ta, uygulama programları temel giriş/çıkış rutinlerine erişebilir. </a:t>
            </a:r>
          </a:p>
          <a:p>
            <a:r>
              <a:rPr lang="tr-TR" dirty="0"/>
              <a:t>Kullanıcı programlarından biri tüm sistemi çökertebilir.</a:t>
            </a:r>
          </a:p>
          <a:p>
            <a:r>
              <a:rPr lang="tr-TR" dirty="0"/>
              <a:t>Modüller arasında belirgin sınırlar olmadığı için yapı karmaşık.</a:t>
            </a:r>
          </a:p>
          <a:p>
            <a:r>
              <a:rPr lang="tr-TR" dirty="0"/>
              <a:t>İşletim sistemi içinde veri gizlemeyi (</a:t>
            </a:r>
            <a:r>
              <a:rPr lang="tr-TR" i="1" dirty="0"/>
              <a:t>data </a:t>
            </a:r>
            <a:r>
              <a:rPr lang="tr-TR" i="1" dirty="0" err="1"/>
              <a:t>hiding</a:t>
            </a:r>
            <a:r>
              <a:rPr lang="tr-TR" dirty="0"/>
              <a:t>) zorunlu kılmaz.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5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Basit/</a:t>
            </a:r>
            <a:r>
              <a:rPr lang="tr-TR" dirty="0" err="1"/>
              <a:t>Monolitik</a:t>
            </a:r>
            <a:r>
              <a:rPr lang="tr-TR" dirty="0"/>
              <a:t> Yapı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3337" y="1905794"/>
            <a:ext cx="4505325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0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Monolitik</a:t>
            </a:r>
            <a:r>
              <a:rPr lang="tr-TR" dirty="0"/>
              <a:t>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sisteminin temel yapısı,</a:t>
            </a:r>
          </a:p>
          <a:p>
            <a:pPr lvl="1"/>
            <a:r>
              <a:rPr lang="tr-TR" dirty="0"/>
              <a:t>İstenen hizmet prosedürünü başlatan </a:t>
            </a:r>
            <a:r>
              <a:rPr lang="tr-TR" i="1" dirty="0"/>
              <a:t>ana program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Sistem çağrılarını gerçekleştiren bir dizi </a:t>
            </a:r>
            <a:r>
              <a:rPr lang="tr-TR" i="1" dirty="0"/>
              <a:t>hizmet prosedürü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Hizmet prosedürlerine yardımcı olan bir dizi </a:t>
            </a:r>
            <a:r>
              <a:rPr lang="tr-TR" i="1" dirty="0"/>
              <a:t>yardımcı prosedür</a:t>
            </a:r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47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Monolitik</a:t>
            </a:r>
            <a:r>
              <a:rPr lang="tr-TR" dirty="0"/>
              <a:t> Sistem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257" y="1993509"/>
            <a:ext cx="8671486" cy="39558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7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Mikroçekirdek</a:t>
            </a:r>
            <a:r>
              <a:rPr lang="tr-TR" dirty="0"/>
              <a:t> 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Gereksiz bileşenler çekirdekten çıkarılarak tasarlanır.</a:t>
            </a:r>
          </a:p>
          <a:p>
            <a:r>
              <a:rPr lang="tr-TR" dirty="0"/>
              <a:t>Çıkan bileşenler sistem ve kullanıcı programları olarak uygulanır.</a:t>
            </a:r>
          </a:p>
          <a:p>
            <a:r>
              <a:rPr lang="tr-TR" dirty="0"/>
              <a:t>Daha küçük bir çekirdek (</a:t>
            </a:r>
            <a:r>
              <a:rPr lang="tr-TR" i="1" dirty="0" err="1"/>
              <a:t>micro-kernel</a:t>
            </a:r>
            <a:r>
              <a:rPr lang="tr-TR" dirty="0"/>
              <a:t>) elde edilir.</a:t>
            </a:r>
          </a:p>
          <a:p>
            <a:r>
              <a:rPr lang="tr-TR" dirty="0"/>
              <a:t>Tüm yeni hizmetler kullanıcı alanına eklenir, çekirdek değişmeden kalır.</a:t>
            </a:r>
          </a:p>
          <a:p>
            <a:r>
              <a:rPr lang="tr-TR" dirty="0"/>
              <a:t>Daha güvenli ve güvenilir bir yapı sunar. </a:t>
            </a:r>
          </a:p>
          <a:p>
            <a:r>
              <a:rPr lang="tr-TR" dirty="0"/>
              <a:t>Mac OS, bu tür bir işletim sistemine örnektir.</a:t>
            </a:r>
          </a:p>
          <a:p>
            <a:r>
              <a:rPr lang="tr-TR" dirty="0"/>
              <a:t>İşletim sistemini çeşitli platformlara taşınabilir hale getirir.</a:t>
            </a:r>
          </a:p>
          <a:p>
            <a:r>
              <a:rPr lang="tr-TR" dirty="0" err="1"/>
              <a:t>Microkernel'lar</a:t>
            </a:r>
            <a:r>
              <a:rPr lang="tr-TR" dirty="0"/>
              <a:t> küçük olduğu için etkili bir şekilde test edilebilir.</a:t>
            </a:r>
          </a:p>
          <a:p>
            <a:r>
              <a:rPr lang="tr-TR" dirty="0"/>
              <a:t>Modül arası iletişimin artması sistem performansını düşürebilir.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11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Mikroçekirdek</a:t>
            </a:r>
            <a:r>
              <a:rPr lang="tr-TR" dirty="0"/>
              <a:t> Yapı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6625" y="2139156"/>
            <a:ext cx="5238750" cy="3724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50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Mikro Çekirdek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Çekirdekte az sayıda sürecin yürütülmesine izin verilir.</a:t>
            </a:r>
          </a:p>
          <a:p>
            <a:r>
              <a:rPr lang="tr-TR" dirty="0"/>
              <a:t>Hataların etkilerini en aza indirir.</a:t>
            </a:r>
          </a:p>
          <a:p>
            <a:pPr lvl="1"/>
            <a:r>
              <a:rPr lang="tr-TR" dirty="0"/>
              <a:t>Sürücüdeki bir hatanın sistemi çökertmesi istenmez.</a:t>
            </a:r>
          </a:p>
          <a:p>
            <a:r>
              <a:rPr lang="tr-TR" dirty="0"/>
              <a:t>Mekanizma çekirdekte, ilke (</a:t>
            </a:r>
            <a:r>
              <a:rPr lang="tr-TR" dirty="0" err="1"/>
              <a:t>policy</a:t>
            </a:r>
            <a:r>
              <a:rPr lang="tr-TR" dirty="0"/>
              <a:t>) çekirdeğin dışındadır.</a:t>
            </a:r>
          </a:p>
          <a:p>
            <a:pPr lvl="1"/>
            <a:r>
              <a:rPr lang="tr-TR" dirty="0"/>
              <a:t>Mekanizma, işlemler önceliklerine göre çizelgelenir (</a:t>
            </a:r>
            <a:r>
              <a:rPr lang="tr-TR" i="1" dirty="0" err="1"/>
              <a:t>kernel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İlke, işlem öncelikleri kullanıcı modunda tanımlanır (</a:t>
            </a:r>
            <a:r>
              <a:rPr lang="tr-TR" i="1" dirty="0" err="1"/>
              <a:t>user</a:t>
            </a:r>
            <a:r>
              <a:rPr lang="tr-TR" dirty="0"/>
              <a:t>).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22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Mikro Çekirdek Sistem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349" y="1825625"/>
            <a:ext cx="7947302" cy="410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300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Mikro Çekirdek Sistem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2" descr="2_14.pdf"/>
          <p:cNvPicPr>
            <a:picLocks noChangeAspect="1"/>
          </p:cNvPicPr>
          <p:nvPr/>
        </p:nvPicPr>
        <p:blipFill>
          <a:blip r:embed="rId2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935868"/>
            <a:ext cx="8640000" cy="4180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187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A2C8-5836-1541-89E7-664E9D0E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3F22E-B8A1-0DD0-6BFE-31FF3DA2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C6DB5-52A5-B73A-0300-18546543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AEA39-1520-07AE-7369-0CC45EF0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C90CB4-5ED4-7C49-4194-2C053EFD56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0" y="828949"/>
            <a:ext cx="10080000" cy="520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279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Andrew </a:t>
            </a:r>
            <a:r>
              <a:rPr lang="tr-TR" dirty="0" err="1"/>
              <a:t>Tanenbaum</a:t>
            </a:r>
            <a:r>
              <a:rPr lang="tr-TR" dirty="0"/>
              <a:t> (</a:t>
            </a:r>
            <a:r>
              <a:rPr lang="tr-TR" dirty="0" err="1"/>
              <a:t>Monolitik</a:t>
            </a:r>
            <a:r>
              <a:rPr lang="tr-TR" dirty="0"/>
              <a:t> çekirdek)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Monolitik</a:t>
            </a:r>
            <a:r>
              <a:rPr lang="tr-TR" dirty="0"/>
              <a:t> çekirdeklerin tasarımı ve uygulanması daha basittir.</a:t>
            </a:r>
          </a:p>
          <a:p>
            <a:r>
              <a:rPr lang="tr-TR" dirty="0"/>
              <a:t>Daha bütünleşik bir sistem sağlar.</a:t>
            </a:r>
          </a:p>
          <a:p>
            <a:r>
              <a:rPr lang="tr-TR" dirty="0"/>
              <a:t>Doğrudan işlev çağrıları daha iyi performans sağlar.</a:t>
            </a:r>
          </a:p>
          <a:p>
            <a:r>
              <a:rPr lang="tr-TR" dirty="0"/>
              <a:t>İşlemler arası iletişim gerektirmez.</a:t>
            </a:r>
          </a:p>
          <a:p>
            <a:r>
              <a:rPr lang="tr-TR" dirty="0"/>
              <a:t>Çekirdekteki hatalar tüm sistemi çökertebileceğinden risklidir.!</a:t>
            </a:r>
          </a:p>
          <a:p>
            <a:r>
              <a:rPr lang="tr-TR" dirty="0"/>
              <a:t>Her şeyin tek modülde olması hataları bulmayı ve düzeltmeyi zorlaştırır.!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057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Linus</a:t>
            </a:r>
            <a:r>
              <a:rPr lang="tr-TR" dirty="0"/>
              <a:t> </a:t>
            </a:r>
            <a:r>
              <a:rPr lang="tr-TR" dirty="0" err="1"/>
              <a:t>Torvalds</a:t>
            </a:r>
            <a:r>
              <a:rPr lang="tr-TR" dirty="0"/>
              <a:t> (Mikro Çekirdek)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Mikro çekirdekler daha modüler, esnek ve ölçeklenebilirdir.</a:t>
            </a:r>
          </a:p>
          <a:p>
            <a:r>
              <a:rPr lang="tr-TR" dirty="0"/>
              <a:t>Daha kolay korunabilir ve geliştirilebilir.</a:t>
            </a:r>
          </a:p>
          <a:p>
            <a:r>
              <a:rPr lang="tr-TR" dirty="0"/>
              <a:t>Herhangi bir bileşendeki hatanın verebileceği hasarı sınırlar.</a:t>
            </a:r>
          </a:p>
          <a:p>
            <a:r>
              <a:rPr lang="tr-TR" dirty="0"/>
              <a:t>Daha kararlı ve güvenilirdir.</a:t>
            </a:r>
          </a:p>
          <a:p>
            <a:r>
              <a:rPr lang="tr-TR" dirty="0"/>
              <a:t>Modern bilgisayar mimarileri, mikro çekirdeklerin performans sorunlarının üstesinden gelebilir.!</a:t>
            </a:r>
          </a:p>
          <a:p>
            <a:r>
              <a:rPr lang="tr-TR" dirty="0"/>
              <a:t>Uygun şekilde tasarlanırsa daha iyi performans sunabilir.</a:t>
            </a:r>
          </a:p>
          <a:p>
            <a:r>
              <a:rPr lang="tr-TR" dirty="0"/>
              <a:t>Linux'un açık kaynak geliştirme modeli, hızla gelişmesine ve yaygın olarak kullanılmasına yardımcı oldu.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49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Hibrit</a:t>
            </a:r>
            <a:r>
              <a:rPr lang="tr-TR" dirty="0"/>
              <a:t>-Çekirdek 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Monolitik</a:t>
            </a:r>
            <a:r>
              <a:rPr lang="tr-TR" dirty="0"/>
              <a:t> yapının hız ve tasarımı ile Mikro-çekirdek yapının modülerliği ve kararlılığını birleştirir.</a:t>
            </a:r>
          </a:p>
          <a:p>
            <a:r>
              <a:rPr lang="tr-TR" dirty="0"/>
              <a:t>Kritik işlevleri </a:t>
            </a:r>
            <a:r>
              <a:rPr lang="tr-TR" dirty="0" err="1"/>
              <a:t>micro</a:t>
            </a:r>
            <a:r>
              <a:rPr lang="tr-TR" dirty="0"/>
              <a:t>-çekirdek içinden ayırarak hata ayıklama ve bakım için genel sistem güvenilirliğini artırır.</a:t>
            </a:r>
          </a:p>
          <a:p>
            <a:r>
              <a:rPr lang="tr-TR" dirty="0"/>
              <a:t>Micro-çekirdek yaklaşımını benimseyerek daha iyi izolasyon ve güvenlik sağlar.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614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rcRect t="14011"/>
          <a:stretch/>
        </p:blipFill>
        <p:spPr>
          <a:xfrm>
            <a:off x="1056000" y="900923"/>
            <a:ext cx="10080000" cy="5056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Hibrit</a:t>
            </a:r>
            <a:r>
              <a:rPr lang="tr-TR" dirty="0"/>
              <a:t>-Çekirdek Yapı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886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Exo</a:t>
            </a:r>
            <a:r>
              <a:rPr lang="tr-TR" dirty="0"/>
              <a:t>-Çekirdek 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MIT tarafından geliştirilen bir işletim sistemidir.</a:t>
            </a:r>
          </a:p>
          <a:p>
            <a:r>
              <a:rPr lang="tr-TR" dirty="0"/>
              <a:t>Donanım kaynakları uygulama düzeyinde yönetilir.</a:t>
            </a:r>
          </a:p>
          <a:p>
            <a:r>
              <a:rPr lang="tr-TR" dirty="0"/>
              <a:t>İyileştirilmiş uygulama kontrolü sağlar.</a:t>
            </a:r>
          </a:p>
          <a:p>
            <a:r>
              <a:rPr lang="tr-TR" dirty="0"/>
              <a:t>Yönetimi güvenlikten ayırır.</a:t>
            </a:r>
          </a:p>
          <a:p>
            <a:r>
              <a:rPr lang="tr-TR" dirty="0"/>
              <a:t>Uygulamanın performansını artırır.</a:t>
            </a:r>
          </a:p>
          <a:p>
            <a:r>
              <a:rPr lang="tr-TR" dirty="0"/>
              <a:t>Uygulamaların özel bellek yönetim sistemi kullanmasına olanak tanır.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70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Exo</a:t>
            </a:r>
            <a:r>
              <a:rPr lang="tr-TR" dirty="0"/>
              <a:t>-Çekirdek Yapı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19" y="1825625"/>
            <a:ext cx="7643761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4268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Katmanlı 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sistemi bir dizi katmana (seviye) bölünür.</a:t>
            </a:r>
          </a:p>
          <a:p>
            <a:r>
              <a:rPr lang="tr-TR" dirty="0"/>
              <a:t>En alt katman donanım, en üst katman kullanıcı arayüzüdür.</a:t>
            </a:r>
          </a:p>
          <a:p>
            <a:r>
              <a:rPr lang="tr-TR" dirty="0"/>
              <a:t>Her katman, alt seviyedeki katmanların işlevlerini kullanır.</a:t>
            </a:r>
          </a:p>
          <a:p>
            <a:r>
              <a:rPr lang="tr-TR" dirty="0"/>
              <a:t>Hata ayıklama ve sistem doğrulama kolaydır.</a:t>
            </a:r>
          </a:p>
          <a:p>
            <a:r>
              <a:rPr lang="tr-TR" dirty="0"/>
              <a:t>Hata sadece ilgili katmanda aranır.</a:t>
            </a:r>
          </a:p>
          <a:p>
            <a:r>
              <a:rPr lang="tr-TR" dirty="0"/>
              <a:t>Her katmanda veri değiştirilerek diğer katmana iletilir.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78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Katmanlı Yapı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690688"/>
            <a:ext cx="7200000" cy="4041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00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Modüler 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sistemi için en iyi yaklaşım olarak kabul edilir.</a:t>
            </a:r>
          </a:p>
          <a:p>
            <a:r>
              <a:rPr lang="tr-TR" dirty="0"/>
              <a:t>Çekirdek, yalnızca belirli temel bileşenlere sahiptir.</a:t>
            </a:r>
          </a:p>
          <a:p>
            <a:r>
              <a:rPr lang="tr-TR" dirty="0"/>
              <a:t>Hizmetler, çekirdeğe çalışma zamanında veya önyükleme sırasında modül olarak yüklenir.</a:t>
            </a:r>
          </a:p>
          <a:p>
            <a:r>
              <a:rPr lang="tr-TR" dirty="0"/>
              <a:t>Katmanlı yapıya benzer, çekirdek tanımlanmış </a:t>
            </a:r>
            <a:r>
              <a:rPr lang="tr-TR" dirty="0" err="1"/>
              <a:t>arayüzlere</a:t>
            </a:r>
            <a:r>
              <a:rPr lang="tr-TR" dirty="0"/>
              <a:t> sahip.</a:t>
            </a:r>
          </a:p>
          <a:p>
            <a:r>
              <a:rPr lang="tr-TR" dirty="0"/>
              <a:t>Bir modül başka bir modülü çağırabilir, katmanlı yapıdan daha esnek.</a:t>
            </a:r>
          </a:p>
          <a:p>
            <a:r>
              <a:rPr lang="tr-TR" dirty="0"/>
              <a:t>Örneğin, </a:t>
            </a:r>
            <a:r>
              <a:rPr lang="tr-TR" dirty="0" err="1"/>
              <a:t>Solaris</a:t>
            </a:r>
            <a:r>
              <a:rPr lang="tr-TR" dirty="0"/>
              <a:t> OS bu yapıya sahip.</a:t>
            </a:r>
          </a:p>
          <a:p>
            <a:r>
              <a:rPr lang="tr-TR" dirty="0"/>
              <a:t>Her modülün birbiriyle uyumlu olması </a:t>
            </a:r>
            <a:r>
              <a:rPr lang="tr-TR" i="1" dirty="0"/>
              <a:t>zor</a:t>
            </a:r>
            <a:r>
              <a:rPr lang="tr-TR" dirty="0"/>
              <a:t>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968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Modüler Yapı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1790704"/>
            <a:ext cx="8640000" cy="4059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966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Zamanlayıcı (</a:t>
            </a:r>
            <a:r>
              <a:rPr lang="tr-TR" dirty="0" err="1"/>
              <a:t>timer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Sonsuz döngü hatasını önlemek için kullanılır.</a:t>
            </a:r>
          </a:p>
          <a:p>
            <a:r>
              <a:rPr lang="tr-TR" dirty="0"/>
              <a:t>Belirli bir süre dolduğunda kesme yaratır.</a:t>
            </a:r>
          </a:p>
          <a:p>
            <a:pPr lvl="1"/>
            <a:r>
              <a:rPr lang="tr-TR" dirty="0"/>
              <a:t>Fiziksel saat (</a:t>
            </a:r>
            <a:r>
              <a:rPr lang="tr-TR" i="1" dirty="0" err="1"/>
              <a:t>clock</a:t>
            </a:r>
            <a:r>
              <a:rPr lang="tr-TR" dirty="0"/>
              <a:t>) tarafından azaltılan bir sayaç tutulur.</a:t>
            </a:r>
          </a:p>
          <a:p>
            <a:pPr lvl="1"/>
            <a:r>
              <a:rPr lang="tr-TR" dirty="0"/>
              <a:t>İşletim sistemi sayaca değer atar (</a:t>
            </a:r>
            <a:r>
              <a:rPr lang="tr-TR" i="1" dirty="0"/>
              <a:t>ayrıcalıklı (</a:t>
            </a:r>
            <a:r>
              <a:rPr lang="tr-TR" i="1" dirty="0" err="1"/>
              <a:t>privileged</a:t>
            </a:r>
            <a:r>
              <a:rPr lang="tr-TR" i="1" dirty="0"/>
              <a:t>) talimat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Sayaç sıfır olduğunda kesme üretilir.</a:t>
            </a:r>
          </a:p>
          <a:p>
            <a:pPr lvl="1"/>
            <a:r>
              <a:rPr lang="tr-TR" dirty="0"/>
              <a:t>İşletim sistemi kontrolü tekrar kazanır.</a:t>
            </a:r>
          </a:p>
          <a:p>
            <a:pPr lvl="1"/>
            <a:r>
              <a:rPr lang="tr-TR" dirty="0"/>
              <a:t>Kendisine ayrılan süreyi aşan görevleri sonlandırır.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69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/ İşlemler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 tarafından yürütülen programlardır. </a:t>
            </a:r>
          </a:p>
          <a:p>
            <a:r>
              <a:rPr lang="tr-TR" dirty="0"/>
              <a:t>Bir programın çalıştırılabilmesi için gerekli tüm bilgiyi tutar. </a:t>
            </a:r>
          </a:p>
          <a:p>
            <a:r>
              <a:rPr lang="tr-TR" dirty="0"/>
              <a:t>Süreç tablosunda tutulurlar. </a:t>
            </a:r>
          </a:p>
          <a:p>
            <a:r>
              <a:rPr lang="tr-TR" dirty="0"/>
              <a:t>İşletim sistemi tarafından atanmış kaynaklar (bellek, CPU) ile ilişkilidir. </a:t>
            </a:r>
          </a:p>
          <a:p>
            <a:r>
              <a:rPr lang="tr-TR" dirty="0"/>
              <a:t>Diğer süreçler ile konuşabilirler (</a:t>
            </a:r>
            <a:r>
              <a:rPr lang="tr-TR" i="1" dirty="0"/>
              <a:t>IPC</a:t>
            </a:r>
            <a:r>
              <a:rPr lang="tr-TR" dirty="0"/>
              <a:t>).</a:t>
            </a:r>
          </a:p>
          <a:p>
            <a:r>
              <a:rPr lang="tr-TR" dirty="0"/>
              <a:t>Bellekte saklanır ve yürütülürler. </a:t>
            </a:r>
          </a:p>
          <a:p>
            <a:r>
              <a:rPr lang="tr-TR" dirty="0"/>
              <a:t>Adres uzayı ile ilişkilidir. </a:t>
            </a:r>
          </a:p>
          <a:p>
            <a:r>
              <a:rPr lang="tr-TR" b="1" dirty="0"/>
              <a:t>Adres uzayı</a:t>
            </a:r>
            <a:r>
              <a:rPr lang="tr-TR" dirty="0"/>
              <a:t>: yürütülebilir program, programın verileri ve yığını</a:t>
            </a:r>
          </a:p>
          <a:p>
            <a:r>
              <a:rPr lang="tr-TR" dirty="0"/>
              <a:t>Yazmaçlar, dosyalar, alarmlar, ilgili süreçler…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551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 ağacı. </a:t>
            </a:r>
          </a:p>
          <a:p>
            <a:r>
              <a:rPr lang="tr-TR" dirty="0"/>
              <a:t>A süreci, B ve C olmak üzere 2 çocuk süreç başlatır. </a:t>
            </a:r>
          </a:p>
          <a:p>
            <a:r>
              <a:rPr lang="tr-TR" dirty="0"/>
              <a:t>B süreci D, E ve F olmak üzere 3 çocuk süreç başlatır. </a:t>
            </a:r>
            <a:endParaRPr lang="en-US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393" y="2388448"/>
            <a:ext cx="4319407" cy="3405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4366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 Uzayı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süreç tarafından kullanılan bellek alanı.</a:t>
            </a:r>
          </a:p>
          <a:p>
            <a:r>
              <a:rPr lang="tr-TR" dirty="0"/>
              <a:t>Bellekte aynı anda birden çok süreç bulunur.</a:t>
            </a:r>
          </a:p>
          <a:p>
            <a:r>
              <a:rPr lang="tr-TR" dirty="0"/>
              <a:t>Bazı süreçler, fiziksel olarak mevcut olandan fazla belleğe ihtiyaç duyar.</a:t>
            </a:r>
          </a:p>
          <a:p>
            <a:r>
              <a:rPr lang="tr-TR" dirty="0"/>
              <a:t>Bu durumda, sanal bellek (</a:t>
            </a:r>
            <a:r>
              <a:rPr lang="tr-TR" i="1" dirty="0" err="1"/>
              <a:t>virtual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dirty="0"/>
              <a:t>) kavramı devreye girer.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356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kalıcı olarak depolayan birimler.</a:t>
            </a:r>
          </a:p>
          <a:p>
            <a:r>
              <a:rPr lang="tr-TR" dirty="0"/>
              <a:t>Dosyalar, veri, metin, resim, video, ses ve diğer türlerde olabilir.</a:t>
            </a:r>
          </a:p>
          <a:p>
            <a:r>
              <a:rPr lang="tr-TR" dirty="0"/>
              <a:t>İşletim sistemi tarafından yönetilir.</a:t>
            </a:r>
          </a:p>
          <a:p>
            <a:r>
              <a:rPr lang="tr-TR" dirty="0"/>
              <a:t>İşletim sistemi tarafından belirlenen dizin yapısına göre saklanır.</a:t>
            </a:r>
          </a:p>
          <a:p>
            <a:r>
              <a:rPr lang="tr-TR" dirty="0"/>
              <a:t>Kullanıcılar tarafından erişilebilir, okunabilir, yazılabilir veya silinebilir.</a:t>
            </a:r>
          </a:p>
          <a:p>
            <a:r>
              <a:rPr lang="tr-TR" dirty="0"/>
              <a:t>Blok tabanlı (disk), karakter tabanlı (yazıcı, modem) olabilir.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814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Örnek dosya sistemi.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560" y="1546995"/>
            <a:ext cx="7043800" cy="48149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84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Dosyalar - Bağlama İşlemi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tr-TR" dirty="0"/>
              <a:t>Bağlamadan (</a:t>
            </a:r>
            <a:r>
              <a:rPr lang="tr-TR" i="1" dirty="0" err="1"/>
              <a:t>mount</a:t>
            </a:r>
            <a:r>
              <a:rPr lang="tr-TR" dirty="0"/>
              <a:t>) önce, CD-ROM'daki dosyalara erişilemez. </a:t>
            </a:r>
          </a:p>
          <a:p>
            <a:pPr marL="514350" indent="-514350">
              <a:buAutoNum type="alphaLcParenBoth"/>
            </a:pPr>
            <a:r>
              <a:rPr lang="tr-TR" dirty="0"/>
              <a:t>Bağlandıktan sonra, dosya hiyerarşisinin bir parçasıdırlar.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522" y="2864082"/>
            <a:ext cx="9128956" cy="3424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943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Bağlama (</a:t>
            </a:r>
            <a:r>
              <a:rPr lang="tr-TR" dirty="0" err="1"/>
              <a:t>mount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 err="1"/>
              <a:t>mount</a:t>
            </a:r>
            <a:r>
              <a:rPr lang="tr-TR" dirty="0"/>
              <a:t>, dosya sistemlerini bağlamak ve yönetmek için kullanılan komut.</a:t>
            </a:r>
          </a:p>
          <a:p>
            <a:r>
              <a:rPr lang="tr-TR" dirty="0"/>
              <a:t>Yeni bir depolama birimini sistem içine entegre eder.</a:t>
            </a:r>
          </a:p>
          <a:p>
            <a:r>
              <a:rPr lang="tr-TR" dirty="0" err="1">
                <a:latin typeface="Consolas" panose="020B0609020204030204" pitchFamily="49" charset="0"/>
              </a:rPr>
              <a:t>mount</a:t>
            </a:r>
            <a:r>
              <a:rPr lang="tr-TR" dirty="0">
                <a:latin typeface="Consolas" panose="020B0609020204030204" pitchFamily="49" charset="0"/>
              </a:rPr>
              <a:t> /dev/sdb1 /</a:t>
            </a:r>
            <a:r>
              <a:rPr lang="tr-TR" dirty="0" err="1">
                <a:latin typeface="Consolas" panose="020B0609020204030204" pitchFamily="49" charset="0"/>
              </a:rPr>
              <a:t>mnt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/>
              <a:t>- /dev/sdb1'i /</a:t>
            </a:r>
            <a:r>
              <a:rPr lang="tr-TR" dirty="0" err="1"/>
              <a:t>mnt</a:t>
            </a:r>
            <a:r>
              <a:rPr lang="tr-TR" dirty="0"/>
              <a:t> dizinine bağlar.</a:t>
            </a:r>
          </a:p>
          <a:p>
            <a:r>
              <a:rPr lang="tr-TR" b="1" dirty="0" err="1"/>
              <a:t>ro</a:t>
            </a:r>
            <a:r>
              <a:rPr lang="tr-TR" b="1" dirty="0"/>
              <a:t> (</a:t>
            </a:r>
            <a:r>
              <a:rPr lang="tr-TR" b="1" dirty="0" err="1"/>
              <a:t>read-only</a:t>
            </a:r>
            <a:r>
              <a:rPr lang="tr-TR" b="1" dirty="0"/>
              <a:t>)</a:t>
            </a:r>
            <a:r>
              <a:rPr lang="tr-TR" dirty="0"/>
              <a:t>: Salt okunur bağlama.</a:t>
            </a:r>
          </a:p>
          <a:p>
            <a:r>
              <a:rPr lang="tr-TR" b="1" dirty="0" err="1"/>
              <a:t>rw</a:t>
            </a:r>
            <a:r>
              <a:rPr lang="tr-TR" b="1" dirty="0"/>
              <a:t> (</a:t>
            </a:r>
            <a:r>
              <a:rPr lang="tr-TR" b="1" dirty="0" err="1"/>
              <a:t>read-write</a:t>
            </a:r>
            <a:r>
              <a:rPr lang="tr-TR" b="1" dirty="0"/>
              <a:t>)</a:t>
            </a:r>
            <a:r>
              <a:rPr lang="tr-TR" dirty="0"/>
              <a:t>: Okuma ve yazma izni ile bağlama.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51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2 işlem boru hattı (</a:t>
            </a:r>
            <a:r>
              <a:rPr lang="tr-TR" i="1" dirty="0" err="1"/>
              <a:t>pipe</a:t>
            </a:r>
            <a:r>
              <a:rPr lang="tr-TR" dirty="0"/>
              <a:t>) ile bağlanmış.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Boru hattı, iki işlemi birbirine bağlar.</a:t>
            </a:r>
          </a:p>
          <a:p>
            <a:r>
              <a:rPr lang="tr-TR" dirty="0"/>
              <a:t>Veri gönderip alarak iletişim kurmalarını sağlayan tek yönlü veri kanalıdır.</a:t>
            </a:r>
          </a:p>
          <a:p>
            <a:r>
              <a:rPr lang="tr-TR" b="1" dirty="0"/>
              <a:t>Anonim (</a:t>
            </a:r>
            <a:r>
              <a:rPr lang="tr-TR" b="1" i="1" dirty="0" err="1"/>
              <a:t>anonymous</a:t>
            </a:r>
            <a:r>
              <a:rPr lang="tr-TR" b="1" dirty="0"/>
              <a:t>)</a:t>
            </a:r>
            <a:r>
              <a:rPr lang="tr-TR" dirty="0"/>
              <a:t>, ata ve çocuk işlemler arasında </a:t>
            </a:r>
            <a:r>
              <a:rPr lang="tr-TR" i="1" dirty="0"/>
              <a:t>IPC </a:t>
            </a:r>
            <a:r>
              <a:rPr lang="tr-TR" dirty="0"/>
              <a:t>için kullanılır.</a:t>
            </a:r>
          </a:p>
          <a:p>
            <a:r>
              <a:rPr lang="tr-TR" b="1" dirty="0"/>
              <a:t>Adlandırılmış (</a:t>
            </a:r>
            <a:r>
              <a:rPr lang="tr-TR" b="1" i="1" dirty="0" err="1"/>
              <a:t>named</a:t>
            </a:r>
            <a:r>
              <a:rPr lang="tr-TR" b="1" dirty="0"/>
              <a:t>)</a:t>
            </a:r>
            <a:r>
              <a:rPr lang="tr-TR" dirty="0"/>
              <a:t>, iki ayrı işlem arasında </a:t>
            </a:r>
            <a:r>
              <a:rPr lang="tr-TR" i="1" dirty="0"/>
              <a:t>IPC </a:t>
            </a:r>
            <a:r>
              <a:rPr lang="tr-TR" dirty="0"/>
              <a:t>için kullanılır.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942" y="1492543"/>
            <a:ext cx="3239589" cy="13333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57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Boru Hattı Örneği (</a:t>
            </a:r>
            <a:r>
              <a:rPr lang="tr-TR" dirty="0" err="1"/>
              <a:t>pipe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>
                <a:latin typeface="Consolas" panose="020B0609020204030204" pitchFamily="49" charset="0"/>
              </a:rPr>
              <a:t>ls</a:t>
            </a:r>
            <a:r>
              <a:rPr lang="tr-TR" dirty="0">
                <a:latin typeface="Consolas" panose="020B0609020204030204" pitchFamily="49" charset="0"/>
              </a:rPr>
              <a:t> -l | </a:t>
            </a:r>
            <a:r>
              <a:rPr lang="tr-TR" dirty="0" err="1">
                <a:latin typeface="Consolas" panose="020B0609020204030204" pitchFamily="49" charset="0"/>
              </a:rPr>
              <a:t>grep</a:t>
            </a:r>
            <a:r>
              <a:rPr lang="tr-TR" dirty="0">
                <a:latin typeface="Consolas" panose="020B0609020204030204" pitchFamily="49" charset="0"/>
              </a:rPr>
              <a:t> "</a:t>
            </a:r>
            <a:r>
              <a:rPr lang="tr-TR" dirty="0" err="1">
                <a:latin typeface="Consolas" panose="020B0609020204030204" pitchFamily="49" charset="0"/>
              </a:rPr>
              <a:t>anahtar_kelime</a:t>
            </a:r>
            <a:r>
              <a:rPr lang="tr-TR" dirty="0">
                <a:latin typeface="Consolas" panose="020B0609020204030204" pitchFamily="49" charset="0"/>
              </a:rPr>
              <a:t>"</a:t>
            </a:r>
          </a:p>
          <a:p>
            <a:r>
              <a:rPr lang="tr-TR" dirty="0" err="1"/>
              <a:t>ls</a:t>
            </a:r>
            <a:r>
              <a:rPr lang="tr-TR" dirty="0"/>
              <a:t> komutu ile listelenen dosya/dizinlerin çıktısı,</a:t>
            </a:r>
          </a:p>
          <a:p>
            <a:r>
              <a:rPr lang="tr-TR" dirty="0" err="1"/>
              <a:t>grep</a:t>
            </a:r>
            <a:r>
              <a:rPr lang="tr-TR" dirty="0"/>
              <a:t> komutu ile filtrelenir,</a:t>
            </a:r>
          </a:p>
          <a:p>
            <a:r>
              <a:rPr lang="tr-TR" dirty="0"/>
              <a:t>anahtar kelimeyi içeren satırlar ekrana yazdırılır.</a:t>
            </a:r>
          </a:p>
          <a:p>
            <a:r>
              <a:rPr lang="tr-TR" i="1" dirty="0" err="1"/>
              <a:t>ls</a:t>
            </a:r>
            <a:r>
              <a:rPr lang="tr-TR" i="1" dirty="0"/>
              <a:t> -l</a:t>
            </a:r>
            <a:r>
              <a:rPr lang="tr-TR" dirty="0"/>
              <a:t>, çıktıyı bir </a:t>
            </a:r>
            <a:r>
              <a:rPr lang="tr-TR" i="1" dirty="0" err="1"/>
              <a:t>pipe</a:t>
            </a:r>
            <a:r>
              <a:rPr lang="tr-TR" i="1" dirty="0"/>
              <a:t> </a:t>
            </a:r>
            <a:r>
              <a:rPr lang="tr-TR" dirty="0"/>
              <a:t>(|) aracılığıyla </a:t>
            </a:r>
            <a:r>
              <a:rPr lang="tr-TR" i="1" dirty="0" err="1"/>
              <a:t>grep</a:t>
            </a:r>
            <a:r>
              <a:rPr lang="tr-TR" i="1" dirty="0"/>
              <a:t> </a:t>
            </a:r>
            <a:r>
              <a:rPr lang="tr-TR" dirty="0"/>
              <a:t>komutuna iletir.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987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 tarafından sağlanan hizmetlere erişmek için kullanılır. </a:t>
            </a:r>
          </a:p>
          <a:p>
            <a:pPr lvl="1"/>
            <a:r>
              <a:rPr lang="tr-TR" dirty="0"/>
              <a:t>Örneğin, dosya işlemleri, bellek yönetimi, zaman hizmetleri, vb.</a:t>
            </a:r>
          </a:p>
          <a:p>
            <a:r>
              <a:rPr lang="tr-TR" dirty="0"/>
              <a:t>İşletim sistemi tarafından tanımlanmış bir arayüze göre gerçekleştirilir.</a:t>
            </a:r>
          </a:p>
          <a:p>
            <a:r>
              <a:rPr lang="tr-TR" dirty="0"/>
              <a:t>Uygulamalar tarafından kullanılır, işletim sistemi tarafından yürütülür.</a:t>
            </a:r>
          </a:p>
          <a:p>
            <a:r>
              <a:rPr lang="tr-TR" dirty="0"/>
              <a:t>Sistemden sisteme farklılık gösterir, ancak temel kavramlar benzerdir.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977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Sistem Çağrısı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dosyanın içeriğinin başka bir dosyaya aktarılması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75" y="2338387"/>
            <a:ext cx="5937250" cy="40179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2037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Sistem Çağrısı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b="1" dirty="0">
                <a:latin typeface="Consolas" panose="020B0609020204030204" pitchFamily="49" charset="0"/>
              </a:rPr>
              <a:t>#</a:t>
            </a:r>
            <a:r>
              <a:rPr lang="tr-TR" b="1" dirty="0" err="1">
                <a:latin typeface="Consolas" panose="020B0609020204030204" pitchFamily="49" charset="0"/>
              </a:rPr>
              <a:t>include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unistd.h</a:t>
            </a:r>
            <a:r>
              <a:rPr lang="tr-TR" dirty="0">
                <a:latin typeface="Consolas" panose="020B0609020204030204" pitchFamily="49" charset="0"/>
              </a:rPr>
              <a:t>&gt; // </a:t>
            </a:r>
            <a:r>
              <a:rPr lang="tr-TR" dirty="0" err="1">
                <a:latin typeface="Consolas" panose="020B0609020204030204" pitchFamily="49" charset="0"/>
              </a:rPr>
              <a:t>Header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read</a:t>
            </a:r>
            <a:r>
              <a:rPr lang="tr-TR" dirty="0">
                <a:latin typeface="Consolas" panose="020B0609020204030204" pitchFamily="49" charset="0"/>
              </a:rPr>
              <a:t> ve </a:t>
            </a:r>
            <a:r>
              <a:rPr lang="tr-TR" dirty="0" err="1">
                <a:latin typeface="Consolas" panose="020B0609020204030204" pitchFamily="49" charset="0"/>
              </a:rPr>
              <a:t>write</a:t>
            </a:r>
            <a:r>
              <a:rPr lang="tr-TR" dirty="0">
                <a:latin typeface="Consolas" panose="020B0609020204030204" pitchFamily="49" charset="0"/>
              </a:rPr>
              <a:t> fonksiyonlarını içerir</a:t>
            </a:r>
          </a:p>
          <a:p>
            <a:pPr marL="0" indent="0">
              <a:buNone/>
            </a:pPr>
            <a:r>
              <a:rPr lang="tr-TR" b="1" dirty="0">
                <a:latin typeface="Consolas" panose="020B0609020204030204" pitchFamily="49" charset="0"/>
              </a:rPr>
              <a:t>#</a:t>
            </a:r>
            <a:r>
              <a:rPr lang="tr-TR" b="1" dirty="0" err="1">
                <a:latin typeface="Consolas" panose="020B0609020204030204" pitchFamily="49" charset="0"/>
              </a:rPr>
              <a:t>include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stdio.h</a:t>
            </a:r>
            <a:r>
              <a:rPr lang="tr-TR" dirty="0">
                <a:latin typeface="Consolas" panose="020B0609020204030204" pitchFamily="49" charset="0"/>
              </a:rPr>
              <a:t>&gt;  // Standard I/O fonksiyonlarını içerir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char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[100]; // Kullanıcı girdisini saklayan tampon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// 0 parametresi standart girişi (</a:t>
            </a:r>
            <a:r>
              <a:rPr lang="tr-TR" dirty="0" err="1">
                <a:latin typeface="Consolas" panose="020B0609020204030204" pitchFamily="49" charset="0"/>
              </a:rPr>
              <a:t>stdin</a:t>
            </a:r>
            <a:r>
              <a:rPr lang="tr-TR" dirty="0">
                <a:latin typeface="Consolas" panose="020B0609020204030204" pitchFamily="49" charset="0"/>
              </a:rPr>
              <a:t>) temsil eder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ssize_t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bytesRead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b="1" dirty="0" err="1">
                <a:latin typeface="Consolas" panose="020B0609020204030204" pitchFamily="49" charset="0"/>
              </a:rPr>
              <a:t>read</a:t>
            </a:r>
            <a:r>
              <a:rPr lang="tr-TR" dirty="0">
                <a:latin typeface="Consolas" panose="020B0609020204030204" pitchFamily="49" charset="0"/>
              </a:rPr>
              <a:t>(0, 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b="1" dirty="0" err="1">
                <a:latin typeface="Consolas" panose="020B0609020204030204" pitchFamily="49" charset="0"/>
              </a:rPr>
              <a:t>sizeof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if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bytesRead</a:t>
            </a:r>
            <a:r>
              <a:rPr lang="tr-TR" dirty="0">
                <a:latin typeface="Consolas" panose="020B0609020204030204" pitchFamily="49" charset="0"/>
              </a:rPr>
              <a:t> == -1)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latin typeface="Consolas" panose="020B0609020204030204" pitchFamily="49" charset="0"/>
              </a:rPr>
              <a:t>perror</a:t>
            </a:r>
            <a:r>
              <a:rPr lang="tr-TR" dirty="0">
                <a:latin typeface="Consolas" panose="020B0609020204030204" pitchFamily="49" charset="0"/>
              </a:rPr>
              <a:t>("okuma hatası");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latin typeface="Consolas" panose="020B0609020204030204" pitchFamily="49" charset="0"/>
              </a:rPr>
              <a:t>return</a:t>
            </a:r>
            <a:r>
              <a:rPr lang="tr-TR" dirty="0">
                <a:latin typeface="Consolas" panose="020B0609020204030204" pitchFamily="49" charset="0"/>
              </a:rPr>
              <a:t> 1; // Hata kodu döndür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return</a:t>
            </a:r>
            <a:r>
              <a:rPr lang="tr-TR" dirty="0">
                <a:latin typeface="Consolas" panose="020B0609020204030204" pitchFamily="49" charset="0"/>
              </a:rPr>
              <a:t> 0; // Program başarıyla tamamlandı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043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b="1" dirty="0"/>
              <a:t>read(</a:t>
            </a:r>
            <a:r>
              <a:rPr lang="en-US" b="1" dirty="0" err="1"/>
              <a:t>fd</a:t>
            </a:r>
            <a:r>
              <a:rPr lang="en-US" b="1" dirty="0"/>
              <a:t>, buffer, </a:t>
            </a:r>
            <a:r>
              <a:rPr lang="en-US" b="1" dirty="0" err="1"/>
              <a:t>nbytes</a:t>
            </a:r>
            <a:r>
              <a:rPr lang="en-US" b="1" dirty="0"/>
              <a:t>)</a:t>
            </a:r>
            <a:r>
              <a:rPr lang="tr-TR" dirty="0"/>
              <a:t> sistem </a:t>
            </a:r>
          </a:p>
          <a:p>
            <a:pPr marL="0" indent="0">
              <a:buNone/>
            </a:pPr>
            <a:r>
              <a:rPr lang="tr-TR" dirty="0"/>
              <a:t>çağrısının adım adım gösterimi.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635" y="1546995"/>
            <a:ext cx="6032900" cy="48149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4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8" name="Picture 5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2" y="1839913"/>
            <a:ext cx="7153275" cy="4381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1678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 – Parametre Aktarımı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9" name="Picture 7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081" y="2100445"/>
            <a:ext cx="6573837" cy="34512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0434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Sistem Çağrısı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>
                <a:latin typeface="Consolas" panose="020B0609020204030204" pitchFamily="49" charset="0"/>
              </a:rPr>
              <a:t>#</a:t>
            </a:r>
            <a:r>
              <a:rPr lang="tr-TR" b="1" dirty="0" err="1">
                <a:latin typeface="Consolas" panose="020B0609020204030204" pitchFamily="49" charset="0"/>
              </a:rPr>
              <a:t>include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unistd.h</a:t>
            </a:r>
            <a:r>
              <a:rPr lang="tr-TR" dirty="0">
                <a:latin typeface="Consolas" panose="020B0609020204030204" pitchFamily="49" charset="0"/>
              </a:rPr>
              <a:t>&gt; // </a:t>
            </a:r>
            <a:r>
              <a:rPr lang="tr-TR" dirty="0" err="1">
                <a:latin typeface="Consolas" panose="020B0609020204030204" pitchFamily="49" charset="0"/>
              </a:rPr>
              <a:t>Header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write</a:t>
            </a:r>
            <a:r>
              <a:rPr lang="tr-TR" dirty="0">
                <a:latin typeface="Consolas" panose="020B0609020204030204" pitchFamily="49" charset="0"/>
              </a:rPr>
              <a:t> fonksiyonunu içerir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// yazdırma işlemi için </a:t>
            </a:r>
            <a:r>
              <a:rPr lang="tr-TR" dirty="0" err="1">
                <a:latin typeface="Consolas" panose="020B0609020204030204" pitchFamily="49" charset="0"/>
              </a:rPr>
              <a:t>write</a:t>
            </a:r>
            <a:r>
              <a:rPr lang="tr-TR" dirty="0">
                <a:latin typeface="Consolas" panose="020B0609020204030204" pitchFamily="49" charset="0"/>
              </a:rPr>
              <a:t> sistem çağrısı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// 1 parametresi standart çıkışı (</a:t>
            </a:r>
            <a:r>
              <a:rPr lang="tr-TR" dirty="0" err="1">
                <a:latin typeface="Consolas" panose="020B0609020204030204" pitchFamily="49" charset="0"/>
              </a:rPr>
              <a:t>stdout</a:t>
            </a:r>
            <a:r>
              <a:rPr lang="tr-TR" dirty="0">
                <a:latin typeface="Consolas" panose="020B0609020204030204" pitchFamily="49" charset="0"/>
              </a:rPr>
              <a:t>) temsil eder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write</a:t>
            </a:r>
            <a:r>
              <a:rPr lang="tr-TR" dirty="0">
                <a:latin typeface="Consolas" panose="020B0609020204030204" pitchFamily="49" charset="0"/>
              </a:rPr>
              <a:t>(1, "Merhaba, Dünya!\n", 15);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return</a:t>
            </a:r>
            <a:r>
              <a:rPr lang="tr-TR" dirty="0">
                <a:latin typeface="Consolas" panose="020B0609020204030204" pitchFamily="49" charset="0"/>
              </a:rPr>
              <a:t> 0; // Program başarıyla tamamlandı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811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 – Süreç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Başlıca POSIX sistem çağrıları. Hata durumunda -1 döner. </a:t>
            </a:r>
          </a:p>
          <a:p>
            <a:pPr marL="0" indent="0">
              <a:buNone/>
            </a:pPr>
            <a:r>
              <a:rPr lang="tr-TR" b="1" dirty="0"/>
              <a:t>pid</a:t>
            </a:r>
            <a:r>
              <a:rPr lang="tr-TR" dirty="0"/>
              <a:t>: işlem kimliği (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identifier</a:t>
            </a:r>
            <a:r>
              <a:rPr lang="tr-TR" dirty="0"/>
              <a:t>). </a:t>
            </a:r>
          </a:p>
          <a:p>
            <a:pPr marL="0" indent="0">
              <a:buNone/>
            </a:pPr>
            <a:r>
              <a:rPr lang="tr-TR" b="1" dirty="0"/>
              <a:t>s</a:t>
            </a:r>
            <a:r>
              <a:rPr lang="tr-TR" dirty="0"/>
              <a:t>: geri dönüş kodu (</a:t>
            </a:r>
            <a:r>
              <a:rPr lang="tr-TR" i="1" dirty="0" err="1"/>
              <a:t>return</a:t>
            </a:r>
            <a:r>
              <a:rPr lang="tr-TR" i="1" dirty="0"/>
              <a:t> </a:t>
            </a:r>
            <a:r>
              <a:rPr lang="tr-TR" i="1" dirty="0" err="1"/>
              <a:t>code</a:t>
            </a:r>
            <a:r>
              <a:rPr lang="tr-TR" dirty="0"/>
              <a:t>).</a:t>
            </a:r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483915"/>
              </p:ext>
            </p:extLst>
          </p:nvPr>
        </p:nvGraphicFramePr>
        <p:xfrm>
          <a:off x="947783" y="3645746"/>
          <a:ext cx="93980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85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2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Çağrı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Tanım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pid = </a:t>
                      </a:r>
                      <a:r>
                        <a:rPr lang="tr-TR" dirty="0" err="1"/>
                        <a:t>fork</a:t>
                      </a:r>
                      <a:r>
                        <a:rPr lang="tr-TR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Ata süreç ile aynı bir alt süreç oluşturur.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pid = </a:t>
                      </a:r>
                      <a:r>
                        <a:rPr lang="tr-TR" dirty="0" err="1"/>
                        <a:t>waitpid</a:t>
                      </a:r>
                      <a:r>
                        <a:rPr lang="tr-TR" dirty="0"/>
                        <a:t>(pid, &amp;</a:t>
                      </a:r>
                      <a:r>
                        <a:rPr lang="tr-TR" dirty="0" err="1"/>
                        <a:t>statloc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options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Çocuk sürecin sonlanmasını bekler.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execve</a:t>
                      </a:r>
                      <a:r>
                        <a:rPr lang="tr-TR" dirty="0"/>
                        <a:t>(name, </a:t>
                      </a:r>
                      <a:r>
                        <a:rPr lang="tr-TR" dirty="0" err="1"/>
                        <a:t>argv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environp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sürecin ana görüntüsünü değiştirir.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exit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status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Süreci yürütmeyi durdurur ve durumu geri döndürür.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7074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 – Dosya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fd</a:t>
            </a:r>
            <a:r>
              <a:rPr lang="tr-TR" dirty="0"/>
              <a:t>: dosya tanıtıcı (</a:t>
            </a:r>
            <a:r>
              <a:rPr lang="tr-TR" i="1" dirty="0"/>
              <a:t>file </a:t>
            </a:r>
            <a:r>
              <a:rPr lang="tr-TR" i="1" dirty="0" err="1"/>
              <a:t>descriptor</a:t>
            </a:r>
            <a:r>
              <a:rPr lang="tr-TR" dirty="0"/>
              <a:t>), </a:t>
            </a:r>
          </a:p>
          <a:p>
            <a:r>
              <a:rPr lang="tr-TR" b="1" dirty="0"/>
              <a:t>n</a:t>
            </a:r>
            <a:r>
              <a:rPr lang="tr-TR" dirty="0"/>
              <a:t>: bayt sayısı, </a:t>
            </a:r>
          </a:p>
          <a:p>
            <a:r>
              <a:rPr lang="tr-TR" b="1" dirty="0" err="1"/>
              <a:t>position</a:t>
            </a:r>
            <a:r>
              <a:rPr lang="tr-TR" dirty="0"/>
              <a:t>: dosya içinde görece konum (</a:t>
            </a:r>
            <a:r>
              <a:rPr lang="tr-TR" i="1" dirty="0" err="1"/>
              <a:t>offset</a:t>
            </a:r>
            <a:r>
              <a:rPr lang="tr-TR" dirty="0"/>
              <a:t>).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92034"/>
              </p:ext>
            </p:extLst>
          </p:nvPr>
        </p:nvGraphicFramePr>
        <p:xfrm>
          <a:off x="934716" y="3515117"/>
          <a:ext cx="97507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016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4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Çağrı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Tanım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fd</a:t>
                      </a:r>
                      <a:r>
                        <a:rPr lang="tr-TR" dirty="0"/>
                        <a:t> = </a:t>
                      </a:r>
                      <a:r>
                        <a:rPr lang="tr-TR" dirty="0" err="1"/>
                        <a:t>open</a:t>
                      </a:r>
                      <a:r>
                        <a:rPr lang="tr-TR" dirty="0"/>
                        <a:t>(file, how,...)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Okuma, yazma veya her ikisi için bir dosya açar.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close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fd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Açık bir dosyayı kapatır.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n = </a:t>
                      </a:r>
                      <a:r>
                        <a:rPr lang="tr-TR" dirty="0" err="1"/>
                        <a:t>read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fd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buffer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nbytes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Bir dosyadan arabelleğe veri oku</a:t>
                      </a:r>
                      <a:r>
                        <a:rPr lang="tr-TR" dirty="0"/>
                        <a:t>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n = </a:t>
                      </a:r>
                      <a:r>
                        <a:rPr lang="tr-TR" dirty="0" err="1"/>
                        <a:t>write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fd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buffer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nbytes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Arabellekten bir dosyaya veri yazar.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position</a:t>
                      </a:r>
                      <a:r>
                        <a:rPr lang="tr-TR" dirty="0"/>
                        <a:t> = </a:t>
                      </a:r>
                      <a:r>
                        <a:rPr lang="tr-TR" dirty="0" err="1"/>
                        <a:t>lseek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fd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offset</a:t>
                      </a:r>
                      <a:r>
                        <a:rPr lang="tr-TR" dirty="0"/>
                        <a:t>, </a:t>
                      </a:r>
                      <a:r>
                        <a:rPr lang="tr-TR" dirty="0" err="1"/>
                        <a:t>whence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Dosya işaretçisini hareket ettirir.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stat(name, &amp;</a:t>
                      </a:r>
                      <a:r>
                        <a:rPr lang="tr-TR" dirty="0" err="1"/>
                        <a:t>buf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dosyanın durum bilgisini alır.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532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 – Dizin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294929"/>
              </p:ext>
            </p:extLst>
          </p:nvPr>
        </p:nvGraphicFramePr>
        <p:xfrm>
          <a:off x="947783" y="2979541"/>
          <a:ext cx="98552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1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Çağrı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Tanım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mkdir</a:t>
                      </a:r>
                      <a:r>
                        <a:rPr lang="tr-TR" dirty="0"/>
                        <a:t>(name, </a:t>
                      </a:r>
                      <a:r>
                        <a:rPr lang="tr-TR" dirty="0" err="1"/>
                        <a:t>mode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Yeni bir dizin oluşturur.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rmdir</a:t>
                      </a:r>
                      <a:r>
                        <a:rPr lang="tr-TR" dirty="0"/>
                        <a:t>(name)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Boş bir dizini kaldırır.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link(name1, name2)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name1'i işaret eden name2 adında girdi oluşturur.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unlink</a:t>
                      </a:r>
                      <a:r>
                        <a:rPr lang="tr-TR" dirty="0"/>
                        <a:t>(name)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dizin girdisini kaldırır.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mount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special</a:t>
                      </a:r>
                      <a:r>
                        <a:rPr lang="tr-TR" dirty="0"/>
                        <a:t>, name, </a:t>
                      </a:r>
                      <a:r>
                        <a:rPr lang="tr-TR" dirty="0" err="1"/>
                        <a:t>flag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dosya sistemini bağlar.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umount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special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dosya sisteminin bağlantısını kaldırır.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3445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Çağrıları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/>
              <a:t>seconds</a:t>
            </a:r>
            <a:r>
              <a:rPr lang="tr-TR" dirty="0"/>
              <a:t>: geçen süre</a:t>
            </a:r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379039"/>
              </p:ext>
            </p:extLst>
          </p:nvPr>
        </p:nvGraphicFramePr>
        <p:xfrm>
          <a:off x="838200" y="3319174"/>
          <a:ext cx="844746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54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Çağrı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Tanım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chdir</a:t>
                      </a:r>
                      <a:r>
                        <a:rPr lang="tr-TR" dirty="0"/>
                        <a:t>(</a:t>
                      </a:r>
                      <a:r>
                        <a:rPr lang="tr-TR" dirty="0" err="1"/>
                        <a:t>dirname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Çalışma dizinini (</a:t>
                      </a:r>
                      <a:r>
                        <a:rPr lang="tr-TR" i="1" dirty="0" err="1"/>
                        <a:t>working</a:t>
                      </a:r>
                      <a:r>
                        <a:rPr lang="tr-TR" i="1" dirty="0"/>
                        <a:t> </a:t>
                      </a:r>
                      <a:r>
                        <a:rPr lang="tr-TR" i="1" dirty="0" err="1"/>
                        <a:t>directory</a:t>
                      </a:r>
                      <a:r>
                        <a:rPr lang="tr-TR" dirty="0"/>
                        <a:t>) değiştirir.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chmod</a:t>
                      </a:r>
                      <a:r>
                        <a:rPr lang="tr-TR" dirty="0"/>
                        <a:t>(name, </a:t>
                      </a:r>
                      <a:r>
                        <a:rPr lang="tr-TR" dirty="0" err="1"/>
                        <a:t>mode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dosyanın koruma (</a:t>
                      </a:r>
                      <a:r>
                        <a:rPr lang="tr-TR" i="1" dirty="0" err="1"/>
                        <a:t>mode</a:t>
                      </a:r>
                      <a:r>
                        <a:rPr lang="tr-TR" dirty="0"/>
                        <a:t>) bitlerini değiştirir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 = </a:t>
                      </a:r>
                      <a:r>
                        <a:rPr lang="tr-TR" dirty="0" err="1"/>
                        <a:t>kill</a:t>
                      </a:r>
                      <a:r>
                        <a:rPr lang="tr-TR" dirty="0"/>
                        <a:t>(pid, </a:t>
                      </a:r>
                      <a:r>
                        <a:rPr lang="tr-TR" dirty="0" err="1"/>
                        <a:t>signal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sürece sinyal gönderir.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seconds</a:t>
                      </a:r>
                      <a:r>
                        <a:rPr lang="tr-TR" dirty="0"/>
                        <a:t> = time(&amp;</a:t>
                      </a:r>
                      <a:r>
                        <a:rPr lang="tr-TR" dirty="0" err="1"/>
                        <a:t>seconds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 Ocak 1970'ten bu yana geçen süreyi döndürür.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0241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Standart C Kütüphanesi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8" name="Picture 1" descr="Screen Shot 2012-12-01 at 1.12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2" y="1925688"/>
            <a:ext cx="4168775" cy="42148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892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668869"/>
            <a:ext cx="10800000" cy="46405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66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fork</a:t>
            </a:r>
            <a:r>
              <a:rPr lang="tr-TR" dirty="0"/>
              <a:t> Çağrısı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Paralel yürütme ve süreç oluşturma için kullanılır.</a:t>
            </a:r>
          </a:p>
          <a:p>
            <a:r>
              <a:rPr lang="tr-TR" dirty="0"/>
              <a:t>Ata ve çocuk süreçler, </a:t>
            </a:r>
          </a:p>
          <a:p>
            <a:pPr lvl="1"/>
            <a:r>
              <a:rPr lang="tr-TR" dirty="0"/>
              <a:t>aynı program kodunu paylaşırlar,</a:t>
            </a:r>
          </a:p>
          <a:p>
            <a:pPr lvl="1"/>
            <a:r>
              <a:rPr lang="tr-TR" dirty="0"/>
              <a:t>farklı bellek adres uzaylarına sahiptirler.</a:t>
            </a:r>
          </a:p>
          <a:p>
            <a:r>
              <a:rPr lang="tr-TR" i="1" dirty="0" err="1"/>
              <a:t>fork</a:t>
            </a:r>
            <a:r>
              <a:rPr lang="tr-TR" dirty="0"/>
              <a:t> çağrısı ile bir süreç, bir çocuk süreci oluşturur.</a:t>
            </a:r>
          </a:p>
          <a:p>
            <a:r>
              <a:rPr lang="tr-TR" dirty="0"/>
              <a:t>Ata süreç, oluşturulan çocuk sürecin </a:t>
            </a:r>
            <a:r>
              <a:rPr lang="tr-TR" i="1" dirty="0" err="1"/>
              <a:t>PID</a:t>
            </a:r>
            <a:r>
              <a:rPr lang="tr-TR" dirty="0" err="1"/>
              <a:t>'sini</a:t>
            </a:r>
            <a:r>
              <a:rPr lang="tr-TR" dirty="0"/>
              <a:t> (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id</a:t>
            </a:r>
            <a:r>
              <a:rPr lang="tr-TR" dirty="0"/>
              <a:t>) alır.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6641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Süreçlerin Bellek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 3 kesime sahiptir. metin, veri, yığın.</a:t>
            </a:r>
          </a:p>
          <a:p>
            <a:r>
              <a:rPr lang="tr-TR" b="1" dirty="0"/>
              <a:t>Yığın</a:t>
            </a:r>
            <a:r>
              <a:rPr lang="tr-TR" dirty="0"/>
              <a:t>, süreç için gerekli olan parametreler, yerel </a:t>
            </a:r>
          </a:p>
          <a:p>
            <a:pPr marL="0" indent="0">
              <a:buNone/>
            </a:pPr>
            <a:r>
              <a:rPr lang="tr-TR" dirty="0"/>
              <a:t>değişkenler ve fonksiyon dönüş adresleri gibi geçici </a:t>
            </a:r>
          </a:p>
          <a:p>
            <a:pPr marL="0" indent="0">
              <a:buNone/>
            </a:pPr>
            <a:r>
              <a:rPr lang="tr-TR" dirty="0"/>
              <a:t>verileri saklar.</a:t>
            </a:r>
          </a:p>
          <a:p>
            <a:r>
              <a:rPr lang="tr-TR" b="1" dirty="0"/>
              <a:t>Veri</a:t>
            </a:r>
            <a:r>
              <a:rPr lang="tr-TR" dirty="0"/>
              <a:t>, genel ve statik değişkenlerin yanı sıra dinamik </a:t>
            </a:r>
          </a:p>
          <a:p>
            <a:pPr marL="0" indent="0">
              <a:buNone/>
            </a:pPr>
            <a:r>
              <a:rPr lang="tr-TR" dirty="0"/>
              <a:t>olarak ayrılmış belleği depolar. Tüm iş parçacıkları arasında paylaşılır.</a:t>
            </a:r>
          </a:p>
          <a:p>
            <a:r>
              <a:rPr lang="tr-TR" b="1" dirty="0"/>
              <a:t>Metin</a:t>
            </a:r>
            <a:r>
              <a:rPr lang="tr-TR" dirty="0"/>
              <a:t>, sürecin talimatlarını uygulayan makine kodunu tutar. Salt </a:t>
            </a:r>
          </a:p>
          <a:p>
            <a:pPr marL="0" indent="0">
              <a:buNone/>
            </a:pPr>
            <a:r>
              <a:rPr lang="tr-TR" dirty="0"/>
              <a:t>okunurdur ve sürecin tüm iş parçacıkları arasında paylaşılır. Talimatları </a:t>
            </a:r>
          </a:p>
          <a:p>
            <a:pPr marL="0" indent="0">
              <a:buNone/>
            </a:pPr>
            <a:r>
              <a:rPr lang="tr-TR" dirty="0"/>
              <a:t>yürütmek için CPU tarafından kullanılır.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177" y="1419950"/>
            <a:ext cx="3311954" cy="270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016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tr-TR" i="1" dirty="0" err="1"/>
              <a:t>usr</a:t>
            </a:r>
            <a:r>
              <a:rPr lang="tr-TR" i="1" dirty="0"/>
              <a:t>/</a:t>
            </a:r>
            <a:r>
              <a:rPr lang="tr-TR" i="1" dirty="0" err="1"/>
              <a:t>jim</a:t>
            </a:r>
            <a:r>
              <a:rPr lang="tr-TR" i="1" dirty="0"/>
              <a:t>/</a:t>
            </a:r>
            <a:r>
              <a:rPr lang="tr-TR" i="1" dirty="0" err="1"/>
              <a:t>memo</a:t>
            </a:r>
            <a:r>
              <a:rPr lang="tr-TR" dirty="0"/>
              <a:t>, </a:t>
            </a:r>
            <a:r>
              <a:rPr lang="tr-TR" i="1" dirty="0"/>
              <a:t>/</a:t>
            </a:r>
            <a:r>
              <a:rPr lang="tr-TR" i="1" dirty="0" err="1"/>
              <a:t>usr</a:t>
            </a:r>
            <a:r>
              <a:rPr lang="tr-TR" i="1" dirty="0"/>
              <a:t>/ast </a:t>
            </a:r>
            <a:r>
              <a:rPr lang="tr-TR" dirty="0"/>
              <a:t>dizinine bağlanmadan önce. </a:t>
            </a:r>
          </a:p>
          <a:p>
            <a:pPr marL="514350" indent="-514350">
              <a:buAutoNum type="alphaLcParenBoth"/>
            </a:pPr>
            <a:r>
              <a:rPr lang="tr-TR" i="1" dirty="0"/>
              <a:t>/</a:t>
            </a:r>
            <a:r>
              <a:rPr lang="tr-TR" i="1" dirty="0" err="1"/>
              <a:t>usr</a:t>
            </a:r>
            <a:r>
              <a:rPr lang="tr-TR" i="1" dirty="0"/>
              <a:t>/ast/</a:t>
            </a:r>
            <a:r>
              <a:rPr lang="tr-TR" i="1" dirty="0" err="1"/>
              <a:t>note</a:t>
            </a:r>
            <a:r>
              <a:rPr lang="tr-TR" dirty="0"/>
              <a:t> adı ile bağlandıktan sonra.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23" y="2879408"/>
            <a:ext cx="9796354" cy="31604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984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tr-TR" dirty="0"/>
              <a:t>Bağlamadan (</a:t>
            </a:r>
            <a:r>
              <a:rPr lang="tr-TR" i="1" dirty="0" err="1"/>
              <a:t>mount</a:t>
            </a:r>
            <a:r>
              <a:rPr lang="tr-TR" dirty="0"/>
              <a:t>) önce</a:t>
            </a:r>
          </a:p>
          <a:p>
            <a:pPr marL="514350" indent="-514350">
              <a:buAutoNum type="alphaLcParenBoth"/>
            </a:pPr>
            <a:r>
              <a:rPr lang="tr-TR" dirty="0"/>
              <a:t>/</a:t>
            </a:r>
            <a:r>
              <a:rPr lang="tr-TR" dirty="0" err="1"/>
              <a:t>mnt</a:t>
            </a:r>
            <a:r>
              <a:rPr lang="tr-TR" dirty="0"/>
              <a:t> dizinine bağladıktan sonra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354" y="3099628"/>
            <a:ext cx="9427646" cy="30278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0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(</a:t>
            </a:r>
            <a:r>
              <a:rPr lang="tr-TR" dirty="0" err="1"/>
              <a:t>Deadlock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tr-TR" dirty="0"/>
              <a:t>Potansiyel kilitlenme</a:t>
            </a:r>
          </a:p>
          <a:p>
            <a:pPr marL="514350" indent="-514350">
              <a:buAutoNum type="alphaLcParenBoth"/>
            </a:pPr>
            <a:r>
              <a:rPr lang="tr-TR" dirty="0"/>
              <a:t>Gerçekleşmiş kilitlenme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994" y="2946400"/>
            <a:ext cx="8228013" cy="3409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51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Windows Win32 API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512888"/>
            <a:ext cx="10440000" cy="5066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9032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Windows Win32 API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0" r="1932"/>
          <a:stretch>
            <a:fillRect/>
          </a:stretch>
        </p:blipFill>
        <p:spPr bwMode="auto">
          <a:xfrm>
            <a:off x="748136" y="1511702"/>
            <a:ext cx="10080000" cy="519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5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Simetrik Çoklu İşlemci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1A30DEF-BA94-447F-8812-ADBD513F7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643" y="2005330"/>
            <a:ext cx="5051425" cy="38242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37796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Çift Çekirdekli İşlemci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7155B73-8D6F-4B94-A72D-0EA688D4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107" y="1969696"/>
            <a:ext cx="4362247" cy="3889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9217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İstemci Sunucu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0" y="2645758"/>
            <a:ext cx="10080000" cy="30397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1232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İstemci Sunucu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50" y="2035225"/>
            <a:ext cx="8496300" cy="4105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22071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Makineler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Aynı fiziksel donanım üzerinde eş zamanlı olarak çalışan birden çok farklı işletim sistemine, bağımsız donanım gibi görünen bir arayüz sağlar.</a:t>
            </a:r>
          </a:p>
          <a:p>
            <a:r>
              <a:rPr lang="tr-TR" dirty="0"/>
              <a:t>Her işletim sistemi, kendi CPU, RAM, I/O aygıtları, sabit diskler gibi kaynaklara erişimi ve kontrolü olduğuna inanır.</a:t>
            </a:r>
          </a:p>
          <a:p>
            <a:r>
              <a:rPr lang="tr-TR" dirty="0"/>
              <a:t>Farklı işletim sistemlerine sahip sanal makineler, aynı donanım üzerinde çalışabilir.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883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Makineler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690688"/>
            <a:ext cx="7200000" cy="45288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041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Makine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00" y="2605946"/>
            <a:ext cx="9720000" cy="26717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780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Makine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Tip 1 </a:t>
            </a:r>
            <a:r>
              <a:rPr lang="tr-TR" dirty="0" err="1"/>
              <a:t>hipervizör</a:t>
            </a:r>
            <a:r>
              <a:rPr lang="tr-TR" dirty="0"/>
              <a:t> (sanal makine yöneticisi) (b) Yalın tip 2 </a:t>
            </a:r>
            <a:r>
              <a:rPr lang="tr-TR" dirty="0" err="1"/>
              <a:t>hipervizör</a:t>
            </a:r>
            <a:r>
              <a:rPr lang="tr-TR" dirty="0"/>
              <a:t>. (c) Pratik tip 2 </a:t>
            </a:r>
            <a:r>
              <a:rPr lang="tr-TR" dirty="0" err="1"/>
              <a:t>hipervizör</a:t>
            </a:r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0" y="3009850"/>
            <a:ext cx="10080000" cy="3211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4275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Tip 1 </a:t>
            </a:r>
            <a:r>
              <a:rPr lang="tr-TR" dirty="0" err="1"/>
              <a:t>Hipervizör</a:t>
            </a:r>
            <a:r>
              <a:rPr lang="tr-TR" dirty="0"/>
              <a:t> (</a:t>
            </a:r>
            <a:r>
              <a:rPr lang="tr-TR" dirty="0" err="1"/>
              <a:t>Type</a:t>
            </a:r>
            <a:r>
              <a:rPr lang="tr-TR" dirty="0"/>
              <a:t> 1 </a:t>
            </a:r>
            <a:r>
              <a:rPr lang="tr-TR" dirty="0" err="1"/>
              <a:t>Hypervisor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sisteminden bağımsız doğrudan donanım üzerinde çalışır.</a:t>
            </a:r>
          </a:p>
          <a:p>
            <a:r>
              <a:rPr lang="tr-TR" dirty="0"/>
              <a:t>Sanal makineleri yöneten bir sanallaştırma yazılımıdır.</a:t>
            </a:r>
          </a:p>
          <a:p>
            <a:r>
              <a:rPr lang="tr-TR" dirty="0"/>
              <a:t>Fiziksel sunucuları sanal makinelerle bölme ve yönetme ihtiyacı için.</a:t>
            </a:r>
          </a:p>
          <a:p>
            <a:r>
              <a:rPr lang="tr-TR" dirty="0"/>
              <a:t>Kaynakların daha etkin bir şekilde kullanılması ve izlenmesi amacıyla.</a:t>
            </a:r>
          </a:p>
          <a:p>
            <a:r>
              <a:rPr lang="tr-TR" dirty="0"/>
              <a:t>Genellikle "</a:t>
            </a:r>
            <a:r>
              <a:rPr lang="tr-TR" i="1" dirty="0" err="1"/>
              <a:t>bare</a:t>
            </a:r>
            <a:r>
              <a:rPr lang="tr-TR" i="1" dirty="0"/>
              <a:t>-metal</a:t>
            </a:r>
            <a:r>
              <a:rPr lang="tr-TR" dirty="0"/>
              <a:t>" </a:t>
            </a:r>
            <a:r>
              <a:rPr lang="tr-TR" dirty="0" err="1"/>
              <a:t>hipervizör</a:t>
            </a:r>
            <a:r>
              <a:rPr lang="tr-TR" dirty="0"/>
              <a:t> olarak adlandırılır.</a:t>
            </a:r>
          </a:p>
          <a:p>
            <a:r>
              <a:rPr lang="tr-TR" dirty="0"/>
              <a:t>Veri merkezlerinde fiziksel sunucuları sanal makinelere bölme ve yönetme.</a:t>
            </a:r>
          </a:p>
          <a:p>
            <a:r>
              <a:rPr lang="tr-TR" b="1" dirty="0" err="1"/>
              <a:t>VMware</a:t>
            </a:r>
            <a:r>
              <a:rPr lang="tr-TR" b="1" dirty="0"/>
              <a:t> </a:t>
            </a:r>
            <a:r>
              <a:rPr lang="tr-TR" b="1" dirty="0" err="1"/>
              <a:t>ESXi</a:t>
            </a:r>
            <a:r>
              <a:rPr lang="tr-TR" dirty="0"/>
              <a:t>: Endüstri lideri, geniş özelliklere sahip</a:t>
            </a:r>
          </a:p>
          <a:p>
            <a:r>
              <a:rPr lang="tr-TR" b="1" dirty="0"/>
              <a:t>Microsoft </a:t>
            </a:r>
            <a:r>
              <a:rPr lang="tr-TR" b="1" dirty="0" err="1"/>
              <a:t>Hyper</a:t>
            </a:r>
            <a:r>
              <a:rPr lang="tr-TR" b="1" dirty="0"/>
              <a:t>-V Server</a:t>
            </a:r>
            <a:r>
              <a:rPr lang="tr-TR" dirty="0"/>
              <a:t>: Microsoft'un ücretsiz çözümü</a:t>
            </a:r>
          </a:p>
          <a:p>
            <a:r>
              <a:rPr lang="tr-TR" b="1" dirty="0" err="1"/>
              <a:t>Xen</a:t>
            </a:r>
            <a:r>
              <a:rPr lang="tr-TR" dirty="0"/>
              <a:t>: Açık kaynaklı ve ölçeklenebilir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5573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Tip 2 </a:t>
            </a:r>
            <a:r>
              <a:rPr lang="tr-TR" dirty="0" err="1"/>
              <a:t>Hipervizör</a:t>
            </a:r>
            <a:r>
              <a:rPr lang="tr-TR" dirty="0"/>
              <a:t> (</a:t>
            </a:r>
            <a:r>
              <a:rPr lang="tr-TR" dirty="0" err="1"/>
              <a:t>Type</a:t>
            </a:r>
            <a:r>
              <a:rPr lang="tr-TR" dirty="0"/>
              <a:t> 2 </a:t>
            </a:r>
            <a:r>
              <a:rPr lang="tr-TR" dirty="0" err="1"/>
              <a:t>Hypervisor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Bir işletim sistemi üzerinde çalışır.</a:t>
            </a:r>
          </a:p>
          <a:p>
            <a:r>
              <a:rPr lang="tr-TR" dirty="0"/>
              <a:t>Sanal makineleri yöneten bir sanallaştırma yazılımıdır.</a:t>
            </a:r>
          </a:p>
          <a:p>
            <a:r>
              <a:rPr lang="tr-TR" dirty="0"/>
              <a:t>Kişisel bilgisayarlar veya geliştirme ortamları için sanallaştırma ihtiyacı.</a:t>
            </a:r>
          </a:p>
          <a:p>
            <a:r>
              <a:rPr lang="tr-TR" dirty="0"/>
              <a:t>Genellikle "</a:t>
            </a:r>
            <a:r>
              <a:rPr lang="tr-TR" i="1" dirty="0" err="1"/>
              <a:t>hosted</a:t>
            </a:r>
            <a:r>
              <a:rPr lang="tr-TR" dirty="0"/>
              <a:t>" </a:t>
            </a:r>
            <a:r>
              <a:rPr lang="tr-TR" dirty="0" err="1"/>
              <a:t>hipervizör</a:t>
            </a:r>
            <a:r>
              <a:rPr lang="tr-TR" dirty="0"/>
              <a:t> olarak adlandırılır.</a:t>
            </a:r>
          </a:p>
          <a:p>
            <a:r>
              <a:rPr lang="tr-TR" dirty="0"/>
              <a:t>Tip 1 </a:t>
            </a:r>
            <a:r>
              <a:rPr lang="tr-TR" dirty="0" err="1"/>
              <a:t>hipervizörlere</a:t>
            </a:r>
            <a:r>
              <a:rPr lang="tr-TR" dirty="0"/>
              <a:t> göre daha düşük performans sunar.</a:t>
            </a:r>
          </a:p>
          <a:p>
            <a:r>
              <a:rPr lang="tr-TR" dirty="0"/>
              <a:t>İşletim sistemi bağımsızlığı sağlar.</a:t>
            </a:r>
          </a:p>
          <a:p>
            <a:r>
              <a:rPr lang="tr-TR" b="1" dirty="0" err="1"/>
              <a:t>Oracle</a:t>
            </a:r>
            <a:r>
              <a:rPr lang="tr-TR" b="1" dirty="0"/>
              <a:t> </a:t>
            </a:r>
            <a:r>
              <a:rPr lang="tr-TR" b="1" dirty="0" err="1"/>
              <a:t>VirtualBox</a:t>
            </a:r>
            <a:r>
              <a:rPr lang="tr-TR" dirty="0"/>
              <a:t>: Ücretsiz ve açık kaynaklı, geniş platform desteği.</a:t>
            </a:r>
          </a:p>
          <a:p>
            <a:r>
              <a:rPr lang="tr-TR" b="1" dirty="0" err="1"/>
              <a:t>VMware</a:t>
            </a:r>
            <a:r>
              <a:rPr lang="tr-TR" b="1" dirty="0"/>
              <a:t> Workstation</a:t>
            </a:r>
            <a:r>
              <a:rPr lang="tr-TR" dirty="0"/>
              <a:t>: Profesyonel kullanım, gelişmiş özelliklere sahip.</a:t>
            </a:r>
          </a:p>
          <a:p>
            <a:r>
              <a:rPr lang="tr-TR" b="1" dirty="0" err="1"/>
              <a:t>Parallels</a:t>
            </a:r>
            <a:r>
              <a:rPr lang="tr-TR" b="1" dirty="0"/>
              <a:t> Desktop</a:t>
            </a:r>
            <a:r>
              <a:rPr lang="tr-TR" dirty="0"/>
              <a:t>: </a:t>
            </a:r>
            <a:r>
              <a:rPr lang="tr-TR" dirty="0" err="1"/>
              <a:t>macOS</a:t>
            </a:r>
            <a:r>
              <a:rPr lang="tr-TR" dirty="0"/>
              <a:t> üzerinde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5437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14DB-5EB5-BC80-E489-37D93068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60844-EC6E-8356-7D82-7E175B6C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779DF-CB77-1163-266C-A0EB23A6B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1438-1997-2EC0-0E99-2ABBAA55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C727A-277D-C9EC-F25E-07106A0B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AB917A7C-626A-04F9-D511-9A0A974BF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0"/>
            <a:ext cx="10515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8831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2595</TotalTime>
  <Words>3476</Words>
  <Application>Microsoft Office PowerPoint</Application>
  <PresentationFormat>Widescreen</PresentationFormat>
  <Paragraphs>579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Arial</vt:lpstr>
      <vt:lpstr>Calibri</vt:lpstr>
      <vt:lpstr>Calibri Light</vt:lpstr>
      <vt:lpstr>Consolas</vt:lpstr>
      <vt:lpstr>Wingdings</vt:lpstr>
      <vt:lpstr>Office Theme</vt:lpstr>
      <vt:lpstr>Bölüm 2: Yapılar</vt:lpstr>
      <vt:lpstr>İşletim Sistemi Yapıları</vt:lpstr>
      <vt:lpstr>Neden Yapılandırma Önemli?</vt:lpstr>
      <vt:lpstr>İşletim Sistemi Servisleri</vt:lpstr>
      <vt:lpstr>İşletim Sistemi Yapıları</vt:lpstr>
      <vt:lpstr>Basit/Monolitik Yapı</vt:lpstr>
      <vt:lpstr>Basit/Monolitik Yapı</vt:lpstr>
      <vt:lpstr>Monolitik Sistem</vt:lpstr>
      <vt:lpstr>Monolitik Sistem Yapısı</vt:lpstr>
      <vt:lpstr>Mikroçekirdek Yapı</vt:lpstr>
      <vt:lpstr>Mikroçekirdek Yapı</vt:lpstr>
      <vt:lpstr>Mikro Çekirdek</vt:lpstr>
      <vt:lpstr>Mikro Çekirdek Sistem Yapısı</vt:lpstr>
      <vt:lpstr>Mikro Çekirdek Sistem Yapısı</vt:lpstr>
      <vt:lpstr>PowerPoint Presentation</vt:lpstr>
      <vt:lpstr>Andrew Tanenbaum (Monolitik çekirdek)</vt:lpstr>
      <vt:lpstr>Linus Torvalds (Mikro Çekirdek)</vt:lpstr>
      <vt:lpstr>Hibrit-Çekirdek Yapı</vt:lpstr>
      <vt:lpstr>Hibrit-Çekirdek Yapı</vt:lpstr>
      <vt:lpstr>Exo-Çekirdek Yapı</vt:lpstr>
      <vt:lpstr>Exo-Çekirdek Yapı</vt:lpstr>
      <vt:lpstr>Katmanlı Yapı</vt:lpstr>
      <vt:lpstr>Katmanlı Yapı</vt:lpstr>
      <vt:lpstr>Modüler Yapı</vt:lpstr>
      <vt:lpstr>Modüler Yapı</vt:lpstr>
      <vt:lpstr>Zamanlayıcı (timer)</vt:lpstr>
      <vt:lpstr>Süreçler / İşlemler </vt:lpstr>
      <vt:lpstr>Süreçler</vt:lpstr>
      <vt:lpstr>Adres Uzayı</vt:lpstr>
      <vt:lpstr>Dosyalar</vt:lpstr>
      <vt:lpstr>Dosyalar</vt:lpstr>
      <vt:lpstr>Dosyalar - Bağlama İşlemi</vt:lpstr>
      <vt:lpstr>Dosya Bağlama (mount)</vt:lpstr>
      <vt:lpstr>Dosyalar</vt:lpstr>
      <vt:lpstr>Boru Hattı Örneği (pipe)</vt:lpstr>
      <vt:lpstr>Sistem Çağrıları</vt:lpstr>
      <vt:lpstr>Örnek Sistem Çağrısı</vt:lpstr>
      <vt:lpstr>Örnek Sistem Çağrısı</vt:lpstr>
      <vt:lpstr>Sistem Çağrıları</vt:lpstr>
      <vt:lpstr>Sistem Çağrıları</vt:lpstr>
      <vt:lpstr>Sistem Çağrıları – Parametre Aktarımı</vt:lpstr>
      <vt:lpstr>Örnek Sistem Çağrısı</vt:lpstr>
      <vt:lpstr>Sistem Çağrıları – Süreç Yönetimi</vt:lpstr>
      <vt:lpstr>Sistem Çağrıları – Dosya Yönetimi</vt:lpstr>
      <vt:lpstr>Sistem Çağrıları – Dizin Yönetimi</vt:lpstr>
      <vt:lpstr>Sistem Çağrıları</vt:lpstr>
      <vt:lpstr>Standart C Kütüphanesi</vt:lpstr>
      <vt:lpstr>Süreç Yönetimi</vt:lpstr>
      <vt:lpstr>fork Çağrısı</vt:lpstr>
      <vt:lpstr>Süreçlerin Bellek Yönetimi</vt:lpstr>
      <vt:lpstr>Dizin Yönetimi</vt:lpstr>
      <vt:lpstr>Dizin Yönetimi</vt:lpstr>
      <vt:lpstr>Kilitlenme (Deadlock)</vt:lpstr>
      <vt:lpstr>The Windows Win32 API </vt:lpstr>
      <vt:lpstr>The Windows Win32 API </vt:lpstr>
      <vt:lpstr>Simetrik Çoklu İşlemci Mimarisi</vt:lpstr>
      <vt:lpstr>Çift Çekirdekli İşlemci Mimarisi</vt:lpstr>
      <vt:lpstr>İstemci Sunucu Modeli</vt:lpstr>
      <vt:lpstr>İstemci Sunucu Modeli</vt:lpstr>
      <vt:lpstr>Sanal Makineler</vt:lpstr>
      <vt:lpstr>Sanal Makineler</vt:lpstr>
      <vt:lpstr>Sanal Makine Yapısı</vt:lpstr>
      <vt:lpstr>Sanal Makine Yapısı</vt:lpstr>
      <vt:lpstr>Tip 1 Hipervizör (Type 1 Hypervisor)</vt:lpstr>
      <vt:lpstr>Tip 2 Hipervizör (Type 2 Hypervisor)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Yapilar</dc:title>
  <dc:creator>sercan</dc:creator>
  <cp:lastModifiedBy>Sercan Kulcu</cp:lastModifiedBy>
  <cp:revision>253</cp:revision>
  <dcterms:created xsi:type="dcterms:W3CDTF">2023-01-12T09:23:55Z</dcterms:created>
  <dcterms:modified xsi:type="dcterms:W3CDTF">2025-04-05T18:50:49Z</dcterms:modified>
</cp:coreProperties>
</file>