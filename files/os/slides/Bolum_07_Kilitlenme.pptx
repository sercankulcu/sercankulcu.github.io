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53"/>
  </p:notesMasterIdLst>
  <p:sldIdLst>
    <p:sldId id="256" r:id="rId2"/>
    <p:sldId id="257" r:id="rId3"/>
    <p:sldId id="313" r:id="rId4"/>
    <p:sldId id="314" r:id="rId5"/>
    <p:sldId id="315" r:id="rId6"/>
    <p:sldId id="316" r:id="rId7"/>
    <p:sldId id="317" r:id="rId8"/>
    <p:sldId id="343" r:id="rId9"/>
    <p:sldId id="355" r:id="rId10"/>
    <p:sldId id="356" r:id="rId11"/>
    <p:sldId id="357" r:id="rId12"/>
    <p:sldId id="358" r:id="rId13"/>
    <p:sldId id="359" r:id="rId14"/>
    <p:sldId id="318" r:id="rId15"/>
    <p:sldId id="350" r:id="rId16"/>
    <p:sldId id="353" r:id="rId17"/>
    <p:sldId id="351" r:id="rId18"/>
    <p:sldId id="352" r:id="rId19"/>
    <p:sldId id="319" r:id="rId20"/>
    <p:sldId id="331" r:id="rId21"/>
    <p:sldId id="320" r:id="rId22"/>
    <p:sldId id="321" r:id="rId23"/>
    <p:sldId id="344" r:id="rId24"/>
    <p:sldId id="354" r:id="rId25"/>
    <p:sldId id="345" r:id="rId26"/>
    <p:sldId id="322" r:id="rId27"/>
    <p:sldId id="323" r:id="rId28"/>
    <p:sldId id="324" r:id="rId29"/>
    <p:sldId id="325" r:id="rId30"/>
    <p:sldId id="326" r:id="rId31"/>
    <p:sldId id="328" r:id="rId32"/>
    <p:sldId id="329" r:id="rId33"/>
    <p:sldId id="333" r:id="rId34"/>
    <p:sldId id="330" r:id="rId35"/>
    <p:sldId id="346" r:id="rId36"/>
    <p:sldId id="334" r:id="rId37"/>
    <p:sldId id="347" r:id="rId38"/>
    <p:sldId id="335" r:id="rId39"/>
    <p:sldId id="336" r:id="rId40"/>
    <p:sldId id="348" r:id="rId41"/>
    <p:sldId id="337" r:id="rId42"/>
    <p:sldId id="338" r:id="rId43"/>
    <p:sldId id="360" r:id="rId44"/>
    <p:sldId id="361" r:id="rId45"/>
    <p:sldId id="362" r:id="rId46"/>
    <p:sldId id="363" r:id="rId47"/>
    <p:sldId id="340" r:id="rId48"/>
    <p:sldId id="364" r:id="rId49"/>
    <p:sldId id="341" r:id="rId50"/>
    <p:sldId id="365" r:id="rId51"/>
    <p:sldId id="312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23.01.2025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9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12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277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08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7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45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72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71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96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61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29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4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/>
              <a:t>Bölüm 7: </a:t>
            </a:r>
            <a:r>
              <a:rPr lang="tr-TR" b="1" dirty="0"/>
              <a:t>Kilitlenme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Sistem kaynaklardan oluşur.</a:t>
            </a:r>
          </a:p>
          <a:p>
            <a:r>
              <a:rPr lang="tr-TR" dirty="0"/>
              <a:t>Kaynak türleri </a:t>
            </a:r>
            <a:r>
              <a:rPr lang="tr-TR" i="1" dirty="0"/>
              <a:t>R</a:t>
            </a:r>
            <a:r>
              <a:rPr lang="tr-TR" i="1" baseline="-25000" dirty="0"/>
              <a:t>1</a:t>
            </a:r>
            <a:r>
              <a:rPr lang="tr-TR" i="1" dirty="0"/>
              <a:t>, R</a:t>
            </a:r>
            <a:r>
              <a:rPr lang="tr-TR" i="1" baseline="-25000" dirty="0"/>
              <a:t>2</a:t>
            </a:r>
            <a:r>
              <a:rPr lang="tr-TR" i="1" dirty="0"/>
              <a:t>, . . ., </a:t>
            </a:r>
            <a:r>
              <a:rPr lang="tr-TR" i="1" dirty="0" err="1"/>
              <a:t>R</a:t>
            </a:r>
            <a:r>
              <a:rPr lang="tr-TR" i="1" baseline="-25000" dirty="0" err="1"/>
              <a:t>m</a:t>
            </a:r>
            <a:endParaRPr lang="tr-TR" i="1" baseline="-25000" dirty="0"/>
          </a:p>
          <a:p>
            <a:pPr lvl="1"/>
            <a:r>
              <a:rPr lang="tr-TR" dirty="0"/>
              <a:t>CPU döngüleri, bellek alanı, I/O aygıtları gibi.</a:t>
            </a:r>
          </a:p>
          <a:p>
            <a:r>
              <a:rPr lang="tr-TR" dirty="0"/>
              <a:t>Her kaynak tipi </a:t>
            </a:r>
            <a:r>
              <a:rPr lang="tr-TR" i="1" dirty="0" err="1"/>
              <a:t>R</a:t>
            </a:r>
            <a:r>
              <a:rPr lang="tr-TR" i="1" baseline="-25000" dirty="0" err="1"/>
              <a:t>i</a:t>
            </a:r>
            <a:r>
              <a:rPr lang="tr-TR" dirty="0"/>
              <a:t>, somut nesnelere (</a:t>
            </a:r>
            <a:r>
              <a:rPr lang="tr-TR" i="1" dirty="0" err="1"/>
              <a:t>instance</a:t>
            </a:r>
            <a:r>
              <a:rPr lang="tr-TR" dirty="0"/>
              <a:t>) </a:t>
            </a:r>
            <a:r>
              <a:rPr lang="tr-TR" i="1" dirty="0" err="1"/>
              <a:t>W</a:t>
            </a:r>
            <a:r>
              <a:rPr lang="tr-TR" i="1" baseline="-25000" dirty="0" err="1"/>
              <a:t>i</a:t>
            </a:r>
            <a:r>
              <a:rPr lang="tr-TR" dirty="0"/>
              <a:t> sahiptir.</a:t>
            </a:r>
          </a:p>
          <a:p>
            <a:r>
              <a:rPr lang="tr-TR" dirty="0"/>
              <a:t>Her süreç bir kaynağı:</a:t>
            </a:r>
          </a:p>
          <a:p>
            <a:pPr lvl="1"/>
            <a:r>
              <a:rPr lang="tr-TR" dirty="0"/>
              <a:t>İster (</a:t>
            </a:r>
            <a:r>
              <a:rPr lang="tr-TR" i="1" dirty="0" err="1"/>
              <a:t>request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Kullanır (</a:t>
            </a:r>
            <a:r>
              <a:rPr lang="tr-TR" i="1" dirty="0" err="1"/>
              <a:t>use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Serbest (</a:t>
            </a:r>
            <a:r>
              <a:rPr lang="tr-TR" i="1" dirty="0" err="1"/>
              <a:t>free</a:t>
            </a:r>
            <a:r>
              <a:rPr lang="tr-TR" dirty="0"/>
              <a:t>) bırakır.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 Edinimi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r>
              <a:rPr lang="tr-TR" sz="2600" dirty="0"/>
              <a:t>Kaynakları korumak için semafor kullanımı </a:t>
            </a:r>
          </a:p>
          <a:p>
            <a:r>
              <a:rPr lang="tr-TR" sz="2600" dirty="0"/>
              <a:t>(a) Bir kaynak. 			(b) İki kaynak.</a:t>
            </a:r>
          </a:p>
          <a:p>
            <a:pPr marL="0" indent="0">
              <a:buNone/>
            </a:pP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typedef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semaphore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; 		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typedef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semaphore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 resource_1;		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 resource_1;</a:t>
            </a:r>
          </a:p>
          <a:p>
            <a:pPr marL="0" indent="0">
              <a:buNone/>
            </a:pP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					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 resource_2;</a:t>
            </a:r>
            <a:endParaRPr lang="tr-TR" sz="2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process_A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) { 		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tr-T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process_A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(&amp;resource_1); 		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(&amp;resource_1);</a:t>
            </a:r>
          </a:p>
          <a:p>
            <a:pPr marL="3200400" lvl="7" indent="0">
              <a:buNone/>
            </a:pPr>
            <a:r>
              <a:rPr lang="tr-TR" sz="2200" dirty="0">
                <a:latin typeface="Consolas" panose="020B0609020204030204" pitchFamily="49" charset="0"/>
              </a:rPr>
              <a:t>		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sz="2200" dirty="0">
                <a:latin typeface="Consolas" panose="020B0609020204030204" pitchFamily="49" charset="0"/>
              </a:rPr>
              <a:t>(&amp;resource_2);</a:t>
            </a:r>
          </a:p>
          <a:p>
            <a:pPr marL="0" indent="0">
              <a:buNone/>
            </a:pP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   use_resource_1(); 		   </a:t>
            </a:r>
            <a:r>
              <a:rPr lang="tr-T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use_both_resources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					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(&amp;resource_2);</a:t>
            </a:r>
          </a:p>
          <a:p>
            <a:pPr marL="0" indent="0">
              <a:buNone/>
            </a:pPr>
            <a:r>
              <a:rPr lang="tr-TR" sz="2200" b="1" dirty="0">
                <a:solidFill>
                  <a:srgbClr val="7F0055"/>
                </a:solidFill>
                <a:latin typeface="Consolas" panose="020B0609020204030204" pitchFamily="49" charset="0"/>
              </a:rPr>
              <a:t>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(&amp;resource_1);</a:t>
            </a:r>
            <a:r>
              <a:rPr lang="tr-TR" sz="2200" b="1" dirty="0">
                <a:solidFill>
                  <a:schemeClr val="tx1"/>
                </a:solidFill>
                <a:latin typeface="Consolas" panose="020B0609020204030204" pitchFamily="49" charset="0"/>
              </a:rPr>
              <a:t>		   	   </a:t>
            </a:r>
            <a:r>
              <a:rPr lang="tr-TR" sz="2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sz="2200" dirty="0">
                <a:latin typeface="Consolas" panose="020B0609020204030204" pitchFamily="49" charset="0"/>
              </a:rPr>
              <a:t>(</a:t>
            </a: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&amp;resource_1</a:t>
            </a:r>
            <a:r>
              <a:rPr lang="tr-TR" sz="2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sz="2200" dirty="0">
                <a:solidFill>
                  <a:schemeClr val="tx1"/>
                </a:solidFill>
                <a:latin typeface="Consolas" panose="020B0609020204030204" pitchFamily="49" charset="0"/>
              </a:rPr>
              <a:t>}					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1/20/2023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47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İçermeyen Kod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typedef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semaphore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; </a:t>
            </a:r>
          </a:p>
          <a:p>
            <a:pPr marL="0" lv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 resource_1;		</a:t>
            </a:r>
          </a:p>
          <a:p>
            <a:pPr marL="0" lv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 resource_2;</a:t>
            </a:r>
          </a:p>
          <a:p>
            <a:pPr marL="0" lv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process_A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) { 		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process_B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(&amp;resource_1);		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(&amp;resource_1);</a:t>
            </a:r>
          </a:p>
          <a:p>
            <a:pPr marL="0" lv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(&amp;resource_2);		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(&amp;resource_2);</a:t>
            </a:r>
          </a:p>
          <a:p>
            <a:pPr marL="0" indent="0">
              <a:buNone/>
            </a:pP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use_both_resources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(); 		   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use_both_resources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(&amp;resource_2);			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(&amp;resource_2);	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</a:p>
          <a:p>
            <a:pPr marL="0" lv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(&amp;resource_1); 			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(&amp;resource_1);</a:t>
            </a:r>
          </a:p>
          <a:p>
            <a:pPr marL="0" indent="0">
              <a:buNone/>
            </a:pP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}					    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76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Olası Kilitlenme </a:t>
            </a:r>
            <a:r>
              <a:rPr lang="tr-TR" dirty="0"/>
              <a:t>İçeren Kod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typedef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semaphore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; </a:t>
            </a:r>
          </a:p>
          <a:p>
            <a:pPr marL="0" lv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 resource_1;		</a:t>
            </a:r>
          </a:p>
          <a:p>
            <a:pPr marL="0" lv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semaphore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 resource_2;</a:t>
            </a:r>
          </a:p>
          <a:p>
            <a:pPr marL="0" lvl="0" indent="0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process_A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) { 		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process_B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(&amp;resource_1);		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(&amp;resource_1);</a:t>
            </a:r>
          </a:p>
          <a:p>
            <a:pPr marL="0" lv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(&amp;resource_2);		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down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(&amp;resource_2);</a:t>
            </a:r>
          </a:p>
          <a:p>
            <a:pPr marL="0" lvl="0" indent="0">
              <a:buNone/>
            </a:pP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use_both_resources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(); 		    </a:t>
            </a:r>
            <a:r>
              <a:rPr lang="tr-TR" dirty="0" err="1">
                <a:solidFill>
                  <a:prstClr val="black"/>
                </a:solidFill>
                <a:latin typeface="Consolas" panose="020B0609020204030204" pitchFamily="49" charset="0"/>
              </a:rPr>
              <a:t>use_both_resources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(&amp;resource_1);			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(&amp;resource_2);	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</a:p>
          <a:p>
            <a:pPr marL="0" lvl="0" indent="0"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(&amp;resource_2); 			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up</a:t>
            </a: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(&amp;resource_1);</a:t>
            </a:r>
          </a:p>
          <a:p>
            <a:pPr marL="0" lvl="0" indent="0">
              <a:buNone/>
            </a:pPr>
            <a:r>
              <a:rPr lang="tr-TR" dirty="0">
                <a:solidFill>
                  <a:prstClr val="black"/>
                </a:solidFill>
                <a:latin typeface="Consolas" panose="020B0609020204030204" pitchFamily="49" charset="0"/>
              </a:rPr>
              <a:t>}					     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43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dizi sürecin bloke olduğu durumdur.</a:t>
            </a:r>
          </a:p>
          <a:p>
            <a:pPr lvl="1"/>
            <a:r>
              <a:rPr lang="tr-TR" dirty="0"/>
              <a:t>Her süreç </a:t>
            </a:r>
            <a:r>
              <a:rPr lang="tr-TR" i="1" dirty="0"/>
              <a:t>bir kaynağı </a:t>
            </a:r>
            <a:r>
              <a:rPr lang="tr-TR" dirty="0"/>
              <a:t>tutar, ve </a:t>
            </a:r>
          </a:p>
          <a:p>
            <a:pPr lvl="1"/>
            <a:r>
              <a:rPr lang="tr-TR" dirty="0"/>
              <a:t>Başka bir süreç tarafından tutulan </a:t>
            </a:r>
            <a:r>
              <a:rPr lang="tr-TR" i="1" dirty="0"/>
              <a:t>bir kaynağı </a:t>
            </a:r>
            <a:r>
              <a:rPr lang="tr-TR" dirty="0"/>
              <a:t>bekler.</a:t>
            </a:r>
          </a:p>
          <a:p>
            <a:r>
              <a:rPr lang="tr-TR" dirty="0"/>
              <a:t>Örneğin, iki tren aynı hatta ve bir ray varsa, trenler hareket edemez. </a:t>
            </a:r>
          </a:p>
          <a:p>
            <a:r>
              <a:rPr lang="tr-TR" dirty="0"/>
              <a:t>Bazı kaynakları tutarken, diğer süreçler tarafından tutulan kaynakları bekleyen iki veya daha fazla süreç olduğunda ortaya çıkar. </a:t>
            </a:r>
          </a:p>
          <a:p>
            <a:r>
              <a:rPr lang="tr-TR" dirty="0"/>
              <a:t>Örneğin, </a:t>
            </a:r>
          </a:p>
          <a:p>
            <a:pPr lvl="1"/>
            <a:r>
              <a:rPr lang="tr-TR" b="1" dirty="0"/>
              <a:t>Süreç 1</a:t>
            </a:r>
            <a:r>
              <a:rPr lang="tr-TR" dirty="0"/>
              <a:t>, </a:t>
            </a:r>
            <a:r>
              <a:rPr lang="tr-TR" b="1" dirty="0"/>
              <a:t>Kaynak 1</a:t>
            </a:r>
            <a:r>
              <a:rPr lang="tr-TR" dirty="0"/>
              <a:t>'i tutuyor ve </a:t>
            </a:r>
          </a:p>
          <a:p>
            <a:pPr lvl="1"/>
            <a:r>
              <a:rPr lang="tr-TR" b="1" dirty="0"/>
              <a:t>Süreç 2</a:t>
            </a:r>
            <a:r>
              <a:rPr lang="tr-TR" dirty="0"/>
              <a:t> tarafından tutulan </a:t>
            </a:r>
            <a:r>
              <a:rPr lang="tr-TR" b="1" dirty="0"/>
              <a:t>Kaynak 2</a:t>
            </a:r>
            <a:r>
              <a:rPr lang="tr-TR" dirty="0"/>
              <a:t>'yi bekliyor ve </a:t>
            </a:r>
          </a:p>
          <a:p>
            <a:pPr lvl="1"/>
            <a:r>
              <a:rPr lang="tr-TR" b="1" dirty="0"/>
              <a:t>Süreç 2</a:t>
            </a:r>
            <a:r>
              <a:rPr lang="tr-TR" dirty="0"/>
              <a:t>, </a:t>
            </a:r>
            <a:r>
              <a:rPr lang="tr-TR" b="1" dirty="0"/>
              <a:t>Kaynak 1</a:t>
            </a:r>
            <a:r>
              <a:rPr lang="tr-TR" dirty="0"/>
              <a:t>'i bekliyor.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7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Koşulları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Karşılıklı dışlama (</a:t>
            </a:r>
            <a:r>
              <a:rPr lang="tr-TR" i="1" dirty="0" err="1"/>
              <a:t>mutual</a:t>
            </a:r>
            <a:r>
              <a:rPr lang="tr-TR" i="1" dirty="0"/>
              <a:t> </a:t>
            </a:r>
            <a:r>
              <a:rPr lang="tr-TR" i="1" dirty="0" err="1"/>
              <a:t>exclusion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Bir kaynağı aynı anda yalnızca bir iş parçacığının kullanması.</a:t>
            </a:r>
          </a:p>
          <a:p>
            <a:r>
              <a:rPr lang="tr-TR" dirty="0"/>
              <a:t>Tut ve bekle durumu (</a:t>
            </a:r>
            <a:r>
              <a:rPr lang="tr-TR" i="1" dirty="0" err="1"/>
              <a:t>hold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wait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Bir kaynağı tutan iş parçacığının, diğerinin tuttuğu kaynağı beklemesi.</a:t>
            </a:r>
          </a:p>
          <a:p>
            <a:r>
              <a:rPr lang="tr-TR" dirty="0"/>
              <a:t>Kesme yok (</a:t>
            </a:r>
            <a:r>
              <a:rPr lang="tr-TR" i="1" dirty="0" err="1"/>
              <a:t>no</a:t>
            </a:r>
            <a:r>
              <a:rPr lang="tr-TR" i="1" dirty="0"/>
              <a:t> </a:t>
            </a:r>
            <a:r>
              <a:rPr lang="tr-TR" i="1" dirty="0" err="1"/>
              <a:t>preemption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Kaynağın sadece onu tutan iş parçacığı tarafından serbest bırakılması.</a:t>
            </a:r>
          </a:p>
          <a:p>
            <a:r>
              <a:rPr lang="tr-TR" dirty="0"/>
              <a:t>Döngüsel bekleme (</a:t>
            </a:r>
            <a:r>
              <a:rPr lang="tr-TR" i="1" dirty="0" err="1"/>
              <a:t>circular</a:t>
            </a:r>
            <a:r>
              <a:rPr lang="tr-TR" i="1" dirty="0"/>
              <a:t> </a:t>
            </a:r>
            <a:r>
              <a:rPr lang="tr-TR" i="1" dirty="0" err="1"/>
              <a:t>wait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T</a:t>
            </a:r>
            <a:r>
              <a:rPr lang="tr-TR" baseline="-25000" dirty="0"/>
              <a:t>0</a:t>
            </a:r>
            <a:r>
              <a:rPr lang="tr-TR" dirty="0"/>
              <a:t>, T</a:t>
            </a:r>
            <a:r>
              <a:rPr lang="tr-TR" baseline="-25000" dirty="0"/>
              <a:t>1</a:t>
            </a:r>
            <a:r>
              <a:rPr lang="tr-TR" dirty="0"/>
              <a:t> tarafından tutulan bir kaynağı bekler, </a:t>
            </a:r>
          </a:p>
          <a:p>
            <a:pPr lvl="1"/>
            <a:r>
              <a:rPr lang="tr-TR" dirty="0"/>
              <a:t>T</a:t>
            </a:r>
            <a:r>
              <a:rPr lang="tr-TR" baseline="-25000" dirty="0"/>
              <a:t>1</a:t>
            </a:r>
            <a:r>
              <a:rPr lang="tr-TR" dirty="0"/>
              <a:t>, T</a:t>
            </a:r>
            <a:r>
              <a:rPr lang="tr-TR" baseline="-25000" dirty="0"/>
              <a:t>2</a:t>
            </a:r>
            <a:r>
              <a:rPr lang="tr-TR" dirty="0"/>
              <a:t> tarafından tutulan bir kaynağı bekler, 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48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Tespiti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Kaynak Tahsis (</a:t>
            </a:r>
            <a:r>
              <a:rPr lang="tr-TR" b="1" dirty="0" err="1"/>
              <a:t>resource</a:t>
            </a:r>
            <a:r>
              <a:rPr lang="tr-TR" b="1" dirty="0"/>
              <a:t> </a:t>
            </a:r>
            <a:r>
              <a:rPr lang="tr-TR" b="1" dirty="0" err="1"/>
              <a:t>allocation</a:t>
            </a:r>
            <a:r>
              <a:rPr lang="tr-TR" b="1" dirty="0"/>
              <a:t>) Çizgesi</a:t>
            </a:r>
            <a:r>
              <a:rPr lang="tr-TR" dirty="0"/>
              <a:t>: Süreçlerin ve kaynakların, kaynak tahsisini temsil eden yönlü kenarlara sahip çizge.</a:t>
            </a:r>
          </a:p>
          <a:p>
            <a:r>
              <a:rPr lang="tr-TR" b="1" dirty="0"/>
              <a:t>Döngüsel Tespit</a:t>
            </a:r>
            <a:r>
              <a:rPr lang="tr-TR" dirty="0"/>
              <a:t>: Kaynak tahsis çizgesinde bir döngünün bulunması.</a:t>
            </a:r>
          </a:p>
          <a:p>
            <a:r>
              <a:rPr lang="tr-TR" b="1" dirty="0"/>
              <a:t>Bekleme (</a:t>
            </a:r>
            <a:r>
              <a:rPr lang="tr-TR" b="1" dirty="0" err="1"/>
              <a:t>wait-for</a:t>
            </a:r>
            <a:r>
              <a:rPr lang="tr-TR" b="1" dirty="0"/>
              <a:t>) Çizgesi</a:t>
            </a:r>
            <a:r>
              <a:rPr lang="tr-TR" dirty="0"/>
              <a:t>: Kaynak tahsis çizgesine benzer, ancak yönlü kenarlar süreçler arasındaki bekleme ilişkilerini temsil eder.</a:t>
            </a:r>
          </a:p>
          <a:p>
            <a:r>
              <a:rPr lang="tr-TR" b="1" dirty="0"/>
              <a:t>Banker Algoritması</a:t>
            </a:r>
            <a:r>
              <a:rPr lang="tr-TR" dirty="0"/>
              <a:t>: Bir durumun güvenli mi, kilitlenmiş mi olduğunu belirlemek için, maksimum ihtiyaç hakkındaki bilgileri kullanan algoritma.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752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Yönetim Teknikleri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Tespit (</a:t>
            </a:r>
            <a:r>
              <a:rPr lang="tr-TR" i="1" dirty="0" err="1"/>
              <a:t>Deadlock</a:t>
            </a:r>
            <a:r>
              <a:rPr lang="tr-TR" i="1" dirty="0"/>
              <a:t> </a:t>
            </a:r>
            <a:r>
              <a:rPr lang="tr-TR" i="1" dirty="0" err="1"/>
              <a:t>Detection</a:t>
            </a:r>
            <a:r>
              <a:rPr lang="tr-TR" dirty="0"/>
              <a:t>)</a:t>
            </a:r>
          </a:p>
          <a:p>
            <a:r>
              <a:rPr lang="tr-TR" dirty="0"/>
              <a:t>Kaçınma (</a:t>
            </a:r>
            <a:r>
              <a:rPr lang="tr-TR" i="1" dirty="0" err="1"/>
              <a:t>Deadlock</a:t>
            </a:r>
            <a:r>
              <a:rPr lang="tr-TR" i="1" dirty="0"/>
              <a:t> </a:t>
            </a:r>
            <a:r>
              <a:rPr lang="tr-TR" i="1" dirty="0" err="1"/>
              <a:t>Avoidance</a:t>
            </a:r>
            <a:r>
              <a:rPr lang="tr-TR" dirty="0"/>
              <a:t>)</a:t>
            </a:r>
          </a:p>
          <a:p>
            <a:r>
              <a:rPr lang="tr-TR" dirty="0"/>
              <a:t>Engelleme (</a:t>
            </a:r>
            <a:r>
              <a:rPr lang="tr-TR" i="1" dirty="0" err="1"/>
              <a:t>Deadlock</a:t>
            </a:r>
            <a:r>
              <a:rPr lang="tr-TR" i="1" dirty="0"/>
              <a:t> </a:t>
            </a:r>
            <a:r>
              <a:rPr lang="tr-TR" i="1" dirty="0" err="1"/>
              <a:t>Prevention</a:t>
            </a:r>
            <a:r>
              <a:rPr lang="tr-TR" dirty="0"/>
              <a:t>)</a:t>
            </a:r>
          </a:p>
          <a:p>
            <a:r>
              <a:rPr lang="tr-TR" dirty="0"/>
              <a:t>Kurtarma (</a:t>
            </a:r>
            <a:r>
              <a:rPr lang="tr-TR" i="1" dirty="0" err="1"/>
              <a:t>Deadlock</a:t>
            </a:r>
            <a:r>
              <a:rPr lang="tr-TR" i="1" dirty="0"/>
              <a:t> </a:t>
            </a:r>
            <a:r>
              <a:rPr lang="tr-TR" i="1" dirty="0" err="1"/>
              <a:t>Recovery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19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Tespit (</a:t>
            </a:r>
            <a:r>
              <a:rPr lang="tr-TR" dirty="0" err="1"/>
              <a:t>Deadlock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Kilitlenmeleri ele alan </a:t>
            </a:r>
            <a:r>
              <a:rPr lang="tr-TR" i="1" dirty="0"/>
              <a:t>reaktif</a:t>
            </a:r>
            <a:r>
              <a:rPr lang="tr-TR" dirty="0"/>
              <a:t> bir yaklaşımdır.</a:t>
            </a:r>
          </a:p>
          <a:p>
            <a:r>
              <a:rPr lang="tr-TR" dirty="0"/>
              <a:t>Sistem, periyodik olarak kaynak ve süreçlerin durumunu inceler.</a:t>
            </a:r>
          </a:p>
          <a:p>
            <a:r>
              <a:rPr lang="tr-TR" dirty="0"/>
              <a:t>Döngüsel bekleme veya potansiyel kilitlenmeleri belirler.</a:t>
            </a:r>
          </a:p>
          <a:p>
            <a:r>
              <a:rPr lang="tr-TR" dirty="0"/>
              <a:t>Kaynak tahsis çizgesi veya beklemeye göre çizge algoritmaları kullanır.</a:t>
            </a:r>
          </a:p>
          <a:p>
            <a:r>
              <a:rPr lang="tr-TR" dirty="0"/>
              <a:t>Kaynak tahsisi üzerine önemli bir yük getirmez.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665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Kaçınma (</a:t>
            </a:r>
            <a:r>
              <a:rPr lang="tr-TR" dirty="0" err="1"/>
              <a:t>Deadlock</a:t>
            </a:r>
            <a:r>
              <a:rPr lang="tr-TR" dirty="0"/>
              <a:t> </a:t>
            </a:r>
            <a:r>
              <a:rPr lang="tr-TR" dirty="0" err="1"/>
              <a:t>Avoidance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Kilitlenmelerin oluşmasını önceden engeller.</a:t>
            </a:r>
          </a:p>
          <a:p>
            <a:r>
              <a:rPr lang="tr-TR" i="1" dirty="0" err="1"/>
              <a:t>Proaktif</a:t>
            </a:r>
            <a:r>
              <a:rPr lang="tr-TR" dirty="0"/>
              <a:t> bir yaklaşımdır.</a:t>
            </a:r>
          </a:p>
          <a:p>
            <a:r>
              <a:rPr lang="tr-TR" dirty="0"/>
              <a:t>Sistem, kaynak taleplerini değerlendirir ve kilitlenmeye yol açmayacaksa izin verir.</a:t>
            </a:r>
          </a:p>
          <a:p>
            <a:r>
              <a:rPr lang="tr-TR" dirty="0"/>
              <a:t>Kilitlenme oluşmadığı için, kurtarma mekanizmalarına ihtiyaç duyulmaz.</a:t>
            </a:r>
          </a:p>
          <a:p>
            <a:r>
              <a:rPr lang="sv-SE" dirty="0"/>
              <a:t>Tespit veya kurtarma yöntemlerinden daha verimli.</a:t>
            </a:r>
          </a:p>
          <a:p>
            <a:r>
              <a:rPr lang="tr-TR" dirty="0"/>
              <a:t>Kaynak tahsisine kısıtlamalar getirebilir.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119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Engelleme (</a:t>
            </a:r>
            <a:r>
              <a:rPr lang="tr-TR" dirty="0" err="1"/>
              <a:t>Deadlock</a:t>
            </a:r>
            <a:r>
              <a:rPr lang="tr-TR" dirty="0"/>
              <a:t> </a:t>
            </a:r>
            <a:r>
              <a:rPr lang="tr-TR" dirty="0" err="1"/>
              <a:t>Prevention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Kilitlenme oluşumu için gerekli olan koşullardan bir veya daha fazlasını ortadan kaldırmaya odaklanır.</a:t>
            </a:r>
          </a:p>
          <a:p>
            <a:r>
              <a:rPr lang="tr-TR" i="1" dirty="0" err="1"/>
              <a:t>Proaktif</a:t>
            </a:r>
            <a:r>
              <a:rPr lang="tr-TR" dirty="0"/>
              <a:t> bir yaklaşımdır. </a:t>
            </a:r>
          </a:p>
          <a:p>
            <a:r>
              <a:rPr lang="tr-TR" dirty="0"/>
              <a:t>Kilitlenme koşullarının oluşmasını önlemek için çeşitli teknikler kullanılır, </a:t>
            </a:r>
          </a:p>
          <a:p>
            <a:pPr lvl="1"/>
            <a:r>
              <a:rPr lang="tr-TR" dirty="0"/>
              <a:t>Süreçlerin belirli bir sırayla kaynak talep etmesi ve elinde tutması,</a:t>
            </a:r>
          </a:p>
          <a:p>
            <a:pPr lvl="1"/>
            <a:r>
              <a:rPr lang="tr-TR" dirty="0"/>
              <a:t>Süreç bekletilirken kaynakların geri alınması.</a:t>
            </a:r>
          </a:p>
          <a:p>
            <a:r>
              <a:rPr lang="tr-TR" dirty="0"/>
              <a:t>Kaynak geri alma gibi bazı önlemler, ek karmaşıklık ve yük getirebilir.</a:t>
            </a:r>
          </a:p>
          <a:p>
            <a:r>
              <a:rPr lang="tr-TR" dirty="0"/>
              <a:t>Karmaşık sistemlerde tüm kilitlenme koşullarını önlemek her zaman mümkün veya pratik olmayabilir.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61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Kurtarma (</a:t>
            </a:r>
            <a:r>
              <a:rPr lang="tr-TR" dirty="0" err="1"/>
              <a:t>Deadlock</a:t>
            </a:r>
            <a:r>
              <a:rPr lang="tr-TR" dirty="0"/>
              <a:t> </a:t>
            </a:r>
            <a:r>
              <a:rPr lang="tr-TR" dirty="0" err="1"/>
              <a:t>Recovery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 kilitlenme tespit edildiğinde, süreçlerin durumunu geri alarak veya kaynakları geri alarak kilitlenmeyi kırar.</a:t>
            </a:r>
          </a:p>
          <a:p>
            <a:r>
              <a:rPr lang="tr-TR" dirty="0"/>
              <a:t>Mevcut süreçler üzerinde önemli bir kesinti olmadan kilitlenmelerden kurtulmayı sağlar.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70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 Tahsis Çizgesi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Bir kaynağı tutma. (b) Bir kaynak isteme. (c) Kilitlenme.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856" y="2768650"/>
            <a:ext cx="7634287" cy="3371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851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 Tahsis Çizgesi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tane R1 kaynağı,</a:t>
            </a:r>
          </a:p>
          <a:p>
            <a:r>
              <a:rPr lang="tr-TR" dirty="0"/>
              <a:t>İki tane R2 kaynağı,</a:t>
            </a:r>
          </a:p>
          <a:p>
            <a:r>
              <a:rPr lang="tr-TR" dirty="0"/>
              <a:t>Bir tane R3 kaynağı,</a:t>
            </a:r>
          </a:p>
          <a:p>
            <a:r>
              <a:rPr lang="tr-TR" dirty="0"/>
              <a:t>Üç tane R4 kaynağı,</a:t>
            </a:r>
          </a:p>
          <a:p>
            <a:r>
              <a:rPr lang="tr-TR" dirty="0"/>
              <a:t>T1, bir R2 kaynağını tutar, ve </a:t>
            </a:r>
          </a:p>
          <a:p>
            <a:pPr lvl="1"/>
            <a:r>
              <a:rPr lang="tr-TR" dirty="0"/>
              <a:t>R1 kaynağını bekler.</a:t>
            </a:r>
          </a:p>
          <a:p>
            <a:r>
              <a:rPr lang="tr-TR" dirty="0"/>
              <a:t>T2, R1 kaynağını, </a:t>
            </a:r>
          </a:p>
          <a:p>
            <a:pPr lvl="1"/>
            <a:r>
              <a:rPr lang="tr-TR" dirty="0"/>
              <a:t>bir R2 kaynağını tutar, ve </a:t>
            </a:r>
          </a:p>
          <a:p>
            <a:pPr lvl="1"/>
            <a:r>
              <a:rPr lang="tr-TR" dirty="0"/>
              <a:t>R3 kaynağını bekler.</a:t>
            </a:r>
          </a:p>
          <a:p>
            <a:r>
              <a:rPr lang="tr-TR" dirty="0"/>
              <a:t>T3, R3 kaynağını tutar.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B3F1686-A558-47EE-B9D9-DBE933ACC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635" y="1463751"/>
            <a:ext cx="3631474" cy="44966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421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 Tahsis Çizgesi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Çizge, döngü içermiyorsa,</a:t>
            </a:r>
          </a:p>
          <a:p>
            <a:pPr lvl="1"/>
            <a:r>
              <a:rPr lang="tr-TR" dirty="0"/>
              <a:t>kilitlenme </a:t>
            </a:r>
            <a:r>
              <a:rPr lang="tr-TR" b="1" dirty="0"/>
              <a:t>yok.</a:t>
            </a:r>
          </a:p>
          <a:p>
            <a:r>
              <a:rPr lang="tr-TR" dirty="0"/>
              <a:t>Döngü içeriyorsa,</a:t>
            </a:r>
          </a:p>
          <a:p>
            <a:pPr lvl="1"/>
            <a:r>
              <a:rPr lang="tr-TR" dirty="0"/>
              <a:t>o kaynak türünde yalnızca bir kaynak varsa, kilitlenme </a:t>
            </a:r>
            <a:r>
              <a:rPr lang="tr-TR" b="1" dirty="0"/>
              <a:t>var.</a:t>
            </a:r>
          </a:p>
          <a:p>
            <a:pPr lvl="1"/>
            <a:r>
              <a:rPr lang="tr-TR" dirty="0"/>
              <a:t>o kaynak türünde birçok kaynak varsa, kilitlenme </a:t>
            </a:r>
            <a:r>
              <a:rPr lang="tr-TR" b="1" dirty="0"/>
              <a:t>olasılığı var.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11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İçeren Kaynak Tahsis Çizgesi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6DC2929A-0DEC-4DB0-815C-C96B1DCBC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688" y="1971379"/>
            <a:ext cx="2874623" cy="42500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3066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İçermeyen Kaynak Tahsis Çizgesi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CC72185A-FCE6-4038-BA8E-B2DF5B5E4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683" y="1825625"/>
            <a:ext cx="3248633" cy="41489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10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Nasıl Oluşur?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144" y="1825625"/>
            <a:ext cx="8875712" cy="3984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8843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Nasıl Oluşur?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88" y="1690688"/>
            <a:ext cx="7927987" cy="478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2194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Nasıl Önlenebilir?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155" y="1690688"/>
            <a:ext cx="8067675" cy="4791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4852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Kilitlenmelerle Başa Çıkma Stratejileri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Sorunu görmezden gel.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Sorunu tespit ve kurtarma. </a:t>
            </a:r>
          </a:p>
          <a:p>
            <a:r>
              <a:rPr lang="tr-TR" dirty="0"/>
              <a:t>Kaynak tahsisi dikkatli yapılarak, dinamik olarak kilitlenmeden kaçınma.</a:t>
            </a:r>
          </a:p>
          <a:p>
            <a:pPr lvl="1"/>
            <a:r>
              <a:rPr lang="tr-TR" dirty="0"/>
              <a:t>en büyük kozumuz yakalanmamak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Gerekli dört koşuldan biri reddedilerek önlenir.</a:t>
            </a:r>
          </a:p>
          <a:p>
            <a:pPr lvl="1"/>
            <a:r>
              <a:rPr lang="tr-TR" dirty="0"/>
              <a:t>Karşılıklı dışlama (</a:t>
            </a:r>
            <a:r>
              <a:rPr lang="tr-TR" i="1" dirty="0" err="1"/>
              <a:t>mutual</a:t>
            </a:r>
            <a:r>
              <a:rPr lang="tr-TR" i="1" dirty="0"/>
              <a:t> </a:t>
            </a:r>
            <a:r>
              <a:rPr lang="tr-TR" i="1" dirty="0" err="1"/>
              <a:t>exclusion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Tut ve bekle durumu (</a:t>
            </a:r>
            <a:r>
              <a:rPr lang="tr-TR" i="1" dirty="0" err="1"/>
              <a:t>hold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wait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Kesme yok (</a:t>
            </a:r>
            <a:r>
              <a:rPr lang="tr-TR" i="1" dirty="0" err="1"/>
              <a:t>no</a:t>
            </a:r>
            <a:r>
              <a:rPr lang="tr-TR" i="1" dirty="0"/>
              <a:t> </a:t>
            </a:r>
            <a:r>
              <a:rPr lang="tr-TR" i="1" dirty="0" err="1"/>
              <a:t>preemption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Döngüsel bekleme (</a:t>
            </a:r>
            <a:r>
              <a:rPr lang="tr-TR" i="1" dirty="0" err="1"/>
              <a:t>circular</a:t>
            </a:r>
            <a:r>
              <a:rPr lang="tr-TR" i="1" dirty="0"/>
              <a:t> </a:t>
            </a:r>
            <a:r>
              <a:rPr lang="tr-TR" i="1" dirty="0" err="1"/>
              <a:t>wait</a:t>
            </a:r>
            <a:r>
              <a:rPr lang="tr-TR" dirty="0"/>
              <a:t>)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29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Devekuşu (</a:t>
            </a:r>
            <a:r>
              <a:rPr lang="tr-TR" dirty="0" err="1"/>
              <a:t>Ostrich</a:t>
            </a:r>
            <a:r>
              <a:rPr lang="tr-TR" dirty="0"/>
              <a:t>)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Deve kuşları, kafalarını toprağa gömüp sorunları görmezden gelir.</a:t>
            </a:r>
          </a:p>
          <a:p>
            <a:r>
              <a:rPr lang="tr-TR" dirty="0"/>
              <a:t>Kilitlenmeleri tespit ve kaçınma arasında bir denge kurmayı amaçlar.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470" y="2715562"/>
            <a:ext cx="3983060" cy="357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5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Devekuşu (</a:t>
            </a:r>
            <a:r>
              <a:rPr lang="tr-TR" dirty="0" err="1"/>
              <a:t>Ostrich</a:t>
            </a:r>
            <a:r>
              <a:rPr lang="tr-TR" dirty="0"/>
              <a:t>)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Kilitlenmeleri geçici olarak yok sayar ve istekleri işlemeye devam eder. </a:t>
            </a:r>
          </a:p>
          <a:p>
            <a:r>
              <a:rPr lang="tr-TR" dirty="0"/>
              <a:t>Kilitlenme meydana geldiğinde sistem, pasif bir moda girer.</a:t>
            </a:r>
          </a:p>
          <a:p>
            <a:pPr lvl="1"/>
            <a:r>
              <a:rPr lang="tr-TR" dirty="0"/>
              <a:t>Normal </a:t>
            </a:r>
            <a:r>
              <a:rPr lang="tr-TR" dirty="0" err="1"/>
              <a:t>mod</a:t>
            </a:r>
            <a:r>
              <a:rPr lang="tr-TR" dirty="0"/>
              <a:t>, </a:t>
            </a:r>
          </a:p>
          <a:p>
            <a:pPr lvl="2"/>
            <a:r>
              <a:rPr lang="tr-TR" dirty="0"/>
              <a:t>kilitlenme olup olmadığı kontrol edilmeden istekler işlenir.</a:t>
            </a:r>
          </a:p>
          <a:p>
            <a:pPr lvl="1"/>
            <a:r>
              <a:rPr lang="tr-TR" dirty="0"/>
              <a:t>Pasif </a:t>
            </a:r>
            <a:r>
              <a:rPr lang="tr-TR" dirty="0" err="1"/>
              <a:t>mod</a:t>
            </a:r>
            <a:r>
              <a:rPr lang="tr-TR" dirty="0"/>
              <a:t>, </a:t>
            </a:r>
          </a:p>
          <a:p>
            <a:pPr lvl="2"/>
            <a:r>
              <a:rPr lang="tr-TR" dirty="0"/>
              <a:t>kilitlenmeler periyodik kontrol edilir. </a:t>
            </a:r>
          </a:p>
          <a:p>
            <a:pPr lvl="2"/>
            <a:r>
              <a:rPr lang="tr-TR" dirty="0"/>
              <a:t>kilitlenme algılanırsa, kaynak serbest bırakılır, normal moda döner.</a:t>
            </a:r>
          </a:p>
          <a:p>
            <a:r>
              <a:rPr lang="tr-TR" dirty="0"/>
              <a:t>Problem nadiren gerçekleşirse tercih edilebilir.</a:t>
            </a:r>
          </a:p>
          <a:p>
            <a:r>
              <a:rPr lang="tr-TR" dirty="0"/>
              <a:t>Tespit ve önleme maliyetleri düşüktür.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124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Tespiti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bir süreç ve kaynak, çizgede bir </a:t>
            </a:r>
            <a:r>
              <a:rPr lang="tr-TR" i="1" dirty="0"/>
              <a:t>düğüm</a:t>
            </a:r>
            <a:r>
              <a:rPr lang="tr-TR" dirty="0"/>
              <a:t> ile temsil edilir.</a:t>
            </a:r>
          </a:p>
          <a:p>
            <a:r>
              <a:rPr lang="tr-TR" dirty="0"/>
              <a:t>Süreç ile kaynak arasındaki ilişkiyi bir </a:t>
            </a:r>
            <a:r>
              <a:rPr lang="tr-TR" i="1" dirty="0"/>
              <a:t>kenar</a:t>
            </a:r>
            <a:r>
              <a:rPr lang="tr-TR" dirty="0"/>
              <a:t> temsil eder.</a:t>
            </a:r>
          </a:p>
          <a:p>
            <a:r>
              <a:rPr lang="tr-TR" dirty="0"/>
              <a:t>Döngü tespiti için </a:t>
            </a:r>
            <a:r>
              <a:rPr lang="tr-TR" i="1" dirty="0"/>
              <a:t>Derinlik Öncelikli Arama (DFS) </a:t>
            </a:r>
            <a:r>
              <a:rPr lang="tr-TR" dirty="0"/>
              <a:t>gibi algoritmalar kullanır. </a:t>
            </a:r>
          </a:p>
          <a:p>
            <a:r>
              <a:rPr lang="tr-TR" dirty="0"/>
              <a:t>Döngü varsa, kilitlenme vardır.</a:t>
            </a:r>
          </a:p>
          <a:p>
            <a:r>
              <a:rPr lang="tr-TR" dirty="0"/>
              <a:t>Her sürece atanan kaynaklar bir veri yapısında tutulur.</a:t>
            </a:r>
          </a:p>
          <a:p>
            <a:r>
              <a:rPr lang="tr-TR" dirty="0"/>
              <a:t>Süreçler kaynak alıp, serbest bıraktıkça kaynak tahsisi çizgesi güncellenir.</a:t>
            </a:r>
          </a:p>
          <a:p>
            <a:r>
              <a:rPr lang="tr-TR" dirty="0"/>
              <a:t>Kilitlenme algılanırsa, </a:t>
            </a:r>
          </a:p>
          <a:p>
            <a:pPr lvl="1"/>
            <a:r>
              <a:rPr lang="tr-TR" dirty="0"/>
              <a:t>ilgili süreçlerden biri iptal edilir, veya </a:t>
            </a:r>
          </a:p>
          <a:p>
            <a:pPr lvl="1"/>
            <a:r>
              <a:rPr lang="tr-TR" dirty="0"/>
              <a:t>süreçler tarafından tutulan kaynakların bir kısmı serbest bırakılır.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193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Tespiti – Her Türden Bir Kaynak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Bir kaynak çizgesi. (b) (a)'da tespit edilen bir döngü.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847" y="2439943"/>
            <a:ext cx="7261274" cy="35828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897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Tespit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tr-TR" dirty="0"/>
              <a:t>Çizgedeki her bir </a:t>
            </a:r>
            <a:r>
              <a:rPr lang="tr-TR" i="1" dirty="0"/>
              <a:t>N</a:t>
            </a:r>
            <a:r>
              <a:rPr lang="tr-TR" dirty="0"/>
              <a:t> düğümü için, </a:t>
            </a:r>
            <a:r>
              <a:rPr lang="tr-TR" i="1" dirty="0"/>
              <a:t>N</a:t>
            </a:r>
            <a:r>
              <a:rPr lang="tr-TR" dirty="0"/>
              <a:t> düğümünden başlayarak;</a:t>
            </a:r>
          </a:p>
          <a:p>
            <a:pPr marL="457200" indent="-457200">
              <a:buFont typeface="+mj-lt"/>
              <a:buAutoNum type="arabicPeriod"/>
            </a:pPr>
            <a:r>
              <a:rPr lang="tr-TR" i="1" dirty="0"/>
              <a:t>L</a:t>
            </a:r>
            <a:r>
              <a:rPr lang="tr-TR" dirty="0"/>
              <a:t>'yi boş liste olarak, tüm okları işaretlenmemiş olarak ata.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Mevcut düğümü L'nin sonuna ekle. </a:t>
            </a:r>
          </a:p>
          <a:p>
            <a:pPr marL="914400" lvl="1" indent="-457200">
              <a:buFont typeface="+mj-lt"/>
              <a:buAutoNum type="arabicPeriod"/>
            </a:pPr>
            <a:r>
              <a:rPr lang="tr-TR" dirty="0"/>
              <a:t>Düğüm L'de iki kez varsa, çizge döngü içerir, algoritma sona erer.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Mevcut düğümden giden işaretlenmemiş ok, </a:t>
            </a:r>
          </a:p>
          <a:p>
            <a:pPr marL="914400" lvl="1" indent="-457200">
              <a:buFont typeface="+mj-lt"/>
              <a:buAutoNum type="arabicPeriod"/>
            </a:pPr>
            <a:r>
              <a:rPr lang="tr-TR" dirty="0"/>
              <a:t>varsa, 5. adıma git; </a:t>
            </a:r>
          </a:p>
          <a:p>
            <a:pPr marL="914400" lvl="1" indent="-457200">
              <a:buFont typeface="+mj-lt"/>
              <a:buAutoNum type="arabicPeriod"/>
            </a:pPr>
            <a:r>
              <a:rPr lang="tr-TR" dirty="0"/>
              <a:t>yoksa, 6. adıma git.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Oklardan birini seç, işaretle, okun gösterdiği düğüme git, 3. adıma git.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Başlangıç düğüme gelindi ise, çizge döngü içermez, algoritma sona erer. 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Aksi takdirde düğümü listeden çıkar, önceki düğüme dön, 3. adıma git.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251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Tespiti – Her Türden Çoklu Kaynak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Kilitlenme tespit algoritması dört tane veri yapısı kullanır.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993" y="2359026"/>
            <a:ext cx="8482013" cy="38623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5699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Tespit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C</a:t>
            </a:r>
            <a:r>
              <a:rPr lang="tr-TR" dirty="0"/>
              <a:t>: </a:t>
            </a:r>
            <a:r>
              <a:rPr lang="tr-TR" i="1" dirty="0" err="1"/>
              <a:t>current</a:t>
            </a:r>
            <a:r>
              <a:rPr lang="tr-TR" i="1" dirty="0"/>
              <a:t> </a:t>
            </a:r>
            <a:r>
              <a:rPr lang="tr-TR" i="1" dirty="0" err="1"/>
              <a:t>allocation</a:t>
            </a:r>
            <a:r>
              <a:rPr lang="tr-TR" i="1" dirty="0"/>
              <a:t> </a:t>
            </a:r>
            <a:r>
              <a:rPr lang="tr-TR" i="1" dirty="0" err="1"/>
              <a:t>matrix</a:t>
            </a:r>
            <a:r>
              <a:rPr lang="tr-TR" i="1" dirty="0"/>
              <a:t> </a:t>
            </a:r>
            <a:r>
              <a:rPr lang="tr-TR" dirty="0"/>
              <a:t>(var olan kaynakları tutar).</a:t>
            </a:r>
          </a:p>
          <a:p>
            <a:pPr marL="0" indent="0">
              <a:buNone/>
            </a:pPr>
            <a:r>
              <a:rPr lang="tr-TR" b="1" dirty="0"/>
              <a:t>R</a:t>
            </a:r>
            <a:r>
              <a:rPr lang="tr-TR" dirty="0"/>
              <a:t>: </a:t>
            </a:r>
            <a:r>
              <a:rPr lang="tr-TR" i="1" dirty="0" err="1"/>
              <a:t>request</a:t>
            </a:r>
            <a:r>
              <a:rPr lang="tr-TR" i="1" dirty="0"/>
              <a:t> </a:t>
            </a:r>
            <a:r>
              <a:rPr lang="tr-TR" i="1" dirty="0" err="1"/>
              <a:t>matrix</a:t>
            </a:r>
            <a:r>
              <a:rPr lang="tr-TR" dirty="0"/>
              <a:t> (istekte bulunulan kaynakları tutar).</a:t>
            </a:r>
          </a:p>
          <a:p>
            <a:pPr marL="0" indent="0">
              <a:buNone/>
            </a:pPr>
            <a:r>
              <a:rPr lang="tr-TR" b="1" dirty="0"/>
              <a:t>A</a:t>
            </a:r>
            <a:r>
              <a:rPr lang="tr-TR" dirty="0"/>
              <a:t>: </a:t>
            </a:r>
            <a:r>
              <a:rPr lang="tr-TR" i="1" dirty="0" err="1"/>
              <a:t>available</a:t>
            </a:r>
            <a:r>
              <a:rPr lang="tr-TR" i="1" dirty="0"/>
              <a:t> </a:t>
            </a:r>
            <a:r>
              <a:rPr lang="tr-TR" i="1" dirty="0" err="1"/>
              <a:t>resource</a:t>
            </a:r>
            <a:r>
              <a:rPr lang="tr-TR" i="1" dirty="0"/>
              <a:t> </a:t>
            </a:r>
            <a:r>
              <a:rPr lang="tr-TR" i="1" dirty="0" err="1"/>
              <a:t>count</a:t>
            </a:r>
            <a:r>
              <a:rPr lang="tr-TR" dirty="0"/>
              <a:t> (serbest olan kaynak sayısı).</a:t>
            </a:r>
          </a:p>
          <a:p>
            <a:pPr marL="457200" indent="-457200">
              <a:buFont typeface="+mj-lt"/>
              <a:buAutoNum type="arabicPeriod"/>
            </a:pPr>
            <a:r>
              <a:rPr lang="tr-TR" b="1" dirty="0"/>
              <a:t>R</a:t>
            </a:r>
            <a:r>
              <a:rPr lang="tr-TR" dirty="0"/>
              <a:t> matrisinin, </a:t>
            </a:r>
            <a:r>
              <a:rPr lang="tr-TR" b="1" dirty="0"/>
              <a:t>i</a:t>
            </a:r>
            <a:r>
              <a:rPr lang="tr-TR" dirty="0"/>
              <a:t> satırında, &lt;= </a:t>
            </a:r>
            <a:r>
              <a:rPr lang="tr-TR" b="1" dirty="0"/>
              <a:t>A</a:t>
            </a:r>
            <a:r>
              <a:rPr lang="tr-TR" dirty="0"/>
              <a:t>, işaretlenmemiş bir </a:t>
            </a:r>
            <a:r>
              <a:rPr lang="tr-TR" b="1" dirty="0"/>
              <a:t>P</a:t>
            </a:r>
            <a:r>
              <a:rPr lang="tr-TR" b="1" baseline="-25000" dirty="0"/>
              <a:t>i</a:t>
            </a:r>
            <a:r>
              <a:rPr lang="tr-TR" dirty="0"/>
              <a:t> süreci ara.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Bulunursa, </a:t>
            </a:r>
            <a:r>
              <a:rPr lang="tr-TR" b="1" dirty="0"/>
              <a:t>C</a:t>
            </a:r>
            <a:r>
              <a:rPr lang="tr-TR" dirty="0"/>
              <a:t>'nin </a:t>
            </a:r>
            <a:r>
              <a:rPr lang="tr-TR" b="1" dirty="0" err="1"/>
              <a:t>i</a:t>
            </a:r>
            <a:r>
              <a:rPr lang="tr-TR" dirty="0" err="1"/>
              <a:t>'inci</a:t>
            </a:r>
            <a:r>
              <a:rPr lang="tr-TR" dirty="0"/>
              <a:t> satırına </a:t>
            </a:r>
            <a:r>
              <a:rPr lang="tr-TR" b="1" dirty="0"/>
              <a:t>A</a:t>
            </a:r>
            <a:r>
              <a:rPr lang="tr-TR" dirty="0"/>
              <a:t>'yı ekle, süreci işaretle, 1. adıma dön.</a:t>
            </a:r>
          </a:p>
          <a:p>
            <a:pPr marL="457200" indent="-457200">
              <a:buFont typeface="+mj-lt"/>
              <a:buAutoNum type="arabicPeriod"/>
            </a:pPr>
            <a:r>
              <a:rPr lang="tr-TR" dirty="0"/>
              <a:t>Böyle bir süreç yoksa, algoritma sona erer.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93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Tespiti İçin Bir Örnek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5" y="1690688"/>
            <a:ext cx="6965950" cy="4098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5190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Kilitlenmeden Kaçınma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süreç tarafından kullanılan iki kaynağın kullanım eğrisi (</a:t>
            </a:r>
            <a:r>
              <a:rPr lang="tr-TR" i="1" dirty="0" err="1"/>
              <a:t>trajectory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565" y="2311188"/>
            <a:ext cx="6372951" cy="38293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0422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 ve Güvensiz Durumlar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tablosunda verilen durum güvenli, </a:t>
            </a:r>
          </a:p>
          <a:p>
            <a:r>
              <a:rPr lang="tr-TR" dirty="0"/>
              <a:t>Süreçler B-&gt;C-&gt;A sırasında çalıştırılır.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10" name="Picture 9" descr="A white background with black squares&#10;&#10;Description automatically generated with medium confidence">
            <a:extLst>
              <a:ext uri="{FF2B5EF4-FFF2-40B4-BE49-F238E27FC236}">
                <a16:creationId xmlns:a16="http://schemas.microsoft.com/office/drawing/2014/main" id="{545D0D46-30B7-EED4-3A04-5DB183BBF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7" y="2872369"/>
            <a:ext cx="11347163" cy="314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00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 ve Güvensiz Durumlar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(b) tablosunda verilen durum güvensiz.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048794"/>
            <a:ext cx="8953500" cy="20843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3751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Banker’s</a:t>
            </a:r>
            <a:r>
              <a:rPr lang="tr-TR" dirty="0"/>
              <a:t> Algoritması – Tek Kaynak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Mevcut kaynakları ve her bir sürecin maksimum talebini takip eder.</a:t>
            </a:r>
          </a:p>
          <a:p>
            <a:r>
              <a:rPr lang="tr-TR" dirty="0"/>
              <a:t>Sürecin talebi sistemi güvensiz bir durumda bırakmıyorsa, kaynaklar verilir.</a:t>
            </a:r>
          </a:p>
          <a:p>
            <a:r>
              <a:rPr lang="tr-TR" dirty="0"/>
              <a:t>Sürecin talebi, güvensiz bir duruma yol açıyorsa, ertelenir.</a:t>
            </a:r>
          </a:p>
          <a:p>
            <a:r>
              <a:rPr lang="tr-TR" dirty="0"/>
              <a:t>Tahsis ve kaynak ihtiyacını takip etmek için bir matris kullanır.</a:t>
            </a:r>
          </a:p>
          <a:p>
            <a:r>
              <a:rPr lang="tr-TR" dirty="0"/>
              <a:t>Kilitlenmeye yol açmadan sonlanan süreç varsa durum güvenli kabul edilir.</a:t>
            </a:r>
          </a:p>
          <a:p>
            <a:r>
              <a:rPr lang="tr-TR" dirty="0"/>
              <a:t>Algoritma, </a:t>
            </a:r>
          </a:p>
          <a:p>
            <a:pPr lvl="1"/>
            <a:r>
              <a:rPr lang="tr-TR" dirty="0"/>
              <a:t>tüm süreçler tamamlandığında veya </a:t>
            </a:r>
          </a:p>
          <a:p>
            <a:pPr lvl="1"/>
            <a:r>
              <a:rPr lang="tr-TR" dirty="0"/>
              <a:t>kilitlenme meydana geldiğinde sona erer.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786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Banker’s</a:t>
            </a:r>
            <a:r>
              <a:rPr lang="tr-TR" dirty="0"/>
              <a:t> Algoritması – Tek Kaynak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Üç kaynak tahsis durumu: (a) Güvenli. (b) Güvenli. (c) Güvensiz.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118" y="2603500"/>
            <a:ext cx="8259763" cy="2974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2646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Banker’s</a:t>
            </a:r>
            <a:r>
              <a:rPr lang="tr-TR" dirty="0"/>
              <a:t> Algoritması – Çoklu Kaynak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sürece, bir dizi kaynak türü ve talep edilen maksimum miktarı atanır.</a:t>
            </a:r>
          </a:p>
          <a:p>
            <a:r>
              <a:rPr lang="tr-TR" dirty="0"/>
              <a:t>Algoritma, her sürece tahsis edilen kaynakları ve mevcut kaynakları izler.</a:t>
            </a:r>
          </a:p>
          <a:p>
            <a:r>
              <a:rPr lang="tr-TR" dirty="0"/>
              <a:t>Sürecin talebi, </a:t>
            </a:r>
          </a:p>
          <a:p>
            <a:pPr lvl="1"/>
            <a:r>
              <a:rPr lang="tr-TR" dirty="0"/>
              <a:t>yeterli miktarda kaynak varsa ve </a:t>
            </a:r>
          </a:p>
          <a:p>
            <a:pPr lvl="1"/>
            <a:r>
              <a:rPr lang="tr-TR" dirty="0"/>
              <a:t>kilitlenmeye neden olmuyorsa karşılanır.</a:t>
            </a:r>
          </a:p>
          <a:p>
            <a:r>
              <a:rPr lang="tr-TR" dirty="0"/>
              <a:t>Algoritma, kaynak tahsisini yeterli kaynak sağlanana kadar erteleyebilir.</a:t>
            </a:r>
          </a:p>
          <a:p>
            <a:r>
              <a:rPr lang="tr-TR" dirty="0"/>
              <a:t>Kaynak tahsisini izlemek ve kontrol için arka planda sürekli çalışır.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91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Banker’s</a:t>
            </a:r>
            <a:r>
              <a:rPr lang="tr-TR" dirty="0"/>
              <a:t> Algoritması – Çoklu Kaynak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881" y="2023926"/>
            <a:ext cx="7234238" cy="3857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8825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Banker’s</a:t>
            </a:r>
            <a:r>
              <a:rPr lang="tr-TR" dirty="0"/>
              <a:t> Algoritması – Çoklu Kaynak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R</a:t>
            </a:r>
            <a:r>
              <a:rPr lang="tr-TR" dirty="0"/>
              <a:t>: </a:t>
            </a:r>
            <a:r>
              <a:rPr lang="tr-TR" i="1" dirty="0" err="1"/>
              <a:t>request</a:t>
            </a:r>
            <a:r>
              <a:rPr lang="tr-TR" i="1" dirty="0"/>
              <a:t> </a:t>
            </a:r>
            <a:r>
              <a:rPr lang="tr-TR" i="1" dirty="0" err="1"/>
              <a:t>matrix</a:t>
            </a:r>
            <a:r>
              <a:rPr lang="tr-TR" dirty="0"/>
              <a:t> (istekte bulunulan kaynakları tutar).</a:t>
            </a:r>
          </a:p>
          <a:p>
            <a:pPr marL="0" indent="0">
              <a:buNone/>
            </a:pPr>
            <a:r>
              <a:rPr lang="tr-TR" b="1" dirty="0"/>
              <a:t>A</a:t>
            </a:r>
            <a:r>
              <a:rPr lang="tr-TR" dirty="0"/>
              <a:t>: </a:t>
            </a:r>
            <a:r>
              <a:rPr lang="tr-TR" i="1" dirty="0" err="1"/>
              <a:t>available</a:t>
            </a:r>
            <a:r>
              <a:rPr lang="tr-TR" i="1" dirty="0"/>
              <a:t> </a:t>
            </a:r>
            <a:r>
              <a:rPr lang="tr-TR" i="1" dirty="0" err="1"/>
              <a:t>resource</a:t>
            </a:r>
            <a:r>
              <a:rPr lang="tr-TR" i="1" dirty="0"/>
              <a:t> </a:t>
            </a:r>
            <a:r>
              <a:rPr lang="tr-TR" i="1" dirty="0" err="1"/>
              <a:t>count</a:t>
            </a:r>
            <a:r>
              <a:rPr lang="tr-TR" dirty="0"/>
              <a:t> (serbest olan kaynak sayısı).</a:t>
            </a:r>
          </a:p>
          <a:p>
            <a:pPr marL="0" indent="0">
              <a:buNone/>
            </a:pPr>
            <a:r>
              <a:rPr lang="tr-TR" dirty="0"/>
              <a:t>1. </a:t>
            </a:r>
            <a:r>
              <a:rPr lang="tr-TR" b="1" dirty="0"/>
              <a:t>R</a:t>
            </a:r>
            <a:r>
              <a:rPr lang="tr-TR" dirty="0"/>
              <a:t> matrisinde, &lt;= </a:t>
            </a:r>
            <a:r>
              <a:rPr lang="tr-TR" b="1" dirty="0"/>
              <a:t>A</a:t>
            </a:r>
            <a:r>
              <a:rPr lang="tr-TR" dirty="0"/>
              <a:t> kaynağa ihtiyaç duyan satır arar.</a:t>
            </a:r>
          </a:p>
          <a:p>
            <a:pPr lvl="1"/>
            <a:r>
              <a:rPr lang="tr-TR" dirty="0"/>
              <a:t>Böyle satır yoksa, hiçbir süreç tamamlanmayacak, sistem kilitlenecektir.</a:t>
            </a:r>
          </a:p>
          <a:p>
            <a:pPr marL="0" indent="0">
              <a:buNone/>
            </a:pPr>
            <a:r>
              <a:rPr lang="tr-TR" dirty="0"/>
              <a:t>2. Seçili satırdaki süreci, işaretler, ve tüm kaynaklarını </a:t>
            </a:r>
            <a:r>
              <a:rPr lang="tr-TR" b="1" dirty="0"/>
              <a:t>A</a:t>
            </a:r>
            <a:r>
              <a:rPr lang="tr-TR" dirty="0"/>
              <a:t>'ya ekler.</a:t>
            </a:r>
          </a:p>
          <a:p>
            <a:pPr marL="0" indent="0">
              <a:buNone/>
            </a:pPr>
            <a:r>
              <a:rPr lang="tr-TR" dirty="0"/>
              <a:t>3. İşaretlenmemiş ve talebi karşılanabilen süreç oldukça adımları tekrarlar.</a:t>
            </a:r>
          </a:p>
          <a:p>
            <a:pPr marL="0" indent="0">
              <a:buNone/>
            </a:pPr>
            <a:r>
              <a:rPr lang="tr-TR" dirty="0"/>
              <a:t>4. Tüm süreçler işaretlendi ise kilitlenme yoktur.</a:t>
            </a:r>
          </a:p>
          <a:p>
            <a:pPr marL="0" indent="0">
              <a:buNone/>
            </a:pPr>
            <a:r>
              <a:rPr lang="tr-TR" dirty="0"/>
              <a:t>5. Talebi karşılanmayan süreç varsa, kilitlenme vardır.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81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Önleme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Karşılıklı dışlama </a:t>
            </a:r>
            <a:r>
              <a:rPr lang="tr-TR" dirty="0"/>
              <a:t>(</a:t>
            </a:r>
            <a:r>
              <a:rPr lang="tr-TR" i="1" dirty="0" err="1"/>
              <a:t>mutual</a:t>
            </a:r>
            <a:r>
              <a:rPr lang="tr-TR" i="1" dirty="0"/>
              <a:t> </a:t>
            </a:r>
            <a:r>
              <a:rPr lang="tr-TR" i="1" dirty="0" err="1"/>
              <a:t>exclusion</a:t>
            </a:r>
            <a:r>
              <a:rPr lang="tr-TR" dirty="0"/>
              <a:t>) koşulunu kaldırma, </a:t>
            </a:r>
          </a:p>
          <a:p>
            <a:pPr lvl="1"/>
            <a:r>
              <a:rPr lang="tr-TR" dirty="0"/>
              <a:t>Her seferinde yalnızca bir süreç kaynak isteyebilir ve tahsis edilebilir. </a:t>
            </a:r>
          </a:p>
          <a:p>
            <a:pPr lvl="1"/>
            <a:r>
              <a:rPr lang="tr-TR" dirty="0"/>
              <a:t>Kaynaklar sıralanır veya kaynağın birden çok örneğine izin verilir.</a:t>
            </a:r>
          </a:p>
          <a:p>
            <a:r>
              <a:rPr lang="tr-TR" b="1" dirty="0"/>
              <a:t>Tut ve bekle </a:t>
            </a:r>
            <a:r>
              <a:rPr lang="tr-TR" dirty="0"/>
              <a:t>(</a:t>
            </a:r>
            <a:r>
              <a:rPr lang="tr-TR" i="1" dirty="0" err="1"/>
              <a:t>hold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wait</a:t>
            </a:r>
            <a:r>
              <a:rPr lang="tr-TR" dirty="0"/>
              <a:t>) durumunu kaldırma,</a:t>
            </a:r>
          </a:p>
          <a:p>
            <a:pPr lvl="1"/>
            <a:r>
              <a:rPr lang="tr-TR" dirty="0"/>
              <a:t>Süreçlerin diğer süreçleri beklerken kaynakları tutması önlenir. </a:t>
            </a:r>
          </a:p>
          <a:p>
            <a:pPr lvl="1"/>
            <a:r>
              <a:rPr lang="tr-TR" dirty="0"/>
              <a:t>Süreç yürütülmeden önce ihtiyaç duyduğu tüm kaynakları talep eder.</a:t>
            </a:r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3827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Önleme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Kesme yok </a:t>
            </a:r>
            <a:r>
              <a:rPr lang="tr-TR" dirty="0"/>
              <a:t>(</a:t>
            </a:r>
            <a:r>
              <a:rPr lang="tr-TR" i="1" dirty="0" err="1"/>
              <a:t>no</a:t>
            </a:r>
            <a:r>
              <a:rPr lang="tr-TR" i="1" dirty="0"/>
              <a:t> </a:t>
            </a:r>
            <a:r>
              <a:rPr lang="tr-TR" i="1" dirty="0" err="1"/>
              <a:t>preemption</a:t>
            </a:r>
            <a:r>
              <a:rPr lang="tr-TR" dirty="0"/>
              <a:t>) koşulunu kaldırmak,</a:t>
            </a:r>
          </a:p>
          <a:p>
            <a:pPr lvl="1"/>
            <a:r>
              <a:rPr lang="tr-TR" dirty="0"/>
              <a:t>Kaynak, yüksek öncelikli süreç tarafından önceden kullanılmamalı. </a:t>
            </a:r>
          </a:p>
          <a:p>
            <a:pPr lvl="1"/>
            <a:r>
              <a:rPr lang="tr-TR" dirty="0"/>
              <a:t>Süreç bitene kadar kaynakları tutmasına izin verilir.</a:t>
            </a:r>
          </a:p>
          <a:p>
            <a:pPr lvl="1"/>
            <a:r>
              <a:rPr lang="tr-TR" dirty="0"/>
              <a:t>Süreç bloke olursa kaynakları serbest bırakır.</a:t>
            </a:r>
          </a:p>
          <a:p>
            <a:r>
              <a:rPr lang="tr-TR" b="1" dirty="0"/>
              <a:t>Döngüsel bekleme</a:t>
            </a:r>
            <a:r>
              <a:rPr lang="tr-TR" dirty="0"/>
              <a:t> (</a:t>
            </a:r>
            <a:r>
              <a:rPr lang="tr-TR" i="1" dirty="0" err="1"/>
              <a:t>circular</a:t>
            </a:r>
            <a:r>
              <a:rPr lang="tr-TR" i="1" dirty="0"/>
              <a:t> </a:t>
            </a:r>
            <a:r>
              <a:rPr lang="tr-TR" i="1" dirty="0" err="1"/>
              <a:t>wait</a:t>
            </a:r>
            <a:r>
              <a:rPr lang="tr-TR" dirty="0"/>
              <a:t>) koşulunu kaldırmak,</a:t>
            </a:r>
          </a:p>
          <a:p>
            <a:pPr lvl="1"/>
            <a:r>
              <a:rPr lang="tr-TR" dirty="0"/>
              <a:t>Kaynak tahsis sıralaması tanımlar. </a:t>
            </a:r>
          </a:p>
          <a:p>
            <a:pPr lvl="2"/>
            <a:r>
              <a:rPr lang="tr-TR" dirty="0"/>
              <a:t>Kaynakları numaralandırarak veya </a:t>
            </a:r>
          </a:p>
          <a:p>
            <a:pPr lvl="2"/>
            <a:r>
              <a:rPr lang="tr-TR" dirty="0"/>
              <a:t>Kaynak hiyerarşisi kullanarak yapılabilir.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288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Döngüsel Bekleme Koşulunu Kaldırmak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Sayısal olarak sıralanmış kaynaklar. (b) Bir kaynak tahsis çizgesi.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163" y="3013304"/>
            <a:ext cx="7009289" cy="26467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759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 Önleme Yaklaşımları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872719"/>
              </p:ext>
            </p:extLst>
          </p:nvPr>
        </p:nvGraphicFramePr>
        <p:xfrm>
          <a:off x="1556657" y="2700837"/>
          <a:ext cx="8815251" cy="2286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Durum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Yaklaşım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Karşılıklı dışlama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Talepleri biriktir.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Tut ve bekle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Başlangıçta tüm kaynakları talep 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Kesme yok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Kaynakları serbest bırak.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400" dirty="0"/>
                        <a:t>Döngüsel bekleme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400" dirty="0"/>
                        <a:t>Kaynakları sayısal olarak sırala.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264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Kilitlenmeden Kurtarma (</a:t>
            </a:r>
            <a:r>
              <a:rPr lang="tr-TR" dirty="0" err="1"/>
              <a:t>recovery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Önleme (</a:t>
            </a:r>
            <a:r>
              <a:rPr lang="tr-TR" i="1" dirty="0" err="1"/>
              <a:t>prevention</a:t>
            </a:r>
            <a:r>
              <a:rPr lang="tr-TR" dirty="0"/>
              <a:t>): süreçlerin kaynak talep etmesini kısıtlar.</a:t>
            </a:r>
          </a:p>
          <a:p>
            <a:r>
              <a:rPr lang="tr-TR" dirty="0"/>
              <a:t>Tespit (</a:t>
            </a:r>
            <a:r>
              <a:rPr lang="tr-TR" i="1" dirty="0" err="1"/>
              <a:t>detection</a:t>
            </a:r>
            <a:r>
              <a:rPr lang="tr-TR" dirty="0"/>
              <a:t>): kilitlenmeyi tespit etmek için sistemi izler.</a:t>
            </a:r>
          </a:p>
          <a:p>
            <a:r>
              <a:rPr lang="tr-TR" dirty="0"/>
              <a:t>Geri alma (</a:t>
            </a:r>
            <a:r>
              <a:rPr lang="tr-TR" i="1" dirty="0" err="1"/>
              <a:t>rollback</a:t>
            </a:r>
            <a:r>
              <a:rPr lang="tr-TR" dirty="0"/>
              <a:t>): güvenli duruma geri dönmeyi sağlar.</a:t>
            </a:r>
          </a:p>
          <a:p>
            <a:r>
              <a:rPr lang="tr-TR" dirty="0"/>
              <a:t>Sonlandırma (</a:t>
            </a:r>
            <a:r>
              <a:rPr lang="tr-TR" i="1" dirty="0" err="1"/>
              <a:t>termination</a:t>
            </a:r>
            <a:r>
              <a:rPr lang="tr-TR" dirty="0"/>
              <a:t>): süreci sonlandırır (</a:t>
            </a:r>
            <a:r>
              <a:rPr lang="tr-TR" i="1" dirty="0" err="1"/>
              <a:t>killing</a:t>
            </a:r>
            <a:r>
              <a:rPr lang="tr-TR" dirty="0"/>
              <a:t>).</a:t>
            </a:r>
          </a:p>
          <a:p>
            <a:r>
              <a:rPr lang="tr-TR" dirty="0"/>
              <a:t>Çağrı üstünlüğü (</a:t>
            </a:r>
            <a:r>
              <a:rPr lang="tr-TR" i="1" dirty="0" err="1"/>
              <a:t>preemption</a:t>
            </a:r>
            <a:r>
              <a:rPr lang="tr-TR" dirty="0"/>
              <a:t>): kaynağı bir süreçten alıp başkasına verir.</a:t>
            </a:r>
          </a:p>
          <a:p>
            <a:r>
              <a:rPr lang="tr-TR" dirty="0"/>
              <a:t>Kaynak tahsis ayarlaması (</a:t>
            </a:r>
            <a:r>
              <a:rPr lang="tr-TR" i="1" dirty="0" err="1"/>
              <a:t>setting</a:t>
            </a:r>
            <a:r>
              <a:rPr lang="tr-TR" i="1" dirty="0"/>
              <a:t> </a:t>
            </a:r>
            <a:r>
              <a:rPr lang="tr-TR" i="1" dirty="0" err="1"/>
              <a:t>allocated</a:t>
            </a:r>
            <a:r>
              <a:rPr lang="tr-TR" i="1" dirty="0"/>
              <a:t> </a:t>
            </a:r>
            <a:r>
              <a:rPr lang="tr-TR" i="1" dirty="0" err="1"/>
              <a:t>resource</a:t>
            </a:r>
            <a:r>
              <a:rPr lang="tr-TR" i="1" dirty="0"/>
              <a:t> </a:t>
            </a:r>
            <a:r>
              <a:rPr lang="tr-TR" i="1" dirty="0" err="1"/>
              <a:t>count</a:t>
            </a:r>
            <a:r>
              <a:rPr lang="tr-TR" dirty="0"/>
              <a:t>): sürece tahsis edilen kaynakların sayısının dinamik olarak ayarlanmasını içerir.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401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Diğer Sorunlar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aşamalı kilitleme (</a:t>
            </a:r>
            <a:r>
              <a:rPr lang="tr-TR" i="1" dirty="0" err="1"/>
              <a:t>two</a:t>
            </a:r>
            <a:r>
              <a:rPr lang="tr-TR" i="1" dirty="0"/>
              <a:t> </a:t>
            </a:r>
            <a:r>
              <a:rPr lang="tr-TR" i="1" dirty="0" err="1"/>
              <a:t>phase</a:t>
            </a:r>
            <a:r>
              <a:rPr lang="tr-TR" i="1" dirty="0"/>
              <a:t> </a:t>
            </a:r>
            <a:r>
              <a:rPr lang="tr-TR" i="1" dirty="0" err="1"/>
              <a:t>locking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Yalnızca gerektiğinde kilit alınır ve en kısa sürede serbest bırakılır.</a:t>
            </a:r>
          </a:p>
          <a:p>
            <a:pPr lvl="1"/>
            <a:r>
              <a:rPr lang="tr-TR" dirty="0"/>
              <a:t>Veritabanı sistemlerinde kullanılan bir protokol.</a:t>
            </a:r>
          </a:p>
          <a:p>
            <a:r>
              <a:rPr lang="tr-TR" dirty="0"/>
              <a:t>İletişim kilitlenmeleri (</a:t>
            </a:r>
            <a:r>
              <a:rPr lang="tr-TR" i="1" dirty="0" err="1"/>
              <a:t>communication</a:t>
            </a:r>
            <a:r>
              <a:rPr lang="tr-TR" i="1" dirty="0"/>
              <a:t> </a:t>
            </a:r>
            <a:r>
              <a:rPr lang="tr-TR" i="1" dirty="0" err="1"/>
              <a:t>deadlocks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Birden çok sürecin birbirinden yanıt beklediği sistemlerde oluşur.</a:t>
            </a:r>
          </a:p>
          <a:p>
            <a:r>
              <a:rPr lang="tr-TR" dirty="0"/>
              <a:t>Canlı kilit (</a:t>
            </a:r>
            <a:r>
              <a:rPr lang="tr-TR" i="1" dirty="0" err="1"/>
              <a:t>live</a:t>
            </a:r>
            <a:r>
              <a:rPr lang="tr-TR" i="1" dirty="0"/>
              <a:t> </a:t>
            </a:r>
            <a:r>
              <a:rPr lang="tr-TR" i="1" dirty="0" err="1"/>
              <a:t>lock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Bir sürecin, diğerinin ileriye doğru bir adım atmasını beklediği durum.</a:t>
            </a:r>
          </a:p>
          <a:p>
            <a:r>
              <a:rPr lang="tr-TR" dirty="0"/>
              <a:t>Açlık (</a:t>
            </a:r>
            <a:r>
              <a:rPr lang="tr-TR" i="1" dirty="0" err="1"/>
              <a:t>starvation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Bir sürecin sonlanmak için ihtiyaç duyduğu kaynakları,</a:t>
            </a:r>
          </a:p>
          <a:p>
            <a:pPr lvl="2"/>
            <a:r>
              <a:rPr lang="tr-TR" dirty="0"/>
              <a:t>elde etmesi engellendiğinde ortaya çıkar.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80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Aşamalı Kilitleme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İşletim sistemlerinde kilitlenmeleri önlemek veya yönetmek için kullanılan bir kilitleme protokolüdür.</a:t>
            </a:r>
          </a:p>
          <a:p>
            <a:r>
              <a:rPr lang="tr-TR" dirty="0"/>
              <a:t>Bir süreç kaynak talep ettiğinde ve kaynakları serbest bıraktığında iki aşamalı bir süreci izler.</a:t>
            </a:r>
          </a:p>
          <a:p>
            <a:pPr lvl="1"/>
            <a:r>
              <a:rPr lang="tr-TR" dirty="0"/>
              <a:t>Büyüme (</a:t>
            </a:r>
            <a:r>
              <a:rPr lang="tr-TR" i="1" dirty="0" err="1"/>
              <a:t>growth</a:t>
            </a:r>
            <a:r>
              <a:rPr lang="tr-TR" dirty="0"/>
              <a:t>) evresi,</a:t>
            </a:r>
          </a:p>
          <a:p>
            <a:pPr lvl="2"/>
            <a:r>
              <a:rPr lang="tr-TR" dirty="0"/>
              <a:t>Süreç, kaynakları talep ederken kilitleri sırayla alır. </a:t>
            </a:r>
          </a:p>
          <a:p>
            <a:pPr lvl="2"/>
            <a:r>
              <a:rPr lang="tr-TR" dirty="0"/>
              <a:t>Kaynak talepleri kabul edilir, ancak serbest bırakılmaz.</a:t>
            </a:r>
          </a:p>
          <a:p>
            <a:pPr lvl="1"/>
            <a:r>
              <a:rPr lang="tr-TR" dirty="0"/>
              <a:t>Küçülme (</a:t>
            </a:r>
            <a:r>
              <a:rPr lang="tr-TR" i="1" dirty="0" err="1"/>
              <a:t>shrinkage</a:t>
            </a:r>
            <a:r>
              <a:rPr lang="tr-TR" dirty="0"/>
              <a:t>) evresi.</a:t>
            </a:r>
          </a:p>
          <a:p>
            <a:pPr lvl="2"/>
            <a:r>
              <a:rPr lang="tr-TR" dirty="0"/>
              <a:t>Süreç, kaynakları serbest bırakırken kilitleri sırayla bırakır. </a:t>
            </a:r>
          </a:p>
          <a:p>
            <a:pPr lvl="2"/>
            <a:r>
              <a:rPr lang="tr-TR" dirty="0"/>
              <a:t>Kaynaklar başka süreçler tarafından talep edilebilir hale gelir.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713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İletişim Kilitlenmeleri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İletişim yollarında oluşan döngüler veya bekleme durumları nedeniyle meydana gelir.</a:t>
            </a:r>
          </a:p>
          <a:p>
            <a:r>
              <a:rPr lang="tr-TR" dirty="0"/>
              <a:t>Bir süreç diğer bir sürece bir kaynak veya mesaj gönderirken, </a:t>
            </a:r>
          </a:p>
          <a:p>
            <a:pPr lvl="1"/>
            <a:r>
              <a:rPr lang="tr-TR" dirty="0"/>
              <a:t>Hedef süreçteki kaynakların kullanılabilir olmaması veya </a:t>
            </a:r>
          </a:p>
          <a:p>
            <a:pPr lvl="1"/>
            <a:r>
              <a:rPr lang="tr-TR" dirty="0"/>
              <a:t>Mesajın alınmaması sonucunda ortaya çıkar.</a:t>
            </a:r>
          </a:p>
          <a:p>
            <a:r>
              <a:rPr lang="tr-TR" dirty="0"/>
              <a:t>Bu durumda, </a:t>
            </a:r>
          </a:p>
          <a:p>
            <a:pPr lvl="1"/>
            <a:r>
              <a:rPr lang="tr-TR" dirty="0"/>
              <a:t>Gönderen süreç beklemeye alınır ve </a:t>
            </a:r>
          </a:p>
          <a:p>
            <a:pPr lvl="1"/>
            <a:r>
              <a:rPr lang="tr-TR" dirty="0"/>
              <a:t>Kaynaklar serbest bırakılana veya mesaj alınana kadar süreç bekler.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9400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İletişim Kilitlenmeleri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ağda kaynak kilitlenmesi. Tampon bellekler dolu.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2" y="2340025"/>
            <a:ext cx="6911975" cy="3800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55585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Canlı Kilitlenme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Süreçler birbirlerine yanıt verse de, gerçekte ilerleme kaydedilmez.</a:t>
            </a:r>
          </a:p>
          <a:p>
            <a:r>
              <a:rPr lang="tr-TR" dirty="0"/>
              <a:t>Özellikle çoklu iş parçacıklı veya dağıtık sistemlerde karşılaşılır.</a:t>
            </a:r>
          </a:p>
          <a:p>
            <a:r>
              <a:rPr lang="tr-TR" dirty="0"/>
              <a:t>Canlı kilitlenme, </a:t>
            </a:r>
          </a:p>
          <a:p>
            <a:pPr lvl="1"/>
            <a:r>
              <a:rPr lang="tr-TR" dirty="0"/>
              <a:t>İşlemlerin birbirlerine yanıt verme girişimleriyle başlar, </a:t>
            </a:r>
          </a:p>
          <a:p>
            <a:pPr lvl="1"/>
            <a:r>
              <a:rPr lang="tr-TR" dirty="0"/>
              <a:t>Ancak bu girişimler bir döngüye veya durumun kötüleşmesine yol açar.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7665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Canlı Kilit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Canlı Kilit’e (</a:t>
            </a:r>
            <a:r>
              <a:rPr lang="tr-TR" i="1" dirty="0" err="1"/>
              <a:t>livelock</a:t>
            </a:r>
            <a:r>
              <a:rPr lang="tr-TR" dirty="0"/>
              <a:t>) yol açabilecek meşgul bekleme (</a:t>
            </a:r>
            <a:r>
              <a:rPr lang="tr-TR" i="1" dirty="0" err="1"/>
              <a:t>busy</a:t>
            </a:r>
            <a:r>
              <a:rPr lang="tr-TR" i="1" dirty="0"/>
              <a:t> </a:t>
            </a:r>
            <a:r>
              <a:rPr lang="tr-TR" i="1" dirty="0" err="1"/>
              <a:t>waiting</a:t>
            </a:r>
            <a:r>
              <a:rPr lang="tr-TR" dirty="0"/>
              <a:t>).</a:t>
            </a:r>
          </a:p>
          <a:p>
            <a:endParaRPr lang="tr-TR" dirty="0"/>
          </a:p>
          <a:p>
            <a:pPr marL="0" indent="0">
              <a:buNone/>
            </a:pP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process_A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 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			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process_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B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 </a:t>
            </a:r>
            <a:endParaRPr lang="tr-TR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enter_region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(&amp;resource_1); 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		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enter_region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endParaRPr lang="tr-TR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enter_region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(&amp;resource_2);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 		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enter_region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use_both_resources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			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use_both_resources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leave_region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(&amp;resource_2);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		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leave_region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endParaRPr lang="tr-TR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leave_region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(&amp;resource_1); 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		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leave_region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(&amp;resource_2);</a:t>
            </a:r>
            <a:endParaRPr lang="tr-TR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r>
              <a:rPr lang="tr-TR" sz="2000" dirty="0">
                <a:solidFill>
                  <a:schemeClr val="tx1"/>
                </a:solidFill>
                <a:latin typeface="Consolas" panose="020B0609020204030204" pitchFamily="49" charset="0"/>
              </a:rPr>
              <a:t>						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}</a:t>
            </a:r>
            <a:endParaRPr lang="tr-TR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985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Açlık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Açlık durumu, bazı süreçlerin sürekli olarak diğerlerinden öncelikli olarak kaynaklara erişmesi sonucunda oluşur.</a:t>
            </a:r>
          </a:p>
          <a:p>
            <a:r>
              <a:rPr lang="tr-TR" dirty="0"/>
              <a:t>Bu durumda, </a:t>
            </a:r>
          </a:p>
          <a:p>
            <a:pPr lvl="1"/>
            <a:r>
              <a:rPr lang="tr-TR" dirty="0"/>
              <a:t>Bazı süreçler sürekli olarak kaynaklara erişirken, </a:t>
            </a:r>
          </a:p>
          <a:p>
            <a:pPr lvl="1"/>
            <a:r>
              <a:rPr lang="tr-TR" dirty="0"/>
              <a:t>D</a:t>
            </a:r>
            <a:r>
              <a:rPr lang="tr-TR"/>
              <a:t>iğer </a:t>
            </a:r>
            <a:r>
              <a:rPr lang="tr-TR" dirty="0"/>
              <a:t>süreçler sürekli olarak beklemek zorunda kalır ve kaynak talepleri reddedilir.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7310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4625</TotalTime>
  <Words>3468</Words>
  <Application>Microsoft Office PowerPoint</Application>
  <PresentationFormat>Widescreen</PresentationFormat>
  <Paragraphs>469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Consolas</vt:lpstr>
      <vt:lpstr>Wingdings</vt:lpstr>
      <vt:lpstr>1_Office Theme</vt:lpstr>
      <vt:lpstr>Bölüm 7: Kilitlenme</vt:lpstr>
      <vt:lpstr>Sistem Modeli</vt:lpstr>
      <vt:lpstr>Kaynak Edinimi</vt:lpstr>
      <vt:lpstr>Kilitlenme İçermeyen Kod</vt:lpstr>
      <vt:lpstr>Olası Kilitlenme İçeren Kod</vt:lpstr>
      <vt:lpstr>Kilitlenme</vt:lpstr>
      <vt:lpstr>Kilitlenme Koşulları</vt:lpstr>
      <vt:lpstr>Kilitlenme Tespiti</vt:lpstr>
      <vt:lpstr>Kilitlenme Yönetim Teknikleri</vt:lpstr>
      <vt:lpstr>Tespit (Deadlock Detection)</vt:lpstr>
      <vt:lpstr>Kaçınma (Deadlock Avoidance)</vt:lpstr>
      <vt:lpstr>Engelleme (Deadlock Prevention)</vt:lpstr>
      <vt:lpstr>Kurtarma (Deadlock Recovery)</vt:lpstr>
      <vt:lpstr>Kaynak Tahsis Çizgesi</vt:lpstr>
      <vt:lpstr>Kaynak Tahsis Çizgesi</vt:lpstr>
      <vt:lpstr>Kaynak Tahsis Çizgesi</vt:lpstr>
      <vt:lpstr>Kilitlenme İçeren Kaynak Tahsis Çizgesi</vt:lpstr>
      <vt:lpstr>Kilitlenme İçermeyen Kaynak Tahsis Çizgesi</vt:lpstr>
      <vt:lpstr>Kilitlenme Nasıl Oluşur?</vt:lpstr>
      <vt:lpstr>Kilitlenme Nasıl Oluşur?</vt:lpstr>
      <vt:lpstr>Kilitlenme Nasıl Önlenebilir?</vt:lpstr>
      <vt:lpstr>Kilitlenmelerle Başa Çıkma Stratejileri</vt:lpstr>
      <vt:lpstr>Devekuşu (Ostrich) Algoritması</vt:lpstr>
      <vt:lpstr>Devekuşu (Ostrich) Algoritması</vt:lpstr>
      <vt:lpstr>Kilitlenme Tespiti</vt:lpstr>
      <vt:lpstr>Kilitlenme Tespiti – Her Türden Bir Kaynak</vt:lpstr>
      <vt:lpstr>Kilitlenme Tespit Algoritması</vt:lpstr>
      <vt:lpstr>Kilitlenme Tespiti – Her Türden Çoklu Kaynak</vt:lpstr>
      <vt:lpstr>Kilitlenme Tespit Algoritması</vt:lpstr>
      <vt:lpstr>Kilitlenme Tespiti İçin Bir Örnek</vt:lpstr>
      <vt:lpstr>Kilitlenmeden Kaçınma</vt:lpstr>
      <vt:lpstr>Güvenli ve Güvensiz Durumlar</vt:lpstr>
      <vt:lpstr>Güvenli ve Güvensiz Durumlar</vt:lpstr>
      <vt:lpstr>The Banker’s Algoritması – Tek Kaynak</vt:lpstr>
      <vt:lpstr>The Banker’s Algoritması – Tek Kaynak</vt:lpstr>
      <vt:lpstr>The Banker’s Algoritması – Çoklu Kaynak</vt:lpstr>
      <vt:lpstr>The Banker’s Algoritması – Çoklu Kaynak</vt:lpstr>
      <vt:lpstr>The Banker’s Algoritması – Çoklu Kaynak</vt:lpstr>
      <vt:lpstr>Kilitlenme Önleme</vt:lpstr>
      <vt:lpstr>Kilitlenme Önleme</vt:lpstr>
      <vt:lpstr>Döngüsel Bekleme Koşulunu Kaldırmak</vt:lpstr>
      <vt:lpstr>Kilitlenme Önleme Yaklaşımları</vt:lpstr>
      <vt:lpstr>Kilitlenmeden Kurtarma (recovery)</vt:lpstr>
      <vt:lpstr>Diğer Sorunlar</vt:lpstr>
      <vt:lpstr>İki Aşamalı Kilitleme</vt:lpstr>
      <vt:lpstr>İletişim Kilitlenmeleri </vt:lpstr>
      <vt:lpstr>İletişim Kilitlenmeleri</vt:lpstr>
      <vt:lpstr>Canlı Kilitlenme</vt:lpstr>
      <vt:lpstr>Canlı Kilit</vt:lpstr>
      <vt:lpstr>Açlık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Kilitlenme</dc:title>
  <dc:creator>sercan</dc:creator>
  <cp:lastModifiedBy>Sercan Kulcu</cp:lastModifiedBy>
  <cp:revision>408</cp:revision>
  <dcterms:created xsi:type="dcterms:W3CDTF">2023-01-12T09:23:55Z</dcterms:created>
  <dcterms:modified xsi:type="dcterms:W3CDTF">2025-01-23T18:10:35Z</dcterms:modified>
</cp:coreProperties>
</file>