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102"/>
  </p:notesMasterIdLst>
  <p:sldIdLst>
    <p:sldId id="256" r:id="rId2"/>
    <p:sldId id="257" r:id="rId3"/>
    <p:sldId id="441" r:id="rId4"/>
    <p:sldId id="397" r:id="rId5"/>
    <p:sldId id="313" r:id="rId6"/>
    <p:sldId id="482" r:id="rId7"/>
    <p:sldId id="314" r:id="rId8"/>
    <p:sldId id="398" r:id="rId9"/>
    <p:sldId id="316" r:id="rId10"/>
    <p:sldId id="399" r:id="rId11"/>
    <p:sldId id="317" r:id="rId12"/>
    <p:sldId id="464" r:id="rId13"/>
    <p:sldId id="465" r:id="rId14"/>
    <p:sldId id="466" r:id="rId15"/>
    <p:sldId id="467" r:id="rId16"/>
    <p:sldId id="400" r:id="rId17"/>
    <p:sldId id="318" r:id="rId18"/>
    <p:sldId id="319" r:id="rId19"/>
    <p:sldId id="401" r:id="rId20"/>
    <p:sldId id="320" r:id="rId21"/>
    <p:sldId id="442" r:id="rId22"/>
    <p:sldId id="321" r:id="rId23"/>
    <p:sldId id="444" r:id="rId24"/>
    <p:sldId id="447" r:id="rId25"/>
    <p:sldId id="448" r:id="rId26"/>
    <p:sldId id="449" r:id="rId27"/>
    <p:sldId id="450" r:id="rId28"/>
    <p:sldId id="451" r:id="rId29"/>
    <p:sldId id="452" r:id="rId30"/>
    <p:sldId id="453" r:id="rId31"/>
    <p:sldId id="483" r:id="rId32"/>
    <p:sldId id="454" r:id="rId33"/>
    <p:sldId id="455" r:id="rId34"/>
    <p:sldId id="402" r:id="rId35"/>
    <p:sldId id="324" r:id="rId36"/>
    <p:sldId id="456" r:id="rId37"/>
    <p:sldId id="322" r:id="rId38"/>
    <p:sldId id="323" r:id="rId39"/>
    <p:sldId id="484" r:id="rId40"/>
    <p:sldId id="457" r:id="rId41"/>
    <p:sldId id="470" r:id="rId42"/>
    <p:sldId id="471" r:id="rId43"/>
    <p:sldId id="472" r:id="rId44"/>
    <p:sldId id="458" r:id="rId45"/>
    <p:sldId id="459" r:id="rId46"/>
    <p:sldId id="460" r:id="rId47"/>
    <p:sldId id="461" r:id="rId48"/>
    <p:sldId id="475" r:id="rId49"/>
    <p:sldId id="462" r:id="rId50"/>
    <p:sldId id="463" r:id="rId51"/>
    <p:sldId id="469" r:id="rId52"/>
    <p:sldId id="468" r:id="rId53"/>
    <p:sldId id="333" r:id="rId54"/>
    <p:sldId id="473" r:id="rId55"/>
    <p:sldId id="335" r:id="rId56"/>
    <p:sldId id="336" r:id="rId57"/>
    <p:sldId id="337" r:id="rId58"/>
    <p:sldId id="338" r:id="rId59"/>
    <p:sldId id="364" r:id="rId60"/>
    <p:sldId id="339" r:id="rId61"/>
    <p:sldId id="340" r:id="rId62"/>
    <p:sldId id="474" r:id="rId63"/>
    <p:sldId id="407" r:id="rId64"/>
    <p:sldId id="341" r:id="rId65"/>
    <p:sldId id="342" r:id="rId66"/>
    <p:sldId id="343" r:id="rId67"/>
    <p:sldId id="365" r:id="rId68"/>
    <p:sldId id="477" r:id="rId69"/>
    <p:sldId id="408" r:id="rId70"/>
    <p:sldId id="409" r:id="rId71"/>
    <p:sldId id="344" r:id="rId72"/>
    <p:sldId id="479" r:id="rId73"/>
    <p:sldId id="478" r:id="rId74"/>
    <p:sldId id="345" r:id="rId75"/>
    <p:sldId id="381" r:id="rId76"/>
    <p:sldId id="476" r:id="rId77"/>
    <p:sldId id="415" r:id="rId78"/>
    <p:sldId id="418" r:id="rId79"/>
    <p:sldId id="419" r:id="rId80"/>
    <p:sldId id="420" r:id="rId81"/>
    <p:sldId id="421" r:id="rId82"/>
    <p:sldId id="385" r:id="rId83"/>
    <p:sldId id="393" r:id="rId84"/>
    <p:sldId id="386" r:id="rId85"/>
    <p:sldId id="422" r:id="rId86"/>
    <p:sldId id="423" r:id="rId87"/>
    <p:sldId id="424" r:id="rId88"/>
    <p:sldId id="425" r:id="rId89"/>
    <p:sldId id="426" r:id="rId90"/>
    <p:sldId id="387" r:id="rId91"/>
    <p:sldId id="480" r:id="rId92"/>
    <p:sldId id="481" r:id="rId93"/>
    <p:sldId id="388" r:id="rId94"/>
    <p:sldId id="395" r:id="rId95"/>
    <p:sldId id="389" r:id="rId96"/>
    <p:sldId id="396" r:id="rId97"/>
    <p:sldId id="427" r:id="rId98"/>
    <p:sldId id="390" r:id="rId99"/>
    <p:sldId id="391" r:id="rId100"/>
    <p:sldId id="312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9342C-85C3-49E4-B9D6-3F7FE9313FC7}" type="datetimeFigureOut">
              <a:rPr lang="tr-TR" smtClean="0"/>
              <a:t>5.05.2025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8DEC2-CEAF-47B3-9399-EAE868ED980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981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8DEC2-CEAF-47B3-9399-EAE868ED980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480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8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8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9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18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59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6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36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9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5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79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13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0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/>
              <a:t>Bölüm 8: </a:t>
            </a:r>
            <a:r>
              <a:rPr lang="tr-TR" b="1" dirty="0"/>
              <a:t>Bellek Yönetimi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80000" y="6356350"/>
            <a:ext cx="7200000" cy="360000"/>
          </a:xfrm>
        </p:spPr>
        <p:txBody>
          <a:bodyPr/>
          <a:lstStyle/>
          <a:p>
            <a:r>
              <a:rPr lang="en-US" dirty="0"/>
              <a:t>Sercan KÜLCÜ</a:t>
            </a:r>
            <a:r>
              <a:rPr lang="tr-TR" dirty="0"/>
              <a:t>, </a:t>
            </a:r>
            <a:r>
              <a:rPr lang="en-US" altLang="zh-CN" dirty="0" err="1">
                <a:solidFill>
                  <a:srgbClr val="898989"/>
                </a:solidFill>
                <a:latin typeface="Times New Roman" panose="02020603050405020304" pitchFamily="18" charset="0"/>
              </a:rPr>
              <a:t>Tanenbaum</a:t>
            </a:r>
            <a:r>
              <a:rPr lang="en-US" altLang="zh-CN" dirty="0">
                <a:solidFill>
                  <a:srgbClr val="898989"/>
                </a:solidFill>
                <a:latin typeface="Times New Roman" panose="02020603050405020304" pitchFamily="18" charset="0"/>
              </a:rPr>
              <a:t>, Modern Operating Systems 3e</a:t>
            </a:r>
            <a:r>
              <a:rPr lang="tr-TR" altLang="zh-CN" dirty="0">
                <a:solidFill>
                  <a:srgbClr val="898989"/>
                </a:solidFill>
                <a:latin typeface="Times New Roman" panose="02020603050405020304" pitchFamily="18" charset="0"/>
              </a:rPr>
              <a:t>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programın çalışabilmesi için; </a:t>
            </a:r>
          </a:p>
          <a:p>
            <a:pPr lvl="1"/>
            <a:r>
              <a:rPr lang="tr-TR" dirty="0"/>
              <a:t>diskten belleğe getirilmesi ve </a:t>
            </a:r>
          </a:p>
          <a:p>
            <a:pPr lvl="1"/>
            <a:r>
              <a:rPr lang="tr-TR" dirty="0"/>
              <a:t>bir süreç içerisine yerleştirilmesi gerekir.</a:t>
            </a:r>
          </a:p>
          <a:p>
            <a:r>
              <a:rPr lang="tr-TR" dirty="0"/>
              <a:t>Ana bellek ve yazmaçlar, CPU'nun doğrudan erişebildiği alanlardır.</a:t>
            </a:r>
          </a:p>
          <a:p>
            <a:r>
              <a:rPr lang="tr-TR" dirty="0"/>
              <a:t>Bellek birimi şu akışları görür:</a:t>
            </a:r>
          </a:p>
          <a:p>
            <a:pPr lvl="1"/>
            <a:r>
              <a:rPr lang="tr-TR" dirty="0"/>
              <a:t>adres + okuma isteği, </a:t>
            </a:r>
          </a:p>
          <a:p>
            <a:pPr lvl="1"/>
            <a:r>
              <a:rPr lang="tr-TR" dirty="0"/>
              <a:t>adres + veri + yazma isteği.</a:t>
            </a:r>
          </a:p>
          <a:p>
            <a:r>
              <a:rPr lang="tr-TR" dirty="0"/>
              <a:t>Yazmaç erişimi bir CPU döngüsünde yapılır.</a:t>
            </a:r>
          </a:p>
          <a:p>
            <a:r>
              <a:rPr lang="tr-TR" dirty="0"/>
              <a:t>Ana bellek erişimi, duraklamaya neden olacak kadar birçok döngü alabilir.</a:t>
            </a:r>
          </a:p>
          <a:p>
            <a:r>
              <a:rPr lang="tr-TR" dirty="0"/>
              <a:t>Önbellek (</a:t>
            </a:r>
            <a:r>
              <a:rPr lang="tr-TR" i="1" dirty="0" err="1"/>
              <a:t>cache</a:t>
            </a:r>
            <a:r>
              <a:rPr lang="tr-TR" dirty="0"/>
              <a:t>), ana bellek ile yazmaçlar arasında bulunur.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Bellek, kısıtlı bir kaynak.</a:t>
            </a:r>
          </a:p>
          <a:p>
            <a:r>
              <a:rPr lang="tr-TR" dirty="0"/>
              <a:t>Bu nedenle bellek hiyerarşisi var.</a:t>
            </a:r>
          </a:p>
          <a:p>
            <a:pPr lvl="1"/>
            <a:r>
              <a:rPr lang="tr-TR" dirty="0"/>
              <a:t>Önbellek (</a:t>
            </a:r>
            <a:r>
              <a:rPr lang="tr-TR" i="1" dirty="0" err="1"/>
              <a:t>cache</a:t>
            </a:r>
            <a:r>
              <a:rPr lang="tr-TR" dirty="0"/>
              <a:t>)(</a:t>
            </a:r>
            <a:r>
              <a:rPr lang="tr-TR" b="1" dirty="0"/>
              <a:t>hızlı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Ana bellek</a:t>
            </a:r>
          </a:p>
          <a:p>
            <a:pPr lvl="1"/>
            <a:r>
              <a:rPr lang="tr-TR" dirty="0"/>
              <a:t>Disk (</a:t>
            </a:r>
            <a:r>
              <a:rPr lang="tr-TR" b="1" dirty="0"/>
              <a:t>yavaş</a:t>
            </a:r>
            <a:r>
              <a:rPr lang="tr-TR" dirty="0"/>
              <a:t>)</a:t>
            </a:r>
          </a:p>
          <a:p>
            <a:r>
              <a:rPr lang="tr-TR" dirty="0"/>
              <a:t>Bellek yöneticisi, bellek soyutlaması yapmak için </a:t>
            </a:r>
            <a:r>
              <a:rPr lang="tr-TR" i="1" dirty="0"/>
              <a:t>hiyerarşi</a:t>
            </a:r>
            <a:r>
              <a:rPr lang="tr-TR" dirty="0"/>
              <a:t> kullanır.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6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 (RAM) önemli ve kısıtlı bulunan bir kaynaktır.</a:t>
            </a:r>
          </a:p>
          <a:p>
            <a:pPr lvl="1"/>
            <a:r>
              <a:rPr lang="tr-TR" dirty="0"/>
              <a:t>Programlar, genişleyerek kendilerine sunulan belleği doldururlar.</a:t>
            </a:r>
          </a:p>
          <a:p>
            <a:r>
              <a:rPr lang="tr-TR" dirty="0"/>
              <a:t>Programcının istediği,</a:t>
            </a:r>
          </a:p>
          <a:p>
            <a:pPr lvl="1"/>
            <a:r>
              <a:rPr lang="tr-TR" dirty="0"/>
              <a:t>Belleğin korumalı, sonsuz büyük, sonsuz hızlı, ve kalıcı olması..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Gerçekte olan,</a:t>
            </a:r>
          </a:p>
          <a:p>
            <a:pPr lvl="1"/>
            <a:r>
              <a:rPr lang="tr-TR" dirty="0"/>
              <a:t>Akla gelen en iyi çözüm: bellek hiyerarşisi.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r>
              <a:rPr lang="tr-TR" dirty="0"/>
              <a:t>Yazmaç, önbellek, bellek, disk, teyp.</a:t>
            </a:r>
          </a:p>
          <a:p>
            <a:r>
              <a:rPr lang="tr-TR" dirty="0"/>
              <a:t>Bellek yöneticisi,</a:t>
            </a:r>
          </a:p>
          <a:p>
            <a:pPr lvl="1"/>
            <a:r>
              <a:rPr lang="tr-TR" dirty="0"/>
              <a:t>Belleği verimli bir şekilde yönetir.</a:t>
            </a:r>
          </a:p>
          <a:p>
            <a:pPr lvl="1"/>
            <a:r>
              <a:rPr lang="tr-TR" dirty="0"/>
              <a:t>Serbest bırakılan bellek alanlarını takip eder.</a:t>
            </a:r>
          </a:p>
          <a:p>
            <a:pPr lvl="1"/>
            <a:r>
              <a:rPr lang="tr-TR" dirty="0"/>
              <a:t>İhtiyaç halinde programlara tahsis eder.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40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Soyutlama Olmazsa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Eskiden bilgisayarlarda bellek soyutlaması yoktu…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r>
              <a:rPr lang="tr-TR" dirty="0"/>
              <a:t>MOV REGISTER1, [1000]</a:t>
            </a:r>
          </a:p>
          <a:p>
            <a:pPr lvl="1"/>
            <a:r>
              <a:rPr lang="tr-TR" dirty="0"/>
              <a:t>Fiziksel bellek adresi 1000'in içeriğini yazmaca taşır.</a:t>
            </a:r>
          </a:p>
          <a:p>
            <a:r>
              <a:rPr lang="tr-TR" dirty="0"/>
              <a:t>Bellekte aynı anda iki süreç yer alamaz. Neden?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60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Soyutlama Olmazsa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Eskiden bilgisayarlarda bellek soyutlaması yoktu…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r>
              <a:rPr lang="tr-TR" dirty="0"/>
              <a:t>MOV REGISTER1, [1000]</a:t>
            </a:r>
          </a:p>
          <a:p>
            <a:pPr lvl="1"/>
            <a:r>
              <a:rPr lang="tr-TR" dirty="0"/>
              <a:t>Fiziksel bellek adresi 1000'in içeriğini yazmaca taşır.</a:t>
            </a:r>
          </a:p>
          <a:p>
            <a:r>
              <a:rPr lang="tr-TR" dirty="0"/>
              <a:t>Bellekte aynı anda iki süreç yer alamaz. Neden?</a:t>
            </a:r>
          </a:p>
          <a:p>
            <a:r>
              <a:rPr lang="tr-TR" dirty="0"/>
              <a:t>Fiziksel adresler kullanıldığı için,</a:t>
            </a:r>
          </a:p>
          <a:p>
            <a:pPr lvl="1"/>
            <a:r>
              <a:rPr lang="tr-TR" dirty="0"/>
              <a:t>Süreçler aynı adreslere erişebilirler.</a:t>
            </a:r>
          </a:p>
          <a:p>
            <a:pPr lvl="1"/>
            <a:r>
              <a:rPr lang="tr-TR" dirty="0"/>
              <a:t>O anda hangi süreç hangi adresi kullanıyor bilinemez.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1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Soyutlama Olmazsa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 ve </a:t>
            </a:r>
            <a:r>
              <a:rPr lang="tr-TR" u="sng" dirty="0"/>
              <a:t>tek bir süreç </a:t>
            </a:r>
            <a:r>
              <a:rPr lang="tr-TR" dirty="0"/>
              <a:t>ile belleğin düzenlenmesi.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6" descr="03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887" y="2552791"/>
            <a:ext cx="7642225" cy="3621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701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Soyutlama Olmazsa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Bellekte aynı anda yalnızca bir süreç olabilir.</a:t>
            </a:r>
          </a:p>
          <a:p>
            <a:r>
              <a:rPr lang="tr-TR" dirty="0"/>
              <a:t>Kullanıcı programındaki hata işletim sistemini çökertebilir (a ve c).</a:t>
            </a:r>
          </a:p>
          <a:p>
            <a:r>
              <a:rPr lang="tr-TR" dirty="0"/>
              <a:t>Bazı gömülü sistemlerde salt okunur bellekte tutulabilir (b).</a:t>
            </a:r>
          </a:p>
          <a:p>
            <a:r>
              <a:rPr lang="tr-TR" dirty="0"/>
              <a:t>MS-DOS (c) – işletim sistemi bellekte, BIOS salt okunur bellekte tutulur.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03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Yer Değiştirme (</a:t>
            </a:r>
            <a:r>
              <a:rPr lang="tr-TR" dirty="0" err="1"/>
              <a:t>Relocation</a:t>
            </a:r>
            <a:r>
              <a:rPr lang="tr-TR" dirty="0"/>
              <a:t>) Problemi</a:t>
            </a:r>
          </a:p>
        </p:txBody>
      </p:sp>
      <p:pic>
        <p:nvPicPr>
          <p:cNvPr id="4" name="Picture 6" descr="03-0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61135" y="1550622"/>
            <a:ext cx="4964853" cy="46263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3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Statik Yer Değiştirme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Sorun, her iki programın da </a:t>
            </a:r>
            <a:r>
              <a:rPr lang="tr-TR" i="1" dirty="0"/>
              <a:t>mutlak fiziksel belleğe </a:t>
            </a:r>
            <a:r>
              <a:rPr lang="tr-TR" dirty="0"/>
              <a:t>referans vermesidir.</a:t>
            </a:r>
          </a:p>
          <a:p>
            <a:r>
              <a:rPr lang="tr-TR" dirty="0"/>
              <a:t>Statik yer değiştirme: </a:t>
            </a:r>
          </a:p>
          <a:p>
            <a:pPr lvl="1"/>
            <a:r>
              <a:rPr lang="tr-TR" dirty="0"/>
              <a:t>Programın ilk komutu x adresine yüklenir,</a:t>
            </a:r>
          </a:p>
          <a:p>
            <a:pPr lvl="1"/>
            <a:r>
              <a:rPr lang="tr-TR" dirty="0"/>
              <a:t>Yükleme sırasında sonraki her adrese x değeri eklenir.</a:t>
            </a:r>
          </a:p>
          <a:p>
            <a:pPr lvl="1"/>
            <a:r>
              <a:rPr lang="tr-TR" dirty="0"/>
              <a:t>Çok maliyetli ve yavaş bir işlem.</a:t>
            </a:r>
          </a:p>
          <a:p>
            <a:pPr lvl="1"/>
            <a:r>
              <a:rPr lang="tr-TR" dirty="0"/>
              <a:t>Tüm adresler değiştirilemez.</a:t>
            </a:r>
          </a:p>
          <a:p>
            <a:pPr lvl="2"/>
            <a:r>
              <a:rPr lang="tr-TR" dirty="0"/>
              <a:t>MOV REGISTER 1,28 değiştirilemez.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4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Soyutlama Olmamasının Dezavantajı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Sorun, her iki programın da mutlak fiziksel belleğe referans vermesidir.</a:t>
            </a:r>
          </a:p>
          <a:p>
            <a:r>
              <a:rPr lang="tr-TR" dirty="0"/>
              <a:t>İnsanlar mahrem bir alana, programlar yerel adreslere sahip olmak ister.</a:t>
            </a:r>
          </a:p>
          <a:p>
            <a:r>
              <a:rPr lang="tr-TR" dirty="0"/>
              <a:t>IBM 360</a:t>
            </a:r>
          </a:p>
          <a:p>
            <a:pPr lvl="1"/>
            <a:r>
              <a:rPr lang="tr-TR" dirty="0"/>
              <a:t>İkinci program belleğe yüklenirken adresler değiştirilir.</a:t>
            </a:r>
          </a:p>
          <a:p>
            <a:pPr lvl="1"/>
            <a:r>
              <a:rPr lang="tr-TR" dirty="0"/>
              <a:t>Statik yer değiştirme (</a:t>
            </a:r>
            <a:r>
              <a:rPr lang="tr-TR" i="1" dirty="0" err="1"/>
              <a:t>static</a:t>
            </a:r>
            <a:r>
              <a:rPr lang="tr-TR" i="1" dirty="0"/>
              <a:t> </a:t>
            </a:r>
            <a:r>
              <a:rPr lang="tr-TR" i="1" dirty="0" err="1"/>
              <a:t>relocation</a:t>
            </a:r>
            <a:r>
              <a:rPr lang="tr-TR" dirty="0"/>
              <a:t>).</a:t>
            </a:r>
          </a:p>
          <a:p>
            <a:pPr lvl="2"/>
            <a:r>
              <a:rPr lang="tr-TR" dirty="0"/>
              <a:t>16384'e bir program yüklenirken, her adrese bir sabit değer eklenir.</a:t>
            </a:r>
          </a:p>
          <a:p>
            <a:pPr lvl="2"/>
            <a:r>
              <a:rPr lang="tr-TR" dirty="0"/>
              <a:t>Yüklemeyi yavaşlatır, ek bilgi gerektirir.</a:t>
            </a:r>
          </a:p>
          <a:p>
            <a:r>
              <a:rPr lang="tr-TR" dirty="0"/>
              <a:t>Gömülü sistemlerde soyutlama olmadan bellek yönetimi var.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0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 Birimi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MMU (</a:t>
            </a:r>
            <a:r>
              <a:rPr lang="tr-TR" i="1" dirty="0" err="1"/>
              <a:t>memory</a:t>
            </a:r>
            <a:r>
              <a:rPr lang="tr-TR" i="1" dirty="0"/>
              <a:t> </a:t>
            </a:r>
            <a:r>
              <a:rPr lang="tr-TR" i="1" dirty="0" err="1"/>
              <a:t>management</a:t>
            </a:r>
            <a:r>
              <a:rPr lang="tr-TR" i="1" dirty="0"/>
              <a:t> </a:t>
            </a:r>
            <a:r>
              <a:rPr lang="tr-TR" i="1" dirty="0" err="1"/>
              <a:t>unit</a:t>
            </a:r>
            <a:r>
              <a:rPr lang="tr-TR" dirty="0"/>
              <a:t>) mantıksal adresi fiziksel adrese çevirir.</a:t>
            </a:r>
          </a:p>
          <a:p>
            <a:r>
              <a:rPr lang="tr-TR" dirty="0"/>
              <a:t>Mantıksal ve fiziksel adresler, </a:t>
            </a:r>
          </a:p>
          <a:p>
            <a:pPr lvl="1"/>
            <a:r>
              <a:rPr lang="tr-TR" dirty="0"/>
              <a:t>Derleme ve yükleme aşamasında aynıdır.</a:t>
            </a:r>
          </a:p>
          <a:p>
            <a:pPr lvl="1"/>
            <a:r>
              <a:rPr lang="tr-TR" dirty="0"/>
              <a:t>Yürütme zamanında, adres eşleme şemasında farklılık gösterir.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099" y="3795962"/>
            <a:ext cx="6551802" cy="2381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74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MMU Konum ve İşlevi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6" descr="03-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0" y="1870074"/>
            <a:ext cx="7200000" cy="4648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30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 Birimi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MMU (</a:t>
            </a:r>
            <a:r>
              <a:rPr lang="tr-TR" i="1" dirty="0" err="1"/>
              <a:t>memory</a:t>
            </a:r>
            <a:r>
              <a:rPr lang="tr-TR" i="1" dirty="0"/>
              <a:t> </a:t>
            </a:r>
            <a:r>
              <a:rPr lang="tr-TR" i="1" dirty="0" err="1"/>
              <a:t>management</a:t>
            </a:r>
            <a:r>
              <a:rPr lang="tr-TR" i="1" dirty="0"/>
              <a:t> </a:t>
            </a:r>
            <a:r>
              <a:rPr lang="tr-TR" i="1" dirty="0" err="1"/>
              <a:t>unit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CPU: MOV REG, 0</a:t>
            </a:r>
          </a:p>
          <a:p>
            <a:pPr lvl="1"/>
            <a:r>
              <a:rPr lang="tr-TR" dirty="0"/>
              <a:t>MMU: MOV REG, 8192</a:t>
            </a:r>
          </a:p>
          <a:p>
            <a:pPr lvl="1"/>
            <a:r>
              <a:rPr lang="tr-TR" dirty="0"/>
              <a:t>CPU: MOV REG 8192</a:t>
            </a:r>
          </a:p>
          <a:p>
            <a:pPr lvl="1"/>
            <a:r>
              <a:rPr lang="tr-TR" dirty="0"/>
              <a:t>MMU: MOV REG 24567</a:t>
            </a:r>
          </a:p>
          <a:p>
            <a:pPr lvl="1"/>
            <a:r>
              <a:rPr lang="tr-TR" dirty="0"/>
              <a:t>CPU:MOV REG 20500</a:t>
            </a:r>
          </a:p>
          <a:p>
            <a:pPr lvl="1"/>
            <a:r>
              <a:rPr lang="tr-TR" dirty="0"/>
              <a:t>MMU:MOV REG 12308</a:t>
            </a:r>
          </a:p>
          <a:p>
            <a:pPr lvl="1"/>
            <a:r>
              <a:rPr lang="tr-TR" dirty="0"/>
              <a:t>CPU: MOV REG 32780</a:t>
            </a:r>
          </a:p>
          <a:p>
            <a:pPr lvl="1"/>
            <a:r>
              <a:rPr lang="tr-TR" dirty="0"/>
              <a:t>MMU: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fault</a:t>
            </a:r>
            <a:endParaRPr lang="tr-TR" dirty="0"/>
          </a:p>
          <a:p>
            <a:endParaRPr lang="tr-T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6" descr="03-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8986"/>
            <a:ext cx="4320000" cy="6107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0723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 Birimi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Taban yazmacı (</a:t>
            </a:r>
            <a:r>
              <a:rPr lang="tr-TR" i="1" dirty="0" err="1"/>
              <a:t>base</a:t>
            </a:r>
            <a:r>
              <a:rPr lang="tr-TR" i="1" dirty="0"/>
              <a:t> </a:t>
            </a:r>
            <a:r>
              <a:rPr lang="tr-TR" i="1" dirty="0" err="1"/>
              <a:t>register</a:t>
            </a:r>
            <a:r>
              <a:rPr lang="tr-TR" dirty="0"/>
              <a:t>) yer değiştirme yazmacı (</a:t>
            </a:r>
            <a:r>
              <a:rPr lang="tr-TR" i="1" dirty="0" err="1"/>
              <a:t>relocation</a:t>
            </a:r>
            <a:r>
              <a:rPr lang="tr-TR" i="1" dirty="0"/>
              <a:t> </a:t>
            </a:r>
            <a:r>
              <a:rPr lang="tr-TR" i="1" dirty="0" err="1"/>
              <a:t>register</a:t>
            </a:r>
            <a:r>
              <a:rPr lang="tr-TR" dirty="0"/>
              <a:t>) olarak adlandırılıyor.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614" y="2368112"/>
            <a:ext cx="5400000" cy="3808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024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 Uzayı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 için kendisine ait soyut bellek alanı oluşturulur.</a:t>
            </a:r>
          </a:p>
          <a:p>
            <a:r>
              <a:rPr lang="tr-TR" dirty="0"/>
              <a:t>Her sürecin kendi adres kümesi vardır.</a:t>
            </a:r>
          </a:p>
          <a:p>
            <a:r>
              <a:rPr lang="tr-TR" dirty="0"/>
              <a:t>Adresler her süreç için farklıdır.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255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Soyutlama: Adres Uzayı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Fiziksel adres programcılara gösterilmez (</a:t>
            </a:r>
            <a:r>
              <a:rPr lang="tr-TR" i="1" dirty="0"/>
              <a:t>not </a:t>
            </a:r>
            <a:r>
              <a:rPr lang="tr-TR" i="1" dirty="0" err="1"/>
              <a:t>expose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İşletim sistemi çökertilebilir.</a:t>
            </a:r>
          </a:p>
          <a:p>
            <a:pPr lvl="1"/>
            <a:r>
              <a:rPr lang="tr-TR" dirty="0"/>
              <a:t>Süreçleri paralel yürütmek zor.</a:t>
            </a:r>
          </a:p>
          <a:p>
            <a:r>
              <a:rPr lang="tr-TR" dirty="0"/>
              <a:t>Çözülmesi gereken iki problem:</a:t>
            </a:r>
          </a:p>
          <a:p>
            <a:pPr lvl="1"/>
            <a:r>
              <a:rPr lang="tr-TR" dirty="0"/>
              <a:t>Koruma,</a:t>
            </a:r>
          </a:p>
          <a:p>
            <a:pPr lvl="1"/>
            <a:r>
              <a:rPr lang="tr-TR" dirty="0"/>
              <a:t>Yer değiştirme.</a:t>
            </a:r>
          </a:p>
          <a:p>
            <a:r>
              <a:rPr lang="tr-TR" dirty="0"/>
              <a:t>Adres alanı:</a:t>
            </a:r>
          </a:p>
          <a:p>
            <a:pPr lvl="1"/>
            <a:r>
              <a:rPr lang="tr-TR" dirty="0"/>
              <a:t>Bir dizi süreç belleği kullanabilir.</a:t>
            </a:r>
          </a:p>
          <a:p>
            <a:pPr lvl="1"/>
            <a:r>
              <a:rPr lang="tr-TR" dirty="0"/>
              <a:t>Her sürecin, birbirinden bağımsız, kendi adres alanı vardır.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460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Dinamik Yer Değiştirme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İşlemciye iki özel yazmaç gerekir: </a:t>
            </a:r>
          </a:p>
          <a:p>
            <a:pPr lvl="1"/>
            <a:r>
              <a:rPr lang="tr-TR" dirty="0"/>
              <a:t>taban ve limit yazmaçları (</a:t>
            </a:r>
            <a:r>
              <a:rPr lang="tr-TR" i="1" dirty="0" err="1"/>
              <a:t>base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limit </a:t>
            </a:r>
            <a:r>
              <a:rPr lang="tr-TR" i="1" dirty="0" err="1"/>
              <a:t>registers</a:t>
            </a:r>
            <a:r>
              <a:rPr lang="tr-TR" dirty="0"/>
              <a:t>).</a:t>
            </a:r>
          </a:p>
          <a:p>
            <a:r>
              <a:rPr lang="tr-TR" dirty="0"/>
              <a:t>Program ardışık boş alanlara yüklenir.</a:t>
            </a:r>
          </a:p>
          <a:p>
            <a:r>
              <a:rPr lang="tr-TR" dirty="0"/>
              <a:t>Yükleme sırasında yer değiştirme yok.</a:t>
            </a:r>
          </a:p>
          <a:p>
            <a:r>
              <a:rPr lang="tr-TR" dirty="0"/>
              <a:t>Süreç bir adrese erişmek istediğinde, </a:t>
            </a:r>
          </a:p>
          <a:p>
            <a:pPr lvl="1"/>
            <a:r>
              <a:rPr lang="tr-TR" dirty="0"/>
              <a:t>CPU otomatik olarak </a:t>
            </a:r>
            <a:r>
              <a:rPr lang="tr-TR" i="1" dirty="0"/>
              <a:t>limit </a:t>
            </a:r>
            <a:r>
              <a:rPr lang="tr-TR" dirty="0"/>
              <a:t>değerini kontrol eder.</a:t>
            </a:r>
          </a:p>
          <a:p>
            <a:pPr lvl="1"/>
            <a:r>
              <a:rPr lang="tr-TR" i="1" dirty="0"/>
              <a:t>Taban </a:t>
            </a:r>
            <a:r>
              <a:rPr lang="tr-TR" dirty="0"/>
              <a:t>değerini, adres değerine ekler.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81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Taban ve Limit Yazmaçları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tür dinamik yer değiştirme.</a:t>
            </a:r>
          </a:p>
          <a:p>
            <a:r>
              <a:rPr lang="tr-TR" i="1" dirty="0"/>
              <a:t>Taban</a:t>
            </a:r>
            <a:r>
              <a:rPr lang="tr-TR" dirty="0"/>
              <a:t>, programın başlangıç adresini içerir.</a:t>
            </a:r>
          </a:p>
          <a:p>
            <a:r>
              <a:rPr lang="tr-TR" i="1" dirty="0"/>
              <a:t>Limit</a:t>
            </a:r>
            <a:r>
              <a:rPr lang="tr-TR" dirty="0"/>
              <a:t>, programın uzunluğunu belirtir.</a:t>
            </a:r>
          </a:p>
          <a:p>
            <a:r>
              <a:rPr lang="tr-TR" dirty="0"/>
              <a:t>Süreç belleğe erişeceğinde, erişilecek adrese </a:t>
            </a:r>
            <a:r>
              <a:rPr lang="tr-TR" i="1" dirty="0"/>
              <a:t>taban</a:t>
            </a:r>
            <a:r>
              <a:rPr lang="tr-TR" dirty="0"/>
              <a:t> adresi eklenir. </a:t>
            </a:r>
          </a:p>
          <a:p>
            <a:r>
              <a:rPr lang="tr-TR" dirty="0"/>
              <a:t>Adresin </a:t>
            </a:r>
            <a:r>
              <a:rPr lang="tr-TR" i="1" dirty="0"/>
              <a:t>limit</a:t>
            </a:r>
            <a:r>
              <a:rPr lang="tr-TR" dirty="0"/>
              <a:t> değerinden büyük olup olmadığı kontrol edilir. </a:t>
            </a:r>
          </a:p>
          <a:p>
            <a:pPr lvl="1"/>
            <a:r>
              <a:rPr lang="tr-TR" dirty="0"/>
              <a:t>Büyükse, hata oluşturulur.</a:t>
            </a:r>
          </a:p>
          <a:p>
            <a:r>
              <a:rPr lang="tr-TR" dirty="0"/>
              <a:t>Her adımda ekleme ve karşılaştırma yapılması maliyetlidir.</a:t>
            </a:r>
          </a:p>
          <a:p>
            <a:r>
              <a:rPr lang="tr-TR" i="1" dirty="0"/>
              <a:t>CDC 6600 </a:t>
            </a:r>
            <a:r>
              <a:rPr lang="tr-TR" dirty="0"/>
              <a:t>ve </a:t>
            </a:r>
            <a:r>
              <a:rPr lang="tr-TR" i="1" dirty="0"/>
              <a:t>Intel 8088</a:t>
            </a:r>
            <a:r>
              <a:rPr lang="tr-TR" dirty="0"/>
              <a:t>'de kullanılır.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094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Taban ve Limit Yazmaçları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Her bellek erişiminde bir ekleme </a:t>
            </a:r>
          </a:p>
          <a:p>
            <a:pPr marL="0" indent="0">
              <a:buNone/>
            </a:pPr>
            <a:r>
              <a:rPr lang="tr-TR" dirty="0"/>
              <a:t>ve karşılaştırma yapılması gerekiyor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 descr="03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970" y="948523"/>
            <a:ext cx="3625260" cy="5407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4852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Taban ve Limit Yazmaçları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 yalnızca kendi adres uzayı </a:t>
            </a:r>
          </a:p>
          <a:p>
            <a:pPr marL="0" indent="0">
              <a:buNone/>
            </a:pPr>
            <a:r>
              <a:rPr lang="tr-TR" dirty="0"/>
              <a:t>içerisinde kalan alanlara erişebilir.</a:t>
            </a:r>
          </a:p>
          <a:p>
            <a:r>
              <a:rPr lang="tr-TR" dirty="0"/>
              <a:t>Bu koruma </a:t>
            </a:r>
            <a:r>
              <a:rPr lang="tr-TR" i="1" dirty="0"/>
              <a:t>taban</a:t>
            </a:r>
            <a:r>
              <a:rPr lang="tr-TR" dirty="0"/>
              <a:t> ve </a:t>
            </a:r>
            <a:r>
              <a:rPr lang="tr-TR" i="1" dirty="0"/>
              <a:t>limit</a:t>
            </a:r>
            <a:r>
              <a:rPr lang="tr-TR" dirty="0"/>
              <a:t> yazmaçları </a:t>
            </a:r>
          </a:p>
          <a:p>
            <a:pPr marL="0" indent="0">
              <a:buNone/>
            </a:pPr>
            <a:r>
              <a:rPr lang="tr-TR" dirty="0"/>
              <a:t>kullanılarak sağlanır.</a:t>
            </a:r>
          </a:p>
        </p:txBody>
      </p:sp>
      <p:pic>
        <p:nvPicPr>
          <p:cNvPr id="10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0" y="1696818"/>
            <a:ext cx="4587240" cy="4480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690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Donanımsal Adres Kontrolü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CPU, kullanıcı modunda iken, her bellek erişimini, </a:t>
            </a:r>
            <a:r>
              <a:rPr lang="tr-TR" i="1" dirty="0"/>
              <a:t>taban </a:t>
            </a:r>
            <a:r>
              <a:rPr lang="tr-TR" dirty="0"/>
              <a:t>ile </a:t>
            </a:r>
            <a:r>
              <a:rPr lang="tr-TR" i="1" dirty="0"/>
              <a:t>limit</a:t>
            </a:r>
            <a:r>
              <a:rPr lang="tr-TR" dirty="0"/>
              <a:t> arasında olup olmadığını kontrol etmelidir.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307" y="2774814"/>
            <a:ext cx="7365385" cy="34021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2519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Adresleri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Komut ve verilerin bellek adreslerine eşlenmesi üç aşamada gerçekleşir.</a:t>
            </a:r>
          </a:p>
          <a:p>
            <a:r>
              <a:rPr lang="tr-TR" b="1" dirty="0"/>
              <a:t>Derleme zamanı</a:t>
            </a:r>
            <a:r>
              <a:rPr lang="tr-TR" dirty="0"/>
              <a:t>: Bellek konumu önceden biliniyorsa, mutlak (</a:t>
            </a:r>
            <a:r>
              <a:rPr lang="tr-TR" i="1" dirty="0" err="1"/>
              <a:t>absolute</a:t>
            </a:r>
            <a:r>
              <a:rPr lang="tr-TR" dirty="0"/>
              <a:t>) kod üretilebilir; başlangıç konumu değişirse kod yeniden derlenir.</a:t>
            </a:r>
          </a:p>
          <a:p>
            <a:r>
              <a:rPr lang="tr-TR" b="1" dirty="0"/>
              <a:t>Yükleme zamanı</a:t>
            </a:r>
            <a:r>
              <a:rPr lang="tr-TR" dirty="0"/>
              <a:t>: Derleme zamanında bellek konumu bilinmiyorsa, yeri değiştirilebilen kod üretilir.</a:t>
            </a:r>
          </a:p>
          <a:p>
            <a:r>
              <a:rPr lang="tr-TR" b="1" dirty="0"/>
              <a:t>Yürütme zamanı</a:t>
            </a:r>
            <a:r>
              <a:rPr lang="tr-TR" dirty="0"/>
              <a:t>: Süreç yürütülürken, belleğin bir bölümünden diğerine taşınabiliyorsa, adres eşlemesi yürütme zamanına kadar ertelenir.</a:t>
            </a:r>
          </a:p>
          <a:p>
            <a:r>
              <a:rPr lang="tr-TR" dirty="0"/>
              <a:t>Adres eşlemeleri için donanım desteği gerekir (taban ve limit yazmaçları).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Dinamik Yükleme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Programın yürütülebilmesi için bellekte olması gerekir.</a:t>
            </a:r>
          </a:p>
          <a:p>
            <a:r>
              <a:rPr lang="tr-TR" dirty="0"/>
              <a:t>Prosedür çağrılana kadar belleğe yüklenmez.</a:t>
            </a:r>
          </a:p>
          <a:p>
            <a:r>
              <a:rPr lang="tr-TR" dirty="0"/>
              <a:t>Daha iyi bellek alanı kullanımı sağlar. </a:t>
            </a:r>
          </a:p>
          <a:p>
            <a:pPr lvl="1"/>
            <a:r>
              <a:rPr lang="tr-TR" dirty="0"/>
              <a:t>Kullanılmayan prosedür asla belleğe yüklenmez.</a:t>
            </a:r>
          </a:p>
          <a:p>
            <a:r>
              <a:rPr lang="tr-TR" dirty="0"/>
              <a:t>Tüm prosedürler, yeri değiştirilebilen yükleme biçiminde diskte tutulur.</a:t>
            </a:r>
          </a:p>
          <a:p>
            <a:r>
              <a:rPr lang="tr-TR" dirty="0"/>
              <a:t>Büyük miktarda kodun yüklenmesi gerektiğinde kullanışlıdır.</a:t>
            </a:r>
          </a:p>
          <a:p>
            <a:r>
              <a:rPr lang="tr-TR" dirty="0"/>
              <a:t>Donanımsal özel bir destek gerekmez.</a:t>
            </a:r>
          </a:p>
          <a:p>
            <a:pPr lvl="1"/>
            <a:r>
              <a:rPr lang="tr-TR" dirty="0"/>
              <a:t>Program bu şekilde tasarlanır.</a:t>
            </a:r>
          </a:p>
          <a:p>
            <a:pPr lvl="1"/>
            <a:r>
              <a:rPr lang="tr-TR" dirty="0"/>
              <a:t>İşletim sistemi, dinamik yükleme için kütüphane sağlar.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895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Dinamik Bağlama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Statik bağlama</a:t>
            </a:r>
            <a:r>
              <a:rPr lang="tr-TR" dirty="0"/>
              <a:t>: sistem kütüphaneleri ve program kodu, yükleyici tarafından ikili (</a:t>
            </a:r>
            <a:r>
              <a:rPr lang="tr-TR" i="1" dirty="0" err="1"/>
              <a:t>binary</a:t>
            </a:r>
            <a:r>
              <a:rPr lang="tr-TR" dirty="0"/>
              <a:t>) program imajında birleştirilir. (.</a:t>
            </a:r>
            <a:r>
              <a:rPr lang="tr-TR" dirty="0" err="1"/>
              <a:t>obj</a:t>
            </a:r>
            <a:r>
              <a:rPr lang="tr-TR" dirty="0"/>
              <a:t>, .a, .o)</a:t>
            </a:r>
          </a:p>
          <a:p>
            <a:r>
              <a:rPr lang="tr-TR" b="1" dirty="0"/>
              <a:t>Dinamik bağlama</a:t>
            </a:r>
            <a:r>
              <a:rPr lang="tr-TR" dirty="0"/>
              <a:t>: bağlama yürütme zamanına kadar ertelenir. (.</a:t>
            </a:r>
            <a:r>
              <a:rPr lang="tr-TR" dirty="0" err="1"/>
              <a:t>so</a:t>
            </a:r>
            <a:r>
              <a:rPr lang="tr-TR" dirty="0"/>
              <a:t>, .</a:t>
            </a:r>
            <a:r>
              <a:rPr lang="tr-TR" dirty="0" err="1"/>
              <a:t>dll</a:t>
            </a:r>
            <a:r>
              <a:rPr lang="tr-TR" dirty="0"/>
              <a:t>)</a:t>
            </a:r>
          </a:p>
          <a:p>
            <a:r>
              <a:rPr lang="tr-TR" b="1" dirty="0" err="1"/>
              <a:t>Stub</a:t>
            </a:r>
            <a:r>
              <a:rPr lang="tr-TR" dirty="0"/>
              <a:t> bellekte yerleşik kütüphane yordamını bulmak için kullanılır. </a:t>
            </a:r>
          </a:p>
          <a:p>
            <a:r>
              <a:rPr lang="tr-TR" dirty="0" err="1"/>
              <a:t>Stub</a:t>
            </a:r>
            <a:r>
              <a:rPr lang="tr-TR" dirty="0"/>
              <a:t>, altprogramın adresiyle kendisini yer değiştirir ve yordamı yürütür.</a:t>
            </a:r>
          </a:p>
          <a:p>
            <a:r>
              <a:rPr lang="tr-TR" dirty="0"/>
              <a:t>İşletim sistemi, prosedürün bellek adresinde olup olmadığını kontrol eder. </a:t>
            </a:r>
          </a:p>
          <a:p>
            <a:r>
              <a:rPr lang="tr-TR" dirty="0"/>
              <a:t>Adres alanında değilse, adres alanına ekler.</a:t>
            </a:r>
          </a:p>
          <a:p>
            <a:r>
              <a:rPr lang="tr-TR" dirty="0"/>
              <a:t>Dinamik bağlama özellikle kütüphaneler için kullanışlıdır.</a:t>
            </a:r>
          </a:p>
          <a:p>
            <a:pPr lvl="1"/>
            <a:r>
              <a:rPr lang="tr-TR" dirty="0"/>
              <a:t>Paylaşımlı kütüphaneler (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library</a:t>
            </a:r>
            <a:r>
              <a:rPr lang="tr-TR" dirty="0"/>
              <a:t>).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92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Kütüphaneler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Birden çok süreç tarafından ortak kullanılan kütüphaneler (ör. grafik). </a:t>
            </a:r>
          </a:p>
          <a:p>
            <a:r>
              <a:rPr lang="tr-TR" dirty="0"/>
              <a:t>Her bir süreç için kütüphaneyi belleğe yüklemek maliyetlidir. </a:t>
            </a:r>
          </a:p>
          <a:p>
            <a:r>
              <a:rPr lang="tr-TR" dirty="0"/>
              <a:t>Bunun yerine paylaşımlı kütüphaneler (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library</a:t>
            </a:r>
            <a:r>
              <a:rPr lang="tr-TR" dirty="0"/>
              <a:t>) kullanılır.</a:t>
            </a:r>
          </a:p>
          <a:p>
            <a:r>
              <a:rPr lang="tr-TR" dirty="0"/>
              <a:t>Unix bağlama (</a:t>
            </a:r>
            <a:r>
              <a:rPr lang="tr-TR" i="1" dirty="0"/>
              <a:t>link</a:t>
            </a:r>
            <a:r>
              <a:rPr lang="tr-TR" dirty="0"/>
              <a:t>): </a:t>
            </a:r>
            <a:r>
              <a:rPr lang="tr-TR" dirty="0" err="1">
                <a:latin typeface="Consolas" panose="020B0609020204030204" pitchFamily="49" charset="0"/>
              </a:rPr>
              <a:t>ld</a:t>
            </a:r>
            <a:r>
              <a:rPr lang="tr-TR" dirty="0">
                <a:latin typeface="Consolas" panose="020B0609020204030204" pitchFamily="49" charset="0"/>
              </a:rPr>
              <a:t> *.o –</a:t>
            </a:r>
            <a:r>
              <a:rPr lang="tr-TR" dirty="0" err="1">
                <a:latin typeface="Consolas" panose="020B0609020204030204" pitchFamily="49" charset="0"/>
              </a:rPr>
              <a:t>lc</a:t>
            </a:r>
            <a:r>
              <a:rPr lang="tr-TR" dirty="0">
                <a:latin typeface="Consolas" panose="020B0609020204030204" pitchFamily="49" charset="0"/>
              </a:rPr>
              <a:t> –</a:t>
            </a:r>
            <a:r>
              <a:rPr lang="tr-TR" dirty="0" err="1">
                <a:latin typeface="Consolas" panose="020B0609020204030204" pitchFamily="49" charset="0"/>
              </a:rPr>
              <a:t>lm</a:t>
            </a:r>
            <a:r>
              <a:rPr lang="tr-TR" dirty="0"/>
              <a:t>. </a:t>
            </a:r>
          </a:p>
          <a:p>
            <a:r>
              <a:rPr lang="tr-TR" i="1" dirty="0"/>
              <a:t>.o</a:t>
            </a:r>
            <a:r>
              <a:rPr lang="tr-TR" dirty="0"/>
              <a:t> uzantılı dosyalar ile, m ve c kütüphanelerinde bulunan prosedürler, ikili çalıştırılabilir (</a:t>
            </a:r>
            <a:r>
              <a:rPr lang="tr-TR" i="1" dirty="0" err="1"/>
              <a:t>binary</a:t>
            </a:r>
            <a:r>
              <a:rPr lang="tr-TR" i="1" dirty="0"/>
              <a:t> </a:t>
            </a:r>
            <a:r>
              <a:rPr lang="tr-TR" i="1" dirty="0" err="1"/>
              <a:t>executable</a:t>
            </a:r>
            <a:r>
              <a:rPr lang="tr-TR" dirty="0"/>
              <a:t>) dosyaya dahil edilir.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539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Kütüphaneler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tr-TR" dirty="0"/>
              <a:t>İlk kez içindeki bir prosedüre erişileceğinde yüklenir.</a:t>
            </a:r>
          </a:p>
          <a:p>
            <a:r>
              <a:rPr lang="tr-TR" dirty="0"/>
              <a:t>Bağlayıcı (</a:t>
            </a:r>
            <a:r>
              <a:rPr lang="tr-TR" i="1" dirty="0" err="1"/>
              <a:t>linker</a:t>
            </a:r>
            <a:r>
              <a:rPr lang="tr-TR" dirty="0"/>
              <a:t>), yürütme zamanında, çağrılan prosedüre bağlanan bir </a:t>
            </a:r>
            <a:r>
              <a:rPr lang="tr-TR" i="1" dirty="0" err="1"/>
              <a:t>stub</a:t>
            </a:r>
            <a:r>
              <a:rPr lang="tr-TR" dirty="0"/>
              <a:t> yordamını çağırmak için kullanır.</a:t>
            </a:r>
          </a:p>
          <a:p>
            <a:r>
              <a:rPr lang="tr-TR" dirty="0"/>
              <a:t>Doğru adrese erişim için,</a:t>
            </a:r>
          </a:p>
          <a:p>
            <a:pPr lvl="1"/>
            <a:r>
              <a:rPr lang="tr-TR" dirty="0"/>
              <a:t>Konumdan bağımsız kod (</a:t>
            </a:r>
            <a:r>
              <a:rPr lang="tr-TR" i="1" dirty="0" err="1"/>
              <a:t>position</a:t>
            </a:r>
            <a:r>
              <a:rPr lang="tr-TR" i="1" dirty="0"/>
              <a:t> </a:t>
            </a:r>
            <a:r>
              <a:rPr lang="tr-TR" i="1" dirty="0" err="1"/>
              <a:t>independent</a:t>
            </a:r>
            <a:r>
              <a:rPr lang="tr-TR" i="1" dirty="0"/>
              <a:t> </a:t>
            </a:r>
            <a:r>
              <a:rPr lang="tr-TR" i="1" dirty="0" err="1"/>
              <a:t>code</a:t>
            </a:r>
            <a:r>
              <a:rPr lang="tr-TR" dirty="0"/>
              <a:t>) kullanılır.</a:t>
            </a:r>
          </a:p>
          <a:p>
            <a:pPr lvl="1"/>
            <a:r>
              <a:rPr lang="tr-TR" dirty="0"/>
              <a:t>Paylaşımlı kütüphaneler için mutlak (</a:t>
            </a:r>
            <a:r>
              <a:rPr lang="tr-TR" i="1" dirty="0" err="1"/>
              <a:t>absolute</a:t>
            </a:r>
            <a:r>
              <a:rPr lang="tr-TR" dirty="0"/>
              <a:t>) adresler üretmez.</a:t>
            </a:r>
          </a:p>
          <a:p>
            <a:pPr lvl="1"/>
            <a:r>
              <a:rPr lang="tr-TR" dirty="0"/>
              <a:t>Yalnızca göreli (</a:t>
            </a:r>
            <a:r>
              <a:rPr lang="tr-TR" i="1" dirty="0" err="1"/>
              <a:t>relative</a:t>
            </a:r>
            <a:r>
              <a:rPr lang="tr-TR" dirty="0"/>
              <a:t>) adresleme yapılır.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154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Kütüphaneler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4" name="Picture 6" descr="03-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000" y="1865741"/>
            <a:ext cx="7920000" cy="4271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8299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Statik Kütüphane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latin typeface="Consolas" panose="020B0609020204030204" pitchFamily="49" charset="0"/>
              </a:rPr>
              <a:t>$ </a:t>
            </a:r>
            <a:r>
              <a:rPr lang="tr-TR" dirty="0" err="1">
                <a:latin typeface="Consolas" panose="020B0609020204030204" pitchFamily="49" charset="0"/>
              </a:rPr>
              <a:t>gcc</a:t>
            </a:r>
            <a:r>
              <a:rPr lang="tr-TR" dirty="0">
                <a:latin typeface="Consolas" panose="020B0609020204030204" pitchFamily="49" charset="0"/>
              </a:rPr>
              <a:t> -c </a:t>
            </a:r>
            <a:r>
              <a:rPr lang="tr-TR" dirty="0" err="1">
                <a:latin typeface="Consolas" panose="020B0609020204030204" pitchFamily="49" charset="0"/>
              </a:rPr>
              <a:t>func.c</a:t>
            </a:r>
            <a:r>
              <a:rPr lang="tr-TR" dirty="0">
                <a:latin typeface="Consolas" panose="020B0609020204030204" pitchFamily="49" charset="0"/>
              </a:rPr>
              <a:t> -o </a:t>
            </a:r>
            <a:r>
              <a:rPr lang="tr-TR" dirty="0" err="1">
                <a:latin typeface="Consolas" panose="020B0609020204030204" pitchFamily="49" charset="0"/>
              </a:rPr>
              <a:t>func.o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$ ar </a:t>
            </a:r>
            <a:r>
              <a:rPr lang="tr-TR" dirty="0" err="1">
                <a:latin typeface="Consolas" panose="020B0609020204030204" pitchFamily="49" charset="0"/>
              </a:rPr>
              <a:t>rcs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libfunc.a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func.o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$ </a:t>
            </a:r>
            <a:r>
              <a:rPr lang="tr-TR" dirty="0" err="1">
                <a:latin typeface="Consolas" panose="020B0609020204030204" pitchFamily="49" charset="0"/>
              </a:rPr>
              <a:t>gcc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main.c</a:t>
            </a:r>
            <a:r>
              <a:rPr lang="tr-TR" dirty="0">
                <a:latin typeface="Consolas" panose="020B0609020204030204" pitchFamily="49" charset="0"/>
              </a:rPr>
              <a:t> -o main -</a:t>
            </a:r>
            <a:r>
              <a:rPr lang="tr-TR" dirty="0" err="1">
                <a:latin typeface="Consolas" panose="020B0609020204030204" pitchFamily="49" charset="0"/>
              </a:rPr>
              <a:t>static</a:t>
            </a:r>
            <a:r>
              <a:rPr lang="tr-TR" dirty="0">
                <a:latin typeface="Consolas" panose="020B0609020204030204" pitchFamily="49" charset="0"/>
              </a:rPr>
              <a:t> -L. –</a:t>
            </a:r>
            <a:r>
              <a:rPr lang="tr-TR" dirty="0" err="1">
                <a:latin typeface="Consolas" panose="020B0609020204030204" pitchFamily="49" charset="0"/>
              </a:rPr>
              <a:t>lfunc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$ ./main</a:t>
            </a:r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26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Dinamik Kütüphane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latin typeface="Consolas" panose="020B0609020204030204" pitchFamily="49" charset="0"/>
              </a:rPr>
              <a:t>$ </a:t>
            </a:r>
            <a:r>
              <a:rPr lang="tr-TR" dirty="0" err="1">
                <a:latin typeface="Consolas" panose="020B0609020204030204" pitchFamily="49" charset="0"/>
              </a:rPr>
              <a:t>gcc</a:t>
            </a:r>
            <a:r>
              <a:rPr lang="tr-TR" dirty="0">
                <a:latin typeface="Consolas" panose="020B0609020204030204" pitchFamily="49" charset="0"/>
              </a:rPr>
              <a:t> -</a:t>
            </a:r>
            <a:r>
              <a:rPr lang="tr-TR" dirty="0" err="1">
                <a:latin typeface="Consolas" panose="020B0609020204030204" pitchFamily="49" charset="0"/>
              </a:rPr>
              <a:t>fPIC</a:t>
            </a:r>
            <a:r>
              <a:rPr lang="tr-TR" dirty="0">
                <a:latin typeface="Consolas" panose="020B0609020204030204" pitchFamily="49" charset="0"/>
              </a:rPr>
              <a:t> -c </a:t>
            </a:r>
            <a:r>
              <a:rPr lang="tr-TR" dirty="0" err="1">
                <a:latin typeface="Consolas" panose="020B0609020204030204" pitchFamily="49" charset="0"/>
              </a:rPr>
              <a:t>func.c</a:t>
            </a:r>
            <a:r>
              <a:rPr lang="tr-TR" dirty="0">
                <a:latin typeface="Consolas" panose="020B0609020204030204" pitchFamily="49" charset="0"/>
              </a:rPr>
              <a:t> -o </a:t>
            </a:r>
            <a:r>
              <a:rPr lang="tr-TR" dirty="0" err="1">
                <a:latin typeface="Consolas" panose="020B0609020204030204" pitchFamily="49" charset="0"/>
              </a:rPr>
              <a:t>func.o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$ </a:t>
            </a:r>
            <a:r>
              <a:rPr lang="tr-TR" dirty="0" err="1">
                <a:latin typeface="Consolas" panose="020B0609020204030204" pitchFamily="49" charset="0"/>
              </a:rPr>
              <a:t>gcc</a:t>
            </a:r>
            <a:r>
              <a:rPr lang="tr-TR" dirty="0">
                <a:latin typeface="Consolas" panose="020B0609020204030204" pitchFamily="49" charset="0"/>
              </a:rPr>
              <a:t> -</a:t>
            </a:r>
            <a:r>
              <a:rPr lang="tr-TR" dirty="0" err="1">
                <a:latin typeface="Consolas" panose="020B0609020204030204" pitchFamily="49" charset="0"/>
              </a:rPr>
              <a:t>shared</a:t>
            </a:r>
            <a:r>
              <a:rPr lang="tr-TR" dirty="0">
                <a:latin typeface="Consolas" panose="020B0609020204030204" pitchFamily="49" charset="0"/>
              </a:rPr>
              <a:t> -o libfunc.so </a:t>
            </a:r>
            <a:r>
              <a:rPr lang="tr-TR" dirty="0" err="1">
                <a:latin typeface="Consolas" panose="020B0609020204030204" pitchFamily="49" charset="0"/>
              </a:rPr>
              <a:t>func.o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$ </a:t>
            </a:r>
            <a:r>
              <a:rPr lang="tr-TR" dirty="0" err="1">
                <a:latin typeface="Consolas" panose="020B0609020204030204" pitchFamily="49" charset="0"/>
              </a:rPr>
              <a:t>export</a:t>
            </a:r>
            <a:r>
              <a:rPr lang="tr-TR" dirty="0">
                <a:latin typeface="Consolas" panose="020B0609020204030204" pitchFamily="49" charset="0"/>
              </a:rPr>
              <a:t> LD_LIBRARY_PATH=$(</a:t>
            </a:r>
            <a:r>
              <a:rPr lang="tr-TR" dirty="0" err="1">
                <a:latin typeface="Consolas" panose="020B0609020204030204" pitchFamily="49" charset="0"/>
              </a:rPr>
              <a:t>pwd</a:t>
            </a:r>
            <a:r>
              <a:rPr lang="tr-TR" dirty="0">
                <a:latin typeface="Consolas" panose="020B0609020204030204" pitchFamily="49" charset="0"/>
              </a:rPr>
              <a:t>)</a:t>
            </a:r>
          </a:p>
          <a:p>
            <a:r>
              <a:rPr lang="tr-TR" dirty="0">
                <a:latin typeface="Consolas" panose="020B0609020204030204" pitchFamily="49" charset="0"/>
              </a:rPr>
              <a:t>$ ./main</a:t>
            </a:r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404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3B19-0A4B-7DC4-F2B6-CE9B602B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DD83-C012-6076-BE72-AF8B7BA9A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21124-DB53-3BB9-339C-85A280726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D20F9-79AE-BBE5-176C-143857D4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D8632-0448-9366-37AC-87C72C93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51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Ardışık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Ana bellekte, hem işletim sistemi hem de kullanıcı süreçleri yer alır.</a:t>
            </a:r>
          </a:p>
          <a:p>
            <a:r>
              <a:rPr lang="tr-TR" dirty="0"/>
              <a:t>Sınırlı kaynak, verimli bir şekilde tahsis edilmelidir.</a:t>
            </a:r>
          </a:p>
          <a:p>
            <a:r>
              <a:rPr lang="tr-TR" dirty="0"/>
              <a:t>Ardışık yer tahsisi eski bir yöntemdir.</a:t>
            </a:r>
          </a:p>
          <a:p>
            <a:r>
              <a:rPr lang="tr-TR" dirty="0"/>
              <a:t>Ana bellek genellikle iki bölüme ayrılır.</a:t>
            </a:r>
          </a:p>
          <a:p>
            <a:pPr lvl="1"/>
            <a:r>
              <a:rPr lang="tr-TR" dirty="0"/>
              <a:t>Yerleşik işletim sistemi, kesme vektörü ile belleğin alt kısmında tutulur.</a:t>
            </a:r>
          </a:p>
          <a:p>
            <a:pPr lvl="1"/>
            <a:r>
              <a:rPr lang="tr-TR" dirty="0"/>
              <a:t>Kullanıcı süreçleri belleğin üst kısmında tutulur.</a:t>
            </a:r>
          </a:p>
          <a:p>
            <a:r>
              <a:rPr lang="tr-TR" dirty="0"/>
              <a:t>Her süreç bellekte tek bir ardışık (</a:t>
            </a:r>
            <a:r>
              <a:rPr lang="tr-TR" i="1" dirty="0"/>
              <a:t>bitişik</a:t>
            </a:r>
            <a:r>
              <a:rPr lang="tr-TR" dirty="0"/>
              <a:t>, </a:t>
            </a:r>
            <a:r>
              <a:rPr lang="tr-TR" i="1" dirty="0" err="1"/>
              <a:t>contiguous</a:t>
            </a:r>
            <a:r>
              <a:rPr lang="tr-TR" dirty="0"/>
              <a:t>) bölümde yer alır.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36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Ardışık Yer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0" y="2214004"/>
            <a:ext cx="7200000" cy="3574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524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 Koştukça Büyür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Yığın</a:t>
            </a:r>
            <a:r>
              <a:rPr lang="tr-TR" dirty="0"/>
              <a:t> kesimi (dönüş adresleri ve yerel değişkenler)</a:t>
            </a:r>
          </a:p>
          <a:p>
            <a:r>
              <a:rPr lang="tr-TR" b="1" dirty="0"/>
              <a:t>Veri</a:t>
            </a:r>
            <a:r>
              <a:rPr lang="tr-TR" dirty="0"/>
              <a:t> kesimi (dinamik olarak tahsis edilen ve serbest bırakılan değişkenler)</a:t>
            </a:r>
          </a:p>
          <a:p>
            <a:r>
              <a:rPr lang="tr-TR" dirty="0"/>
              <a:t>Her iki kesim için, fazladan bellek ayırmak tavsiye edilir.</a:t>
            </a:r>
          </a:p>
          <a:p>
            <a:r>
              <a:rPr lang="tr-TR" dirty="0"/>
              <a:t>Program diske gönderildikten sonra,</a:t>
            </a:r>
          </a:p>
          <a:p>
            <a:pPr lvl="1"/>
            <a:r>
              <a:rPr lang="tr-TR" dirty="0"/>
              <a:t>Belleğe tekrar getirilirken,</a:t>
            </a:r>
          </a:p>
          <a:p>
            <a:pPr lvl="2"/>
            <a:r>
              <a:rPr lang="tr-TR" dirty="0"/>
              <a:t>Boşluklar (</a:t>
            </a:r>
            <a:r>
              <a:rPr lang="tr-TR" i="1" dirty="0"/>
              <a:t>hole</a:t>
            </a:r>
            <a:r>
              <a:rPr lang="tr-TR" dirty="0"/>
              <a:t>) ile beraber getirilmez!</a:t>
            </a:r>
          </a:p>
          <a:p>
            <a:pPr lvl="2"/>
            <a:r>
              <a:rPr lang="tr-TR" dirty="0"/>
              <a:t>Diskte ardışık konumlarda saklanmayabilir.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05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Bellekte Alan Tahsisi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(a) Büyüyen veri kesimi. (b) Büyüyen yığın, ve veri kesimi.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4" name="Picture 6" descr="03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969" y="2347503"/>
            <a:ext cx="5580062" cy="4121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346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Bölümleme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Verimlilik için bölüm boyutları ihtiyaca göre değişkendir.</a:t>
            </a:r>
          </a:p>
          <a:p>
            <a:r>
              <a:rPr lang="tr-TR" dirty="0"/>
              <a:t>Delik, boşluk (</a:t>
            </a:r>
            <a:r>
              <a:rPr lang="tr-TR" i="1" dirty="0"/>
              <a:t>hole</a:t>
            </a:r>
            <a:r>
              <a:rPr lang="tr-TR" dirty="0"/>
              <a:t>): kullanılabilir serbest bellek bloğu; </a:t>
            </a:r>
          </a:p>
          <a:p>
            <a:pPr lvl="1"/>
            <a:r>
              <a:rPr lang="tr-TR" dirty="0"/>
              <a:t>Farklı boyutlarda bellek boyunca dağınık durumda olabilir.</a:t>
            </a:r>
          </a:p>
          <a:p>
            <a:r>
              <a:rPr lang="tr-TR" dirty="0"/>
              <a:t>Süreç yürütüleceğinde, yeterince büyük bir bellek alanı tahsis edilir.</a:t>
            </a:r>
          </a:p>
          <a:p>
            <a:r>
              <a:rPr lang="tr-TR" dirty="0"/>
              <a:t>Süreç sonlandığında, bellek alanı boşaltılır, bitişik boş bölümler birleştirilir.</a:t>
            </a:r>
          </a:p>
          <a:p>
            <a:r>
              <a:rPr lang="tr-TR" dirty="0"/>
              <a:t>İşletim sistemi, tahsis edilen ve boş bölümler hakkında bilgi tutar.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86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Düzeni Değişimi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Süreç, yürütülüp sonlandıkça bellek tahsisi değişir. </a:t>
            </a:r>
          </a:p>
          <a:p>
            <a:r>
              <a:rPr lang="tr-TR" dirty="0"/>
              <a:t>Gölgeli bölgeler kullanılmayan boş alanlardır.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4" name="Picture 6" descr="03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2" y="2705100"/>
            <a:ext cx="816927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9664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Diske yaz-Belleğe geri yükle takası (</a:t>
            </a:r>
            <a:r>
              <a:rPr lang="tr-TR" i="1" dirty="0"/>
              <a:t>swap</a:t>
            </a:r>
            <a:r>
              <a:rPr lang="tr-TR" dirty="0"/>
              <a:t>) sonrası adresler değişebilir.</a:t>
            </a:r>
          </a:p>
          <a:p>
            <a:pPr lvl="1"/>
            <a:r>
              <a:rPr lang="tr-TR" dirty="0"/>
              <a:t>Statik ve dinamik yer değiştirme.</a:t>
            </a:r>
          </a:p>
          <a:p>
            <a:r>
              <a:rPr lang="tr-TR" dirty="0"/>
              <a:t>Bellek boşlukları (</a:t>
            </a:r>
            <a:r>
              <a:rPr lang="tr-TR" i="1" dirty="0"/>
              <a:t>hole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Bellek sıkıştırma (</a:t>
            </a:r>
            <a:r>
              <a:rPr lang="tr-TR" i="1" dirty="0" err="1"/>
              <a:t>compression</a:t>
            </a:r>
            <a:r>
              <a:rPr lang="tr-TR" dirty="0"/>
              <a:t>) yapılır.</a:t>
            </a:r>
          </a:p>
          <a:p>
            <a:pPr lvl="2"/>
            <a:r>
              <a:rPr lang="tr-TR" dirty="0"/>
              <a:t>İşlemci zamanı gerekir. 4 </a:t>
            </a:r>
            <a:r>
              <a:rPr lang="tr-TR" dirty="0" err="1"/>
              <a:t>byte</a:t>
            </a:r>
            <a:r>
              <a:rPr lang="tr-TR" dirty="0"/>
              <a:t> için 20 </a:t>
            </a:r>
            <a:r>
              <a:rPr lang="tr-TR" i="1" dirty="0" err="1"/>
              <a:t>ns</a:t>
            </a:r>
            <a:r>
              <a:rPr lang="tr-TR" dirty="0"/>
              <a:t>, 1 GB için &gt; 5 </a:t>
            </a:r>
            <a:r>
              <a:rPr lang="tr-TR" i="1" dirty="0"/>
              <a:t>s</a:t>
            </a:r>
            <a:r>
              <a:rPr lang="tr-TR" dirty="0"/>
              <a:t>.</a:t>
            </a:r>
          </a:p>
          <a:p>
            <a:r>
              <a:rPr lang="tr-TR" dirty="0"/>
              <a:t>Bir süreç için ayrılan bellek miktarı ne kadar?</a:t>
            </a:r>
          </a:p>
          <a:p>
            <a:pPr lvl="1"/>
            <a:r>
              <a:rPr lang="tr-TR" dirty="0"/>
              <a:t>Süreçler büyüme eğilimindedir.</a:t>
            </a:r>
          </a:p>
          <a:p>
            <a:pPr lvl="1"/>
            <a:r>
              <a:rPr lang="tr-TR" dirty="0"/>
              <a:t>Veri kesimi (</a:t>
            </a:r>
            <a:r>
              <a:rPr lang="tr-TR" i="1" dirty="0"/>
              <a:t>data </a:t>
            </a:r>
            <a:r>
              <a:rPr lang="tr-TR" i="1" dirty="0" err="1"/>
              <a:t>segment</a:t>
            </a:r>
            <a:r>
              <a:rPr lang="tr-TR" dirty="0"/>
              <a:t>), yığın (</a:t>
            </a:r>
            <a:r>
              <a:rPr lang="tr-TR" i="1" dirty="0" err="1"/>
              <a:t>stack</a:t>
            </a:r>
            <a:r>
              <a:rPr lang="tr-TR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882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F755-B47B-78B2-3421-5E6CC619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F2F6-C570-3CA6-3F7F-99C9D50C4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9B12-E80E-8CC0-06C1-72A7C2EB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BF01-C840-6CA5-6796-D027880C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6E959-4767-723E-FEB7-2EA68CF2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065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 Alan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Süreçlere boş bellek alanı nasıl tahsis edilir?</a:t>
            </a:r>
          </a:p>
          <a:p>
            <a:pPr lvl="1"/>
            <a:r>
              <a:rPr lang="tr-TR" dirty="0"/>
              <a:t>İlk uyan (</a:t>
            </a:r>
            <a:r>
              <a:rPr lang="tr-TR" i="1" dirty="0" err="1"/>
              <a:t>first</a:t>
            </a:r>
            <a:r>
              <a:rPr lang="tr-TR" i="1" dirty="0"/>
              <a:t> fit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Hızlı, baş kısımlar sık kullanılır, büyük bir alan verimsiz kullanılabilir.</a:t>
            </a:r>
          </a:p>
          <a:p>
            <a:pPr lvl="1"/>
            <a:r>
              <a:rPr lang="tr-TR" dirty="0"/>
              <a:t>Sonraki uyan (</a:t>
            </a:r>
            <a:r>
              <a:rPr lang="tr-TR" i="1" dirty="0" err="1"/>
              <a:t>next</a:t>
            </a:r>
            <a:r>
              <a:rPr lang="tr-TR" i="1" dirty="0"/>
              <a:t> fit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En son kullanılan yerden aramaya başlanır.</a:t>
            </a:r>
          </a:p>
          <a:p>
            <a:pPr lvl="1"/>
            <a:r>
              <a:rPr lang="tr-TR" dirty="0"/>
              <a:t>En iyi uyan (</a:t>
            </a:r>
            <a:r>
              <a:rPr lang="tr-TR" i="1" dirty="0" err="1"/>
              <a:t>best</a:t>
            </a:r>
            <a:r>
              <a:rPr lang="tr-TR" i="1" dirty="0"/>
              <a:t> fit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Tüm liste taranır, gerekli boyuta en yakın boşluk (</a:t>
            </a:r>
            <a:r>
              <a:rPr lang="tr-TR" i="1" dirty="0"/>
              <a:t>hole</a:t>
            </a:r>
            <a:r>
              <a:rPr lang="tr-TR" dirty="0"/>
              <a:t>) bulunur.</a:t>
            </a:r>
          </a:p>
          <a:p>
            <a:pPr lvl="1"/>
            <a:r>
              <a:rPr lang="tr-TR" dirty="0"/>
              <a:t>En kötü uyan (</a:t>
            </a:r>
            <a:r>
              <a:rPr lang="tr-TR" i="1" dirty="0" err="1"/>
              <a:t>worst</a:t>
            </a:r>
            <a:r>
              <a:rPr lang="tr-TR" i="1" dirty="0"/>
              <a:t> fit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En büyük boşluk bulunur.</a:t>
            </a:r>
          </a:p>
          <a:p>
            <a:pPr lvl="1"/>
            <a:r>
              <a:rPr lang="tr-TR" dirty="0"/>
              <a:t>Hızlı uyan (</a:t>
            </a:r>
            <a:r>
              <a:rPr lang="tr-TR" i="1" dirty="0" err="1"/>
              <a:t>quick</a:t>
            </a:r>
            <a:r>
              <a:rPr lang="tr-TR" i="1" dirty="0"/>
              <a:t> fit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Süreçler ve boşluklar ayrı kuyruklarda tutulur.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31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Bellekte Boş Alan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Biteşlem</a:t>
            </a:r>
            <a:r>
              <a:rPr lang="tr-TR" dirty="0"/>
              <a:t> (</a:t>
            </a:r>
            <a:r>
              <a:rPr lang="tr-TR" i="1" dirty="0" err="1"/>
              <a:t>bitmap</a:t>
            </a:r>
            <a:r>
              <a:rPr lang="tr-TR" dirty="0"/>
              <a:t>) ve bağlı liste veri yapıları kullanılır.</a:t>
            </a:r>
          </a:p>
          <a:p>
            <a:r>
              <a:rPr lang="tr-TR" dirty="0" err="1"/>
              <a:t>Biteşlem</a:t>
            </a:r>
            <a:endParaRPr lang="tr-TR" dirty="0"/>
          </a:p>
          <a:p>
            <a:pPr lvl="1"/>
            <a:r>
              <a:rPr lang="tr-TR" dirty="0"/>
              <a:t>Belleği takip etmenin basit ve sıkı (</a:t>
            </a:r>
            <a:r>
              <a:rPr lang="tr-TR" i="1" dirty="0" err="1"/>
              <a:t>compact</a:t>
            </a:r>
            <a:r>
              <a:rPr lang="tr-TR" dirty="0"/>
              <a:t>) yolu.</a:t>
            </a:r>
          </a:p>
          <a:p>
            <a:pPr lvl="1"/>
            <a:r>
              <a:rPr lang="tr-TR" dirty="0"/>
              <a:t>Bellek, küçük birimlerden (</a:t>
            </a:r>
            <a:r>
              <a:rPr lang="tr-TR" dirty="0" err="1"/>
              <a:t>word</a:t>
            </a:r>
            <a:r>
              <a:rPr lang="tr-TR" dirty="0"/>
              <a:t>, KB) oluşur.</a:t>
            </a:r>
          </a:p>
          <a:p>
            <a:pPr lvl="1"/>
            <a:r>
              <a:rPr lang="tr-TR" dirty="0"/>
              <a:t>Her birime </a:t>
            </a:r>
            <a:r>
              <a:rPr lang="tr-TR" dirty="0" err="1"/>
              <a:t>biteşlem’de</a:t>
            </a:r>
            <a:r>
              <a:rPr lang="tr-TR" dirty="0"/>
              <a:t> bir bit karşılık gelir.</a:t>
            </a:r>
          </a:p>
          <a:p>
            <a:pPr lvl="1"/>
            <a:r>
              <a:rPr lang="tr-TR" i="1" dirty="0"/>
              <a:t>k</a:t>
            </a:r>
            <a:r>
              <a:rPr lang="tr-TR" dirty="0"/>
              <a:t> birim dosyayı belleğe getirmek için, </a:t>
            </a:r>
            <a:r>
              <a:rPr lang="tr-TR" dirty="0" err="1"/>
              <a:t>biteşlem'de</a:t>
            </a:r>
            <a:r>
              <a:rPr lang="tr-TR" dirty="0"/>
              <a:t> k ardışık sıfır aranır.</a:t>
            </a:r>
          </a:p>
          <a:p>
            <a:pPr lvl="1"/>
            <a:r>
              <a:rPr lang="tr-TR" dirty="0"/>
              <a:t>İstenen uzunlukta boş alan bulmak zor.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182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Biteşlem</a:t>
            </a:r>
            <a:r>
              <a:rPr lang="tr-TR" dirty="0"/>
              <a:t> ile Bellek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(a) Beş süreç ve üç boşluklu bellek kesiti. Bellek birimleri </a:t>
            </a:r>
            <a:r>
              <a:rPr lang="tr-TR" i="1" dirty="0"/>
              <a:t>im</a:t>
            </a:r>
            <a:r>
              <a:rPr lang="tr-TR" dirty="0"/>
              <a:t> ile ayrılmış. Taralı bölgeler (</a:t>
            </a:r>
            <a:r>
              <a:rPr lang="tr-TR" dirty="0" err="1"/>
              <a:t>biteşlemde</a:t>
            </a:r>
            <a:r>
              <a:rPr lang="tr-TR" dirty="0"/>
              <a:t> 0) boş. (b) </a:t>
            </a:r>
            <a:r>
              <a:rPr lang="tr-TR" dirty="0" err="1"/>
              <a:t>Biteşlem</a:t>
            </a:r>
            <a:r>
              <a:rPr lang="tr-TR" dirty="0"/>
              <a:t>. (c) Bağlı liste gösterimi.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4" name="Picture 6" descr="03-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073275" y="2693988"/>
            <a:ext cx="8045450" cy="3482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717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Liste ile Bellek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X</a:t>
            </a:r>
            <a:r>
              <a:rPr lang="tr-TR" dirty="0"/>
              <a:t> süreci sonlanmadan önce ve sonrası oluşan bellek düzeni.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4" name="Picture 6" descr="03-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550" y="2705237"/>
            <a:ext cx="7708900" cy="3171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370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Parçalanma (</a:t>
            </a:r>
            <a:r>
              <a:rPr lang="tr-TR" dirty="0" err="1"/>
              <a:t>Fragmentation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Harici Parçalanma:</a:t>
            </a:r>
            <a:r>
              <a:rPr lang="tr-TR" dirty="0"/>
              <a:t> isteği karşılayacak bellek alanı var, ancak bitişik değil.</a:t>
            </a:r>
          </a:p>
          <a:p>
            <a:r>
              <a:rPr lang="tr-TR" b="1" dirty="0"/>
              <a:t>Dahili Parçalanma: </a:t>
            </a:r>
            <a:r>
              <a:rPr lang="tr-TR" dirty="0"/>
              <a:t>tahsis edilen bellek, talep edilenden büyük olabilir.</a:t>
            </a:r>
          </a:p>
          <a:p>
            <a:pPr lvl="1"/>
            <a:r>
              <a:rPr lang="tr-TR" dirty="0"/>
              <a:t>Tahsis edilen bellek bölümünün içinde, boş kalan kısım.</a:t>
            </a:r>
          </a:p>
          <a:p>
            <a:r>
              <a:rPr lang="tr-TR" dirty="0"/>
              <a:t>Sıkıştırma (</a:t>
            </a:r>
            <a:r>
              <a:rPr lang="tr-TR" i="1" dirty="0" err="1"/>
              <a:t>compression</a:t>
            </a:r>
            <a:r>
              <a:rPr lang="tr-TR" dirty="0"/>
              <a:t>) işlemi, harici parçalanmayı azaltır.</a:t>
            </a:r>
          </a:p>
          <a:p>
            <a:pPr lvl="1"/>
            <a:r>
              <a:rPr lang="tr-TR" dirty="0"/>
              <a:t>Boş bellek blokları, tek bir büyük blokta bir araya getirilir.</a:t>
            </a:r>
          </a:p>
          <a:p>
            <a:pPr lvl="1"/>
            <a:r>
              <a:rPr lang="tr-TR" dirty="0"/>
              <a:t>Dinamik yer değiştirme (</a:t>
            </a:r>
            <a:r>
              <a:rPr lang="tr-TR" i="1" dirty="0" err="1"/>
              <a:t>dynamic</a:t>
            </a:r>
            <a:r>
              <a:rPr lang="tr-TR" i="1" dirty="0"/>
              <a:t> </a:t>
            </a:r>
            <a:r>
              <a:rPr lang="tr-TR" i="1" dirty="0" err="1"/>
              <a:t>relocation</a:t>
            </a:r>
            <a:r>
              <a:rPr lang="tr-TR" dirty="0"/>
              <a:t>) kullanılıyorsa mümkün.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897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(</a:t>
            </a:r>
            <a:r>
              <a:rPr lang="tr-TR" dirty="0" err="1"/>
              <a:t>Paging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Bir sürecin fiziksel adres alanının bitişik olması gerekmez.</a:t>
            </a:r>
          </a:p>
          <a:p>
            <a:pPr lvl="1"/>
            <a:r>
              <a:rPr lang="tr-TR" dirty="0"/>
              <a:t>Harici parçalanmayı önler.</a:t>
            </a:r>
          </a:p>
          <a:p>
            <a:pPr lvl="1"/>
            <a:r>
              <a:rPr lang="tr-TR" dirty="0"/>
              <a:t>Değişken boyutlu bellek blokları yerine sabit boyutlu kullanılır.</a:t>
            </a:r>
          </a:p>
          <a:p>
            <a:r>
              <a:rPr lang="tr-TR" dirty="0"/>
              <a:t>Fiziksel bellek </a:t>
            </a:r>
            <a:r>
              <a:rPr lang="tr-TR" b="1" dirty="0"/>
              <a:t>çerçeve (</a:t>
            </a:r>
            <a:r>
              <a:rPr lang="tr-TR" b="1" i="1" dirty="0" err="1"/>
              <a:t>frame</a:t>
            </a:r>
            <a:r>
              <a:rPr lang="tr-TR" b="1" dirty="0"/>
              <a:t>)</a:t>
            </a:r>
            <a:r>
              <a:rPr lang="tr-TR" dirty="0"/>
              <a:t> adı verilen sabit boyutlu bloklara ayrılır.</a:t>
            </a:r>
          </a:p>
          <a:p>
            <a:r>
              <a:rPr lang="tr-TR" dirty="0"/>
              <a:t>Boyut, 2'nin kuvveti olarak, </a:t>
            </a:r>
            <a:r>
              <a:rPr lang="tr-TR" i="1" dirty="0"/>
              <a:t>512 bayt</a:t>
            </a:r>
            <a:r>
              <a:rPr lang="tr-TR" dirty="0"/>
              <a:t> ile </a:t>
            </a:r>
            <a:r>
              <a:rPr lang="tr-TR" i="1" dirty="0"/>
              <a:t>16 MB </a:t>
            </a:r>
            <a:r>
              <a:rPr lang="tr-TR" dirty="0"/>
              <a:t>arasında olur.</a:t>
            </a:r>
          </a:p>
          <a:p>
            <a:r>
              <a:rPr lang="tr-TR" dirty="0"/>
              <a:t>Mantıksal bellek </a:t>
            </a:r>
            <a:r>
              <a:rPr lang="tr-TR" b="1" dirty="0"/>
              <a:t>sayfa (</a:t>
            </a:r>
            <a:r>
              <a:rPr lang="tr-TR" b="1" dirty="0" err="1"/>
              <a:t>page</a:t>
            </a:r>
            <a:r>
              <a:rPr lang="tr-TR" b="1" dirty="0"/>
              <a:t>)</a:t>
            </a:r>
            <a:r>
              <a:rPr lang="tr-TR" dirty="0"/>
              <a:t> adı verilen sabit boyutlu bloklara ayrılır.</a:t>
            </a:r>
          </a:p>
          <a:p>
            <a:pPr lvl="1"/>
            <a:r>
              <a:rPr lang="tr-TR" dirty="0"/>
              <a:t>Tüm boş çerçeveler takip edilir.</a:t>
            </a:r>
          </a:p>
          <a:p>
            <a:pPr lvl="1"/>
            <a:r>
              <a:rPr lang="tr-TR" i="1" dirty="0"/>
              <a:t>N</a:t>
            </a:r>
            <a:r>
              <a:rPr lang="tr-TR" dirty="0"/>
              <a:t> sayfa boyutunda bir süreç için, </a:t>
            </a:r>
            <a:r>
              <a:rPr lang="tr-TR" i="1" dirty="0"/>
              <a:t>N</a:t>
            </a:r>
            <a:r>
              <a:rPr lang="tr-TR" dirty="0"/>
              <a:t> adet boş çerçeve gerekir.</a:t>
            </a:r>
          </a:p>
          <a:p>
            <a:r>
              <a:rPr lang="tr-TR" dirty="0"/>
              <a:t>Mantıksal adresler, </a:t>
            </a:r>
            <a:r>
              <a:rPr lang="tr-TR" b="1" dirty="0"/>
              <a:t>sayfa tablosu (</a:t>
            </a:r>
            <a:r>
              <a:rPr lang="tr-TR" b="1" i="1" dirty="0" err="1"/>
              <a:t>page</a:t>
            </a:r>
            <a:r>
              <a:rPr lang="tr-TR" b="1" i="1" dirty="0"/>
              <a:t> </a:t>
            </a:r>
            <a:r>
              <a:rPr lang="tr-TR" b="1" i="1" dirty="0" err="1"/>
              <a:t>table</a:t>
            </a:r>
            <a:r>
              <a:rPr lang="tr-TR" b="1" dirty="0"/>
              <a:t>) </a:t>
            </a:r>
            <a:r>
              <a:rPr lang="tr-TR" dirty="0"/>
              <a:t>ile fiziksel adrese çevrilir.</a:t>
            </a:r>
            <a:endParaRPr lang="tr-TR" b="1" dirty="0"/>
          </a:p>
          <a:p>
            <a:r>
              <a:rPr lang="tr-TR" dirty="0"/>
              <a:t>Dahili parçalanma oluşur.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26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Donanımı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463" y="1870075"/>
            <a:ext cx="7319073" cy="4067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45343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Mantıksal ve Fiziksel 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8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644" y="1595212"/>
            <a:ext cx="4938712" cy="4613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917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Tablosu Elemanı Yapısı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2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1885950"/>
            <a:ext cx="5099050" cy="4425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8123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– Dahili Parçalanma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Sayfa boyutu = 2.048 </a:t>
            </a:r>
            <a:r>
              <a:rPr lang="tr-TR" i="1" dirty="0"/>
              <a:t>bayt</a:t>
            </a:r>
          </a:p>
          <a:p>
            <a:r>
              <a:rPr lang="tr-TR" dirty="0"/>
              <a:t>Süreç boyutu = 72.766 </a:t>
            </a:r>
            <a:r>
              <a:rPr lang="tr-TR" i="1" dirty="0"/>
              <a:t>bayt</a:t>
            </a:r>
          </a:p>
          <a:p>
            <a:r>
              <a:rPr lang="tr-TR" dirty="0"/>
              <a:t>35 sayfa + 1086 </a:t>
            </a:r>
            <a:r>
              <a:rPr lang="tr-TR" i="1" dirty="0"/>
              <a:t>bayt</a:t>
            </a:r>
          </a:p>
          <a:p>
            <a:r>
              <a:rPr lang="tr-TR" dirty="0"/>
              <a:t>2048 - 1086 = 962 </a:t>
            </a:r>
            <a:r>
              <a:rPr lang="tr-TR" i="1" dirty="0"/>
              <a:t>bayt </a:t>
            </a:r>
            <a:r>
              <a:rPr lang="tr-TR" dirty="0"/>
              <a:t>(dahili parçalanma)</a:t>
            </a:r>
          </a:p>
          <a:p>
            <a:r>
              <a:rPr lang="tr-TR" dirty="0"/>
              <a:t>En kötü durumda parçalanma = 1 </a:t>
            </a:r>
            <a:r>
              <a:rPr lang="tr-TR" i="1" dirty="0"/>
              <a:t>çerçeve boyutu</a:t>
            </a:r>
            <a:r>
              <a:rPr lang="tr-TR" dirty="0"/>
              <a:t> – 1 </a:t>
            </a:r>
            <a:r>
              <a:rPr lang="tr-TR" i="1" dirty="0"/>
              <a:t>bayt</a:t>
            </a:r>
          </a:p>
          <a:p>
            <a:r>
              <a:rPr lang="tr-TR" dirty="0"/>
              <a:t>Ortalama parçalanma = </a:t>
            </a:r>
            <a:r>
              <a:rPr lang="tr-TR" i="1" dirty="0"/>
              <a:t>çerçeve boyutu </a:t>
            </a:r>
            <a:r>
              <a:rPr lang="tr-TR" dirty="0"/>
              <a:t>/ 2</a:t>
            </a:r>
          </a:p>
          <a:p>
            <a:r>
              <a:rPr lang="tr-TR" dirty="0"/>
              <a:t>Küçük çerçeve boyutları arzu edilir mi?</a:t>
            </a:r>
          </a:p>
          <a:p>
            <a:pPr lvl="1"/>
            <a:r>
              <a:rPr lang="tr-TR" dirty="0"/>
              <a:t>Her sayfa tablosunda satır için bellek gerekir.</a:t>
            </a:r>
          </a:p>
          <a:p>
            <a:pPr lvl="1"/>
            <a:r>
              <a:rPr lang="tr-TR" dirty="0"/>
              <a:t>Süreç boyutları zamanla büyür.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609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Boş Çerçeveler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043" y="1825625"/>
            <a:ext cx="5903913" cy="4235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9304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Tablosu (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Mantıksal adres = {</a:t>
            </a:r>
            <a:r>
              <a:rPr lang="tr-TR" i="1" dirty="0"/>
              <a:t>sayfa numarası, bağıl konum (</a:t>
            </a:r>
            <a:r>
              <a:rPr lang="tr-TR" i="1" dirty="0" err="1"/>
              <a:t>offset</a:t>
            </a:r>
            <a:r>
              <a:rPr lang="tr-TR" i="1" dirty="0"/>
              <a:t>)</a:t>
            </a:r>
            <a:r>
              <a:rPr lang="tr-TR" dirty="0"/>
              <a:t>}</a:t>
            </a:r>
          </a:p>
          <a:p>
            <a:r>
              <a:rPr lang="tr-TR" dirty="0"/>
              <a:t>Fiziksel adres = {</a:t>
            </a:r>
            <a:r>
              <a:rPr lang="tr-TR" i="1" dirty="0"/>
              <a:t>çerçeve numarası, bağıl konum (</a:t>
            </a:r>
            <a:r>
              <a:rPr lang="tr-TR" i="1" dirty="0" err="1"/>
              <a:t>offset</a:t>
            </a:r>
            <a:r>
              <a:rPr lang="tr-TR" i="1" dirty="0"/>
              <a:t>)</a:t>
            </a:r>
            <a:r>
              <a:rPr lang="tr-TR" dirty="0"/>
              <a:t>}</a:t>
            </a:r>
          </a:p>
          <a:p>
            <a:r>
              <a:rPr lang="tr-TR" dirty="0"/>
              <a:t>Çerçeve, sayfa tablosunda 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</a:p>
          <a:p>
            <a:pPr marL="0" indent="0">
              <a:buNone/>
            </a:pPr>
            <a:r>
              <a:rPr lang="tr-TR" i="1" dirty="0" err="1"/>
              <a:t>table</a:t>
            </a:r>
            <a:r>
              <a:rPr lang="tr-TR" dirty="0"/>
              <a:t>) sayfa ile ilgili satırda bulunur.</a:t>
            </a:r>
          </a:p>
          <a:p>
            <a:r>
              <a:rPr lang="tr-TR" i="1" dirty="0"/>
              <a:t>Mevcut/yok </a:t>
            </a:r>
            <a:r>
              <a:rPr lang="tr-TR" dirty="0"/>
              <a:t>biti 1 ise, çerçeve bağıl </a:t>
            </a:r>
          </a:p>
          <a:p>
            <a:pPr marL="0" indent="0">
              <a:buNone/>
            </a:pPr>
            <a:r>
              <a:rPr lang="tr-TR" dirty="0"/>
              <a:t>konumun önüne eklenir.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177" y="2730137"/>
            <a:ext cx="5417675" cy="3446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91061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Hatalı Sayfa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i="1" dirty="0"/>
              <a:t>Mevcut/yok</a:t>
            </a:r>
            <a:r>
              <a:rPr lang="tr-TR" dirty="0"/>
              <a:t> biti, sayfanın bellekte olup olmadığını söyler.</a:t>
            </a:r>
          </a:p>
          <a:p>
            <a:r>
              <a:rPr lang="tr-TR" dirty="0"/>
              <a:t>Adres bellekte yoksa ne olur?</a:t>
            </a:r>
          </a:p>
          <a:p>
            <a:r>
              <a:rPr lang="tr-TR" dirty="0"/>
              <a:t>İşletim sistemine tuzak (</a:t>
            </a:r>
            <a:r>
              <a:rPr lang="tr-TR" i="1" dirty="0"/>
              <a:t>trap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Diske göndermek için bir sayfa seçilir.</a:t>
            </a:r>
          </a:p>
          <a:p>
            <a:pPr lvl="1"/>
            <a:r>
              <a:rPr lang="tr-TR" dirty="0"/>
              <a:t>Gerekli olan sayfa belleğe getirilir.</a:t>
            </a:r>
          </a:p>
          <a:p>
            <a:pPr lvl="1"/>
            <a:r>
              <a:rPr lang="tr-TR" dirty="0"/>
              <a:t>Komut yeniden başlatılır.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482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Yönetim Birimi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tablosunda 16 girdi var,</a:t>
            </a:r>
          </a:p>
          <a:p>
            <a:pPr marL="0" indent="0">
              <a:buNone/>
            </a:pPr>
            <a:r>
              <a:rPr lang="tr-TR" dirty="0"/>
              <a:t>sayfa numarası için 4 </a:t>
            </a:r>
            <a:r>
              <a:rPr lang="tr-TR" i="1" dirty="0"/>
              <a:t>bit </a:t>
            </a:r>
            <a:r>
              <a:rPr lang="tr-TR" dirty="0"/>
              <a:t>gerekli.</a:t>
            </a:r>
          </a:p>
          <a:p>
            <a:r>
              <a:rPr lang="tr-TR" dirty="0"/>
              <a:t>Sayfa boyutu = 4 </a:t>
            </a:r>
            <a:r>
              <a:rPr lang="tr-TR" i="1" dirty="0"/>
              <a:t>KB</a:t>
            </a:r>
            <a:r>
              <a:rPr lang="tr-TR" dirty="0"/>
              <a:t>,</a:t>
            </a:r>
          </a:p>
          <a:p>
            <a:pPr marL="0" indent="0">
              <a:buNone/>
            </a:pPr>
            <a:r>
              <a:rPr lang="tr-TR" dirty="0"/>
              <a:t>bağıl adres için 12 </a:t>
            </a:r>
            <a:r>
              <a:rPr lang="tr-TR" i="1" dirty="0"/>
              <a:t>bit </a:t>
            </a:r>
            <a:r>
              <a:rPr lang="tr-TR" dirty="0"/>
              <a:t>gerekli. </a:t>
            </a:r>
          </a:p>
          <a:p>
            <a:r>
              <a:rPr lang="tr-TR" dirty="0"/>
              <a:t>çerçeve numarası 3 </a:t>
            </a:r>
            <a:r>
              <a:rPr lang="tr-TR" i="1" dirty="0"/>
              <a:t>bit</a:t>
            </a:r>
            <a:r>
              <a:rPr lang="tr-TR" dirty="0"/>
              <a:t>.</a:t>
            </a:r>
          </a:p>
          <a:p>
            <a:r>
              <a:rPr lang="tr-TR" b="1" dirty="0"/>
              <a:t>MMU</a:t>
            </a:r>
            <a:r>
              <a:rPr lang="tr-TR" dirty="0"/>
              <a:t> (</a:t>
            </a:r>
            <a:r>
              <a:rPr lang="tr-TR" i="1" dirty="0" err="1"/>
              <a:t>memory</a:t>
            </a:r>
            <a:r>
              <a:rPr lang="tr-TR" i="1" dirty="0"/>
              <a:t> </a:t>
            </a:r>
            <a:r>
              <a:rPr lang="tr-TR" i="1" dirty="0" err="1"/>
              <a:t>management</a:t>
            </a:r>
            <a:r>
              <a:rPr lang="tr-TR" i="1" dirty="0"/>
              <a:t> </a:t>
            </a:r>
            <a:r>
              <a:rPr lang="tr-TR" i="1" dirty="0" err="1"/>
              <a:t>unit</a:t>
            </a:r>
            <a:r>
              <a:rPr lang="tr-TR" dirty="0"/>
              <a:t>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4" name="Picture 6" descr="03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18" y="1027906"/>
            <a:ext cx="4887931" cy="5398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8691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Adres Eşleme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Sanal adres, sayfa numarası ve bağıl adres.</a:t>
            </a:r>
          </a:p>
          <a:p>
            <a:r>
              <a:rPr lang="tr-TR" dirty="0"/>
              <a:t>16 </a:t>
            </a:r>
            <a:r>
              <a:rPr lang="tr-TR" i="1" dirty="0"/>
              <a:t>bit </a:t>
            </a:r>
            <a:r>
              <a:rPr lang="tr-TR" dirty="0"/>
              <a:t>adres: 4 </a:t>
            </a:r>
            <a:r>
              <a:rPr lang="tr-TR" i="1" dirty="0"/>
              <a:t>KB </a:t>
            </a:r>
            <a:r>
              <a:rPr lang="tr-TR" dirty="0"/>
              <a:t>sayfa boyutu (</a:t>
            </a:r>
            <a:r>
              <a:rPr lang="tr-TR" i="1" dirty="0"/>
              <a:t>12 bit</a:t>
            </a:r>
            <a:r>
              <a:rPr lang="tr-TR" dirty="0"/>
              <a:t>), 16 sayfa (</a:t>
            </a:r>
            <a:r>
              <a:rPr lang="tr-TR" i="1" dirty="0"/>
              <a:t>4 bit</a:t>
            </a:r>
            <a:r>
              <a:rPr lang="tr-TR" dirty="0"/>
              <a:t>).</a:t>
            </a:r>
          </a:p>
          <a:p>
            <a:r>
              <a:rPr lang="tr-TR" dirty="0"/>
              <a:t>Sayfa numarası: sayfa tablosundaki indis (</a:t>
            </a:r>
            <a:r>
              <a:rPr lang="tr-TR" i="1" dirty="0" err="1"/>
              <a:t>index</a:t>
            </a:r>
            <a:r>
              <a:rPr lang="tr-TR" dirty="0"/>
              <a:t>).</a:t>
            </a:r>
          </a:p>
          <a:p>
            <a:r>
              <a:rPr lang="tr-TR" dirty="0"/>
              <a:t>Sayfa tablosu, sayfa numarasını çerçeve numarasına eşler.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211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Tablosu Elemanı Yapısı</a:t>
            </a:r>
          </a:p>
        </p:txBody>
      </p:sp>
      <p:pic>
        <p:nvPicPr>
          <p:cNvPr id="4" name="Picture 6" descr="03-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43" y="2672997"/>
            <a:ext cx="8108768" cy="2180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209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Tablosu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Koruma (</a:t>
            </a:r>
            <a:r>
              <a:rPr lang="tr-TR" i="1" dirty="0" err="1"/>
              <a:t>protection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Ne tür erişimlere (o</a:t>
            </a:r>
            <a:r>
              <a:rPr lang="tr-TR" i="1" dirty="0"/>
              <a:t>kuma, yazma</a:t>
            </a:r>
            <a:r>
              <a:rPr lang="tr-TR" dirty="0"/>
              <a:t>) izin verilir? </a:t>
            </a:r>
          </a:p>
          <a:p>
            <a:r>
              <a:rPr lang="tr-TR" dirty="0"/>
              <a:t>Değiştirildi (</a:t>
            </a:r>
            <a:r>
              <a:rPr lang="tr-TR" i="1" dirty="0" err="1"/>
              <a:t>modified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Yazma (</a:t>
            </a:r>
            <a:r>
              <a:rPr lang="tr-TR" i="1" dirty="0"/>
              <a:t>kirli (</a:t>
            </a:r>
            <a:r>
              <a:rPr lang="tr-TR" i="1" dirty="0" err="1"/>
              <a:t>dirty</a:t>
            </a:r>
            <a:r>
              <a:rPr lang="tr-TR" i="1" dirty="0"/>
              <a:t> </a:t>
            </a:r>
            <a:r>
              <a:rPr lang="tr-TR" i="1" dirty="0" err="1"/>
              <a:t>page</a:t>
            </a:r>
            <a:r>
              <a:rPr lang="tr-TR" i="1" dirty="0"/>
              <a:t>)</a:t>
            </a:r>
            <a:r>
              <a:rPr lang="tr-TR" dirty="0"/>
              <a:t>) yapıldığında 1 değeri atanır.</a:t>
            </a:r>
          </a:p>
          <a:p>
            <a:r>
              <a:rPr lang="tr-TR" dirty="0"/>
              <a:t>Erişildi (</a:t>
            </a:r>
            <a:r>
              <a:rPr lang="tr-TR" i="1" dirty="0" err="1"/>
              <a:t>referenced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Sayfaya erişildiğinde 1 değeri atanır.</a:t>
            </a:r>
          </a:p>
          <a:p>
            <a:r>
              <a:rPr lang="tr-TR" dirty="0"/>
              <a:t>Önbellek devre dışı (</a:t>
            </a:r>
            <a:r>
              <a:rPr lang="tr-TR" i="1" dirty="0" err="1"/>
              <a:t>caching</a:t>
            </a:r>
            <a:r>
              <a:rPr lang="tr-TR" i="1" dirty="0"/>
              <a:t> </a:t>
            </a:r>
            <a:r>
              <a:rPr lang="tr-TR" i="1" dirty="0" err="1"/>
              <a:t>disabled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Veri tutarsızlığını önlemek için önbellek devre dışı bırakılabilir.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8588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Uygulama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Sanal adresten fiziksel adrese eşleme hızlı olmalıdır.</a:t>
            </a:r>
          </a:p>
          <a:p>
            <a:r>
              <a:rPr lang="tr-TR" dirty="0"/>
              <a:t>Sanal adres alanı büyükse, sayfa tablosu da büyük olacaktır (</a:t>
            </a:r>
            <a:r>
              <a:rPr lang="tr-TR" i="1" dirty="0"/>
              <a:t>32bit/64bit</a:t>
            </a:r>
            <a:r>
              <a:rPr lang="tr-TR" dirty="0"/>
              <a:t>).</a:t>
            </a:r>
          </a:p>
          <a:p>
            <a:r>
              <a:rPr lang="tr-TR" dirty="0"/>
              <a:t>Her sürecin bellekte kendi sayfa tablosu olmalıdır.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4046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Sayfalamayı Hızlandırma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tablosu yazmaçta tutulursa?</a:t>
            </a:r>
          </a:p>
          <a:p>
            <a:pPr lvl="1"/>
            <a:r>
              <a:rPr lang="tr-TR" dirty="0"/>
              <a:t>Süreç koşarken bellek erişimi gerekmez.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Son derece maliyetli.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Sayfa tablosu tamamen bellekte tutulursa?</a:t>
            </a:r>
          </a:p>
          <a:p>
            <a:pPr lvl="1"/>
            <a:r>
              <a:rPr lang="tr-TR" dirty="0"/>
              <a:t>Her sürecin kendi sayfa tablosu var.</a:t>
            </a:r>
          </a:p>
          <a:p>
            <a:pPr lvl="1"/>
            <a:r>
              <a:rPr lang="tr-TR" dirty="0"/>
              <a:t>Bir bellek erişimi için kaç bellek erişimi gerekir? (mantıksal </a:t>
            </a:r>
            <a:r>
              <a:rPr lang="tr-TR" dirty="0">
                <a:sym typeface="Wingdings" panose="05000000000000000000" pitchFamily="2" charset="2"/>
              </a:rPr>
              <a:t> fiziksel)</a:t>
            </a:r>
          </a:p>
          <a:p>
            <a:pPr lvl="1"/>
            <a:r>
              <a:rPr lang="tr-TR" dirty="0"/>
              <a:t>İki kez bellek erişimi; performansı yarı yarıya azaltır.</a:t>
            </a:r>
          </a:p>
          <a:p>
            <a:pPr lvl="1"/>
            <a:r>
              <a:rPr lang="tr-TR" dirty="0"/>
              <a:t>Sayfa tablosuna erişim + verilere/komutlara erişim.</a:t>
            </a:r>
          </a:p>
          <a:p>
            <a:pPr lvl="1"/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3888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Sayfalamayı Hızlandırma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Çözüm, özel ve hızlı arama yapılabilen </a:t>
            </a:r>
            <a:r>
              <a:rPr lang="tr-TR" b="1" dirty="0"/>
              <a:t>donanım</a:t>
            </a:r>
            <a:r>
              <a:rPr lang="tr-TR" dirty="0"/>
              <a:t> gerekli.</a:t>
            </a:r>
          </a:p>
          <a:p>
            <a:pPr lvl="1"/>
            <a:r>
              <a:rPr lang="tr-TR" dirty="0"/>
              <a:t>İlişkisel yazmaçlar (</a:t>
            </a:r>
            <a:r>
              <a:rPr lang="tr-TR" i="1" dirty="0" err="1"/>
              <a:t>associative</a:t>
            </a:r>
            <a:r>
              <a:rPr lang="tr-TR" i="1" dirty="0"/>
              <a:t> </a:t>
            </a:r>
            <a:r>
              <a:rPr lang="tr-TR" i="1" dirty="0" err="1"/>
              <a:t>registers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Adres çevirme tampon bellekleri (</a:t>
            </a:r>
            <a:r>
              <a:rPr lang="tr-TR" i="1" dirty="0" err="1"/>
              <a:t>translation</a:t>
            </a:r>
            <a:r>
              <a:rPr lang="tr-TR" i="1" dirty="0"/>
              <a:t> </a:t>
            </a:r>
            <a:r>
              <a:rPr lang="tr-TR" i="1" dirty="0" err="1"/>
              <a:t>look</a:t>
            </a:r>
            <a:r>
              <a:rPr lang="tr-TR" i="1" dirty="0"/>
              <a:t>-aside </a:t>
            </a:r>
            <a:r>
              <a:rPr lang="tr-TR" i="1" dirty="0" err="1"/>
              <a:t>buffers</a:t>
            </a:r>
            <a:r>
              <a:rPr lang="tr-TR" dirty="0"/>
              <a:t>).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0345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Translation</a:t>
            </a:r>
            <a:r>
              <a:rPr lang="tr-TR" dirty="0"/>
              <a:t> </a:t>
            </a:r>
            <a:r>
              <a:rPr lang="tr-TR" dirty="0" err="1"/>
              <a:t>Lookaside</a:t>
            </a:r>
            <a:r>
              <a:rPr lang="tr-TR" dirty="0"/>
              <a:t> </a:t>
            </a:r>
            <a:r>
              <a:rPr lang="tr-TR" dirty="0" err="1"/>
              <a:t>Buffers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4" name="Picture 6" descr="03-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62944"/>
            <a:ext cx="7924800" cy="4076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03403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TLB ile Sayfalama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TLB</a:t>
            </a:r>
            <a:r>
              <a:rPr lang="tr-TR" dirty="0"/>
              <a:t>, </a:t>
            </a:r>
            <a:r>
              <a:rPr lang="tr-TR" i="1" dirty="0"/>
              <a:t>MMU</a:t>
            </a:r>
            <a:r>
              <a:rPr lang="tr-TR" dirty="0"/>
              <a:t> içerisinde bulunur. </a:t>
            </a:r>
          </a:p>
          <a:p>
            <a:r>
              <a:rPr lang="tr-TR" dirty="0"/>
              <a:t>Az sayıda elemandan oluşur.</a:t>
            </a:r>
          </a:p>
          <a:p>
            <a:r>
              <a:rPr lang="tr-TR" dirty="0"/>
              <a:t>Sanal bir adres geldiğinde,</a:t>
            </a:r>
          </a:p>
          <a:p>
            <a:pPr lvl="1"/>
            <a:r>
              <a:rPr lang="tr-TR" dirty="0"/>
              <a:t>Sanal sayfa numarasının </a:t>
            </a:r>
            <a:r>
              <a:rPr lang="tr-TR" i="1" dirty="0" err="1"/>
              <a:t>TLB</a:t>
            </a:r>
            <a:r>
              <a:rPr lang="tr-TR" dirty="0" err="1"/>
              <a:t>'de</a:t>
            </a:r>
            <a:r>
              <a:rPr lang="tr-TR" dirty="0"/>
              <a:t> olup olmadığı kontrol edilir.</a:t>
            </a:r>
          </a:p>
          <a:p>
            <a:pPr lvl="1"/>
            <a:r>
              <a:rPr lang="tr-TR" dirty="0"/>
              <a:t>Varsa, sayfa tablosuna bakmaya gerek yok.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lvl="1"/>
            <a:r>
              <a:rPr lang="tr-TR" dirty="0"/>
              <a:t>Yoksa, </a:t>
            </a:r>
            <a:r>
              <a:rPr lang="tr-TR" i="1" dirty="0" err="1"/>
              <a:t>TLB</a:t>
            </a:r>
            <a:r>
              <a:rPr lang="tr-TR" dirty="0" err="1"/>
              <a:t>'den</a:t>
            </a:r>
            <a:r>
              <a:rPr lang="tr-TR" dirty="0"/>
              <a:t> bir eleman ile sayfa tablosundan bir eleman takas edilir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814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TLB ile Sayfalama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393" y="1916113"/>
            <a:ext cx="5637213" cy="4260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3927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TLB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/>
              <a:t>RISC</a:t>
            </a:r>
            <a:r>
              <a:rPr lang="tr-TR" dirty="0"/>
              <a:t> makineleri </a:t>
            </a:r>
            <a:r>
              <a:rPr lang="tr-TR" i="1" dirty="0" err="1"/>
              <a:t>TLB</a:t>
            </a:r>
            <a:r>
              <a:rPr lang="tr-TR" dirty="0" err="1"/>
              <a:t>'yi</a:t>
            </a:r>
            <a:r>
              <a:rPr lang="tr-TR" dirty="0"/>
              <a:t> yazılım ile yönetir.</a:t>
            </a:r>
          </a:p>
          <a:p>
            <a:r>
              <a:rPr lang="tr-TR" i="1" dirty="0"/>
              <a:t>TLB</a:t>
            </a:r>
            <a:r>
              <a:rPr lang="tr-TR" dirty="0"/>
              <a:t> hatası, </a:t>
            </a:r>
            <a:r>
              <a:rPr lang="tr-TR" i="1" dirty="0"/>
              <a:t>MMU</a:t>
            </a:r>
            <a:r>
              <a:rPr lang="tr-TR" dirty="0"/>
              <a:t> donanımı yerine işletim sistemi tarafından işlenir.</a:t>
            </a:r>
          </a:p>
          <a:p>
            <a:r>
              <a:rPr lang="tr-TR" dirty="0"/>
              <a:t>Yazılım, hangi sayfaların </a:t>
            </a:r>
            <a:r>
              <a:rPr lang="tr-TR" i="1" dirty="0" err="1"/>
              <a:t>TLB</a:t>
            </a:r>
            <a:r>
              <a:rPr lang="tr-TR" dirty="0" err="1"/>
              <a:t>'ye</a:t>
            </a:r>
            <a:r>
              <a:rPr lang="tr-TR" dirty="0"/>
              <a:t> önceden yükleneceğini tahmin edebilir.</a:t>
            </a:r>
          </a:p>
          <a:p>
            <a:r>
              <a:rPr lang="tr-TR" dirty="0"/>
              <a:t>Sık kullanılan sayfalar önbellekte tutulur.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660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Etkili Erişim Süresi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İlişkisel arama = </a:t>
            </a: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tr-TR" dirty="0"/>
              <a:t> zaman birimi. </a:t>
            </a:r>
          </a:p>
          <a:p>
            <a:r>
              <a:rPr lang="tr-TR" dirty="0"/>
              <a:t>Bellek çevrim (</a:t>
            </a:r>
            <a:r>
              <a:rPr lang="tr-TR" i="1" dirty="0" err="1"/>
              <a:t>cycle</a:t>
            </a:r>
            <a:r>
              <a:rPr lang="tr-TR" dirty="0"/>
              <a:t>) süresi = </a:t>
            </a:r>
            <a:r>
              <a:rPr lang="tr-TR" b="1" i="1" dirty="0"/>
              <a:t>t</a:t>
            </a:r>
            <a:r>
              <a:rPr lang="tr-TR" dirty="0"/>
              <a:t> zaman birimi.</a:t>
            </a:r>
          </a:p>
          <a:p>
            <a:r>
              <a:rPr lang="tr-TR" dirty="0"/>
              <a:t>İsabet oranı = </a:t>
            </a:r>
            <a:r>
              <a:rPr lang="en-US" altLang="zh-CN" b="1" i="1" dirty="0">
                <a:sym typeface="Symbol" panose="05050102010706020507" pitchFamily="18" charset="2"/>
              </a:rPr>
              <a:t></a:t>
            </a:r>
          </a:p>
          <a:p>
            <a:r>
              <a:rPr lang="tr-TR" dirty="0"/>
              <a:t>Etkili Erişim Süresi = </a:t>
            </a:r>
            <a:r>
              <a:rPr lang="tr-TR" b="1" dirty="0"/>
              <a:t>(t +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tr-TR" b="1" dirty="0"/>
              <a:t>) </a:t>
            </a:r>
            <a:r>
              <a:rPr lang="en-US" altLang="zh-CN" b="1" dirty="0">
                <a:sym typeface="Symbol" panose="05050102010706020507" pitchFamily="18" charset="2"/>
              </a:rPr>
              <a:t></a:t>
            </a:r>
            <a:r>
              <a:rPr lang="tr-TR" b="1" dirty="0"/>
              <a:t> + (2</a:t>
            </a:r>
            <a:r>
              <a:rPr lang="tr-TR" b="1" i="1" dirty="0"/>
              <a:t>t</a:t>
            </a:r>
            <a:r>
              <a:rPr lang="tr-TR" b="1" dirty="0"/>
              <a:t> +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tr-TR" b="1" dirty="0"/>
              <a:t>)(1 – </a:t>
            </a:r>
            <a:r>
              <a:rPr lang="en-US" altLang="zh-CN" b="1" dirty="0">
                <a:sym typeface="Symbol" panose="05050102010706020507" pitchFamily="18" charset="2"/>
              </a:rPr>
              <a:t></a:t>
            </a:r>
            <a:r>
              <a:rPr lang="tr-TR" b="1" dirty="0"/>
              <a:t>) = 2</a:t>
            </a:r>
            <a:r>
              <a:rPr lang="tr-TR" b="1" i="1" dirty="0"/>
              <a:t>t</a:t>
            </a:r>
            <a:r>
              <a:rPr lang="tr-TR" b="1" dirty="0"/>
              <a:t> +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tr-TR" b="1" dirty="0"/>
              <a:t> – t</a:t>
            </a:r>
            <a:r>
              <a:rPr lang="en-US" altLang="zh-CN" b="1" dirty="0">
                <a:sym typeface="Symbol" panose="05050102010706020507" pitchFamily="18" charset="2"/>
              </a:rPr>
              <a:t></a:t>
            </a:r>
            <a:r>
              <a:rPr lang="tr-TR" b="1" dirty="0"/>
              <a:t> </a:t>
            </a:r>
          </a:p>
          <a:p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tr-TR" altLang="zh-CN" b="1" i="1" dirty="0">
                <a:sym typeface="Symbol" panose="05050102010706020507" pitchFamily="18" charset="2"/>
              </a:rPr>
              <a:t> </a:t>
            </a:r>
            <a:r>
              <a:rPr lang="tr-TR" dirty="0"/>
              <a:t>(20 </a:t>
            </a:r>
            <a:r>
              <a:rPr lang="tr-TR" i="1" dirty="0" err="1"/>
              <a:t>ns</a:t>
            </a:r>
            <a:r>
              <a:rPr lang="tr-TR" dirty="0"/>
              <a:t>), </a:t>
            </a:r>
            <a:r>
              <a:rPr lang="tr-TR" b="1" i="1" dirty="0"/>
              <a:t>t </a:t>
            </a:r>
            <a:r>
              <a:rPr lang="tr-TR" dirty="0"/>
              <a:t>(100 </a:t>
            </a:r>
            <a:r>
              <a:rPr lang="tr-TR" i="1" dirty="0" err="1"/>
              <a:t>ns</a:t>
            </a:r>
            <a:r>
              <a:rPr lang="tr-TR" dirty="0"/>
              <a:t>), </a:t>
            </a:r>
            <a:r>
              <a:rPr lang="en-US" altLang="zh-CN" b="1" i="1" dirty="0">
                <a:sym typeface="Symbol" panose="05050102010706020507" pitchFamily="18" charset="2"/>
              </a:rPr>
              <a:t></a:t>
            </a:r>
            <a:r>
              <a:rPr lang="tr-TR" altLang="zh-CN" b="1" i="1" baseline="-25000" dirty="0">
                <a:sym typeface="Symbol" panose="05050102010706020507" pitchFamily="18" charset="2"/>
              </a:rPr>
              <a:t>1</a:t>
            </a:r>
            <a:r>
              <a:rPr lang="tr-TR" dirty="0"/>
              <a:t>(%80), </a:t>
            </a:r>
            <a:r>
              <a:rPr lang="en-US" altLang="zh-CN" b="1" i="1" dirty="0">
                <a:sym typeface="Symbol" panose="05050102010706020507" pitchFamily="18" charset="2"/>
              </a:rPr>
              <a:t></a:t>
            </a:r>
            <a:r>
              <a:rPr lang="tr-TR" b="1" i="1" baseline="-25000" dirty="0"/>
              <a:t>2</a:t>
            </a:r>
            <a:r>
              <a:rPr lang="tr-TR" dirty="0"/>
              <a:t> (%98) ise:</a:t>
            </a:r>
          </a:p>
          <a:p>
            <a:pPr lvl="1"/>
            <a:r>
              <a:rPr lang="tr-TR" dirty="0" err="1"/>
              <a:t>TLB'de</a:t>
            </a:r>
            <a:r>
              <a:rPr lang="tr-TR" dirty="0"/>
              <a:t> bulundu (</a:t>
            </a:r>
            <a:r>
              <a:rPr lang="tr-TR" i="1" dirty="0"/>
              <a:t>hit</a:t>
            </a:r>
            <a:r>
              <a:rPr lang="tr-TR" dirty="0"/>
              <a:t>): 20 + 100 = 120 </a:t>
            </a:r>
            <a:r>
              <a:rPr lang="tr-TR" i="1" dirty="0" err="1"/>
              <a:t>ns</a:t>
            </a:r>
            <a:r>
              <a:rPr lang="tr-TR" i="1" dirty="0"/>
              <a:t>.</a:t>
            </a:r>
          </a:p>
          <a:p>
            <a:pPr lvl="1"/>
            <a:r>
              <a:rPr lang="tr-TR" dirty="0" err="1"/>
              <a:t>TLB'de</a:t>
            </a:r>
            <a:r>
              <a:rPr lang="tr-TR" dirty="0"/>
              <a:t> bulunamadı (</a:t>
            </a:r>
            <a:r>
              <a:rPr lang="tr-TR" i="1" dirty="0" err="1"/>
              <a:t>miss</a:t>
            </a:r>
            <a:r>
              <a:rPr lang="tr-TR" dirty="0"/>
              <a:t>): 20 + 100 + 100 = 220 </a:t>
            </a:r>
            <a:r>
              <a:rPr lang="tr-TR" i="1" dirty="0" err="1"/>
              <a:t>ns</a:t>
            </a:r>
            <a:r>
              <a:rPr lang="tr-TR" i="1" dirty="0"/>
              <a:t>.</a:t>
            </a:r>
          </a:p>
          <a:p>
            <a:pPr lvl="1"/>
            <a:r>
              <a:rPr lang="tr-TR" dirty="0"/>
              <a:t>EES</a:t>
            </a:r>
            <a:r>
              <a:rPr lang="tr-TR" baseline="-25000" dirty="0"/>
              <a:t>1</a:t>
            </a:r>
            <a:r>
              <a:rPr lang="tr-TR" dirty="0"/>
              <a:t> = 120 * 0,80 + 220 * 0,20 = 140 </a:t>
            </a:r>
            <a:r>
              <a:rPr lang="tr-TR" i="1" dirty="0" err="1"/>
              <a:t>ns</a:t>
            </a:r>
            <a:r>
              <a:rPr lang="tr-TR" i="1" dirty="0"/>
              <a:t>.</a:t>
            </a:r>
          </a:p>
          <a:p>
            <a:pPr lvl="1"/>
            <a:r>
              <a:rPr lang="tr-TR" dirty="0"/>
              <a:t>EES</a:t>
            </a:r>
            <a:r>
              <a:rPr lang="tr-TR" baseline="-25000" dirty="0"/>
              <a:t>2</a:t>
            </a:r>
            <a:r>
              <a:rPr lang="tr-TR" dirty="0"/>
              <a:t> = 120 * 0,98 + 220 * 0,02 = 122 </a:t>
            </a:r>
            <a:r>
              <a:rPr lang="tr-TR" i="1" dirty="0" err="1"/>
              <a:t>ns</a:t>
            </a:r>
            <a:r>
              <a:rPr lang="tr-TR" i="1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975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Büyük Bellek için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Adres alanı: 32 </a:t>
            </a:r>
            <a:r>
              <a:rPr lang="tr-TR" i="1" dirty="0"/>
              <a:t>bit.</a:t>
            </a:r>
          </a:p>
          <a:p>
            <a:r>
              <a:rPr lang="tr-TR" dirty="0"/>
              <a:t>Sayfa boyutu: 4 </a:t>
            </a:r>
            <a:r>
              <a:rPr lang="tr-TR" i="1" dirty="0"/>
              <a:t>KB</a:t>
            </a:r>
            <a:r>
              <a:rPr lang="tr-TR" dirty="0"/>
              <a:t> (4096 </a:t>
            </a:r>
            <a:r>
              <a:rPr lang="tr-TR" dirty="0">
                <a:sym typeface="Wingdings" panose="05000000000000000000" pitchFamily="2" charset="2"/>
              </a:rPr>
              <a:t></a:t>
            </a:r>
            <a:r>
              <a:rPr lang="tr-TR" dirty="0"/>
              <a:t> 12 </a:t>
            </a:r>
            <a:r>
              <a:rPr lang="tr-TR" i="1" dirty="0"/>
              <a:t>bit</a:t>
            </a:r>
            <a:r>
              <a:rPr lang="tr-TR" dirty="0"/>
              <a:t>).</a:t>
            </a:r>
          </a:p>
          <a:p>
            <a:r>
              <a:rPr lang="tr-TR" dirty="0"/>
              <a:t>Sayfa numaraları: 32 - 12 = 20 </a:t>
            </a:r>
            <a:r>
              <a:rPr lang="tr-TR" i="1" dirty="0"/>
              <a:t>bit</a:t>
            </a:r>
            <a:r>
              <a:rPr lang="tr-TR" dirty="0"/>
              <a:t>, 1 milyon sayfa (2</a:t>
            </a:r>
            <a:r>
              <a:rPr lang="tr-TR" baseline="30000" dirty="0"/>
              <a:t>32</a:t>
            </a:r>
            <a:r>
              <a:rPr lang="tr-TR" dirty="0"/>
              <a:t> / 2</a:t>
            </a:r>
            <a:r>
              <a:rPr lang="tr-TR" baseline="30000" dirty="0"/>
              <a:t>12</a:t>
            </a:r>
            <a:r>
              <a:rPr lang="tr-TR" dirty="0"/>
              <a:t>).</a:t>
            </a:r>
          </a:p>
          <a:p>
            <a:r>
              <a:rPr lang="tr-TR" dirty="0"/>
              <a:t>Sayfa tablosunda her bir eleman 32 </a:t>
            </a:r>
            <a:r>
              <a:rPr lang="tr-TR" i="1" dirty="0"/>
              <a:t>bit </a:t>
            </a:r>
            <a:r>
              <a:rPr lang="tr-TR" dirty="0"/>
              <a:t>(4 </a:t>
            </a:r>
            <a:r>
              <a:rPr lang="tr-TR" i="1" dirty="0" err="1"/>
              <a:t>byte</a:t>
            </a:r>
            <a:r>
              <a:rPr lang="tr-TR" dirty="0"/>
              <a:t>), </a:t>
            </a:r>
          </a:p>
          <a:p>
            <a:r>
              <a:rPr lang="tr-TR" dirty="0"/>
              <a:t>Sayfa tablosu boyutu 4 </a:t>
            </a:r>
            <a:r>
              <a:rPr lang="tr-TR" i="1" dirty="0"/>
              <a:t>MB. (2</a:t>
            </a:r>
            <a:r>
              <a:rPr lang="tr-TR" i="1" baseline="30000" dirty="0"/>
              <a:t>20</a:t>
            </a:r>
            <a:r>
              <a:rPr lang="tr-TR" i="1" dirty="0"/>
              <a:t> * 4 </a:t>
            </a:r>
            <a:r>
              <a:rPr lang="tr-TR" i="1" dirty="0" err="1"/>
              <a:t>byte</a:t>
            </a:r>
            <a:r>
              <a:rPr lang="tr-TR" i="1" dirty="0"/>
              <a:t>)</a:t>
            </a:r>
          </a:p>
          <a:p>
            <a:r>
              <a:rPr lang="tr-TR" dirty="0"/>
              <a:t>64 bit sistem için?</a:t>
            </a:r>
          </a:p>
          <a:p>
            <a:pPr lvl="1"/>
            <a:r>
              <a:rPr lang="tr-TR" dirty="0"/>
              <a:t>Çözüm: sayfa tablosu küçük parçalara bölünür.</a:t>
            </a:r>
          </a:p>
          <a:p>
            <a:pPr lvl="2"/>
            <a:r>
              <a:rPr lang="tr-TR" dirty="0" err="1"/>
              <a:t>Sıradüzensel</a:t>
            </a:r>
            <a:r>
              <a:rPr lang="tr-TR" dirty="0"/>
              <a:t> (</a:t>
            </a:r>
            <a:r>
              <a:rPr lang="tr-TR" i="1" dirty="0" err="1"/>
              <a:t>hierarchical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Karma (</a:t>
            </a:r>
            <a:r>
              <a:rPr lang="tr-TR" i="1" dirty="0" err="1"/>
              <a:t>hashed</a:t>
            </a:r>
            <a:r>
              <a:rPr lang="tr-TR" dirty="0"/>
              <a:t>)</a:t>
            </a:r>
          </a:p>
          <a:p>
            <a:pPr lvl="2"/>
            <a:r>
              <a:rPr lang="tr-TR" dirty="0"/>
              <a:t>Ters (</a:t>
            </a:r>
            <a:r>
              <a:rPr lang="tr-TR" i="1" dirty="0" err="1"/>
              <a:t>inverted</a:t>
            </a:r>
            <a:r>
              <a:rPr lang="tr-TR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9357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Sıradüzensel</a:t>
            </a:r>
            <a:r>
              <a:rPr lang="tr-TR" dirty="0"/>
              <a:t>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En basit teknik.</a:t>
            </a:r>
          </a:p>
          <a:p>
            <a:r>
              <a:rPr lang="tr-TR" dirty="0"/>
              <a:t>İki seviyeli sayfa tablosu.</a:t>
            </a:r>
          </a:p>
          <a:p>
            <a:r>
              <a:rPr lang="tr-TR" dirty="0"/>
              <a:t>32 </a:t>
            </a:r>
            <a:r>
              <a:rPr lang="tr-TR" i="1" dirty="0"/>
              <a:t>bitlik</a:t>
            </a:r>
            <a:r>
              <a:rPr lang="tr-TR" dirty="0"/>
              <a:t> sayfa tablosu girdisi üç bölüme ayrılır. (</a:t>
            </a:r>
            <a:r>
              <a:rPr lang="tr-TR" i="1" dirty="0"/>
              <a:t>PT = 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table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10 </a:t>
            </a:r>
            <a:r>
              <a:rPr lang="tr-TR" i="1" dirty="0"/>
              <a:t>bit PT</a:t>
            </a:r>
            <a:r>
              <a:rPr lang="tr-TR" i="1" baseline="-25000" dirty="0"/>
              <a:t>1</a:t>
            </a:r>
            <a:r>
              <a:rPr lang="tr-TR" dirty="0"/>
              <a:t>, 10 </a:t>
            </a:r>
            <a:r>
              <a:rPr lang="tr-TR" i="1" dirty="0"/>
              <a:t>bit PT</a:t>
            </a:r>
            <a:r>
              <a:rPr lang="tr-TR" i="1" baseline="-25000" dirty="0"/>
              <a:t>2</a:t>
            </a:r>
            <a:r>
              <a:rPr lang="tr-TR" dirty="0"/>
              <a:t>, 12 </a:t>
            </a:r>
            <a:r>
              <a:rPr lang="tr-TR" i="1" dirty="0"/>
              <a:t>bit </a:t>
            </a:r>
            <a:r>
              <a:rPr lang="tr-TR" dirty="0"/>
              <a:t>bağıl konum</a:t>
            </a:r>
            <a:r>
              <a:rPr lang="tr-TR" i="1" dirty="0"/>
              <a:t> (</a:t>
            </a:r>
            <a:r>
              <a:rPr lang="tr-TR" i="1" dirty="0" err="1"/>
              <a:t>offset</a:t>
            </a:r>
            <a:r>
              <a:rPr lang="tr-TR" dirty="0"/>
              <a:t>).</a:t>
            </a:r>
          </a:p>
          <a:p>
            <a:r>
              <a:rPr lang="tr-TR" dirty="0"/>
              <a:t>Tüm sayfa tablolarını sürekli bellekte tutmak gerekmez.</a:t>
            </a:r>
          </a:p>
          <a:p>
            <a:r>
              <a:rPr lang="tr-TR" dirty="0"/>
              <a:t>Sayfa tabloları da sayfalarda saklanır.</a:t>
            </a:r>
          </a:p>
          <a:p>
            <a:r>
              <a:rPr lang="tr-TR" dirty="0"/>
              <a:t>Süreç 4 </a:t>
            </a:r>
            <a:r>
              <a:rPr lang="tr-TR" i="1" dirty="0"/>
              <a:t>GB </a:t>
            </a:r>
            <a:r>
              <a:rPr lang="tr-TR" dirty="0"/>
              <a:t>adres alanına sahip, koşmak için 12 </a:t>
            </a:r>
            <a:r>
              <a:rPr lang="tr-TR" i="1" dirty="0"/>
              <a:t>MB </a:t>
            </a:r>
            <a:r>
              <a:rPr lang="tr-TR" dirty="0"/>
              <a:t>belleğe ihtiyaç duyar.</a:t>
            </a:r>
          </a:p>
          <a:p>
            <a:pPr lvl="1"/>
            <a:r>
              <a:rPr lang="tr-TR" dirty="0"/>
              <a:t>4 </a:t>
            </a:r>
            <a:r>
              <a:rPr lang="tr-TR" i="1" dirty="0"/>
              <a:t>MB</a:t>
            </a:r>
            <a:r>
              <a:rPr lang="tr-TR" dirty="0"/>
              <a:t> kod, 4 </a:t>
            </a:r>
            <a:r>
              <a:rPr lang="tr-TR" i="1" dirty="0"/>
              <a:t>MB</a:t>
            </a:r>
            <a:r>
              <a:rPr lang="tr-TR" dirty="0"/>
              <a:t> veri, 4 </a:t>
            </a:r>
            <a:r>
              <a:rPr lang="tr-TR" i="1" dirty="0"/>
              <a:t>MB</a:t>
            </a:r>
            <a:r>
              <a:rPr lang="tr-TR" dirty="0"/>
              <a:t> yığın için.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4526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Sıradüzensel</a:t>
            </a:r>
            <a:r>
              <a:rPr lang="tr-TR" dirty="0"/>
              <a:t>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Both"/>
            </a:pPr>
            <a:r>
              <a:rPr lang="tr-TR" dirty="0"/>
              <a:t>32 </a:t>
            </a:r>
            <a:r>
              <a:rPr lang="tr-TR" i="1" dirty="0"/>
              <a:t>bitlik</a:t>
            </a:r>
            <a:r>
              <a:rPr lang="tr-TR" dirty="0"/>
              <a:t> adres. </a:t>
            </a:r>
          </a:p>
          <a:p>
            <a:pPr marL="0" indent="0">
              <a:buNone/>
            </a:pPr>
            <a:r>
              <a:rPr lang="tr-TR" dirty="0"/>
              <a:t>(b) İki seviyeli sayfa tabloları.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355" y="1578386"/>
            <a:ext cx="5437142" cy="4598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7377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Sıradüzensel</a:t>
            </a:r>
            <a:r>
              <a:rPr lang="tr-TR" dirty="0"/>
              <a:t>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8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40" y="1690688"/>
            <a:ext cx="4160520" cy="4400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57802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Sıradüzensel</a:t>
            </a:r>
            <a:r>
              <a:rPr lang="tr-TR" dirty="0"/>
              <a:t> Sayfa Tablosunun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tablosunun, </a:t>
            </a:r>
          </a:p>
          <a:p>
            <a:pPr lvl="1"/>
            <a:r>
              <a:rPr lang="tr-TR" dirty="0"/>
              <a:t>ilk satırı, kod kesimi için sayfalara, (girdi 0)</a:t>
            </a:r>
          </a:p>
          <a:p>
            <a:pPr lvl="1"/>
            <a:r>
              <a:rPr lang="tr-TR" dirty="0"/>
              <a:t>ikinci satırı, veri kesimi için sayfalara, (girdi 1)</a:t>
            </a:r>
          </a:p>
          <a:p>
            <a:pPr lvl="1"/>
            <a:r>
              <a:rPr lang="tr-TR" dirty="0"/>
              <a:t>son satırı, yığın kesimi için sayfalara (girdi 1023) işaret eder.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0157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Sıradüzensel</a:t>
            </a:r>
            <a:r>
              <a:rPr lang="tr-TR" dirty="0"/>
              <a:t> Sayfa Tablosunun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Sıradüzensel</a:t>
            </a:r>
            <a:r>
              <a:rPr lang="tr-TR" dirty="0"/>
              <a:t> sayfa tablosu 32 </a:t>
            </a:r>
            <a:r>
              <a:rPr lang="tr-TR" i="1" dirty="0"/>
              <a:t>bit</a:t>
            </a:r>
            <a:r>
              <a:rPr lang="tr-TR" dirty="0"/>
              <a:t> bellek için çalışır.</a:t>
            </a:r>
          </a:p>
          <a:p>
            <a:r>
              <a:rPr lang="tr-TR" dirty="0"/>
              <a:t>64 </a:t>
            </a:r>
            <a:r>
              <a:rPr lang="tr-TR" i="1" dirty="0"/>
              <a:t>bit </a:t>
            </a:r>
            <a:r>
              <a:rPr lang="tr-TR" dirty="0"/>
              <a:t>bellek için çalışmaz.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2</a:t>
            </a:r>
            <a:r>
              <a:rPr lang="tr-TR" baseline="30000" dirty="0"/>
              <a:t>64</a:t>
            </a:r>
            <a:r>
              <a:rPr lang="tr-TR" dirty="0"/>
              <a:t> </a:t>
            </a:r>
            <a:r>
              <a:rPr lang="tr-TR" i="1" dirty="0"/>
              <a:t>bayt </a:t>
            </a:r>
            <a:r>
              <a:rPr lang="tr-TR" dirty="0"/>
              <a:t>ve 4 </a:t>
            </a:r>
            <a:r>
              <a:rPr lang="tr-TR" i="1" dirty="0"/>
              <a:t>KB</a:t>
            </a:r>
            <a:r>
              <a:rPr lang="tr-TR" dirty="0"/>
              <a:t> sayfa boyutu (</a:t>
            </a:r>
            <a:r>
              <a:rPr lang="tr-TR" i="1" dirty="0"/>
              <a:t>12 bit</a:t>
            </a:r>
            <a:r>
              <a:rPr lang="tr-TR" dirty="0"/>
              <a:t>) </a:t>
            </a:r>
            <a:r>
              <a:rPr lang="tr-TR" dirty="0">
                <a:sym typeface="Wingdings" panose="05000000000000000000" pitchFamily="2" charset="2"/>
              </a:rPr>
              <a:t></a:t>
            </a:r>
            <a:r>
              <a:rPr lang="tr-TR" dirty="0"/>
              <a:t> sayfa tablosunda 2</a:t>
            </a:r>
            <a:r>
              <a:rPr lang="tr-TR" baseline="30000" dirty="0"/>
              <a:t>52</a:t>
            </a:r>
            <a:r>
              <a:rPr lang="tr-TR" dirty="0"/>
              <a:t> satır!</a:t>
            </a:r>
          </a:p>
          <a:p>
            <a:r>
              <a:rPr lang="tr-TR" dirty="0"/>
              <a:t>Her girdi 8 </a:t>
            </a:r>
            <a:r>
              <a:rPr lang="tr-TR" i="1" dirty="0"/>
              <a:t>bayt </a:t>
            </a:r>
            <a:r>
              <a:rPr lang="tr-TR" dirty="0"/>
              <a:t>ise </a:t>
            </a:r>
            <a:r>
              <a:rPr lang="tr-TR" dirty="0">
                <a:sym typeface="Wingdings" panose="05000000000000000000" pitchFamily="2" charset="2"/>
              </a:rPr>
              <a:t></a:t>
            </a:r>
            <a:r>
              <a:rPr lang="tr-TR" dirty="0"/>
              <a:t> sayfa tablosu 30 milyon </a:t>
            </a:r>
            <a:r>
              <a:rPr lang="tr-TR" i="1" dirty="0"/>
              <a:t>GB.</a:t>
            </a:r>
          </a:p>
          <a:p>
            <a:r>
              <a:rPr lang="tr-TR" dirty="0"/>
              <a:t>Başka bir çözüme ihtiyaç var!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080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Ters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Sanal adres alanları fiziksel bellekten çok büyük olduğunda kullanılır.</a:t>
            </a:r>
          </a:p>
          <a:p>
            <a:r>
              <a:rPr lang="tr-TR" dirty="0"/>
              <a:t>32 </a:t>
            </a:r>
            <a:r>
              <a:rPr lang="tr-TR" i="1" dirty="0"/>
              <a:t>bitten </a:t>
            </a:r>
            <a:r>
              <a:rPr lang="tr-TR" dirty="0"/>
              <a:t>büyük adres alanlarını destekler.</a:t>
            </a:r>
          </a:p>
          <a:p>
            <a:r>
              <a:rPr lang="tr-TR" dirty="0"/>
              <a:t>Sayfa yerine çerçeve başına bir girdi tutulur.</a:t>
            </a:r>
          </a:p>
          <a:p>
            <a:r>
              <a:rPr lang="tr-TR" dirty="0"/>
              <a:t>Girdiler, </a:t>
            </a:r>
            <a:r>
              <a:rPr lang="tr-TR" i="1" dirty="0"/>
              <a:t>çerçeve</a:t>
            </a:r>
            <a:r>
              <a:rPr lang="tr-TR" dirty="0"/>
              <a:t> ile ilişkili </a:t>
            </a:r>
            <a:r>
              <a:rPr lang="tr-TR" i="1" dirty="0"/>
              <a:t>süreç </a:t>
            </a:r>
            <a:r>
              <a:rPr lang="tr-TR" dirty="0"/>
              <a:t>ve </a:t>
            </a:r>
            <a:r>
              <a:rPr lang="tr-TR" i="1" dirty="0"/>
              <a:t>sanal sayfa </a:t>
            </a:r>
            <a:r>
              <a:rPr lang="tr-TR" dirty="0"/>
              <a:t>takibini yapar.</a:t>
            </a:r>
          </a:p>
          <a:p>
            <a:r>
              <a:rPr lang="tr-TR" dirty="0"/>
              <a:t>Her bellek erişimi için (</a:t>
            </a:r>
            <a:r>
              <a:rPr lang="tr-TR" dirty="0" err="1"/>
              <a:t>n,p</a:t>
            </a:r>
            <a:r>
              <a:rPr lang="tr-TR" dirty="0"/>
              <a:t>) ilişkili sayfa çerçevelerini arar.</a:t>
            </a:r>
          </a:p>
          <a:p>
            <a:r>
              <a:rPr lang="tr-TR" dirty="0"/>
              <a:t>Arama işlemi daha maliyetli. Verimli bir şekilde nasıl yapılır?</a:t>
            </a:r>
          </a:p>
          <a:p>
            <a:pPr lvl="1"/>
            <a:r>
              <a:rPr lang="tr-TR" dirty="0"/>
              <a:t>Sık kullanılan çerçeveler </a:t>
            </a:r>
            <a:r>
              <a:rPr lang="tr-TR" i="1" dirty="0" err="1"/>
              <a:t>TLB</a:t>
            </a:r>
            <a:r>
              <a:rPr lang="tr-TR" dirty="0" err="1"/>
              <a:t>'de</a:t>
            </a:r>
            <a:r>
              <a:rPr lang="tr-TR" dirty="0"/>
              <a:t> tutulur.</a:t>
            </a:r>
          </a:p>
          <a:p>
            <a:pPr lvl="1"/>
            <a:r>
              <a:rPr lang="tr-TR" i="1" dirty="0" err="1"/>
              <a:t>Hash</a:t>
            </a:r>
            <a:r>
              <a:rPr lang="tr-TR" dirty="0"/>
              <a:t> tablo kullanılır.</a:t>
            </a:r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575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Ters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0" y="1906588"/>
            <a:ext cx="6057900" cy="4189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3934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Hash</a:t>
            </a:r>
            <a:r>
              <a:rPr lang="tr-TR" dirty="0"/>
              <a:t>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2091531"/>
            <a:ext cx="6616700" cy="3819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6297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Geleneksel ve </a:t>
            </a:r>
            <a:r>
              <a:rPr lang="tr-TR" dirty="0" err="1"/>
              <a:t>Hash</a:t>
            </a:r>
            <a:r>
              <a:rPr lang="tr-TR" dirty="0"/>
              <a:t> Sayfa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4" name="Picture 6" descr="03-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242" y="1825625"/>
            <a:ext cx="7995515" cy="3876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38250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Sayfalar (</a:t>
            </a:r>
            <a:r>
              <a:rPr lang="tr-TR" dirty="0" err="1"/>
              <a:t>Shared</a:t>
            </a:r>
            <a:r>
              <a:rPr lang="tr-TR" dirty="0"/>
              <a:t> </a:t>
            </a:r>
            <a:r>
              <a:rPr lang="tr-TR" dirty="0" err="1"/>
              <a:t>Pages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programdan iki farklı süreç oluşturulursa.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75</a:t>
            </a:fld>
            <a:endParaRPr lang="en-US" dirty="0"/>
          </a:p>
        </p:txBody>
      </p:sp>
      <p:pic>
        <p:nvPicPr>
          <p:cNvPr id="4" name="Picture 6" descr="03-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667" y="2255799"/>
            <a:ext cx="4790666" cy="4010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382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Sayfalar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8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668" y="365125"/>
            <a:ext cx="5760000" cy="6277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71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Paylaşımlı Sayfalar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 sonlanırken paylaşımlı sayfaları serbest bırakamaz. </a:t>
            </a:r>
          </a:p>
          <a:p>
            <a:pPr lvl="1"/>
            <a:r>
              <a:rPr lang="tr-TR" dirty="0"/>
              <a:t>Başka bir süreç kullanıyor olabilir.</a:t>
            </a:r>
          </a:p>
          <a:p>
            <a:pPr lvl="1"/>
            <a:r>
              <a:rPr lang="tr-TR" dirty="0"/>
              <a:t>Bu sayfaları izlemek için özel veri yapısı kullanılır.</a:t>
            </a:r>
          </a:p>
          <a:p>
            <a:r>
              <a:rPr lang="tr-TR" dirty="0"/>
              <a:t>Sayfaya yapılan yazmalar nedeniyle veri paylaşımı sıkıntılı.</a:t>
            </a:r>
          </a:p>
          <a:p>
            <a:pPr lvl="1"/>
            <a:r>
              <a:rPr lang="tr-TR" i="1" dirty="0" err="1"/>
              <a:t>fork</a:t>
            </a:r>
            <a:r>
              <a:rPr lang="tr-TR" i="1" dirty="0"/>
              <a:t>()</a:t>
            </a:r>
            <a:r>
              <a:rPr lang="tr-TR" dirty="0"/>
              <a:t>, ata ve çocuk süreçler, </a:t>
            </a:r>
            <a:r>
              <a:rPr lang="tr-TR" i="1" dirty="0"/>
              <a:t>kod </a:t>
            </a:r>
            <a:r>
              <a:rPr lang="tr-TR" dirty="0"/>
              <a:t>ve </a:t>
            </a:r>
            <a:r>
              <a:rPr lang="tr-TR" i="1" dirty="0"/>
              <a:t>veri </a:t>
            </a:r>
            <a:r>
              <a:rPr lang="tr-TR" dirty="0"/>
              <a:t>kesimlerini paylaşırlar.</a:t>
            </a:r>
          </a:p>
          <a:p>
            <a:pPr lvl="1"/>
            <a:r>
              <a:rPr lang="tr-TR" dirty="0"/>
              <a:t>Yazarken kopyala (</a:t>
            </a:r>
            <a:r>
              <a:rPr lang="tr-TR" i="1" dirty="0" err="1"/>
              <a:t>copy</a:t>
            </a:r>
            <a:r>
              <a:rPr lang="tr-TR" i="1" dirty="0"/>
              <a:t>-on-</a:t>
            </a:r>
            <a:r>
              <a:rPr lang="tr-TR" i="1" dirty="0" err="1"/>
              <a:t>write</a:t>
            </a:r>
            <a:r>
              <a:rPr lang="tr-TR" dirty="0"/>
              <a:t>) çözümü, </a:t>
            </a:r>
          </a:p>
          <a:p>
            <a:pPr lvl="2"/>
            <a:r>
              <a:rPr lang="tr-TR" dirty="0"/>
              <a:t>Veriler ilk başta salt okunur (</a:t>
            </a:r>
            <a:r>
              <a:rPr lang="tr-TR" i="1" dirty="0" err="1"/>
              <a:t>read-only</a:t>
            </a:r>
            <a:r>
              <a:rPr lang="tr-TR" dirty="0"/>
              <a:t>) sayfalara eşlenir.</a:t>
            </a:r>
          </a:p>
          <a:p>
            <a:pPr lvl="2"/>
            <a:r>
              <a:rPr lang="tr-TR" dirty="0"/>
              <a:t>Yazma işlemi, kopyalanan sayfa üzerinde gerçekleştirilir.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755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(Memory </a:t>
            </a:r>
            <a:r>
              <a:rPr lang="tr-TR" dirty="0" err="1"/>
              <a:t>Mapped</a:t>
            </a:r>
            <a:r>
              <a:rPr lang="tr-TR" dirty="0"/>
              <a:t>) Dosyalar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Süreç, bir dosyayı sanal adres alanının bir parçasına eşleyebilir.</a:t>
            </a:r>
          </a:p>
          <a:p>
            <a:r>
              <a:rPr lang="tr-TR" dirty="0"/>
              <a:t>Paylaşımlı bellek (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 yoluyla iletişim için kullanılır. </a:t>
            </a:r>
          </a:p>
          <a:p>
            <a:r>
              <a:rPr lang="tr-TR" dirty="0"/>
              <a:t>Süreçlerin aynı dosyayı paylaşabilmesi sağlanır. </a:t>
            </a:r>
          </a:p>
          <a:p>
            <a:r>
              <a:rPr lang="tr-TR" dirty="0"/>
              <a:t>Okuma ve yazma işlemleri yapılabilir.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239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Temizleme İlkesi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Bellekte yer kalmadığında, çıkarılacak sayfa aramak yerine;</a:t>
            </a:r>
          </a:p>
          <a:p>
            <a:pPr lvl="1"/>
            <a:r>
              <a:rPr lang="tr-TR" dirty="0"/>
              <a:t>Bir arka plan (</a:t>
            </a:r>
            <a:r>
              <a:rPr lang="tr-TR" i="1" dirty="0" err="1"/>
              <a:t>daemon</a:t>
            </a:r>
            <a:r>
              <a:rPr lang="tr-TR" dirty="0"/>
              <a:t>) süreci sayfaları yönetmeli.</a:t>
            </a:r>
          </a:p>
          <a:p>
            <a:r>
              <a:rPr lang="tr-TR" dirty="0"/>
              <a:t>Arka plan süreci, periyodik olarak uyanır ve çalışır. </a:t>
            </a:r>
          </a:p>
          <a:p>
            <a:r>
              <a:rPr lang="tr-TR" dirty="0"/>
              <a:t>Çıkarılacak sayfalar temiz (</a:t>
            </a:r>
            <a:r>
              <a:rPr lang="tr-TR" i="1" dirty="0"/>
              <a:t>değiştirilmemiş</a:t>
            </a:r>
            <a:r>
              <a:rPr lang="tr-TR" dirty="0"/>
              <a:t>) olmalı.</a:t>
            </a:r>
          </a:p>
          <a:p>
            <a:pPr lvl="1"/>
            <a:r>
              <a:rPr lang="tr-TR" dirty="0"/>
              <a:t>Kirli (</a:t>
            </a:r>
            <a:r>
              <a:rPr lang="tr-TR" i="1" dirty="0" err="1"/>
              <a:t>dirty</a:t>
            </a:r>
            <a:r>
              <a:rPr lang="tr-TR" i="1" dirty="0"/>
              <a:t> bit</a:t>
            </a:r>
            <a:r>
              <a:rPr lang="tr-TR" dirty="0"/>
              <a:t>) ise değişiklikler diske yansıtılmalı.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389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 </a:t>
            </a:r>
            <a:r>
              <a:rPr lang="tr-TR" dirty="0" err="1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2 farklı süreç fiziksel belleği paylaşmak isteyebilir.</a:t>
            </a:r>
          </a:p>
          <a:p>
            <a:r>
              <a:rPr lang="tr-TR" dirty="0"/>
              <a:t>Paylaşımlı bellek (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 en kolay iletişim yöntemi.</a:t>
            </a:r>
          </a:p>
          <a:p>
            <a:pPr lvl="1"/>
            <a:r>
              <a:rPr lang="tr-TR" dirty="0"/>
              <a:t>Bellek kopyalama yaklaşımından kaçınır.</a:t>
            </a:r>
          </a:p>
          <a:p>
            <a:r>
              <a:rPr lang="tr-TR" dirty="0"/>
              <a:t>Dağıtık (</a:t>
            </a:r>
            <a:r>
              <a:rPr lang="tr-TR" i="1" dirty="0" err="1"/>
              <a:t>distributed</a:t>
            </a:r>
            <a:r>
              <a:rPr lang="tr-TR" dirty="0"/>
              <a:t>) paylaşımlı bellek,</a:t>
            </a:r>
          </a:p>
          <a:p>
            <a:pPr lvl="1"/>
            <a:r>
              <a:rPr lang="tr-TR" dirty="0"/>
              <a:t>Sayfalar farklı makinelerde olabilir.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51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sistemi, süreç oluşturulduğunda, yürütülürken, sonlandırıldığında ve hata durumunda, sayfalamaya çok fazla dahil olur.</a:t>
            </a:r>
          </a:p>
          <a:p>
            <a:r>
              <a:rPr lang="tr-TR" dirty="0"/>
              <a:t>Sorunlar</a:t>
            </a:r>
          </a:p>
          <a:p>
            <a:pPr lvl="1"/>
            <a:r>
              <a:rPr lang="tr-TR" dirty="0"/>
              <a:t>Sayfa hatalarını ele alma,</a:t>
            </a:r>
          </a:p>
          <a:p>
            <a:pPr lvl="1"/>
            <a:r>
              <a:rPr lang="tr-TR" dirty="0"/>
              <a:t>Komut yedekleme,</a:t>
            </a:r>
          </a:p>
          <a:p>
            <a:pPr lvl="1"/>
            <a:r>
              <a:rPr lang="tr-TR" dirty="0"/>
              <a:t>Bellekteki sayfaları kilitleme,</a:t>
            </a:r>
          </a:p>
          <a:p>
            <a:pPr lvl="1"/>
            <a:r>
              <a:rPr lang="tr-TR" u="sng" dirty="0"/>
              <a:t>Yedekleme deposu</a:t>
            </a:r>
            <a:r>
              <a:rPr lang="tr-TR" dirty="0"/>
              <a:t>: sayfaların diskte yerleştirileceği yer.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911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Hatasını Ele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1. Donanım çalışmayı çekirdeğe bırakır, program sayacını yığına kaydeder.</a:t>
            </a:r>
          </a:p>
          <a:p>
            <a:pPr marL="0" indent="0">
              <a:buNone/>
            </a:pPr>
            <a:r>
              <a:rPr lang="tr-TR" dirty="0"/>
              <a:t>2. Assembly kod parçası genel yazmaçları ve geçici bilgileri kaydeder.</a:t>
            </a:r>
          </a:p>
          <a:p>
            <a:pPr marL="0" indent="0">
              <a:buNone/>
            </a:pPr>
            <a:r>
              <a:rPr lang="tr-TR" dirty="0"/>
              <a:t>3. İşletim sistemi sayfa hatasına neden olan adresi belirler.</a:t>
            </a:r>
          </a:p>
          <a:p>
            <a:pPr marL="0" indent="0">
              <a:buNone/>
            </a:pPr>
            <a:r>
              <a:rPr lang="tr-TR" dirty="0"/>
              <a:t>4. Adresin geçerliliğini ve koruma ile erişimin tutarlılığını kontrol eder.</a:t>
            </a:r>
          </a:p>
          <a:p>
            <a:pPr marL="0" indent="0">
              <a:buNone/>
            </a:pPr>
            <a:r>
              <a:rPr lang="tr-TR" dirty="0"/>
              <a:t>5. Çıkarılacak sayfa çerçevesi kirli (</a:t>
            </a:r>
            <a:r>
              <a:rPr lang="tr-TR" i="1" dirty="0" err="1"/>
              <a:t>dirty</a:t>
            </a:r>
            <a:r>
              <a:rPr lang="tr-TR" dirty="0"/>
              <a:t>) ise, </a:t>
            </a:r>
          </a:p>
          <a:p>
            <a:pPr marL="0" indent="0">
              <a:buNone/>
            </a:pPr>
            <a:r>
              <a:rPr lang="tr-TR" dirty="0"/>
              <a:t>5.1. Sayfanın diske aktarılması çizelgelenir ve </a:t>
            </a:r>
          </a:p>
          <a:p>
            <a:pPr marL="0" indent="0">
              <a:buNone/>
            </a:pPr>
            <a:r>
              <a:rPr lang="tr-TR" dirty="0"/>
              <a:t>5.2. Bağlam anahtarlaması (</a:t>
            </a:r>
            <a:r>
              <a:rPr lang="tr-TR" i="1" dirty="0" err="1"/>
              <a:t>context</a:t>
            </a:r>
            <a:r>
              <a:rPr lang="tr-TR" i="1" dirty="0"/>
              <a:t> </a:t>
            </a:r>
            <a:r>
              <a:rPr lang="tr-TR" i="1" dirty="0" err="1"/>
              <a:t>switch</a:t>
            </a:r>
            <a:r>
              <a:rPr lang="tr-TR" dirty="0"/>
              <a:t>) gerçekleşir.</a:t>
            </a:r>
          </a:p>
          <a:p>
            <a:pPr marL="0" indent="0">
              <a:buNone/>
            </a:pPr>
            <a:r>
              <a:rPr lang="tr-TR" dirty="0"/>
              <a:t>6. Temiz ise, gerekli sayfanın bulunduğu disk adresi aranır ve </a:t>
            </a:r>
          </a:p>
          <a:p>
            <a:pPr marL="0" indent="0">
              <a:buNone/>
            </a:pPr>
            <a:r>
              <a:rPr lang="tr-TR" dirty="0"/>
              <a:t>6.1. Belleğe getirilmek için bir disk işlemi çizelgelenir.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025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Hatasını Ele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7. Sayfa belleğe taşındığında disk kesmesi oluşur, </a:t>
            </a:r>
          </a:p>
          <a:p>
            <a:pPr marL="0" indent="0">
              <a:buNone/>
            </a:pPr>
            <a:r>
              <a:rPr lang="tr-TR" dirty="0"/>
              <a:t>7.1. Sayfa tablosu güncellenir, çerçeve normal durumda olarak işaretlenir.</a:t>
            </a:r>
          </a:p>
          <a:p>
            <a:pPr marL="0" indent="0">
              <a:buNone/>
            </a:pPr>
            <a:r>
              <a:rPr lang="tr-TR" dirty="0"/>
              <a:t>8. Hatalı komut, ilk çalıştırıldığı andaki durumuna yedeklenir ve </a:t>
            </a:r>
          </a:p>
          <a:p>
            <a:pPr marL="0" indent="0">
              <a:buNone/>
            </a:pPr>
            <a:r>
              <a:rPr lang="tr-TR" dirty="0"/>
              <a:t>8.1. Bu komutu işaret etmek için program sayacı sıfırlanır.</a:t>
            </a:r>
          </a:p>
          <a:p>
            <a:pPr marL="0" indent="0">
              <a:buNone/>
            </a:pPr>
            <a:r>
              <a:rPr lang="tr-TR" dirty="0"/>
              <a:t>9 Hataya neden olan süreç çizelgelenir, </a:t>
            </a:r>
          </a:p>
          <a:p>
            <a:pPr marL="0" indent="0">
              <a:buNone/>
            </a:pPr>
            <a:r>
              <a:rPr lang="tr-TR" dirty="0"/>
              <a:t>9.1. İşletim sistemi onu çağıran (</a:t>
            </a:r>
            <a:r>
              <a:rPr lang="tr-TR" i="1" dirty="0" err="1"/>
              <a:t>assembly</a:t>
            </a:r>
            <a:r>
              <a:rPr lang="tr-TR" dirty="0"/>
              <a:t>) kod parçasına geri döner.</a:t>
            </a:r>
          </a:p>
          <a:p>
            <a:pPr marL="0" indent="0">
              <a:buNone/>
            </a:pPr>
            <a:r>
              <a:rPr lang="tr-TR" dirty="0"/>
              <a:t>10. Yazmaç ve diğer durum bilgileri yeniden yüklenir ve </a:t>
            </a:r>
          </a:p>
          <a:p>
            <a:pPr marL="0" indent="0">
              <a:buNone/>
            </a:pPr>
            <a:r>
              <a:rPr lang="tr-TR" dirty="0"/>
              <a:t>10.1 Hiçbir hata meydana gelmemiş gibi koşmaya devam eder.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2748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Sayfa Hatasına Neden Olan </a:t>
            </a:r>
            <a:r>
              <a:rPr lang="tr-TR" dirty="0"/>
              <a:t>Komut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Komut yeniden hangi adresten başlatılır? </a:t>
            </a:r>
          </a:p>
          <a:p>
            <a:pPr lvl="1"/>
            <a:r>
              <a:rPr lang="tr-TR" dirty="0"/>
              <a:t>Komutun hangi bölümünün hatalı olduğuna bağlıdır. </a:t>
            </a:r>
          </a:p>
          <a:p>
            <a:r>
              <a:rPr lang="tr-TR" dirty="0"/>
              <a:t>1002'de hata verirse, </a:t>
            </a:r>
          </a:p>
          <a:p>
            <a:pPr lvl="1"/>
            <a:r>
              <a:rPr lang="tr-TR" dirty="0"/>
              <a:t>İşletim sistemi komutun 1000'de başladığını nereden biliyor?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84</a:t>
            </a:fld>
            <a:endParaRPr lang="en-US" dirty="0"/>
          </a:p>
        </p:txBody>
      </p:sp>
      <p:pic>
        <p:nvPicPr>
          <p:cNvPr id="4" name="Picture 6" descr="03-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107" y="4001294"/>
            <a:ext cx="5243785" cy="1958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16387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Komut Yedekleme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Donanım çözümü</a:t>
            </a:r>
          </a:p>
          <a:p>
            <a:pPr lvl="1"/>
            <a:r>
              <a:rPr lang="tr-TR" dirty="0"/>
              <a:t>Komut yürütülmeden önce mevcut komut bir yazmaca kopyalanır.</a:t>
            </a:r>
          </a:p>
          <a:p>
            <a:pPr lvl="1"/>
            <a:r>
              <a:rPr lang="tr-TR" dirty="0"/>
              <a:t>Aksi takdirde, işletim sisteminin durumu vahim </a:t>
            </a:r>
            <a:r>
              <a:rPr lang="tr-TR" dirty="0">
                <a:sym typeface="Wingdings" panose="05000000000000000000" pitchFamily="2" charset="2"/>
              </a:rPr>
              <a:t></a:t>
            </a:r>
          </a:p>
          <a:p>
            <a:r>
              <a:rPr lang="tr-TR" dirty="0"/>
              <a:t>Komut yürütülmeden önce veya sonra, yazmaca yüklenir. </a:t>
            </a:r>
          </a:p>
          <a:p>
            <a:pPr lvl="1"/>
            <a:r>
              <a:rPr lang="tr-TR" dirty="0"/>
              <a:t>Önce yüklenirse, işlem geri alınır. </a:t>
            </a:r>
          </a:p>
          <a:p>
            <a:pPr lvl="1"/>
            <a:r>
              <a:rPr lang="tr-TR" dirty="0"/>
              <a:t>Sonra yüklenirse, işlem yapılmaz.</a:t>
            </a:r>
          </a:p>
          <a:p>
            <a:endParaRPr lang="tr-T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866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Bellekte Sayfa Kilitleme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Süreç, G/Ç çağrısı yapar, verileri bekler.</a:t>
            </a:r>
          </a:p>
          <a:p>
            <a:r>
              <a:rPr lang="tr-TR" dirty="0"/>
              <a:t>Süreç beklerken askıya (</a:t>
            </a:r>
            <a:r>
              <a:rPr lang="tr-TR" i="1" dirty="0" err="1"/>
              <a:t>suspend</a:t>
            </a:r>
            <a:r>
              <a:rPr lang="tr-TR" dirty="0"/>
              <a:t>) alınır.</a:t>
            </a:r>
          </a:p>
          <a:p>
            <a:r>
              <a:rPr lang="tr-TR" dirty="0"/>
              <a:t>Yeni süreç başlatılır, ve yeni sürece ait sayfa hataları alınır.</a:t>
            </a:r>
          </a:p>
          <a:p>
            <a:r>
              <a:rPr lang="tr-TR" dirty="0"/>
              <a:t>Global sayfalama algoritması</a:t>
            </a:r>
          </a:p>
          <a:p>
            <a:pPr lvl="1"/>
            <a:r>
              <a:rPr lang="tr-TR" dirty="0"/>
              <a:t>Gelen veriler yeni sayfanın üzerine yazılır.</a:t>
            </a:r>
          </a:p>
          <a:p>
            <a:pPr lvl="1"/>
            <a:r>
              <a:rPr lang="tr-TR" dirty="0"/>
              <a:t>Çözüm: G/Ç'de devreye giren sayfaları kilitle.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8418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Yedekleme Deposu (</a:t>
            </a:r>
            <a:r>
              <a:rPr lang="tr-TR" dirty="0" err="1"/>
              <a:t>Backing</a:t>
            </a:r>
            <a:r>
              <a:rPr lang="tr-TR" dirty="0"/>
              <a:t> </a:t>
            </a:r>
            <a:r>
              <a:rPr lang="tr-TR" dirty="0" err="1"/>
              <a:t>Store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Sayfa takas edildiğinde diskte nereye konur? </a:t>
            </a:r>
          </a:p>
          <a:p>
            <a:r>
              <a:rPr lang="tr-TR" dirty="0"/>
              <a:t>İki yaklaşım.</a:t>
            </a:r>
          </a:p>
          <a:p>
            <a:pPr lvl="1"/>
            <a:r>
              <a:rPr lang="tr-TR" dirty="0"/>
              <a:t>Ayrı bir diske.</a:t>
            </a:r>
          </a:p>
          <a:p>
            <a:pPr lvl="1"/>
            <a:r>
              <a:rPr lang="tr-TR" dirty="0"/>
              <a:t>Diskte ayrı bir bölüme.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80492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Yedekleme Deposu - Statik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 başladığında </a:t>
            </a:r>
            <a:r>
              <a:rPr lang="tr-TR" i="1" dirty="0"/>
              <a:t>sabit bir alan </a:t>
            </a:r>
            <a:r>
              <a:rPr lang="tr-TR" dirty="0"/>
              <a:t>tahsis edilir.</a:t>
            </a:r>
          </a:p>
          <a:p>
            <a:r>
              <a:rPr lang="tr-TR" dirty="0"/>
              <a:t>Boş parçaların listesi olarak yönetilir. </a:t>
            </a:r>
          </a:p>
          <a:p>
            <a:pPr lvl="1"/>
            <a:r>
              <a:rPr lang="tr-TR" dirty="0"/>
              <a:t>Süreç için yeterince büyük parça atanır.</a:t>
            </a:r>
          </a:p>
          <a:p>
            <a:r>
              <a:rPr lang="tr-TR" dirty="0"/>
              <a:t>Süreç tablosunda </a:t>
            </a:r>
            <a:r>
              <a:rPr lang="tr-TR" i="1" dirty="0"/>
              <a:t>tahsis edilen alanın</a:t>
            </a:r>
            <a:r>
              <a:rPr lang="tr-TR" dirty="0"/>
              <a:t> başlangıç adresi tutulur. </a:t>
            </a:r>
          </a:p>
          <a:p>
            <a:pPr lvl="1"/>
            <a:r>
              <a:rPr lang="tr-TR" dirty="0"/>
              <a:t>Sanal adres uzayındaki </a:t>
            </a:r>
            <a:r>
              <a:rPr lang="tr-TR" i="1" dirty="0"/>
              <a:t>bağıl konum</a:t>
            </a:r>
            <a:r>
              <a:rPr lang="tr-TR" dirty="0"/>
              <a:t>, diskteki adrese karşılık gelir.</a:t>
            </a:r>
          </a:p>
          <a:p>
            <a:r>
              <a:rPr lang="tr-TR" dirty="0"/>
              <a:t>Kod, veri, ve yığın kesimleri için farklı alanlar atanabilir.</a:t>
            </a:r>
          </a:p>
          <a:p>
            <a:pPr lvl="1"/>
            <a:r>
              <a:rPr lang="tr-TR" dirty="0"/>
              <a:t>Yığın zamanla genişleyebilir.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5466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Yedekleme Deposu – Dinamik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 için önceden disk alanı ayrılmaz. </a:t>
            </a:r>
          </a:p>
          <a:p>
            <a:r>
              <a:rPr lang="tr-TR" dirty="0"/>
              <a:t>Gerektiğinde sayfalar bellek ve disk arasında takas edilir.</a:t>
            </a:r>
          </a:p>
          <a:p>
            <a:r>
              <a:rPr lang="tr-TR" dirty="0"/>
              <a:t>Bellek ile disk arasında eşlemeye (</a:t>
            </a:r>
            <a:r>
              <a:rPr lang="tr-TR" i="1" dirty="0" err="1"/>
              <a:t>mapping</a:t>
            </a:r>
            <a:r>
              <a:rPr lang="tr-TR" dirty="0"/>
              <a:t>) ihtiyaç vardır.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760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Statik ve Dinamik Takas Alanı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(a) Statik takas alanına sayfalama (</a:t>
            </a:r>
            <a:r>
              <a:rPr lang="tr-TR" i="1" dirty="0" err="1"/>
              <a:t>paging</a:t>
            </a:r>
            <a:r>
              <a:rPr lang="tr-TR" dirty="0"/>
              <a:t>) (b) Dinamik yaklaşım.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90</a:t>
            </a:fld>
            <a:endParaRPr lang="en-US" dirty="0"/>
          </a:p>
        </p:txBody>
      </p:sp>
      <p:pic>
        <p:nvPicPr>
          <p:cNvPr id="4" name="Picture 6" descr="03-29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2" y="2371725"/>
            <a:ext cx="8042275" cy="3984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45521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Olmadan Takas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91</a:t>
            </a:fld>
            <a:endParaRPr lang="en-US" dirty="0"/>
          </a:p>
        </p:txBody>
      </p:sp>
      <p:pic>
        <p:nvPicPr>
          <p:cNvPr id="8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2093912"/>
            <a:ext cx="5099050" cy="3814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94980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İle Takas İşlemi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92</a:t>
            </a:fld>
            <a:endParaRPr lang="en-US" dirty="0"/>
          </a:p>
        </p:txBody>
      </p:sp>
      <p:pic>
        <p:nvPicPr>
          <p:cNvPr id="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394" y="1630363"/>
            <a:ext cx="4875212" cy="4546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0649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İlke ve Mekanizma Ayrımı (</a:t>
            </a:r>
            <a:r>
              <a:rPr lang="tr-TR" dirty="0" err="1"/>
              <a:t>Policy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Mechanism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Bellek yönetim sistemi üç bölüme ayrılır:</a:t>
            </a:r>
          </a:p>
          <a:p>
            <a:pPr lvl="1"/>
            <a:r>
              <a:rPr lang="tr-TR" dirty="0"/>
              <a:t>Alt düzey (</a:t>
            </a:r>
            <a:r>
              <a:rPr lang="tr-TR" i="1" dirty="0" err="1"/>
              <a:t>low</a:t>
            </a:r>
            <a:r>
              <a:rPr lang="tr-TR" i="1" dirty="0"/>
              <a:t> </a:t>
            </a:r>
            <a:r>
              <a:rPr lang="tr-TR" i="1" dirty="0" err="1"/>
              <a:t>level</a:t>
            </a:r>
            <a:r>
              <a:rPr lang="tr-TR" dirty="0"/>
              <a:t>) çalışan </a:t>
            </a:r>
            <a:r>
              <a:rPr lang="tr-TR" i="1" dirty="0"/>
              <a:t>MMU </a:t>
            </a:r>
            <a:r>
              <a:rPr lang="tr-TR" dirty="0"/>
              <a:t>işleyicisi (</a:t>
            </a:r>
            <a:r>
              <a:rPr lang="tr-TR" i="1" dirty="0" err="1"/>
              <a:t>handler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Çekirdeğin parçası olarak sayfa hatası (</a:t>
            </a:r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fault</a:t>
            </a:r>
            <a:r>
              <a:rPr lang="tr-TR" dirty="0"/>
              <a:t>) işleyicisi.</a:t>
            </a:r>
          </a:p>
          <a:p>
            <a:pPr lvl="1"/>
            <a:r>
              <a:rPr lang="tr-TR" dirty="0"/>
              <a:t>Kullanıcı alanında (</a:t>
            </a:r>
            <a:r>
              <a:rPr lang="tr-TR" i="1" dirty="0" err="1"/>
              <a:t>user</a:t>
            </a:r>
            <a:r>
              <a:rPr lang="tr-TR" i="1" dirty="0"/>
              <a:t> </a:t>
            </a:r>
            <a:r>
              <a:rPr lang="tr-TR" i="1" dirty="0" err="1"/>
              <a:t>space</a:t>
            </a:r>
            <a:r>
              <a:rPr lang="tr-TR" dirty="0"/>
              <a:t>) çalışan harici </a:t>
            </a:r>
            <a:r>
              <a:rPr lang="tr-TR" dirty="0" err="1"/>
              <a:t>sayfalayıcı</a:t>
            </a:r>
            <a:r>
              <a:rPr lang="tr-TR" dirty="0"/>
              <a:t> (</a:t>
            </a:r>
            <a:r>
              <a:rPr lang="tr-TR" i="1" dirty="0" err="1"/>
              <a:t>pager</a:t>
            </a:r>
            <a:r>
              <a:rPr lang="tr-TR" dirty="0"/>
              <a:t>).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937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İlke ve Mekanizma Ayrımı (</a:t>
            </a:r>
            <a:r>
              <a:rPr lang="tr-TR" dirty="0" err="1"/>
              <a:t>Policy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Mechanism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6012" y="2020094"/>
            <a:ext cx="7419975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8122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Kesimleme</a:t>
            </a:r>
            <a:r>
              <a:rPr lang="tr-TR" dirty="0"/>
              <a:t> (</a:t>
            </a:r>
            <a:r>
              <a:rPr lang="tr-TR" dirty="0" err="1"/>
              <a:t>segmentation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Derleyici (</a:t>
            </a:r>
            <a:r>
              <a:rPr lang="tr-TR" i="1" dirty="0" err="1"/>
              <a:t>compiler</a:t>
            </a:r>
            <a:r>
              <a:rPr lang="tr-TR" dirty="0"/>
              <a:t>), derleme aşamasında birçok tablo oluşturur:</a:t>
            </a:r>
          </a:p>
          <a:p>
            <a:pPr lvl="1"/>
            <a:r>
              <a:rPr lang="tr-TR" dirty="0"/>
              <a:t>Toplu (</a:t>
            </a:r>
            <a:r>
              <a:rPr lang="tr-TR" i="1" dirty="0" err="1"/>
              <a:t>batch</a:t>
            </a:r>
            <a:r>
              <a:rPr lang="tr-TR" dirty="0"/>
              <a:t>) sistemlerde listeleme için </a:t>
            </a:r>
            <a:r>
              <a:rPr lang="tr-TR" i="1" dirty="0"/>
              <a:t>kaynak kod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Değişkenlerin adları ve niteliklerini tutan </a:t>
            </a:r>
            <a:r>
              <a:rPr lang="tr-TR" i="1" dirty="0"/>
              <a:t>sembol tablosu.</a:t>
            </a:r>
            <a:endParaRPr lang="tr-TR" dirty="0"/>
          </a:p>
          <a:p>
            <a:pPr lvl="1"/>
            <a:r>
              <a:rPr lang="tr-TR" dirty="0"/>
              <a:t>Kullanılan tamsayı, kayan noktalı </a:t>
            </a:r>
            <a:r>
              <a:rPr lang="tr-TR" i="1" dirty="0"/>
              <a:t>sabitleri</a:t>
            </a:r>
            <a:r>
              <a:rPr lang="tr-TR" dirty="0"/>
              <a:t> (</a:t>
            </a:r>
            <a:r>
              <a:rPr lang="tr-TR" i="1" dirty="0" err="1"/>
              <a:t>constants</a:t>
            </a:r>
            <a:r>
              <a:rPr lang="tr-TR" dirty="0"/>
              <a:t>) içeren tablo.</a:t>
            </a:r>
          </a:p>
          <a:p>
            <a:pPr lvl="1"/>
            <a:r>
              <a:rPr lang="tr-TR" dirty="0" err="1"/>
              <a:t>Sözdizimsel</a:t>
            </a:r>
            <a:r>
              <a:rPr lang="tr-TR" dirty="0"/>
              <a:t> (</a:t>
            </a:r>
            <a:r>
              <a:rPr lang="tr-TR" i="1" dirty="0" err="1"/>
              <a:t>syntactic</a:t>
            </a:r>
            <a:r>
              <a:rPr lang="tr-TR" dirty="0"/>
              <a:t>) analizi içeren </a:t>
            </a:r>
            <a:r>
              <a:rPr lang="tr-TR" i="1" dirty="0"/>
              <a:t>ayrıştırma (</a:t>
            </a:r>
            <a:r>
              <a:rPr lang="tr-TR" i="1" dirty="0" err="1"/>
              <a:t>parse</a:t>
            </a:r>
            <a:r>
              <a:rPr lang="tr-TR" i="1" dirty="0"/>
              <a:t>) ağacı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Derleyici içinde </a:t>
            </a:r>
            <a:r>
              <a:rPr lang="tr-TR" i="1" dirty="0"/>
              <a:t>prosedür çağrıları</a:t>
            </a:r>
            <a:r>
              <a:rPr lang="tr-TR" dirty="0"/>
              <a:t> için kullanılan yığın.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339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Kesimleme</a:t>
            </a:r>
            <a:r>
              <a:rPr lang="tr-TR" dirty="0"/>
              <a:t> (</a:t>
            </a:r>
            <a:r>
              <a:rPr lang="tr-TR" dirty="0" err="1"/>
              <a:t>segmentation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Tek boyutlu adres uzayı.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96</a:t>
            </a:fld>
            <a:endParaRPr lang="en-US" dirty="0"/>
          </a:p>
        </p:txBody>
      </p:sp>
      <p:pic>
        <p:nvPicPr>
          <p:cNvPr id="4" name="Picture 6" descr="03-31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437" y="1656556"/>
            <a:ext cx="5238750" cy="4689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93375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Kesimleme</a:t>
            </a:r>
            <a:r>
              <a:rPr lang="tr-TR" dirty="0"/>
              <a:t>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Büyüyen ve küçülen veri yapılarının ele alınmasını basitleştirir.</a:t>
            </a:r>
          </a:p>
          <a:p>
            <a:r>
              <a:rPr lang="tr-TR" i="1" dirty="0"/>
              <a:t>Kesim n</a:t>
            </a:r>
            <a:r>
              <a:rPr lang="tr-TR" dirty="0"/>
              <a:t>'nin adres alanı (</a:t>
            </a:r>
            <a:r>
              <a:rPr lang="tr-TR" i="1" dirty="0"/>
              <a:t>n, yerel adres</a:t>
            </a:r>
            <a:r>
              <a:rPr lang="tr-TR" dirty="0"/>
              <a:t>) biçimindedir, </a:t>
            </a:r>
          </a:p>
          <a:p>
            <a:pPr lvl="1"/>
            <a:r>
              <a:rPr lang="tr-TR" dirty="0"/>
              <a:t>(n,0) başlangıç adresidir.</a:t>
            </a:r>
          </a:p>
          <a:p>
            <a:r>
              <a:rPr lang="tr-TR" dirty="0"/>
              <a:t>Kesimler birbirinden ayrı olarak derlenebilir.</a:t>
            </a:r>
          </a:p>
          <a:p>
            <a:r>
              <a:rPr lang="tr-TR" dirty="0"/>
              <a:t>Kütüphane bir kesime konabilir ve paylaşılabilir.</a:t>
            </a:r>
          </a:p>
          <a:p>
            <a:r>
              <a:rPr lang="tr-TR" dirty="0"/>
              <a:t>Farklı kesimler için farklı koruma (</a:t>
            </a:r>
            <a:r>
              <a:rPr lang="tr-TR" i="1" dirty="0" err="1"/>
              <a:t>r,w,x</a:t>
            </a:r>
            <a:r>
              <a:rPr lang="tr-TR" dirty="0"/>
              <a:t>) izinleri verilebilir.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4475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Kesimleme</a:t>
            </a:r>
            <a:r>
              <a:rPr lang="tr-TR" dirty="0"/>
              <a:t> (</a:t>
            </a:r>
            <a:r>
              <a:rPr lang="tr-TR" dirty="0" err="1"/>
              <a:t>segmentation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Kesimlere ayrılmış bellek yapısı.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2138" y="2362335"/>
            <a:ext cx="8467725" cy="4124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74302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Sayfalama ve </a:t>
            </a:r>
            <a:r>
              <a:rPr lang="tr-TR" dirty="0" err="1"/>
              <a:t>Kesimleme</a:t>
            </a:r>
            <a:r>
              <a:rPr lang="tr-TR" dirty="0"/>
              <a:t> Karşılaştırma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662358"/>
              </p:ext>
            </p:extLst>
          </p:nvPr>
        </p:nvGraphicFramePr>
        <p:xfrm>
          <a:off x="613954" y="2178322"/>
          <a:ext cx="11364686" cy="3779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6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Durum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Sayfalama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Kesimleme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Programcı tekniğin kullanıldığının farkında olmalı mı?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Kaç tane doğrusal adres alanı var?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Toplam adres alanı, fiziksel belleğin boyunu aşabilir mi?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Prosedür ve veriler ayırt edilip, ayrı ayrı korunabilir mi?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Değişken boyutlu tablolar kolayca yerleştirilebilir mi?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Prosedürler</a:t>
                      </a:r>
                      <a:r>
                        <a:rPr lang="tr-TR" baseline="0" dirty="0"/>
                        <a:t> </a:t>
                      </a:r>
                      <a:r>
                        <a:rPr lang="tr-TR" dirty="0"/>
                        <a:t>kullanıcılar arasında kolayca paylaşılabilir mi?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Hayır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Evet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N</a:t>
                      </a:r>
                      <a:r>
                        <a:rPr lang="da-DK" dirty="0"/>
                        <a:t>eden icat edildi?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Fiziksel belleğe</a:t>
                      </a:r>
                      <a:r>
                        <a:rPr lang="tr-TR" baseline="0" dirty="0"/>
                        <a:t> ihtiyaç</a:t>
                      </a:r>
                      <a:r>
                        <a:rPr lang="tr-TR" dirty="0"/>
                        <a:t> duymadan geniş bir doğrusal adres alanı elde etmek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Program ve verilerin mantıksal olarak bağımsız adres alanlarına ayrılabilmesi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2815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1/23/2023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5725</TotalTime>
  <Words>5856</Words>
  <Application>Microsoft Office PowerPoint</Application>
  <PresentationFormat>Widescreen</PresentationFormat>
  <Paragraphs>863</Paragraphs>
  <Slides>100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8" baseType="lpstr">
      <vt:lpstr>Arial</vt:lpstr>
      <vt:lpstr>Calibri</vt:lpstr>
      <vt:lpstr>Calibri Light</vt:lpstr>
      <vt:lpstr>Consolas</vt:lpstr>
      <vt:lpstr>Symbol</vt:lpstr>
      <vt:lpstr>Times New Roman</vt:lpstr>
      <vt:lpstr>Wingdings</vt:lpstr>
      <vt:lpstr>1_Office Theme</vt:lpstr>
      <vt:lpstr>Bölüm 8: Bellek Yönetimi</vt:lpstr>
      <vt:lpstr>Bellek Yönetimi</vt:lpstr>
      <vt:lpstr>Bellek Yönetimi</vt:lpstr>
      <vt:lpstr>Bellek Yönetimi</vt:lpstr>
      <vt:lpstr>Soyutlama Olmazsa</vt:lpstr>
      <vt:lpstr>Soyutlama Olmazsa</vt:lpstr>
      <vt:lpstr>Soyutlama Olmazsa</vt:lpstr>
      <vt:lpstr>Soyutlama Olmazsa</vt:lpstr>
      <vt:lpstr>Yer Değiştirme (Relocation) Problemi</vt:lpstr>
      <vt:lpstr>Statik Yer Değiştirme</vt:lpstr>
      <vt:lpstr>Soyutlama Olmamasının Dezavantajı</vt:lpstr>
      <vt:lpstr>Bellek Yönetim Birimi</vt:lpstr>
      <vt:lpstr>MMU Konum ve İşlevi</vt:lpstr>
      <vt:lpstr>Bellek Yönetim Birimi</vt:lpstr>
      <vt:lpstr>Bellek Yönetim Birimi</vt:lpstr>
      <vt:lpstr>Adres Uzayı</vt:lpstr>
      <vt:lpstr>Soyutlama: Adres Uzayı</vt:lpstr>
      <vt:lpstr>Dinamik Yer Değiştirme</vt:lpstr>
      <vt:lpstr>Taban ve Limit Yazmaçları</vt:lpstr>
      <vt:lpstr>Taban ve Limit Yazmaçları</vt:lpstr>
      <vt:lpstr>Taban ve Limit Yazmaçları</vt:lpstr>
      <vt:lpstr>Donanımsal Adres Kontrolü</vt:lpstr>
      <vt:lpstr>Bellek Adresleri</vt:lpstr>
      <vt:lpstr>Dinamik Yükleme</vt:lpstr>
      <vt:lpstr>Dinamik Bağlama</vt:lpstr>
      <vt:lpstr>Paylaşımlı Kütüphaneler</vt:lpstr>
      <vt:lpstr>Paylaşımlı Kütüphaneler</vt:lpstr>
      <vt:lpstr>Paylaşımlı Kütüphaneler</vt:lpstr>
      <vt:lpstr>Statik Kütüphane</vt:lpstr>
      <vt:lpstr>Dinamik Kütüphane</vt:lpstr>
      <vt:lpstr>PowerPoint Presentation</vt:lpstr>
      <vt:lpstr>Ardışık Yer Tahsisi</vt:lpstr>
      <vt:lpstr>Ardışık Yer Tahsisi</vt:lpstr>
      <vt:lpstr>Süreçler Koştukça Büyür</vt:lpstr>
      <vt:lpstr>Bellekte Alan Tahsisi</vt:lpstr>
      <vt:lpstr>Değişken Bölümleme</vt:lpstr>
      <vt:lpstr>Bellek Düzeni Değişimi</vt:lpstr>
      <vt:lpstr>Problemler</vt:lpstr>
      <vt:lpstr>PowerPoint Presentation</vt:lpstr>
      <vt:lpstr>Boş Alan Yönetimi</vt:lpstr>
      <vt:lpstr>Bellekte Boş Alan Yönetimi</vt:lpstr>
      <vt:lpstr>Biteşlem ile Bellek Yönetimi</vt:lpstr>
      <vt:lpstr>Bağlı Liste ile Bellek Yönetimi</vt:lpstr>
      <vt:lpstr>Parçalanma (Fragmentation)</vt:lpstr>
      <vt:lpstr>Sayfalama (Paging)</vt:lpstr>
      <vt:lpstr>Sayfalama Donanımı</vt:lpstr>
      <vt:lpstr>Mantıksal ve Fiziksel Bellek</vt:lpstr>
      <vt:lpstr>Sayfa Tablosu Elemanı Yapısı</vt:lpstr>
      <vt:lpstr>Sayfalama – Dahili Parçalanma</vt:lpstr>
      <vt:lpstr>Boş Çerçeveler</vt:lpstr>
      <vt:lpstr>Sayfa Tablosu (Page Table)</vt:lpstr>
      <vt:lpstr>Hatalı Sayfa İşlemi</vt:lpstr>
      <vt:lpstr>Bellek Yönetim Birimi</vt:lpstr>
      <vt:lpstr>Sanal Adres Eşleme</vt:lpstr>
      <vt:lpstr>Sayfa Tablosu Elemanı Yapısı</vt:lpstr>
      <vt:lpstr>Sayfa Tablosu Yapısı</vt:lpstr>
      <vt:lpstr>Sayfalama Uygulama Sorunları</vt:lpstr>
      <vt:lpstr>Sayfalamayı Hızlandırma</vt:lpstr>
      <vt:lpstr>Sayfalamayı Hızlandırma</vt:lpstr>
      <vt:lpstr>Translation Lookaside Buffers</vt:lpstr>
      <vt:lpstr>TLB ile Sayfalama</vt:lpstr>
      <vt:lpstr>TLB ile Sayfalama</vt:lpstr>
      <vt:lpstr>TLB Yönetimi</vt:lpstr>
      <vt:lpstr>Etkili Erişim Süresi</vt:lpstr>
      <vt:lpstr>Büyük Bellek için Sayfa Tablosu</vt:lpstr>
      <vt:lpstr>Sıradüzensel Sayfa Tablosu</vt:lpstr>
      <vt:lpstr>Sıradüzensel Sayfa Tablosu</vt:lpstr>
      <vt:lpstr>Sıradüzensel Sayfa Tablosu</vt:lpstr>
      <vt:lpstr>Sıradüzensel Sayfa Tablosunun Kullanımı</vt:lpstr>
      <vt:lpstr>Sıradüzensel Sayfa Tablosunun Kullanımı</vt:lpstr>
      <vt:lpstr>Ters Sayfa Tablosu</vt:lpstr>
      <vt:lpstr>Ters Sayfa Tablosu</vt:lpstr>
      <vt:lpstr>Hash Sayfa Tablosu</vt:lpstr>
      <vt:lpstr>Geleneksel ve Hash Sayfa Tablosu</vt:lpstr>
      <vt:lpstr>Paylaşımlı Sayfalar (Shared Pages)</vt:lpstr>
      <vt:lpstr>Paylaşımlı Sayfalar</vt:lpstr>
      <vt:lpstr>Paylaşımlı Sayfalar</vt:lpstr>
      <vt:lpstr>Bellek Eşlemeli (Memory Mapped) Dosyalar</vt:lpstr>
      <vt:lpstr>Temizleme İlkesi</vt:lpstr>
      <vt:lpstr>Sanal Bellek Arayüzü</vt:lpstr>
      <vt:lpstr>Uygulama Sorunları</vt:lpstr>
      <vt:lpstr>Sayfa Hatasını Ele Alma</vt:lpstr>
      <vt:lpstr>Sayfa Hatasını Ele Alma</vt:lpstr>
      <vt:lpstr>Sayfa Hatasına Neden Olan Komut</vt:lpstr>
      <vt:lpstr>Komut Yedekleme</vt:lpstr>
      <vt:lpstr>Bellekte Sayfa Kilitleme</vt:lpstr>
      <vt:lpstr>Yedekleme Deposu (Backing Store)</vt:lpstr>
      <vt:lpstr>Yedekleme Deposu - Statik Yaklaşım</vt:lpstr>
      <vt:lpstr>Yedekleme Deposu – Dinamik Yaklaşım</vt:lpstr>
      <vt:lpstr>Statik ve Dinamik Takas Alanı</vt:lpstr>
      <vt:lpstr>Sayfalama Olmadan Takas İşlemi</vt:lpstr>
      <vt:lpstr>Sayfalama İle Takas İşlemi </vt:lpstr>
      <vt:lpstr>İlke ve Mekanizma Ayrımı (Policy and Mechanism)</vt:lpstr>
      <vt:lpstr>İlke ve Mekanizma Ayrımı (Policy and Mechanism)</vt:lpstr>
      <vt:lpstr>Kesimleme (segmentation)</vt:lpstr>
      <vt:lpstr>Kesimleme (segmentation)</vt:lpstr>
      <vt:lpstr>Kesimleme Avantajları</vt:lpstr>
      <vt:lpstr>Kesimleme (segmentation)</vt:lpstr>
      <vt:lpstr>Sayfalama ve Kesimleme Karşılaştırma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Bellek Yonetimi</dc:title>
  <dc:creator>sercan</dc:creator>
  <cp:lastModifiedBy>Sercan Kulcu</cp:lastModifiedBy>
  <cp:revision>529</cp:revision>
  <dcterms:created xsi:type="dcterms:W3CDTF">2023-01-12T09:23:55Z</dcterms:created>
  <dcterms:modified xsi:type="dcterms:W3CDTF">2025-05-05T18:03:54Z</dcterms:modified>
</cp:coreProperties>
</file>