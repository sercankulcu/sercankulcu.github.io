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47" r:id="rId1"/>
  </p:sldMasterIdLst>
  <p:notesMasterIdLst>
    <p:notesMasterId r:id="rId32"/>
  </p:notesMasterIdLst>
  <p:sldIdLst>
    <p:sldId id="256" r:id="rId2"/>
    <p:sldId id="257" r:id="rId3"/>
    <p:sldId id="313" r:id="rId4"/>
    <p:sldId id="315" r:id="rId5"/>
    <p:sldId id="316" r:id="rId6"/>
    <p:sldId id="317" r:id="rId7"/>
    <p:sldId id="318" r:id="rId8"/>
    <p:sldId id="333" r:id="rId9"/>
    <p:sldId id="334" r:id="rId10"/>
    <p:sldId id="319" r:id="rId11"/>
    <p:sldId id="336" r:id="rId12"/>
    <p:sldId id="335" r:id="rId13"/>
    <p:sldId id="337" r:id="rId14"/>
    <p:sldId id="338" r:id="rId15"/>
    <p:sldId id="320" r:id="rId16"/>
    <p:sldId id="321" r:id="rId17"/>
    <p:sldId id="322" r:id="rId18"/>
    <p:sldId id="323" r:id="rId19"/>
    <p:sldId id="324" r:id="rId20"/>
    <p:sldId id="331" r:id="rId21"/>
    <p:sldId id="332" r:id="rId22"/>
    <p:sldId id="326" r:id="rId23"/>
    <p:sldId id="339" r:id="rId24"/>
    <p:sldId id="340" r:id="rId25"/>
    <p:sldId id="327" r:id="rId26"/>
    <p:sldId id="328" r:id="rId27"/>
    <p:sldId id="325" r:id="rId28"/>
    <p:sldId id="329" r:id="rId29"/>
    <p:sldId id="330" r:id="rId30"/>
    <p:sldId id="312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5.02.2024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964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Sercan KÜLCÜ,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Tanenbaum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, Modern Operating Systems 3e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kitabından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faydalanılmıştır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.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Tüm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hakları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saklıdır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02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941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245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047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024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2944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740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597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143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943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200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49" r:id="rId2"/>
    <p:sldLayoutId id="2147483950" r:id="rId3"/>
    <p:sldLayoutId id="2147483951" r:id="rId4"/>
    <p:sldLayoutId id="2147483952" r:id="rId5"/>
    <p:sldLayoutId id="2147483953" r:id="rId6"/>
    <p:sldLayoutId id="2147483954" r:id="rId7"/>
    <p:sldLayoutId id="2147483955" r:id="rId8"/>
    <p:sldLayoutId id="2147483956" r:id="rId9"/>
    <p:sldLayoutId id="2147483957" r:id="rId10"/>
    <p:sldLayoutId id="214748395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 smtClean="0"/>
              <a:t>Bölüm 15: İşletim </a:t>
            </a:r>
            <a:br>
              <a:rPr lang="tr-TR" b="1" dirty="0" smtClean="0"/>
            </a:br>
            <a:r>
              <a:rPr lang="tr-TR" b="1" dirty="0" smtClean="0"/>
              <a:t>Sistemi Tasarımı</a:t>
            </a:r>
            <a:endParaRPr lang="tr-TR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İşletim Sistemleri</a:t>
            </a:r>
            <a:endParaRPr lang="tr-TR" sz="2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İşletim Sistemi Hedefleri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Soyutlamalar tanımlar. </a:t>
            </a:r>
            <a:r>
              <a:rPr lang="tr-TR" dirty="0" smtClean="0"/>
              <a:t>(</a:t>
            </a:r>
            <a:r>
              <a:rPr lang="tr-TR" i="1" dirty="0" err="1" smtClean="0"/>
              <a:t>abstractions</a:t>
            </a:r>
            <a:r>
              <a:rPr lang="tr-TR" dirty="0" smtClean="0"/>
              <a:t>)</a:t>
            </a:r>
          </a:p>
          <a:p>
            <a:r>
              <a:rPr lang="tr-TR" dirty="0" smtClean="0"/>
              <a:t>İlkel </a:t>
            </a:r>
            <a:r>
              <a:rPr lang="tr-TR" dirty="0"/>
              <a:t>işlemler </a:t>
            </a:r>
            <a:r>
              <a:rPr lang="tr-TR" dirty="0" smtClean="0"/>
              <a:t>sağlar. </a:t>
            </a:r>
            <a:r>
              <a:rPr lang="tr-TR" dirty="0" smtClean="0"/>
              <a:t>(</a:t>
            </a:r>
            <a:r>
              <a:rPr lang="tr-TR" i="1" dirty="0" err="1" smtClean="0"/>
              <a:t>primitive</a:t>
            </a:r>
            <a:r>
              <a:rPr lang="tr-TR" dirty="0" smtClean="0"/>
              <a:t>)</a:t>
            </a:r>
          </a:p>
          <a:p>
            <a:r>
              <a:rPr lang="tr-TR" dirty="0" smtClean="0"/>
              <a:t>İzolasyon sağlar. </a:t>
            </a:r>
            <a:r>
              <a:rPr lang="tr-TR" dirty="0" smtClean="0"/>
              <a:t>(</a:t>
            </a:r>
            <a:r>
              <a:rPr lang="tr-TR" i="1" dirty="0" err="1" smtClean="0"/>
              <a:t>isolation</a:t>
            </a:r>
            <a:r>
              <a:rPr lang="tr-TR" dirty="0" smtClean="0"/>
              <a:t>)</a:t>
            </a:r>
          </a:p>
          <a:p>
            <a:r>
              <a:rPr lang="tr-TR" dirty="0" smtClean="0"/>
              <a:t>Donanımı </a:t>
            </a:r>
            <a:r>
              <a:rPr lang="tr-TR" dirty="0" smtClean="0"/>
              <a:t>yönetir. (</a:t>
            </a:r>
            <a:r>
              <a:rPr lang="tr-TR" i="1" dirty="0" smtClean="0"/>
              <a:t>hardware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232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İşletim Sistemleri Tasarlamanın Zorlukları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İşletim sistemleri son derece büyük </a:t>
            </a:r>
            <a:r>
              <a:rPr lang="tr-TR" dirty="0" smtClean="0"/>
              <a:t>programlar.</a:t>
            </a:r>
            <a:endParaRPr lang="tr-TR" dirty="0" smtClean="0"/>
          </a:p>
          <a:p>
            <a:r>
              <a:rPr lang="tr-TR" dirty="0" smtClean="0"/>
              <a:t>Eşzamanlılıkla </a:t>
            </a:r>
            <a:r>
              <a:rPr lang="tr-TR" dirty="0"/>
              <a:t>uğraşmak </a:t>
            </a:r>
            <a:r>
              <a:rPr lang="tr-TR" dirty="0" smtClean="0"/>
              <a:t>gerekir (</a:t>
            </a:r>
            <a:r>
              <a:rPr lang="tr-TR" i="1" dirty="0" err="1" smtClean="0"/>
              <a:t>concurrency</a:t>
            </a:r>
            <a:r>
              <a:rPr lang="tr-TR" dirty="0" smtClean="0"/>
              <a:t>).</a:t>
            </a:r>
            <a:endParaRPr lang="tr-TR" dirty="0" smtClean="0"/>
          </a:p>
          <a:p>
            <a:r>
              <a:rPr lang="tr-TR" dirty="0" smtClean="0"/>
              <a:t>Düşmanca </a:t>
            </a:r>
            <a:r>
              <a:rPr lang="tr-TR" dirty="0"/>
              <a:t>davranan kullanıcılarla uğraşmak </a:t>
            </a:r>
            <a:r>
              <a:rPr lang="tr-TR" dirty="0" smtClean="0"/>
              <a:t>zorunda.</a:t>
            </a:r>
            <a:endParaRPr lang="tr-TR" dirty="0" smtClean="0"/>
          </a:p>
          <a:p>
            <a:r>
              <a:rPr lang="tr-TR" dirty="0" smtClean="0"/>
              <a:t>Kullanıcı</a:t>
            </a:r>
            <a:r>
              <a:rPr lang="tr-TR" dirty="0"/>
              <a:t>, </a:t>
            </a:r>
            <a:endParaRPr lang="tr-TR" dirty="0" smtClean="0"/>
          </a:p>
          <a:p>
            <a:pPr lvl="1"/>
            <a:r>
              <a:rPr lang="tr-TR" dirty="0" smtClean="0"/>
              <a:t>bilgilerinin </a:t>
            </a:r>
            <a:r>
              <a:rPr lang="tr-TR" dirty="0"/>
              <a:t>ve kaynaklarının bir </a:t>
            </a:r>
            <a:r>
              <a:rPr lang="tr-TR" dirty="0" smtClean="0"/>
              <a:t>kısmını,</a:t>
            </a:r>
          </a:p>
          <a:p>
            <a:pPr lvl="1"/>
            <a:r>
              <a:rPr lang="tr-TR" dirty="0" smtClean="0"/>
              <a:t>seçilen kullanıcılarla </a:t>
            </a:r>
            <a:r>
              <a:rPr lang="tr-TR" dirty="0"/>
              <a:t>paylaşmak ister</a:t>
            </a:r>
            <a:r>
              <a:rPr lang="tr-TR" dirty="0" smtClean="0"/>
              <a:t>.</a:t>
            </a:r>
          </a:p>
          <a:p>
            <a:r>
              <a:rPr lang="tr-TR" dirty="0"/>
              <a:t>Önceki </a:t>
            </a:r>
            <a:r>
              <a:rPr lang="tr-TR" dirty="0" smtClean="0"/>
              <a:t>işletim </a:t>
            </a:r>
            <a:r>
              <a:rPr lang="tr-TR" dirty="0"/>
              <a:t>sistemleriyle geriye dönük uyumlu </a:t>
            </a:r>
            <a:r>
              <a:rPr lang="tr-TR" dirty="0" smtClean="0"/>
              <a:t>olmalı.</a:t>
            </a:r>
          </a:p>
          <a:p>
            <a:r>
              <a:rPr lang="tr-TR" dirty="0" smtClean="0"/>
              <a:t>Uzun süre bakım onarım ihtiyacı.</a:t>
            </a:r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398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Arayüz Tasarımı için Yol Gösterici İlkeler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smtClean="0"/>
              <a:t>Basitlik</a:t>
            </a:r>
            <a:r>
              <a:rPr lang="tr-TR" dirty="0" smtClean="0"/>
              <a:t>, </a:t>
            </a:r>
            <a:endParaRPr lang="tr-TR" dirty="0" smtClean="0"/>
          </a:p>
          <a:p>
            <a:pPr lvl="1"/>
            <a:r>
              <a:rPr lang="tr-TR" dirty="0" smtClean="0"/>
              <a:t>Eklenecek </a:t>
            </a:r>
            <a:r>
              <a:rPr lang="tr-TR" dirty="0"/>
              <a:t>bir şey kalmadığında değil, </a:t>
            </a:r>
            <a:endParaRPr lang="tr-TR" dirty="0" smtClean="0"/>
          </a:p>
          <a:p>
            <a:pPr lvl="1"/>
            <a:r>
              <a:rPr lang="tr-TR" dirty="0" smtClean="0"/>
              <a:t>Çıkarılacak </a:t>
            </a:r>
            <a:r>
              <a:rPr lang="tr-TR" dirty="0"/>
              <a:t>bir şey kalmadığında mükemmelliğe ulaşılır. </a:t>
            </a:r>
            <a:endParaRPr lang="tr-TR" dirty="0" smtClean="0"/>
          </a:p>
          <a:p>
            <a:r>
              <a:rPr lang="tr-TR" b="1" dirty="0" smtClean="0"/>
              <a:t>Bütünlük</a:t>
            </a:r>
            <a:r>
              <a:rPr lang="tr-TR" dirty="0" smtClean="0"/>
              <a:t>, </a:t>
            </a:r>
            <a:endParaRPr lang="tr-TR" dirty="0" smtClean="0"/>
          </a:p>
          <a:p>
            <a:pPr lvl="1"/>
            <a:r>
              <a:rPr lang="tr-TR" dirty="0" smtClean="0"/>
              <a:t>Her </a:t>
            </a:r>
            <a:r>
              <a:rPr lang="tr-TR" dirty="0"/>
              <a:t>şey olabildiğince basit olmalı, ancak daha basit olmamalıdır. </a:t>
            </a:r>
            <a:endParaRPr lang="tr-TR" dirty="0" smtClean="0"/>
          </a:p>
          <a:p>
            <a:r>
              <a:rPr lang="tr-TR" b="1" dirty="0" smtClean="0"/>
              <a:t>Yeterlik</a:t>
            </a:r>
            <a:r>
              <a:rPr lang="tr-TR" dirty="0" smtClean="0"/>
              <a:t>, </a:t>
            </a:r>
            <a:endParaRPr lang="tr-TR" dirty="0" smtClean="0"/>
          </a:p>
          <a:p>
            <a:pPr lvl="1"/>
            <a:r>
              <a:rPr lang="tr-TR" dirty="0" smtClean="0"/>
              <a:t>Bir </a:t>
            </a:r>
            <a:r>
              <a:rPr lang="tr-TR" dirty="0"/>
              <a:t>özellik </a:t>
            </a:r>
            <a:r>
              <a:rPr lang="tr-TR" dirty="0" smtClean="0"/>
              <a:t>verimli kullanılamıyorsa</a:t>
            </a:r>
            <a:r>
              <a:rPr lang="tr-TR" dirty="0"/>
              <a:t>, </a:t>
            </a:r>
            <a:r>
              <a:rPr lang="tr-TR" dirty="0" smtClean="0"/>
              <a:t>muhtemelen sahip </a:t>
            </a:r>
            <a:r>
              <a:rPr lang="tr-TR" dirty="0"/>
              <a:t>olmaya </a:t>
            </a:r>
            <a:r>
              <a:rPr lang="tr-TR" dirty="0" smtClean="0"/>
              <a:t>değmez.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982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Yürütme Paradigmaları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</a:t>
            </a:r>
            <a:r>
              <a:rPr lang="tr-TR" dirty="0" err="1"/>
              <a:t>Algoritmik</a:t>
            </a:r>
            <a:r>
              <a:rPr lang="tr-TR" dirty="0"/>
              <a:t> kod. (b) Olaya dayalı kod</a:t>
            </a:r>
            <a:r>
              <a:rPr lang="tr-TR" dirty="0" smtClean="0"/>
              <a:t>. (</a:t>
            </a:r>
            <a:r>
              <a:rPr lang="tr-TR" i="1" dirty="0" err="1" smtClean="0"/>
              <a:t>event</a:t>
            </a:r>
            <a:r>
              <a:rPr lang="tr-TR" i="1" dirty="0" smtClean="0"/>
              <a:t> </a:t>
            </a:r>
            <a:r>
              <a:rPr lang="tr-TR" i="1" dirty="0" err="1" smtClean="0"/>
              <a:t>driven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1085" y="2645934"/>
            <a:ext cx="7329829" cy="33790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783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Sistem Yapısı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Katmanlı </a:t>
            </a:r>
            <a:r>
              <a:rPr lang="tr-TR" dirty="0" smtClean="0"/>
              <a:t>s</a:t>
            </a:r>
            <a:r>
              <a:rPr lang="tr-TR" dirty="0" smtClean="0"/>
              <a:t>istemler (</a:t>
            </a:r>
            <a:r>
              <a:rPr lang="tr-TR" i="1" dirty="0" err="1" smtClean="0"/>
              <a:t>layered</a:t>
            </a:r>
            <a:r>
              <a:rPr lang="tr-TR" dirty="0" smtClean="0"/>
              <a:t>).</a:t>
            </a:r>
          </a:p>
          <a:p>
            <a:r>
              <a:rPr lang="tr-TR" dirty="0" err="1" smtClean="0"/>
              <a:t>Exokernel</a:t>
            </a:r>
            <a:r>
              <a:rPr lang="tr-TR" dirty="0" smtClean="0"/>
              <a:t>.</a:t>
            </a:r>
            <a:endParaRPr lang="tr-TR" dirty="0" smtClean="0"/>
          </a:p>
          <a:p>
            <a:r>
              <a:rPr lang="tr-TR" dirty="0" smtClean="0"/>
              <a:t>Mikro çekirdek tabanlı istemci-sunucu sistemleri.</a:t>
            </a:r>
          </a:p>
          <a:p>
            <a:r>
              <a:rPr lang="tr-TR" dirty="0" smtClean="0"/>
              <a:t>Genişletilebilir sistemler (</a:t>
            </a:r>
            <a:r>
              <a:rPr lang="tr-TR" i="1" dirty="0" err="1" smtClean="0"/>
              <a:t>extensible</a:t>
            </a:r>
            <a:r>
              <a:rPr lang="tr-TR" dirty="0" smtClean="0"/>
              <a:t>).</a:t>
            </a:r>
          </a:p>
          <a:p>
            <a:r>
              <a:rPr lang="tr-TR" dirty="0" smtClean="0"/>
              <a:t>Çekirdek iş parçacıkları (</a:t>
            </a:r>
            <a:r>
              <a:rPr lang="tr-TR" i="1" dirty="0" err="1" smtClean="0"/>
              <a:t>kernel</a:t>
            </a:r>
            <a:r>
              <a:rPr lang="tr-TR" i="1" dirty="0" smtClean="0"/>
              <a:t> </a:t>
            </a:r>
            <a:r>
              <a:rPr lang="tr-TR" i="1" dirty="0" err="1" smtClean="0"/>
              <a:t>threads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631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Katmanlı Sistemler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İşletim </a:t>
            </a:r>
            <a:r>
              <a:rPr lang="tr-TR" dirty="0"/>
              <a:t>sisteminin farklı </a:t>
            </a:r>
            <a:r>
              <a:rPr lang="tr-TR" dirty="0" smtClean="0"/>
              <a:t>işlevleri farklı katmanlara ayrılır</a:t>
            </a:r>
            <a:r>
              <a:rPr lang="tr-TR" dirty="0" smtClean="0"/>
              <a:t>.</a:t>
            </a:r>
          </a:p>
          <a:p>
            <a:r>
              <a:rPr lang="tr-TR" dirty="0" smtClean="0"/>
              <a:t>Farklı </a:t>
            </a:r>
            <a:r>
              <a:rPr lang="tr-TR" dirty="0"/>
              <a:t>bileşenler arasındaki bağlantıyı azaltarak modülerliği </a:t>
            </a:r>
            <a:r>
              <a:rPr lang="tr-TR" dirty="0" smtClean="0"/>
              <a:t>destekler.</a:t>
            </a:r>
            <a:endParaRPr lang="tr-TR" dirty="0" smtClean="0"/>
          </a:p>
          <a:p>
            <a:r>
              <a:rPr lang="tr-TR" dirty="0" smtClean="0"/>
              <a:t>Tipik </a:t>
            </a:r>
            <a:r>
              <a:rPr lang="tr-TR" dirty="0"/>
              <a:t>olarak, </a:t>
            </a:r>
            <a:endParaRPr lang="tr-TR" dirty="0" smtClean="0"/>
          </a:p>
          <a:p>
            <a:pPr lvl="1"/>
            <a:r>
              <a:rPr lang="tr-TR" dirty="0" smtClean="0"/>
              <a:t>Uygulama </a:t>
            </a:r>
            <a:r>
              <a:rPr lang="tr-TR" dirty="0"/>
              <a:t>Katmanı, </a:t>
            </a:r>
            <a:r>
              <a:rPr lang="tr-TR" dirty="0" smtClean="0"/>
              <a:t>(</a:t>
            </a:r>
            <a:r>
              <a:rPr lang="tr-TR" i="1" dirty="0" err="1" smtClean="0"/>
              <a:t>application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Sistem </a:t>
            </a:r>
            <a:r>
              <a:rPr lang="tr-TR" dirty="0"/>
              <a:t>Çağrısı Katmanı, </a:t>
            </a:r>
            <a:r>
              <a:rPr lang="tr-TR" dirty="0" smtClean="0"/>
              <a:t>(</a:t>
            </a:r>
            <a:r>
              <a:rPr lang="tr-TR" i="1" dirty="0" err="1" smtClean="0"/>
              <a:t>system</a:t>
            </a:r>
            <a:r>
              <a:rPr lang="tr-TR" i="1" dirty="0" smtClean="0"/>
              <a:t> </a:t>
            </a:r>
            <a:r>
              <a:rPr lang="tr-TR" i="1" dirty="0" err="1" smtClean="0"/>
              <a:t>call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Kütüphane </a:t>
            </a:r>
            <a:r>
              <a:rPr lang="tr-TR" dirty="0"/>
              <a:t>Katmanı, </a:t>
            </a:r>
            <a:r>
              <a:rPr lang="tr-TR" dirty="0" smtClean="0"/>
              <a:t>(</a:t>
            </a:r>
            <a:r>
              <a:rPr lang="tr-TR" i="1" dirty="0" err="1" smtClean="0"/>
              <a:t>library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Çekirdek </a:t>
            </a:r>
            <a:r>
              <a:rPr lang="tr-TR" dirty="0"/>
              <a:t>Katmanı, </a:t>
            </a:r>
            <a:r>
              <a:rPr lang="tr-TR" dirty="0" smtClean="0"/>
              <a:t>(</a:t>
            </a:r>
            <a:r>
              <a:rPr lang="tr-TR" i="1" dirty="0" err="1" smtClean="0"/>
              <a:t>kernel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Donanım Katmanı. (</a:t>
            </a:r>
            <a:r>
              <a:rPr lang="tr-TR" i="1" dirty="0" smtClean="0"/>
              <a:t>hardware</a:t>
            </a:r>
            <a:r>
              <a:rPr lang="tr-TR" dirty="0" smtClean="0"/>
              <a:t>)</a:t>
            </a:r>
            <a:endParaRPr lang="tr-TR" dirty="0" smtClean="0"/>
          </a:p>
          <a:p>
            <a:r>
              <a:rPr lang="tr-TR" dirty="0" smtClean="0"/>
              <a:t>İyi </a:t>
            </a:r>
            <a:r>
              <a:rPr lang="tr-TR" dirty="0"/>
              <a:t>tanımlanmış </a:t>
            </a:r>
            <a:r>
              <a:rPr lang="tr-TR" dirty="0" err="1"/>
              <a:t>arayüzler</a:t>
            </a:r>
            <a:r>
              <a:rPr lang="tr-TR" dirty="0"/>
              <a:t> ve protokoller </a:t>
            </a:r>
            <a:r>
              <a:rPr lang="tr-TR" dirty="0" smtClean="0"/>
              <a:t>aracılığıyla, </a:t>
            </a:r>
          </a:p>
          <a:p>
            <a:pPr lvl="1"/>
            <a:r>
              <a:rPr lang="tr-TR" dirty="0" smtClean="0"/>
              <a:t>bir </a:t>
            </a:r>
            <a:r>
              <a:rPr lang="tr-TR" dirty="0"/>
              <a:t>katmandaki değişikliklerin diğer katmanları </a:t>
            </a:r>
            <a:r>
              <a:rPr lang="tr-TR" dirty="0" smtClean="0"/>
              <a:t>etkilememesi sağlanır.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632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Katmanlı Sistemler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1690688"/>
            <a:ext cx="7086600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038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Exokernel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Donanım ve yazılım arasında minimal bir soyutlama katmanı </a:t>
            </a:r>
            <a:r>
              <a:rPr lang="tr-TR" dirty="0" smtClean="0"/>
              <a:t>sağlar</a:t>
            </a:r>
            <a:r>
              <a:rPr lang="tr-TR" dirty="0" smtClean="0"/>
              <a:t>.</a:t>
            </a:r>
          </a:p>
          <a:p>
            <a:r>
              <a:rPr lang="tr-TR" dirty="0" smtClean="0"/>
              <a:t>Ayrıntılı kaynak yönetimi ve </a:t>
            </a:r>
            <a:r>
              <a:rPr lang="tr-TR" dirty="0" smtClean="0"/>
              <a:t>tahsisi.</a:t>
            </a:r>
            <a:endParaRPr lang="tr-TR" dirty="0" smtClean="0"/>
          </a:p>
          <a:p>
            <a:r>
              <a:rPr lang="tr-TR" dirty="0" smtClean="0"/>
              <a:t>Çekirdek bileşenlerinin dinamik olarak yüklenmesi ve </a:t>
            </a:r>
            <a:r>
              <a:rPr lang="tr-TR" dirty="0" smtClean="0"/>
              <a:t>boşaltılması.</a:t>
            </a:r>
            <a:endParaRPr lang="tr-TR" dirty="0" smtClean="0"/>
          </a:p>
          <a:p>
            <a:r>
              <a:rPr lang="tr-TR" dirty="0" smtClean="0"/>
              <a:t>Tasarım </a:t>
            </a:r>
            <a:r>
              <a:rPr lang="tr-TR" dirty="0" smtClean="0"/>
              <a:t>ve uygulamada </a:t>
            </a:r>
            <a:r>
              <a:rPr lang="tr-TR" dirty="0" smtClean="0"/>
              <a:t>karmaşıklık.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641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Mikro Çekirdek Tabanlı İstemci-Sunucu </a:t>
            </a:r>
            <a:r>
              <a:rPr lang="tr-TR" dirty="0" smtClean="0"/>
              <a:t>Sistemleri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Çekirdek olabildiğince </a:t>
            </a:r>
            <a:r>
              <a:rPr lang="tr-TR" dirty="0"/>
              <a:t>küçük </a:t>
            </a:r>
            <a:r>
              <a:rPr lang="tr-TR" dirty="0" smtClean="0"/>
              <a:t>olmalı.</a:t>
            </a:r>
          </a:p>
          <a:p>
            <a:r>
              <a:rPr lang="tr-TR" dirty="0" smtClean="0"/>
              <a:t>Gerekli </a:t>
            </a:r>
            <a:r>
              <a:rPr lang="tr-TR" dirty="0"/>
              <a:t>olmayan tüm </a:t>
            </a:r>
            <a:r>
              <a:rPr lang="tr-TR" dirty="0" smtClean="0"/>
              <a:t>hizmetler süreçlere verilir.</a:t>
            </a:r>
            <a:endParaRPr lang="tr-TR" dirty="0" smtClean="0"/>
          </a:p>
          <a:p>
            <a:r>
              <a:rPr lang="tr-TR" dirty="0" smtClean="0"/>
              <a:t>Mikro </a:t>
            </a:r>
            <a:r>
              <a:rPr lang="tr-TR" dirty="0"/>
              <a:t>çekirdek, </a:t>
            </a:r>
            <a:endParaRPr lang="tr-TR" dirty="0" smtClean="0"/>
          </a:p>
          <a:p>
            <a:pPr lvl="1"/>
            <a:r>
              <a:rPr lang="tr-TR" dirty="0" smtClean="0"/>
              <a:t>süreç </a:t>
            </a:r>
            <a:r>
              <a:rPr lang="tr-TR" dirty="0"/>
              <a:t>yönetimi, </a:t>
            </a:r>
            <a:endParaRPr lang="tr-TR" dirty="0" smtClean="0"/>
          </a:p>
          <a:p>
            <a:pPr lvl="1"/>
            <a:r>
              <a:rPr lang="tr-TR" dirty="0" smtClean="0"/>
              <a:t>süreçler </a:t>
            </a:r>
            <a:r>
              <a:rPr lang="tr-TR" dirty="0"/>
              <a:t>arası </a:t>
            </a:r>
            <a:r>
              <a:rPr lang="tr-TR" dirty="0" smtClean="0"/>
              <a:t>iletişim,</a:t>
            </a:r>
          </a:p>
          <a:p>
            <a:pPr lvl="1"/>
            <a:r>
              <a:rPr lang="tr-TR" dirty="0" smtClean="0"/>
              <a:t>sistem </a:t>
            </a:r>
            <a:r>
              <a:rPr lang="tr-TR" dirty="0"/>
              <a:t>çağrıları gibi temel görevleri yerine getirir</a:t>
            </a:r>
            <a:r>
              <a:rPr lang="tr-TR" dirty="0" smtClean="0"/>
              <a:t>.</a:t>
            </a:r>
          </a:p>
          <a:p>
            <a:r>
              <a:rPr lang="tr-TR" dirty="0" smtClean="0"/>
              <a:t>Sunucu-istemci </a:t>
            </a:r>
            <a:r>
              <a:rPr lang="tr-TR" dirty="0"/>
              <a:t>mimarisi, modülerlik ve kolay bakım sağlar</a:t>
            </a:r>
            <a:r>
              <a:rPr lang="tr-TR" dirty="0" smtClean="0"/>
              <a:t>.</a:t>
            </a:r>
            <a:endParaRPr lang="tr-TR" dirty="0" smtClean="0"/>
          </a:p>
          <a:p>
            <a:r>
              <a:rPr lang="tr-TR" dirty="0" smtClean="0"/>
              <a:t>Sistemin </a:t>
            </a:r>
            <a:r>
              <a:rPr lang="tr-TR" dirty="0"/>
              <a:t>diğer </a:t>
            </a:r>
            <a:r>
              <a:rPr lang="tr-TR" dirty="0" smtClean="0"/>
              <a:t>kısımları etkilenmeden sunucu eklenebilir çıkarılabilir.</a:t>
            </a:r>
            <a:endParaRPr lang="tr-TR" dirty="0" smtClean="0"/>
          </a:p>
          <a:p>
            <a:r>
              <a:rPr lang="tr-TR" dirty="0" smtClean="0"/>
              <a:t>Sunucu, dosya sistemi gibi farklı </a:t>
            </a:r>
            <a:r>
              <a:rPr lang="tr-TR" dirty="0"/>
              <a:t>işlevler </a:t>
            </a:r>
            <a:r>
              <a:rPr lang="tr-TR" dirty="0" smtClean="0"/>
              <a:t>sağlar</a:t>
            </a:r>
            <a:r>
              <a:rPr lang="tr-TR" dirty="0" smtClean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553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Mikro Çekirdek Tabanlı İstemci-Sunucu </a:t>
            </a:r>
            <a:r>
              <a:rPr lang="tr-TR" dirty="0" smtClean="0"/>
              <a:t>Sistemleri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İstemci, sunucu </a:t>
            </a:r>
            <a:r>
              <a:rPr lang="tr-TR" dirty="0"/>
              <a:t>tarafından sağlanan hizmetleri kullanır. </a:t>
            </a:r>
            <a:endParaRPr lang="tr-TR" dirty="0" smtClean="0"/>
          </a:p>
          <a:p>
            <a:r>
              <a:rPr lang="tr-TR" dirty="0" smtClean="0"/>
              <a:t>Sistem </a:t>
            </a:r>
            <a:r>
              <a:rPr lang="tr-TR" dirty="0"/>
              <a:t>çağrıları veya mesajlar aracılığıyla </a:t>
            </a:r>
            <a:r>
              <a:rPr lang="tr-TR" dirty="0" smtClean="0"/>
              <a:t>sunucu ile </a:t>
            </a:r>
            <a:r>
              <a:rPr lang="tr-TR" dirty="0"/>
              <a:t>iletişim </a:t>
            </a:r>
            <a:r>
              <a:rPr lang="tr-TR" dirty="0" smtClean="0"/>
              <a:t>kurulur.</a:t>
            </a:r>
            <a:endParaRPr lang="tr-TR" dirty="0" smtClean="0"/>
          </a:p>
          <a:p>
            <a:r>
              <a:rPr lang="tr-TR" dirty="0" smtClean="0"/>
              <a:t>İstemci </a:t>
            </a:r>
            <a:r>
              <a:rPr lang="tr-TR" dirty="0"/>
              <a:t>ve </a:t>
            </a:r>
            <a:r>
              <a:rPr lang="tr-TR" dirty="0" smtClean="0"/>
              <a:t>sunucu </a:t>
            </a:r>
            <a:r>
              <a:rPr lang="tr-TR" dirty="0"/>
              <a:t>arasındaki iletişim </a:t>
            </a:r>
            <a:r>
              <a:rPr lang="tr-TR" dirty="0" smtClean="0"/>
              <a:t>güvenlidir</a:t>
            </a:r>
            <a:r>
              <a:rPr lang="tr-TR" dirty="0"/>
              <a:t>, </a:t>
            </a:r>
            <a:endParaRPr lang="tr-TR" dirty="0" smtClean="0"/>
          </a:p>
          <a:p>
            <a:pPr lvl="1"/>
            <a:r>
              <a:rPr lang="tr-TR" dirty="0" smtClean="0"/>
              <a:t>mikro </a:t>
            </a:r>
            <a:r>
              <a:rPr lang="tr-TR" dirty="0"/>
              <a:t>çekirdek tüm </a:t>
            </a:r>
            <a:r>
              <a:rPr lang="tr-TR" dirty="0" smtClean="0"/>
              <a:t>süreçler arası iletişimden sorumludur</a:t>
            </a:r>
            <a:r>
              <a:rPr lang="tr-TR" dirty="0" smtClean="0"/>
              <a:t>.</a:t>
            </a:r>
          </a:p>
          <a:p>
            <a:r>
              <a:rPr lang="tr-TR" dirty="0" smtClean="0"/>
              <a:t>Sunucu, ağdaki </a:t>
            </a:r>
            <a:r>
              <a:rPr lang="tr-TR" dirty="0"/>
              <a:t>farklı düğümlerde </a:t>
            </a:r>
            <a:r>
              <a:rPr lang="tr-TR" dirty="0" smtClean="0"/>
              <a:t>çalışabilir, </a:t>
            </a:r>
          </a:p>
          <a:p>
            <a:pPr lvl="1"/>
            <a:r>
              <a:rPr lang="tr-TR" dirty="0" smtClean="0"/>
              <a:t>mikro </a:t>
            </a:r>
            <a:r>
              <a:rPr lang="tr-TR" dirty="0"/>
              <a:t>çekirdek tabanlı sistemler yüksek düzeyde </a:t>
            </a:r>
            <a:r>
              <a:rPr lang="tr-TR" dirty="0" smtClean="0"/>
              <a:t>ölçeklenebilir.</a:t>
            </a:r>
            <a:endParaRPr lang="tr-TR" dirty="0" smtClean="0"/>
          </a:p>
          <a:p>
            <a:r>
              <a:rPr lang="tr-TR" dirty="0" smtClean="0"/>
              <a:t>Örnek: </a:t>
            </a:r>
            <a:r>
              <a:rPr lang="tr-TR" i="1" dirty="0" err="1" smtClean="0"/>
              <a:t>Mach</a:t>
            </a:r>
            <a:r>
              <a:rPr lang="tr-TR" i="1" dirty="0"/>
              <a:t>, </a:t>
            </a:r>
            <a:r>
              <a:rPr lang="tr-TR" i="1" dirty="0" smtClean="0"/>
              <a:t>QNX, L4.</a:t>
            </a:r>
            <a:endParaRPr lang="tr-TR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792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Mikro Çekirdek Tabanlı İstemci-Sunucu </a:t>
            </a:r>
            <a:r>
              <a:rPr lang="tr-TR" dirty="0" smtClean="0"/>
              <a:t>Sistemleri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istemci - </a:t>
            </a:r>
            <a:r>
              <a:rPr lang="tr-TR" dirty="0" err="1" smtClean="0"/>
              <a:t>microkernel</a:t>
            </a:r>
            <a:r>
              <a:rPr lang="tr-TR" dirty="0" smtClean="0"/>
              <a:t> - sunucu.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4125" y="2963004"/>
            <a:ext cx="8243749" cy="22172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3276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dirty="0" smtClean="0"/>
              <a:t>Genişletilebilir Sistemler</a:t>
            </a:r>
            <a:endParaRPr lang="tr-TR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Çekirdek sistem temel işlevleri sağlar.</a:t>
            </a:r>
          </a:p>
          <a:p>
            <a:r>
              <a:rPr lang="tr-TR" dirty="0"/>
              <a:t>Değişen ihtiyaçlar için sistem genişletilebilir.</a:t>
            </a:r>
          </a:p>
          <a:p>
            <a:r>
              <a:rPr lang="tr-TR" dirty="0" smtClean="0"/>
              <a:t>Mevcut </a:t>
            </a:r>
            <a:r>
              <a:rPr lang="tr-TR" dirty="0"/>
              <a:t>sisteme dinamik olarak </a:t>
            </a:r>
            <a:r>
              <a:rPr lang="tr-TR" dirty="0" smtClean="0"/>
              <a:t>yeni bileşen eklenmesine </a:t>
            </a:r>
            <a:r>
              <a:rPr lang="tr-TR" dirty="0"/>
              <a:t>izin verir</a:t>
            </a:r>
            <a:r>
              <a:rPr lang="tr-TR" dirty="0" smtClean="0"/>
              <a:t>.</a:t>
            </a:r>
          </a:p>
          <a:p>
            <a:r>
              <a:rPr lang="tr-TR" dirty="0" smtClean="0"/>
              <a:t>Üçüncü </a:t>
            </a:r>
            <a:r>
              <a:rPr lang="tr-TR" dirty="0"/>
              <a:t>taraf </a:t>
            </a:r>
            <a:r>
              <a:rPr lang="tr-TR" dirty="0" smtClean="0"/>
              <a:t>geliştiricilerin, sisteme yeni </a:t>
            </a:r>
            <a:r>
              <a:rPr lang="tr-TR" dirty="0"/>
              <a:t>özellikler eklemesine olanak tanır</a:t>
            </a:r>
            <a:r>
              <a:rPr lang="tr-TR" dirty="0" smtClean="0"/>
              <a:t>.</a:t>
            </a:r>
          </a:p>
          <a:p>
            <a:r>
              <a:rPr lang="tr-TR" dirty="0" smtClean="0"/>
              <a:t>Yeni </a:t>
            </a:r>
            <a:r>
              <a:rPr lang="tr-TR" dirty="0"/>
              <a:t>bileşenler entegre edilirken uyumluluk ve güvenlik </a:t>
            </a:r>
            <a:r>
              <a:rPr lang="tr-TR" dirty="0" smtClean="0"/>
              <a:t>ele </a:t>
            </a:r>
            <a:r>
              <a:rPr lang="tr-TR" dirty="0"/>
              <a:t>alınmalıdır</a:t>
            </a:r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365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dirty="0" smtClean="0"/>
              <a:t>Çekirdek İş Parçacıkları</a:t>
            </a:r>
            <a:endParaRPr lang="tr-TR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Çekirdek </a:t>
            </a:r>
            <a:r>
              <a:rPr lang="tr-TR" dirty="0" smtClean="0"/>
              <a:t>tarafından </a:t>
            </a:r>
            <a:r>
              <a:rPr lang="tr-TR" dirty="0"/>
              <a:t>yönetilir</a:t>
            </a:r>
            <a:r>
              <a:rPr lang="tr-TR" dirty="0" smtClean="0"/>
              <a:t>.</a:t>
            </a:r>
          </a:p>
          <a:p>
            <a:r>
              <a:rPr lang="tr-TR" dirty="0" smtClean="0"/>
              <a:t>Çekirdek </a:t>
            </a:r>
            <a:r>
              <a:rPr lang="tr-TR" dirty="0"/>
              <a:t>ile aynı bellek alanını </a:t>
            </a:r>
            <a:r>
              <a:rPr lang="tr-TR" dirty="0" smtClean="0"/>
              <a:t>paylaşır.</a:t>
            </a:r>
          </a:p>
          <a:p>
            <a:r>
              <a:rPr lang="tr-TR" dirty="0" smtClean="0"/>
              <a:t>Verimli </a:t>
            </a:r>
            <a:r>
              <a:rPr lang="tr-TR" dirty="0"/>
              <a:t>bir </a:t>
            </a:r>
            <a:r>
              <a:rPr lang="tr-TR" dirty="0" smtClean="0"/>
              <a:t>çizelgeleme ve </a:t>
            </a:r>
            <a:r>
              <a:rPr lang="tr-TR" dirty="0"/>
              <a:t>yürütme avantajına </a:t>
            </a:r>
            <a:r>
              <a:rPr lang="tr-TR" dirty="0" smtClean="0"/>
              <a:t>sahiptir.</a:t>
            </a:r>
          </a:p>
          <a:p>
            <a:r>
              <a:rPr lang="tr-TR" dirty="0" smtClean="0"/>
              <a:t>Düşük </a:t>
            </a:r>
            <a:r>
              <a:rPr lang="tr-TR" dirty="0"/>
              <a:t>ek </a:t>
            </a:r>
            <a:r>
              <a:rPr lang="tr-TR" dirty="0" smtClean="0"/>
              <a:t>maliyet ve hızlı </a:t>
            </a:r>
            <a:r>
              <a:rPr lang="tr-TR" dirty="0"/>
              <a:t>bağlam </a:t>
            </a:r>
            <a:r>
              <a:rPr lang="tr-TR" dirty="0" smtClean="0"/>
              <a:t>anahtarlama.</a:t>
            </a:r>
            <a:endParaRPr lang="tr-TR" dirty="0" smtClean="0"/>
          </a:p>
          <a:p>
            <a:r>
              <a:rPr lang="tr-TR" dirty="0" smtClean="0"/>
              <a:t>Kesme </a:t>
            </a:r>
            <a:r>
              <a:rPr lang="tr-TR" dirty="0"/>
              <a:t>işleme, </a:t>
            </a:r>
            <a:r>
              <a:rPr lang="tr-TR" dirty="0" smtClean="0"/>
              <a:t>aygıt G/Ç </a:t>
            </a:r>
            <a:r>
              <a:rPr lang="tr-TR" dirty="0"/>
              <a:t>ve arka plan sistem bakım </a:t>
            </a:r>
            <a:r>
              <a:rPr lang="tr-TR" dirty="0" smtClean="0"/>
              <a:t>görevleri.</a:t>
            </a:r>
          </a:p>
          <a:p>
            <a:r>
              <a:rPr lang="tr-TR" dirty="0" smtClean="0"/>
              <a:t>Kullanıcı </a:t>
            </a:r>
            <a:r>
              <a:rPr lang="tr-TR" dirty="0" smtClean="0"/>
              <a:t>düzeyinde süreçler </a:t>
            </a:r>
            <a:r>
              <a:rPr lang="tr-TR" dirty="0" smtClean="0"/>
              <a:t>tarafından, veya </a:t>
            </a:r>
            <a:endParaRPr lang="tr-TR" dirty="0" smtClean="0"/>
          </a:p>
          <a:p>
            <a:pPr lvl="1"/>
            <a:r>
              <a:rPr lang="tr-TR" dirty="0" smtClean="0"/>
              <a:t>sistem </a:t>
            </a:r>
            <a:r>
              <a:rPr lang="tr-TR" dirty="0" smtClean="0"/>
              <a:t>çağrıları ile çekirdek </a:t>
            </a:r>
            <a:r>
              <a:rPr lang="tr-TR" dirty="0" err="1"/>
              <a:t>ç</a:t>
            </a:r>
            <a:r>
              <a:rPr lang="tr-TR" dirty="0" err="1" smtClean="0"/>
              <a:t>izelgeleyici</a:t>
            </a:r>
            <a:r>
              <a:rPr lang="tr-TR" dirty="0" smtClean="0"/>
              <a:t> </a:t>
            </a:r>
            <a:r>
              <a:rPr lang="tr-TR" dirty="0" smtClean="0"/>
              <a:t>tarafından, </a:t>
            </a:r>
          </a:p>
          <a:p>
            <a:pPr lvl="1"/>
            <a:r>
              <a:rPr lang="tr-TR" dirty="0" smtClean="0"/>
              <a:t>oluşturulabilir</a:t>
            </a:r>
            <a:r>
              <a:rPr lang="tr-TR" dirty="0"/>
              <a:t>, yok edilebilir ve senkronize </a:t>
            </a:r>
            <a:r>
              <a:rPr lang="tr-TR" dirty="0" smtClean="0"/>
              <a:t>edilebilirler.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6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Adlandırma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Dizinler, harici adları dahili adlara eşlemek için kullanılır.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5636" y="2498976"/>
            <a:ext cx="7820728" cy="333329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27982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Bağlama </a:t>
            </a:r>
            <a:r>
              <a:rPr lang="tr-TR" dirty="0" smtClean="0"/>
              <a:t>Zamanı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Erken </a:t>
            </a:r>
            <a:r>
              <a:rPr lang="tr-TR" dirty="0" smtClean="0"/>
              <a:t>bağlama (</a:t>
            </a:r>
            <a:r>
              <a:rPr lang="tr-TR" i="1" dirty="0" err="1" smtClean="0"/>
              <a:t>early</a:t>
            </a:r>
            <a:r>
              <a:rPr lang="tr-TR" i="1" dirty="0" smtClean="0"/>
              <a:t> </a:t>
            </a:r>
            <a:r>
              <a:rPr lang="tr-TR" i="1" dirty="0" err="1" smtClean="0"/>
              <a:t>binding</a:t>
            </a:r>
            <a:r>
              <a:rPr lang="tr-TR" dirty="0" smtClean="0"/>
              <a:t>)</a:t>
            </a:r>
            <a:endParaRPr lang="tr-TR" dirty="0" smtClean="0"/>
          </a:p>
          <a:p>
            <a:pPr lvl="1"/>
            <a:r>
              <a:rPr lang="tr-TR" dirty="0" smtClean="0"/>
              <a:t>Basit </a:t>
            </a:r>
          </a:p>
          <a:p>
            <a:pPr lvl="1"/>
            <a:r>
              <a:rPr lang="tr-TR" dirty="0" smtClean="0"/>
              <a:t>Az esnek</a:t>
            </a:r>
          </a:p>
          <a:p>
            <a:r>
              <a:rPr lang="tr-TR" dirty="0" smtClean="0"/>
              <a:t>Geç bağlama (</a:t>
            </a:r>
            <a:r>
              <a:rPr lang="tr-TR" i="1" dirty="0" err="1" smtClean="0"/>
              <a:t>late</a:t>
            </a:r>
            <a:r>
              <a:rPr lang="tr-TR" i="1" dirty="0" smtClean="0"/>
              <a:t> </a:t>
            </a:r>
            <a:r>
              <a:rPr lang="tr-TR" i="1" dirty="0" err="1" smtClean="0"/>
              <a:t>binding</a:t>
            </a:r>
            <a:r>
              <a:rPr lang="tr-TR" dirty="0" smtClean="0"/>
              <a:t>)</a:t>
            </a:r>
            <a:endParaRPr lang="tr-TR" dirty="0" smtClean="0"/>
          </a:p>
          <a:p>
            <a:pPr lvl="1"/>
            <a:r>
              <a:rPr lang="tr-TR" dirty="0" smtClean="0"/>
              <a:t>Daha karmaşık</a:t>
            </a:r>
          </a:p>
          <a:p>
            <a:pPr lvl="1"/>
            <a:r>
              <a:rPr lang="tr-TR" dirty="0" smtClean="0"/>
              <a:t>Daha </a:t>
            </a:r>
            <a:r>
              <a:rPr lang="tr-TR" dirty="0"/>
              <a:t>esnek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493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Statik ve Dinamik Yapılar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Belirli bir </a:t>
            </a:r>
            <a:r>
              <a:rPr lang="tr-TR" i="1" dirty="0"/>
              <a:t>PID</a:t>
            </a:r>
            <a:r>
              <a:rPr lang="tr-TR" dirty="0"/>
              <a:t> için </a:t>
            </a:r>
            <a:r>
              <a:rPr lang="tr-TR" dirty="0" smtClean="0"/>
              <a:t>süreç tablosunu </a:t>
            </a:r>
            <a:r>
              <a:rPr lang="tr-TR" dirty="0"/>
              <a:t>aramak için kullanılan kod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 err="1" smtClean="0">
                <a:latin typeface="Consolas" panose="020B0609020204030204" pitchFamily="49" charset="0"/>
              </a:rPr>
              <a:t>found</a:t>
            </a:r>
            <a:r>
              <a:rPr lang="tr-TR" dirty="0" smtClean="0">
                <a:latin typeface="Consolas" panose="020B0609020204030204" pitchFamily="49" charset="0"/>
              </a:rPr>
              <a:t> </a:t>
            </a:r>
            <a:r>
              <a:rPr lang="tr-TR" dirty="0">
                <a:latin typeface="Consolas" panose="020B0609020204030204" pitchFamily="49" charset="0"/>
              </a:rPr>
              <a:t>= 0;</a:t>
            </a:r>
          </a:p>
          <a:p>
            <a:pPr marL="0" indent="0">
              <a:buNone/>
            </a:pPr>
            <a:r>
              <a:rPr lang="tr-TR" b="1" dirty="0" err="1">
                <a:latin typeface="Consolas" panose="020B0609020204030204" pitchFamily="49" charset="0"/>
              </a:rPr>
              <a:t>for</a:t>
            </a:r>
            <a:r>
              <a:rPr lang="tr-TR" dirty="0">
                <a:latin typeface="Consolas" panose="020B0609020204030204" pitchFamily="49" charset="0"/>
              </a:rPr>
              <a:t> (</a:t>
            </a:r>
            <a:r>
              <a:rPr lang="tr-TR" dirty="0" smtClean="0">
                <a:latin typeface="Consolas" panose="020B0609020204030204" pitchFamily="49" charset="0"/>
              </a:rPr>
              <a:t>p=&amp;</a:t>
            </a:r>
            <a:r>
              <a:rPr lang="tr-TR" dirty="0" err="1">
                <a:latin typeface="Consolas" panose="020B0609020204030204" pitchFamily="49" charset="0"/>
              </a:rPr>
              <a:t>proc_table</a:t>
            </a:r>
            <a:r>
              <a:rPr lang="tr-TR" dirty="0">
                <a:latin typeface="Consolas" panose="020B0609020204030204" pitchFamily="49" charset="0"/>
              </a:rPr>
              <a:t>[0]; </a:t>
            </a:r>
            <a:r>
              <a:rPr lang="tr-TR" dirty="0" smtClean="0">
                <a:latin typeface="Consolas" panose="020B0609020204030204" pitchFamily="49" charset="0"/>
              </a:rPr>
              <a:t>p&lt;&amp;</a:t>
            </a:r>
            <a:r>
              <a:rPr lang="tr-TR" dirty="0" err="1">
                <a:latin typeface="Consolas" panose="020B0609020204030204" pitchFamily="49" charset="0"/>
              </a:rPr>
              <a:t>proc_table</a:t>
            </a:r>
            <a:r>
              <a:rPr lang="tr-TR" dirty="0">
                <a:latin typeface="Consolas" panose="020B0609020204030204" pitchFamily="49" charset="0"/>
              </a:rPr>
              <a:t>[PROC_TABLE_SIZE]; p++) {</a:t>
            </a:r>
          </a:p>
          <a:p>
            <a:pPr marL="0" indent="0">
              <a:buNone/>
            </a:pPr>
            <a:r>
              <a:rPr lang="tr-TR" dirty="0" smtClean="0"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latin typeface="Consolas" panose="020B0609020204030204" pitchFamily="49" charset="0"/>
              </a:rPr>
              <a:t>if</a:t>
            </a:r>
            <a:r>
              <a:rPr lang="tr-TR" dirty="0" smtClean="0">
                <a:latin typeface="Consolas" panose="020B0609020204030204" pitchFamily="49" charset="0"/>
              </a:rPr>
              <a:t> </a:t>
            </a:r>
            <a:r>
              <a:rPr lang="tr-TR" dirty="0">
                <a:latin typeface="Consolas" panose="020B0609020204030204" pitchFamily="49" charset="0"/>
              </a:rPr>
              <a:t>(p-&gt;</a:t>
            </a:r>
            <a:r>
              <a:rPr lang="tr-TR" dirty="0" err="1" smtClean="0">
                <a:latin typeface="Consolas" panose="020B0609020204030204" pitchFamily="49" charset="0"/>
              </a:rPr>
              <a:t>proc_pid</a:t>
            </a:r>
            <a:r>
              <a:rPr lang="tr-TR" dirty="0" smtClean="0">
                <a:latin typeface="Consolas" panose="020B0609020204030204" pitchFamily="49" charset="0"/>
              </a:rPr>
              <a:t> == pid) {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 smtClean="0"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latin typeface="Consolas" panose="020B0609020204030204" pitchFamily="49" charset="0"/>
              </a:rPr>
              <a:t>found</a:t>
            </a:r>
            <a:r>
              <a:rPr lang="tr-TR" dirty="0" smtClean="0">
                <a:latin typeface="Consolas" panose="020B0609020204030204" pitchFamily="49" charset="0"/>
              </a:rPr>
              <a:t> </a:t>
            </a:r>
            <a:r>
              <a:rPr lang="tr-TR" dirty="0">
                <a:latin typeface="Consolas" panose="020B0609020204030204" pitchFamily="49" charset="0"/>
              </a:rPr>
              <a:t>= 1;</a:t>
            </a:r>
          </a:p>
          <a:p>
            <a:pPr marL="0" indent="0">
              <a:buNone/>
            </a:pPr>
            <a:r>
              <a:rPr lang="tr-TR" dirty="0" smtClean="0">
                <a:latin typeface="Consolas" panose="020B0609020204030204" pitchFamily="49" charset="0"/>
              </a:rPr>
              <a:t>    </a:t>
            </a:r>
            <a:r>
              <a:rPr lang="tr-TR" b="1" dirty="0" smtClean="0">
                <a:latin typeface="Consolas" panose="020B0609020204030204" pitchFamily="49" charset="0"/>
              </a:rPr>
              <a:t>break</a:t>
            </a:r>
            <a:r>
              <a:rPr lang="tr-TR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tr-TR" dirty="0" smtClean="0">
                <a:latin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}</a:t>
            </a:r>
            <a:endParaRPr lang="tr-TR" dirty="0"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71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Yararlı Teknikler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Donanım detaylarını gizleme (</a:t>
            </a:r>
            <a:r>
              <a:rPr lang="tr-TR" i="1" dirty="0" err="1" smtClean="0"/>
              <a:t>hiding</a:t>
            </a:r>
            <a:r>
              <a:rPr lang="tr-TR" i="1" dirty="0" smtClean="0"/>
              <a:t> hardware </a:t>
            </a:r>
            <a:r>
              <a:rPr lang="tr-TR" i="1" dirty="0" err="1" smtClean="0"/>
              <a:t>details</a:t>
            </a:r>
            <a:r>
              <a:rPr lang="tr-TR" dirty="0" smtClean="0"/>
              <a:t>)</a:t>
            </a:r>
            <a:endParaRPr lang="tr-TR" dirty="0" smtClean="0"/>
          </a:p>
          <a:p>
            <a:r>
              <a:rPr lang="tr-TR" dirty="0" smtClean="0"/>
              <a:t>Tekrar </a:t>
            </a:r>
            <a:r>
              <a:rPr lang="tr-TR" dirty="0" smtClean="0"/>
              <a:t>kullanılabilirlik (</a:t>
            </a:r>
            <a:r>
              <a:rPr lang="tr-TR" i="1" dirty="0" err="1" smtClean="0"/>
              <a:t>reusability</a:t>
            </a:r>
            <a:r>
              <a:rPr lang="tr-TR" dirty="0" smtClean="0"/>
              <a:t>)</a:t>
            </a:r>
          </a:p>
          <a:p>
            <a:r>
              <a:rPr lang="tr-TR" dirty="0"/>
              <a:t>Y</a:t>
            </a:r>
            <a:r>
              <a:rPr lang="tr-TR" dirty="0" smtClean="0"/>
              <a:t>eniden giriş (</a:t>
            </a:r>
            <a:r>
              <a:rPr lang="tr-TR" i="1" dirty="0" err="1" smtClean="0"/>
              <a:t>reentrancy</a:t>
            </a:r>
            <a:r>
              <a:rPr lang="tr-TR" dirty="0" smtClean="0"/>
              <a:t>)</a:t>
            </a:r>
          </a:p>
          <a:p>
            <a:r>
              <a:rPr lang="tr-TR" dirty="0" smtClean="0"/>
              <a:t>Kaba kuvvet (</a:t>
            </a:r>
            <a:r>
              <a:rPr lang="tr-TR" i="1" dirty="0" err="1" smtClean="0"/>
              <a:t>brute</a:t>
            </a:r>
            <a:r>
              <a:rPr lang="tr-TR" i="1" dirty="0" smtClean="0"/>
              <a:t> </a:t>
            </a:r>
            <a:r>
              <a:rPr lang="tr-TR" i="1" dirty="0" err="1" smtClean="0"/>
              <a:t>force</a:t>
            </a:r>
            <a:r>
              <a:rPr lang="tr-TR" dirty="0" smtClean="0"/>
              <a:t>)</a:t>
            </a:r>
          </a:p>
          <a:p>
            <a:r>
              <a:rPr lang="tr-TR" dirty="0" smtClean="0"/>
              <a:t>Önce hataları kontrol </a:t>
            </a:r>
            <a:r>
              <a:rPr lang="tr-TR" dirty="0" smtClean="0"/>
              <a:t>etme </a:t>
            </a:r>
            <a:r>
              <a:rPr lang="tr-TR" dirty="0" smtClean="0"/>
              <a:t>(</a:t>
            </a:r>
            <a:r>
              <a:rPr lang="tr-TR" i="1" dirty="0" err="1" smtClean="0"/>
              <a:t>check</a:t>
            </a:r>
            <a:r>
              <a:rPr lang="tr-TR" i="1" dirty="0" smtClean="0"/>
              <a:t> </a:t>
            </a:r>
            <a:r>
              <a:rPr lang="tr-TR" i="1" dirty="0" err="1" smtClean="0"/>
              <a:t>for</a:t>
            </a:r>
            <a:r>
              <a:rPr lang="tr-TR" i="1" dirty="0" smtClean="0"/>
              <a:t> </a:t>
            </a:r>
            <a:r>
              <a:rPr lang="tr-TR" i="1" dirty="0" err="1" smtClean="0"/>
              <a:t>errors</a:t>
            </a:r>
            <a:r>
              <a:rPr lang="tr-TR" i="1" dirty="0" smtClean="0"/>
              <a:t> </a:t>
            </a:r>
            <a:r>
              <a:rPr lang="tr-TR" i="1" dirty="0" err="1" smtClean="0"/>
              <a:t>first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776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Performans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İşletim sistemleri neden yavaş?</a:t>
            </a:r>
          </a:p>
          <a:p>
            <a:r>
              <a:rPr lang="tr-TR" dirty="0" smtClean="0"/>
              <a:t>Neler optimize edilmeli?</a:t>
            </a:r>
          </a:p>
          <a:p>
            <a:r>
              <a:rPr lang="tr-TR" dirty="0" smtClean="0"/>
              <a:t>Uzay-zaman takasları </a:t>
            </a:r>
            <a:r>
              <a:rPr lang="tr-TR" dirty="0" smtClean="0"/>
              <a:t>(</a:t>
            </a:r>
            <a:r>
              <a:rPr lang="tr-TR" i="1" dirty="0" smtClean="0"/>
              <a:t>swap </a:t>
            </a:r>
            <a:r>
              <a:rPr lang="tr-TR" i="1" dirty="0" err="1" smtClean="0"/>
              <a:t>space</a:t>
            </a:r>
            <a:r>
              <a:rPr lang="tr-TR" i="1" dirty="0"/>
              <a:t>-</a:t>
            </a:r>
            <a:r>
              <a:rPr lang="tr-TR" i="1" dirty="0" smtClean="0"/>
              <a:t>time</a:t>
            </a:r>
            <a:r>
              <a:rPr lang="tr-TR" dirty="0" smtClean="0"/>
              <a:t>)</a:t>
            </a:r>
          </a:p>
          <a:p>
            <a:r>
              <a:rPr lang="tr-TR" dirty="0" smtClean="0"/>
              <a:t>Önbelleğe almak (</a:t>
            </a:r>
            <a:r>
              <a:rPr lang="tr-TR" i="1" dirty="0" err="1" smtClean="0"/>
              <a:t>caching</a:t>
            </a:r>
            <a:r>
              <a:rPr lang="tr-TR" dirty="0" smtClean="0"/>
              <a:t>)</a:t>
            </a:r>
          </a:p>
          <a:p>
            <a:r>
              <a:rPr lang="tr-TR" dirty="0" smtClean="0"/>
              <a:t>İpuçları (</a:t>
            </a:r>
            <a:r>
              <a:rPr lang="tr-TR" i="1" dirty="0" err="1" smtClean="0"/>
              <a:t>hints</a:t>
            </a:r>
            <a:r>
              <a:rPr lang="tr-TR" dirty="0" smtClean="0"/>
              <a:t>)</a:t>
            </a:r>
          </a:p>
          <a:p>
            <a:r>
              <a:rPr lang="tr-TR" dirty="0" smtClean="0"/>
              <a:t>Yerelliği kullanmak (</a:t>
            </a:r>
            <a:r>
              <a:rPr lang="tr-TR" i="1" dirty="0" err="1" smtClean="0"/>
              <a:t>exploiting</a:t>
            </a:r>
            <a:r>
              <a:rPr lang="tr-TR" i="1" dirty="0" smtClean="0"/>
              <a:t> </a:t>
            </a:r>
            <a:r>
              <a:rPr lang="tr-TR" i="1" dirty="0" err="1" smtClean="0"/>
              <a:t>locality</a:t>
            </a:r>
            <a:r>
              <a:rPr lang="tr-TR" dirty="0" smtClean="0"/>
              <a:t>)</a:t>
            </a:r>
          </a:p>
          <a:p>
            <a:r>
              <a:rPr lang="tr-TR" dirty="0" smtClean="0"/>
              <a:t>Genel durumu optimize </a:t>
            </a:r>
            <a:r>
              <a:rPr lang="tr-TR" dirty="0" smtClean="0"/>
              <a:t>etme (</a:t>
            </a:r>
            <a:r>
              <a:rPr lang="tr-TR" i="1" dirty="0" err="1" smtClean="0"/>
              <a:t>optimization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632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Donanımı Gizleme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CPU </a:t>
            </a:r>
            <a:r>
              <a:rPr lang="tr-TR" dirty="0" smtClean="0"/>
              <a:t>türüne bağlı </a:t>
            </a:r>
            <a:r>
              <a:rPr lang="tr-TR" dirty="0"/>
              <a:t>koşullu </a:t>
            </a:r>
            <a:r>
              <a:rPr lang="tr-TR" dirty="0" smtClean="0"/>
              <a:t>derleme.</a:t>
            </a:r>
            <a:endParaRPr lang="tr-TR" dirty="0" smtClean="0"/>
          </a:p>
          <a:p>
            <a:endParaRPr lang="tr-TR" dirty="0"/>
          </a:p>
          <a:p>
            <a:pPr marL="0" indent="0">
              <a:buNone/>
            </a:pPr>
            <a:r>
              <a:rPr lang="tr-TR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#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include</a:t>
            </a:r>
            <a:r>
              <a:rPr lang="tr-TR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latin typeface="Consolas" panose="020B0609020204030204" pitchFamily="49" charset="0"/>
              </a:rPr>
              <a:t>"</a:t>
            </a:r>
            <a:r>
              <a:rPr lang="tr-TR" dirty="0" err="1">
                <a:latin typeface="Consolas" panose="020B0609020204030204" pitchFamily="49" charset="0"/>
              </a:rPr>
              <a:t>config.h</a:t>
            </a:r>
            <a:r>
              <a:rPr lang="tr-TR" dirty="0">
                <a:latin typeface="Consolas" panose="020B0609020204030204" pitchFamily="49" charset="0"/>
              </a:rPr>
              <a:t>" </a:t>
            </a:r>
            <a:endParaRPr lang="tr-TR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 err="1" smtClean="0">
                <a:latin typeface="Consolas" panose="020B0609020204030204" pitchFamily="49" charset="0"/>
              </a:rPr>
              <a:t>init</a:t>
            </a:r>
            <a:r>
              <a:rPr lang="tr-TR" dirty="0" smtClean="0">
                <a:latin typeface="Consolas" panose="020B0609020204030204" pitchFamily="49" charset="0"/>
              </a:rPr>
              <a:t>() {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#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latin typeface="Consolas" panose="020B0609020204030204" pitchFamily="49" charset="0"/>
              </a:rPr>
              <a:t>(CPU == PENTIUM)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/* Pentium </a:t>
            </a:r>
            <a:r>
              <a:rPr lang="tr-TR" dirty="0" err="1">
                <a:latin typeface="Consolas" panose="020B0609020204030204" pitchFamily="49" charset="0"/>
              </a:rPr>
              <a:t>initialization</a:t>
            </a:r>
            <a:r>
              <a:rPr lang="tr-TR" dirty="0">
                <a:latin typeface="Consolas" panose="020B0609020204030204" pitchFamily="49" charset="0"/>
              </a:rPr>
              <a:t> here. */ </a:t>
            </a:r>
            <a:endParaRPr lang="tr-TR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22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#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endif</a:t>
            </a:r>
            <a:endParaRPr lang="tr-TR" sz="22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#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latin typeface="Consolas" panose="020B0609020204030204" pitchFamily="49" charset="0"/>
              </a:rPr>
              <a:t>(CPU == ULTRASPARC)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/* </a:t>
            </a:r>
            <a:r>
              <a:rPr lang="tr-TR" dirty="0" err="1">
                <a:latin typeface="Consolas" panose="020B0609020204030204" pitchFamily="49" charset="0"/>
              </a:rPr>
              <a:t>UltraSPARC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initialization</a:t>
            </a:r>
            <a:r>
              <a:rPr lang="tr-TR" dirty="0">
                <a:latin typeface="Consolas" panose="020B0609020204030204" pitchFamily="49" charset="0"/>
              </a:rPr>
              <a:t> here. */ </a:t>
            </a:r>
            <a:endParaRPr lang="tr-TR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22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#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endif</a:t>
            </a:r>
            <a:endParaRPr lang="tr-TR" sz="2200" b="1" dirty="0">
              <a:solidFill>
                <a:srgbClr val="7F0055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948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Donanımı Gizleme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Sözcük (</a:t>
            </a:r>
            <a:r>
              <a:rPr lang="tr-TR" i="1" dirty="0" err="1" smtClean="0"/>
              <a:t>word</a:t>
            </a:r>
            <a:r>
              <a:rPr lang="tr-TR" dirty="0" smtClean="0"/>
              <a:t>) </a:t>
            </a:r>
            <a:r>
              <a:rPr lang="tr-TR" dirty="0" smtClean="0"/>
              <a:t>uzunluğuna </a:t>
            </a:r>
            <a:r>
              <a:rPr lang="tr-TR" dirty="0" smtClean="0"/>
              <a:t>bağlı </a:t>
            </a:r>
            <a:r>
              <a:rPr lang="tr-TR" dirty="0"/>
              <a:t>koşullu </a:t>
            </a:r>
            <a:r>
              <a:rPr lang="tr-TR" dirty="0" smtClean="0"/>
              <a:t>derleme.</a:t>
            </a:r>
            <a:endParaRPr lang="tr-TR" dirty="0" smtClean="0"/>
          </a:p>
          <a:p>
            <a:endParaRPr lang="tr-TR" dirty="0"/>
          </a:p>
          <a:p>
            <a:pPr marL="0" indent="0">
              <a:buNone/>
            </a:pPr>
            <a:r>
              <a:rPr lang="en-US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#include </a:t>
            </a:r>
            <a:r>
              <a:rPr lang="en-US" dirty="0">
                <a:latin typeface="Consolas" panose="020B0609020204030204" pitchFamily="49" charset="0"/>
              </a:rPr>
              <a:t>"</a:t>
            </a:r>
            <a:r>
              <a:rPr lang="en-US" dirty="0" err="1">
                <a:latin typeface="Consolas" panose="020B0609020204030204" pitchFamily="49" charset="0"/>
              </a:rPr>
              <a:t>config.h</a:t>
            </a:r>
            <a:r>
              <a:rPr lang="en-US" dirty="0">
                <a:latin typeface="Consolas" panose="020B0609020204030204" pitchFamily="49" charset="0"/>
              </a:rPr>
              <a:t>"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#if </a:t>
            </a:r>
            <a:r>
              <a:rPr lang="en-US" dirty="0">
                <a:latin typeface="Consolas" panose="020B0609020204030204" pitchFamily="49" charset="0"/>
              </a:rPr>
              <a:t>(WORD_LENGTH == 32) </a:t>
            </a:r>
            <a:endParaRPr lang="tr-TR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 smtClean="0">
                <a:latin typeface="Consolas" panose="020B0609020204030204" pitchFamily="49" charset="0"/>
              </a:rPr>
              <a:t>	</a:t>
            </a:r>
            <a:r>
              <a:rPr lang="en-US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typedef</a:t>
            </a:r>
            <a:r>
              <a:rPr lang="en-US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Register; </a:t>
            </a:r>
            <a:endParaRPr lang="tr-TR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2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#</a:t>
            </a:r>
            <a:r>
              <a:rPr lang="en-US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endif</a:t>
            </a:r>
            <a:endParaRPr lang="en-US" sz="22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#if </a:t>
            </a:r>
            <a:r>
              <a:rPr lang="en-US" dirty="0">
                <a:latin typeface="Consolas" panose="020B0609020204030204" pitchFamily="49" charset="0"/>
              </a:rPr>
              <a:t>(WORD_LENGTH == 64) </a:t>
            </a:r>
            <a:endParaRPr lang="tr-TR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typedef</a:t>
            </a:r>
            <a:r>
              <a:rPr lang="en-US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 long </a:t>
            </a:r>
            <a:r>
              <a:rPr lang="en-US" dirty="0">
                <a:latin typeface="Consolas" panose="020B0609020204030204" pitchFamily="49" charset="0"/>
              </a:rPr>
              <a:t>Register; </a:t>
            </a:r>
            <a:endParaRPr lang="tr-TR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2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#</a:t>
            </a:r>
            <a:r>
              <a:rPr lang="en-US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endif</a:t>
            </a:r>
            <a:endParaRPr lang="en-US" sz="22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Register RO, R1, R2, R3;</a:t>
            </a:r>
            <a:endParaRPr lang="tr-TR" dirty="0"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391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Uzay Zaman Takasları 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Bir bayttaki bitleri sayma </a:t>
            </a:r>
            <a:r>
              <a:rPr lang="tr-TR" dirty="0" smtClean="0"/>
              <a:t>yordamı. </a:t>
            </a:r>
            <a:endParaRPr lang="tr-TR" dirty="0" smtClean="0"/>
          </a:p>
          <a:p>
            <a:pPr marL="0" indent="0">
              <a:buNone/>
            </a:pPr>
            <a:endParaRPr lang="tr-TR" sz="2000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#define </a:t>
            </a:r>
            <a:r>
              <a:rPr lang="en-US" sz="2000" dirty="0">
                <a:latin typeface="Consolas" panose="020B0609020204030204" pitchFamily="49" charset="0"/>
              </a:rPr>
              <a:t>BYTE_SIZE 8 </a:t>
            </a:r>
            <a:r>
              <a:rPr lang="en-US" sz="2200" dirty="0">
                <a:solidFill>
                  <a:srgbClr val="3F7F5F"/>
                </a:solidFill>
                <a:latin typeface="Consolas" panose="020B0609020204030204" pitchFamily="49" charset="0"/>
              </a:rPr>
              <a:t>/* A byte contains 8 bits */</a:t>
            </a:r>
          </a:p>
          <a:p>
            <a:pPr marL="0" indent="0">
              <a:buNone/>
            </a:pPr>
            <a:r>
              <a:rPr lang="tr-TR" sz="2000" dirty="0" smtClean="0">
                <a:latin typeface="Consolas" panose="020B0609020204030204" pitchFamily="49" charset="0"/>
              </a:rPr>
              <a:t>  </a:t>
            </a:r>
            <a:r>
              <a:rPr lang="en-US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 smtClean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bit_count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byte</a:t>
            </a:r>
            <a:r>
              <a:rPr lang="en-US" sz="2000" dirty="0" smtClean="0">
                <a:latin typeface="Consolas" panose="020B0609020204030204" pitchFamily="49" charset="0"/>
              </a:rPr>
              <a:t>)</a:t>
            </a:r>
            <a:r>
              <a:rPr lang="tr-TR" sz="2000" dirty="0" smtClean="0">
                <a:latin typeface="Consolas" panose="020B0609020204030204" pitchFamily="49" charset="0"/>
              </a:rPr>
              <a:t> { </a:t>
            </a:r>
            <a:r>
              <a:rPr lang="en-US" sz="2200" dirty="0">
                <a:solidFill>
                  <a:srgbClr val="3F7F5F"/>
                </a:solidFill>
                <a:latin typeface="Consolas" panose="020B0609020204030204" pitchFamily="49" charset="0"/>
              </a:rPr>
              <a:t>/* Count the bits in a byte. */</a:t>
            </a:r>
          </a:p>
          <a:p>
            <a:pPr marL="0" indent="0">
              <a:buNone/>
            </a:pPr>
            <a:r>
              <a:rPr lang="tr-TR" sz="2000" dirty="0" smtClean="0">
                <a:latin typeface="Consolas" panose="020B0609020204030204" pitchFamily="49" charset="0"/>
              </a:rPr>
              <a:t>  </a:t>
            </a:r>
            <a:r>
              <a:rPr lang="en-US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 smtClean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, count = 0;</a:t>
            </a:r>
          </a:p>
          <a:p>
            <a:pPr marL="0" indent="0">
              <a:buNone/>
            </a:pPr>
            <a:r>
              <a:rPr lang="tr-TR" sz="2000" dirty="0" smtClean="0">
                <a:latin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 smtClean="0"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 = 0; 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 &lt; BYTE_SIZE; 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++) </a:t>
            </a:r>
            <a:r>
              <a:rPr lang="en-US" sz="2200" dirty="0">
                <a:solidFill>
                  <a:srgbClr val="3F7F5F"/>
                </a:solidFill>
                <a:latin typeface="Consolas" panose="020B0609020204030204" pitchFamily="49" charset="0"/>
              </a:rPr>
              <a:t>/* loop over the bits in a byte </a:t>
            </a:r>
            <a:r>
              <a:rPr lang="en-US" sz="2200" dirty="0" smtClean="0">
                <a:solidFill>
                  <a:srgbClr val="3F7F5F"/>
                </a:solidFill>
                <a:latin typeface="Consolas" panose="020B0609020204030204" pitchFamily="49" charset="0"/>
              </a:rPr>
              <a:t>*/</a:t>
            </a:r>
            <a:endParaRPr lang="tr-TR" sz="22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2000" dirty="0" smtClean="0">
                <a:latin typeface="Consolas" panose="020B0609020204030204" pitchFamily="49" charset="0"/>
              </a:rPr>
              <a:t>    </a:t>
            </a:r>
            <a:r>
              <a:rPr lang="en-US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 smtClean="0"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((byte &gt;&gt; 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) &amp; 1) count++; </a:t>
            </a:r>
            <a:r>
              <a:rPr lang="en-US" sz="2200" dirty="0">
                <a:solidFill>
                  <a:srgbClr val="3F7F5F"/>
                </a:solidFill>
                <a:latin typeface="Consolas" panose="020B0609020204030204" pitchFamily="49" charset="0"/>
              </a:rPr>
              <a:t>/* if this bit </a:t>
            </a:r>
            <a:r>
              <a:rPr lang="en-US" sz="2200" dirty="0" smtClean="0">
                <a:solidFill>
                  <a:srgbClr val="3F7F5F"/>
                </a:solidFill>
                <a:latin typeface="Consolas" panose="020B0609020204030204" pitchFamily="49" charset="0"/>
              </a:rPr>
              <a:t>is </a:t>
            </a:r>
            <a:r>
              <a:rPr lang="en-US" sz="2200" dirty="0">
                <a:solidFill>
                  <a:srgbClr val="3F7F5F"/>
                </a:solidFill>
                <a:latin typeface="Consolas" panose="020B0609020204030204" pitchFamily="49" charset="0"/>
              </a:rPr>
              <a:t>1, add to count </a:t>
            </a:r>
            <a:r>
              <a:rPr lang="en-US" sz="2200" dirty="0" smtClean="0">
                <a:solidFill>
                  <a:srgbClr val="3F7F5F"/>
                </a:solidFill>
                <a:latin typeface="Consolas" panose="020B0609020204030204" pitchFamily="49" charset="0"/>
              </a:rPr>
              <a:t>*/</a:t>
            </a:r>
            <a:endParaRPr lang="tr-TR" sz="22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2000" dirty="0" smtClean="0">
                <a:latin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 smtClean="0">
                <a:latin typeface="Consolas" panose="020B0609020204030204" pitchFamily="49" charset="0"/>
              </a:rPr>
              <a:t>(count);</a:t>
            </a:r>
            <a:r>
              <a:rPr lang="tr-TR" sz="2000" dirty="0" smtClean="0"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3F7F5F"/>
                </a:solidFill>
                <a:latin typeface="Consolas" panose="020B0609020204030204" pitchFamily="49" charset="0"/>
              </a:rPr>
              <a:t>/* return sum */</a:t>
            </a:r>
            <a:endParaRPr lang="tr-TR" sz="22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640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Uzay Zaman Takasları 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(</a:t>
            </a:r>
            <a:r>
              <a:rPr lang="tr-TR" dirty="0"/>
              <a:t>b) Bitleri saymak için bir makro. </a:t>
            </a:r>
            <a:endParaRPr lang="tr-TR" dirty="0" smtClean="0"/>
          </a:p>
          <a:p>
            <a:endParaRPr lang="tr-TR" dirty="0"/>
          </a:p>
          <a:p>
            <a:pPr marL="0" indent="0">
              <a:buNone/>
            </a:pPr>
            <a:r>
              <a:rPr lang="en-US" sz="2200" dirty="0">
                <a:solidFill>
                  <a:srgbClr val="3F7F5F"/>
                </a:solidFill>
                <a:latin typeface="Consolas" panose="020B0609020204030204" pitchFamily="49" charset="0"/>
              </a:rPr>
              <a:t>/*Macro to add up the bits in a byte and return the sum. */</a:t>
            </a:r>
          </a:p>
          <a:p>
            <a:pPr marL="0" indent="0" algn="l">
              <a:buNone/>
            </a:pPr>
            <a:r>
              <a:rPr lang="en-US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#define </a:t>
            </a:r>
            <a:r>
              <a:rPr lang="en-US" sz="2400" dirty="0" err="1">
                <a:latin typeface="Consolas" panose="020B0609020204030204" pitchFamily="49" charset="0"/>
              </a:rPr>
              <a:t>bit_count</a:t>
            </a:r>
            <a:r>
              <a:rPr lang="en-US" sz="2400" dirty="0">
                <a:latin typeface="Consolas" panose="020B0609020204030204" pitchFamily="49" charset="0"/>
              </a:rPr>
              <a:t>(b) ((</a:t>
            </a:r>
            <a:r>
              <a:rPr lang="en-US" sz="2400" dirty="0" smtClean="0">
                <a:latin typeface="Consolas" panose="020B0609020204030204" pitchFamily="49" charset="0"/>
              </a:rPr>
              <a:t>b</a:t>
            </a:r>
            <a:r>
              <a:rPr lang="tr-TR" sz="2400" dirty="0" smtClean="0"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latin typeface="Consolas" panose="020B0609020204030204" pitchFamily="49" charset="0"/>
              </a:rPr>
              <a:t>&amp;</a:t>
            </a:r>
            <a:r>
              <a:rPr lang="tr-TR" sz="2400" dirty="0" smtClean="0"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latin typeface="Consolas" panose="020B0609020204030204" pitchFamily="49" charset="0"/>
              </a:rPr>
              <a:t>1</a:t>
            </a:r>
            <a:r>
              <a:rPr lang="en-US" sz="2400" dirty="0">
                <a:latin typeface="Consolas" panose="020B0609020204030204" pitchFamily="49" charset="0"/>
              </a:rPr>
              <a:t>) + ((b&gt;&gt;1</a:t>
            </a:r>
            <a:r>
              <a:rPr lang="en-US" sz="2400" dirty="0" smtClean="0">
                <a:latin typeface="Consolas" panose="020B0609020204030204" pitchFamily="49" charset="0"/>
              </a:rPr>
              <a:t>)</a:t>
            </a:r>
            <a:r>
              <a:rPr lang="tr-TR" sz="2400" dirty="0" smtClean="0"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latin typeface="Consolas" panose="020B0609020204030204" pitchFamily="49" charset="0"/>
              </a:rPr>
              <a:t>&amp;</a:t>
            </a:r>
            <a:r>
              <a:rPr lang="tr-TR" sz="2400" dirty="0" smtClean="0"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latin typeface="Consolas" panose="020B0609020204030204" pitchFamily="49" charset="0"/>
              </a:rPr>
              <a:t>1</a:t>
            </a:r>
            <a:r>
              <a:rPr lang="en-US" sz="2400" dirty="0">
                <a:latin typeface="Consolas" panose="020B0609020204030204" pitchFamily="49" charset="0"/>
              </a:rPr>
              <a:t>) + ((b&gt;&gt;2</a:t>
            </a:r>
            <a:r>
              <a:rPr lang="en-US" sz="2400" dirty="0" smtClean="0">
                <a:latin typeface="Consolas" panose="020B0609020204030204" pitchFamily="49" charset="0"/>
              </a:rPr>
              <a:t>)</a:t>
            </a:r>
            <a:r>
              <a:rPr lang="tr-TR" sz="2400" dirty="0" smtClean="0"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latin typeface="Consolas" panose="020B0609020204030204" pitchFamily="49" charset="0"/>
              </a:rPr>
              <a:t>&amp;</a:t>
            </a:r>
            <a:r>
              <a:rPr lang="tr-TR" sz="2400" dirty="0" smtClean="0"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latin typeface="Consolas" panose="020B0609020204030204" pitchFamily="49" charset="0"/>
              </a:rPr>
              <a:t>1</a:t>
            </a:r>
            <a:r>
              <a:rPr lang="en-US" sz="2400" dirty="0">
                <a:latin typeface="Consolas" panose="020B0609020204030204" pitchFamily="49" charset="0"/>
              </a:rPr>
              <a:t>) + ((b&gt;&gt;3</a:t>
            </a:r>
            <a:r>
              <a:rPr lang="en-US" sz="2400" dirty="0" smtClean="0">
                <a:latin typeface="Consolas" panose="020B0609020204030204" pitchFamily="49" charset="0"/>
              </a:rPr>
              <a:t>)</a:t>
            </a:r>
            <a:r>
              <a:rPr lang="tr-TR" sz="2400" dirty="0" smtClean="0"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latin typeface="Consolas" panose="020B0609020204030204" pitchFamily="49" charset="0"/>
              </a:rPr>
              <a:t>&amp;</a:t>
            </a:r>
            <a:r>
              <a:rPr lang="tr-TR" sz="2400" dirty="0" smtClean="0"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latin typeface="Consolas" panose="020B0609020204030204" pitchFamily="49" charset="0"/>
              </a:rPr>
              <a:t>1</a:t>
            </a:r>
            <a:r>
              <a:rPr lang="en-US" sz="2400" dirty="0">
                <a:latin typeface="Consolas" panose="020B0609020204030204" pitchFamily="49" charset="0"/>
              </a:rPr>
              <a:t>) </a:t>
            </a:r>
            <a:r>
              <a:rPr lang="en-US" sz="2400" dirty="0" smtClean="0">
                <a:latin typeface="Consolas" panose="020B0609020204030204" pitchFamily="49" charset="0"/>
              </a:rPr>
              <a:t>+ </a:t>
            </a:r>
            <a:r>
              <a:rPr lang="en-US" sz="2400" dirty="0">
                <a:latin typeface="Consolas" panose="020B0609020204030204" pitchFamily="49" charset="0"/>
              </a:rPr>
              <a:t>((b&gt;&gt;4</a:t>
            </a:r>
            <a:r>
              <a:rPr lang="en-US" sz="2400" dirty="0" smtClean="0">
                <a:latin typeface="Consolas" panose="020B0609020204030204" pitchFamily="49" charset="0"/>
              </a:rPr>
              <a:t>)</a:t>
            </a:r>
            <a:r>
              <a:rPr lang="tr-TR" sz="2400" dirty="0" smtClean="0"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latin typeface="Consolas" panose="020B0609020204030204" pitchFamily="49" charset="0"/>
              </a:rPr>
              <a:t>&amp;</a:t>
            </a:r>
            <a:r>
              <a:rPr lang="tr-TR" sz="2400" dirty="0" smtClean="0"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latin typeface="Consolas" panose="020B0609020204030204" pitchFamily="49" charset="0"/>
              </a:rPr>
              <a:t>1</a:t>
            </a:r>
            <a:r>
              <a:rPr lang="en-US" sz="2400" dirty="0">
                <a:latin typeface="Consolas" panose="020B0609020204030204" pitchFamily="49" charset="0"/>
              </a:rPr>
              <a:t>) + ((b&gt;&gt;5</a:t>
            </a:r>
            <a:r>
              <a:rPr lang="en-US" sz="2400" dirty="0" smtClean="0">
                <a:latin typeface="Consolas" panose="020B0609020204030204" pitchFamily="49" charset="0"/>
              </a:rPr>
              <a:t>)</a:t>
            </a:r>
            <a:r>
              <a:rPr lang="tr-TR" sz="2400" dirty="0" smtClean="0"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latin typeface="Consolas" panose="020B0609020204030204" pitchFamily="49" charset="0"/>
              </a:rPr>
              <a:t>&amp;</a:t>
            </a:r>
            <a:r>
              <a:rPr lang="tr-TR" sz="2400" dirty="0" smtClean="0"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latin typeface="Consolas" panose="020B0609020204030204" pitchFamily="49" charset="0"/>
              </a:rPr>
              <a:t>1</a:t>
            </a:r>
            <a:r>
              <a:rPr lang="en-US" sz="2400" dirty="0">
                <a:latin typeface="Consolas" panose="020B0609020204030204" pitchFamily="49" charset="0"/>
              </a:rPr>
              <a:t>) + ((b&gt;&gt;6</a:t>
            </a:r>
            <a:r>
              <a:rPr lang="en-US" sz="2400" dirty="0" smtClean="0">
                <a:latin typeface="Consolas" panose="020B0609020204030204" pitchFamily="49" charset="0"/>
              </a:rPr>
              <a:t>)</a:t>
            </a:r>
            <a:r>
              <a:rPr lang="tr-TR" sz="2400" dirty="0" smtClean="0"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latin typeface="Consolas" panose="020B0609020204030204" pitchFamily="49" charset="0"/>
              </a:rPr>
              <a:t>&amp;</a:t>
            </a:r>
            <a:r>
              <a:rPr lang="tr-TR" sz="2400" dirty="0" smtClean="0"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latin typeface="Consolas" panose="020B0609020204030204" pitchFamily="49" charset="0"/>
              </a:rPr>
              <a:t>1</a:t>
            </a:r>
            <a:r>
              <a:rPr lang="en-US" sz="2400" dirty="0">
                <a:latin typeface="Consolas" panose="020B0609020204030204" pitchFamily="49" charset="0"/>
              </a:rPr>
              <a:t>) + ((b&gt;&gt;7</a:t>
            </a:r>
            <a:r>
              <a:rPr lang="en-US" sz="2400" dirty="0" smtClean="0">
                <a:latin typeface="Consolas" panose="020B0609020204030204" pitchFamily="49" charset="0"/>
              </a:rPr>
              <a:t>)</a:t>
            </a:r>
            <a:r>
              <a:rPr lang="tr-TR" sz="2400" dirty="0" smtClean="0"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latin typeface="Consolas" panose="020B0609020204030204" pitchFamily="49" charset="0"/>
              </a:rPr>
              <a:t>&amp;</a:t>
            </a:r>
            <a:r>
              <a:rPr lang="tr-TR" sz="2400" dirty="0" smtClean="0"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latin typeface="Consolas" panose="020B0609020204030204" pitchFamily="49" charset="0"/>
              </a:rPr>
              <a:t>1</a:t>
            </a:r>
            <a:r>
              <a:rPr lang="en-US" sz="2400" dirty="0">
                <a:latin typeface="Consolas" panose="020B0609020204030204" pitchFamily="49" charset="0"/>
              </a:rPr>
              <a:t>))</a:t>
            </a:r>
            <a:endParaRPr lang="tr-TR" sz="2400" dirty="0"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858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Uzay Zaman Takasları 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(</a:t>
            </a:r>
            <a:r>
              <a:rPr lang="tr-TR" dirty="0"/>
              <a:t>c) Tabloya </a:t>
            </a:r>
            <a:r>
              <a:rPr lang="tr-TR" dirty="0" smtClean="0"/>
              <a:t>bakma</a:t>
            </a:r>
          </a:p>
          <a:p>
            <a:endParaRPr lang="tr-TR" dirty="0"/>
          </a:p>
          <a:p>
            <a:pPr marL="0" indent="0">
              <a:buNone/>
            </a:pPr>
            <a:r>
              <a:rPr lang="en-US" sz="2200" dirty="0">
                <a:solidFill>
                  <a:srgbClr val="3F7F5F"/>
                </a:solidFill>
                <a:latin typeface="Consolas" panose="020B0609020204030204" pitchFamily="49" charset="0"/>
              </a:rPr>
              <a:t>/*Macro to look up the bit count in a table. */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latin typeface="Consolas" panose="020B0609020204030204" pitchFamily="49" charset="0"/>
              </a:rPr>
              <a:t> bits[256] = {0, 1, 1, 2, 1, 2, 2, 3, 1, 2, 2, 3, 2, 3, 3, 4, 1, 2, 2, 3, 2, 3, 3, ...}; </a:t>
            </a:r>
            <a:endParaRPr lang="tr-TR" sz="2400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#define </a:t>
            </a:r>
            <a:r>
              <a:rPr lang="en-US" sz="2400" dirty="0" err="1">
                <a:latin typeface="Consolas" panose="020B0609020204030204" pitchFamily="49" charset="0"/>
              </a:rPr>
              <a:t>bit_count</a:t>
            </a:r>
            <a:r>
              <a:rPr lang="en-US" sz="2400" dirty="0">
                <a:latin typeface="Consolas" panose="020B0609020204030204" pitchFamily="49" charset="0"/>
              </a:rPr>
              <a:t>(b) (</a:t>
            </a:r>
            <a:r>
              <a:rPr lang="en-US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</a:rPr>
              <a:t>) bits[b]</a:t>
            </a:r>
            <a:endParaRPr lang="tr-TR" sz="2400" dirty="0"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306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Uzay Zaman Takasları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457200" indent="-457200">
              <a:buAutoNum type="alphaLcParenBoth"/>
            </a:pPr>
            <a:r>
              <a:rPr lang="tr-TR" dirty="0" smtClean="0"/>
              <a:t>24 </a:t>
            </a:r>
            <a:r>
              <a:rPr lang="tr-TR" i="1" dirty="0" smtClean="0"/>
              <a:t>bit </a:t>
            </a:r>
            <a:r>
              <a:rPr lang="tr-TR" dirty="0" smtClean="0"/>
              <a:t>piksellik sıkıştırılmamış. </a:t>
            </a:r>
            <a:r>
              <a:rPr lang="tr-TR" dirty="0" smtClean="0"/>
              <a:t>(b</a:t>
            </a:r>
            <a:r>
              <a:rPr lang="tr-TR" dirty="0"/>
              <a:t>) </a:t>
            </a:r>
            <a:r>
              <a:rPr lang="tr-TR" dirty="0" smtClean="0"/>
              <a:t>8 </a:t>
            </a:r>
            <a:r>
              <a:rPr lang="tr-TR" i="1" dirty="0" smtClean="0"/>
              <a:t>bit</a:t>
            </a:r>
            <a:r>
              <a:rPr lang="tr-TR" dirty="0" smtClean="0"/>
              <a:t> piksellik GIF </a:t>
            </a:r>
            <a:r>
              <a:rPr lang="tr-TR" dirty="0"/>
              <a:t>ile </a:t>
            </a:r>
            <a:r>
              <a:rPr lang="tr-TR" dirty="0" smtClean="0"/>
              <a:t>sıkıştırılmış. </a:t>
            </a:r>
          </a:p>
          <a:p>
            <a:pPr marL="0" indent="0">
              <a:buNone/>
            </a:pPr>
            <a:r>
              <a:rPr lang="tr-TR" dirty="0" smtClean="0"/>
              <a:t>(</a:t>
            </a:r>
            <a:r>
              <a:rPr lang="tr-TR" dirty="0"/>
              <a:t>c) Renk </a:t>
            </a:r>
            <a:r>
              <a:rPr lang="tr-TR" dirty="0" smtClean="0"/>
              <a:t>paleti kullanılarak saklanan görüntü.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7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7493" y="2848813"/>
            <a:ext cx="7997014" cy="33581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4908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Önbelleğe </a:t>
            </a:r>
            <a:r>
              <a:rPr lang="tr-TR" dirty="0" smtClean="0"/>
              <a:t>Almak 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/</a:t>
            </a:r>
            <a:r>
              <a:rPr lang="tr-TR" dirty="0" err="1"/>
              <a:t>usr</a:t>
            </a:r>
            <a:r>
              <a:rPr lang="tr-TR" dirty="0"/>
              <a:t>/ast/</a:t>
            </a:r>
            <a:r>
              <a:rPr lang="tr-TR" dirty="0" err="1"/>
              <a:t>mbox'ı</a:t>
            </a:r>
            <a:r>
              <a:rPr lang="tr-TR" dirty="0"/>
              <a:t> aramak için aşağıdaki disk erişimleri gerekir</a:t>
            </a:r>
            <a:r>
              <a:rPr lang="tr-TR" dirty="0" smtClean="0"/>
              <a:t>:</a:t>
            </a:r>
          </a:p>
          <a:p>
            <a:endParaRPr lang="tr-TR" dirty="0"/>
          </a:p>
          <a:p>
            <a:r>
              <a:rPr lang="tr-TR" dirty="0" smtClean="0"/>
              <a:t>Kök </a:t>
            </a:r>
            <a:r>
              <a:rPr lang="tr-TR" dirty="0" smtClean="0"/>
              <a:t>dizin (</a:t>
            </a:r>
            <a:r>
              <a:rPr lang="tr-TR" i="1" dirty="0" err="1" smtClean="0"/>
              <a:t>root</a:t>
            </a:r>
            <a:r>
              <a:rPr lang="tr-TR" dirty="0" smtClean="0"/>
              <a:t>) </a:t>
            </a:r>
            <a:r>
              <a:rPr lang="tr-TR" dirty="0"/>
              <a:t>için </a:t>
            </a:r>
            <a:r>
              <a:rPr lang="tr-TR" i="1" dirty="0" smtClean="0"/>
              <a:t>i-</a:t>
            </a:r>
            <a:r>
              <a:rPr lang="tr-TR" i="1" dirty="0" err="1" smtClean="0"/>
              <a:t>node</a:t>
            </a:r>
            <a:r>
              <a:rPr lang="tr-TR" i="1" dirty="0" smtClean="0"/>
              <a:t> </a:t>
            </a:r>
            <a:r>
              <a:rPr lang="tr-TR" dirty="0" smtClean="0"/>
              <a:t>okunur </a:t>
            </a:r>
            <a:r>
              <a:rPr lang="tr-TR" dirty="0"/>
              <a:t>(</a:t>
            </a:r>
            <a:r>
              <a:rPr lang="tr-TR" i="1" dirty="0"/>
              <a:t>i-</a:t>
            </a:r>
            <a:r>
              <a:rPr lang="tr-TR" i="1" dirty="0" err="1"/>
              <a:t>node</a:t>
            </a:r>
            <a:r>
              <a:rPr lang="tr-TR" i="1" dirty="0"/>
              <a:t> 1</a:t>
            </a:r>
            <a:r>
              <a:rPr lang="tr-TR" dirty="0" smtClean="0"/>
              <a:t>).</a:t>
            </a:r>
          </a:p>
          <a:p>
            <a:r>
              <a:rPr lang="tr-TR" dirty="0" smtClean="0"/>
              <a:t>Kök </a:t>
            </a:r>
            <a:r>
              <a:rPr lang="tr-TR" dirty="0"/>
              <a:t>dizini </a:t>
            </a:r>
            <a:r>
              <a:rPr lang="tr-TR" dirty="0" smtClean="0"/>
              <a:t>okunur </a:t>
            </a:r>
            <a:r>
              <a:rPr lang="tr-TR" dirty="0"/>
              <a:t>(</a:t>
            </a:r>
            <a:r>
              <a:rPr lang="tr-TR" i="1" dirty="0"/>
              <a:t>blok 1</a:t>
            </a:r>
            <a:r>
              <a:rPr lang="tr-TR" dirty="0" smtClean="0"/>
              <a:t>).</a:t>
            </a:r>
          </a:p>
          <a:p>
            <a:r>
              <a:rPr lang="tr-TR" dirty="0" smtClean="0"/>
              <a:t>/</a:t>
            </a:r>
            <a:r>
              <a:rPr lang="tr-TR" dirty="0" err="1"/>
              <a:t>usr</a:t>
            </a:r>
            <a:r>
              <a:rPr lang="tr-TR" dirty="0"/>
              <a:t> için </a:t>
            </a:r>
            <a:r>
              <a:rPr lang="tr-TR" i="1" dirty="0" smtClean="0"/>
              <a:t>i-</a:t>
            </a:r>
            <a:r>
              <a:rPr lang="tr-TR" i="1" dirty="0" err="1" smtClean="0"/>
              <a:t>node</a:t>
            </a:r>
            <a:r>
              <a:rPr lang="tr-TR" i="1" dirty="0" smtClean="0"/>
              <a:t> </a:t>
            </a:r>
            <a:r>
              <a:rPr lang="tr-TR" dirty="0" smtClean="0"/>
              <a:t>okunur </a:t>
            </a:r>
            <a:r>
              <a:rPr lang="tr-TR" dirty="0"/>
              <a:t>(</a:t>
            </a:r>
            <a:r>
              <a:rPr lang="tr-TR" i="1" dirty="0"/>
              <a:t>i-</a:t>
            </a:r>
            <a:r>
              <a:rPr lang="tr-TR" i="1" dirty="0" err="1"/>
              <a:t>node</a:t>
            </a:r>
            <a:r>
              <a:rPr lang="tr-TR" i="1" dirty="0"/>
              <a:t> 6</a:t>
            </a:r>
            <a:r>
              <a:rPr lang="tr-TR" dirty="0" smtClean="0"/>
              <a:t>).</a:t>
            </a:r>
          </a:p>
          <a:p>
            <a:r>
              <a:rPr lang="tr-TR" dirty="0" smtClean="0"/>
              <a:t>/</a:t>
            </a:r>
            <a:r>
              <a:rPr lang="tr-TR" dirty="0" err="1"/>
              <a:t>usr</a:t>
            </a:r>
            <a:r>
              <a:rPr lang="tr-TR" dirty="0"/>
              <a:t> </a:t>
            </a:r>
            <a:r>
              <a:rPr lang="tr-TR" dirty="0" smtClean="0"/>
              <a:t>dizini okunur </a:t>
            </a:r>
            <a:r>
              <a:rPr lang="tr-TR" dirty="0"/>
              <a:t>(</a:t>
            </a:r>
            <a:r>
              <a:rPr lang="tr-TR" i="1" dirty="0"/>
              <a:t>blok 132</a:t>
            </a:r>
            <a:r>
              <a:rPr lang="tr-TR" dirty="0" smtClean="0"/>
              <a:t>).</a:t>
            </a:r>
          </a:p>
          <a:p>
            <a:r>
              <a:rPr lang="tr-TR" dirty="0" smtClean="0"/>
              <a:t>/</a:t>
            </a:r>
            <a:r>
              <a:rPr lang="tr-TR" dirty="0" err="1"/>
              <a:t>usr</a:t>
            </a:r>
            <a:r>
              <a:rPr lang="tr-TR" dirty="0"/>
              <a:t>/ast için </a:t>
            </a:r>
            <a:r>
              <a:rPr lang="tr-TR" i="1" dirty="0" smtClean="0"/>
              <a:t>i-</a:t>
            </a:r>
            <a:r>
              <a:rPr lang="tr-TR" i="1" dirty="0" err="1" smtClean="0"/>
              <a:t>node</a:t>
            </a:r>
            <a:r>
              <a:rPr lang="tr-TR" i="1" dirty="0" smtClean="0"/>
              <a:t> </a:t>
            </a:r>
            <a:r>
              <a:rPr lang="tr-TR" dirty="0" smtClean="0"/>
              <a:t>okunur </a:t>
            </a:r>
            <a:r>
              <a:rPr lang="tr-TR" dirty="0"/>
              <a:t>(</a:t>
            </a:r>
            <a:r>
              <a:rPr lang="tr-TR" i="1" dirty="0"/>
              <a:t>i-</a:t>
            </a:r>
            <a:r>
              <a:rPr lang="tr-TR" i="1" dirty="0" err="1"/>
              <a:t>node</a:t>
            </a:r>
            <a:r>
              <a:rPr lang="tr-TR" i="1" dirty="0"/>
              <a:t> 26</a:t>
            </a:r>
            <a:r>
              <a:rPr lang="tr-TR" dirty="0" smtClean="0"/>
              <a:t>).</a:t>
            </a:r>
          </a:p>
          <a:p>
            <a:r>
              <a:rPr lang="tr-TR" dirty="0" smtClean="0"/>
              <a:t>/</a:t>
            </a:r>
            <a:r>
              <a:rPr lang="tr-TR" dirty="0" err="1"/>
              <a:t>usr</a:t>
            </a:r>
            <a:r>
              <a:rPr lang="tr-TR" dirty="0"/>
              <a:t>/ast </a:t>
            </a:r>
            <a:r>
              <a:rPr lang="tr-TR" dirty="0" smtClean="0"/>
              <a:t>dizini okunur </a:t>
            </a:r>
            <a:r>
              <a:rPr lang="tr-TR" dirty="0"/>
              <a:t>(</a:t>
            </a:r>
            <a:r>
              <a:rPr lang="tr-TR" i="1" dirty="0"/>
              <a:t>blok 406</a:t>
            </a:r>
            <a:r>
              <a:rPr lang="tr-TR" dirty="0"/>
              <a:t>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56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Önbelleğe Almak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Y</a:t>
            </a:r>
            <a:r>
              <a:rPr lang="tr-TR" dirty="0" smtClean="0"/>
              <a:t>ol (</a:t>
            </a:r>
            <a:r>
              <a:rPr lang="tr-TR" i="1" dirty="0" err="1" smtClean="0"/>
              <a:t>path</a:t>
            </a:r>
            <a:r>
              <a:rPr lang="tr-TR" dirty="0" smtClean="0"/>
              <a:t>) ve yola karşılık gelen i-</a:t>
            </a:r>
            <a:r>
              <a:rPr lang="tr-TR" dirty="0" err="1" smtClean="0"/>
              <a:t>node</a:t>
            </a:r>
            <a:r>
              <a:rPr lang="tr-TR" dirty="0" smtClean="0"/>
              <a:t> numaraları.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7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80469" y="2769112"/>
            <a:ext cx="4631062" cy="27930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13120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İşletim Sistemlerinde Eğilimler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Sanallaştırma (</a:t>
            </a:r>
            <a:r>
              <a:rPr lang="tr-TR" i="1" dirty="0" err="1" smtClean="0"/>
              <a:t>virtualization</a:t>
            </a:r>
            <a:r>
              <a:rPr lang="tr-TR" dirty="0" smtClean="0"/>
              <a:t>)</a:t>
            </a:r>
          </a:p>
          <a:p>
            <a:r>
              <a:rPr lang="tr-TR" dirty="0" smtClean="0"/>
              <a:t>Çok çekirdekli </a:t>
            </a:r>
            <a:r>
              <a:rPr lang="tr-TR" dirty="0" smtClean="0"/>
              <a:t>yongalar (</a:t>
            </a:r>
            <a:r>
              <a:rPr lang="tr-TR" i="1" dirty="0" err="1" smtClean="0"/>
              <a:t>multicore</a:t>
            </a:r>
            <a:r>
              <a:rPr lang="tr-TR" i="1" dirty="0" smtClean="0"/>
              <a:t> </a:t>
            </a:r>
            <a:r>
              <a:rPr lang="tr-TR" i="1" dirty="0" err="1" smtClean="0"/>
              <a:t>chips</a:t>
            </a:r>
            <a:r>
              <a:rPr lang="tr-TR" dirty="0" smtClean="0"/>
              <a:t>)</a:t>
            </a:r>
            <a:endParaRPr lang="tr-TR" dirty="0" smtClean="0"/>
          </a:p>
          <a:p>
            <a:r>
              <a:rPr lang="tr-TR" dirty="0" smtClean="0"/>
              <a:t>Geniş adres </a:t>
            </a:r>
            <a:r>
              <a:rPr lang="tr-TR" dirty="0" smtClean="0"/>
              <a:t>uzayı (</a:t>
            </a:r>
            <a:r>
              <a:rPr lang="tr-TR" i="1" dirty="0" err="1" smtClean="0"/>
              <a:t>large</a:t>
            </a:r>
            <a:r>
              <a:rPr lang="tr-TR" i="1" dirty="0" smtClean="0"/>
              <a:t> </a:t>
            </a:r>
            <a:r>
              <a:rPr lang="tr-TR" i="1" dirty="0" err="1" smtClean="0"/>
              <a:t>address</a:t>
            </a:r>
            <a:r>
              <a:rPr lang="tr-TR" i="1" dirty="0" smtClean="0"/>
              <a:t> </a:t>
            </a:r>
            <a:r>
              <a:rPr lang="tr-TR" i="1" dirty="0" err="1" smtClean="0"/>
              <a:t>space</a:t>
            </a:r>
            <a:r>
              <a:rPr lang="tr-TR" dirty="0" smtClean="0"/>
              <a:t>)</a:t>
            </a:r>
            <a:endParaRPr lang="tr-TR" dirty="0" smtClean="0"/>
          </a:p>
          <a:p>
            <a:r>
              <a:rPr lang="tr-TR" dirty="0" smtClean="0"/>
              <a:t>Ağ </a:t>
            </a:r>
            <a:r>
              <a:rPr lang="tr-TR" dirty="0" smtClean="0"/>
              <a:t>işlemleri (</a:t>
            </a:r>
            <a:r>
              <a:rPr lang="tr-TR" i="1" dirty="0" smtClean="0"/>
              <a:t>network </a:t>
            </a:r>
            <a:r>
              <a:rPr lang="tr-TR" i="1" dirty="0" err="1" smtClean="0"/>
              <a:t>operations</a:t>
            </a:r>
            <a:r>
              <a:rPr lang="tr-TR" dirty="0" smtClean="0"/>
              <a:t>)</a:t>
            </a:r>
            <a:endParaRPr lang="tr-TR" dirty="0" smtClean="0"/>
          </a:p>
          <a:p>
            <a:r>
              <a:rPr lang="tr-TR" dirty="0" smtClean="0"/>
              <a:t>Paralel ve dağıtık </a:t>
            </a:r>
            <a:r>
              <a:rPr lang="tr-TR" dirty="0" smtClean="0"/>
              <a:t>sistemler (</a:t>
            </a:r>
            <a:r>
              <a:rPr lang="tr-TR" i="1" dirty="0" err="1" smtClean="0"/>
              <a:t>parallel</a:t>
            </a:r>
            <a:r>
              <a:rPr lang="tr-TR" i="1" dirty="0" smtClean="0"/>
              <a:t> </a:t>
            </a:r>
            <a:r>
              <a:rPr lang="tr-TR" i="1" dirty="0" err="1" smtClean="0"/>
              <a:t>and</a:t>
            </a:r>
            <a:r>
              <a:rPr lang="tr-TR" i="1" dirty="0" smtClean="0"/>
              <a:t> </a:t>
            </a:r>
            <a:r>
              <a:rPr lang="tr-TR" i="1" dirty="0" err="1" smtClean="0"/>
              <a:t>distributed</a:t>
            </a:r>
            <a:r>
              <a:rPr lang="tr-TR" i="1" dirty="0" smtClean="0"/>
              <a:t> </a:t>
            </a:r>
            <a:r>
              <a:rPr lang="tr-TR" i="1" dirty="0" err="1" smtClean="0"/>
              <a:t>systems</a:t>
            </a:r>
            <a:r>
              <a:rPr lang="tr-TR" dirty="0" smtClean="0"/>
              <a:t>)</a:t>
            </a:r>
            <a:endParaRPr lang="tr-TR" dirty="0" smtClean="0"/>
          </a:p>
          <a:p>
            <a:r>
              <a:rPr lang="tr-TR" dirty="0" smtClean="0"/>
              <a:t>Çoklu ortam (</a:t>
            </a:r>
            <a:r>
              <a:rPr lang="tr-TR" i="1" dirty="0" err="1" smtClean="0"/>
              <a:t>multimedia</a:t>
            </a:r>
            <a:r>
              <a:rPr lang="tr-TR" dirty="0" smtClean="0"/>
              <a:t>)</a:t>
            </a:r>
            <a:endParaRPr lang="tr-TR" dirty="0" smtClean="0"/>
          </a:p>
          <a:p>
            <a:r>
              <a:rPr lang="tr-TR" dirty="0" smtClean="0"/>
              <a:t>Pille çalışan </a:t>
            </a:r>
            <a:r>
              <a:rPr lang="tr-TR" dirty="0" smtClean="0"/>
              <a:t>sistemler (</a:t>
            </a:r>
            <a:r>
              <a:rPr lang="tr-TR" i="1" dirty="0" err="1" smtClean="0"/>
              <a:t>battery</a:t>
            </a:r>
            <a:r>
              <a:rPr lang="tr-TR" i="1" dirty="0" smtClean="0"/>
              <a:t> </a:t>
            </a:r>
            <a:r>
              <a:rPr lang="tr-TR" i="1" dirty="0" err="1" smtClean="0"/>
              <a:t>powered</a:t>
            </a:r>
            <a:r>
              <a:rPr lang="tr-TR" dirty="0" smtClean="0"/>
              <a:t>)</a:t>
            </a:r>
            <a:endParaRPr lang="tr-TR" dirty="0" smtClean="0"/>
          </a:p>
          <a:p>
            <a:r>
              <a:rPr lang="tr-TR" dirty="0" smtClean="0"/>
              <a:t>Gömülü </a:t>
            </a:r>
            <a:r>
              <a:rPr lang="tr-TR" dirty="0" smtClean="0"/>
              <a:t>sistemler (</a:t>
            </a:r>
            <a:r>
              <a:rPr lang="tr-TR" i="1" dirty="0" err="1" smtClean="0"/>
              <a:t>embedded</a:t>
            </a:r>
            <a:r>
              <a:rPr lang="tr-TR" dirty="0" smtClean="0"/>
              <a:t>)</a:t>
            </a:r>
            <a:endParaRPr lang="tr-TR" dirty="0" smtClean="0"/>
          </a:p>
          <a:p>
            <a:r>
              <a:rPr lang="tr-TR" dirty="0" err="1" smtClean="0"/>
              <a:t>Sensör</a:t>
            </a:r>
            <a:r>
              <a:rPr lang="tr-TR" dirty="0" smtClean="0"/>
              <a:t> </a:t>
            </a:r>
            <a:r>
              <a:rPr lang="tr-TR" dirty="0" smtClean="0"/>
              <a:t>düğümleri (</a:t>
            </a:r>
            <a:r>
              <a:rPr lang="tr-TR" i="1" dirty="0" smtClean="0"/>
              <a:t>sensor </a:t>
            </a:r>
            <a:r>
              <a:rPr lang="tr-TR" i="1" dirty="0" err="1" smtClean="0"/>
              <a:t>nodes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524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Sanallaştırma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Dört sanal makine çalıştıran bir </a:t>
            </a:r>
            <a:r>
              <a:rPr lang="tr-TR" dirty="0" err="1" smtClean="0"/>
              <a:t>hipervizör</a:t>
            </a:r>
            <a:r>
              <a:rPr lang="tr-TR" dirty="0" smtClean="0"/>
              <a:t> (</a:t>
            </a:r>
            <a:r>
              <a:rPr lang="tr-TR" i="1" dirty="0" err="1" smtClean="0"/>
              <a:t>hypervisor</a:t>
            </a:r>
            <a:r>
              <a:rPr lang="tr-TR" dirty="0" smtClean="0"/>
              <a:t>).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7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887" y="2886034"/>
            <a:ext cx="6602226" cy="22685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2405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pPr marL="0" indent="0" algn="ctr">
              <a:buNone/>
            </a:pPr>
            <a:r>
              <a:rPr lang="tr-TR" dirty="0" smtClean="0"/>
              <a:t>SON</a:t>
            </a:r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6104</TotalTime>
  <Words>1744</Words>
  <Application>Microsoft Office PowerPoint</Application>
  <PresentationFormat>Widescreen</PresentationFormat>
  <Paragraphs>283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Consolas</vt:lpstr>
      <vt:lpstr>Wingdings</vt:lpstr>
      <vt:lpstr>1_Office Theme</vt:lpstr>
      <vt:lpstr>Bölüm 15: İşletim  Sistemi Tasarımı</vt:lpstr>
      <vt:lpstr>İşletim Sistemi Hedefleri</vt:lpstr>
      <vt:lpstr>İşletim Sistemleri Tasarlamanın Zorlukları</vt:lpstr>
      <vt:lpstr>Arayüz Tasarımı için Yol Gösterici İlkeler</vt:lpstr>
      <vt:lpstr>Yürütme Paradigmaları</vt:lpstr>
      <vt:lpstr>Sistem Yapısı</vt:lpstr>
      <vt:lpstr>Katmanlı Sistemler</vt:lpstr>
      <vt:lpstr>Katmanlı Sistemler</vt:lpstr>
      <vt:lpstr>Exokernel</vt:lpstr>
      <vt:lpstr>Mikro Çekirdek Tabanlı İstemci-Sunucu Sistemleri</vt:lpstr>
      <vt:lpstr>Mikro Çekirdek Tabanlı İstemci-Sunucu Sistemleri</vt:lpstr>
      <vt:lpstr>Mikro Çekirdek Tabanlı İstemci-Sunucu Sistemleri</vt:lpstr>
      <vt:lpstr>Genişletilebilir Sistemler</vt:lpstr>
      <vt:lpstr>Çekirdek İş Parçacıkları</vt:lpstr>
      <vt:lpstr>Adlandırma</vt:lpstr>
      <vt:lpstr>Bağlama Zamanı</vt:lpstr>
      <vt:lpstr>Statik ve Dinamik Yapılar</vt:lpstr>
      <vt:lpstr>Yararlı Teknikler</vt:lpstr>
      <vt:lpstr>Performans</vt:lpstr>
      <vt:lpstr>Donanımı Gizleme</vt:lpstr>
      <vt:lpstr>Donanımı Gizleme</vt:lpstr>
      <vt:lpstr>Uzay Zaman Takasları </vt:lpstr>
      <vt:lpstr>Uzay Zaman Takasları </vt:lpstr>
      <vt:lpstr>Uzay Zaman Takasları </vt:lpstr>
      <vt:lpstr>Uzay Zaman Takasları </vt:lpstr>
      <vt:lpstr>Önbelleğe Almak </vt:lpstr>
      <vt:lpstr>Önbelleğe Almak </vt:lpstr>
      <vt:lpstr>İşletim Sistemlerinde Eğilimler</vt:lpstr>
      <vt:lpstr>Sanallaştırma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Isletim Sistemi Tasarimi</dc:title>
  <dc:creator>sercan</dc:creator>
  <cp:lastModifiedBy>sercan</cp:lastModifiedBy>
  <cp:revision>458</cp:revision>
  <dcterms:created xsi:type="dcterms:W3CDTF">2023-01-12T09:23:55Z</dcterms:created>
  <dcterms:modified xsi:type="dcterms:W3CDTF">2024-02-05T21:28:25Z</dcterms:modified>
</cp:coreProperties>
</file>