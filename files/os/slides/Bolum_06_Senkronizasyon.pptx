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9" r:id="rId1"/>
  </p:sldMasterIdLst>
  <p:notesMasterIdLst>
    <p:notesMasterId r:id="rId60"/>
  </p:notesMasterIdLst>
  <p:sldIdLst>
    <p:sldId id="256" r:id="rId2"/>
    <p:sldId id="326" r:id="rId3"/>
    <p:sldId id="422" r:id="rId4"/>
    <p:sldId id="450" r:id="rId5"/>
    <p:sldId id="423" r:id="rId6"/>
    <p:sldId id="451" r:id="rId7"/>
    <p:sldId id="452" r:id="rId8"/>
    <p:sldId id="453" r:id="rId9"/>
    <p:sldId id="424" r:id="rId10"/>
    <p:sldId id="338" r:id="rId11"/>
    <p:sldId id="339" r:id="rId12"/>
    <p:sldId id="461" r:id="rId13"/>
    <p:sldId id="425" r:id="rId14"/>
    <p:sldId id="426" r:id="rId15"/>
    <p:sldId id="427" r:id="rId16"/>
    <p:sldId id="428" r:id="rId17"/>
    <p:sldId id="340" r:id="rId18"/>
    <p:sldId id="341" r:id="rId19"/>
    <p:sldId id="342" r:id="rId20"/>
    <p:sldId id="454" r:id="rId21"/>
    <p:sldId id="437" r:id="rId22"/>
    <p:sldId id="455" r:id="rId23"/>
    <p:sldId id="456" r:id="rId24"/>
    <p:sldId id="457" r:id="rId25"/>
    <p:sldId id="343" r:id="rId26"/>
    <p:sldId id="458" r:id="rId27"/>
    <p:sldId id="438" r:id="rId28"/>
    <p:sldId id="429" r:id="rId29"/>
    <p:sldId id="439" r:id="rId30"/>
    <p:sldId id="344" r:id="rId31"/>
    <p:sldId id="345" r:id="rId32"/>
    <p:sldId id="346" r:id="rId33"/>
    <p:sldId id="440" r:id="rId34"/>
    <p:sldId id="347" r:id="rId35"/>
    <p:sldId id="348" r:id="rId36"/>
    <p:sldId id="349" r:id="rId37"/>
    <p:sldId id="350" r:id="rId38"/>
    <p:sldId id="441" r:id="rId39"/>
    <p:sldId id="353" r:id="rId40"/>
    <p:sldId id="442" r:id="rId41"/>
    <p:sldId id="459" r:id="rId42"/>
    <p:sldId id="460" r:id="rId43"/>
    <p:sldId id="443" r:id="rId44"/>
    <p:sldId id="444" r:id="rId45"/>
    <p:sldId id="431" r:id="rId46"/>
    <p:sldId id="357" r:id="rId47"/>
    <p:sldId id="433" r:id="rId48"/>
    <p:sldId id="434" r:id="rId49"/>
    <p:sldId id="436" r:id="rId50"/>
    <p:sldId id="432" r:id="rId51"/>
    <p:sldId id="358" r:id="rId52"/>
    <p:sldId id="447" r:id="rId53"/>
    <p:sldId id="445" r:id="rId54"/>
    <p:sldId id="361" r:id="rId55"/>
    <p:sldId id="446" r:id="rId56"/>
    <p:sldId id="448" r:id="rId57"/>
    <p:sldId id="449" r:id="rId58"/>
    <p:sldId id="312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CFAA6-72E2-46AA-A31F-7256698B51A5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6C4D3-4FDC-45D7-AD9A-F86E806099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553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6C4D3-4FDC-45D7-AD9A-F86E8060999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7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4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29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81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6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59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27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7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12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65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6: Senkronizasyon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Senkronizasyon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İşlemler arasında düzen ve uyum sağlama sürecidir.</a:t>
            </a:r>
          </a:p>
          <a:p>
            <a:r>
              <a:rPr lang="tr-TR" dirty="0"/>
              <a:t>İşlemler aynı anda yürütülebilir.</a:t>
            </a:r>
          </a:p>
          <a:p>
            <a:pPr lvl="1"/>
            <a:r>
              <a:rPr lang="tr-TR" dirty="0"/>
              <a:t>Bir işlem herhangi bir anda kesintiye uğrayabilir. </a:t>
            </a:r>
          </a:p>
          <a:p>
            <a:pPr lvl="1"/>
            <a:r>
              <a:rPr lang="tr-TR" dirty="0"/>
              <a:t>Yapılan iş yarım kalmış olabilir.</a:t>
            </a:r>
          </a:p>
          <a:p>
            <a:r>
              <a:rPr lang="tr-TR" dirty="0"/>
              <a:t>Paylaşılan verilere eşzamanlı erişim, veri tutarsızlığına neden olabilir.</a:t>
            </a:r>
          </a:p>
          <a:p>
            <a:r>
              <a:rPr lang="tr-TR" dirty="0"/>
              <a:t>Veri tutarlılığı için, işlemleri kontrol eden mekanizmalar gerekir.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9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Yaşanacak Problemler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Yeniden girilemez (</a:t>
            </a:r>
            <a:r>
              <a:rPr lang="tr-TR" i="1" dirty="0"/>
              <a:t>not re-</a:t>
            </a:r>
            <a:r>
              <a:rPr lang="tr-TR" i="1" dirty="0" err="1"/>
              <a:t>entrant</a:t>
            </a:r>
            <a:r>
              <a:rPr lang="tr-TR" dirty="0"/>
              <a:t>) kütüphane fonksiyonları.</a:t>
            </a:r>
          </a:p>
          <a:p>
            <a:pPr lvl="1"/>
            <a:r>
              <a:rPr lang="tr-TR" dirty="0"/>
              <a:t>Bir iş parçacığı aldığı mesajı tampon belleğe koyduğunda, </a:t>
            </a:r>
          </a:p>
          <a:p>
            <a:pPr lvl="1"/>
            <a:r>
              <a:rPr lang="tr-TR" dirty="0"/>
              <a:t>Yeni bir iş parçacığı bellekte mesajın üzerine yazabilir.</a:t>
            </a:r>
          </a:p>
          <a:p>
            <a:r>
              <a:rPr lang="tr-TR" dirty="0"/>
              <a:t>Bellekten tahsis edilen yerler geçici olarak tutarsız durumda olabilir.</a:t>
            </a:r>
          </a:p>
          <a:p>
            <a:pPr lvl="1"/>
            <a:r>
              <a:rPr lang="tr-TR" dirty="0"/>
              <a:t>Yeni iş parçacığı yanlış işaretçi almış olabilir.</a:t>
            </a:r>
          </a:p>
          <a:p>
            <a:r>
              <a:rPr lang="tr-TR" dirty="0"/>
              <a:t>İki veya daha fazla iş parçacığı birbirlerini bekleyebilir.</a:t>
            </a:r>
          </a:p>
          <a:p>
            <a:r>
              <a:rPr lang="tr-TR" dirty="0"/>
              <a:t>Bir iş parçacığı diğer iş parçacıkları yüzünden hiç çalıştırılmayabilir.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Tutarsızlığı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 parçacıkları global bir değişkene kontrolsüz erişebilir.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377AF-E274-0996-BEEA-E9919E439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2483553"/>
            <a:ext cx="5760000" cy="3625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343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Arası İletişim Problemleri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Yarış durumu</a:t>
            </a:r>
            <a:r>
              <a:rPr lang="tr-TR" dirty="0"/>
              <a:t>: iki süreç aynı bellek alanına aynı anda erişmek isterse.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4" descr="2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540179"/>
            <a:ext cx="4921250" cy="3611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2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Yarış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P0 ve P1, </a:t>
            </a:r>
            <a:r>
              <a:rPr lang="tr-TR" i="1" dirty="0" err="1"/>
              <a:t>next_available_pid</a:t>
            </a:r>
            <a:r>
              <a:rPr lang="tr-TR" dirty="0"/>
              <a:t> değişkenine aynı anda erişirse, aynı pid iki farklı sürece atanabilir!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9A24033E-60D2-44D6-A559-9793D47A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126" y="2697818"/>
            <a:ext cx="5653748" cy="3534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40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Kritik Bölge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n adet süreç {p</a:t>
            </a:r>
            <a:r>
              <a:rPr lang="tr-TR" baseline="-25000" dirty="0"/>
              <a:t>0</a:t>
            </a:r>
            <a:r>
              <a:rPr lang="tr-TR" dirty="0"/>
              <a:t>, p</a:t>
            </a:r>
            <a:r>
              <a:rPr lang="tr-TR" baseline="-25000" dirty="0"/>
              <a:t>1</a:t>
            </a:r>
            <a:r>
              <a:rPr lang="tr-TR" dirty="0"/>
              <a:t>, … p</a:t>
            </a:r>
            <a:r>
              <a:rPr lang="tr-TR" baseline="-25000" dirty="0"/>
              <a:t>n-1</a:t>
            </a:r>
            <a:r>
              <a:rPr lang="tr-TR" dirty="0"/>
              <a:t>} olsun.</a:t>
            </a:r>
          </a:p>
          <a:p>
            <a:r>
              <a:rPr lang="tr-TR" dirty="0"/>
              <a:t>Her sürecin kritik kod bölgesi vardır.</a:t>
            </a:r>
          </a:p>
          <a:p>
            <a:r>
              <a:rPr lang="tr-TR" dirty="0"/>
              <a:t>Süreç, bu bölgede </a:t>
            </a:r>
          </a:p>
          <a:p>
            <a:pPr lvl="1"/>
            <a:r>
              <a:rPr lang="tr-TR" dirty="0"/>
              <a:t>bir global değişkene değer atıyor,</a:t>
            </a:r>
          </a:p>
          <a:p>
            <a:pPr lvl="1"/>
            <a:r>
              <a:rPr lang="tr-TR" dirty="0"/>
              <a:t>bir tabloyu güncelliyor, </a:t>
            </a:r>
          </a:p>
          <a:p>
            <a:pPr lvl="1"/>
            <a:r>
              <a:rPr lang="tr-TR" dirty="0"/>
              <a:t>bir dosyaya yazıyor olabilir.</a:t>
            </a:r>
          </a:p>
          <a:p>
            <a:r>
              <a:rPr lang="tr-TR" dirty="0"/>
              <a:t>Bir süreç kritik bölgede iken, diğerleri kritik bölgede olmamalı.</a:t>
            </a:r>
          </a:p>
          <a:p>
            <a:r>
              <a:rPr lang="tr-TR" dirty="0"/>
              <a:t>Her süreç, kritik bölgeye girmek için izin istemeli.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92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Kritik Bölge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Karşılıklı Dışlama: </a:t>
            </a:r>
            <a:r>
              <a:rPr lang="tr-TR" dirty="0"/>
              <a:t>P süreci kritik bölgede yürütülürken, diğer süreçler kritik bölgede yürütülemez.</a:t>
            </a:r>
          </a:p>
          <a:p>
            <a:r>
              <a:rPr lang="tr-TR" b="1" dirty="0"/>
              <a:t>İlerleme:</a:t>
            </a:r>
            <a:r>
              <a:rPr lang="tr-TR" dirty="0"/>
              <a:t> Kritik bölgede yürütülen bir süreç yoksa ve kritik bölgeye girmek isteyen bir süreç varsa, bu süreç süresiz olarak beklememeli.</a:t>
            </a:r>
          </a:p>
          <a:p>
            <a:r>
              <a:rPr lang="tr-TR" b="1" dirty="0"/>
              <a:t>Sınırlı Bekleme: </a:t>
            </a:r>
            <a:r>
              <a:rPr lang="tr-TR" dirty="0"/>
              <a:t>Bir süreç, kritik bölgeye girmek istedikten sonra, diğer süreçler sınırlı sayıda kritik bölgeye girebilmeli.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89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Önerilen Çözümler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Kesmeleri devre dışı bırakma (</a:t>
            </a:r>
            <a:r>
              <a:rPr lang="tr-TR" i="1" dirty="0" err="1"/>
              <a:t>disabling</a:t>
            </a:r>
            <a:r>
              <a:rPr lang="tr-TR" i="1" dirty="0"/>
              <a:t> </a:t>
            </a:r>
            <a:r>
              <a:rPr lang="tr-TR" i="1" dirty="0" err="1"/>
              <a:t>interrupts</a:t>
            </a:r>
            <a:r>
              <a:rPr lang="tr-TR" dirty="0"/>
              <a:t>)</a:t>
            </a:r>
          </a:p>
          <a:p>
            <a:r>
              <a:rPr lang="tr-TR" dirty="0"/>
              <a:t>Kilit değişkenleri (</a:t>
            </a:r>
            <a:r>
              <a:rPr lang="tr-TR" i="1" dirty="0" err="1"/>
              <a:t>lock</a:t>
            </a:r>
            <a:r>
              <a:rPr lang="tr-TR" i="1" dirty="0"/>
              <a:t> </a:t>
            </a:r>
            <a:r>
              <a:rPr lang="tr-TR" i="1" dirty="0" err="1"/>
              <a:t>variables</a:t>
            </a:r>
            <a:r>
              <a:rPr lang="tr-TR" dirty="0"/>
              <a:t>)</a:t>
            </a:r>
          </a:p>
          <a:p>
            <a:r>
              <a:rPr lang="tr-TR" dirty="0"/>
              <a:t>Katı sırayla değişim (</a:t>
            </a:r>
            <a:r>
              <a:rPr lang="tr-TR" i="1" dirty="0" err="1"/>
              <a:t>strict</a:t>
            </a:r>
            <a:r>
              <a:rPr lang="tr-TR" i="1" dirty="0"/>
              <a:t> </a:t>
            </a:r>
            <a:r>
              <a:rPr lang="tr-TR" i="1" dirty="0" err="1"/>
              <a:t>alternation</a:t>
            </a:r>
            <a:r>
              <a:rPr lang="tr-TR" dirty="0"/>
              <a:t>)</a:t>
            </a:r>
          </a:p>
          <a:p>
            <a:r>
              <a:rPr lang="tr-TR" dirty="0" err="1"/>
              <a:t>Peterson'ın</a:t>
            </a:r>
            <a:r>
              <a:rPr lang="tr-TR" dirty="0"/>
              <a:t> çözümü</a:t>
            </a:r>
          </a:p>
          <a:p>
            <a:r>
              <a:rPr lang="tr-TR" dirty="0"/>
              <a:t>TSL komutu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5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Kesmeleri Devre Dışı Bırakma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Süreç, kritik bölgeye girmeden önce kesmeleri devre dışı bırakır, kritik bölgeye girer, kritik bölgeden çıktığında kesmeleri tekrar etkinleştirir.</a:t>
            </a:r>
          </a:p>
          <a:p>
            <a:r>
              <a:rPr lang="tr-TR" dirty="0"/>
              <a:t>Problemler </a:t>
            </a:r>
          </a:p>
          <a:p>
            <a:pPr lvl="1"/>
            <a:r>
              <a:rPr lang="tr-TR" dirty="0"/>
              <a:t>Süreç, kesmeleri tekrar etkinleştiremezse sistem çöker.</a:t>
            </a:r>
          </a:p>
          <a:p>
            <a:pPr lvl="1"/>
            <a:r>
              <a:rPr lang="tr-TR" dirty="0"/>
              <a:t>Kesme devre dışı bırakıldığında, diğer süreçler CPU kullanamaz.</a:t>
            </a:r>
          </a:p>
          <a:p>
            <a:pPr lvl="1"/>
            <a:r>
              <a:rPr lang="tr-TR" dirty="0"/>
              <a:t>Çoklu çekirdekli sistemler için çözüm olmaz.</a:t>
            </a:r>
          </a:p>
          <a:p>
            <a:pPr lvl="1"/>
            <a:r>
              <a:rPr lang="tr-TR" dirty="0"/>
              <a:t>İşletim sisteminin kendisi için yararlı, ancak kullanıcılar için değil.</a:t>
            </a:r>
          </a:p>
          <a:p>
            <a:pPr lvl="1"/>
            <a:r>
              <a:rPr lang="tr-TR" dirty="0"/>
              <a:t>Kritik bölgeye giren süreç çok uzun sürebilir.</a:t>
            </a:r>
          </a:p>
          <a:p>
            <a:pPr lvl="1"/>
            <a:r>
              <a:rPr lang="tr-TR" dirty="0"/>
              <a:t>Bazı süreçlere hiç sıra gelmeyebilir (</a:t>
            </a:r>
            <a:r>
              <a:rPr lang="tr-TR" i="1" dirty="0" err="1"/>
              <a:t>starvation</a:t>
            </a:r>
            <a:r>
              <a:rPr lang="tr-TR" dirty="0"/>
              <a:t>).</a:t>
            </a:r>
          </a:p>
          <a:p>
            <a:pPr lvl="1"/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 Değişkeni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yazılım çözümü – Tüm süreçler bir kilidi paylaşır.</a:t>
            </a:r>
          </a:p>
          <a:p>
            <a:pPr lvl="1"/>
            <a:r>
              <a:rPr lang="tr-TR" dirty="0"/>
              <a:t>Kilit 0 ise, süreç 1'e çevirir ve kritik bölgeye girer.</a:t>
            </a:r>
          </a:p>
          <a:p>
            <a:pPr lvl="1"/>
            <a:r>
              <a:rPr lang="tr-TR" dirty="0"/>
              <a:t>Kritik bölgeden çıktığında, kilidi 0'a çevirir.</a:t>
            </a:r>
          </a:p>
          <a:p>
            <a:r>
              <a:rPr lang="tr-TR" b="1" dirty="0"/>
              <a:t>Problem</a:t>
            </a:r>
            <a:r>
              <a:rPr lang="tr-TR" dirty="0"/>
              <a:t>: Yarış durumu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6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 Değişkeni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j);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kritik bölge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j;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devam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236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Yarış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Birden fazla süreç, aynı verilere eriştiğinde,</a:t>
            </a:r>
          </a:p>
          <a:p>
            <a:pPr lvl="1"/>
            <a:r>
              <a:rPr lang="tr-TR" dirty="0"/>
              <a:t>Nihai sonucun hangi sürecin ne zaman çalıştığına bağlı olması.</a:t>
            </a:r>
          </a:p>
          <a:p>
            <a:r>
              <a:rPr lang="tr-TR" b="1" dirty="0"/>
              <a:t>Karşılıklı dışlama</a:t>
            </a:r>
          </a:p>
          <a:p>
            <a:pPr lvl="1"/>
            <a:r>
              <a:rPr lang="tr-TR" dirty="0"/>
              <a:t>Birden fazla sürecin aynı verilere aynı anda erişmesi engellenir.</a:t>
            </a:r>
          </a:p>
          <a:p>
            <a:r>
              <a:rPr lang="tr-TR" b="1" dirty="0"/>
              <a:t>Kritik bölge</a:t>
            </a:r>
          </a:p>
          <a:p>
            <a:pPr lvl="1"/>
            <a:r>
              <a:rPr lang="tr-TR" dirty="0"/>
              <a:t>Programın ortak paylaşılan verilere erişim yaptığı kod bölümü.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96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Karşılıklı Dışlama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Karşılıklı dışlama için dört koşul;</a:t>
            </a:r>
          </a:p>
          <a:p>
            <a:r>
              <a:rPr lang="tr-TR" dirty="0"/>
              <a:t>İki süreç aynı anda kritik bölgede olmamalı.</a:t>
            </a:r>
          </a:p>
          <a:p>
            <a:r>
              <a:rPr lang="tr-TR" dirty="0"/>
              <a:t>İşlemci hızı ve sayısı hakkında varsayım yapılmamalı.</a:t>
            </a:r>
          </a:p>
          <a:p>
            <a:r>
              <a:rPr lang="tr-TR" dirty="0"/>
              <a:t>Kritik bölgenin dışında çalışan bir süreç, diğerlerini engellememeli.</a:t>
            </a:r>
          </a:p>
          <a:p>
            <a:r>
              <a:rPr lang="tr-TR" dirty="0"/>
              <a:t>Hiçbir süreç kritik bölgeye girmek için sonsuza dek beklememeli.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2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Kritik Bölge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giriş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/* kritik bölge */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çıkış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devam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911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Kritik Bölge Kullanarak Karşılıklı Dışlama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12217"/>
            <a:ext cx="8305800" cy="40370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5253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Katı Sırayla Değişim (</a:t>
            </a:r>
            <a:r>
              <a:rPr lang="tr-TR" dirty="0" err="1"/>
              <a:t>Strict</a:t>
            </a:r>
            <a:r>
              <a:rPr lang="tr-TR" dirty="0"/>
              <a:t> </a:t>
            </a:r>
            <a:r>
              <a:rPr lang="tr-TR" dirty="0" err="1"/>
              <a:t>Alternation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Önce ben, sonra sen!</a:t>
            </a:r>
          </a:p>
          <a:p>
            <a:r>
              <a:rPr lang="tr-TR" dirty="0"/>
              <a:t>Tüm süreçler CPU'yu kullanabildiğinden adaleti sağlar.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) {</a:t>
            </a:r>
            <a:r>
              <a:rPr lang="tr-TR" dirty="0">
                <a:latin typeface="Consolas" panose="020B0609020204030204" pitchFamily="49" charset="0"/>
              </a:rPr>
              <a:t>				</a:t>
            </a:r>
            <a:r>
              <a:rPr lang="en-US" b="1" dirty="0"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(turn != 0)</a:t>
            </a:r>
            <a:r>
              <a:rPr lang="tr-TR" dirty="0"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			</a:t>
            </a:r>
            <a:r>
              <a:rPr lang="en-US" b="1" dirty="0"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(turn != </a:t>
            </a:r>
            <a:r>
              <a:rPr lang="tr-TR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i="1" dirty="0" err="1">
                <a:latin typeface="Consolas" panose="020B0609020204030204" pitchFamily="49" charset="0"/>
              </a:rPr>
              <a:t>critical_region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r>
              <a:rPr lang="tr-TR" dirty="0">
                <a:latin typeface="Consolas" panose="020B0609020204030204" pitchFamily="49" charset="0"/>
              </a:rPr>
              <a:t>			</a:t>
            </a:r>
            <a:r>
              <a:rPr lang="en-US" i="1" dirty="0" err="1">
                <a:latin typeface="Consolas" panose="020B0609020204030204" pitchFamily="49" charset="0"/>
              </a:rPr>
              <a:t>critical_region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turn = 1;</a:t>
            </a:r>
            <a:r>
              <a:rPr lang="tr-TR" dirty="0">
                <a:latin typeface="Consolas" panose="020B0609020204030204" pitchFamily="49" charset="0"/>
              </a:rPr>
              <a:t>					</a:t>
            </a:r>
            <a:r>
              <a:rPr lang="en-US" dirty="0">
                <a:latin typeface="Consolas" panose="020B0609020204030204" pitchFamily="49" charset="0"/>
              </a:rPr>
              <a:t>turn = </a:t>
            </a:r>
            <a:r>
              <a:rPr lang="tr-TR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i="1" dirty="0" err="1">
                <a:latin typeface="Consolas" panose="020B0609020204030204" pitchFamily="49" charset="0"/>
              </a:rPr>
              <a:t>noncritical_region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r>
              <a:rPr lang="tr-TR" dirty="0">
                <a:latin typeface="Consolas" panose="020B0609020204030204" pitchFamily="49" charset="0"/>
              </a:rPr>
              <a:t>			</a:t>
            </a:r>
            <a:r>
              <a:rPr lang="en-US" i="1" dirty="0" err="1">
                <a:latin typeface="Consolas" panose="020B0609020204030204" pitchFamily="49" charset="0"/>
              </a:rPr>
              <a:t>noncritical_region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						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66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Kavramlar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Meşgul Bekleme (</a:t>
            </a:r>
            <a:r>
              <a:rPr lang="en-US" i="1" dirty="0"/>
              <a:t>Busy waiting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en-US" dirty="0"/>
              <a:t>Bir </a:t>
            </a:r>
            <a:r>
              <a:rPr lang="tr-TR" dirty="0"/>
              <a:t>değişkeni bir </a:t>
            </a:r>
            <a:r>
              <a:rPr lang="en-US" dirty="0" err="1"/>
              <a:t>değer</a:t>
            </a:r>
            <a:r>
              <a:rPr lang="tr-TR" dirty="0"/>
              <a:t>e</a:t>
            </a:r>
            <a:r>
              <a:rPr lang="en-US" dirty="0"/>
              <a:t> </a:t>
            </a:r>
            <a:r>
              <a:rPr lang="tr-TR" dirty="0"/>
              <a:t>ulaşana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test </a:t>
            </a:r>
            <a:r>
              <a:rPr lang="en-US" dirty="0" err="1"/>
              <a:t>etme</a:t>
            </a:r>
            <a:r>
              <a:rPr lang="tr-TR" dirty="0"/>
              <a:t>.</a:t>
            </a:r>
          </a:p>
          <a:p>
            <a:r>
              <a:rPr lang="tr-TR" dirty="0"/>
              <a:t>Döngüsel Kilit (</a:t>
            </a:r>
            <a:r>
              <a:rPr lang="en-US" i="1" dirty="0"/>
              <a:t>Spin lock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en-US" dirty="0" err="1"/>
              <a:t>Meşgul</a:t>
            </a:r>
            <a:r>
              <a:rPr lang="en-US" dirty="0"/>
              <a:t> </a:t>
            </a:r>
            <a:r>
              <a:rPr lang="en-US" dirty="0" err="1"/>
              <a:t>beklemeyi</a:t>
            </a:r>
            <a:r>
              <a:rPr lang="en-US" dirty="0"/>
              <a:t> </a:t>
            </a:r>
            <a:r>
              <a:rPr lang="en-US" dirty="0" err="1"/>
              <a:t>kullanan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kilit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853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Peterson’un</a:t>
            </a:r>
            <a:r>
              <a:rPr lang="tr-TR" dirty="0"/>
              <a:t> Çözümü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Hangi sürecin kritik bölgeye gireceğini belirlemek için,</a:t>
            </a:r>
          </a:p>
          <a:p>
            <a:pPr lvl="1"/>
            <a:r>
              <a:rPr lang="tr-TR" i="1" dirty="0" err="1"/>
              <a:t>turn</a:t>
            </a:r>
            <a:r>
              <a:rPr lang="tr-TR" dirty="0"/>
              <a:t> ve </a:t>
            </a:r>
            <a:r>
              <a:rPr lang="tr-TR" i="1" dirty="0" err="1"/>
              <a:t>flag</a:t>
            </a:r>
            <a:r>
              <a:rPr lang="tr-TR" i="1" dirty="0"/>
              <a:t>[2]</a:t>
            </a:r>
            <a:r>
              <a:rPr lang="tr-TR" dirty="0"/>
              <a:t> olmak üzere iki değişken kullanır.</a:t>
            </a:r>
          </a:p>
          <a:p>
            <a:r>
              <a:rPr lang="tr-TR" i="1" dirty="0" err="1"/>
              <a:t>flag</a:t>
            </a:r>
            <a:r>
              <a:rPr lang="tr-TR" dirty="0"/>
              <a:t>, süreç tarafından kritik bölgeye girme niyetini belirtir.</a:t>
            </a:r>
          </a:p>
          <a:p>
            <a:r>
              <a:rPr lang="tr-TR" i="1" dirty="0" err="1"/>
              <a:t>turn</a:t>
            </a:r>
            <a:r>
              <a:rPr lang="tr-TR" dirty="0"/>
              <a:t>, sıradaki süreci belirtir. </a:t>
            </a:r>
          </a:p>
          <a:p>
            <a:r>
              <a:rPr lang="tr-TR" dirty="0"/>
              <a:t>İki sürecin aynı anda kritik bölgeye girmesini önlemek için, </a:t>
            </a:r>
          </a:p>
          <a:p>
            <a:pPr lvl="1"/>
            <a:r>
              <a:rPr lang="tr-TR" i="1" dirty="0"/>
              <a:t>Meşgul bekleme döngüsü </a:t>
            </a:r>
            <a:r>
              <a:rPr lang="tr-TR" dirty="0"/>
              <a:t>ve </a:t>
            </a:r>
            <a:r>
              <a:rPr lang="tr-TR" i="1" dirty="0"/>
              <a:t>bir dizi koşul </a:t>
            </a:r>
            <a:r>
              <a:rPr lang="tr-TR" dirty="0"/>
              <a:t>kullanır.</a:t>
            </a:r>
          </a:p>
          <a:p>
            <a:r>
              <a:rPr lang="tr-TR" dirty="0"/>
              <a:t>Karşılıklı dışlamayı sağlar.</a:t>
            </a:r>
          </a:p>
          <a:p>
            <a:r>
              <a:rPr lang="tr-TR" dirty="0"/>
              <a:t>Süreçlerin sonsuz bir bekleme döngüsüne girmesini engeller.</a:t>
            </a:r>
          </a:p>
          <a:p>
            <a:r>
              <a:rPr lang="tr-TR" dirty="0"/>
              <a:t>Meşgul bekleme döngüsü yüksek miktarda CPU zamanı tüketir!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18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Peterson’un</a:t>
            </a:r>
            <a:r>
              <a:rPr lang="tr-TR" dirty="0"/>
              <a:t> Çözümü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[i]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j;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[j] &amp;&amp;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j);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kritik bölge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[i]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/* devam */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68655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Peterson’un</a:t>
            </a:r>
            <a:r>
              <a:rPr lang="tr-TR" dirty="0"/>
              <a:t> Çözümü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 2; </a:t>
            </a:r>
            <a:r>
              <a:rPr lang="en-US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Number of threads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volatile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i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volatile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turn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counter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/>
          </a:p>
          <a:p>
            <a:pPr marL="0" indent="0">
              <a:spcBef>
                <a:spcPts val="0"/>
              </a:spcBef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incrementCounter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Thread.</a:t>
            </a:r>
            <a:r>
              <a:rPr lang="en-U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currentThread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getId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 % 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turn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] &amp;&amp; 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turn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 {} </a:t>
            </a:r>
            <a:r>
              <a:rPr lang="en-US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Spin loop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i="1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counter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++;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Critical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endParaRPr lang="tr-TR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2A00FF"/>
                </a:solidFill>
                <a:latin typeface="Consolas" panose="020B0609020204030204" pitchFamily="49" charset="0"/>
              </a:rPr>
              <a:t>"Counter:"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counter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"i:"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b="1" i="1" dirty="0">
                <a:solidFill>
                  <a:srgbClr val="2A00FF"/>
                </a:solidFill>
                <a:latin typeface="Consolas" panose="020B0609020204030204" pitchFamily="49" charset="0"/>
              </a:rPr>
              <a:t>"j:"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68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Modern Mimaride </a:t>
            </a:r>
            <a:r>
              <a:rPr lang="tr-TR" dirty="0" err="1"/>
              <a:t>Peterson’un</a:t>
            </a:r>
            <a:r>
              <a:rPr lang="tr-TR" dirty="0"/>
              <a:t> Çözümü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iki süreç aynı anda kritik bölgede olabilir!</a:t>
            </a:r>
          </a:p>
          <a:p>
            <a:r>
              <a:rPr lang="tr-TR" dirty="0" err="1"/>
              <a:t>Peterson'ın</a:t>
            </a:r>
            <a:r>
              <a:rPr lang="tr-TR" dirty="0"/>
              <a:t> çözümünün modern bilgisayar mimarisinde doğru çalışmasını sağlamak için </a:t>
            </a:r>
            <a:r>
              <a:rPr lang="tr-TR" b="1" dirty="0"/>
              <a:t>Bellek </a:t>
            </a:r>
            <a:r>
              <a:rPr lang="tr-TR" b="1" dirty="0" err="1"/>
              <a:t>Bariyer’i</a:t>
            </a:r>
            <a:r>
              <a:rPr lang="tr-TR" b="1" dirty="0"/>
              <a:t> </a:t>
            </a:r>
            <a:r>
              <a:rPr lang="tr-TR" dirty="0"/>
              <a:t>kullanılmalıdır.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F7229EED-A648-44C1-AE74-D9D9018D4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000" y="3644539"/>
            <a:ext cx="7560000" cy="18333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697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Bariyer (</a:t>
            </a:r>
            <a:r>
              <a:rPr lang="tr-TR" dirty="0" err="1"/>
              <a:t>Barriers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 gruplarını senkronize eder.</a:t>
            </a:r>
          </a:p>
          <a:p>
            <a:r>
              <a:rPr lang="tr-TR" dirty="0"/>
              <a:t>Genellikle bilimsel hesaplamalarda kullanılır.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Picture 6" descr="D:\b\b4\IBM\02-3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777" y="3019607"/>
            <a:ext cx="7938446" cy="32018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7408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Bariyer (</a:t>
            </a:r>
            <a:r>
              <a:rPr lang="tr-TR" dirty="0" err="1"/>
              <a:t>Barriers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Değişikliğin diğer süreçlere yayılmasını (görünür hale getirilmesini) zorlar.</a:t>
            </a:r>
          </a:p>
          <a:p>
            <a:r>
              <a:rPr lang="tr-TR" dirty="0"/>
              <a:t>Sistem, bellek okuma/yazma işleminden önce, tüm bellek okuma/yazma işlemlerinin tamamlanmasını sağlar.</a:t>
            </a:r>
          </a:p>
          <a:p>
            <a:pPr marL="0" indent="0">
              <a:buNone/>
            </a:pPr>
            <a:r>
              <a:rPr lang="tr-TR" dirty="0" err="1"/>
              <a:t>Thread</a:t>
            </a:r>
            <a:r>
              <a:rPr lang="tr-TR" dirty="0"/>
              <a:t> 1				</a:t>
            </a:r>
            <a:r>
              <a:rPr lang="tr-TR" dirty="0" err="1"/>
              <a:t>Thread</a:t>
            </a:r>
            <a:r>
              <a:rPr lang="tr-TR" dirty="0"/>
              <a:t> 2</a:t>
            </a: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</a:rPr>
              <a:t>while (!flag)</a:t>
            </a:r>
            <a:r>
              <a:rPr lang="tr-TR" dirty="0">
                <a:latin typeface="Consolas" panose="020B0609020204030204" pitchFamily="49" charset="0"/>
              </a:rPr>
              <a:t>			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x = 100;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memory_barrier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r>
              <a:rPr lang="tr-TR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memory_barrier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print x</a:t>
            </a:r>
            <a:r>
              <a:rPr lang="tr-TR" dirty="0">
                <a:latin typeface="Consolas" panose="020B0609020204030204" pitchFamily="49" charset="0"/>
              </a:rPr>
              <a:t>				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flag = true</a:t>
            </a:r>
            <a:endParaRPr lang="en-US" dirty="0">
              <a:latin typeface="Consolas" panose="020B0609020204030204" pitchFamily="49" charset="0"/>
            </a:endParaRPr>
          </a:p>
          <a:p>
            <a:endParaRPr lang="tr-TR" dirty="0"/>
          </a:p>
          <a:p>
            <a:r>
              <a:rPr lang="tr-TR" dirty="0"/>
              <a:t>İş Parçacığı 1: </a:t>
            </a:r>
            <a:r>
              <a:rPr lang="tr-TR" i="1" dirty="0" err="1"/>
              <a:t>flag</a:t>
            </a:r>
            <a:r>
              <a:rPr lang="tr-TR" i="1" dirty="0"/>
              <a:t> </a:t>
            </a:r>
            <a:r>
              <a:rPr lang="tr-TR" dirty="0"/>
              <a:t>değerinin x değerinden önce okunması garanti edilir. </a:t>
            </a:r>
          </a:p>
          <a:p>
            <a:r>
              <a:rPr lang="tr-TR" dirty="0"/>
              <a:t>İş Parçacığı 2: </a:t>
            </a:r>
            <a:r>
              <a:rPr lang="tr-TR" dirty="0" err="1"/>
              <a:t>x'e</a:t>
            </a:r>
            <a:r>
              <a:rPr lang="tr-TR" dirty="0"/>
              <a:t> atamanın </a:t>
            </a:r>
            <a:r>
              <a:rPr lang="tr-TR" i="1" dirty="0" err="1"/>
              <a:t>flag</a:t>
            </a:r>
            <a:r>
              <a:rPr lang="tr-TR" i="1" dirty="0"/>
              <a:t> </a:t>
            </a:r>
            <a:r>
              <a:rPr lang="tr-TR" dirty="0"/>
              <a:t>atamasından önce olması garanti edilir.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6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Donanım Çözümleri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sözcüğün (</a:t>
            </a:r>
            <a:r>
              <a:rPr lang="tr-TR" i="1" dirty="0" err="1"/>
              <a:t>word</a:t>
            </a:r>
            <a:r>
              <a:rPr lang="tr-TR" dirty="0"/>
              <a:t>) içeriği test edilip değiştirilir, veya</a:t>
            </a:r>
          </a:p>
          <a:p>
            <a:r>
              <a:rPr lang="tr-TR" dirty="0"/>
              <a:t>Sözcüğün içeriği atomik (</a:t>
            </a:r>
            <a:r>
              <a:rPr lang="tr-TR" i="1" dirty="0"/>
              <a:t>kesintisiz, tek adımda</a:t>
            </a:r>
            <a:r>
              <a:rPr lang="tr-TR" dirty="0"/>
              <a:t>) olarak değiştirilir.</a:t>
            </a:r>
          </a:p>
          <a:p>
            <a:r>
              <a:rPr lang="tr-TR" b="1" dirty="0"/>
              <a:t>Test Et ve Ata komutu</a:t>
            </a:r>
            <a:r>
              <a:rPr lang="tr-TR" dirty="0"/>
              <a:t> (</a:t>
            </a:r>
            <a:r>
              <a:rPr lang="tr-TR" i="1" dirty="0"/>
              <a:t>test-</a:t>
            </a:r>
            <a:r>
              <a:rPr lang="tr-TR" i="1" dirty="0" err="1"/>
              <a:t>and</a:t>
            </a:r>
            <a:r>
              <a:rPr lang="tr-TR" i="1" dirty="0"/>
              <a:t>-set</a:t>
            </a:r>
            <a:r>
              <a:rPr lang="tr-TR" dirty="0"/>
              <a:t>)</a:t>
            </a:r>
          </a:p>
          <a:p>
            <a:r>
              <a:rPr lang="tr-TR" b="1" dirty="0"/>
              <a:t>Karşılaştır ve Değiştir komutu </a:t>
            </a:r>
            <a:r>
              <a:rPr lang="tr-TR" dirty="0"/>
              <a:t>(</a:t>
            </a:r>
            <a:r>
              <a:rPr lang="tr-TR" i="1" dirty="0" err="1"/>
              <a:t>compare</a:t>
            </a:r>
            <a:r>
              <a:rPr lang="tr-TR" i="1" dirty="0"/>
              <a:t>-</a:t>
            </a:r>
            <a:r>
              <a:rPr lang="tr-TR" i="1" dirty="0" err="1"/>
              <a:t>and</a:t>
            </a:r>
            <a:r>
              <a:rPr lang="tr-TR" i="1" dirty="0"/>
              <a:t>-swap</a:t>
            </a:r>
            <a:r>
              <a:rPr lang="tr-TR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34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TSL Komutu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TSL</a:t>
            </a:r>
            <a:r>
              <a:rPr lang="tr-TR" dirty="0"/>
              <a:t> (</a:t>
            </a:r>
            <a:r>
              <a:rPr lang="tr-TR" i="1" dirty="0"/>
              <a:t>Test </a:t>
            </a:r>
            <a:r>
              <a:rPr lang="tr-TR" i="1" dirty="0" err="1"/>
              <a:t>and</a:t>
            </a:r>
            <a:r>
              <a:rPr lang="tr-TR" i="1" dirty="0"/>
              <a:t> Set </a:t>
            </a:r>
            <a:r>
              <a:rPr lang="tr-TR" i="1" dirty="0" err="1"/>
              <a:t>Lock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Paylaşılan kaynaklara erişimi senkronize eder.</a:t>
            </a:r>
          </a:p>
          <a:p>
            <a:pPr lvl="1"/>
            <a:r>
              <a:rPr lang="tr-TR" dirty="0"/>
              <a:t>Basit ve verimli bir mekanizma sağlar.</a:t>
            </a:r>
          </a:p>
          <a:p>
            <a:pPr lvl="1"/>
            <a:r>
              <a:rPr lang="tr-TR" dirty="0"/>
              <a:t>Veri tutarsızlığı ve yarış koşulları riskini azaltır.</a:t>
            </a:r>
          </a:p>
          <a:p>
            <a:r>
              <a:rPr lang="tr-TR" dirty="0"/>
              <a:t>Donanım düzeyinde atomik işlemler kullanarak hız ve verim sağlar.</a:t>
            </a:r>
          </a:p>
          <a:p>
            <a:r>
              <a:rPr lang="tr-TR" dirty="0"/>
              <a:t>Aygıt sürücüleri gibi kritik bölgelere erişimi senkronize eder.</a:t>
            </a:r>
          </a:p>
          <a:p>
            <a:r>
              <a:rPr lang="tr-TR" dirty="0"/>
              <a:t>Modern CPU mimarisi ve işletim sistemiyle uyumludur.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636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TSL Komutu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enter_region</a:t>
            </a:r>
            <a:r>
              <a:rPr lang="tr-TR" sz="2400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TSL REGISTER,LOCK 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copy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register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and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set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1 </a:t>
            </a: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CMP REGISTER,#0   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zero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JNE </a:t>
            </a:r>
            <a:r>
              <a:rPr lang="tr-TR" sz="2400" dirty="0" err="1">
                <a:latin typeface="Consolas" panose="020B0609020204030204" pitchFamily="49" charset="0"/>
              </a:rPr>
              <a:t>enter_region</a:t>
            </a:r>
            <a:r>
              <a:rPr lang="tr-TR" sz="2400" dirty="0">
                <a:latin typeface="Consolas" panose="020B0609020204030204" pitchFamily="49" charset="0"/>
              </a:rPr>
              <a:t>  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if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it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non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zero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set,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so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loop</a:t>
            </a:r>
            <a:endParaRPr lang="tr-TR" sz="24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RET               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caller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;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entered</a:t>
            </a:r>
            <a:endParaRPr lang="tr-TR" sz="24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sz="24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leave_region</a:t>
            </a:r>
            <a:r>
              <a:rPr lang="tr-TR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MOVE LOCK,#0      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store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a 0 in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endParaRPr lang="tr-TR" sz="24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RET               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4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3F7F5F"/>
                </a:solidFill>
                <a:latin typeface="Consolas" panose="020B0609020204030204" pitchFamily="49" charset="0"/>
              </a:rPr>
              <a:t>caller</a:t>
            </a:r>
            <a:endParaRPr lang="tr-TR" sz="24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90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XCHG Komutu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XCHG</a:t>
            </a:r>
            <a:r>
              <a:rPr lang="tr-TR" dirty="0"/>
              <a:t> (</a:t>
            </a:r>
            <a:r>
              <a:rPr lang="tr-TR" i="1" dirty="0"/>
              <a:t>Exchange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İki işlenenin (</a:t>
            </a:r>
            <a:r>
              <a:rPr lang="tr-TR" i="1" dirty="0" err="1"/>
              <a:t>operand</a:t>
            </a:r>
            <a:r>
              <a:rPr lang="tr-TR" dirty="0"/>
              <a:t>) içeriğini atomik olarak değiştirir, </a:t>
            </a:r>
          </a:p>
          <a:p>
            <a:pPr lvl="1"/>
            <a:r>
              <a:rPr lang="tr-TR" dirty="0"/>
              <a:t>Değişimin tek bir adımda tamamlanmasını sağlar.</a:t>
            </a:r>
          </a:p>
          <a:p>
            <a:r>
              <a:rPr lang="tr-TR" dirty="0"/>
              <a:t>Kilit, semafor gibi senkronizasyon mekanizmalarını için kullanılır.</a:t>
            </a:r>
          </a:p>
          <a:p>
            <a:r>
              <a:rPr lang="tr-TR" dirty="0"/>
              <a:t>Çok iş parçacıklı ortamda süreçler arası senkronizasyon için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146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XCHG Komutu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/>
          </a:bodyPr>
          <a:lstStyle/>
          <a:p>
            <a:r>
              <a:rPr lang="tr-TR" sz="2600" dirty="0"/>
              <a:t>XCHG A,B;  a ve b değerlerini yer değiştirir.</a:t>
            </a:r>
          </a:p>
          <a:p>
            <a:pPr marL="0" indent="0">
              <a:buNone/>
            </a:pPr>
            <a:r>
              <a:rPr lang="tr-TR" sz="26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enter_region</a:t>
            </a:r>
            <a:r>
              <a:rPr lang="tr-TR" sz="2600" b="1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MOVE REGISTER,#1  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|put a 1 in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the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register</a:t>
            </a:r>
            <a:endParaRPr lang="tr-TR" sz="2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XCHG REGISTER,LOCK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|swap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contents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of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the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register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and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endParaRPr lang="tr-TR" sz="2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CMP REGISTER,#0   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zero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JNE </a:t>
            </a:r>
            <a:r>
              <a:rPr lang="tr-TR" sz="2600" dirty="0" err="1">
                <a:latin typeface="Consolas" panose="020B0609020204030204" pitchFamily="49" charset="0"/>
              </a:rPr>
              <a:t>enter_region</a:t>
            </a:r>
            <a:r>
              <a:rPr lang="tr-TR" sz="2600" dirty="0">
                <a:latin typeface="Consolas" panose="020B0609020204030204" pitchFamily="49" charset="0"/>
              </a:rPr>
              <a:t>  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if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it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non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zero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set,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so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loop</a:t>
            </a:r>
            <a:endParaRPr lang="tr-TR" sz="2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RET               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caller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;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entered</a:t>
            </a:r>
            <a:endParaRPr lang="tr-TR" sz="2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6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leave_region</a:t>
            </a:r>
            <a:r>
              <a:rPr lang="tr-TR" sz="2600" b="1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MOVE LOCK,#0      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store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a 0 in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lock</a:t>
            </a:r>
            <a:endParaRPr lang="tr-TR" sz="2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600" dirty="0">
                <a:latin typeface="Consolas" panose="020B0609020204030204" pitchFamily="49" charset="0"/>
              </a:rPr>
              <a:t>RET                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|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600" dirty="0" err="1">
                <a:solidFill>
                  <a:srgbClr val="3F7F5F"/>
                </a:solidFill>
                <a:latin typeface="Consolas" panose="020B0609020204030204" pitchFamily="49" charset="0"/>
              </a:rPr>
              <a:t>caller</a:t>
            </a:r>
            <a:endParaRPr lang="tr-TR" sz="2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62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Uyuma ve Uyandırma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Meşgul beklemenin dezavantajı,</a:t>
            </a:r>
          </a:p>
          <a:p>
            <a:pPr lvl="1"/>
            <a:r>
              <a:rPr lang="tr-TR" dirty="0"/>
              <a:t>Düşük öncelikli bir süreç kritik bölgede iken, </a:t>
            </a:r>
          </a:p>
          <a:p>
            <a:pPr lvl="1"/>
            <a:r>
              <a:rPr lang="tr-TR" dirty="0"/>
              <a:t>Yüksek öncelikli süreç geldiğinde, düşük öncelikli süreci engeller.</a:t>
            </a:r>
          </a:p>
          <a:p>
            <a:pPr lvl="1"/>
            <a:r>
              <a:rPr lang="tr-TR" dirty="0"/>
              <a:t>Kilit'ten dolayı meşgul beklemede CPU'yu boşa harcar.</a:t>
            </a:r>
          </a:p>
          <a:p>
            <a:pPr lvl="1"/>
            <a:r>
              <a:rPr lang="tr-TR" dirty="0"/>
              <a:t>Düşük öncelikli süreç kritik bölge dışına çıkamaz.</a:t>
            </a:r>
          </a:p>
          <a:p>
            <a:pPr lvl="1"/>
            <a:r>
              <a:rPr lang="tr-TR" dirty="0"/>
              <a:t>Ölümcül kitlenmeye (</a:t>
            </a:r>
            <a:r>
              <a:rPr lang="tr-TR" i="1" dirty="0" err="1"/>
              <a:t>deadlock</a:t>
            </a:r>
            <a:r>
              <a:rPr lang="tr-TR" dirty="0"/>
              <a:t>) neden olabilir.</a:t>
            </a:r>
          </a:p>
          <a:p>
            <a:pPr lvl="1"/>
            <a:r>
              <a:rPr lang="tr-TR" dirty="0"/>
              <a:t>Öncelikleri değiştirme (</a:t>
            </a:r>
            <a:r>
              <a:rPr lang="tr-TR" i="1" dirty="0" err="1"/>
              <a:t>priority</a:t>
            </a:r>
            <a:r>
              <a:rPr lang="tr-TR" i="1" dirty="0"/>
              <a:t> </a:t>
            </a:r>
            <a:r>
              <a:rPr lang="tr-TR" i="1" dirty="0" err="1"/>
              <a:t>inversion</a:t>
            </a:r>
            <a:r>
              <a:rPr lang="tr-TR" dirty="0"/>
              <a:t>) çözüm olabilir.</a:t>
            </a:r>
          </a:p>
          <a:p>
            <a:r>
              <a:rPr lang="tr-TR" dirty="0"/>
              <a:t>Meşgul beklemek yerine bloke etme,</a:t>
            </a:r>
          </a:p>
          <a:p>
            <a:pPr lvl="1"/>
            <a:r>
              <a:rPr lang="tr-TR" dirty="0"/>
              <a:t>Önce uyandır, sonra uyut (</a:t>
            </a:r>
            <a:r>
              <a:rPr lang="tr-TR" i="1" dirty="0" err="1"/>
              <a:t>wake</a:t>
            </a:r>
            <a:r>
              <a:rPr lang="tr-TR" i="1" dirty="0"/>
              <a:t> </a:t>
            </a:r>
            <a:r>
              <a:rPr lang="tr-TR" i="1" dirty="0" err="1"/>
              <a:t>up</a:t>
            </a:r>
            <a:r>
              <a:rPr lang="tr-TR" i="1" dirty="0"/>
              <a:t>, </a:t>
            </a:r>
            <a:r>
              <a:rPr lang="tr-TR" i="1" dirty="0" err="1"/>
              <a:t>sleep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90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Üretici Tüketici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süreç, </a:t>
            </a:r>
          </a:p>
          <a:p>
            <a:pPr lvl="1"/>
            <a:r>
              <a:rPr lang="tr-TR" dirty="0"/>
              <a:t>Sabit boyutlu bir arabelleği paylaşır.</a:t>
            </a:r>
          </a:p>
          <a:p>
            <a:pPr lvl="1"/>
            <a:r>
              <a:rPr lang="tr-TR" dirty="0"/>
              <a:t>Üretici arabelleğe veri yazar.</a:t>
            </a:r>
          </a:p>
          <a:p>
            <a:pPr lvl="1"/>
            <a:r>
              <a:rPr lang="tr-TR" dirty="0"/>
              <a:t>Tüketici arabellekten veri okur.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12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Ölümcül Yarış Durumu -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100;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/* number of slots in the buffer */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/* number of items in the buffer */</a:t>
            </a:r>
            <a:endParaRPr lang="tr-TR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produce_item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generate next item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sleep();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if buffer is full, go to sleep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insert_item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put item in buffer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+ 1;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increment count of items in buffer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== 1) wakeup(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consumer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was buffer empty?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137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Ölümcül Yarış Durumu -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== 0) sleep();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if buffer empty, sleep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remove_item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take item out of buffer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tr-TR" sz="2200" dirty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1;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decrement count of items in buffer */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1) wakeup (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producer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/*was buffer full?*/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consume_item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print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item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171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Kaybı Sorunu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count</a:t>
            </a:r>
            <a:r>
              <a:rPr lang="tr-TR" dirty="0"/>
              <a:t> değişkeni iki iş parçacığı tarafından paylaşılmakta.</a:t>
            </a:r>
          </a:p>
          <a:p>
            <a:r>
              <a:rPr lang="tr-TR" dirty="0"/>
              <a:t>Eşzamanlılıktan kaynaklı sorun:</a:t>
            </a:r>
          </a:p>
          <a:p>
            <a:pPr lvl="1"/>
            <a:r>
              <a:rPr lang="tr-TR" dirty="0"/>
              <a:t>Tüketici </a:t>
            </a:r>
            <a:r>
              <a:rPr lang="tr-TR" i="1" dirty="0" err="1"/>
              <a:t>count</a:t>
            </a:r>
            <a:r>
              <a:rPr lang="tr-TR" i="1" dirty="0"/>
              <a:t> </a:t>
            </a:r>
            <a:r>
              <a:rPr lang="tr-TR" dirty="0"/>
              <a:t>değişkenini 0 olarak okuduğunda, </a:t>
            </a:r>
          </a:p>
          <a:p>
            <a:pPr lvl="1"/>
            <a:r>
              <a:rPr lang="tr-TR" dirty="0"/>
              <a:t>Zamanında uykuya geçmediğinde, </a:t>
            </a:r>
          </a:p>
          <a:p>
            <a:pPr lvl="1"/>
            <a:r>
              <a:rPr lang="tr-TR" dirty="0"/>
              <a:t>Sinyal kaybolacaktır.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468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Semafor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Dijkstra</a:t>
            </a:r>
            <a:r>
              <a:rPr lang="tr-TR" b="1" dirty="0"/>
              <a:t> </a:t>
            </a:r>
            <a:r>
              <a:rPr lang="tr-TR" dirty="0"/>
              <a:t>tarafından önerilen bir değişken türü. </a:t>
            </a:r>
          </a:p>
          <a:p>
            <a:r>
              <a:rPr lang="tr-TR" dirty="0"/>
              <a:t>Atomik bir eylem, tek adımda tamamlanır, dolayısıyla bölünmez.</a:t>
            </a:r>
          </a:p>
          <a:p>
            <a:r>
              <a:rPr lang="tr-TR" b="1" dirty="0" err="1"/>
              <a:t>down</a:t>
            </a:r>
            <a:r>
              <a:rPr lang="tr-TR" b="1" dirty="0"/>
              <a:t> – </a:t>
            </a:r>
            <a:r>
              <a:rPr lang="tr-TR" b="1" dirty="0" err="1"/>
              <a:t>wait</a:t>
            </a:r>
            <a:r>
              <a:rPr lang="tr-TR" b="1" dirty="0"/>
              <a:t> </a:t>
            </a:r>
            <a:r>
              <a:rPr lang="tr-TR" dirty="0"/>
              <a:t>(</a:t>
            </a:r>
            <a:r>
              <a:rPr lang="tr-TR" i="1" dirty="0"/>
              <a:t>P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Semafor değeri kontrol edilir,</a:t>
            </a:r>
          </a:p>
          <a:p>
            <a:pPr lvl="2"/>
            <a:r>
              <a:rPr lang="tr-TR" dirty="0"/>
              <a:t>0 ise meşgul bekler,</a:t>
            </a:r>
          </a:p>
          <a:p>
            <a:pPr lvl="2"/>
            <a:r>
              <a:rPr lang="tr-TR" dirty="0"/>
              <a:t>Değilse değeri azaltır, devam eder.</a:t>
            </a:r>
          </a:p>
          <a:p>
            <a:r>
              <a:rPr lang="tr-TR" b="1" dirty="0" err="1"/>
              <a:t>up</a:t>
            </a:r>
            <a:r>
              <a:rPr lang="tr-TR" b="1" dirty="0"/>
              <a:t> - </a:t>
            </a:r>
            <a:r>
              <a:rPr lang="tr-TR" b="1" dirty="0" err="1"/>
              <a:t>signal</a:t>
            </a:r>
            <a:r>
              <a:rPr lang="tr-TR" b="1" dirty="0"/>
              <a:t> </a:t>
            </a:r>
            <a:r>
              <a:rPr lang="tr-TR" dirty="0"/>
              <a:t>(</a:t>
            </a:r>
            <a:r>
              <a:rPr lang="tr-TR" i="1" dirty="0"/>
              <a:t>V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Semafor değeri arttırılır,</a:t>
            </a:r>
          </a:p>
          <a:p>
            <a:pPr lvl="1"/>
            <a:r>
              <a:rPr lang="tr-TR" dirty="0"/>
              <a:t>Semafor bekleyen süreçler devam eder,</a:t>
            </a:r>
          </a:p>
          <a:p>
            <a:pPr lvl="1"/>
            <a:r>
              <a:rPr lang="tr-TR" dirty="0"/>
              <a:t>Kaynak sayısının bir işareti olarak düşünülebilir.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64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Üretici-Tüketici Sorununa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full</a:t>
            </a:r>
            <a:r>
              <a:rPr lang="tr-TR" dirty="0"/>
              <a:t>: Dolu yuvaların sayısı, başlangıç değeri 0.</a:t>
            </a:r>
          </a:p>
          <a:p>
            <a:r>
              <a:rPr lang="tr-TR" b="1" dirty="0" err="1"/>
              <a:t>empty</a:t>
            </a:r>
            <a:r>
              <a:rPr lang="tr-TR" dirty="0"/>
              <a:t>: Boş yuvaların sayısı, başlangıç değeri N.</a:t>
            </a:r>
          </a:p>
          <a:p>
            <a:r>
              <a:rPr lang="tr-TR" b="1" dirty="0" err="1"/>
              <a:t>mutex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Arabelleğe (</a:t>
            </a:r>
            <a:r>
              <a:rPr lang="tr-TR" i="1" dirty="0" err="1"/>
              <a:t>buffer</a:t>
            </a:r>
            <a:r>
              <a:rPr lang="tr-TR" dirty="0"/>
              <a:t>) aynı anda erişimi engeller, </a:t>
            </a:r>
          </a:p>
          <a:p>
            <a:pPr lvl="1"/>
            <a:r>
              <a:rPr lang="tr-TR" dirty="0"/>
              <a:t>Başlangıç değeri 0 (</a:t>
            </a:r>
            <a:r>
              <a:rPr lang="tr-TR" i="1" dirty="0"/>
              <a:t>ikili (</a:t>
            </a:r>
            <a:r>
              <a:rPr lang="tr-TR" i="1" dirty="0" err="1"/>
              <a:t>binary</a:t>
            </a:r>
            <a:r>
              <a:rPr lang="tr-TR" i="1" dirty="0"/>
              <a:t>) semafor</a:t>
            </a:r>
            <a:r>
              <a:rPr lang="tr-TR" dirty="0"/>
              <a:t>).</a:t>
            </a:r>
          </a:p>
          <a:p>
            <a:r>
              <a:rPr lang="tr-TR" dirty="0"/>
              <a:t>Karşılıklı dışlama ile senkronizasyon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193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Semafor Kullanımı -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2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8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= 100; </a:t>
            </a:r>
            <a:r>
              <a:rPr lang="en-US" sz="8000" dirty="0">
                <a:solidFill>
                  <a:srgbClr val="3F7F5F"/>
                </a:solidFill>
                <a:latin typeface="Consolas" panose="020B0609020204030204" pitchFamily="49" charset="0"/>
              </a:rPr>
              <a:t>/* number of slots in the buffer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Semaphore </a:t>
            </a:r>
            <a:r>
              <a:rPr lang="en-US" sz="8000" dirty="0">
                <a:solidFill>
                  <a:srgbClr val="0000C0"/>
                </a:solidFill>
                <a:latin typeface="Consolas" panose="020B0609020204030204" pitchFamily="49" charset="0"/>
              </a:rPr>
              <a:t>full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8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Semaphore(0); 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Semaphore </a:t>
            </a:r>
            <a:r>
              <a:rPr lang="en-US" sz="8000" dirty="0">
                <a:solidFill>
                  <a:srgbClr val="0000C0"/>
                </a:solidFill>
                <a:latin typeface="Consolas" panose="020B0609020204030204" pitchFamily="49" charset="0"/>
              </a:rPr>
              <a:t>empty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8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Semaphore(</a:t>
            </a:r>
            <a:r>
              <a:rPr lang="en-US" sz="80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QUEUE_SIZE</a:t>
            </a:r>
            <a:r>
              <a:rPr lang="en-US" sz="8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tr-TR" sz="80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Semaphore </a:t>
            </a:r>
            <a:r>
              <a:rPr lang="en-US" sz="8000" dirty="0" err="1">
                <a:solidFill>
                  <a:srgbClr val="0000C0"/>
                </a:solidFill>
                <a:latin typeface="Consolas" panose="020B0609020204030204" pitchFamily="49" charset="0"/>
              </a:rPr>
              <a:t>mutex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8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Semaphore(1); </a:t>
            </a:r>
            <a:endParaRPr lang="en-US" sz="80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tr-TR" sz="80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tr-TR" sz="8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8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producer</a:t>
            </a:r>
            <a:r>
              <a:rPr lang="tr-TR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8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8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80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sz="80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80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produce_item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8000" dirty="0">
                <a:solidFill>
                  <a:srgbClr val="3F7F5F"/>
                </a:solidFill>
                <a:latin typeface="Consolas" panose="020B0609020204030204" pitchFamily="49" charset="0"/>
              </a:rPr>
              <a:t>/* generate something to put in buffer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8000" dirty="0" err="1">
                <a:solidFill>
                  <a:srgbClr val="000000"/>
                </a:solidFill>
                <a:latin typeface="Consolas" panose="020B0609020204030204" pitchFamily="49" charset="0"/>
              </a:rPr>
              <a:t>down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8000" dirty="0" err="1">
                <a:solidFill>
                  <a:srgbClr val="0000C0"/>
                </a:solidFill>
                <a:latin typeface="Consolas" panose="020B0609020204030204" pitchFamily="49" charset="0"/>
              </a:rPr>
              <a:t>empty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decrement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empty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count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8000" dirty="0" err="1">
                <a:solidFill>
                  <a:srgbClr val="000000"/>
                </a:solidFill>
                <a:latin typeface="Consolas" panose="020B0609020204030204" pitchFamily="49" charset="0"/>
              </a:rPr>
              <a:t>down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8000" dirty="0" err="1">
                <a:solidFill>
                  <a:srgbClr val="0000C0"/>
                </a:solidFill>
                <a:latin typeface="Consolas" panose="020B0609020204030204" pitchFamily="49" charset="0"/>
              </a:rPr>
              <a:t>mutex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enter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insert_item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8000" dirty="0">
                <a:solidFill>
                  <a:srgbClr val="3F7F5F"/>
                </a:solidFill>
                <a:latin typeface="Consolas" panose="020B0609020204030204" pitchFamily="49" charset="0"/>
              </a:rPr>
              <a:t>/* put item in buffer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8000" dirty="0" err="1">
                <a:solidFill>
                  <a:srgbClr val="000000"/>
                </a:solidFill>
                <a:latin typeface="Consolas" panose="020B0609020204030204" pitchFamily="49" charset="0"/>
              </a:rPr>
              <a:t>up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8000" dirty="0" err="1">
                <a:solidFill>
                  <a:srgbClr val="0000C0"/>
                </a:solidFill>
                <a:latin typeface="Consolas" panose="020B0609020204030204" pitchFamily="49" charset="0"/>
              </a:rPr>
              <a:t>mutex</a:t>
            </a: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leave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80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8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up(</a:t>
            </a:r>
            <a:r>
              <a:rPr lang="en-US" sz="8000" dirty="0">
                <a:solidFill>
                  <a:srgbClr val="0000C0"/>
                </a:solidFill>
                <a:latin typeface="Consolas" panose="020B0609020204030204" pitchFamily="49" charset="0"/>
              </a:rPr>
              <a:t>full</a:t>
            </a:r>
            <a:r>
              <a:rPr lang="en-US" sz="80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8000" dirty="0">
                <a:solidFill>
                  <a:srgbClr val="3F7F5F"/>
                </a:solidFill>
                <a:latin typeface="Consolas" panose="020B0609020204030204" pitchFamily="49" charset="0"/>
              </a:rPr>
              <a:t>/* increment count of full slots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8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8000" dirty="0"/>
          </a:p>
          <a:p>
            <a:pPr>
              <a:spcBef>
                <a:spcPts val="600"/>
              </a:spcBef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36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Semafor Kullanımı -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down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800" dirty="0" err="1">
                <a:solidFill>
                  <a:srgbClr val="0000C0"/>
                </a:solidFill>
                <a:latin typeface="Consolas" panose="020B0609020204030204" pitchFamily="49" charset="0"/>
              </a:rPr>
              <a:t>full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decrement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full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count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down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800" dirty="0" err="1">
                <a:solidFill>
                  <a:srgbClr val="0000C0"/>
                </a:solidFill>
                <a:latin typeface="Consolas" panose="020B0609020204030204" pitchFamily="49" charset="0"/>
              </a:rPr>
              <a:t>mutex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enter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remove_item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take item out of buffer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up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800" dirty="0" err="1">
                <a:solidFill>
                  <a:srgbClr val="0000C0"/>
                </a:solidFill>
                <a:latin typeface="Consolas" panose="020B0609020204030204" pitchFamily="49" charset="0"/>
              </a:rPr>
              <a:t>mutex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leave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up(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empty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increment count of empty slots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consume_item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8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print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item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800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40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Mutex</a:t>
            </a:r>
            <a:r>
              <a:rPr lang="tr-TR" dirty="0"/>
              <a:t> Kilitleri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En basit senkronizasyon mekanizması.</a:t>
            </a:r>
          </a:p>
          <a:p>
            <a:pPr lvl="1"/>
            <a:r>
              <a:rPr lang="tr-TR" dirty="0"/>
              <a:t>Kilidin mevcut olup olmadığını gösteren </a:t>
            </a:r>
            <a:r>
              <a:rPr lang="tr-TR" i="1" dirty="0" err="1"/>
              <a:t>Boolean</a:t>
            </a:r>
            <a:r>
              <a:rPr lang="tr-TR" i="1" dirty="0"/>
              <a:t> </a:t>
            </a:r>
            <a:r>
              <a:rPr lang="tr-TR" dirty="0"/>
              <a:t>bir değişken.</a:t>
            </a:r>
          </a:p>
          <a:p>
            <a:r>
              <a:rPr lang="tr-TR" dirty="0"/>
              <a:t>Kritik bölge nasıl korunur?</a:t>
            </a:r>
          </a:p>
          <a:p>
            <a:pPr lvl="1"/>
            <a:r>
              <a:rPr lang="tr-TR" dirty="0"/>
              <a:t>Önce bir kilit alınır (</a:t>
            </a:r>
            <a:r>
              <a:rPr lang="tr-TR" i="1" dirty="0" err="1"/>
              <a:t>acquire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Ardından kilit serbest bırakılır (</a:t>
            </a:r>
            <a:r>
              <a:rPr lang="tr-TR" i="1" dirty="0" err="1"/>
              <a:t>release</a:t>
            </a:r>
            <a:r>
              <a:rPr lang="tr-TR" dirty="0"/>
              <a:t>).</a:t>
            </a:r>
          </a:p>
          <a:p>
            <a:r>
              <a:rPr lang="tr-TR" i="1" dirty="0" err="1"/>
              <a:t>acquire</a:t>
            </a:r>
            <a:r>
              <a:rPr lang="tr-TR" dirty="0"/>
              <a:t>() ve </a:t>
            </a:r>
            <a:r>
              <a:rPr lang="tr-TR" i="1" dirty="0" err="1"/>
              <a:t>release</a:t>
            </a:r>
            <a:r>
              <a:rPr lang="tr-TR" dirty="0"/>
              <a:t>() çağrıları atomik olmalıdır.</a:t>
            </a:r>
          </a:p>
          <a:p>
            <a:pPr lvl="1"/>
            <a:r>
              <a:rPr lang="tr-TR" i="1" dirty="0"/>
              <a:t>XCHG </a:t>
            </a:r>
            <a:r>
              <a:rPr lang="tr-TR" dirty="0"/>
              <a:t>gibi atomik donanım komutları kullanılır.</a:t>
            </a:r>
          </a:p>
          <a:p>
            <a:r>
              <a:rPr lang="tr-TR" dirty="0"/>
              <a:t>Bu çözüm meşgul beklemeyi (</a:t>
            </a:r>
            <a:r>
              <a:rPr lang="tr-TR" b="1" dirty="0" err="1"/>
              <a:t>busy</a:t>
            </a:r>
            <a:r>
              <a:rPr lang="tr-TR" b="1" dirty="0"/>
              <a:t> </a:t>
            </a:r>
            <a:r>
              <a:rPr lang="tr-TR" b="1" dirty="0" err="1"/>
              <a:t>waiting</a:t>
            </a:r>
            <a:r>
              <a:rPr lang="tr-TR" dirty="0"/>
              <a:t>) gerektirir.</a:t>
            </a:r>
          </a:p>
          <a:p>
            <a:r>
              <a:rPr lang="tr-TR" dirty="0"/>
              <a:t>Bu nedenle, </a:t>
            </a:r>
            <a:r>
              <a:rPr lang="tr-TR" b="1" dirty="0" err="1"/>
              <a:t>spinlock</a:t>
            </a:r>
            <a:r>
              <a:rPr lang="tr-TR" dirty="0"/>
              <a:t> olarak adlandırılır.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85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mutex_lock</a:t>
            </a:r>
            <a:r>
              <a:rPr lang="tr-TR" dirty="0"/>
              <a:t> ve </a:t>
            </a:r>
            <a:r>
              <a:rPr lang="tr-TR" dirty="0" err="1"/>
              <a:t>mutex_unlock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mutex_lock</a:t>
            </a:r>
            <a:r>
              <a:rPr lang="tr-TR" sz="22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TSL REGISTER,MUTEX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copy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mutex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register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and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set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mutex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1 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CMP REGISTER,#0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mutex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zero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JZE ok         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if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it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zero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mutex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was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unlocked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so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CALL </a:t>
            </a:r>
            <a:r>
              <a:rPr lang="tr-TR" sz="2200" dirty="0" err="1">
                <a:latin typeface="Consolas" panose="020B0609020204030204" pitchFamily="49" charset="0"/>
              </a:rPr>
              <a:t>thread_yield</a:t>
            </a:r>
            <a:r>
              <a:rPr lang="tr-TR" sz="2200" dirty="0">
                <a:latin typeface="Consolas" panose="020B0609020204030204" pitchFamily="49" charset="0"/>
              </a:rPr>
              <a:t>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mutex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is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busy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;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schedule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another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thread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JMP </a:t>
            </a:r>
            <a:r>
              <a:rPr lang="tr-TR" sz="2200" dirty="0" err="1">
                <a:latin typeface="Consolas" panose="020B0609020204030204" pitchFamily="49" charset="0"/>
              </a:rPr>
              <a:t>mutex_lock</a:t>
            </a:r>
            <a:r>
              <a:rPr lang="tr-TR" sz="2200" dirty="0">
                <a:latin typeface="Consolas" panose="020B0609020204030204" pitchFamily="49" charset="0"/>
              </a:rPr>
              <a:t> 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try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again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later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>
                <a:solidFill>
                  <a:schemeClr val="tx1"/>
                </a:solidFill>
                <a:latin typeface="Consolas" panose="020B0609020204030204" pitchFamily="49" charset="0"/>
              </a:rPr>
              <a:t>ok</a:t>
            </a:r>
            <a:r>
              <a:rPr lang="tr-TR" sz="2200" dirty="0">
                <a:latin typeface="Consolas" panose="020B0609020204030204" pitchFamily="49" charset="0"/>
              </a:rPr>
              <a:t>: RET        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caller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;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critical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entered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sz="22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mutex_unlock</a:t>
            </a:r>
            <a:r>
              <a:rPr lang="tr-TR" sz="22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MOVE MUTEX,#0  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store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a 0 in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mutex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RET            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|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return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caller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4049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Pthreads</a:t>
            </a:r>
            <a:r>
              <a:rPr lang="tr-TR" dirty="0"/>
              <a:t> </a:t>
            </a:r>
            <a:r>
              <a:rPr lang="tr-TR" dirty="0" err="1"/>
              <a:t>Mutex</a:t>
            </a:r>
            <a:r>
              <a:rPr lang="tr-TR" dirty="0"/>
              <a:t>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50315"/>
              </p:ext>
            </p:extLst>
          </p:nvPr>
        </p:nvGraphicFramePr>
        <p:xfrm>
          <a:off x="981889" y="2404775"/>
          <a:ext cx="10080000" cy="2743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5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8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Çağrı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Tanım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pthread_mutex_init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err="1"/>
                        <a:t>Mutex</a:t>
                      </a:r>
                      <a:r>
                        <a:rPr lang="tr-TR" sz="2400" dirty="0"/>
                        <a:t> oluşturur.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pthread_mutex_destroy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err="1"/>
                        <a:t>Mutex’i</a:t>
                      </a:r>
                      <a:r>
                        <a:rPr lang="tr-TR" sz="2400" dirty="0"/>
                        <a:t> kaldırır.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pthread_mutex_lock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Kilidi alır ya da bloke eder.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pthread_mutex_trylock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Kilidi alır ya da hata verir.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pthread_mutex_unlock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Kilidi kaldırır.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3010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Pthreads</a:t>
            </a:r>
            <a:r>
              <a:rPr lang="tr-TR" dirty="0"/>
              <a:t> </a:t>
            </a:r>
            <a:r>
              <a:rPr lang="tr-TR" dirty="0" err="1"/>
              <a:t>Condition</a:t>
            </a:r>
            <a:r>
              <a:rPr lang="tr-TR" dirty="0"/>
              <a:t>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157808"/>
              </p:ext>
            </p:extLst>
          </p:nvPr>
        </p:nvGraphicFramePr>
        <p:xfrm>
          <a:off x="981892" y="2404775"/>
          <a:ext cx="10080000" cy="2743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09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Çağrı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Tanım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pthread_cond_init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Koşul değişkeni oluşturur.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pthread_cond_destroy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Koşul değişkenini yok eder.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pthread_cond_wait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Sinyal bekler.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pthread_cond_signal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Başka bir iş parçacığına sinyal gönderir.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 err="1"/>
                        <a:t>pthread_cond_broadcast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Birden fazla iş parçacığına sinyal gönderir.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910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Pthreads</a:t>
            </a:r>
            <a:r>
              <a:rPr lang="tr-TR" dirty="0"/>
              <a:t> </a:t>
            </a:r>
            <a:r>
              <a:rPr lang="tr-TR" dirty="0" err="1"/>
              <a:t>Mutex</a:t>
            </a:r>
            <a:r>
              <a:rPr lang="tr-TR" dirty="0"/>
              <a:t> -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the_mutex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endParaRPr lang="tr-TR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condc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condp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endParaRPr lang="tr-TR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*producer(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dirty="0" err="1">
                <a:latin typeface="Consolas" panose="020B0609020204030204" pitchFamily="49" charset="0"/>
              </a:rPr>
              <a:t>ptr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3F7F5F"/>
                </a:solidFill>
                <a:latin typeface="Consolas" panose="020B0609020204030204" pitchFamily="49" charset="0"/>
              </a:rPr>
              <a:t>/* produce data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</a:rPr>
              <a:t> 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= 1;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&lt;= MAX;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++) {</a:t>
            </a:r>
            <a:endParaRPr lang="tr-TR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000" dirty="0"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</a:rPr>
              <a:t>the_mutex</a:t>
            </a:r>
            <a:r>
              <a:rPr lang="en-US" sz="2000" dirty="0">
                <a:latin typeface="Consolas" panose="020B0609020204030204" pitchFamily="49" charset="0"/>
              </a:rPr>
              <a:t>); </a:t>
            </a:r>
            <a:r>
              <a:rPr lang="en-US" sz="2000" dirty="0">
                <a:solidFill>
                  <a:srgbClr val="3F7F5F"/>
                </a:solidFill>
                <a:latin typeface="Consolas" panose="020B0609020204030204" pitchFamily="49" charset="0"/>
              </a:rPr>
              <a:t>/* get exclusive access to buffer */ </a:t>
            </a:r>
            <a:endParaRPr lang="tr-TR" sz="20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</a:rPr>
              <a:t> (buffer != 0)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pthread_cond_wait</a:t>
            </a:r>
            <a:r>
              <a:rPr lang="en-US" sz="2000" dirty="0"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</a:rPr>
              <a:t>condp</a:t>
            </a:r>
            <a:r>
              <a:rPr lang="en-US" sz="2000" dirty="0">
                <a:latin typeface="Consolas" panose="020B0609020204030204" pitchFamily="49" charset="0"/>
              </a:rPr>
              <a:t>, &amp;</a:t>
            </a:r>
            <a:r>
              <a:rPr lang="en-US" sz="2000" dirty="0" err="1">
                <a:latin typeface="Consolas" panose="020B0609020204030204" pitchFamily="49" charset="0"/>
              </a:rPr>
              <a:t>the_mutex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latin typeface="Consolas" panose="020B0609020204030204" pitchFamily="49" charset="0"/>
              </a:rPr>
              <a:t>buffer =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3F7F5F"/>
                </a:solidFill>
                <a:latin typeface="Consolas" panose="020B0609020204030204" pitchFamily="49" charset="0"/>
              </a:rPr>
              <a:t>/* put item in buffer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>
                <a:solidFill>
                  <a:srgbClr val="3F7F5F"/>
                </a:solidFill>
                <a:latin typeface="Consolas" panose="020B0609020204030204" pitchFamily="49" charset="0"/>
              </a:rPr>
              <a:t>/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pthread_cond_signal</a:t>
            </a:r>
            <a:r>
              <a:rPr lang="en-US" sz="2000" dirty="0"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</a:rPr>
              <a:t>condc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3F7F5F"/>
                </a:solidFill>
                <a:latin typeface="Consolas" panose="020B0609020204030204" pitchFamily="49" charset="0"/>
              </a:rPr>
              <a:t>/* wake up consumer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000" dirty="0"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</a:rPr>
              <a:t>the_mutex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3F7F5F"/>
                </a:solidFill>
                <a:latin typeface="Consolas" panose="020B0609020204030204" pitchFamily="49" charset="0"/>
              </a:rPr>
              <a:t>/* release access to buffer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000" dirty="0">
                <a:latin typeface="Consolas" panose="020B0609020204030204" pitchFamily="49" charset="0"/>
              </a:rPr>
              <a:t> 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pthread_exit</a:t>
            </a:r>
            <a:r>
              <a:rPr lang="en-US" sz="2000" dirty="0">
                <a:latin typeface="Consolas" panose="020B0609020204030204" pitchFamily="49" charset="0"/>
              </a:rPr>
              <a:t>(0);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tr-TR" sz="2000" dirty="0">
              <a:latin typeface="Consolas" panose="020B06090202040302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484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Pthreads</a:t>
            </a:r>
            <a:r>
              <a:rPr lang="tr-TR" dirty="0"/>
              <a:t> </a:t>
            </a:r>
            <a:r>
              <a:rPr lang="tr-TR" dirty="0" err="1"/>
              <a:t>Mutex</a:t>
            </a:r>
            <a:r>
              <a:rPr lang="tr-TR" dirty="0"/>
              <a:t> -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600"/>
              </a:spcBef>
              <a:buNone/>
            </a:pPr>
            <a:endParaRPr lang="tr-TR" sz="22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tr-TR" sz="22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latin typeface="Consolas" panose="020B0609020204030204" pitchFamily="49" charset="0"/>
              </a:rPr>
              <a:t> *</a:t>
            </a:r>
            <a:r>
              <a:rPr lang="tr-TR" sz="2200" dirty="0" err="1">
                <a:latin typeface="Consolas" panose="020B0609020204030204" pitchFamily="49" charset="0"/>
              </a:rPr>
              <a:t>consumer</a:t>
            </a:r>
            <a:r>
              <a:rPr lang="tr-TR" sz="2200" dirty="0">
                <a:latin typeface="Consolas" panose="020B0609020204030204" pitchFamily="49" charset="0"/>
              </a:rPr>
              <a:t>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latin typeface="Consolas" panose="020B0609020204030204" pitchFamily="49" charset="0"/>
              </a:rPr>
              <a:t> *</a:t>
            </a:r>
            <a:r>
              <a:rPr lang="tr-TR" sz="2200" dirty="0" err="1">
                <a:latin typeface="Consolas" panose="020B0609020204030204" pitchFamily="49" charset="0"/>
              </a:rPr>
              <a:t>ptr</a:t>
            </a:r>
            <a:r>
              <a:rPr lang="tr-TR" sz="2200" dirty="0">
                <a:latin typeface="Consolas" panose="020B0609020204030204" pitchFamily="49" charset="0"/>
              </a:rPr>
              <a:t>) {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consume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data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200" dirty="0">
                <a:latin typeface="Consolas" panose="020B0609020204030204" pitchFamily="49" charset="0"/>
              </a:rPr>
              <a:t> 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dirty="0">
                <a:latin typeface="Consolas" panose="020B0609020204030204" pitchFamily="49" charset="0"/>
              </a:rPr>
              <a:t> i = 1; i &lt;= MAX; i++)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pthread_mutex_lock</a:t>
            </a:r>
            <a:r>
              <a:rPr lang="tr-TR" sz="2200" dirty="0">
                <a:latin typeface="Consolas" panose="020B0609020204030204" pitchFamily="49" charset="0"/>
              </a:rPr>
              <a:t>(&amp;</a:t>
            </a:r>
            <a:r>
              <a:rPr lang="tr-TR" sz="2200" dirty="0" err="1">
                <a:latin typeface="Consolas" panose="020B0609020204030204" pitchFamily="49" charset="0"/>
              </a:rPr>
              <a:t>the_mutex</a:t>
            </a:r>
            <a:r>
              <a:rPr lang="tr-TR" sz="2200" dirty="0"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get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exclusive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buffer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   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200" dirty="0">
                <a:latin typeface="Consolas" panose="020B0609020204030204" pitchFamily="49" charset="0"/>
              </a:rPr>
              <a:t> (</a:t>
            </a:r>
            <a:r>
              <a:rPr lang="tr-TR" sz="2200" dirty="0" err="1">
                <a:latin typeface="Consolas" panose="020B0609020204030204" pitchFamily="49" charset="0"/>
              </a:rPr>
              <a:t>buffer</a:t>
            </a:r>
            <a:r>
              <a:rPr lang="tr-TR" sz="2200" dirty="0">
                <a:latin typeface="Consolas" panose="020B0609020204030204" pitchFamily="49" charset="0"/>
              </a:rPr>
              <a:t> == 0)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pthread_cond_wait</a:t>
            </a:r>
            <a:r>
              <a:rPr lang="tr-TR" sz="2200" dirty="0">
                <a:latin typeface="Consolas" panose="020B0609020204030204" pitchFamily="49" charset="0"/>
              </a:rPr>
              <a:t>(&amp;</a:t>
            </a:r>
            <a:r>
              <a:rPr lang="tr-TR" sz="2200" dirty="0" err="1">
                <a:latin typeface="Consolas" panose="020B0609020204030204" pitchFamily="49" charset="0"/>
              </a:rPr>
              <a:t>condc</a:t>
            </a:r>
            <a:r>
              <a:rPr lang="tr-TR" sz="2200" dirty="0">
                <a:latin typeface="Consolas" panose="020B0609020204030204" pitchFamily="49" charset="0"/>
              </a:rPr>
              <a:t>, &amp;</a:t>
            </a:r>
            <a:r>
              <a:rPr lang="tr-TR" sz="2200" dirty="0" err="1">
                <a:latin typeface="Consolas" panose="020B0609020204030204" pitchFamily="49" charset="0"/>
              </a:rPr>
              <a:t>the_mutex</a:t>
            </a:r>
            <a:r>
              <a:rPr lang="tr-TR" sz="22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  </a:t>
            </a:r>
            <a:r>
              <a:rPr lang="tr-TR" sz="2200" dirty="0" err="1">
                <a:latin typeface="Consolas" panose="020B0609020204030204" pitchFamily="49" charset="0"/>
              </a:rPr>
              <a:t>buffer</a:t>
            </a:r>
            <a:r>
              <a:rPr lang="tr-TR" sz="2200" dirty="0">
                <a:latin typeface="Consolas" panose="020B0609020204030204" pitchFamily="49" charset="0"/>
              </a:rPr>
              <a:t> = 0;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take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item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out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of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buffer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pthread_cond_signal</a:t>
            </a:r>
            <a:r>
              <a:rPr lang="tr-TR" sz="2200" dirty="0">
                <a:latin typeface="Consolas" panose="020B0609020204030204" pitchFamily="49" charset="0"/>
              </a:rPr>
              <a:t>(&amp;</a:t>
            </a:r>
            <a:r>
              <a:rPr lang="tr-TR" sz="2200" dirty="0" err="1">
                <a:latin typeface="Consolas" panose="020B0609020204030204" pitchFamily="49" charset="0"/>
              </a:rPr>
              <a:t>condp</a:t>
            </a:r>
            <a:r>
              <a:rPr lang="tr-TR" sz="2200" dirty="0"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wake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up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producer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pthread_mutex_unlock</a:t>
            </a:r>
            <a:r>
              <a:rPr lang="tr-TR" sz="2200" dirty="0">
                <a:latin typeface="Consolas" panose="020B0609020204030204" pitchFamily="49" charset="0"/>
              </a:rPr>
              <a:t>(&amp;</a:t>
            </a:r>
            <a:r>
              <a:rPr lang="tr-TR" sz="2200" dirty="0" err="1">
                <a:latin typeface="Consolas" panose="020B0609020204030204" pitchFamily="49" charset="0"/>
              </a:rPr>
              <a:t>the_mutex</a:t>
            </a:r>
            <a:r>
              <a:rPr lang="tr-TR" sz="2200" dirty="0"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release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buffer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pthread_exit</a:t>
            </a:r>
            <a:r>
              <a:rPr lang="tr-TR" sz="2200" dirty="0">
                <a:latin typeface="Consolas" panose="020B0609020204030204" pitchFamily="49" charset="0"/>
              </a:rPr>
              <a:t>(0);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sz="2200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58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Gözleyici (</a:t>
            </a:r>
            <a:r>
              <a:rPr lang="tr-TR" dirty="0" err="1"/>
              <a:t>Monitors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 senkronizasyonu için yüksek seviyeli soyutlama sağlar.</a:t>
            </a:r>
          </a:p>
          <a:p>
            <a:r>
              <a:rPr lang="tr-TR" dirty="0" err="1"/>
              <a:t>Muteks</a:t>
            </a:r>
            <a:r>
              <a:rPr lang="tr-TR" dirty="0"/>
              <a:t> ve koşul değişkenleri dikkatli kullanılmalı. </a:t>
            </a:r>
          </a:p>
          <a:p>
            <a:r>
              <a:rPr lang="tr-TR" dirty="0"/>
              <a:t>Üretici-tüketici probleminde kullanılan </a:t>
            </a:r>
            <a:r>
              <a:rPr lang="tr-TR" i="1" dirty="0" err="1"/>
              <a:t>down</a:t>
            </a:r>
            <a:r>
              <a:rPr lang="tr-TR" i="1" dirty="0"/>
              <a:t> </a:t>
            </a:r>
            <a:r>
              <a:rPr lang="tr-TR" dirty="0"/>
              <a:t>fonksiyonları,</a:t>
            </a:r>
          </a:p>
          <a:p>
            <a:pPr lvl="1"/>
            <a:r>
              <a:rPr lang="tr-TR" dirty="0"/>
              <a:t>Yer değiştirmesi halinde kitlenmeye (</a:t>
            </a:r>
            <a:r>
              <a:rPr lang="tr-TR" i="1" dirty="0" err="1"/>
              <a:t>deadlock</a:t>
            </a:r>
            <a:r>
              <a:rPr lang="tr-TR" dirty="0"/>
              <a:t>) neden olur.</a:t>
            </a:r>
          </a:p>
          <a:p>
            <a:r>
              <a:rPr lang="tr-TR" dirty="0"/>
              <a:t>Gözleyici, karşılıklı dışlama ve bloke etme mekanizmasını kullanır.</a:t>
            </a:r>
          </a:p>
          <a:p>
            <a:pPr lvl="1"/>
            <a:r>
              <a:rPr lang="tr-TR" dirty="0"/>
              <a:t>Gruplandırılmış {prosedürler, veri yapıları ve değişkenlerden} oluşur.</a:t>
            </a:r>
          </a:p>
          <a:p>
            <a:r>
              <a:rPr lang="tr-TR" dirty="0"/>
              <a:t>Bir süreç, gözleyicinin içindeki prosedürleri çağırabilir, </a:t>
            </a:r>
          </a:p>
          <a:p>
            <a:pPr lvl="1"/>
            <a:r>
              <a:rPr lang="tr-TR" dirty="0"/>
              <a:t>Ancak; içindeki öğelere doğrudan erişemez.</a:t>
            </a:r>
          </a:p>
          <a:p>
            <a:pPr lvl="1"/>
            <a:r>
              <a:rPr lang="tr-TR" dirty="0"/>
              <a:t>Aynı anda gözleyici içinde sadece bir prosedür çalışabilir.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957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Gözleyici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monitor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example</a:t>
            </a:r>
            <a:r>
              <a:rPr lang="tr-TR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integer</a:t>
            </a:r>
            <a:r>
              <a:rPr lang="tr-TR" dirty="0">
                <a:latin typeface="Consolas" panose="020B0609020204030204" pitchFamily="49" charset="0"/>
              </a:rPr>
              <a:t> i;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condition</a:t>
            </a:r>
            <a:r>
              <a:rPr lang="tr-TR" dirty="0">
                <a:latin typeface="Consolas" panose="020B0609020204030204" pitchFamily="49" charset="0"/>
              </a:rPr>
              <a:t> c;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procedure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producer</a:t>
            </a:r>
            <a:r>
              <a:rPr lang="tr-TR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.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end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procedure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consumer</a:t>
            </a:r>
            <a:r>
              <a:rPr lang="tr-TR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.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end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end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b="1" dirty="0" err="1">
                <a:latin typeface="Consolas" panose="020B0609020204030204" pitchFamily="49" charset="0"/>
              </a:rPr>
              <a:t>monitor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092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Gözleyici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Karşılıklı dışlama, programcıya değil, derleyiciye bırakılır.</a:t>
            </a:r>
          </a:p>
          <a:p>
            <a:r>
              <a:rPr lang="tr-TR" i="1" dirty="0"/>
              <a:t>Gözleyicide</a:t>
            </a:r>
            <a:r>
              <a:rPr lang="tr-TR" dirty="0"/>
              <a:t> aynı anda yalnızca bir işlem olabilir.</a:t>
            </a:r>
          </a:p>
          <a:p>
            <a:pPr lvl="1"/>
            <a:r>
              <a:rPr lang="tr-TR" dirty="0"/>
              <a:t>Gözleyicide bir prosedür çağrıldığında, </a:t>
            </a:r>
          </a:p>
          <a:p>
            <a:pPr lvl="1"/>
            <a:r>
              <a:rPr lang="tr-TR" dirty="0"/>
              <a:t>İlk iş başka bir prosedürün çalışıp çalışmadığı kontrol edilir.</a:t>
            </a:r>
          </a:p>
          <a:p>
            <a:pPr lvl="1"/>
            <a:r>
              <a:rPr lang="tr-TR" dirty="0"/>
              <a:t>Bu durumda, çağrı askıya alınır.</a:t>
            </a:r>
          </a:p>
          <a:p>
            <a:r>
              <a:rPr lang="tr-TR" dirty="0"/>
              <a:t>Bloke etme;</a:t>
            </a:r>
          </a:p>
          <a:p>
            <a:pPr lvl="1"/>
            <a:r>
              <a:rPr lang="tr-TR" dirty="0"/>
              <a:t>Koşul değişkenleri (</a:t>
            </a:r>
            <a:r>
              <a:rPr lang="tr-TR" i="1" dirty="0" err="1"/>
              <a:t>conditions</a:t>
            </a:r>
            <a:r>
              <a:rPr lang="tr-TR" dirty="0"/>
              <a:t>) kullanılarak.</a:t>
            </a:r>
          </a:p>
          <a:p>
            <a:pPr lvl="1"/>
            <a:r>
              <a:rPr lang="tr-TR" dirty="0"/>
              <a:t>Bekle, sinyal gönder işlemleri (</a:t>
            </a:r>
            <a:r>
              <a:rPr lang="tr-TR" i="1" dirty="0" err="1"/>
              <a:t>wait</a:t>
            </a:r>
            <a:r>
              <a:rPr lang="tr-TR" i="1" dirty="0"/>
              <a:t>, </a:t>
            </a:r>
            <a:r>
              <a:rPr lang="tr-TR" i="1" dirty="0" err="1"/>
              <a:t>signal</a:t>
            </a:r>
            <a:r>
              <a:rPr lang="tr-TR" dirty="0"/>
              <a:t>) kullanılarak.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76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Gözleyici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Gözleyici, arabellek dolu olduğunda, </a:t>
            </a:r>
          </a:p>
          <a:p>
            <a:pPr lvl="1"/>
            <a:r>
              <a:rPr lang="tr-TR" dirty="0"/>
              <a:t>Bir koşul değişkeninde (dolu) sinyali yayınlayarak,</a:t>
            </a:r>
          </a:p>
          <a:p>
            <a:pPr lvl="1"/>
            <a:r>
              <a:rPr lang="tr-TR" i="1" dirty="0"/>
              <a:t>Üretici </a:t>
            </a:r>
            <a:r>
              <a:rPr lang="tr-TR" dirty="0"/>
              <a:t>sürecin bloke olmasını sağlar.</a:t>
            </a:r>
          </a:p>
          <a:p>
            <a:pPr lvl="1"/>
            <a:r>
              <a:rPr lang="tr-TR" i="1" dirty="0"/>
              <a:t>Tüketici</a:t>
            </a:r>
            <a:r>
              <a:rPr lang="tr-TR" dirty="0"/>
              <a:t> sürecin gözleyiciye girmesine izin verir. </a:t>
            </a:r>
          </a:p>
          <a:p>
            <a:pPr lvl="1"/>
            <a:r>
              <a:rPr lang="tr-TR" dirty="0"/>
              <a:t>Bu işlem, </a:t>
            </a:r>
            <a:r>
              <a:rPr lang="tr-TR" i="1" dirty="0"/>
              <a:t>üretici</a:t>
            </a:r>
            <a:r>
              <a:rPr lang="tr-TR" dirty="0"/>
              <a:t> süreci uyandıracak bir sinyal üretir. </a:t>
            </a:r>
          </a:p>
          <a:p>
            <a:pPr lvl="1"/>
            <a:r>
              <a:rPr lang="tr-TR" dirty="0"/>
              <a:t>Sinyali alan süreç, sinyali işler ve gözleyiciden çıkar.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302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Arası İletişim Problemleri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b="1" dirty="0"/>
              <a:t>Dining philosopher </a:t>
            </a:r>
            <a:r>
              <a:rPr lang="en-US" dirty="0"/>
              <a:t>problem</a:t>
            </a:r>
            <a:r>
              <a:rPr lang="tr-TR" dirty="0"/>
              <a:t>i</a:t>
            </a:r>
            <a:endParaRPr lang="en-US" dirty="0"/>
          </a:p>
          <a:p>
            <a:pPr lvl="1"/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filozof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düşünür</a:t>
            </a:r>
            <a:r>
              <a:rPr lang="tr-TR" dirty="0"/>
              <a:t>.</a:t>
            </a:r>
          </a:p>
          <a:p>
            <a:pPr lvl="1"/>
            <a:r>
              <a:rPr lang="en-US" dirty="0"/>
              <a:t>A</a:t>
            </a:r>
            <a:r>
              <a:rPr lang="tr-TR" dirty="0" err="1"/>
              <a:t>cıkırsa</a:t>
            </a:r>
            <a:r>
              <a:rPr lang="en-US" dirty="0"/>
              <a:t>,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çatal</a:t>
            </a:r>
            <a:r>
              <a:rPr lang="en-US" dirty="0"/>
              <a:t> </a:t>
            </a:r>
            <a:r>
              <a:rPr lang="en-US" dirty="0" err="1"/>
              <a:t>alıp</a:t>
            </a:r>
            <a:r>
              <a:rPr lang="en-US" dirty="0"/>
              <a:t> </a:t>
            </a:r>
            <a:r>
              <a:rPr lang="en-US" dirty="0" err="1"/>
              <a:t>yemeye</a:t>
            </a:r>
            <a:r>
              <a:rPr lang="en-US" dirty="0"/>
              <a:t> </a:t>
            </a:r>
            <a:r>
              <a:rPr lang="en-US" dirty="0" err="1"/>
              <a:t>çalış</a:t>
            </a:r>
            <a:r>
              <a:rPr lang="tr-TR" dirty="0" err="1"/>
              <a:t>ır</a:t>
            </a:r>
            <a:r>
              <a:rPr lang="tr-TR" dirty="0"/>
              <a:t>.</a:t>
            </a:r>
            <a:endParaRPr lang="en-US" dirty="0"/>
          </a:p>
          <a:p>
            <a:r>
              <a:rPr lang="tr-TR" b="1" dirty="0"/>
              <a:t>Okur-Yazar</a:t>
            </a:r>
            <a:r>
              <a:rPr lang="tr-TR" dirty="0"/>
              <a:t> </a:t>
            </a:r>
            <a:r>
              <a:rPr lang="en-US" dirty="0"/>
              <a:t>problem</a:t>
            </a:r>
            <a:r>
              <a:rPr lang="tr-TR" dirty="0"/>
              <a:t>i</a:t>
            </a:r>
          </a:p>
          <a:p>
            <a:pPr lvl="1"/>
            <a:r>
              <a:rPr lang="tr-TR" dirty="0" err="1"/>
              <a:t>Veritabanına</a:t>
            </a:r>
            <a:r>
              <a:rPr lang="tr-TR" dirty="0"/>
              <a:t> erişimi modeller.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7145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573" y="1821539"/>
            <a:ext cx="4162853" cy="4318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03427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think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Initially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thinking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// Take a break from thinking, hungry now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pick_up_left_fork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pick_up_right_fork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eat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put_down_right_fork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put_down_left_fork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// Not hungry anymore. Back to thinking!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37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- </a:t>
            </a:r>
            <a:r>
              <a:rPr lang="tr-TR" dirty="0" err="1"/>
              <a:t>loop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tr-TR" dirty="0">
                <a:latin typeface="Consolas" panose="020B0609020204030204" pitchFamily="49" charset="0"/>
              </a:rPr>
              <a:t>LEFT (i + N-1) % N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number of i's left neighbor */ 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tr-TR" dirty="0">
                <a:latin typeface="Consolas" panose="020B0609020204030204" pitchFamily="49" charset="0"/>
              </a:rPr>
              <a:t>RIGHT (i + 1) % N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number of i's right neighbor */ 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philosopher(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 {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i: philosopher, from 0 to N-1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while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) {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repeat forever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</a:rPr>
              <a:t>think();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is thinking */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take_forks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acquire two forks or block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</a:rPr>
              <a:t>eat();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is eating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put_forks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put both forks back on table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602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– </a:t>
            </a:r>
            <a:r>
              <a:rPr lang="tr-TR" dirty="0" err="1"/>
              <a:t>take</a:t>
            </a:r>
            <a:r>
              <a:rPr lang="tr-TR" dirty="0"/>
              <a:t> </a:t>
            </a:r>
            <a:r>
              <a:rPr lang="tr-TR" dirty="0" err="1"/>
              <a:t>forks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take_forks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i: philosopher, from 0 to N-1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enter critical region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HUNGRY;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is hungry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test(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try to acquire 2 forks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exit critical region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dirty="0">
                <a:latin typeface="Consolas" panose="020B0609020204030204" pitchFamily="49" charset="0"/>
              </a:rPr>
              <a:t>(&amp;s[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block if forks were not acquired */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961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– put </a:t>
            </a:r>
            <a:r>
              <a:rPr lang="tr-TR" dirty="0" err="1"/>
              <a:t>forks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put_forks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: philosopher, from 0 to N-1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enter critical region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THINKING;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has finished eating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test(LEFT);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see if left neighbor can now eat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test(RIGHT);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see if right neighbor can now eat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exit critical region */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9252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– test </a:t>
            </a:r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test(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 {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i: philosopher, from 0 to N-1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 (state[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== HUNGRY &amp;&amp; 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state[LEFT] != EATING &amp;&amp; 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state[RIGHT] != EATING)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</a:t>
            </a:r>
            <a:r>
              <a:rPr lang="en-US" dirty="0">
                <a:latin typeface="Consolas" panose="020B0609020204030204" pitchFamily="49" charset="0"/>
              </a:rPr>
              <a:t>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EATING;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dirty="0">
                <a:latin typeface="Consolas" panose="020B0609020204030204" pitchFamily="49" charset="0"/>
              </a:rPr>
              <a:t>(&amp;s[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}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1353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Okur-Yazar Problemi - </a:t>
            </a:r>
            <a:r>
              <a:rPr lang="tr-TR" dirty="0" err="1"/>
              <a:t>writer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mutex</a:t>
            </a:r>
            <a:r>
              <a:rPr lang="en-US" sz="2200" dirty="0">
                <a:latin typeface="Consolas" panose="020B0609020204030204" pitchFamily="49" charset="0"/>
              </a:rPr>
              <a:t> = 1;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controls access to '</a:t>
            </a:r>
            <a:r>
              <a:rPr lang="en-US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' */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db</a:t>
            </a:r>
            <a:r>
              <a:rPr lang="en-US" sz="2200" dirty="0">
                <a:latin typeface="Consolas" panose="020B0609020204030204" pitchFamily="49" charset="0"/>
              </a:rPr>
              <a:t> = 1;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controls access to the database */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rc</a:t>
            </a:r>
            <a:r>
              <a:rPr lang="en-US" sz="2200" dirty="0">
                <a:latin typeface="Consolas" panose="020B0609020204030204" pitchFamily="49" charset="0"/>
              </a:rPr>
              <a:t> = 0;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# of processes reading or wanting to */</a:t>
            </a:r>
          </a:p>
          <a:p>
            <a:pPr marL="0" indent="0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latin typeface="Consolas" panose="020B0609020204030204" pitchFamily="49" charset="0"/>
              </a:rPr>
              <a:t> </a:t>
            </a:r>
            <a:r>
              <a:rPr lang="tr-TR" sz="2200" dirty="0" err="1">
                <a:latin typeface="Consolas" panose="020B0609020204030204" pitchFamily="49" charset="0"/>
              </a:rPr>
              <a:t>writer</a:t>
            </a:r>
            <a:r>
              <a:rPr lang="tr-TR" sz="2200" dirty="0">
                <a:latin typeface="Consolas" panose="020B0609020204030204" pitchFamily="49" charset="0"/>
              </a:rPr>
              <a:t>(</a:t>
            </a:r>
            <a:r>
              <a:rPr lang="tr-TR" sz="2200" dirty="0" err="1">
                <a:latin typeface="Consolas" panose="020B0609020204030204" pitchFamily="49" charset="0"/>
              </a:rPr>
              <a:t>void</a:t>
            </a:r>
            <a:r>
              <a:rPr lang="tr-TR" sz="22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200" dirty="0">
                <a:latin typeface="Consolas" panose="020B0609020204030204" pitchFamily="49" charset="0"/>
              </a:rPr>
              <a:t> 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200" dirty="0">
                <a:latin typeface="Consolas" panose="020B0609020204030204" pitchFamily="49" charset="0"/>
              </a:rPr>
              <a:t>) {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 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      </a:t>
            </a:r>
            <a:r>
              <a:rPr lang="tr-TR" sz="2200" dirty="0" err="1">
                <a:latin typeface="Consolas" panose="020B0609020204030204" pitchFamily="49" charset="0"/>
              </a:rPr>
              <a:t>think_up_data</a:t>
            </a:r>
            <a:r>
              <a:rPr lang="tr-TR" sz="2200" dirty="0">
                <a:latin typeface="Consolas" panose="020B0609020204030204" pitchFamily="49" charset="0"/>
              </a:rPr>
              <a:t>();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noncritical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 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  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sz="2200" dirty="0">
                <a:latin typeface="Consolas" panose="020B0609020204030204" pitchFamily="49" charset="0"/>
              </a:rPr>
              <a:t>(&amp;</a:t>
            </a:r>
            <a:r>
              <a:rPr lang="tr-TR" sz="2200" dirty="0" err="1">
                <a:latin typeface="Consolas" panose="020B0609020204030204" pitchFamily="49" charset="0"/>
              </a:rPr>
              <a:t>db</a:t>
            </a:r>
            <a:r>
              <a:rPr lang="tr-TR" sz="2200" dirty="0"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get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exclusive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 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      </a:t>
            </a:r>
            <a:r>
              <a:rPr lang="tr-TR" sz="2200" dirty="0" err="1">
                <a:latin typeface="Consolas" panose="020B0609020204030204" pitchFamily="49" charset="0"/>
              </a:rPr>
              <a:t>write_data_base</a:t>
            </a:r>
            <a:r>
              <a:rPr lang="tr-TR" sz="2200" dirty="0">
                <a:latin typeface="Consolas" panose="020B0609020204030204" pitchFamily="49" charset="0"/>
              </a:rPr>
              <a:t>();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update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the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data */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  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sz="2200" dirty="0">
                <a:latin typeface="Consolas" panose="020B0609020204030204" pitchFamily="49" charset="0"/>
              </a:rPr>
              <a:t>(&amp;</a:t>
            </a:r>
            <a:r>
              <a:rPr lang="tr-TR" sz="2200" dirty="0" err="1">
                <a:latin typeface="Consolas" panose="020B0609020204030204" pitchFamily="49" charset="0"/>
              </a:rPr>
              <a:t>db</a:t>
            </a:r>
            <a:r>
              <a:rPr lang="tr-TR" sz="2200" dirty="0"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release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exclusive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tr-TR" sz="2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364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Okur-Yazar Problemi - </a:t>
            </a:r>
            <a:r>
              <a:rPr lang="tr-TR" dirty="0" err="1"/>
              <a:t>reader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 </a:t>
            </a:r>
            <a:r>
              <a:rPr lang="en-US" sz="1800" dirty="0">
                <a:latin typeface="Consolas" panose="020B0609020204030204" pitchFamily="49" charset="0"/>
              </a:rPr>
              <a:t>reader(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  <a:r>
              <a:rPr lang="tr-TR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</a:rPr>
              <a:t> (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latin typeface="Consolas" panose="020B0609020204030204" pitchFamily="49" charset="0"/>
              </a:rPr>
              <a:t>) {</a:t>
            </a:r>
            <a:r>
              <a:rPr lang="tr-TR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repeat forever */</a:t>
            </a: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sz="1800" dirty="0">
                <a:latin typeface="Consolas" panose="020B0609020204030204" pitchFamily="49" charset="0"/>
              </a:rPr>
              <a:t>(&amp;</a:t>
            </a:r>
            <a:r>
              <a:rPr lang="en-US" sz="1800" dirty="0" err="1">
                <a:latin typeface="Consolas" panose="020B0609020204030204" pitchFamily="49" charset="0"/>
              </a:rPr>
              <a:t>mutex</a:t>
            </a:r>
            <a:r>
              <a:rPr lang="en-US" sz="1800" dirty="0"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get exclusive access to '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' */ </a:t>
            </a:r>
            <a:endParaRPr lang="tr-T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</a:t>
            </a:r>
            <a:r>
              <a:rPr lang="tr-TR" sz="1800" dirty="0">
                <a:latin typeface="Consolas" panose="020B0609020204030204" pitchFamily="49" charset="0"/>
              </a:rPr>
              <a:t>++</a:t>
            </a:r>
            <a:r>
              <a:rPr lang="en-US" sz="1800" dirty="0" err="1">
                <a:latin typeface="Consolas" panose="020B0609020204030204" pitchFamily="49" charset="0"/>
              </a:rPr>
              <a:t>rc</a:t>
            </a:r>
            <a:r>
              <a:rPr lang="en-US" sz="1800" dirty="0">
                <a:latin typeface="Consolas" panose="020B0609020204030204" pitchFamily="49" charset="0"/>
              </a:rPr>
              <a:t> == 1)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sz="1800" dirty="0">
                <a:latin typeface="Consolas" panose="020B0609020204030204" pitchFamily="49" charset="0"/>
              </a:rPr>
              <a:t>(&amp;</a:t>
            </a:r>
            <a:r>
              <a:rPr lang="en-US" sz="1800" dirty="0" err="1">
                <a:latin typeface="Consolas" panose="020B0609020204030204" pitchFamily="49" charset="0"/>
              </a:rPr>
              <a:t>db</a:t>
            </a:r>
            <a:r>
              <a:rPr lang="en-US" sz="1800" dirty="0"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if this is the first reader ... */ </a:t>
            </a:r>
            <a:endParaRPr lang="tr-T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sz="1800" dirty="0">
                <a:latin typeface="Consolas" panose="020B0609020204030204" pitchFamily="49" charset="0"/>
              </a:rPr>
              <a:t>(&amp;</a:t>
            </a:r>
            <a:r>
              <a:rPr lang="en-US" sz="1800" dirty="0" err="1">
                <a:latin typeface="Consolas" panose="020B0609020204030204" pitchFamily="49" charset="0"/>
              </a:rPr>
              <a:t>mutex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  <a:r>
              <a:rPr lang="tr-TR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release exclusive access to '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' */ </a:t>
            </a:r>
            <a:endParaRPr lang="tr-T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read_data_base</a:t>
            </a:r>
            <a:r>
              <a:rPr lang="en-US" sz="1800" dirty="0"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access the data */</a:t>
            </a: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sz="1800" dirty="0">
                <a:latin typeface="Consolas" panose="020B0609020204030204" pitchFamily="49" charset="0"/>
              </a:rPr>
              <a:t>(&amp;</a:t>
            </a:r>
            <a:r>
              <a:rPr lang="en-US" sz="1800" dirty="0" err="1">
                <a:latin typeface="Consolas" panose="020B0609020204030204" pitchFamily="49" charset="0"/>
              </a:rPr>
              <a:t>mutex</a:t>
            </a:r>
            <a:r>
              <a:rPr lang="en-US" sz="1800" dirty="0"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get exclusive access to '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' */ </a:t>
            </a:r>
            <a:endParaRPr lang="tr-T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if 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tr-TR" sz="1800" dirty="0">
                <a:latin typeface="Consolas" panose="020B0609020204030204" pitchFamily="49" charset="0"/>
              </a:rPr>
              <a:t>--</a:t>
            </a:r>
            <a:r>
              <a:rPr lang="en-US" sz="1800" dirty="0" err="1">
                <a:latin typeface="Consolas" panose="020B0609020204030204" pitchFamily="49" charset="0"/>
              </a:rPr>
              <a:t>rc</a:t>
            </a:r>
            <a:r>
              <a:rPr lang="en-US" sz="1800" dirty="0">
                <a:latin typeface="Consolas" panose="020B0609020204030204" pitchFamily="49" charset="0"/>
              </a:rPr>
              <a:t> == 0)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sz="1800" dirty="0">
                <a:latin typeface="Consolas" panose="020B0609020204030204" pitchFamily="49" charset="0"/>
              </a:rPr>
              <a:t>(&amp;</a:t>
            </a:r>
            <a:r>
              <a:rPr lang="en-US" sz="1800" dirty="0" err="1">
                <a:latin typeface="Consolas" panose="020B0609020204030204" pitchFamily="49" charset="0"/>
              </a:rPr>
              <a:t>db</a:t>
            </a:r>
            <a:r>
              <a:rPr lang="en-US" sz="1800" dirty="0"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if this is the last reader ... */</a:t>
            </a: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sz="1800" dirty="0">
                <a:latin typeface="Consolas" panose="020B0609020204030204" pitchFamily="49" charset="0"/>
              </a:rPr>
              <a:t>(&amp;</a:t>
            </a:r>
            <a:r>
              <a:rPr lang="en-US" sz="1800" dirty="0" err="1">
                <a:latin typeface="Consolas" panose="020B0609020204030204" pitchFamily="49" charset="0"/>
              </a:rPr>
              <a:t>mutex</a:t>
            </a:r>
            <a:r>
              <a:rPr lang="en-US" sz="1800" dirty="0"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release exclusive access to '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' */</a:t>
            </a:r>
            <a:endParaRPr lang="tr-T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use_data_read</a:t>
            </a:r>
            <a:r>
              <a:rPr lang="en-US" sz="1800" dirty="0">
                <a:latin typeface="Consolas" panose="020B0609020204030204" pitchFamily="49" charset="0"/>
              </a:rPr>
              <a:t>();</a:t>
            </a:r>
            <a:r>
              <a:rPr lang="tr-TR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noncritical region */</a:t>
            </a: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sz="1800" dirty="0">
                <a:latin typeface="Consolas" panose="020B0609020204030204" pitchFamily="49" charset="0"/>
              </a:rPr>
              <a:t>}</a:t>
            </a:r>
            <a:endParaRPr lang="en-US" sz="1800" dirty="0">
              <a:latin typeface="Consolas" panose="020B0609020204030204" pitchFamily="49" charset="0"/>
            </a:endParaRPr>
          </a:p>
          <a:p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022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3734</TotalTime>
  <Words>4609</Words>
  <Application>Microsoft Office PowerPoint</Application>
  <PresentationFormat>Widescreen</PresentationFormat>
  <Paragraphs>645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Consolas</vt:lpstr>
      <vt:lpstr>Wingdings</vt:lpstr>
      <vt:lpstr>Office Theme</vt:lpstr>
      <vt:lpstr>Bölüm 6: Senkronizasyon</vt:lpstr>
      <vt:lpstr>Senkronizasyon</vt:lpstr>
      <vt:lpstr>Yaşanacak Problemler</vt:lpstr>
      <vt:lpstr>Veri Tutarsızlığı</vt:lpstr>
      <vt:lpstr>Süreçler Arası İletişim Problemleri</vt:lpstr>
      <vt:lpstr>Yarış Durumu</vt:lpstr>
      <vt:lpstr>Kritik Bölge Problemi</vt:lpstr>
      <vt:lpstr>Kritik Bölge Problemi</vt:lpstr>
      <vt:lpstr>Önerilen Çözümler</vt:lpstr>
      <vt:lpstr>Kesmeleri Devre Dışı Bırakma</vt:lpstr>
      <vt:lpstr>Kilit Değişkeni</vt:lpstr>
      <vt:lpstr>Kilit Değişkeni</vt:lpstr>
      <vt:lpstr>Yarış Durumu</vt:lpstr>
      <vt:lpstr>Karşılıklı Dışlama</vt:lpstr>
      <vt:lpstr>Kritik Bölge</vt:lpstr>
      <vt:lpstr>Kritik Bölge Kullanarak Karşılıklı Dışlama</vt:lpstr>
      <vt:lpstr>Katı Sırayla Değişim (Strict Alternation)</vt:lpstr>
      <vt:lpstr>Kavramlar</vt:lpstr>
      <vt:lpstr>Peterson’un Çözümü</vt:lpstr>
      <vt:lpstr>Peterson’un Çözümü</vt:lpstr>
      <vt:lpstr>Peterson’un Çözümü</vt:lpstr>
      <vt:lpstr>Modern Mimaride Peterson’un Çözümü</vt:lpstr>
      <vt:lpstr>Bariyer (Barriers)</vt:lpstr>
      <vt:lpstr>Bariyer (Barriers)</vt:lpstr>
      <vt:lpstr>Donanım Çözümleri</vt:lpstr>
      <vt:lpstr>TSL Komutu</vt:lpstr>
      <vt:lpstr>TSL Komutu</vt:lpstr>
      <vt:lpstr>XCHG Komutu</vt:lpstr>
      <vt:lpstr>XCHG Komutu</vt:lpstr>
      <vt:lpstr>Uyuma ve Uyandırma</vt:lpstr>
      <vt:lpstr>Üretici Tüketici Problemi</vt:lpstr>
      <vt:lpstr>Ölümcül Yarış Durumu - Producer</vt:lpstr>
      <vt:lpstr>Ölümcül Yarış Durumu - Consumer</vt:lpstr>
      <vt:lpstr>Veri Kaybı Sorunu</vt:lpstr>
      <vt:lpstr>Semafor</vt:lpstr>
      <vt:lpstr>Üretici-Tüketici Sorununa Çözüm</vt:lpstr>
      <vt:lpstr>Semafor Kullanımı - Producer</vt:lpstr>
      <vt:lpstr>Semafor Kullanımı - Consumer</vt:lpstr>
      <vt:lpstr>Mutex Kilitleri</vt:lpstr>
      <vt:lpstr>mutex_lock ve mutex_unlock</vt:lpstr>
      <vt:lpstr>Pthreads Mutex Çağrıları</vt:lpstr>
      <vt:lpstr>Pthreads Condition Çağrıları</vt:lpstr>
      <vt:lpstr>Pthreads Mutex - Producer</vt:lpstr>
      <vt:lpstr>Pthreads Mutex - Consumer</vt:lpstr>
      <vt:lpstr>Gözleyici (Monitors)</vt:lpstr>
      <vt:lpstr>Gözleyici</vt:lpstr>
      <vt:lpstr>Gözleyici</vt:lpstr>
      <vt:lpstr>Gözleyici</vt:lpstr>
      <vt:lpstr>Süreçler Arası İletişim Problemleri</vt:lpstr>
      <vt:lpstr>Dining Philosophers Problemi</vt:lpstr>
      <vt:lpstr>Dining Philosophers</vt:lpstr>
      <vt:lpstr>Dining Philosophers - loop</vt:lpstr>
      <vt:lpstr>Dining Philosophers – take forks</vt:lpstr>
      <vt:lpstr>Dining Philosophers – put forks</vt:lpstr>
      <vt:lpstr>Dining Philosophers – test state</vt:lpstr>
      <vt:lpstr>Okur-Yazar Problemi - writer</vt:lpstr>
      <vt:lpstr>Okur-Yazar Problemi - reader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Senkronizasyon</dc:title>
  <dc:creator>sercan</dc:creator>
  <cp:lastModifiedBy>Sercan Kulcu</cp:lastModifiedBy>
  <cp:revision>390</cp:revision>
  <dcterms:created xsi:type="dcterms:W3CDTF">2023-01-12T09:23:55Z</dcterms:created>
  <dcterms:modified xsi:type="dcterms:W3CDTF">2025-01-23T17:46:11Z</dcterms:modified>
</cp:coreProperties>
</file>