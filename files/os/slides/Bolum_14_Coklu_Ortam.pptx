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56"/>
  </p:notesMasterIdLst>
  <p:sldIdLst>
    <p:sldId id="256" r:id="rId2"/>
    <p:sldId id="257" r:id="rId3"/>
    <p:sldId id="351" r:id="rId4"/>
    <p:sldId id="313" r:id="rId5"/>
    <p:sldId id="352" r:id="rId6"/>
    <p:sldId id="314" r:id="rId7"/>
    <p:sldId id="315" r:id="rId8"/>
    <p:sldId id="316" r:id="rId9"/>
    <p:sldId id="317" r:id="rId10"/>
    <p:sldId id="354" r:id="rId11"/>
    <p:sldId id="318" r:id="rId12"/>
    <p:sldId id="355" r:id="rId13"/>
    <p:sldId id="356" r:id="rId14"/>
    <p:sldId id="319" r:id="rId15"/>
    <p:sldId id="357" r:id="rId16"/>
    <p:sldId id="364" r:id="rId17"/>
    <p:sldId id="320" r:id="rId18"/>
    <p:sldId id="321" r:id="rId19"/>
    <p:sldId id="322" r:id="rId20"/>
    <p:sldId id="323" r:id="rId21"/>
    <p:sldId id="359" r:id="rId22"/>
    <p:sldId id="358" r:id="rId23"/>
    <p:sldId id="361" r:id="rId24"/>
    <p:sldId id="360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62" r:id="rId36"/>
    <p:sldId id="334" r:id="rId37"/>
    <p:sldId id="335" r:id="rId38"/>
    <p:sldId id="363" r:id="rId39"/>
    <p:sldId id="336" r:id="rId40"/>
    <p:sldId id="337" r:id="rId41"/>
    <p:sldId id="338" r:id="rId42"/>
    <p:sldId id="339" r:id="rId43"/>
    <p:sldId id="344" r:id="rId44"/>
    <p:sldId id="340" r:id="rId45"/>
    <p:sldId id="341" r:id="rId46"/>
    <p:sldId id="342" r:id="rId47"/>
    <p:sldId id="343" r:id="rId48"/>
    <p:sldId id="345" r:id="rId49"/>
    <p:sldId id="346" r:id="rId50"/>
    <p:sldId id="347" r:id="rId51"/>
    <p:sldId id="348" r:id="rId52"/>
    <p:sldId id="349" r:id="rId53"/>
    <p:sldId id="350" r:id="rId54"/>
    <p:sldId id="312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5.02.2024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7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91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2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65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67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98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6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82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87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56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58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5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smtClean="0"/>
              <a:t>Bölüm 14: </a:t>
            </a:r>
            <a:r>
              <a:rPr lang="tr-TR" b="1" dirty="0" smtClean="0"/>
              <a:t>Çoklu Ortam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İşletim Sistemleri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</a:t>
            </a:r>
            <a:r>
              <a:rPr lang="tr-TR" dirty="0" smtClean="0"/>
              <a:t>Ortam (Multimedia)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Farklı yerel dağıtım </a:t>
            </a:r>
            <a:r>
              <a:rPr lang="tr-TR" dirty="0" smtClean="0"/>
              <a:t>teknolojileri kullanarak </a:t>
            </a:r>
            <a:r>
              <a:rPr lang="tr-TR" dirty="0"/>
              <a:t>istek üzerine video. </a:t>
            </a:r>
            <a:endParaRPr lang="tr-TR" dirty="0" smtClean="0"/>
          </a:p>
          <a:p>
            <a:r>
              <a:rPr lang="tr-TR" dirty="0" smtClean="0"/>
              <a:t>ADSL</a:t>
            </a:r>
            <a:r>
              <a:rPr lang="tr-TR" dirty="0"/>
              <a:t> </a:t>
            </a:r>
            <a:r>
              <a:rPr lang="tr-TR" dirty="0"/>
              <a:t>(</a:t>
            </a:r>
            <a:r>
              <a:rPr lang="tr-TR" i="1" dirty="0" err="1"/>
              <a:t>Asymmetric</a:t>
            </a:r>
            <a:r>
              <a:rPr lang="tr-TR" i="1" dirty="0"/>
              <a:t> </a:t>
            </a:r>
            <a:r>
              <a:rPr lang="tr-TR" i="1" dirty="0" err="1"/>
              <a:t>digital</a:t>
            </a:r>
            <a:r>
              <a:rPr lang="tr-TR" i="1" dirty="0"/>
              <a:t> </a:t>
            </a:r>
            <a:r>
              <a:rPr lang="tr-TR" i="1" dirty="0" err="1"/>
              <a:t>subscriber</a:t>
            </a:r>
            <a:r>
              <a:rPr lang="tr-TR" i="1" dirty="0"/>
              <a:t> </a:t>
            </a:r>
            <a:r>
              <a:rPr lang="tr-TR" i="1" dirty="0" err="1"/>
              <a:t>line</a:t>
            </a:r>
            <a:r>
              <a:rPr lang="tr-TR" dirty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918" y="2824618"/>
            <a:ext cx="8920163" cy="3527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DSL (</a:t>
            </a:r>
            <a:r>
              <a:rPr lang="tr-TR" dirty="0" err="1" smtClean="0"/>
              <a:t>Digital</a:t>
            </a:r>
            <a:r>
              <a:rPr lang="tr-TR" dirty="0" smtClean="0"/>
              <a:t> </a:t>
            </a:r>
            <a:r>
              <a:rPr lang="tr-TR" dirty="0" err="1" smtClean="0"/>
              <a:t>Subscriber</a:t>
            </a:r>
            <a:r>
              <a:rPr lang="tr-TR" dirty="0" smtClean="0"/>
              <a:t> </a:t>
            </a:r>
            <a:r>
              <a:rPr lang="tr-TR" dirty="0" err="1" smtClean="0"/>
              <a:t>Line</a:t>
            </a:r>
            <a:r>
              <a:rPr lang="tr-TR" dirty="0" smtClean="0"/>
              <a:t>)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DSL</a:t>
            </a:r>
            <a:r>
              <a:rPr lang="tr-TR" dirty="0"/>
              <a:t> (</a:t>
            </a:r>
            <a:r>
              <a:rPr lang="tr-TR" i="1" dirty="0"/>
              <a:t>Dijital Abone Hattı</a:t>
            </a:r>
            <a:r>
              <a:rPr lang="tr-TR" dirty="0" smtClean="0"/>
              <a:t>), </a:t>
            </a:r>
          </a:p>
          <a:p>
            <a:pPr lvl="1"/>
            <a:r>
              <a:rPr lang="tr-TR" dirty="0" smtClean="0"/>
              <a:t>telefon hattı </a:t>
            </a:r>
            <a:r>
              <a:rPr lang="tr-TR" dirty="0"/>
              <a:t>üzerinden yüksek hızlı İnternet </a:t>
            </a:r>
            <a:r>
              <a:rPr lang="tr-TR" dirty="0" smtClean="0"/>
              <a:t>bağlantısı sağlar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ADSL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/>
              <a:t>Asimetrik </a:t>
            </a:r>
            <a:r>
              <a:rPr lang="tr-TR" i="1" dirty="0" smtClean="0"/>
              <a:t>DSL</a:t>
            </a:r>
            <a:r>
              <a:rPr lang="tr-TR" dirty="0" smtClean="0"/>
              <a:t>), </a:t>
            </a:r>
          </a:p>
          <a:p>
            <a:pPr lvl="1"/>
            <a:r>
              <a:rPr lang="tr-TR" dirty="0" smtClean="0"/>
              <a:t>yükleme hızından </a:t>
            </a:r>
            <a:r>
              <a:rPr lang="tr-TR" dirty="0"/>
              <a:t>daha yüksek indirme </a:t>
            </a:r>
            <a:r>
              <a:rPr lang="tr-TR" dirty="0" smtClean="0"/>
              <a:t>hızı sağlar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SDSL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/>
              <a:t>Senkronize </a:t>
            </a:r>
            <a:r>
              <a:rPr lang="tr-TR" i="1" dirty="0" smtClean="0"/>
              <a:t>DSL</a:t>
            </a:r>
            <a:r>
              <a:rPr lang="tr-TR" dirty="0" smtClean="0"/>
              <a:t>), </a:t>
            </a:r>
          </a:p>
          <a:p>
            <a:pPr lvl="1"/>
            <a:r>
              <a:rPr lang="tr-TR" dirty="0" smtClean="0"/>
              <a:t>ADSL'e benzer, eşit </a:t>
            </a:r>
            <a:r>
              <a:rPr lang="tr-TR" dirty="0"/>
              <a:t>yükleme ve indirme hızları sağlar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HDSL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/>
              <a:t>Yüksek </a:t>
            </a:r>
            <a:r>
              <a:rPr lang="tr-TR" i="1" dirty="0" smtClean="0"/>
              <a:t>Hızlı DSL</a:t>
            </a:r>
            <a:r>
              <a:rPr lang="tr-TR" dirty="0" smtClean="0"/>
              <a:t>), </a:t>
            </a:r>
          </a:p>
          <a:p>
            <a:pPr lvl="1"/>
            <a:r>
              <a:rPr lang="tr-TR" dirty="0" smtClean="0"/>
              <a:t>simetrik </a:t>
            </a:r>
            <a:r>
              <a:rPr lang="tr-TR" dirty="0"/>
              <a:t>hızlar </a:t>
            </a:r>
            <a:r>
              <a:rPr lang="tr-TR" dirty="0" smtClean="0"/>
              <a:t>sağlar, daha </a:t>
            </a:r>
            <a:r>
              <a:rPr lang="tr-TR" dirty="0"/>
              <a:t>küçük bir coğrafi alanla </a:t>
            </a:r>
            <a:r>
              <a:rPr lang="tr-TR" dirty="0" smtClean="0"/>
              <a:t>sınırlıdır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VDSL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/>
              <a:t>Çok Yüksek </a:t>
            </a:r>
            <a:r>
              <a:rPr lang="tr-TR" i="1" dirty="0" smtClean="0"/>
              <a:t>Hızlı DSL</a:t>
            </a:r>
            <a:r>
              <a:rPr lang="tr-TR" dirty="0" smtClean="0"/>
              <a:t>), </a:t>
            </a:r>
          </a:p>
          <a:p>
            <a:pPr lvl="1"/>
            <a:r>
              <a:rPr lang="tr-TR" dirty="0" smtClean="0"/>
              <a:t>maksimum </a:t>
            </a:r>
            <a:r>
              <a:rPr lang="tr-TR" dirty="0"/>
              <a:t>52 </a:t>
            </a:r>
            <a:r>
              <a:rPr lang="tr-TR" i="1" dirty="0" err="1"/>
              <a:t>Mbps</a:t>
            </a:r>
            <a:r>
              <a:rPr lang="tr-TR" i="1" dirty="0"/>
              <a:t> </a:t>
            </a:r>
            <a:r>
              <a:rPr lang="tr-TR" dirty="0" smtClean="0"/>
              <a:t>indirme </a:t>
            </a:r>
            <a:r>
              <a:rPr lang="tr-TR" dirty="0"/>
              <a:t>ve 16 </a:t>
            </a:r>
            <a:r>
              <a:rPr lang="tr-TR" i="1" dirty="0" err="1"/>
              <a:t>Mbps</a:t>
            </a:r>
            <a:r>
              <a:rPr lang="tr-TR" i="1" dirty="0"/>
              <a:t> </a:t>
            </a:r>
            <a:r>
              <a:rPr lang="tr-TR" dirty="0" smtClean="0"/>
              <a:t>yükleme </a:t>
            </a:r>
            <a:r>
              <a:rPr lang="tr-TR" dirty="0" smtClean="0"/>
              <a:t>hızı sağlar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1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Kablo TV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Abonelere </a:t>
            </a:r>
            <a:r>
              <a:rPr lang="tr-TR" dirty="0" err="1"/>
              <a:t>koaksiyel</a:t>
            </a:r>
            <a:r>
              <a:rPr lang="tr-TR" dirty="0"/>
              <a:t> </a:t>
            </a:r>
            <a:r>
              <a:rPr lang="tr-TR" dirty="0" smtClean="0"/>
              <a:t>kablo, fiber </a:t>
            </a:r>
            <a:r>
              <a:rPr lang="tr-TR" dirty="0"/>
              <a:t>optik </a:t>
            </a:r>
            <a:r>
              <a:rPr lang="tr-TR" dirty="0" smtClean="0"/>
              <a:t>ile sağlanan video </a:t>
            </a:r>
            <a:r>
              <a:rPr lang="tr-TR" dirty="0"/>
              <a:t>dağıtım hizmeti.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906" y="2531293"/>
            <a:ext cx="8612187" cy="3406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260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Kablo TV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Kablo TV</a:t>
            </a:r>
            <a:r>
              <a:rPr lang="tr-TR" dirty="0"/>
              <a:t>, </a:t>
            </a:r>
            <a:r>
              <a:rPr lang="tr-TR" dirty="0" smtClean="0"/>
              <a:t>(</a:t>
            </a:r>
            <a:r>
              <a:rPr lang="tr-TR" i="1" dirty="0" err="1" smtClean="0"/>
              <a:t>cable</a:t>
            </a:r>
            <a:r>
              <a:rPr lang="tr-TR" i="1" dirty="0" smtClean="0"/>
              <a:t> </a:t>
            </a:r>
            <a:r>
              <a:rPr lang="tr-TR" i="1" dirty="0" err="1" smtClean="0"/>
              <a:t>television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ortak </a:t>
            </a:r>
            <a:r>
              <a:rPr lang="tr-TR" dirty="0"/>
              <a:t>bir </a:t>
            </a:r>
            <a:r>
              <a:rPr lang="tr-TR" dirty="0" err="1"/>
              <a:t>koaksiyel</a:t>
            </a:r>
            <a:r>
              <a:rPr lang="tr-TR" dirty="0"/>
              <a:t> kablo ağı üzerinden </a:t>
            </a:r>
            <a:r>
              <a:rPr lang="tr-TR" dirty="0" smtClean="0"/>
              <a:t>internet </a:t>
            </a:r>
            <a:r>
              <a:rPr lang="tr-TR" dirty="0"/>
              <a:t>ve TV </a:t>
            </a:r>
            <a:r>
              <a:rPr lang="tr-TR" dirty="0" smtClean="0"/>
              <a:t>hizmeti sunulur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Kablo </a:t>
            </a:r>
            <a:r>
              <a:rPr lang="tr-TR" b="1" dirty="0"/>
              <a:t>modem</a:t>
            </a:r>
            <a:r>
              <a:rPr lang="tr-TR" dirty="0"/>
              <a:t>, </a:t>
            </a:r>
            <a:r>
              <a:rPr lang="tr-TR" dirty="0" smtClean="0"/>
              <a:t>(</a:t>
            </a:r>
            <a:r>
              <a:rPr lang="tr-TR" i="1" dirty="0" err="1" smtClean="0"/>
              <a:t>cable</a:t>
            </a:r>
            <a:r>
              <a:rPr lang="tr-TR" i="1" dirty="0" smtClean="0"/>
              <a:t> modem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10 </a:t>
            </a:r>
            <a:r>
              <a:rPr lang="tr-TR" i="1" dirty="0" err="1"/>
              <a:t>Mbps</a:t>
            </a:r>
            <a:r>
              <a:rPr lang="tr-TR" i="1" dirty="0"/>
              <a:t> </a:t>
            </a:r>
            <a:r>
              <a:rPr lang="tr-TR" dirty="0"/>
              <a:t>ile 100 </a:t>
            </a:r>
            <a:r>
              <a:rPr lang="tr-TR" i="1" dirty="0" err="1"/>
              <a:t>Mbps</a:t>
            </a:r>
            <a:r>
              <a:rPr lang="tr-TR" i="1" dirty="0"/>
              <a:t> </a:t>
            </a:r>
            <a:r>
              <a:rPr lang="tr-TR" dirty="0"/>
              <a:t>arasında değişen bir veri hızı sağlar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HFC</a:t>
            </a:r>
            <a:r>
              <a:rPr lang="tr-TR" dirty="0"/>
              <a:t>, </a:t>
            </a:r>
            <a:r>
              <a:rPr lang="tr-TR" dirty="0" smtClean="0"/>
              <a:t>(</a:t>
            </a:r>
            <a:r>
              <a:rPr lang="tr-TR" i="1" dirty="0" err="1" smtClean="0"/>
              <a:t>hybrid</a:t>
            </a:r>
            <a:r>
              <a:rPr lang="tr-TR" i="1" dirty="0" smtClean="0"/>
              <a:t> </a:t>
            </a:r>
            <a:r>
              <a:rPr lang="tr-TR" i="1" dirty="0"/>
              <a:t>fiber-</a:t>
            </a:r>
            <a:r>
              <a:rPr lang="tr-TR" i="1" dirty="0" err="1"/>
              <a:t>coaxial</a:t>
            </a:r>
            <a:r>
              <a:rPr lang="tr-TR" dirty="0"/>
              <a:t>)</a:t>
            </a:r>
            <a:endParaRPr lang="tr-TR" dirty="0" smtClean="0"/>
          </a:p>
          <a:p>
            <a:pPr lvl="1"/>
            <a:r>
              <a:rPr lang="tr-TR" dirty="0" smtClean="0"/>
              <a:t>fiber </a:t>
            </a:r>
            <a:r>
              <a:rPr lang="tr-TR" dirty="0"/>
              <a:t>optik ve </a:t>
            </a:r>
            <a:r>
              <a:rPr lang="tr-TR" dirty="0" err="1"/>
              <a:t>koaksiyel</a:t>
            </a:r>
            <a:r>
              <a:rPr lang="tr-TR" dirty="0"/>
              <a:t> </a:t>
            </a:r>
            <a:r>
              <a:rPr lang="tr-TR" dirty="0" smtClean="0"/>
              <a:t>kablo kombinasyonu </a:t>
            </a:r>
            <a:r>
              <a:rPr lang="tr-TR" dirty="0"/>
              <a:t>kullanır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FTTH</a:t>
            </a:r>
            <a:r>
              <a:rPr lang="tr-TR" dirty="0"/>
              <a:t>, </a:t>
            </a:r>
            <a:r>
              <a:rPr lang="tr-TR" dirty="0" smtClean="0"/>
              <a:t>(</a:t>
            </a:r>
            <a:r>
              <a:rPr lang="tr-TR" i="1" dirty="0" err="1" smtClean="0"/>
              <a:t>fibre</a:t>
            </a:r>
            <a:r>
              <a:rPr lang="tr-TR" i="1" dirty="0" smtClean="0"/>
              <a:t> </a:t>
            </a:r>
            <a:r>
              <a:rPr lang="tr-TR" i="1" dirty="0" err="1"/>
              <a:t>to</a:t>
            </a:r>
            <a:r>
              <a:rPr lang="tr-TR" i="1" dirty="0"/>
              <a:t> </a:t>
            </a:r>
            <a:r>
              <a:rPr lang="tr-TR" i="1" dirty="0" err="1"/>
              <a:t>the</a:t>
            </a:r>
            <a:r>
              <a:rPr lang="tr-TR" i="1" dirty="0"/>
              <a:t> </a:t>
            </a:r>
            <a:r>
              <a:rPr lang="tr-TR" i="1" dirty="0" err="1" smtClean="0"/>
              <a:t>home</a:t>
            </a:r>
            <a:r>
              <a:rPr lang="tr-TR" dirty="0"/>
              <a:t>)</a:t>
            </a:r>
          </a:p>
          <a:p>
            <a:pPr lvl="1"/>
            <a:r>
              <a:rPr lang="tr-TR" dirty="0" smtClean="0"/>
              <a:t>fiber </a:t>
            </a:r>
            <a:r>
              <a:rPr lang="tr-TR" dirty="0"/>
              <a:t>optik kablolar </a:t>
            </a:r>
            <a:r>
              <a:rPr lang="tr-TR" dirty="0" smtClean="0"/>
              <a:t>kullanılarak hızlı </a:t>
            </a:r>
            <a:r>
              <a:rPr lang="tr-TR" dirty="0"/>
              <a:t>ve </a:t>
            </a:r>
            <a:r>
              <a:rPr lang="tr-TR" dirty="0" smtClean="0"/>
              <a:t>güvenilir </a:t>
            </a:r>
            <a:r>
              <a:rPr lang="tr-TR" dirty="0"/>
              <a:t>hizmetler sunar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Kablo TV </a:t>
            </a:r>
            <a:r>
              <a:rPr lang="tr-TR" dirty="0"/>
              <a:t>hizmeti sağlayıcısı tarafından </a:t>
            </a:r>
            <a:r>
              <a:rPr lang="tr-TR" dirty="0" smtClean="0"/>
              <a:t>yönetilir, bakımı yapılır.</a:t>
            </a:r>
          </a:p>
          <a:p>
            <a:r>
              <a:rPr lang="tr-TR" dirty="0" smtClean="0"/>
              <a:t>Tescilli </a:t>
            </a:r>
            <a:r>
              <a:rPr lang="tr-TR" dirty="0"/>
              <a:t>bir ağ işletim sistemiyle çalışır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8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Çoklu Ortam Temel Özellikleri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Metin</a:t>
            </a:r>
            <a:r>
              <a:rPr lang="tr-TR" dirty="0"/>
              <a:t>, grafik, ses, video ve animasyonun </a:t>
            </a:r>
            <a:r>
              <a:rPr lang="tr-TR" dirty="0" smtClean="0"/>
              <a:t>birleştirilmesini </a:t>
            </a:r>
            <a:r>
              <a:rPr lang="tr-TR" dirty="0"/>
              <a:t>içerir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Medya öğeleri gecikmesiz gerçek </a:t>
            </a:r>
            <a:r>
              <a:rPr lang="tr-TR" dirty="0"/>
              <a:t>zamanlı olarak </a:t>
            </a:r>
            <a:r>
              <a:rPr lang="tr-TR" dirty="0" smtClean="0"/>
              <a:t>oynatılmalıdır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Düğmelere tıklanarak</a:t>
            </a:r>
            <a:r>
              <a:rPr lang="tr-TR" dirty="0"/>
              <a:t>, metin </a:t>
            </a:r>
            <a:r>
              <a:rPr lang="tr-TR" dirty="0" smtClean="0"/>
              <a:t>girilerek, içerikle etkileşime girilebilir.</a:t>
            </a:r>
            <a:endParaRPr lang="tr-TR" dirty="0" smtClean="0"/>
          </a:p>
          <a:p>
            <a:r>
              <a:rPr lang="tr-TR" dirty="0" smtClean="0"/>
              <a:t>Çoklu ortam dosyaları </a:t>
            </a:r>
            <a:r>
              <a:rPr lang="tr-TR" dirty="0"/>
              <a:t>oldukça büyük olabilir, </a:t>
            </a:r>
            <a:endParaRPr lang="tr-TR" dirty="0" smtClean="0"/>
          </a:p>
          <a:p>
            <a:pPr lvl="1"/>
            <a:r>
              <a:rPr lang="tr-TR" dirty="0" smtClean="0"/>
              <a:t>saklama ve </a:t>
            </a:r>
            <a:r>
              <a:rPr lang="tr-TR" dirty="0"/>
              <a:t>iletim </a:t>
            </a:r>
            <a:r>
              <a:rPr lang="tr-TR" dirty="0" smtClean="0"/>
              <a:t>zor</a:t>
            </a:r>
            <a:r>
              <a:rPr lang="tr-TR" dirty="0" smtClean="0"/>
              <a:t>. </a:t>
            </a:r>
            <a:r>
              <a:rPr lang="tr-TR" dirty="0" smtClean="0">
                <a:sym typeface="Wingdings" panose="05000000000000000000" pitchFamily="2" charset="2"/>
              </a:rPr>
              <a:t></a:t>
            </a:r>
          </a:p>
          <a:p>
            <a:pPr lvl="1"/>
            <a:r>
              <a:rPr lang="tr-TR" dirty="0" smtClean="0">
                <a:sym typeface="Wingdings" panose="05000000000000000000" pitchFamily="2" charset="2"/>
              </a:rPr>
              <a:t>sıkıştırma gerekli.</a:t>
            </a:r>
            <a:endParaRPr lang="tr-TR" dirty="0" smtClean="0"/>
          </a:p>
          <a:p>
            <a:r>
              <a:rPr lang="tr-TR" dirty="0" smtClean="0"/>
              <a:t>Çoklu ortam </a:t>
            </a:r>
            <a:r>
              <a:rPr lang="tr-TR" dirty="0"/>
              <a:t>uygulamaları, </a:t>
            </a:r>
            <a:endParaRPr lang="tr-TR" dirty="0" smtClean="0"/>
          </a:p>
          <a:p>
            <a:pPr lvl="1"/>
            <a:r>
              <a:rPr lang="tr-TR" dirty="0" smtClean="0"/>
              <a:t>yüksek </a:t>
            </a:r>
            <a:r>
              <a:rPr lang="tr-TR" dirty="0"/>
              <a:t>kaliteli içerik sunabilmelidir</a:t>
            </a:r>
            <a:r>
              <a:rPr lang="tr-TR" dirty="0" smtClean="0"/>
              <a:t>.</a:t>
            </a:r>
          </a:p>
          <a:p>
            <a:pPr lvl="1"/>
            <a:r>
              <a:rPr lang="tr-TR" dirty="0"/>
              <a:t>büyük miktarda bant genişliği gerektirir.</a:t>
            </a:r>
          </a:p>
          <a:p>
            <a:pPr lvl="1"/>
            <a:r>
              <a:rPr lang="tr-TR" dirty="0" smtClean="0"/>
              <a:t>ses </a:t>
            </a:r>
            <a:r>
              <a:rPr lang="tr-TR" dirty="0"/>
              <a:t>ve video gibi farklı medya öğelerini senkronize etmelidir.</a:t>
            </a:r>
          </a:p>
          <a:p>
            <a:pPr lvl="1"/>
            <a:r>
              <a:rPr lang="tr-TR" dirty="0" smtClean="0"/>
              <a:t>farklı </a:t>
            </a:r>
            <a:r>
              <a:rPr lang="tr-TR" dirty="0"/>
              <a:t>işletim sistemleri, </a:t>
            </a:r>
            <a:r>
              <a:rPr lang="tr-TR" dirty="0" smtClean="0"/>
              <a:t>aygıtlar ve medya türleri ile </a:t>
            </a:r>
            <a:r>
              <a:rPr lang="tr-TR" dirty="0"/>
              <a:t>uyumlu olmalıdır.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2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Veri </a:t>
            </a:r>
            <a:r>
              <a:rPr lang="tr-TR" dirty="0"/>
              <a:t>Hızları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Ses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i="1" dirty="0" smtClean="0"/>
              <a:t>MP3</a:t>
            </a:r>
            <a:r>
              <a:rPr lang="tr-TR" dirty="0" smtClean="0"/>
              <a:t> 128-320 </a:t>
            </a:r>
            <a:r>
              <a:rPr lang="tr-TR" i="1" dirty="0" err="1"/>
              <a:t>kbps</a:t>
            </a:r>
            <a:r>
              <a:rPr lang="tr-TR" dirty="0"/>
              <a:t>, </a:t>
            </a:r>
            <a:r>
              <a:rPr lang="tr-TR" i="1" dirty="0" smtClean="0"/>
              <a:t>FLAC</a:t>
            </a:r>
            <a:r>
              <a:rPr lang="tr-TR" dirty="0" smtClean="0"/>
              <a:t> </a:t>
            </a:r>
            <a:r>
              <a:rPr lang="tr-TR" dirty="0" smtClean="0"/>
              <a:t>1-5 </a:t>
            </a:r>
            <a:r>
              <a:rPr lang="tr-TR" i="1" dirty="0" err="1" smtClean="0"/>
              <a:t>Mbps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b="1" dirty="0" smtClean="0"/>
              <a:t>Video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i="1" dirty="0" smtClean="0"/>
              <a:t>Standart </a:t>
            </a:r>
            <a:r>
              <a:rPr lang="tr-TR" dirty="0" smtClean="0"/>
              <a:t>1-2 </a:t>
            </a:r>
            <a:r>
              <a:rPr lang="tr-TR" i="1" dirty="0" err="1"/>
              <a:t>Mbps</a:t>
            </a:r>
            <a:r>
              <a:rPr lang="tr-TR" dirty="0"/>
              <a:t>, </a:t>
            </a:r>
            <a:r>
              <a:rPr lang="tr-TR" i="1" dirty="0" smtClean="0"/>
              <a:t>HD </a:t>
            </a:r>
            <a:r>
              <a:rPr lang="tr-TR" dirty="0" smtClean="0"/>
              <a:t>4-8 </a:t>
            </a:r>
            <a:r>
              <a:rPr lang="tr-TR" i="1" dirty="0" err="1"/>
              <a:t>Mbps</a:t>
            </a:r>
            <a:r>
              <a:rPr lang="tr-TR" dirty="0"/>
              <a:t>, </a:t>
            </a:r>
            <a:r>
              <a:rPr lang="tr-TR" i="1" dirty="0"/>
              <a:t>4K Ultra HD </a:t>
            </a:r>
            <a:r>
              <a:rPr lang="tr-TR" dirty="0" smtClean="0"/>
              <a:t>25-50 </a:t>
            </a:r>
            <a:r>
              <a:rPr lang="tr-TR" i="1" dirty="0" err="1" smtClean="0"/>
              <a:t>Mbps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b="1" dirty="0" smtClean="0"/>
              <a:t>Görüntü</a:t>
            </a:r>
            <a:r>
              <a:rPr lang="tr-TR" dirty="0" smtClean="0"/>
              <a:t>: </a:t>
            </a:r>
            <a:endParaRPr lang="tr-TR" dirty="0" smtClean="0"/>
          </a:p>
          <a:p>
            <a:pPr lvl="1"/>
            <a:r>
              <a:rPr lang="tr-TR" dirty="0" smtClean="0"/>
              <a:t>Temel </a:t>
            </a:r>
            <a:r>
              <a:rPr lang="tr-TR" dirty="0" smtClean="0"/>
              <a:t>5-20 </a:t>
            </a:r>
            <a:r>
              <a:rPr lang="tr-TR" i="1" dirty="0" err="1"/>
              <a:t>kbps</a:t>
            </a:r>
            <a:r>
              <a:rPr lang="tr-TR" dirty="0"/>
              <a:t>, yüksek kaliteli </a:t>
            </a:r>
            <a:r>
              <a:rPr lang="tr-TR" dirty="0" smtClean="0"/>
              <a:t>100-500 </a:t>
            </a:r>
            <a:r>
              <a:rPr lang="tr-TR" i="1" dirty="0" err="1" smtClean="0"/>
              <a:t>kbps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b="1" dirty="0" smtClean="0"/>
              <a:t>VR/AR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Temel </a:t>
            </a:r>
            <a:r>
              <a:rPr lang="tr-TR" dirty="0"/>
              <a:t>VR </a:t>
            </a:r>
            <a:r>
              <a:rPr lang="tr-TR" dirty="0" smtClean="0"/>
              <a:t>5-20 </a:t>
            </a:r>
            <a:r>
              <a:rPr lang="tr-TR" i="1" dirty="0" err="1"/>
              <a:t>Mbps</a:t>
            </a:r>
            <a:r>
              <a:rPr lang="tr-TR" dirty="0"/>
              <a:t>, yüksek kaliteli VR </a:t>
            </a:r>
            <a:r>
              <a:rPr lang="tr-TR" dirty="0" smtClean="0"/>
              <a:t>50-100 </a:t>
            </a:r>
            <a:r>
              <a:rPr lang="tr-TR" i="1" dirty="0" err="1" smtClean="0"/>
              <a:t>Mbps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b="1" dirty="0" smtClean="0"/>
              <a:t>Akış (</a:t>
            </a:r>
            <a:r>
              <a:rPr lang="tr-TR" b="1" dirty="0" err="1" smtClean="0"/>
              <a:t>Streaming</a:t>
            </a:r>
            <a:r>
              <a:rPr lang="tr-TR" b="1" dirty="0" smtClean="0"/>
              <a:t>) </a:t>
            </a:r>
            <a:r>
              <a:rPr lang="tr-TR" b="1" dirty="0"/>
              <a:t>Hizmetleri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Standart </a:t>
            </a:r>
            <a:r>
              <a:rPr lang="tr-TR" dirty="0" smtClean="0"/>
              <a:t>1-10 </a:t>
            </a:r>
            <a:r>
              <a:rPr lang="tr-TR" i="1" dirty="0" err="1"/>
              <a:t>Mbps</a:t>
            </a:r>
            <a:r>
              <a:rPr lang="tr-TR" dirty="0"/>
              <a:t>, yüksek </a:t>
            </a:r>
            <a:r>
              <a:rPr lang="tr-TR" dirty="0"/>
              <a:t>kaliteli 25 </a:t>
            </a:r>
            <a:r>
              <a:rPr lang="tr-TR" i="1" dirty="0" err="1" smtClean="0"/>
              <a:t>Mbps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31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Bir Film Birkaç Dosyadan Oluşabilir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275" y="1609775"/>
            <a:ext cx="7051449" cy="47364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797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Görüntü Kodlama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NTSC</a:t>
            </a:r>
            <a:r>
              <a:rPr lang="tr-TR" dirty="0"/>
              <a:t> video ve televizyon için kullanılan tarama modeli.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49" y="2220117"/>
            <a:ext cx="6391003" cy="4136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86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Görüntü Kodlama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NTSC</a:t>
            </a:r>
            <a:r>
              <a:rPr lang="tr-TR" dirty="0"/>
              <a:t> </a:t>
            </a:r>
            <a:r>
              <a:rPr lang="tr-TR" dirty="0"/>
              <a:t>(</a:t>
            </a:r>
            <a:r>
              <a:rPr lang="tr-TR" i="1" dirty="0" err="1"/>
              <a:t>National</a:t>
            </a:r>
            <a:r>
              <a:rPr lang="tr-TR" i="1" dirty="0"/>
              <a:t> </a:t>
            </a:r>
            <a:r>
              <a:rPr lang="tr-TR" i="1" dirty="0" err="1"/>
              <a:t>Television</a:t>
            </a:r>
            <a:r>
              <a:rPr lang="tr-TR" i="1" dirty="0"/>
              <a:t> </a:t>
            </a:r>
            <a:r>
              <a:rPr lang="tr-TR" i="1" dirty="0" err="1"/>
              <a:t>System</a:t>
            </a:r>
            <a:r>
              <a:rPr lang="tr-TR" i="1" dirty="0"/>
              <a:t> </a:t>
            </a:r>
            <a:r>
              <a:rPr lang="tr-TR" i="1" dirty="0" err="1"/>
              <a:t>Committee</a:t>
            </a:r>
            <a:r>
              <a:rPr lang="tr-TR" dirty="0"/>
              <a:t>): </a:t>
            </a:r>
            <a:endParaRPr lang="tr-TR" dirty="0" smtClean="0"/>
          </a:p>
          <a:p>
            <a:pPr lvl="1"/>
            <a:r>
              <a:rPr lang="tr-TR" dirty="0" smtClean="0"/>
              <a:t>1940'larda </a:t>
            </a:r>
            <a:r>
              <a:rPr lang="tr-TR" dirty="0"/>
              <a:t>Kuzey Amerika için analog televizyon yayın </a:t>
            </a:r>
            <a:r>
              <a:rPr lang="tr-TR" dirty="0" smtClean="0"/>
              <a:t>standardı.</a:t>
            </a:r>
          </a:p>
          <a:p>
            <a:pPr lvl="1"/>
            <a:r>
              <a:rPr lang="tr-TR" dirty="0" smtClean="0"/>
              <a:t>60 </a:t>
            </a:r>
            <a:r>
              <a:rPr lang="tr-TR" i="1" dirty="0" smtClean="0"/>
              <a:t>Hz </a:t>
            </a:r>
            <a:r>
              <a:rPr lang="tr-TR" dirty="0"/>
              <a:t>yenileme hızında ve 720x480 çözünürlükte çalışır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PAL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 err="1"/>
              <a:t>Phase</a:t>
            </a:r>
            <a:r>
              <a:rPr lang="tr-TR" i="1" dirty="0"/>
              <a:t> </a:t>
            </a:r>
            <a:r>
              <a:rPr lang="tr-TR" i="1" dirty="0" err="1"/>
              <a:t>Alternating</a:t>
            </a:r>
            <a:r>
              <a:rPr lang="tr-TR" i="1" dirty="0"/>
              <a:t> </a:t>
            </a:r>
            <a:r>
              <a:rPr lang="tr-TR" i="1" dirty="0" err="1"/>
              <a:t>Line</a:t>
            </a:r>
            <a:r>
              <a:rPr lang="tr-TR" dirty="0"/>
              <a:t>): </a:t>
            </a:r>
            <a:endParaRPr lang="tr-TR" dirty="0" smtClean="0"/>
          </a:p>
          <a:p>
            <a:pPr lvl="1"/>
            <a:r>
              <a:rPr lang="tr-TR" dirty="0" smtClean="0"/>
              <a:t>1960'larda Avrupa ve Asya için </a:t>
            </a:r>
            <a:r>
              <a:rPr lang="tr-TR" dirty="0"/>
              <a:t>analog televizyon yayın </a:t>
            </a:r>
            <a:r>
              <a:rPr lang="tr-TR" dirty="0" smtClean="0"/>
              <a:t>standardı. </a:t>
            </a:r>
          </a:p>
          <a:p>
            <a:pPr lvl="1"/>
            <a:r>
              <a:rPr lang="tr-TR" dirty="0" smtClean="0"/>
              <a:t>50 </a:t>
            </a:r>
            <a:r>
              <a:rPr lang="tr-TR" i="1" dirty="0" smtClean="0"/>
              <a:t>Hz</a:t>
            </a:r>
            <a:r>
              <a:rPr lang="tr-TR" dirty="0" smtClean="0"/>
              <a:t> </a:t>
            </a:r>
            <a:r>
              <a:rPr lang="tr-TR" dirty="0"/>
              <a:t>yenileme hızında ve 720x576 çözünürlükte çalışır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Başka versiyonlar</a:t>
            </a:r>
            <a:r>
              <a:rPr lang="tr-TR" dirty="0" smtClean="0"/>
              <a:t>: </a:t>
            </a:r>
          </a:p>
          <a:p>
            <a:pPr lvl="1"/>
            <a:r>
              <a:rPr lang="tr-TR" dirty="0" smtClean="0"/>
              <a:t>PAL-M </a:t>
            </a:r>
            <a:r>
              <a:rPr lang="tr-TR" dirty="0"/>
              <a:t>(</a:t>
            </a:r>
            <a:r>
              <a:rPr lang="tr-TR" i="1" dirty="0"/>
              <a:t>Brezilya</a:t>
            </a:r>
            <a:r>
              <a:rPr lang="tr-TR" dirty="0"/>
              <a:t>), </a:t>
            </a:r>
            <a:endParaRPr lang="tr-TR" dirty="0" smtClean="0"/>
          </a:p>
          <a:p>
            <a:pPr lvl="1"/>
            <a:r>
              <a:rPr lang="tr-TR" dirty="0" smtClean="0"/>
              <a:t>PAL-N </a:t>
            </a:r>
            <a:r>
              <a:rPr lang="tr-TR" dirty="0"/>
              <a:t>(</a:t>
            </a:r>
            <a:r>
              <a:rPr lang="tr-TR" i="1" dirty="0"/>
              <a:t>Arjantin</a:t>
            </a:r>
            <a:r>
              <a:rPr lang="tr-TR" dirty="0" smtClean="0"/>
              <a:t>),</a:t>
            </a:r>
          </a:p>
          <a:p>
            <a:pPr lvl="1"/>
            <a:r>
              <a:rPr lang="tr-TR" dirty="0" smtClean="0"/>
              <a:t>SECAM </a:t>
            </a:r>
            <a:r>
              <a:rPr lang="tr-TR" dirty="0"/>
              <a:t>(</a:t>
            </a:r>
            <a:r>
              <a:rPr lang="tr-TR" i="1" dirty="0"/>
              <a:t>Fransa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49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Ses Kodlama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Sinüs </a:t>
            </a:r>
            <a:r>
              <a:rPr lang="tr-TR" dirty="0"/>
              <a:t>dalgası. (b) </a:t>
            </a:r>
            <a:r>
              <a:rPr lang="tr-TR" dirty="0" smtClean="0"/>
              <a:t>Örnekleme (</a:t>
            </a:r>
            <a:r>
              <a:rPr lang="tr-TR" i="1" dirty="0" err="1" smtClean="0"/>
              <a:t>sampling</a:t>
            </a:r>
            <a:r>
              <a:rPr lang="tr-TR" dirty="0" smtClean="0"/>
              <a:t>). </a:t>
            </a:r>
          </a:p>
          <a:p>
            <a:r>
              <a:rPr lang="tr-TR" dirty="0" smtClean="0"/>
              <a:t>(</a:t>
            </a:r>
            <a:r>
              <a:rPr lang="tr-TR" dirty="0"/>
              <a:t>c) </a:t>
            </a:r>
            <a:r>
              <a:rPr lang="tr-TR" dirty="0" smtClean="0"/>
              <a:t>Örnekleri 4 </a:t>
            </a:r>
            <a:r>
              <a:rPr lang="tr-TR" dirty="0"/>
              <a:t>bite </a:t>
            </a:r>
            <a:r>
              <a:rPr lang="tr-TR" dirty="0" smtClean="0"/>
              <a:t>niceleme (</a:t>
            </a:r>
            <a:r>
              <a:rPr lang="tr-TR" i="1" dirty="0" err="1" smtClean="0"/>
              <a:t>quantization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2" y="3106738"/>
            <a:ext cx="8448675" cy="31146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795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Ses Kodlama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Ses </a:t>
            </a:r>
            <a:r>
              <a:rPr lang="tr-TR" dirty="0"/>
              <a:t>sinyallerini </a:t>
            </a:r>
            <a:r>
              <a:rPr lang="tr-TR" dirty="0" smtClean="0"/>
              <a:t>saklama ve </a:t>
            </a:r>
            <a:r>
              <a:rPr lang="tr-TR" dirty="0"/>
              <a:t>iletim </a:t>
            </a:r>
            <a:r>
              <a:rPr lang="tr-TR" dirty="0" smtClean="0"/>
              <a:t>için,</a:t>
            </a:r>
          </a:p>
          <a:p>
            <a:pPr lvl="1"/>
            <a:r>
              <a:rPr lang="tr-TR" dirty="0" smtClean="0"/>
              <a:t>kompakt </a:t>
            </a:r>
            <a:r>
              <a:rPr lang="tr-TR" dirty="0"/>
              <a:t>ve verimli bir biçimde dijital olarak temsil </a:t>
            </a:r>
            <a:r>
              <a:rPr lang="tr-TR" dirty="0" smtClean="0"/>
              <a:t>edilmesi.</a:t>
            </a:r>
            <a:endParaRPr lang="tr-TR" dirty="0" smtClean="0"/>
          </a:p>
          <a:p>
            <a:r>
              <a:rPr lang="tr-TR" b="1" dirty="0"/>
              <a:t>Örnekleme </a:t>
            </a:r>
            <a:r>
              <a:rPr lang="tr-TR" b="1" dirty="0" smtClean="0"/>
              <a:t>oranı</a:t>
            </a:r>
            <a:r>
              <a:rPr lang="tr-TR" dirty="0" smtClean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sampling</a:t>
            </a:r>
            <a:r>
              <a:rPr lang="tr-TR" i="1" dirty="0" smtClean="0"/>
              <a:t> rate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Bir </a:t>
            </a:r>
            <a:r>
              <a:rPr lang="tr-TR" dirty="0"/>
              <a:t>ses sinyalini temsil etmek için </a:t>
            </a:r>
            <a:r>
              <a:rPr lang="tr-TR" dirty="0" smtClean="0"/>
              <a:t>saniyede alınan </a:t>
            </a:r>
            <a:r>
              <a:rPr lang="tr-TR" dirty="0"/>
              <a:t>örnek </a:t>
            </a:r>
            <a:r>
              <a:rPr lang="tr-TR" dirty="0" smtClean="0"/>
              <a:t>sayısı.</a:t>
            </a:r>
            <a:endParaRPr lang="tr-TR" dirty="0" smtClean="0"/>
          </a:p>
          <a:p>
            <a:r>
              <a:rPr lang="tr-TR" b="1" dirty="0" smtClean="0"/>
              <a:t>Bit </a:t>
            </a:r>
            <a:r>
              <a:rPr lang="tr-TR" b="1" dirty="0"/>
              <a:t>derinliği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smtClean="0"/>
              <a:t>bit </a:t>
            </a:r>
            <a:r>
              <a:rPr lang="tr-TR" i="1" dirty="0" err="1" smtClean="0"/>
              <a:t>depth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Her bir örneği </a:t>
            </a:r>
            <a:r>
              <a:rPr lang="tr-TR" dirty="0"/>
              <a:t>temsil etmek için </a:t>
            </a:r>
            <a:r>
              <a:rPr lang="tr-TR" dirty="0" smtClean="0"/>
              <a:t>gerekli bit sayısı.</a:t>
            </a:r>
            <a:endParaRPr lang="tr-TR" dirty="0" smtClean="0"/>
          </a:p>
          <a:p>
            <a:r>
              <a:rPr lang="tr-TR" b="1" dirty="0" smtClean="0"/>
              <a:t>Sıkıştırma</a:t>
            </a:r>
            <a:r>
              <a:rPr lang="tr-TR" dirty="0"/>
              <a:t>: </a:t>
            </a:r>
            <a:r>
              <a:rPr lang="tr-TR" dirty="0" smtClean="0"/>
              <a:t>(</a:t>
            </a:r>
            <a:r>
              <a:rPr lang="tr-TR" i="1" dirty="0" err="1" smtClean="0"/>
              <a:t>compression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Ses </a:t>
            </a:r>
            <a:r>
              <a:rPr lang="tr-TR" dirty="0"/>
              <a:t>verilerinin boyutunu </a:t>
            </a:r>
            <a:r>
              <a:rPr lang="tr-TR" dirty="0" smtClean="0"/>
              <a:t>küçültme.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72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Ses Kodlama Türleri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PCM</a:t>
            </a:r>
            <a:r>
              <a:rPr lang="tr-TR" dirty="0"/>
              <a:t> </a:t>
            </a:r>
            <a:r>
              <a:rPr lang="tr-TR" dirty="0" smtClean="0"/>
              <a:t>(</a:t>
            </a:r>
            <a:r>
              <a:rPr lang="tr-TR" i="1" dirty="0" err="1" smtClean="0"/>
              <a:t>pulse</a:t>
            </a:r>
            <a:r>
              <a:rPr lang="tr-TR" i="1" dirty="0" smtClean="0"/>
              <a:t> </a:t>
            </a:r>
            <a:r>
              <a:rPr lang="tr-TR" i="1" dirty="0" err="1" smtClean="0"/>
              <a:t>code</a:t>
            </a:r>
            <a:r>
              <a:rPr lang="tr-TR" i="1" dirty="0" smtClean="0"/>
              <a:t> </a:t>
            </a:r>
            <a:r>
              <a:rPr lang="tr-TR" i="1" dirty="0" err="1" smtClean="0"/>
              <a:t>modulation</a:t>
            </a:r>
            <a:r>
              <a:rPr lang="tr-TR" dirty="0" smtClean="0"/>
              <a:t>): Darbe </a:t>
            </a:r>
            <a:r>
              <a:rPr lang="tr-TR" dirty="0"/>
              <a:t>k</a:t>
            </a:r>
            <a:r>
              <a:rPr lang="tr-TR" dirty="0" smtClean="0"/>
              <a:t>odu </a:t>
            </a:r>
            <a:r>
              <a:rPr lang="tr-TR" dirty="0" smtClean="0"/>
              <a:t>m</a:t>
            </a:r>
            <a:r>
              <a:rPr lang="tr-TR" dirty="0" smtClean="0"/>
              <a:t>odülasyonu.</a:t>
            </a:r>
          </a:p>
          <a:p>
            <a:pPr lvl="1"/>
            <a:r>
              <a:rPr lang="tr-TR" dirty="0" smtClean="0"/>
              <a:t>Ses </a:t>
            </a:r>
            <a:r>
              <a:rPr lang="tr-TR" dirty="0"/>
              <a:t>verilerinin doğrusal ve sıkıştırılmamış </a:t>
            </a:r>
            <a:r>
              <a:rPr lang="tr-TR" dirty="0" smtClean="0"/>
              <a:t>temsili.</a:t>
            </a:r>
            <a:endParaRPr lang="tr-TR" dirty="0" smtClean="0"/>
          </a:p>
          <a:p>
            <a:r>
              <a:rPr lang="tr-TR" b="1" dirty="0" smtClean="0"/>
              <a:t>MP3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 smtClean="0"/>
              <a:t>MPEG </a:t>
            </a:r>
            <a:r>
              <a:rPr lang="tr-TR" i="1" dirty="0" err="1" smtClean="0"/>
              <a:t>audio</a:t>
            </a:r>
            <a:r>
              <a:rPr lang="tr-TR" i="1" dirty="0" smtClean="0"/>
              <a:t> </a:t>
            </a:r>
            <a:r>
              <a:rPr lang="tr-TR" i="1" dirty="0" err="1" smtClean="0"/>
              <a:t>layer</a:t>
            </a:r>
            <a:r>
              <a:rPr lang="tr-TR" i="1" dirty="0" smtClean="0"/>
              <a:t> III</a:t>
            </a:r>
            <a:r>
              <a:rPr lang="tr-TR" dirty="0"/>
              <a:t>): </a:t>
            </a:r>
            <a:endParaRPr lang="tr-TR" dirty="0" smtClean="0"/>
          </a:p>
          <a:p>
            <a:pPr lvl="1"/>
            <a:r>
              <a:rPr lang="tr-TR" dirty="0" smtClean="0"/>
              <a:t>Kayıplı bir sıkıştırma algoritması kullanan </a:t>
            </a:r>
            <a:r>
              <a:rPr lang="tr-TR" dirty="0"/>
              <a:t>popüler bir </a:t>
            </a:r>
            <a:r>
              <a:rPr lang="tr-TR" dirty="0" smtClean="0"/>
              <a:t>ses formatı.</a:t>
            </a:r>
            <a:endParaRPr lang="tr-TR" dirty="0" smtClean="0"/>
          </a:p>
          <a:p>
            <a:r>
              <a:rPr lang="tr-TR" b="1" dirty="0" smtClean="0"/>
              <a:t>AAC</a:t>
            </a:r>
            <a:r>
              <a:rPr lang="tr-TR" dirty="0" smtClean="0"/>
              <a:t> </a:t>
            </a:r>
            <a:r>
              <a:rPr lang="tr-TR" dirty="0" smtClean="0"/>
              <a:t>(</a:t>
            </a:r>
            <a:r>
              <a:rPr lang="tr-TR" dirty="0" err="1" smtClean="0"/>
              <a:t>a</a:t>
            </a:r>
            <a:r>
              <a:rPr lang="tr-TR" i="1" dirty="0" err="1" smtClean="0"/>
              <a:t>dvanced</a:t>
            </a:r>
            <a:r>
              <a:rPr lang="tr-TR" i="1" dirty="0" smtClean="0"/>
              <a:t> </a:t>
            </a:r>
            <a:r>
              <a:rPr lang="tr-TR" i="1" dirty="0" err="1"/>
              <a:t>a</a:t>
            </a:r>
            <a:r>
              <a:rPr lang="tr-TR" i="1" dirty="0" err="1" smtClean="0"/>
              <a:t>udio</a:t>
            </a:r>
            <a:r>
              <a:rPr lang="tr-TR" i="1" dirty="0" smtClean="0"/>
              <a:t> </a:t>
            </a:r>
            <a:r>
              <a:rPr lang="tr-TR" i="1" dirty="0" err="1"/>
              <a:t>c</a:t>
            </a:r>
            <a:r>
              <a:rPr lang="tr-TR" i="1" dirty="0" err="1" smtClean="0"/>
              <a:t>oding</a:t>
            </a:r>
            <a:r>
              <a:rPr lang="tr-TR" dirty="0"/>
              <a:t>): </a:t>
            </a:r>
            <a:endParaRPr lang="tr-TR" dirty="0" smtClean="0"/>
          </a:p>
          <a:p>
            <a:pPr lvl="1"/>
            <a:r>
              <a:rPr lang="tr-TR" dirty="0" smtClean="0"/>
              <a:t>Kayıplı </a:t>
            </a:r>
            <a:r>
              <a:rPr lang="tr-TR" dirty="0"/>
              <a:t>bir sıkıştırma </a:t>
            </a:r>
            <a:r>
              <a:rPr lang="tr-TR" dirty="0" smtClean="0"/>
              <a:t>formatı.</a:t>
            </a:r>
            <a:endParaRPr lang="tr-TR" dirty="0" smtClean="0"/>
          </a:p>
          <a:p>
            <a:r>
              <a:rPr lang="tr-TR" b="1" dirty="0" smtClean="0"/>
              <a:t>FLAC</a:t>
            </a:r>
            <a:r>
              <a:rPr lang="tr-TR" dirty="0" smtClean="0"/>
              <a:t> </a:t>
            </a:r>
            <a:r>
              <a:rPr lang="tr-TR" dirty="0" smtClean="0"/>
              <a:t>(</a:t>
            </a:r>
            <a:r>
              <a:rPr lang="tr-TR" i="1" dirty="0" err="1"/>
              <a:t>f</a:t>
            </a:r>
            <a:r>
              <a:rPr lang="tr-TR" i="1" dirty="0" err="1" smtClean="0"/>
              <a:t>ree</a:t>
            </a:r>
            <a:r>
              <a:rPr lang="tr-TR" i="1" dirty="0" smtClean="0"/>
              <a:t> </a:t>
            </a:r>
            <a:r>
              <a:rPr lang="tr-TR" i="1" dirty="0" err="1"/>
              <a:t>l</a:t>
            </a:r>
            <a:r>
              <a:rPr lang="tr-TR" i="1" dirty="0" err="1" smtClean="0"/>
              <a:t>ossless</a:t>
            </a:r>
            <a:r>
              <a:rPr lang="tr-TR" i="1" dirty="0" smtClean="0"/>
              <a:t> </a:t>
            </a:r>
            <a:r>
              <a:rPr lang="tr-TR" i="1" dirty="0" err="1"/>
              <a:t>a</a:t>
            </a:r>
            <a:r>
              <a:rPr lang="tr-TR" i="1" dirty="0" err="1" smtClean="0"/>
              <a:t>udio</a:t>
            </a:r>
            <a:r>
              <a:rPr lang="tr-TR" i="1" dirty="0" smtClean="0"/>
              <a:t> </a:t>
            </a:r>
            <a:r>
              <a:rPr lang="tr-TR" i="1" dirty="0" err="1"/>
              <a:t>c</a:t>
            </a:r>
            <a:r>
              <a:rPr lang="tr-TR" i="1" dirty="0" err="1" smtClean="0"/>
              <a:t>odec</a:t>
            </a:r>
            <a:r>
              <a:rPr lang="tr-TR" dirty="0"/>
              <a:t>): </a:t>
            </a:r>
            <a:endParaRPr lang="tr-TR" dirty="0" smtClean="0"/>
          </a:p>
          <a:p>
            <a:pPr lvl="1"/>
            <a:r>
              <a:rPr lang="tr-TR" dirty="0" smtClean="0"/>
              <a:t>Yüksek </a:t>
            </a:r>
            <a:r>
              <a:rPr lang="tr-TR" dirty="0"/>
              <a:t>kaliteli ses için kayıpsız bir sıkıştırma </a:t>
            </a:r>
            <a:r>
              <a:rPr lang="tr-TR" dirty="0" smtClean="0"/>
              <a:t>formatı.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5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JPEG Standardı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i="1" dirty="0"/>
              <a:t>RGB</a:t>
            </a:r>
            <a:r>
              <a:rPr lang="tr-TR" dirty="0"/>
              <a:t> </a:t>
            </a:r>
            <a:r>
              <a:rPr lang="tr-TR" dirty="0" smtClean="0"/>
              <a:t>girdi verileri</a:t>
            </a:r>
            <a:r>
              <a:rPr lang="tr-TR" dirty="0"/>
              <a:t>. (b) Blok </a:t>
            </a:r>
            <a:r>
              <a:rPr lang="tr-TR" dirty="0" smtClean="0"/>
              <a:t>hazırlandıktan </a:t>
            </a:r>
            <a:r>
              <a:rPr lang="tr-TR" dirty="0"/>
              <a:t>sonra.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2516212"/>
            <a:ext cx="8750300" cy="3298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28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JPEG Sıkıştırma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Renk Dönüşümü</a:t>
            </a:r>
            <a:r>
              <a:rPr lang="tr-TR" dirty="0" smtClean="0"/>
              <a:t>:</a:t>
            </a:r>
            <a:endParaRPr lang="tr-TR" dirty="0"/>
          </a:p>
          <a:p>
            <a:pPr lvl="1"/>
            <a:r>
              <a:rPr lang="tr-TR" dirty="0"/>
              <a:t>Görüntü </a:t>
            </a:r>
            <a:r>
              <a:rPr lang="tr-TR" i="1" dirty="0" err="1" smtClean="0"/>
              <a:t>RGB</a:t>
            </a:r>
            <a:r>
              <a:rPr lang="tr-TR" dirty="0" err="1" smtClean="0"/>
              <a:t>'den</a:t>
            </a:r>
            <a:r>
              <a:rPr lang="tr-TR" dirty="0" smtClean="0"/>
              <a:t> </a:t>
            </a:r>
            <a:r>
              <a:rPr lang="tr-TR" i="1" dirty="0" err="1" smtClean="0"/>
              <a:t>YCbCr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dirty="0" err="1"/>
              <a:t>luma</a:t>
            </a:r>
            <a:r>
              <a:rPr lang="tr-TR" dirty="0"/>
              <a:t> ve </a:t>
            </a:r>
            <a:r>
              <a:rPr lang="tr-TR" dirty="0" err="1" smtClean="0"/>
              <a:t>chroma</a:t>
            </a:r>
            <a:r>
              <a:rPr lang="tr-TR" dirty="0" smtClean="0"/>
              <a:t>) </a:t>
            </a:r>
            <a:r>
              <a:rPr lang="tr-TR" dirty="0"/>
              <a:t>renk uzayına dönüştürülür. </a:t>
            </a:r>
            <a:endParaRPr lang="tr-TR" dirty="0" smtClean="0"/>
          </a:p>
          <a:p>
            <a:pPr lvl="1"/>
            <a:r>
              <a:rPr lang="tr-TR" dirty="0" smtClean="0"/>
              <a:t>Göz </a:t>
            </a:r>
            <a:r>
              <a:rPr lang="tr-TR" dirty="0"/>
              <a:t>parlaklık (</a:t>
            </a:r>
            <a:r>
              <a:rPr lang="tr-TR" i="1" dirty="0" err="1"/>
              <a:t>luma</a:t>
            </a:r>
            <a:r>
              <a:rPr lang="tr-TR" dirty="0"/>
              <a:t>) ve renk (</a:t>
            </a:r>
            <a:r>
              <a:rPr lang="tr-TR" i="1" dirty="0" err="1"/>
              <a:t>chroma</a:t>
            </a:r>
            <a:r>
              <a:rPr lang="tr-TR" dirty="0"/>
              <a:t>) </a:t>
            </a:r>
            <a:r>
              <a:rPr lang="tr-TR" dirty="0" smtClean="0"/>
              <a:t>bilgisine </a:t>
            </a:r>
            <a:r>
              <a:rPr lang="tr-TR" dirty="0"/>
              <a:t>farklı duyarlılık </a:t>
            </a:r>
            <a:r>
              <a:rPr lang="tr-TR" dirty="0" smtClean="0"/>
              <a:t>gösterir.</a:t>
            </a:r>
          </a:p>
          <a:p>
            <a:r>
              <a:rPr lang="tr-TR" dirty="0" smtClean="0"/>
              <a:t>Alt </a:t>
            </a:r>
            <a:r>
              <a:rPr lang="tr-TR" dirty="0"/>
              <a:t>Örnekleme (</a:t>
            </a:r>
            <a:r>
              <a:rPr lang="tr-TR" i="1" dirty="0" err="1"/>
              <a:t>Subsampling</a:t>
            </a:r>
            <a:r>
              <a:rPr lang="tr-TR" dirty="0"/>
              <a:t>):</a:t>
            </a:r>
          </a:p>
          <a:p>
            <a:pPr lvl="1"/>
            <a:r>
              <a:rPr lang="tr-TR" i="1" dirty="0" err="1" smtClean="0"/>
              <a:t>Chroma</a:t>
            </a:r>
            <a:r>
              <a:rPr lang="tr-TR" dirty="0" smtClean="0"/>
              <a:t> </a:t>
            </a:r>
            <a:r>
              <a:rPr lang="tr-TR" dirty="0"/>
              <a:t>bileşenleri, </a:t>
            </a:r>
            <a:r>
              <a:rPr lang="tr-TR" i="1" dirty="0" err="1" smtClean="0"/>
              <a:t>luma</a:t>
            </a:r>
            <a:r>
              <a:rPr lang="tr-TR" dirty="0" err="1" smtClean="0"/>
              <a:t>'dan</a:t>
            </a:r>
            <a:r>
              <a:rPr lang="tr-TR" dirty="0" smtClean="0"/>
              <a:t> daha </a:t>
            </a:r>
            <a:r>
              <a:rPr lang="tr-TR" dirty="0"/>
              <a:t>düşük çözünürlükte örneklenir. </a:t>
            </a:r>
            <a:endParaRPr lang="tr-TR" dirty="0" smtClean="0"/>
          </a:p>
          <a:p>
            <a:pPr lvl="1"/>
            <a:r>
              <a:rPr lang="tr-TR" dirty="0" smtClean="0"/>
              <a:t>Renk bilgisi </a:t>
            </a:r>
            <a:r>
              <a:rPr lang="tr-TR" dirty="0"/>
              <a:t>daha düşük çözünürlükte saklamayı ve sıkıştırmayı sağlar.</a:t>
            </a:r>
          </a:p>
          <a:p>
            <a:r>
              <a:rPr lang="tr-TR" dirty="0"/>
              <a:t>DCT (</a:t>
            </a:r>
            <a:r>
              <a:rPr lang="tr-TR" i="1" dirty="0" err="1"/>
              <a:t>Discrete</a:t>
            </a:r>
            <a:r>
              <a:rPr lang="tr-TR" i="1" dirty="0"/>
              <a:t> </a:t>
            </a:r>
            <a:r>
              <a:rPr lang="tr-TR" i="1" dirty="0" err="1"/>
              <a:t>Cosine</a:t>
            </a:r>
            <a:r>
              <a:rPr lang="tr-TR" i="1" dirty="0"/>
              <a:t> </a:t>
            </a:r>
            <a:r>
              <a:rPr lang="tr-TR" i="1" dirty="0" err="1"/>
              <a:t>Transform</a:t>
            </a:r>
            <a:r>
              <a:rPr lang="tr-TR" dirty="0"/>
              <a:t>) Dönüşümü:</a:t>
            </a:r>
          </a:p>
          <a:p>
            <a:pPr lvl="1"/>
            <a:r>
              <a:rPr lang="tr-TR" dirty="0" smtClean="0"/>
              <a:t>8x8 </a:t>
            </a:r>
            <a:r>
              <a:rPr lang="tr-TR" dirty="0"/>
              <a:t>piksel blokları, frekans uzayında daha az sayıda yüksek frekans bileşeni içeren katsayılar haline dönüştürülür. </a:t>
            </a:r>
            <a:endParaRPr lang="tr-TR" dirty="0" smtClean="0"/>
          </a:p>
          <a:p>
            <a:pPr lvl="1"/>
            <a:r>
              <a:rPr lang="tr-TR" dirty="0" smtClean="0"/>
              <a:t>Görsel </a:t>
            </a:r>
            <a:r>
              <a:rPr lang="tr-TR" dirty="0"/>
              <a:t>açıdan önemsiz detayların çıkarılmasına yardımcı olur.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01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JPEG Sıkıştırma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Kuantalama</a:t>
            </a:r>
            <a:r>
              <a:rPr lang="tr-TR" dirty="0" smtClean="0"/>
              <a:t>: (</a:t>
            </a:r>
            <a:r>
              <a:rPr lang="tr-TR" i="1" dirty="0" err="1" smtClean="0"/>
              <a:t>quantization</a:t>
            </a:r>
            <a:r>
              <a:rPr lang="tr-TR" dirty="0" smtClean="0"/>
              <a:t>)</a:t>
            </a:r>
            <a:endParaRPr lang="tr-TR" dirty="0"/>
          </a:p>
          <a:p>
            <a:pPr lvl="1"/>
            <a:r>
              <a:rPr lang="tr-TR" i="1" dirty="0" smtClean="0"/>
              <a:t>DCT</a:t>
            </a:r>
            <a:r>
              <a:rPr lang="tr-TR" dirty="0" smtClean="0"/>
              <a:t> </a:t>
            </a:r>
            <a:r>
              <a:rPr lang="tr-TR" dirty="0"/>
              <a:t>katsayıları, belirli bir nicelik seviyesine </a:t>
            </a:r>
            <a:r>
              <a:rPr lang="tr-TR" dirty="0" err="1"/>
              <a:t>kuantalama</a:t>
            </a:r>
            <a:r>
              <a:rPr lang="tr-TR" dirty="0"/>
              <a:t> </a:t>
            </a:r>
            <a:r>
              <a:rPr lang="tr-TR" dirty="0" smtClean="0"/>
              <a:t>ile düşürülür</a:t>
            </a:r>
            <a:r>
              <a:rPr lang="tr-TR" dirty="0"/>
              <a:t>. </a:t>
            </a:r>
            <a:endParaRPr lang="tr-TR" dirty="0" smtClean="0"/>
          </a:p>
          <a:p>
            <a:pPr lvl="1"/>
            <a:r>
              <a:rPr lang="tr-TR" dirty="0" smtClean="0"/>
              <a:t>Belirli </a:t>
            </a:r>
            <a:r>
              <a:rPr lang="tr-TR" dirty="0"/>
              <a:t>frekanslardaki enerjiyi azaltır ve sıkıştırmayı artırır.</a:t>
            </a:r>
          </a:p>
          <a:p>
            <a:r>
              <a:rPr lang="tr-TR" dirty="0" err="1"/>
              <a:t>Zigzag</a:t>
            </a:r>
            <a:r>
              <a:rPr lang="tr-TR" dirty="0"/>
              <a:t> </a:t>
            </a:r>
            <a:r>
              <a:rPr lang="tr-TR" dirty="0" smtClean="0"/>
              <a:t>Sıralama:</a:t>
            </a:r>
          </a:p>
          <a:p>
            <a:pPr lvl="1"/>
            <a:r>
              <a:rPr lang="tr-TR" dirty="0" err="1"/>
              <a:t>Kuantalanmış</a:t>
            </a:r>
            <a:r>
              <a:rPr lang="tr-TR" dirty="0"/>
              <a:t> katsayılar </a:t>
            </a:r>
            <a:r>
              <a:rPr lang="tr-TR" i="1" dirty="0" err="1"/>
              <a:t>zigzag</a:t>
            </a:r>
            <a:r>
              <a:rPr lang="tr-TR" dirty="0"/>
              <a:t> sırasında düzenlenir.</a:t>
            </a:r>
          </a:p>
          <a:p>
            <a:r>
              <a:rPr lang="tr-TR" dirty="0" err="1" smtClean="0"/>
              <a:t>Huffman</a:t>
            </a:r>
            <a:r>
              <a:rPr lang="tr-TR" dirty="0" smtClean="0"/>
              <a:t> </a:t>
            </a:r>
            <a:r>
              <a:rPr lang="tr-TR" dirty="0"/>
              <a:t>Kodlaması:</a:t>
            </a:r>
          </a:p>
          <a:p>
            <a:pPr lvl="1"/>
            <a:r>
              <a:rPr lang="tr-TR" i="1" dirty="0" err="1" smtClean="0"/>
              <a:t>Huffman</a:t>
            </a:r>
            <a:r>
              <a:rPr lang="tr-TR" dirty="0" smtClean="0"/>
              <a:t> </a:t>
            </a:r>
            <a:r>
              <a:rPr lang="tr-TR" dirty="0"/>
              <a:t>kodlaması ile sıkıştırılır. </a:t>
            </a:r>
            <a:endParaRPr lang="tr-TR" dirty="0" smtClean="0"/>
          </a:p>
          <a:p>
            <a:pPr lvl="1"/>
            <a:r>
              <a:rPr lang="tr-TR" dirty="0" smtClean="0"/>
              <a:t>Sık </a:t>
            </a:r>
            <a:r>
              <a:rPr lang="tr-TR" dirty="0"/>
              <a:t>görülen değerlerin daha kısa kodlarla temsil </a:t>
            </a:r>
            <a:r>
              <a:rPr lang="tr-TR" dirty="0" smtClean="0"/>
              <a:t>edilmesini sağlar.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441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JPEG Standardı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Y matrisinin </a:t>
            </a:r>
            <a:r>
              <a:rPr lang="tr-TR" dirty="0" smtClean="0"/>
              <a:t>8x8 bir </a:t>
            </a:r>
            <a:r>
              <a:rPr lang="tr-TR" dirty="0"/>
              <a:t>bloğu. (b) DCT katsayıları.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2511475"/>
            <a:ext cx="8731250" cy="3629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516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JPEG Standardı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 smtClean="0"/>
              <a:t>Nicelenmiş</a:t>
            </a:r>
            <a:r>
              <a:rPr lang="tr-TR" dirty="0" smtClean="0"/>
              <a:t> (</a:t>
            </a:r>
            <a:r>
              <a:rPr lang="tr-TR" i="1" dirty="0" err="1" smtClean="0"/>
              <a:t>quantized</a:t>
            </a:r>
            <a:r>
              <a:rPr lang="tr-TR" dirty="0" smtClean="0"/>
              <a:t>) DCT </a:t>
            </a:r>
            <a:r>
              <a:rPr lang="tr-TR" dirty="0"/>
              <a:t>katsayılarının hesaplanması.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2" y="2705894"/>
            <a:ext cx="8715375" cy="27701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10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JPEG Standardı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 smtClean="0"/>
              <a:t>Nicelenmiş</a:t>
            </a:r>
            <a:r>
              <a:rPr lang="tr-TR" dirty="0" smtClean="0"/>
              <a:t> değerlerin </a:t>
            </a:r>
            <a:r>
              <a:rPr lang="tr-TR" dirty="0"/>
              <a:t>iletilme </a:t>
            </a:r>
            <a:r>
              <a:rPr lang="tr-TR" dirty="0" smtClean="0"/>
              <a:t>sırası (</a:t>
            </a:r>
            <a:r>
              <a:rPr lang="tr-TR" i="1" dirty="0" err="1" smtClean="0"/>
              <a:t>zigzag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775" y="2317751"/>
            <a:ext cx="5632450" cy="39036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726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Görüntü Sıkıştırma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Kayıpsız ve Kayıplı </a:t>
            </a:r>
            <a:r>
              <a:rPr lang="tr-TR" dirty="0" smtClean="0"/>
              <a:t>Sıkıştırma Algoritmaları:</a:t>
            </a:r>
            <a:endParaRPr lang="tr-TR" dirty="0" smtClean="0"/>
          </a:p>
          <a:p>
            <a:pPr lvl="1"/>
            <a:r>
              <a:rPr lang="tr-TR" i="1" dirty="0" smtClean="0"/>
              <a:t>GIF</a:t>
            </a:r>
            <a:r>
              <a:rPr lang="tr-TR" i="1" dirty="0"/>
              <a:t>, PNG, </a:t>
            </a:r>
            <a:r>
              <a:rPr lang="tr-TR" i="1" dirty="0" smtClean="0"/>
              <a:t>JPEG.</a:t>
            </a:r>
            <a:endParaRPr lang="tr-TR" i="1" dirty="0" smtClean="0"/>
          </a:p>
          <a:p>
            <a:r>
              <a:rPr lang="tr-TR" dirty="0"/>
              <a:t>Renk </a:t>
            </a:r>
            <a:r>
              <a:rPr lang="tr-TR" dirty="0" smtClean="0"/>
              <a:t>derinliği:</a:t>
            </a:r>
            <a:endParaRPr lang="tr-TR" dirty="0" smtClean="0"/>
          </a:p>
          <a:p>
            <a:pPr lvl="1"/>
            <a:r>
              <a:rPr lang="tr-TR" dirty="0" smtClean="0"/>
              <a:t>Bit derinliği, </a:t>
            </a:r>
          </a:p>
          <a:p>
            <a:pPr lvl="1"/>
            <a:r>
              <a:rPr lang="tr-TR" dirty="0" smtClean="0"/>
              <a:t>Renk </a:t>
            </a:r>
            <a:r>
              <a:rPr lang="tr-TR" dirty="0"/>
              <a:t>Alanı (</a:t>
            </a:r>
            <a:r>
              <a:rPr lang="tr-TR" i="1" dirty="0"/>
              <a:t>RGB, </a:t>
            </a:r>
            <a:r>
              <a:rPr lang="tr-TR" i="1" dirty="0" smtClean="0"/>
              <a:t>CMYK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Çözünürlük:</a:t>
            </a:r>
            <a:endParaRPr lang="tr-TR" dirty="0" smtClean="0"/>
          </a:p>
          <a:p>
            <a:pPr lvl="1"/>
            <a:r>
              <a:rPr lang="tr-TR" dirty="0" smtClean="0"/>
              <a:t>İnç </a:t>
            </a:r>
            <a:r>
              <a:rPr lang="tr-TR" dirty="0"/>
              <a:t>başına piksel (</a:t>
            </a:r>
            <a:r>
              <a:rPr lang="tr-TR" i="1" dirty="0"/>
              <a:t>PPI</a:t>
            </a:r>
            <a:r>
              <a:rPr lang="tr-TR" dirty="0" smtClean="0"/>
              <a:t>).</a:t>
            </a:r>
            <a:endParaRPr lang="tr-TR" dirty="0" smtClean="0"/>
          </a:p>
          <a:p>
            <a:pPr lvl="1"/>
            <a:r>
              <a:rPr lang="tr-TR" dirty="0" smtClean="0"/>
              <a:t>Boyutlar </a:t>
            </a:r>
            <a:r>
              <a:rPr lang="tr-TR" dirty="0"/>
              <a:t>(genişlik x yükseklik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Formatlar:</a:t>
            </a:r>
            <a:endParaRPr lang="tr-TR" dirty="0" smtClean="0"/>
          </a:p>
          <a:p>
            <a:pPr lvl="1"/>
            <a:r>
              <a:rPr lang="tr-TR" dirty="0" err="1" smtClean="0"/>
              <a:t>Raster</a:t>
            </a:r>
            <a:r>
              <a:rPr lang="tr-TR" dirty="0" smtClean="0"/>
              <a:t>: </a:t>
            </a:r>
            <a:r>
              <a:rPr lang="tr-TR" i="1" dirty="0"/>
              <a:t>JPEG, PNG, BMP, </a:t>
            </a:r>
            <a:r>
              <a:rPr lang="tr-TR" i="1" dirty="0" smtClean="0"/>
              <a:t>TIFF.</a:t>
            </a:r>
            <a:endParaRPr lang="tr-TR" i="1" dirty="0" smtClean="0"/>
          </a:p>
          <a:p>
            <a:pPr lvl="1"/>
            <a:r>
              <a:rPr lang="tr-TR" dirty="0" smtClean="0"/>
              <a:t>Vektör: </a:t>
            </a:r>
            <a:r>
              <a:rPr lang="tr-TR" i="1" dirty="0"/>
              <a:t>SVG, AI, </a:t>
            </a:r>
            <a:r>
              <a:rPr lang="tr-TR" i="1" dirty="0" smtClean="0"/>
              <a:t>EPS.</a:t>
            </a:r>
            <a:endParaRPr lang="tr-TR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Görüntü Sıkıştırma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Veri Temsili:</a:t>
            </a:r>
            <a:endParaRPr lang="tr-TR" dirty="0" smtClean="0"/>
          </a:p>
          <a:p>
            <a:pPr lvl="1"/>
            <a:r>
              <a:rPr lang="tr-TR" dirty="0" err="1" smtClean="0"/>
              <a:t>Biteşlem</a:t>
            </a:r>
            <a:r>
              <a:rPr lang="tr-TR" dirty="0" smtClean="0"/>
              <a:t> </a:t>
            </a:r>
            <a:r>
              <a:rPr lang="tr-TR" dirty="0"/>
              <a:t>(</a:t>
            </a:r>
            <a:r>
              <a:rPr lang="tr-TR" i="1" dirty="0"/>
              <a:t>piksel</a:t>
            </a:r>
            <a:r>
              <a:rPr lang="tr-TR" dirty="0" smtClean="0"/>
              <a:t>).</a:t>
            </a:r>
            <a:endParaRPr lang="tr-TR" dirty="0" smtClean="0"/>
          </a:p>
          <a:p>
            <a:pPr lvl="1"/>
            <a:r>
              <a:rPr lang="tr-TR" dirty="0" smtClean="0"/>
              <a:t>Tekrar </a:t>
            </a:r>
            <a:r>
              <a:rPr lang="tr-TR" dirty="0"/>
              <a:t>Boyu Kodlama </a:t>
            </a:r>
            <a:r>
              <a:rPr lang="tr-TR" dirty="0" smtClean="0"/>
              <a:t>(</a:t>
            </a:r>
            <a:r>
              <a:rPr lang="tr-TR" i="1" dirty="0"/>
              <a:t>Run-</a:t>
            </a:r>
            <a:r>
              <a:rPr lang="tr-TR" i="1" dirty="0" err="1"/>
              <a:t>length</a:t>
            </a:r>
            <a:r>
              <a:rPr lang="tr-TR" i="1" dirty="0"/>
              <a:t> </a:t>
            </a:r>
            <a:r>
              <a:rPr lang="tr-TR" i="1" dirty="0" err="1"/>
              <a:t>encoding</a:t>
            </a:r>
            <a:r>
              <a:rPr lang="tr-TR" dirty="0"/>
              <a:t>). </a:t>
            </a:r>
            <a:r>
              <a:rPr lang="tr-TR" dirty="0" smtClean="0"/>
              <a:t>AAAABBBCC</a:t>
            </a:r>
            <a:r>
              <a:rPr lang="tr-TR" dirty="0" smtClean="0">
                <a:sym typeface="Wingdings" panose="05000000000000000000" pitchFamily="2" charset="2"/>
              </a:rPr>
              <a:t></a:t>
            </a:r>
            <a:r>
              <a:rPr lang="tr-TR" dirty="0" smtClean="0"/>
              <a:t>4A3B2C</a:t>
            </a:r>
            <a:endParaRPr lang="tr-TR" dirty="0" smtClean="0"/>
          </a:p>
          <a:p>
            <a:r>
              <a:rPr lang="tr-TR" dirty="0" smtClean="0"/>
              <a:t>Meta Veriler:</a:t>
            </a:r>
            <a:endParaRPr lang="tr-TR" dirty="0" smtClean="0"/>
          </a:p>
          <a:p>
            <a:pPr lvl="1"/>
            <a:r>
              <a:rPr lang="tr-TR" i="1" dirty="0" smtClean="0"/>
              <a:t>EXIF </a:t>
            </a:r>
            <a:r>
              <a:rPr lang="tr-TR" dirty="0"/>
              <a:t>(</a:t>
            </a:r>
            <a:r>
              <a:rPr lang="tr-TR" i="1" dirty="0" err="1"/>
              <a:t>Exchangeable</a:t>
            </a:r>
            <a:r>
              <a:rPr lang="tr-TR" i="1" dirty="0"/>
              <a:t> </a:t>
            </a:r>
            <a:r>
              <a:rPr lang="tr-TR" i="1" dirty="0" err="1"/>
              <a:t>image</a:t>
            </a:r>
            <a:r>
              <a:rPr lang="tr-TR" i="1" dirty="0"/>
              <a:t> file format</a:t>
            </a:r>
            <a:r>
              <a:rPr lang="tr-TR" dirty="0"/>
              <a:t>).</a:t>
            </a:r>
            <a:endParaRPr lang="tr-TR" dirty="0" smtClean="0"/>
          </a:p>
          <a:p>
            <a:pPr lvl="1"/>
            <a:r>
              <a:rPr lang="tr-TR" i="1" dirty="0" smtClean="0"/>
              <a:t>IPTC </a:t>
            </a:r>
            <a:r>
              <a:rPr lang="tr-TR" dirty="0" smtClean="0"/>
              <a:t>(</a:t>
            </a:r>
            <a:r>
              <a:rPr lang="tr-TR" i="1" dirty="0" smtClean="0"/>
              <a:t>International </a:t>
            </a:r>
            <a:r>
              <a:rPr lang="tr-TR" i="1" dirty="0" err="1" smtClean="0"/>
              <a:t>press</a:t>
            </a:r>
            <a:r>
              <a:rPr lang="tr-TR" i="1" dirty="0" smtClean="0"/>
              <a:t> </a:t>
            </a:r>
            <a:r>
              <a:rPr lang="tr-TR" i="1" dirty="0" err="1" smtClean="0"/>
              <a:t>telecommunications</a:t>
            </a:r>
            <a:r>
              <a:rPr lang="tr-TR" i="1" dirty="0" smtClean="0"/>
              <a:t> </a:t>
            </a:r>
            <a:r>
              <a:rPr lang="tr-TR" i="1" dirty="0" err="1" smtClean="0"/>
              <a:t>council</a:t>
            </a:r>
            <a:r>
              <a:rPr lang="tr-TR" dirty="0" smtClean="0"/>
              <a:t>).</a:t>
            </a:r>
            <a:endParaRPr lang="tr-TR" dirty="0" smtClean="0"/>
          </a:p>
          <a:p>
            <a:r>
              <a:rPr lang="tr-TR" dirty="0" smtClean="0"/>
              <a:t>Görüntü </a:t>
            </a:r>
            <a:r>
              <a:rPr lang="tr-TR" dirty="0"/>
              <a:t>Kodlamayla İlgili </a:t>
            </a:r>
            <a:r>
              <a:rPr lang="tr-TR" dirty="0" smtClean="0"/>
              <a:t>Hususlar</a:t>
            </a:r>
          </a:p>
          <a:p>
            <a:pPr lvl="1"/>
            <a:r>
              <a:rPr lang="tr-TR" dirty="0" smtClean="0"/>
              <a:t>Dosya boyutu, sıkıştırma kalitesi, renk doğruluğu, çözünürlük, </a:t>
            </a:r>
            <a:endParaRPr lang="tr-TR" dirty="0" smtClean="0"/>
          </a:p>
          <a:p>
            <a:pPr lvl="1"/>
            <a:r>
              <a:rPr lang="tr-TR" dirty="0" smtClean="0"/>
              <a:t>Belirli kullanım durumları için görüntü formatları (web</a:t>
            </a:r>
            <a:r>
              <a:rPr lang="tr-TR" dirty="0"/>
              <a:t>, baskı </a:t>
            </a:r>
            <a:r>
              <a:rPr lang="tr-TR" dirty="0" smtClean="0"/>
              <a:t>gibi).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13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Video Kodlama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Ham (</a:t>
            </a:r>
            <a:r>
              <a:rPr lang="tr-TR" i="1" dirty="0" err="1" smtClean="0"/>
              <a:t>raw</a:t>
            </a:r>
            <a:r>
              <a:rPr lang="tr-TR" dirty="0" smtClean="0"/>
              <a:t>) </a:t>
            </a:r>
            <a:r>
              <a:rPr lang="tr-TR" dirty="0"/>
              <a:t>video </a:t>
            </a:r>
            <a:r>
              <a:rPr lang="tr-TR" dirty="0" smtClean="0"/>
              <a:t>verilerinin sıkıştırılarak dijital formata dönüştürülmesi.</a:t>
            </a:r>
            <a:endParaRPr lang="tr-TR" dirty="0" smtClean="0"/>
          </a:p>
          <a:p>
            <a:r>
              <a:rPr lang="tr-TR" dirty="0" smtClean="0"/>
              <a:t>Dosya boyutu küçülür.</a:t>
            </a:r>
          </a:p>
          <a:p>
            <a:r>
              <a:rPr lang="tr-TR" dirty="0" smtClean="0"/>
              <a:t>Saklama, aktarım ve görüntüleme kolaylaşır.</a:t>
            </a:r>
            <a:endParaRPr lang="tr-TR" dirty="0" smtClean="0"/>
          </a:p>
          <a:p>
            <a:r>
              <a:rPr lang="tr-TR" dirty="0" smtClean="0"/>
              <a:t>Sık </a:t>
            </a:r>
            <a:r>
              <a:rPr lang="tr-TR" dirty="0"/>
              <a:t>kullanılan video kodlama </a:t>
            </a:r>
            <a:r>
              <a:rPr lang="tr-TR" dirty="0" smtClean="0"/>
              <a:t>standartları:</a:t>
            </a:r>
          </a:p>
          <a:p>
            <a:pPr lvl="1"/>
            <a:r>
              <a:rPr lang="tr-TR" i="1" dirty="0" smtClean="0"/>
              <a:t>MPEG-2</a:t>
            </a:r>
            <a:r>
              <a:rPr lang="tr-TR" i="1" dirty="0"/>
              <a:t>, </a:t>
            </a:r>
            <a:r>
              <a:rPr lang="tr-TR" i="1" dirty="0" smtClean="0"/>
              <a:t>MPEG-3, MPEG-4</a:t>
            </a:r>
            <a:r>
              <a:rPr lang="tr-TR" dirty="0" smtClean="0"/>
              <a:t>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51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MPEG Standartları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MPEG-2</a:t>
            </a:r>
            <a:r>
              <a:rPr lang="tr-TR" dirty="0" smtClean="0"/>
              <a:t>: </a:t>
            </a:r>
          </a:p>
          <a:p>
            <a:pPr lvl="1"/>
            <a:r>
              <a:rPr lang="tr-TR" i="1" dirty="0" smtClean="0"/>
              <a:t>Motion </a:t>
            </a:r>
            <a:r>
              <a:rPr lang="tr-TR" i="1" dirty="0"/>
              <a:t>Picture </a:t>
            </a:r>
            <a:r>
              <a:rPr lang="tr-TR" i="1" dirty="0" err="1"/>
              <a:t>Experts</a:t>
            </a:r>
            <a:r>
              <a:rPr lang="tr-TR" i="1" dirty="0"/>
              <a:t> </a:t>
            </a:r>
            <a:r>
              <a:rPr lang="tr-TR" i="1" dirty="0" err="1"/>
              <a:t>Group</a:t>
            </a:r>
            <a:r>
              <a:rPr lang="tr-TR" dirty="0"/>
              <a:t> </a:t>
            </a:r>
            <a:r>
              <a:rPr lang="tr-TR" dirty="0" smtClean="0"/>
              <a:t>tarafından geliştirildi.</a:t>
            </a:r>
          </a:p>
          <a:p>
            <a:pPr lvl="1"/>
            <a:r>
              <a:rPr lang="tr-TR" dirty="0" smtClean="0"/>
              <a:t>Analog </a:t>
            </a:r>
            <a:r>
              <a:rPr lang="tr-TR" dirty="0"/>
              <a:t>televizyonda yaygın </a:t>
            </a:r>
            <a:r>
              <a:rPr lang="tr-TR" dirty="0" smtClean="0"/>
              <a:t>geçişme (</a:t>
            </a:r>
            <a:r>
              <a:rPr lang="tr-TR" i="1" dirty="0" err="1" smtClean="0"/>
              <a:t>interlaced</a:t>
            </a:r>
            <a:r>
              <a:rPr lang="tr-TR" dirty="0" smtClean="0"/>
              <a:t>) videoyu destekler.</a:t>
            </a:r>
          </a:p>
          <a:p>
            <a:r>
              <a:rPr lang="tr-TR" b="1" dirty="0" smtClean="0"/>
              <a:t>MPEG-3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Bu </a:t>
            </a:r>
            <a:r>
              <a:rPr lang="tr-TR" dirty="0"/>
              <a:t>standart hiçbir zaman </a:t>
            </a:r>
            <a:r>
              <a:rPr lang="tr-TR" dirty="0" smtClean="0"/>
              <a:t>tamamlanmamıştır.</a:t>
            </a:r>
          </a:p>
          <a:p>
            <a:r>
              <a:rPr lang="tr-TR" b="1" dirty="0" smtClean="0"/>
              <a:t>MPEG-4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Video </a:t>
            </a:r>
            <a:r>
              <a:rPr lang="tr-TR" dirty="0"/>
              <a:t>kalitesini </a:t>
            </a:r>
            <a:r>
              <a:rPr lang="tr-TR" dirty="0" smtClean="0"/>
              <a:t>korur.</a:t>
            </a:r>
          </a:p>
          <a:p>
            <a:pPr lvl="1"/>
            <a:r>
              <a:rPr lang="tr-TR" dirty="0" smtClean="0"/>
              <a:t>Yüksek </a:t>
            </a:r>
            <a:r>
              <a:rPr lang="tr-TR" dirty="0"/>
              <a:t>sıkıştırma verimliliği </a:t>
            </a:r>
            <a:r>
              <a:rPr lang="tr-TR" dirty="0" smtClean="0"/>
              <a:t>sağlar. </a:t>
            </a:r>
            <a:endParaRPr lang="tr-TR" dirty="0" smtClean="0"/>
          </a:p>
          <a:p>
            <a:pPr lvl="1"/>
            <a:r>
              <a:rPr lang="tr-TR" dirty="0" smtClean="0"/>
              <a:t>Yüksek </a:t>
            </a:r>
            <a:r>
              <a:rPr lang="tr-TR" dirty="0" smtClean="0"/>
              <a:t>çözünürlük </a:t>
            </a:r>
            <a:r>
              <a:rPr lang="tr-TR" dirty="0"/>
              <a:t>ve kare </a:t>
            </a:r>
            <a:r>
              <a:rPr lang="tr-TR" dirty="0" smtClean="0"/>
              <a:t>hızı (</a:t>
            </a:r>
            <a:r>
              <a:rPr lang="tr-TR" i="1" dirty="0" err="1" smtClean="0"/>
              <a:t>fps</a:t>
            </a:r>
            <a:r>
              <a:rPr lang="tr-TR" dirty="0" smtClean="0"/>
              <a:t>) destekler. 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06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MPEG-2 Standardı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Üç </a:t>
            </a:r>
            <a:r>
              <a:rPr lang="tr-TR" dirty="0"/>
              <a:t>tür </a:t>
            </a:r>
            <a:r>
              <a:rPr lang="tr-TR" dirty="0" smtClean="0"/>
              <a:t>çerçeve:</a:t>
            </a:r>
            <a:endParaRPr lang="tr-TR" dirty="0" smtClean="0"/>
          </a:p>
          <a:p>
            <a:pPr lvl="1"/>
            <a:r>
              <a:rPr lang="tr-TR" b="1" dirty="0" smtClean="0"/>
              <a:t>I</a:t>
            </a:r>
            <a:r>
              <a:rPr lang="tr-TR" dirty="0" smtClean="0"/>
              <a:t> </a:t>
            </a:r>
            <a:r>
              <a:rPr lang="tr-TR" dirty="0" smtClean="0"/>
              <a:t>(</a:t>
            </a:r>
            <a:r>
              <a:rPr lang="tr-TR" dirty="0" smtClean="0"/>
              <a:t>Dahili</a:t>
            </a:r>
            <a:r>
              <a:rPr lang="tr-TR" dirty="0" smtClean="0"/>
              <a:t> kodlanmış </a:t>
            </a:r>
            <a:r>
              <a:rPr lang="tr-TR" dirty="0" smtClean="0"/>
              <a:t>(</a:t>
            </a:r>
            <a:r>
              <a:rPr lang="tr-TR" i="1" dirty="0" err="1" smtClean="0"/>
              <a:t>intracoded</a:t>
            </a:r>
            <a:r>
              <a:rPr lang="tr-TR" dirty="0" smtClean="0"/>
              <a:t>)): </a:t>
            </a:r>
          </a:p>
          <a:p>
            <a:pPr lvl="2"/>
            <a:r>
              <a:rPr lang="tr-TR" dirty="0" smtClean="0"/>
              <a:t>Kendi </a:t>
            </a:r>
            <a:r>
              <a:rPr lang="tr-TR" dirty="0"/>
              <a:t>kendine </a:t>
            </a:r>
            <a:r>
              <a:rPr lang="tr-TR" dirty="0" smtClean="0"/>
              <a:t>yeten (</a:t>
            </a:r>
            <a:r>
              <a:rPr lang="tr-TR" i="1" dirty="0" smtClean="0"/>
              <a:t>self </a:t>
            </a:r>
            <a:r>
              <a:rPr lang="tr-TR" i="1" dirty="0" err="1" smtClean="0"/>
              <a:t>contained</a:t>
            </a:r>
            <a:r>
              <a:rPr lang="tr-TR" dirty="0" smtClean="0"/>
              <a:t>) </a:t>
            </a:r>
            <a:r>
              <a:rPr lang="tr-TR" dirty="0"/>
              <a:t>JPEG kodlu durağan resimler</a:t>
            </a:r>
            <a:r>
              <a:rPr lang="tr-TR" dirty="0" smtClean="0"/>
              <a:t>.</a:t>
            </a:r>
          </a:p>
          <a:p>
            <a:pPr lvl="1"/>
            <a:r>
              <a:rPr lang="tr-TR" b="1" dirty="0" smtClean="0"/>
              <a:t>P</a:t>
            </a:r>
            <a:r>
              <a:rPr lang="tr-TR" dirty="0" smtClean="0"/>
              <a:t> (</a:t>
            </a:r>
            <a:r>
              <a:rPr lang="tr-TR" dirty="0" smtClean="0"/>
              <a:t>Öngörülü </a:t>
            </a:r>
            <a:r>
              <a:rPr lang="tr-TR" dirty="0" smtClean="0"/>
              <a:t>(</a:t>
            </a:r>
            <a:r>
              <a:rPr lang="tr-TR" i="1" dirty="0" err="1" smtClean="0"/>
              <a:t>predictive</a:t>
            </a:r>
            <a:r>
              <a:rPr lang="tr-TR" dirty="0" smtClean="0"/>
              <a:t>)): </a:t>
            </a:r>
          </a:p>
          <a:p>
            <a:pPr lvl="2"/>
            <a:r>
              <a:rPr lang="tr-TR" dirty="0" smtClean="0"/>
              <a:t>Son </a:t>
            </a:r>
            <a:r>
              <a:rPr lang="tr-TR" dirty="0" smtClean="0"/>
              <a:t>(</a:t>
            </a:r>
            <a:r>
              <a:rPr lang="tr-TR" i="1" dirty="0" err="1" smtClean="0"/>
              <a:t>last</a:t>
            </a:r>
            <a:r>
              <a:rPr lang="tr-TR" dirty="0" smtClean="0"/>
              <a:t>) kare </a:t>
            </a:r>
            <a:r>
              <a:rPr lang="tr-TR" dirty="0"/>
              <a:t>ile blok </a:t>
            </a:r>
            <a:r>
              <a:rPr lang="tr-TR" dirty="0" err="1"/>
              <a:t>blok</a:t>
            </a:r>
            <a:r>
              <a:rPr lang="tr-TR" dirty="0"/>
              <a:t> </a:t>
            </a:r>
            <a:r>
              <a:rPr lang="tr-TR" dirty="0" smtClean="0"/>
              <a:t>farklar.</a:t>
            </a:r>
            <a:endParaRPr lang="tr-TR" dirty="0" smtClean="0"/>
          </a:p>
          <a:p>
            <a:pPr lvl="1"/>
            <a:r>
              <a:rPr lang="tr-TR" b="1" dirty="0" smtClean="0"/>
              <a:t>B</a:t>
            </a:r>
            <a:r>
              <a:rPr lang="tr-TR" dirty="0" smtClean="0"/>
              <a:t> </a:t>
            </a:r>
            <a:r>
              <a:rPr lang="tr-TR" dirty="0"/>
              <a:t>(Çift </a:t>
            </a:r>
            <a:r>
              <a:rPr lang="tr-TR" dirty="0" smtClean="0"/>
              <a:t>Yönlü (</a:t>
            </a:r>
            <a:r>
              <a:rPr lang="tr-TR" i="1" dirty="0" err="1" smtClean="0"/>
              <a:t>bidirectional</a:t>
            </a:r>
            <a:r>
              <a:rPr lang="tr-TR" dirty="0" smtClean="0"/>
              <a:t>)): </a:t>
            </a:r>
          </a:p>
          <a:p>
            <a:pPr lvl="2"/>
            <a:r>
              <a:rPr lang="tr-TR" dirty="0" smtClean="0"/>
              <a:t>Son </a:t>
            </a:r>
            <a:r>
              <a:rPr lang="tr-TR" dirty="0" smtClean="0"/>
              <a:t>(</a:t>
            </a:r>
            <a:r>
              <a:rPr lang="tr-TR" i="1" dirty="0" err="1" smtClean="0"/>
              <a:t>last</a:t>
            </a:r>
            <a:r>
              <a:rPr lang="tr-TR" dirty="0" smtClean="0"/>
              <a:t>) kare ile sonraki (</a:t>
            </a:r>
            <a:r>
              <a:rPr lang="tr-TR" i="1" dirty="0" err="1" smtClean="0"/>
              <a:t>next</a:t>
            </a:r>
            <a:r>
              <a:rPr lang="tr-TR" dirty="0" smtClean="0"/>
              <a:t>) </a:t>
            </a:r>
            <a:r>
              <a:rPr lang="tr-TR" dirty="0"/>
              <a:t>kare </a:t>
            </a:r>
            <a:r>
              <a:rPr lang="tr-TR" dirty="0" smtClean="0"/>
              <a:t>arasındaki farklılıklar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7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Ardışık Üç Görüntü Karesi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956" y="2552836"/>
            <a:ext cx="8828087" cy="2136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526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Ses Sıkıştırma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</a:t>
            </a:r>
            <a:r>
              <a:rPr lang="tr-TR" dirty="0" smtClean="0"/>
              <a:t>İkili (</a:t>
            </a:r>
            <a:r>
              <a:rPr lang="tr-TR" dirty="0" err="1" smtClean="0"/>
              <a:t>binary</a:t>
            </a:r>
            <a:r>
              <a:rPr lang="tr-TR" dirty="0" smtClean="0"/>
              <a:t>) </a:t>
            </a:r>
            <a:r>
              <a:rPr lang="tr-TR" dirty="0"/>
              <a:t>sinyal ve </a:t>
            </a:r>
            <a:r>
              <a:rPr lang="tr-TR" dirty="0" smtClean="0"/>
              <a:t>karelerinin </a:t>
            </a:r>
            <a:r>
              <a:rPr lang="tr-TR" dirty="0" smtClean="0"/>
              <a:t>ortalamasının karekökü (</a:t>
            </a:r>
            <a:r>
              <a:rPr lang="tr-TR" i="1" dirty="0" err="1" smtClean="0"/>
              <a:t>root</a:t>
            </a:r>
            <a:r>
              <a:rPr lang="tr-TR" i="1" dirty="0" smtClean="0"/>
              <a:t> </a:t>
            </a:r>
            <a:r>
              <a:rPr lang="tr-TR" i="1" dirty="0" err="1" smtClean="0"/>
              <a:t>mean</a:t>
            </a:r>
            <a:r>
              <a:rPr lang="tr-TR" i="1" dirty="0" smtClean="0"/>
              <a:t> </a:t>
            </a:r>
            <a:r>
              <a:rPr lang="tr-TR" i="1" dirty="0" err="1" smtClean="0"/>
              <a:t>square</a:t>
            </a:r>
            <a:r>
              <a:rPr lang="tr-TR" dirty="0" smtClean="0"/>
              <a:t>) </a:t>
            </a:r>
            <a:r>
              <a:rPr lang="tr-TR" i="1" dirty="0" err="1"/>
              <a:t>f</a:t>
            </a:r>
            <a:r>
              <a:rPr lang="tr-TR" i="1" dirty="0" err="1" smtClean="0"/>
              <a:t>ourier</a:t>
            </a:r>
            <a:r>
              <a:rPr lang="tr-TR" i="1" dirty="0" smtClean="0"/>
              <a:t> </a:t>
            </a:r>
            <a:r>
              <a:rPr lang="tr-TR" dirty="0" smtClean="0"/>
              <a:t>genlikleri (</a:t>
            </a:r>
            <a:r>
              <a:rPr lang="tr-TR" i="1" dirty="0" err="1" smtClean="0"/>
              <a:t>amplitude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5" y="3070250"/>
            <a:ext cx="8324850" cy="2362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331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Ses Sıkıştırma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(b</a:t>
            </a:r>
            <a:r>
              <a:rPr lang="tr-TR" dirty="0" smtClean="0"/>
              <a:t>) - (</a:t>
            </a:r>
            <a:r>
              <a:rPr lang="tr-TR" dirty="0" smtClean="0"/>
              <a:t>c) </a:t>
            </a:r>
            <a:r>
              <a:rPr lang="tr-TR" dirty="0"/>
              <a:t>Orijinal sinyale ardışık yaklaşımlar.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661" y="2550825"/>
            <a:ext cx="6838678" cy="322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038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Ses Sıkıştırma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(d</a:t>
            </a:r>
            <a:r>
              <a:rPr lang="tr-TR" dirty="0" smtClean="0"/>
              <a:t>) - (</a:t>
            </a:r>
            <a:r>
              <a:rPr lang="tr-TR" dirty="0" smtClean="0"/>
              <a:t>e) </a:t>
            </a:r>
            <a:r>
              <a:rPr lang="tr-TR" dirty="0"/>
              <a:t>Orijinal sinyale ardışık yaklaşımlar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669" y="2247541"/>
            <a:ext cx="7142661" cy="38929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4499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Ses Sıkıştırma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Frekansın bir fonksiyonu olarak </a:t>
            </a:r>
            <a:r>
              <a:rPr lang="tr-TR" dirty="0" err="1" smtClean="0"/>
              <a:t>işitilebilirlik</a:t>
            </a:r>
            <a:r>
              <a:rPr lang="tr-TR" dirty="0" smtClean="0"/>
              <a:t> eşiği</a:t>
            </a:r>
            <a:r>
              <a:rPr lang="tr-TR" dirty="0"/>
              <a:t>. (b) Maskeleme etkisi.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206" y="2716237"/>
            <a:ext cx="8891587" cy="2898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62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Olası Örneklem </a:t>
            </a:r>
            <a:r>
              <a:rPr lang="tr-TR" dirty="0" smtClean="0"/>
              <a:t>Yapılandırmaları (</a:t>
            </a:r>
            <a:r>
              <a:rPr lang="tr-TR" dirty="0" err="1" smtClean="0"/>
              <a:t>Configuration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 smtClean="0"/>
              <a:t>Monofonik</a:t>
            </a:r>
            <a:r>
              <a:rPr lang="tr-TR" i="1" dirty="0" smtClean="0"/>
              <a:t>:</a:t>
            </a:r>
            <a:r>
              <a:rPr lang="tr-TR" dirty="0" smtClean="0"/>
              <a:t> tek </a:t>
            </a:r>
            <a:r>
              <a:rPr lang="tr-TR" dirty="0"/>
              <a:t>bir giriş </a:t>
            </a:r>
            <a:r>
              <a:rPr lang="tr-TR" dirty="0" smtClean="0"/>
              <a:t>akışı (</a:t>
            </a:r>
            <a:r>
              <a:rPr lang="tr-TR" i="1" dirty="0" err="1" smtClean="0"/>
              <a:t>input</a:t>
            </a:r>
            <a:r>
              <a:rPr lang="tr-TR" i="1" dirty="0" smtClean="0"/>
              <a:t> </a:t>
            </a:r>
            <a:r>
              <a:rPr lang="tr-TR" i="1" dirty="0" err="1" smtClean="0"/>
              <a:t>stream</a:t>
            </a:r>
            <a:r>
              <a:rPr lang="tr-TR" dirty="0" smtClean="0"/>
              <a:t>) var.</a:t>
            </a:r>
            <a:endParaRPr lang="tr-TR" dirty="0" smtClean="0"/>
          </a:p>
          <a:p>
            <a:r>
              <a:rPr lang="tr-TR" i="1" dirty="0" smtClean="0"/>
              <a:t>Çift </a:t>
            </a:r>
            <a:r>
              <a:rPr lang="tr-TR" i="1" dirty="0" err="1" smtClean="0"/>
              <a:t>monofonik</a:t>
            </a:r>
            <a:r>
              <a:rPr lang="tr-TR" i="1" dirty="0" smtClean="0"/>
              <a:t>: </a:t>
            </a:r>
            <a:r>
              <a:rPr lang="tr-TR" dirty="0" smtClean="0"/>
              <a:t>çift giriş akışı</a:t>
            </a:r>
            <a:r>
              <a:rPr lang="tr-TR" i="1" dirty="0" smtClean="0"/>
              <a:t> </a:t>
            </a:r>
            <a:r>
              <a:rPr lang="tr-TR" dirty="0" smtClean="0"/>
              <a:t>(İngilizce </a:t>
            </a:r>
            <a:r>
              <a:rPr lang="tr-TR" dirty="0"/>
              <a:t>ve </a:t>
            </a:r>
            <a:r>
              <a:rPr lang="tr-TR" dirty="0" smtClean="0"/>
              <a:t>Japonca </a:t>
            </a:r>
            <a:r>
              <a:rPr lang="tr-TR" dirty="0"/>
              <a:t>film müziği</a:t>
            </a:r>
            <a:r>
              <a:rPr lang="tr-TR" dirty="0" smtClean="0"/>
              <a:t>).</a:t>
            </a:r>
          </a:p>
          <a:p>
            <a:r>
              <a:rPr lang="tr-TR" i="1" dirty="0" smtClean="0"/>
              <a:t>Ayrık </a:t>
            </a:r>
            <a:r>
              <a:rPr lang="tr-TR" i="1" dirty="0" smtClean="0"/>
              <a:t>stereo: </a:t>
            </a:r>
            <a:r>
              <a:rPr lang="tr-TR" dirty="0" smtClean="0"/>
              <a:t>her </a:t>
            </a:r>
            <a:r>
              <a:rPr lang="tr-TR" dirty="0"/>
              <a:t>kanal ayrı ayrı </a:t>
            </a:r>
            <a:r>
              <a:rPr lang="tr-TR" dirty="0" smtClean="0"/>
              <a:t>sıkıştırılır.</a:t>
            </a:r>
            <a:endParaRPr lang="tr-TR" dirty="0" smtClean="0"/>
          </a:p>
          <a:p>
            <a:r>
              <a:rPr lang="tr-TR" i="1" dirty="0" smtClean="0"/>
              <a:t>Ortak </a:t>
            </a:r>
            <a:r>
              <a:rPr lang="tr-TR" i="1" dirty="0" smtClean="0"/>
              <a:t>stereo:</a:t>
            </a:r>
            <a:r>
              <a:rPr lang="tr-TR" dirty="0" smtClean="0"/>
              <a:t> kanallar </a:t>
            </a:r>
            <a:r>
              <a:rPr lang="tr-TR" dirty="0"/>
              <a:t>arası </a:t>
            </a:r>
            <a:r>
              <a:rPr lang="tr-TR" dirty="0" err="1" smtClean="0"/>
              <a:t>artıklık</a:t>
            </a:r>
            <a:r>
              <a:rPr lang="tr-TR" dirty="0" smtClean="0"/>
              <a:t> (</a:t>
            </a:r>
            <a:r>
              <a:rPr lang="tr-TR" i="1" dirty="0" err="1" smtClean="0"/>
              <a:t>interchannel</a:t>
            </a:r>
            <a:r>
              <a:rPr lang="tr-TR" i="1" dirty="0" smtClean="0"/>
              <a:t> </a:t>
            </a:r>
            <a:r>
              <a:rPr lang="tr-TR" i="1" dirty="0" err="1" smtClean="0"/>
              <a:t>redundancy</a:t>
            </a:r>
            <a:r>
              <a:rPr lang="tr-TR" dirty="0" smtClean="0"/>
              <a:t>) </a:t>
            </a:r>
            <a:r>
              <a:rPr lang="tr-TR" dirty="0" smtClean="0"/>
              <a:t>kullanılır.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0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Gerçek Zamanlı Çizelgeleme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biri bir film gösteren üç periyodik süreç. </a:t>
            </a:r>
            <a:endParaRPr lang="tr-TR" dirty="0" smtClean="0"/>
          </a:p>
          <a:p>
            <a:r>
              <a:rPr lang="tr-TR" dirty="0" smtClean="0"/>
              <a:t>Çerçeve </a:t>
            </a:r>
            <a:r>
              <a:rPr lang="tr-TR" dirty="0" smtClean="0"/>
              <a:t>hızları </a:t>
            </a:r>
            <a:r>
              <a:rPr lang="tr-TR" dirty="0"/>
              <a:t>ve </a:t>
            </a:r>
            <a:r>
              <a:rPr lang="tr-TR" dirty="0" smtClean="0"/>
              <a:t>işleme </a:t>
            </a:r>
            <a:r>
              <a:rPr lang="tr-TR" dirty="0"/>
              <a:t>gereksinimleri her film için </a:t>
            </a:r>
            <a:r>
              <a:rPr lang="tr-TR" dirty="0" smtClean="0"/>
              <a:t>farklı.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75" y="2832894"/>
            <a:ext cx="8350250" cy="34559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046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Tekdüze Hız Çizelgeleme </a:t>
            </a:r>
            <a:r>
              <a:rPr lang="tr-TR" dirty="0" smtClean="0"/>
              <a:t>(Rate </a:t>
            </a:r>
            <a:r>
              <a:rPr lang="tr-TR" dirty="0" err="1" smtClean="0"/>
              <a:t>Monotonic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Her süreç</a:t>
            </a:r>
            <a:r>
              <a:rPr lang="tr-TR" dirty="0"/>
              <a:t>, periyodu içinde tamamlanmak zorundadır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Hiçbir </a:t>
            </a:r>
            <a:r>
              <a:rPr lang="tr-TR" dirty="0"/>
              <a:t>süreç başka bir sürece bağlı değildir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Her süreç, </a:t>
            </a:r>
            <a:r>
              <a:rPr lang="tr-TR" dirty="0"/>
              <a:t>her </a:t>
            </a:r>
            <a:r>
              <a:rPr lang="tr-TR" dirty="0" smtClean="0"/>
              <a:t>adımda (</a:t>
            </a:r>
            <a:r>
              <a:rPr lang="tr-TR" i="1" dirty="0" err="1" smtClean="0"/>
              <a:t>burst</a:t>
            </a:r>
            <a:r>
              <a:rPr lang="tr-TR" dirty="0" smtClean="0"/>
              <a:t>) aynı </a:t>
            </a:r>
            <a:r>
              <a:rPr lang="tr-TR" dirty="0"/>
              <a:t>miktarda CPU süresine ihtiyaç duyar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Periyodik </a:t>
            </a:r>
            <a:r>
              <a:rPr lang="tr-TR" dirty="0"/>
              <a:t>olmayan süreçlerin son </a:t>
            </a:r>
            <a:r>
              <a:rPr lang="tr-TR" dirty="0" smtClean="0"/>
              <a:t>teslim zamanı </a:t>
            </a:r>
            <a:r>
              <a:rPr lang="tr-TR" dirty="0" smtClean="0"/>
              <a:t>(</a:t>
            </a:r>
            <a:r>
              <a:rPr lang="tr-TR" i="1" dirty="0" err="1" smtClean="0"/>
              <a:t>deadline</a:t>
            </a:r>
            <a:r>
              <a:rPr lang="tr-TR" dirty="0" smtClean="0"/>
              <a:t>) yoktur.</a:t>
            </a:r>
          </a:p>
          <a:p>
            <a:r>
              <a:rPr lang="tr-TR" dirty="0" smtClean="0"/>
              <a:t>Süreç </a:t>
            </a:r>
            <a:r>
              <a:rPr lang="tr-TR" dirty="0" smtClean="0"/>
              <a:t>önleme (</a:t>
            </a:r>
            <a:r>
              <a:rPr lang="tr-TR" i="1" dirty="0" err="1" smtClean="0"/>
              <a:t>preemption</a:t>
            </a:r>
            <a:r>
              <a:rPr lang="tr-TR" dirty="0" smtClean="0"/>
              <a:t>) </a:t>
            </a:r>
            <a:r>
              <a:rPr lang="tr-TR" dirty="0" smtClean="0"/>
              <a:t>beklenen zamanda, </a:t>
            </a:r>
          </a:p>
          <a:p>
            <a:pPr lvl="1"/>
            <a:r>
              <a:rPr lang="tr-TR" dirty="0" smtClean="0"/>
              <a:t>ek </a:t>
            </a:r>
            <a:r>
              <a:rPr lang="tr-TR" dirty="0" smtClean="0"/>
              <a:t>maliyet gerektirmeden gerçekleşir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17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Tekdüze Hız Çizelgeleme </a:t>
            </a:r>
            <a:r>
              <a:rPr lang="tr-TR" dirty="0" smtClean="0"/>
              <a:t>- örnek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RMS</a:t>
            </a:r>
            <a:r>
              <a:rPr lang="tr-TR" dirty="0"/>
              <a:t> ile gerçek zamanlı </a:t>
            </a:r>
            <a:r>
              <a:rPr lang="tr-TR" dirty="0" smtClean="0"/>
              <a:t>çizelgeleme </a:t>
            </a:r>
            <a:r>
              <a:rPr lang="tr-TR" dirty="0" smtClean="0"/>
              <a:t>örneği.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387650"/>
            <a:ext cx="8191500" cy="3752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1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Teslim Zamanı </a:t>
            </a:r>
            <a:r>
              <a:rPr lang="tr-TR" dirty="0" smtClean="0"/>
              <a:t>Yakın Olan Önce</a:t>
            </a:r>
            <a:r>
              <a:rPr lang="sv-SE" dirty="0" smtClean="0"/>
              <a:t> </a:t>
            </a:r>
            <a:r>
              <a:rPr lang="tr-TR" dirty="0" smtClean="0"/>
              <a:t>Çizelgeleme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 smtClean="0"/>
              <a:t>Earliest</a:t>
            </a:r>
            <a:r>
              <a:rPr lang="tr-TR" i="1" dirty="0" smtClean="0"/>
              <a:t> </a:t>
            </a:r>
            <a:r>
              <a:rPr lang="tr-TR" i="1" dirty="0" err="1" smtClean="0"/>
              <a:t>deadline</a:t>
            </a:r>
            <a:r>
              <a:rPr lang="tr-TR" i="1" dirty="0" smtClean="0"/>
              <a:t> </a:t>
            </a:r>
            <a:r>
              <a:rPr lang="tr-TR" i="1" dirty="0" err="1" smtClean="0"/>
              <a:t>first</a:t>
            </a:r>
            <a:r>
              <a:rPr lang="tr-TR" i="1" dirty="0" smtClean="0"/>
              <a:t>.</a:t>
            </a:r>
            <a:endParaRPr lang="tr-TR" i="1" dirty="0"/>
          </a:p>
          <a:p>
            <a:r>
              <a:rPr lang="tr-TR" dirty="0" smtClean="0"/>
              <a:t>Teslim zamanlarına göre süreçlere öncelik atanır.</a:t>
            </a:r>
            <a:endParaRPr lang="tr-TR" dirty="0" smtClean="0"/>
          </a:p>
          <a:p>
            <a:r>
              <a:rPr lang="tr-TR" dirty="0" smtClean="0"/>
              <a:t>En yakın teslim zamanı olan sürece en </a:t>
            </a:r>
            <a:r>
              <a:rPr lang="tr-TR" dirty="0"/>
              <a:t>yüksek öncelik </a:t>
            </a:r>
            <a:r>
              <a:rPr lang="tr-TR" dirty="0" smtClean="0"/>
              <a:t>atanır, </a:t>
            </a:r>
          </a:p>
          <a:p>
            <a:pPr lvl="1"/>
            <a:r>
              <a:rPr lang="tr-TR" dirty="0" smtClean="0"/>
              <a:t>ve </a:t>
            </a:r>
            <a:r>
              <a:rPr lang="tr-TR" dirty="0"/>
              <a:t>ilk olarak yürütülür</a:t>
            </a:r>
            <a:r>
              <a:rPr lang="tr-TR" dirty="0" smtClean="0"/>
              <a:t>.</a:t>
            </a:r>
          </a:p>
          <a:p>
            <a:r>
              <a:rPr lang="tr-TR" dirty="0"/>
              <a:t>Tekdüze </a:t>
            </a:r>
            <a:r>
              <a:rPr lang="tr-TR" dirty="0" smtClean="0"/>
              <a:t>hız </a:t>
            </a:r>
            <a:r>
              <a:rPr lang="tr-TR" dirty="0"/>
              <a:t>ç</a:t>
            </a:r>
            <a:r>
              <a:rPr lang="tr-TR" dirty="0" smtClean="0"/>
              <a:t>izelgelemeye </a:t>
            </a:r>
            <a:r>
              <a:rPr lang="tr-TR" dirty="0"/>
              <a:t>kıyasla </a:t>
            </a:r>
            <a:r>
              <a:rPr lang="tr-TR" dirty="0"/>
              <a:t>daha </a:t>
            </a:r>
            <a:r>
              <a:rPr lang="tr-TR" dirty="0" smtClean="0"/>
              <a:t>esnektir.</a:t>
            </a:r>
            <a:endParaRPr lang="tr-TR" dirty="0" smtClean="0"/>
          </a:p>
          <a:p>
            <a:r>
              <a:rPr lang="tr-TR" dirty="0" smtClean="0"/>
              <a:t>Süreçlerin </a:t>
            </a:r>
            <a:r>
              <a:rPr lang="tr-TR" dirty="0"/>
              <a:t>bağımsız olduğunu ve birbiriyle karışmadığını varsayar.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60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Teslim Zamanı Yakın Olan Önce</a:t>
            </a:r>
            <a:r>
              <a:rPr lang="sv-SE" dirty="0"/>
              <a:t> </a:t>
            </a:r>
            <a:r>
              <a:rPr lang="tr-TR" dirty="0"/>
              <a:t>Çizelgeleme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smtClean="0"/>
              <a:t>EDF</a:t>
            </a:r>
            <a:r>
              <a:rPr lang="tr-TR" dirty="0" smtClean="0"/>
              <a:t> (</a:t>
            </a:r>
            <a:r>
              <a:rPr lang="tr-TR" i="1" dirty="0" err="1" smtClean="0"/>
              <a:t>earliest</a:t>
            </a:r>
            <a:r>
              <a:rPr lang="tr-TR" i="1" dirty="0" smtClean="0"/>
              <a:t> </a:t>
            </a:r>
            <a:r>
              <a:rPr lang="tr-TR" i="1" dirty="0" err="1" smtClean="0"/>
              <a:t>deadline</a:t>
            </a:r>
            <a:r>
              <a:rPr lang="tr-TR" i="1" dirty="0" smtClean="0"/>
              <a:t> </a:t>
            </a:r>
            <a:r>
              <a:rPr lang="tr-TR" i="1" dirty="0" err="1" smtClean="0"/>
              <a:t>first</a:t>
            </a:r>
            <a:r>
              <a:rPr lang="tr-TR" dirty="0" smtClean="0"/>
              <a:t>) </a:t>
            </a:r>
            <a:r>
              <a:rPr lang="tr-TR" dirty="0"/>
              <a:t>ile gerçek zamanlı </a:t>
            </a:r>
            <a:r>
              <a:rPr lang="tr-TR" dirty="0" smtClean="0"/>
              <a:t>çizelgeleme.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387650"/>
            <a:ext cx="8191500" cy="3752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743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Multimedya Dosya Sistemi Paradigmaları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dirty="0"/>
              <a:t>(a)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çekme</a:t>
            </a:r>
            <a:r>
              <a:rPr lang="en-US" dirty="0"/>
              <a:t> </a:t>
            </a:r>
            <a:r>
              <a:rPr lang="tr-TR" dirty="0" smtClean="0"/>
              <a:t>(</a:t>
            </a:r>
            <a:r>
              <a:rPr lang="tr-TR" i="1" dirty="0" err="1" smtClean="0"/>
              <a:t>pull</a:t>
            </a:r>
            <a:r>
              <a:rPr lang="tr-TR" dirty="0" smtClean="0"/>
              <a:t>) </a:t>
            </a:r>
            <a:r>
              <a:rPr lang="en-US" dirty="0" err="1" smtClean="0"/>
              <a:t>sunucusu</a:t>
            </a:r>
            <a:r>
              <a:rPr lang="en-US" dirty="0"/>
              <a:t>. (b)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itme</a:t>
            </a:r>
            <a:r>
              <a:rPr lang="en-US" dirty="0"/>
              <a:t> </a:t>
            </a:r>
            <a:r>
              <a:rPr lang="tr-TR" dirty="0" smtClean="0"/>
              <a:t>(</a:t>
            </a:r>
            <a:r>
              <a:rPr lang="tr-TR" i="1" dirty="0" err="1" smtClean="0"/>
              <a:t>push</a:t>
            </a:r>
            <a:r>
              <a:rPr lang="tr-TR" dirty="0" smtClean="0"/>
              <a:t>) </a:t>
            </a:r>
            <a:r>
              <a:rPr lang="en-US" dirty="0" err="1" smtClean="0"/>
              <a:t>sunucusu</a:t>
            </a:r>
            <a:r>
              <a:rPr lang="en-US" dirty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937" y="2486550"/>
            <a:ext cx="7718125" cy="37348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6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Talebe Bağlı Video Akışı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Near</a:t>
            </a:r>
            <a:r>
              <a:rPr lang="tr-TR" i="1" dirty="0"/>
              <a:t> Video on </a:t>
            </a:r>
            <a:r>
              <a:rPr lang="tr-TR" i="1" dirty="0" err="1"/>
              <a:t>Demand</a:t>
            </a:r>
            <a:r>
              <a:rPr lang="tr-TR" i="1" dirty="0"/>
              <a:t> (NVOD</a:t>
            </a:r>
            <a:r>
              <a:rPr lang="tr-TR" i="1" dirty="0" smtClean="0"/>
              <a:t>).</a:t>
            </a:r>
          </a:p>
          <a:p>
            <a:r>
              <a:rPr lang="tr-TR" dirty="0" smtClean="0"/>
              <a:t>Farklı istemciler aynı anda aynı video içeriğinin farklı parçalarını izleyebilir.</a:t>
            </a:r>
            <a:endParaRPr lang="tr-TR" dirty="0" smtClean="0"/>
          </a:p>
          <a:p>
            <a:r>
              <a:rPr lang="tr-TR" dirty="0" smtClean="0"/>
              <a:t>Video içeriğinin tamamı arabelleğe alınmadan izlenebilir.</a:t>
            </a:r>
            <a:endParaRPr lang="tr-TR" dirty="0" smtClean="0"/>
          </a:p>
          <a:p>
            <a:r>
              <a:rPr lang="tr-TR" dirty="0" smtClean="0"/>
              <a:t>Aynı </a:t>
            </a:r>
            <a:r>
              <a:rPr lang="tr-TR" dirty="0"/>
              <a:t>video içeriğinin </a:t>
            </a:r>
            <a:r>
              <a:rPr lang="tr-TR" dirty="0" smtClean="0"/>
              <a:t>birçok </a:t>
            </a:r>
            <a:r>
              <a:rPr lang="tr-TR" dirty="0" smtClean="0"/>
              <a:t>örneği </a:t>
            </a:r>
            <a:r>
              <a:rPr lang="tr-TR" dirty="0"/>
              <a:t>birden çok sunucuda </a:t>
            </a:r>
            <a:r>
              <a:rPr lang="tr-TR" dirty="0" smtClean="0"/>
              <a:t>oynatılabilir.</a:t>
            </a:r>
          </a:p>
          <a:p>
            <a:r>
              <a:rPr lang="tr-TR" dirty="0" smtClean="0"/>
              <a:t>Her </a:t>
            </a:r>
            <a:r>
              <a:rPr lang="tr-TR" dirty="0"/>
              <a:t>bir </a:t>
            </a:r>
            <a:r>
              <a:rPr lang="tr-TR" dirty="0" smtClean="0"/>
              <a:t>örnek farklı </a:t>
            </a:r>
            <a:r>
              <a:rPr lang="tr-TR" dirty="0"/>
              <a:t>bir zamanda </a:t>
            </a:r>
            <a:r>
              <a:rPr lang="tr-TR" dirty="0" smtClean="0"/>
              <a:t>başlayabilir.</a:t>
            </a:r>
            <a:endParaRPr lang="tr-TR" dirty="0" smtClean="0"/>
          </a:p>
          <a:p>
            <a:r>
              <a:rPr lang="tr-TR" dirty="0" smtClean="0"/>
              <a:t>Yüksek </a:t>
            </a:r>
            <a:r>
              <a:rPr lang="tr-TR" dirty="0"/>
              <a:t>performanslı ağ iletişimi ve </a:t>
            </a:r>
            <a:r>
              <a:rPr lang="tr-TR" dirty="0" smtClean="0"/>
              <a:t>kaynak tahsis </a:t>
            </a:r>
            <a:r>
              <a:rPr lang="tr-TR" dirty="0"/>
              <a:t>algoritmaları gerektirir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Kablo </a:t>
            </a:r>
            <a:r>
              <a:rPr lang="tr-TR" dirty="0"/>
              <a:t>TV </a:t>
            </a:r>
            <a:r>
              <a:rPr lang="tr-TR" dirty="0" smtClean="0"/>
              <a:t>sistemlerinde, video </a:t>
            </a:r>
            <a:r>
              <a:rPr lang="tr-TR" dirty="0"/>
              <a:t>akış hizmetlerinde </a:t>
            </a:r>
            <a:r>
              <a:rPr lang="tr-TR" dirty="0" smtClean="0"/>
              <a:t>yaygındır.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9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Talebe Bağlı Video Akışı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Near</a:t>
            </a:r>
            <a:r>
              <a:rPr lang="tr-TR" i="1" dirty="0"/>
              <a:t> </a:t>
            </a:r>
            <a:r>
              <a:rPr lang="tr-TR" i="1" dirty="0" smtClean="0"/>
              <a:t>Video </a:t>
            </a:r>
            <a:r>
              <a:rPr lang="tr-TR" i="1" dirty="0"/>
              <a:t>on </a:t>
            </a:r>
            <a:r>
              <a:rPr lang="tr-TR" i="1" dirty="0" err="1" smtClean="0"/>
              <a:t>Request</a:t>
            </a:r>
            <a:r>
              <a:rPr lang="tr-TR" dirty="0"/>
              <a:t>, </a:t>
            </a:r>
            <a:endParaRPr lang="tr-TR" dirty="0" smtClean="0"/>
          </a:p>
          <a:p>
            <a:r>
              <a:rPr lang="tr-TR" dirty="0" smtClean="0"/>
              <a:t>Düzenli aralıklarla (</a:t>
            </a:r>
            <a:r>
              <a:rPr lang="tr-TR" i="1" dirty="0" smtClean="0"/>
              <a:t>5 dakika</a:t>
            </a:r>
            <a:r>
              <a:rPr lang="tr-TR" dirty="0" smtClean="0"/>
              <a:t>), </a:t>
            </a:r>
            <a:r>
              <a:rPr lang="tr-TR" dirty="0"/>
              <a:t>başlayan (</a:t>
            </a:r>
            <a:r>
              <a:rPr lang="tr-TR" i="1" dirty="0"/>
              <a:t>9000 çerçeve</a:t>
            </a:r>
            <a:r>
              <a:rPr lang="tr-TR" dirty="0"/>
              <a:t>) </a:t>
            </a:r>
            <a:r>
              <a:rPr lang="tr-TR" dirty="0"/>
              <a:t>yeni bir </a:t>
            </a:r>
            <a:r>
              <a:rPr lang="tr-TR" dirty="0" smtClean="0"/>
              <a:t>akış.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993" y="2818065"/>
            <a:ext cx="5316015" cy="3538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350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VCR İşlevleri ile </a:t>
            </a:r>
            <a:r>
              <a:rPr lang="tr-TR" dirty="0" smtClean="0"/>
              <a:t>NVOD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Başlangıç durumu. (b) </a:t>
            </a:r>
            <a:r>
              <a:rPr lang="tr-TR" dirty="0" smtClean="0"/>
              <a:t>12. </a:t>
            </a:r>
            <a:r>
              <a:rPr lang="tr-TR" dirty="0"/>
              <a:t>dakikaya geri sardıktan </a:t>
            </a:r>
            <a:r>
              <a:rPr lang="tr-TR" dirty="0" smtClean="0"/>
              <a:t>sonra.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7" y="3036912"/>
            <a:ext cx="8277225" cy="2257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54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VCR İşlevleri ile </a:t>
            </a:r>
            <a:r>
              <a:rPr lang="tr-TR" dirty="0" smtClean="0"/>
              <a:t>NVOD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(c) 3 dakika </a:t>
            </a:r>
            <a:r>
              <a:rPr lang="tr-TR" dirty="0" smtClean="0"/>
              <a:t>sonra</a:t>
            </a:r>
            <a:r>
              <a:rPr lang="tr-TR" dirty="0"/>
              <a:t>. (d) </a:t>
            </a:r>
            <a:r>
              <a:rPr lang="tr-TR" dirty="0" smtClean="0"/>
              <a:t>Tampon dolmaya başladı. </a:t>
            </a:r>
            <a:r>
              <a:rPr lang="tr-TR" dirty="0"/>
              <a:t>(e) Tampon dolu.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682925"/>
            <a:ext cx="7772400" cy="3457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382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Dosyayı Tek Diske Yerleştirme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</a:t>
            </a:r>
            <a:r>
              <a:rPr lang="tr-TR" dirty="0" smtClean="0"/>
              <a:t>ideo</a:t>
            </a:r>
            <a:r>
              <a:rPr lang="tr-TR" dirty="0"/>
              <a:t>, ses ve </a:t>
            </a:r>
            <a:r>
              <a:rPr lang="tr-TR" dirty="0" smtClean="0"/>
              <a:t>metin, bitişik olarak tek bir dosyada.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181" y="2897279"/>
            <a:ext cx="8529637" cy="2073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280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Küçük Disk Bloklarıyla Bitişik Olmayan </a:t>
            </a:r>
            <a:r>
              <a:rPr lang="tr-TR" dirty="0" smtClean="0"/>
              <a:t>Depolama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794" y="1413651"/>
            <a:ext cx="3446914" cy="47268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699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Büyük Disk Bloklarıyla Bitişik Olmayan </a:t>
            </a:r>
            <a:r>
              <a:rPr lang="tr-TR" dirty="0" smtClean="0"/>
              <a:t>Depolama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431" y="1531987"/>
            <a:ext cx="3971138" cy="46085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1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Alternatif Dosya Düzenleme Stratejisi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Çerçeve </a:t>
            </a:r>
            <a:r>
              <a:rPr lang="tr-TR" b="1" dirty="0" smtClean="0"/>
              <a:t>indisi</a:t>
            </a:r>
            <a:r>
              <a:rPr lang="tr-TR" dirty="0" smtClean="0"/>
              <a:t>: </a:t>
            </a:r>
            <a:endParaRPr lang="tr-TR" dirty="0" smtClean="0"/>
          </a:p>
          <a:p>
            <a:pPr lvl="1"/>
            <a:r>
              <a:rPr lang="tr-TR" dirty="0" smtClean="0"/>
              <a:t>Yoğun </a:t>
            </a:r>
            <a:r>
              <a:rPr lang="tr-TR" dirty="0" smtClean="0"/>
              <a:t>bellek </a:t>
            </a:r>
            <a:r>
              <a:rPr lang="tr-TR" dirty="0"/>
              <a:t>kullanımı; </a:t>
            </a:r>
            <a:r>
              <a:rPr lang="tr-TR" dirty="0" smtClean="0"/>
              <a:t>disk israfı az.</a:t>
            </a:r>
          </a:p>
          <a:p>
            <a:r>
              <a:rPr lang="tr-TR" b="1" dirty="0" smtClean="0"/>
              <a:t>Blok </a:t>
            </a:r>
            <a:r>
              <a:rPr lang="tr-TR" b="1" dirty="0" smtClean="0"/>
              <a:t>indisi: </a:t>
            </a:r>
          </a:p>
          <a:p>
            <a:pPr lvl="1"/>
            <a:r>
              <a:rPr lang="tr-TR" dirty="0" smtClean="0"/>
              <a:t>Çerçeveler </a:t>
            </a:r>
            <a:r>
              <a:rPr lang="tr-TR" dirty="0" smtClean="0"/>
              <a:t>bloklara </a:t>
            </a:r>
            <a:r>
              <a:rPr lang="tr-TR" dirty="0" smtClean="0"/>
              <a:t>ayrılmaz.</a:t>
            </a:r>
          </a:p>
          <a:p>
            <a:pPr lvl="1"/>
            <a:r>
              <a:rPr lang="tr-TR" dirty="0" smtClean="0"/>
              <a:t>Düşük </a:t>
            </a:r>
            <a:r>
              <a:rPr lang="tr-TR" dirty="0" smtClean="0"/>
              <a:t>bellek kullanımı</a:t>
            </a:r>
            <a:r>
              <a:rPr lang="tr-TR" dirty="0"/>
              <a:t>; </a:t>
            </a:r>
            <a:r>
              <a:rPr lang="tr-TR" dirty="0" smtClean="0"/>
              <a:t>disk israfı çok.</a:t>
            </a:r>
          </a:p>
          <a:p>
            <a:r>
              <a:rPr lang="tr-TR" b="1" dirty="0" smtClean="0"/>
              <a:t>Blok </a:t>
            </a:r>
            <a:r>
              <a:rPr lang="tr-TR" b="1" dirty="0" smtClean="0"/>
              <a:t>indisi: </a:t>
            </a:r>
          </a:p>
          <a:p>
            <a:pPr lvl="1"/>
            <a:r>
              <a:rPr lang="tr-TR" dirty="0" smtClean="0"/>
              <a:t>Çerçeveler </a:t>
            </a:r>
            <a:r>
              <a:rPr lang="tr-TR" dirty="0" smtClean="0"/>
              <a:t>bloklara </a:t>
            </a:r>
            <a:r>
              <a:rPr lang="tr-TR" dirty="0" smtClean="0"/>
              <a:t>ayrılır.</a:t>
            </a:r>
          </a:p>
          <a:p>
            <a:pPr lvl="1"/>
            <a:r>
              <a:rPr lang="tr-TR" dirty="0" smtClean="0"/>
              <a:t>Düşük </a:t>
            </a:r>
            <a:r>
              <a:rPr lang="tr-TR" dirty="0" smtClean="0"/>
              <a:t>bellek kullanımı</a:t>
            </a:r>
            <a:r>
              <a:rPr lang="tr-TR" dirty="0"/>
              <a:t>; disk israfı </a:t>
            </a:r>
            <a:r>
              <a:rPr lang="tr-TR" dirty="0" smtClean="0"/>
              <a:t>yok.</a:t>
            </a:r>
          </a:p>
          <a:p>
            <a:pPr lvl="1"/>
            <a:r>
              <a:rPr lang="tr-TR" dirty="0" smtClean="0"/>
              <a:t>Ekstra </a:t>
            </a:r>
            <a:r>
              <a:rPr lang="tr-TR" dirty="0" smtClean="0"/>
              <a:t>aramalar (</a:t>
            </a:r>
            <a:r>
              <a:rPr lang="tr-TR" i="1" dirty="0" err="1" smtClean="0"/>
              <a:t>seek</a:t>
            </a:r>
            <a:r>
              <a:rPr lang="tr-TR" dirty="0" smtClean="0"/>
              <a:t>) gerekli.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9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Talebe Bağlı Video </a:t>
            </a:r>
            <a:r>
              <a:rPr lang="tr-TR" dirty="0" smtClean="0"/>
              <a:t>Optimum </a:t>
            </a:r>
            <a:r>
              <a:rPr lang="tr-TR" dirty="0" smtClean="0"/>
              <a:t>Çerçeve Yerleşimi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2" y="2474937"/>
            <a:ext cx="8677275" cy="33813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73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Birden Çok Dosyayı Tek Bir Diske Yerleştirme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 smtClean="0"/>
              <a:t>Zipf</a:t>
            </a:r>
            <a:r>
              <a:rPr lang="tr-TR" i="1" dirty="0" smtClean="0"/>
              <a:t> </a:t>
            </a:r>
            <a:r>
              <a:rPr lang="tr-TR" dirty="0" smtClean="0"/>
              <a:t>yasası </a:t>
            </a:r>
            <a:r>
              <a:rPr lang="tr-TR" i="1" dirty="0"/>
              <a:t>N = 20</a:t>
            </a:r>
            <a:r>
              <a:rPr lang="tr-TR" dirty="0"/>
              <a:t> için </a:t>
            </a:r>
            <a:r>
              <a:rPr lang="tr-TR" dirty="0" smtClean="0"/>
              <a:t>grafiği.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985" y="2371438"/>
            <a:ext cx="6400030" cy="39174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35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Birden Çok Dosyayı Tek Bir Diske Yerleştirme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video sunucusundaki dosyaların </a:t>
            </a:r>
            <a:r>
              <a:rPr lang="tr-TR" dirty="0" smtClean="0"/>
              <a:t>dağılımı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2" y="2489225"/>
            <a:ext cx="8181975" cy="3352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331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Birden Çok Dosyayı </a:t>
            </a:r>
            <a:r>
              <a:rPr lang="tr-TR" dirty="0" smtClean="0"/>
              <a:t>Çoklu Diske </a:t>
            </a:r>
            <a:r>
              <a:rPr lang="tr-TR" dirty="0"/>
              <a:t>Yerleştirme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(</a:t>
            </a:r>
            <a:r>
              <a:rPr lang="tr-TR" dirty="0"/>
              <a:t>a) </a:t>
            </a:r>
            <a:r>
              <a:rPr lang="tr-TR" dirty="0" smtClean="0"/>
              <a:t>Şerit (</a:t>
            </a:r>
            <a:r>
              <a:rPr lang="tr-TR" i="1" dirty="0" err="1" smtClean="0"/>
              <a:t>stripe</a:t>
            </a:r>
            <a:r>
              <a:rPr lang="tr-TR" dirty="0" smtClean="0"/>
              <a:t>) yok</a:t>
            </a:r>
            <a:r>
              <a:rPr lang="tr-TR" dirty="0"/>
              <a:t>. (b) </a:t>
            </a:r>
            <a:r>
              <a:rPr lang="tr-TR" dirty="0" smtClean="0"/>
              <a:t>Aynı </a:t>
            </a:r>
            <a:r>
              <a:rPr lang="tr-TR" dirty="0" err="1" smtClean="0"/>
              <a:t>şeritleme</a:t>
            </a:r>
            <a:r>
              <a:rPr lang="tr-TR" dirty="0" smtClean="0"/>
              <a:t> </a:t>
            </a:r>
            <a:r>
              <a:rPr lang="tr-TR" dirty="0" smtClean="0"/>
              <a:t>(</a:t>
            </a:r>
            <a:r>
              <a:rPr lang="tr-TR" i="1" dirty="0" err="1" smtClean="0"/>
              <a:t>striping</a:t>
            </a:r>
            <a:r>
              <a:rPr lang="tr-TR" dirty="0" smtClean="0"/>
              <a:t>).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119" y="2903538"/>
            <a:ext cx="8767762" cy="2828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161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Birden Çok Dosyayı </a:t>
            </a:r>
            <a:r>
              <a:rPr lang="tr-TR" dirty="0" smtClean="0"/>
              <a:t>Çoklu Diske </a:t>
            </a:r>
            <a:r>
              <a:rPr lang="tr-TR" dirty="0"/>
              <a:t>Yerleştirme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(c) Kademeli </a:t>
            </a:r>
            <a:r>
              <a:rPr lang="tr-TR" dirty="0" err="1"/>
              <a:t>şeritleme</a:t>
            </a:r>
            <a:r>
              <a:rPr lang="tr-TR" dirty="0"/>
              <a:t>. (d) Rastgele </a:t>
            </a:r>
            <a:r>
              <a:rPr lang="tr-TR" dirty="0" err="1"/>
              <a:t>şeritleme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2" y="2566988"/>
            <a:ext cx="8791575" cy="304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027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Blok Önbelleğe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Aynı </a:t>
            </a:r>
            <a:r>
              <a:rPr lang="tr-TR" dirty="0" smtClean="0"/>
              <a:t>video içeriğini senkronize olmadan izleyen </a:t>
            </a:r>
            <a:r>
              <a:rPr lang="tr-TR" dirty="0"/>
              <a:t>iki kullanıcı.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2" y="2388394"/>
            <a:ext cx="8994775" cy="34051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873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Blok Önbelleğe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(b) İki akışı </a:t>
            </a:r>
            <a:r>
              <a:rPr lang="tr-TR" dirty="0" smtClean="0"/>
              <a:t>birleştirme.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381" y="2391416"/>
            <a:ext cx="8885238" cy="38274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971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Statik Disk Çizelgeleme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nn-NO" dirty="0"/>
              <a:t>Bir turda, her </a:t>
            </a:r>
            <a:r>
              <a:rPr lang="tr-TR" dirty="0" smtClean="0"/>
              <a:t>video </a:t>
            </a:r>
            <a:r>
              <a:rPr lang="nn-NO" dirty="0" smtClean="0"/>
              <a:t>bir </a:t>
            </a:r>
            <a:r>
              <a:rPr lang="tr-TR" dirty="0" smtClean="0"/>
              <a:t>çerçeve </a:t>
            </a:r>
            <a:r>
              <a:rPr lang="nn-NO" dirty="0" smtClean="0"/>
              <a:t>ister</a:t>
            </a:r>
            <a:r>
              <a:rPr lang="nn-NO" dirty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912" y="2411234"/>
            <a:ext cx="8766175" cy="3803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208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Dinamik Disk </a:t>
            </a:r>
            <a:r>
              <a:rPr lang="tr-TR" dirty="0"/>
              <a:t>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Tarama - EDF (</a:t>
            </a:r>
            <a:r>
              <a:rPr lang="tr-TR" i="1" dirty="0" err="1" smtClean="0"/>
              <a:t>Earliest</a:t>
            </a:r>
            <a:r>
              <a:rPr lang="tr-TR" i="1" dirty="0" smtClean="0"/>
              <a:t> </a:t>
            </a:r>
            <a:r>
              <a:rPr lang="tr-TR" i="1" dirty="0" err="1" smtClean="0"/>
              <a:t>deadline</a:t>
            </a:r>
            <a:r>
              <a:rPr lang="tr-TR" i="1" dirty="0" smtClean="0"/>
              <a:t> </a:t>
            </a:r>
            <a:r>
              <a:rPr lang="tr-TR" i="1" dirty="0" err="1" smtClean="0"/>
              <a:t>first</a:t>
            </a:r>
            <a:r>
              <a:rPr lang="tr-TR" dirty="0" smtClean="0"/>
              <a:t>) </a:t>
            </a:r>
            <a:r>
              <a:rPr lang="tr-TR" dirty="0"/>
              <a:t>algoritması, </a:t>
            </a:r>
            <a:endParaRPr lang="tr-TR" dirty="0" smtClean="0"/>
          </a:p>
          <a:p>
            <a:r>
              <a:rPr lang="tr-TR" dirty="0" smtClean="0"/>
              <a:t>Çizelgeleme için </a:t>
            </a:r>
            <a:r>
              <a:rPr lang="tr-TR" dirty="0"/>
              <a:t>son </a:t>
            </a:r>
            <a:r>
              <a:rPr lang="tr-TR" dirty="0" smtClean="0"/>
              <a:t>teslim zamanı ve </a:t>
            </a:r>
            <a:r>
              <a:rPr lang="tr-TR" dirty="0"/>
              <a:t>silindir </a:t>
            </a:r>
            <a:r>
              <a:rPr lang="tr-TR" smtClean="0"/>
              <a:t>numaraları kullanılır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7" y="3186704"/>
            <a:ext cx="8696325" cy="2741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391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4512</TotalTime>
  <Words>2712</Words>
  <Application>Microsoft Office PowerPoint</Application>
  <PresentationFormat>Widescreen</PresentationFormat>
  <Paragraphs>417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Wingdings</vt:lpstr>
      <vt:lpstr>1_Office Theme</vt:lpstr>
      <vt:lpstr>Bölüm 14: Çoklu Ortam</vt:lpstr>
      <vt:lpstr>Çoklu Ortam (Multimedia)</vt:lpstr>
      <vt:lpstr>DSL (Digital Subscriber Line) </vt:lpstr>
      <vt:lpstr>Kablo TV</vt:lpstr>
      <vt:lpstr>Kablo TV</vt:lpstr>
      <vt:lpstr>Çoklu Ortam Temel Özellikleri</vt:lpstr>
      <vt:lpstr>Veri Hızları</vt:lpstr>
      <vt:lpstr>Bir Film Birkaç Dosyadan Oluşabilir</vt:lpstr>
      <vt:lpstr>Görüntü Kodlama</vt:lpstr>
      <vt:lpstr>Görüntü Kodlama</vt:lpstr>
      <vt:lpstr>Ses Kodlama</vt:lpstr>
      <vt:lpstr>Ses Kodlama</vt:lpstr>
      <vt:lpstr>Ses Kodlama Türleri</vt:lpstr>
      <vt:lpstr>JPEG Standardı</vt:lpstr>
      <vt:lpstr>JPEG Sıkıştırma Algoritması</vt:lpstr>
      <vt:lpstr>JPEG Sıkıştırma Algoritması</vt:lpstr>
      <vt:lpstr>JPEG Standardı</vt:lpstr>
      <vt:lpstr>JPEG Standardı</vt:lpstr>
      <vt:lpstr>JPEG Standardı</vt:lpstr>
      <vt:lpstr>Görüntü Sıkıştırma</vt:lpstr>
      <vt:lpstr>Görüntü Sıkıştırma</vt:lpstr>
      <vt:lpstr>Video Kodlama</vt:lpstr>
      <vt:lpstr>MPEG Standartları</vt:lpstr>
      <vt:lpstr>MPEG-2 Standardı</vt:lpstr>
      <vt:lpstr>Ardışık Üç Görüntü Karesi</vt:lpstr>
      <vt:lpstr>Ses Sıkıştırma</vt:lpstr>
      <vt:lpstr>Ses Sıkıştırma</vt:lpstr>
      <vt:lpstr>Ses Sıkıştırma</vt:lpstr>
      <vt:lpstr>Ses Sıkıştırma</vt:lpstr>
      <vt:lpstr>Olası Örneklem Yapılandırmaları (Configuration)</vt:lpstr>
      <vt:lpstr>Gerçek Zamanlı Çizelgeleme</vt:lpstr>
      <vt:lpstr>Tekdüze Hız Çizelgeleme (Rate Monotonic)</vt:lpstr>
      <vt:lpstr>Tekdüze Hız Çizelgeleme - örnek</vt:lpstr>
      <vt:lpstr>Teslim Zamanı Yakın Olan Önce Çizelgeleme</vt:lpstr>
      <vt:lpstr>Teslim Zamanı Yakın Olan Önce Çizelgeleme</vt:lpstr>
      <vt:lpstr>Multimedya Dosya Sistemi Paradigmaları</vt:lpstr>
      <vt:lpstr>Talebe Bağlı Video Akışı</vt:lpstr>
      <vt:lpstr>Talebe Bağlı Video Akışı</vt:lpstr>
      <vt:lpstr>VCR İşlevleri ile NVOD</vt:lpstr>
      <vt:lpstr>VCR İşlevleri ile NVOD</vt:lpstr>
      <vt:lpstr>Dosyayı Tek Diske Yerleştirme</vt:lpstr>
      <vt:lpstr>Küçük Disk Bloklarıyla Bitişik Olmayan Depolama</vt:lpstr>
      <vt:lpstr>Büyük Disk Bloklarıyla Bitişik Olmayan Depolama</vt:lpstr>
      <vt:lpstr>İki Alternatif Dosya Düzenleme Stratejisi</vt:lpstr>
      <vt:lpstr>Talebe Bağlı Video Optimum Çerçeve Yerleşimi</vt:lpstr>
      <vt:lpstr>Birden Çok Dosyayı Tek Bir Diske Yerleştirme</vt:lpstr>
      <vt:lpstr>Birden Çok Dosyayı Tek Bir Diske Yerleştirme</vt:lpstr>
      <vt:lpstr>Birden Çok Dosyayı Çoklu Diske Yerleştirme</vt:lpstr>
      <vt:lpstr>Birden Çok Dosyayı Çoklu Diske Yerleştirme</vt:lpstr>
      <vt:lpstr>Blok Önbelleğe Alma</vt:lpstr>
      <vt:lpstr>Blok Önbelleğe Alma</vt:lpstr>
      <vt:lpstr>Statik Disk Çizelgeleme</vt:lpstr>
      <vt:lpstr>Dinamik Disk Çizelgeleme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Coklu Ortam</dc:title>
  <dc:creator>sercan</dc:creator>
  <cp:lastModifiedBy>sercan</cp:lastModifiedBy>
  <cp:revision>388</cp:revision>
  <dcterms:created xsi:type="dcterms:W3CDTF">2023-01-12T09:23:55Z</dcterms:created>
  <dcterms:modified xsi:type="dcterms:W3CDTF">2024-02-05T19:01:44Z</dcterms:modified>
</cp:coreProperties>
</file>