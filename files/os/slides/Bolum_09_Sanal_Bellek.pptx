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66"/>
  </p:notesMasterIdLst>
  <p:sldIdLst>
    <p:sldId id="256" r:id="rId2"/>
    <p:sldId id="447" r:id="rId3"/>
    <p:sldId id="257" r:id="rId4"/>
    <p:sldId id="441" r:id="rId5"/>
    <p:sldId id="442" r:id="rId6"/>
    <p:sldId id="443" r:id="rId7"/>
    <p:sldId id="444" r:id="rId8"/>
    <p:sldId id="445" r:id="rId9"/>
    <p:sldId id="329" r:id="rId10"/>
    <p:sldId id="448" r:id="rId11"/>
    <p:sldId id="449" r:id="rId12"/>
    <p:sldId id="450" r:id="rId13"/>
    <p:sldId id="451" r:id="rId14"/>
    <p:sldId id="475" r:id="rId15"/>
    <p:sldId id="456" r:id="rId16"/>
    <p:sldId id="457" r:id="rId17"/>
    <p:sldId id="458" r:id="rId18"/>
    <p:sldId id="459" r:id="rId19"/>
    <p:sldId id="476" r:id="rId20"/>
    <p:sldId id="460" r:id="rId21"/>
    <p:sldId id="461" r:id="rId22"/>
    <p:sldId id="462" r:id="rId23"/>
    <p:sldId id="463" r:id="rId24"/>
    <p:sldId id="464" r:id="rId25"/>
    <p:sldId id="465" r:id="rId26"/>
    <p:sldId id="466" r:id="rId27"/>
    <p:sldId id="347" r:id="rId28"/>
    <p:sldId id="346" r:id="rId29"/>
    <p:sldId id="349" r:id="rId30"/>
    <p:sldId id="350" r:id="rId31"/>
    <p:sldId id="351" r:id="rId32"/>
    <p:sldId id="477" r:id="rId33"/>
    <p:sldId id="412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478" r:id="rId45"/>
    <p:sldId id="362" r:id="rId46"/>
    <p:sldId id="363" r:id="rId47"/>
    <p:sldId id="368" r:id="rId48"/>
    <p:sldId id="370" r:id="rId49"/>
    <p:sldId id="371" r:id="rId50"/>
    <p:sldId id="372" r:id="rId51"/>
    <p:sldId id="373" r:id="rId52"/>
    <p:sldId id="374" r:id="rId53"/>
    <p:sldId id="375" r:id="rId54"/>
    <p:sldId id="376" r:id="rId55"/>
    <p:sldId id="377" r:id="rId56"/>
    <p:sldId id="467" r:id="rId57"/>
    <p:sldId id="378" r:id="rId58"/>
    <p:sldId id="379" r:id="rId59"/>
    <p:sldId id="380" r:id="rId60"/>
    <p:sldId id="419" r:id="rId61"/>
    <p:sldId id="468" r:id="rId62"/>
    <p:sldId id="469" r:id="rId63"/>
    <p:sldId id="470" r:id="rId64"/>
    <p:sldId id="312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9342C-85C3-49E4-B9D6-3F7FE9313FC7}" type="datetimeFigureOut">
              <a:rPr lang="tr-TR" smtClean="0"/>
              <a:t>23.01.2025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8DEC2-CEAF-47B3-9399-EAE868ED980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981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8DEC2-CEAF-47B3-9399-EAE868ED980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480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8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8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9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18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59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6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36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9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5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79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13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0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/>
              <a:t>Bölüm 9: </a:t>
            </a:r>
            <a:r>
              <a:rPr lang="tr-TR" b="1" dirty="0"/>
              <a:t>Sanal Bellek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80000" y="6356350"/>
            <a:ext cx="7200000" cy="360000"/>
          </a:xfrm>
        </p:spPr>
        <p:txBody>
          <a:bodyPr/>
          <a:lstStyle/>
          <a:p>
            <a:r>
              <a:rPr lang="en-US" dirty="0"/>
              <a:t>Sercan KÜLCÜ</a:t>
            </a:r>
            <a:r>
              <a:rPr lang="tr-TR" dirty="0"/>
              <a:t>, </a:t>
            </a:r>
            <a:r>
              <a:rPr lang="en-US" altLang="zh-CN" dirty="0" err="1">
                <a:solidFill>
                  <a:srgbClr val="898989"/>
                </a:solidFill>
                <a:latin typeface="Times New Roman" panose="02020603050405020304" pitchFamily="18" charset="0"/>
              </a:rPr>
              <a:t>Tanenbaum</a:t>
            </a:r>
            <a:r>
              <a:rPr lang="en-US" altLang="zh-CN" dirty="0">
                <a:solidFill>
                  <a:srgbClr val="898989"/>
                </a:solidFill>
                <a:latin typeface="Times New Roman" panose="02020603050405020304" pitchFamily="18" charset="0"/>
              </a:rPr>
              <a:t>, Modern Operating Systems 3e</a:t>
            </a:r>
            <a:r>
              <a:rPr lang="tr-TR" altLang="zh-CN" dirty="0">
                <a:solidFill>
                  <a:srgbClr val="898989"/>
                </a:solidFill>
                <a:latin typeface="Times New Roman" panose="02020603050405020304" pitchFamily="18" charset="0"/>
              </a:rPr>
              <a:t>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 - Takas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Sistemde arka planda çalışan bir çok süreç var.</a:t>
            </a:r>
          </a:p>
          <a:p>
            <a:r>
              <a:rPr lang="tr-TR" dirty="0"/>
              <a:t>Fiziksel bellek tüm süreçlere yetecek kadar büyük değil.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lvl="1"/>
            <a:r>
              <a:rPr lang="tr-TR" dirty="0"/>
              <a:t>Takas (</a:t>
            </a:r>
            <a:r>
              <a:rPr lang="tr-TR" i="1" dirty="0"/>
              <a:t>swap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Süreçleri belleğe getir, yürüt, takas ile diske geri götür.</a:t>
            </a:r>
          </a:p>
          <a:p>
            <a:pPr lvl="1"/>
            <a:r>
              <a:rPr lang="tr-TR" dirty="0"/>
              <a:t>Sanal bellek</a:t>
            </a:r>
          </a:p>
          <a:p>
            <a:pPr lvl="2"/>
            <a:r>
              <a:rPr lang="tr-TR" dirty="0"/>
              <a:t>Süreçleri kısmen bellekte olsalar bile çalıştır.</a:t>
            </a:r>
          </a:p>
          <a:p>
            <a:r>
              <a:rPr lang="tr-TR" b="1" dirty="0"/>
              <a:t>Takas </a:t>
            </a:r>
            <a:r>
              <a:rPr lang="tr-TR" dirty="0"/>
              <a:t>bir süreci birincil ve ikincil bellek arasında geçici olarak aktarır.</a:t>
            </a:r>
          </a:p>
          <a:p>
            <a:r>
              <a:rPr lang="tr-TR" b="1" dirty="0"/>
              <a:t>Talebe bağlı sayfalama </a:t>
            </a:r>
            <a:r>
              <a:rPr lang="tr-TR" dirty="0"/>
              <a:t>(</a:t>
            </a:r>
            <a:r>
              <a:rPr lang="tr-TR" i="1" dirty="0" err="1"/>
              <a:t>demand</a:t>
            </a:r>
            <a:r>
              <a:rPr lang="tr-TR" i="1" dirty="0"/>
              <a:t> </a:t>
            </a:r>
            <a:r>
              <a:rPr lang="tr-TR" i="1" dirty="0" err="1"/>
              <a:t>paging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Sürecin tamamını değil, yalnızca gerekli sayfaları belleğe getirir.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7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Programın yürütülebilmesi için bellekte olması gerekir, </a:t>
            </a:r>
          </a:p>
          <a:p>
            <a:pPr lvl="1"/>
            <a:r>
              <a:rPr lang="tr-TR" dirty="0"/>
              <a:t>Ancak, programın tamamı nadiren kullanılır.</a:t>
            </a:r>
          </a:p>
          <a:p>
            <a:pPr lvl="1"/>
            <a:r>
              <a:rPr lang="tr-TR" i="1" dirty="0"/>
              <a:t>Hataları ele alan kod parçası, sıra dışı prosedürler, büyük veri yapıları.</a:t>
            </a:r>
          </a:p>
          <a:p>
            <a:r>
              <a:rPr lang="tr-TR" dirty="0"/>
              <a:t>Program kodunun tamamı aynı anda gerekli değildir. </a:t>
            </a:r>
          </a:p>
          <a:p>
            <a:r>
              <a:rPr lang="tr-TR" dirty="0"/>
              <a:t>Kısmen yüklenmiş programlar yürütülebilir!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Program artık fiziksel bellek limitiyle sınırlanamaz.</a:t>
            </a:r>
          </a:p>
          <a:p>
            <a:pPr lvl="1"/>
            <a:r>
              <a:rPr lang="tr-TR" dirty="0"/>
              <a:t>Program çalışırken daha az fiziksel bellek kullanır.</a:t>
            </a:r>
          </a:p>
          <a:p>
            <a:pPr lvl="1"/>
            <a:r>
              <a:rPr lang="tr-TR" dirty="0"/>
              <a:t>Aynı anda daha fazla program çalışabilir.</a:t>
            </a:r>
          </a:p>
          <a:p>
            <a:pPr lvl="1"/>
            <a:r>
              <a:rPr lang="tr-TR" dirty="0"/>
              <a:t>Programları belleğe yüklemek veya takas için daha az G/Ç gerekir.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Mantıksal belleğinin fiziksel bellekten ayrılması.</a:t>
            </a:r>
          </a:p>
          <a:p>
            <a:r>
              <a:rPr lang="tr-TR" dirty="0"/>
              <a:t>Programın yürütülmesi için bir kısmının bellekte olması yeterli.</a:t>
            </a:r>
          </a:p>
          <a:p>
            <a:r>
              <a:rPr lang="tr-TR" dirty="0"/>
              <a:t>Mantıksal adres alanı, fiziksel adres alanından çok daha büyük olabilir.</a:t>
            </a:r>
          </a:p>
          <a:p>
            <a:r>
              <a:rPr lang="tr-TR" dirty="0"/>
              <a:t>Adres alanlarının birkaç süreç tarafından paylaşılmasına izin verir.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46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 Adres Uzayı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Sürecin bellekte yerleşimine dair mantıksal görünüm.</a:t>
            </a:r>
          </a:p>
          <a:p>
            <a:r>
              <a:rPr lang="tr-TR" dirty="0"/>
              <a:t>Genellikle 0 adresinden başlar, alanın sonuna kadar bitişik adresler. </a:t>
            </a:r>
          </a:p>
          <a:p>
            <a:r>
              <a:rPr lang="tr-TR" dirty="0"/>
              <a:t>Fiziksel bellek, sayfa çerçeveleri olarak düzenlenir. </a:t>
            </a:r>
          </a:p>
          <a:p>
            <a:r>
              <a:rPr lang="tr-TR" i="1" dirty="0"/>
              <a:t>MMU</a:t>
            </a:r>
            <a:r>
              <a:rPr lang="tr-TR" dirty="0"/>
              <a:t> mantıksal ve fiziksel adresleri eşler.</a:t>
            </a:r>
          </a:p>
          <a:p>
            <a:r>
              <a:rPr lang="tr-TR" dirty="0"/>
              <a:t>Sanal bellek iki yolla uygulanır:</a:t>
            </a:r>
          </a:p>
          <a:p>
            <a:pPr lvl="1"/>
            <a:r>
              <a:rPr lang="tr-TR" dirty="0"/>
              <a:t>Talep olduğunda sayfalama (</a:t>
            </a:r>
            <a:r>
              <a:rPr lang="tr-TR" i="1" dirty="0" err="1"/>
              <a:t>demand</a:t>
            </a:r>
            <a:r>
              <a:rPr lang="tr-TR" i="1" dirty="0"/>
              <a:t> </a:t>
            </a:r>
            <a:r>
              <a:rPr lang="tr-TR" i="1" dirty="0" err="1"/>
              <a:t>paging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Talep olduğunda </a:t>
            </a:r>
            <a:r>
              <a:rPr lang="tr-TR" dirty="0" err="1"/>
              <a:t>kesimleme</a:t>
            </a:r>
            <a:r>
              <a:rPr lang="tr-TR" dirty="0"/>
              <a:t> (</a:t>
            </a:r>
            <a:r>
              <a:rPr lang="tr-TR" i="1" dirty="0" err="1"/>
              <a:t>demand</a:t>
            </a:r>
            <a:r>
              <a:rPr lang="tr-TR" i="1" dirty="0"/>
              <a:t> </a:t>
            </a:r>
            <a:r>
              <a:rPr lang="tr-TR" i="1" dirty="0" err="1"/>
              <a:t>segmentation</a:t>
            </a:r>
            <a:r>
              <a:rPr lang="tr-TR" dirty="0"/>
              <a:t>).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76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75959D58-FD0D-4362-987B-001456C2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293" y="1892300"/>
            <a:ext cx="5459413" cy="4329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723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 Adres Uzayı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Yığıt</a:t>
            </a:r>
            <a:r>
              <a:rPr lang="tr-TR" dirty="0"/>
              <a:t> maksimum mantıksal adreste başlar ve </a:t>
            </a:r>
          </a:p>
          <a:p>
            <a:pPr lvl="1"/>
            <a:r>
              <a:rPr lang="tr-TR" dirty="0"/>
              <a:t>büyüdükçe aşağı doğru iner.</a:t>
            </a:r>
          </a:p>
          <a:p>
            <a:r>
              <a:rPr lang="tr-TR" dirty="0"/>
              <a:t>Kullanılmayan adres alanı, boşluk veya delik (</a:t>
            </a:r>
            <a:r>
              <a:rPr lang="tr-TR" i="1" dirty="0"/>
              <a:t>hole</a:t>
            </a:r>
            <a:r>
              <a:rPr lang="tr-TR" dirty="0"/>
              <a:t>).</a:t>
            </a:r>
          </a:p>
          <a:p>
            <a:r>
              <a:rPr lang="tr-TR" dirty="0" err="1"/>
              <a:t>Yığıt</a:t>
            </a:r>
            <a:r>
              <a:rPr lang="tr-TR" dirty="0"/>
              <a:t> veya yığın, bulunduğu sayfa dolana kadar fiziksel </a:t>
            </a:r>
          </a:p>
          <a:p>
            <a:pPr marL="0" indent="0">
              <a:buNone/>
            </a:pPr>
            <a:r>
              <a:rPr lang="tr-TR" dirty="0"/>
              <a:t>belleğe ihtiyaç yoktur.</a:t>
            </a:r>
          </a:p>
          <a:p>
            <a:r>
              <a:rPr lang="tr-TR" dirty="0"/>
              <a:t>Sanal adres alanına eşleme yoluyla sistem kütüphaneleri </a:t>
            </a:r>
          </a:p>
          <a:p>
            <a:pPr marL="0" indent="0">
              <a:buNone/>
            </a:pPr>
            <a:r>
              <a:rPr lang="tr-TR" dirty="0"/>
              <a:t>paylaşılabilir.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E67654BE-83C9-4844-8B55-CE9FFDB0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050" y="1609775"/>
            <a:ext cx="2063750" cy="4568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300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Kütüphane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513F0E0-9020-4F02-8008-BA6516EC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2086769"/>
            <a:ext cx="6070600" cy="4008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204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 – Şişkin (</a:t>
            </a:r>
            <a:r>
              <a:rPr lang="tr-TR" dirty="0" err="1"/>
              <a:t>Bloat</a:t>
            </a:r>
            <a:r>
              <a:rPr lang="tr-TR" dirty="0"/>
              <a:t>) Yazılım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Çok özellik taşıyan ve bellekte çok fazla yer kaplayan yazılım.</a:t>
            </a:r>
          </a:p>
          <a:p>
            <a:r>
              <a:rPr lang="tr-TR" dirty="0"/>
              <a:t>Program belleğe sığmayacak kadar büyük olabilir.</a:t>
            </a:r>
          </a:p>
          <a:p>
            <a:r>
              <a:rPr lang="tr-TR" dirty="0"/>
              <a:t>Programı parçalara ayırmak kötü bir fikir.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Sanal bellek</a:t>
            </a:r>
          </a:p>
          <a:p>
            <a:pPr lvl="1"/>
            <a:r>
              <a:rPr lang="tr-TR" dirty="0"/>
              <a:t>Her programın kendi adres alanı vardır.</a:t>
            </a:r>
          </a:p>
          <a:p>
            <a:pPr lvl="1"/>
            <a:r>
              <a:rPr lang="tr-TR" dirty="0"/>
              <a:t>Adres alanı, sayfa adı verilen parçalara bölünmüştür.</a:t>
            </a:r>
          </a:p>
          <a:p>
            <a:pPr lvl="1"/>
            <a:r>
              <a:rPr lang="tr-TR" dirty="0"/>
              <a:t>Her sayfa bitişik bir alandır ve bir fiziksel adres ile eşlenir.</a:t>
            </a:r>
          </a:p>
          <a:p>
            <a:pPr lvl="1"/>
            <a:r>
              <a:rPr lang="tr-TR" dirty="0"/>
              <a:t>Tüm sayfaların fiziksel bellekte olması gerekmez.</a:t>
            </a:r>
          </a:p>
          <a:p>
            <a:pPr lvl="1"/>
            <a:r>
              <a:rPr lang="tr-TR" dirty="0"/>
              <a:t>Gerekli bir sayfa bellekte olmadığında, işletim sistemi halleder.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8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Talep Olduğunda Sayfalama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Tüm süreç yükleme zamanında belleğe getirilebilir, veya </a:t>
            </a:r>
          </a:p>
          <a:p>
            <a:r>
              <a:rPr lang="tr-TR" dirty="0"/>
              <a:t>Bir sayfa yalnızca gerektiğinde belleğe getirilebilir.</a:t>
            </a:r>
          </a:p>
          <a:p>
            <a:pPr lvl="1"/>
            <a:r>
              <a:rPr lang="tr-TR" dirty="0"/>
              <a:t>Daha az G/Ç işlemi, Gereksiz G/Ç yok, Daha az bellek gerekli.</a:t>
            </a:r>
          </a:p>
          <a:p>
            <a:r>
              <a:rPr lang="tr-TR" dirty="0"/>
              <a:t>Takas (</a:t>
            </a:r>
            <a:r>
              <a:rPr lang="tr-TR" i="1" dirty="0"/>
              <a:t>swap</a:t>
            </a:r>
            <a:r>
              <a:rPr lang="tr-TR" dirty="0"/>
              <a:t>) sayfalamaya benzer.</a:t>
            </a:r>
          </a:p>
          <a:p>
            <a:pPr lvl="1"/>
            <a:r>
              <a:rPr lang="tr-TR" dirty="0"/>
              <a:t>Sayfa gerekli olduğunda referans verilir.</a:t>
            </a:r>
          </a:p>
          <a:p>
            <a:pPr lvl="2"/>
            <a:r>
              <a:rPr lang="tr-TR" dirty="0"/>
              <a:t>Referans geçersiz ise işlem iptal edilir.</a:t>
            </a:r>
          </a:p>
          <a:p>
            <a:pPr lvl="2"/>
            <a:r>
              <a:rPr lang="tr-TR" dirty="0"/>
              <a:t>Sayfa bellekte değil ise, belleğe getirilir.</a:t>
            </a:r>
          </a:p>
          <a:p>
            <a:r>
              <a:rPr lang="tr-TR" i="1" dirty="0" err="1"/>
              <a:t>Lazy</a:t>
            </a:r>
            <a:r>
              <a:rPr lang="tr-TR" i="1" dirty="0"/>
              <a:t> </a:t>
            </a:r>
            <a:r>
              <a:rPr lang="tr-TR" i="1" dirty="0" err="1"/>
              <a:t>swapper</a:t>
            </a:r>
            <a:r>
              <a:rPr lang="tr-TR" dirty="0"/>
              <a:t> - sayfa gerekmedikçe asla belleğe getirilmez.</a:t>
            </a:r>
          </a:p>
          <a:p>
            <a:r>
              <a:rPr lang="tr-TR" i="1" dirty="0" err="1"/>
              <a:t>Pager</a:t>
            </a:r>
            <a:r>
              <a:rPr lang="tr-TR" dirty="0"/>
              <a:t> - takas ile uğraşan birim.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47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Talep Olduğunda Sayfalama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40" y="1941239"/>
            <a:ext cx="4499520" cy="41201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336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Geçerli Geçersiz Biti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Sayfa tablosunda her satır için </a:t>
            </a:r>
            <a:r>
              <a:rPr lang="tr-TR" i="1" dirty="0"/>
              <a:t>geçerli-geçersiz </a:t>
            </a:r>
            <a:r>
              <a:rPr lang="tr-TR" dirty="0"/>
              <a:t>biti bulunur.</a:t>
            </a:r>
          </a:p>
          <a:p>
            <a:pPr lvl="1"/>
            <a:r>
              <a:rPr lang="tr-TR" dirty="0"/>
              <a:t>v - bellekte yerleşik (</a:t>
            </a:r>
            <a:r>
              <a:rPr lang="tr-TR" i="1" dirty="0" err="1"/>
              <a:t>valid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i - bellekte değil (</a:t>
            </a:r>
            <a:r>
              <a:rPr lang="tr-TR" i="1" dirty="0" err="1"/>
              <a:t>invalid</a:t>
            </a:r>
            <a:r>
              <a:rPr lang="tr-TR" dirty="0"/>
              <a:t>).</a:t>
            </a:r>
          </a:p>
          <a:p>
            <a:r>
              <a:rPr lang="tr-TR" dirty="0"/>
              <a:t>Başlangıçta tüm çerçevelere </a:t>
            </a:r>
            <a:r>
              <a:rPr lang="tr-TR" i="1" dirty="0"/>
              <a:t>i</a:t>
            </a:r>
            <a:r>
              <a:rPr lang="tr-TR" dirty="0"/>
              <a:t> değeri atanır.</a:t>
            </a:r>
          </a:p>
          <a:p>
            <a:r>
              <a:rPr lang="tr-TR" i="1" dirty="0"/>
              <a:t>Geçerli-geçersiz</a:t>
            </a:r>
            <a:r>
              <a:rPr lang="tr-TR" dirty="0"/>
              <a:t> biti </a:t>
            </a:r>
            <a:r>
              <a:rPr lang="tr-TR" i="1" dirty="0"/>
              <a:t>i</a:t>
            </a:r>
            <a:r>
              <a:rPr lang="tr-TR" dirty="0"/>
              <a:t> ise </a:t>
            </a:r>
            <a:r>
              <a:rPr lang="tr-TR" dirty="0">
                <a:sym typeface="Wingdings" panose="05000000000000000000" pitchFamily="2" charset="2"/>
              </a:rPr>
              <a:t></a:t>
            </a:r>
            <a:r>
              <a:rPr lang="tr-TR" dirty="0"/>
              <a:t> sayfa hatası.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6076F79C-4BBB-4218-90FB-18A6D83B8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977" y="2496630"/>
            <a:ext cx="3045823" cy="3515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9069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Geçerli Geçersiz Biti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2" descr="B:\os-book\os10-dir\Slides-WORK-area\Figures-dir\ch10\JPG-dir\10_04.jpg">
            <a:extLst>
              <a:ext uri="{FF2B5EF4-FFF2-40B4-BE49-F238E27FC236}">
                <a16:creationId xmlns:a16="http://schemas.microsoft.com/office/drawing/2014/main" id="{EE8B21A0-27D4-48EC-AA1E-673C6BCA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479" y="1660339"/>
            <a:ext cx="4658201" cy="4516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130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Hatalı Sayfa İşlemi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i="1" dirty="0"/>
              <a:t>Mevcut/yok</a:t>
            </a:r>
            <a:r>
              <a:rPr lang="tr-TR" dirty="0"/>
              <a:t> biti, sayfanın bellekte olup olmadığını söyler.</a:t>
            </a:r>
          </a:p>
          <a:p>
            <a:r>
              <a:rPr lang="tr-TR" dirty="0"/>
              <a:t>Adres bellekte yoksa ne olur?</a:t>
            </a:r>
          </a:p>
          <a:p>
            <a:r>
              <a:rPr lang="tr-TR" dirty="0"/>
              <a:t>İşletim sistemine tuzak (</a:t>
            </a:r>
            <a:r>
              <a:rPr lang="tr-TR" i="1" dirty="0"/>
              <a:t>trap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Diske göndermek için bir sayfa seçilir.</a:t>
            </a:r>
          </a:p>
          <a:p>
            <a:pPr lvl="1"/>
            <a:r>
              <a:rPr lang="tr-TR" dirty="0"/>
              <a:t>Gerekli olan sayfa belleğe getirilir.</a:t>
            </a:r>
          </a:p>
          <a:p>
            <a:pPr lvl="1"/>
            <a:r>
              <a:rPr lang="tr-TR" dirty="0"/>
              <a:t>Komut yeniden başlatılır.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8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Hatalı Sayfa İşlemi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Bellekte bulunmayan bir sayfaya erişim olduğunda, </a:t>
            </a:r>
          </a:p>
          <a:p>
            <a:pPr lvl="1"/>
            <a:r>
              <a:rPr lang="tr-TR" dirty="0"/>
              <a:t>Yürütme işletim sistemine geçer.</a:t>
            </a:r>
          </a:p>
          <a:p>
            <a:r>
              <a:rPr lang="tr-TR" dirty="0"/>
              <a:t>İşletim sistemi sayfa tablosunu kontrol eder.</a:t>
            </a:r>
          </a:p>
          <a:p>
            <a:pPr lvl="1"/>
            <a:r>
              <a:rPr lang="tr-TR" dirty="0"/>
              <a:t>Geçersiz bir referans </a:t>
            </a:r>
            <a:r>
              <a:rPr lang="tr-TR" dirty="0">
                <a:sym typeface="Wingdings" panose="05000000000000000000" pitchFamily="2" charset="2"/>
              </a:rPr>
              <a:t>ise</a:t>
            </a:r>
            <a:r>
              <a:rPr lang="tr-TR" dirty="0"/>
              <a:t> süreç iptal edilir.</a:t>
            </a:r>
          </a:p>
          <a:p>
            <a:r>
              <a:rPr lang="tr-TR" dirty="0"/>
              <a:t>Sorun yalnızca erişilecek sayfanın bellekte olmaması ise,</a:t>
            </a:r>
          </a:p>
          <a:p>
            <a:pPr lvl="1"/>
            <a:r>
              <a:rPr lang="tr-TR" dirty="0"/>
              <a:t>Bellekte boş bir çerçeve (</a:t>
            </a:r>
            <a:r>
              <a:rPr lang="tr-TR" i="1" dirty="0" err="1"/>
              <a:t>frame</a:t>
            </a:r>
            <a:r>
              <a:rPr lang="tr-TR" dirty="0"/>
              <a:t>) bulunur.</a:t>
            </a:r>
          </a:p>
          <a:p>
            <a:pPr lvl="1"/>
            <a:r>
              <a:rPr lang="tr-TR" dirty="0"/>
              <a:t>Sayfayı çerçeve içine yerleştirmek için disk işlemi çizelgelenir.</a:t>
            </a:r>
          </a:p>
          <a:p>
            <a:pPr lvl="1"/>
            <a:r>
              <a:rPr lang="tr-TR" dirty="0"/>
              <a:t>Sayfa tablosu güncellenir.</a:t>
            </a:r>
          </a:p>
          <a:p>
            <a:pPr lvl="1"/>
            <a:r>
              <a:rPr lang="tr-TR" dirty="0"/>
              <a:t>Geçerli, mevcut (</a:t>
            </a:r>
            <a:r>
              <a:rPr lang="tr-TR" i="1" dirty="0" err="1"/>
              <a:t>valid</a:t>
            </a:r>
            <a:r>
              <a:rPr lang="tr-TR" dirty="0"/>
              <a:t>) biti atanır.</a:t>
            </a:r>
          </a:p>
          <a:p>
            <a:r>
              <a:rPr lang="tr-TR" dirty="0"/>
              <a:t>Sayfa hatasına neden olan </a:t>
            </a:r>
            <a:r>
              <a:rPr lang="tr-TR" i="1" dirty="0"/>
              <a:t>komut</a:t>
            </a:r>
            <a:r>
              <a:rPr lang="tr-TR" dirty="0"/>
              <a:t> yeniden başlatılır.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470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Hatalı Sayfa İşlemi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4" descr="9">
            <a:extLst>
              <a:ext uri="{FF2B5EF4-FFF2-40B4-BE49-F238E27FC236}">
                <a16:creationId xmlns:a16="http://schemas.microsoft.com/office/drawing/2014/main" id="{4C87B603-A2E7-4FAE-A0CB-D034C608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7" y="1426369"/>
            <a:ext cx="5800725" cy="4840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066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Talep Olduğunda Sayfalama Adımları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İşletim sistemi </a:t>
            </a:r>
            <a:r>
              <a:rPr lang="tr-TR" i="1" dirty="0"/>
              <a:t>yürütmeyi </a:t>
            </a:r>
            <a:r>
              <a:rPr lang="tr-TR" dirty="0"/>
              <a:t>ele geçirir.</a:t>
            </a:r>
          </a:p>
          <a:p>
            <a:r>
              <a:rPr lang="tr-TR" dirty="0"/>
              <a:t>Yazmaçlar ve süreç durumu </a:t>
            </a:r>
            <a:r>
              <a:rPr lang="tr-TR" i="1" dirty="0"/>
              <a:t>kaydedilir</a:t>
            </a:r>
            <a:r>
              <a:rPr lang="tr-TR" dirty="0"/>
              <a:t>.</a:t>
            </a:r>
          </a:p>
          <a:p>
            <a:r>
              <a:rPr lang="tr-TR" dirty="0"/>
              <a:t>Kesmenin bir </a:t>
            </a:r>
            <a:r>
              <a:rPr lang="tr-TR" i="1" dirty="0"/>
              <a:t>sayfa hatası</a:t>
            </a:r>
            <a:r>
              <a:rPr lang="tr-TR" dirty="0"/>
              <a:t>ndan kaynaklandığı belirlenir.</a:t>
            </a:r>
          </a:p>
          <a:p>
            <a:r>
              <a:rPr lang="tr-TR" dirty="0"/>
              <a:t>Sayfa referansının </a:t>
            </a:r>
            <a:r>
              <a:rPr lang="tr-TR" i="1" dirty="0"/>
              <a:t>geçerli olup olmadığı </a:t>
            </a:r>
            <a:r>
              <a:rPr lang="tr-TR" dirty="0"/>
              <a:t>kontrol edilir.</a:t>
            </a:r>
          </a:p>
          <a:p>
            <a:r>
              <a:rPr lang="tr-TR" dirty="0"/>
              <a:t>Sayfanın </a:t>
            </a:r>
            <a:r>
              <a:rPr lang="tr-TR" i="1" dirty="0"/>
              <a:t>diskteki konumu</a:t>
            </a:r>
            <a:r>
              <a:rPr lang="tr-TR" dirty="0"/>
              <a:t> belirlenir.</a:t>
            </a:r>
          </a:p>
          <a:p>
            <a:r>
              <a:rPr lang="tr-TR" dirty="0"/>
              <a:t>Disk işlemi için </a:t>
            </a:r>
            <a:r>
              <a:rPr lang="tr-TR" i="1" dirty="0"/>
              <a:t>sırada</a:t>
            </a:r>
            <a:r>
              <a:rPr lang="tr-TR" dirty="0"/>
              <a:t> beklenilir.</a:t>
            </a:r>
          </a:p>
          <a:p>
            <a:r>
              <a:rPr lang="tr-TR" dirty="0"/>
              <a:t>Diskte arama ve/veya </a:t>
            </a:r>
            <a:r>
              <a:rPr lang="tr-TR" i="1" dirty="0"/>
              <a:t>gecikme süresi </a:t>
            </a:r>
            <a:r>
              <a:rPr lang="tr-TR" dirty="0"/>
              <a:t>boyunca beklenilir.</a:t>
            </a:r>
          </a:p>
          <a:p>
            <a:r>
              <a:rPr lang="tr-TR" dirty="0"/>
              <a:t>Sayfa </a:t>
            </a:r>
            <a:r>
              <a:rPr lang="tr-TR" i="1" dirty="0"/>
              <a:t>boş bir çerçeveye</a:t>
            </a:r>
            <a:r>
              <a:rPr lang="tr-TR" dirty="0"/>
              <a:t> aktarılmaya başlanır.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463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Talep Olduğunda Sayfalama Adımları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Beklerken </a:t>
            </a:r>
            <a:r>
              <a:rPr lang="tr-TR" i="1" dirty="0"/>
              <a:t>CPU</a:t>
            </a:r>
            <a:r>
              <a:rPr lang="tr-TR" dirty="0"/>
              <a:t> başka bir sürece tahsis edilir.</a:t>
            </a:r>
          </a:p>
          <a:p>
            <a:r>
              <a:rPr lang="tr-TR" i="1" dirty="0"/>
              <a:t>Disk G/Ç</a:t>
            </a:r>
            <a:r>
              <a:rPr lang="tr-TR" dirty="0"/>
              <a:t> alt sisteminden kesme üretilir (</a:t>
            </a:r>
            <a:r>
              <a:rPr lang="tr-TR" i="1" dirty="0"/>
              <a:t>G/Ç tamamlandı</a:t>
            </a:r>
            <a:r>
              <a:rPr lang="tr-TR" dirty="0"/>
              <a:t>).</a:t>
            </a:r>
          </a:p>
          <a:p>
            <a:r>
              <a:rPr lang="tr-TR" dirty="0"/>
              <a:t>Aktif süreç için yazmaç ve süreç durumu </a:t>
            </a:r>
            <a:r>
              <a:rPr lang="tr-TR" i="1" dirty="0"/>
              <a:t>kaydedilir</a:t>
            </a:r>
            <a:r>
              <a:rPr lang="tr-TR" dirty="0"/>
              <a:t>.</a:t>
            </a:r>
          </a:p>
          <a:p>
            <a:r>
              <a:rPr lang="tr-TR" dirty="0"/>
              <a:t>Kesme kaynağının diskten olduğu belirlenir.</a:t>
            </a:r>
          </a:p>
          <a:p>
            <a:r>
              <a:rPr lang="tr-TR" dirty="0"/>
              <a:t>Sayfanın bellekte olduğunu göstermek için </a:t>
            </a:r>
            <a:r>
              <a:rPr lang="tr-TR" i="1" dirty="0"/>
              <a:t>sayfa tablosu güncellenir</a:t>
            </a:r>
            <a:r>
              <a:rPr lang="tr-TR" dirty="0"/>
              <a:t>.</a:t>
            </a:r>
          </a:p>
          <a:p>
            <a:r>
              <a:rPr lang="tr-TR" i="1" dirty="0"/>
              <a:t>CPU</a:t>
            </a:r>
            <a:r>
              <a:rPr lang="tr-TR" dirty="0"/>
              <a:t>'nun tekrar tahsis edilmesi beklenir.</a:t>
            </a:r>
          </a:p>
          <a:p>
            <a:r>
              <a:rPr lang="tr-TR" dirty="0"/>
              <a:t>Yazmaçlar, süreç durumu ve güncel sayfa tablosu </a:t>
            </a:r>
            <a:r>
              <a:rPr lang="tr-TR" i="1" dirty="0"/>
              <a:t>geri yüklenir</a:t>
            </a:r>
            <a:r>
              <a:rPr lang="tr-TR" dirty="0"/>
              <a:t>.</a:t>
            </a:r>
          </a:p>
          <a:p>
            <a:r>
              <a:rPr lang="tr-TR" dirty="0"/>
              <a:t>Yarıda kesilen komut </a:t>
            </a:r>
            <a:r>
              <a:rPr lang="tr-TR" i="1" dirty="0"/>
              <a:t>tekrar başlatılır</a:t>
            </a:r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556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Eşlemeli (Memory </a:t>
            </a:r>
            <a:r>
              <a:rPr lang="tr-TR" dirty="0" err="1"/>
              <a:t>Mapped</a:t>
            </a:r>
            <a:r>
              <a:rPr lang="tr-TR" dirty="0"/>
              <a:t>) 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Süreç, bir dosyayı sanal adres alanının bir parçasına eşleyebilir.</a:t>
            </a:r>
          </a:p>
          <a:p>
            <a:r>
              <a:rPr lang="tr-TR" dirty="0"/>
              <a:t>Paylaşımlı bellek (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dirty="0"/>
              <a:t>) yoluyla iletişim için kullanılır. </a:t>
            </a:r>
          </a:p>
          <a:p>
            <a:r>
              <a:rPr lang="tr-TR" dirty="0"/>
              <a:t>Süreçlerin aynı dosyayı paylaşabilmesi sağlanır. </a:t>
            </a:r>
          </a:p>
          <a:p>
            <a:r>
              <a:rPr lang="tr-TR" dirty="0"/>
              <a:t>Okuma ve yazma işlemleri yapılabilir.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97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Yazarken Kopyalama (</a:t>
            </a:r>
            <a:r>
              <a:rPr lang="tr-TR" dirty="0" err="1"/>
              <a:t>Copy</a:t>
            </a:r>
            <a:r>
              <a:rPr lang="tr-TR" dirty="0"/>
              <a:t>-on-Write)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Süreçlerin başlangıçta aynı sayfaları bellekte paylaşmasına izin verir.</a:t>
            </a:r>
          </a:p>
          <a:p>
            <a:pPr lvl="1"/>
            <a:r>
              <a:rPr lang="tr-TR" dirty="0"/>
              <a:t>Paylaşılan sayfa değiştirileceğinde, sayfa kopyalanır.</a:t>
            </a:r>
          </a:p>
          <a:p>
            <a:r>
              <a:rPr lang="tr-TR" dirty="0"/>
              <a:t>Sadece değiştirilen sayfalar kopyalanır, </a:t>
            </a:r>
          </a:p>
          <a:p>
            <a:pPr lvl="1"/>
            <a:r>
              <a:rPr lang="tr-TR" dirty="0"/>
              <a:t>Süreçler az maliyetle oluşturulabilir.</a:t>
            </a:r>
          </a:p>
          <a:p>
            <a:r>
              <a:rPr lang="tr-TR" dirty="0"/>
              <a:t>Boş sayfalar, talep üzerine bir havuzdan tahsis edilir.</a:t>
            </a:r>
          </a:p>
          <a:p>
            <a:pPr lvl="1"/>
            <a:r>
              <a:rPr lang="tr-TR" dirty="0"/>
              <a:t>Talepler için, havuzda her zaman boş çerçeveler tutulur.</a:t>
            </a:r>
          </a:p>
          <a:p>
            <a:pPr lvl="1"/>
            <a:r>
              <a:rPr lang="tr-TR" dirty="0"/>
              <a:t>Hata durumunda boş çerçeve aramak ve boşaltmak gerekmez.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684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Yazarken Kopyalama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Dosyalar değiştirilmedikçe ortak kullanılır.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4" descr="9">
            <a:extLst>
              <a:ext uri="{FF2B5EF4-FFF2-40B4-BE49-F238E27FC236}">
                <a16:creationId xmlns:a16="http://schemas.microsoft.com/office/drawing/2014/main" id="{BC34FA32-F8B2-44C4-BE2E-AA1E08212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00" y="2394289"/>
            <a:ext cx="7200000" cy="2896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3470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Yazarken Kopyalama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Değişiklik yapılacak sayfanın kopyası oluşturulur.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9" name="Picture 4" descr="9">
            <a:extLst>
              <a:ext uri="{FF2B5EF4-FFF2-40B4-BE49-F238E27FC236}">
                <a16:creationId xmlns:a16="http://schemas.microsoft.com/office/drawing/2014/main" id="{C5BC398E-0436-4102-B16B-52CDFD1D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00" y="2337833"/>
            <a:ext cx="7200000" cy="3326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4030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Boş Çerçeve Bulunamazsa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Sayfalar süreçler tarafından kullanılmakta iken, yeni istekler gelebilir.</a:t>
            </a:r>
          </a:p>
          <a:p>
            <a:r>
              <a:rPr lang="tr-TR" dirty="0"/>
              <a:t>Bellek kısıtlı, her bir sürece ne kadar tahsis edilmeli?</a:t>
            </a:r>
          </a:p>
          <a:p>
            <a:r>
              <a:rPr lang="tr-TR" b="1" dirty="0"/>
              <a:t>Sayfa takası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Kullanımda olmayan sayfaların bulunması ve çıkarılması.</a:t>
            </a:r>
          </a:p>
          <a:p>
            <a:r>
              <a:rPr lang="tr-TR" b="1" dirty="0"/>
              <a:t>Algoritma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Süreç sonlandırılsın mı? </a:t>
            </a:r>
          </a:p>
          <a:p>
            <a:pPr lvl="1"/>
            <a:r>
              <a:rPr lang="tr-TR" dirty="0"/>
              <a:t>Sayfalar takas mı edilsin?</a:t>
            </a:r>
          </a:p>
          <a:p>
            <a:r>
              <a:rPr lang="tr-TR" b="1" dirty="0"/>
              <a:t>Performans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Minimum sayfa hatasıyla karşılaşma.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Aynı sayfa birçok kez takas edilebilir.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14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Yer Değiştirme (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Replacement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718" y="1760538"/>
            <a:ext cx="6786563" cy="4416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1854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Yer Değiştirme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Gerekli sayfanın diskteki konumu bulunur.</a:t>
            </a:r>
          </a:p>
          <a:p>
            <a:r>
              <a:rPr lang="tr-TR" dirty="0"/>
              <a:t>Bellekte boş bir çerçeve aranır. </a:t>
            </a:r>
          </a:p>
          <a:p>
            <a:pPr lvl="1"/>
            <a:r>
              <a:rPr lang="tr-TR" dirty="0"/>
              <a:t>Boş bir çerçeve bulunursa kullanılır.</a:t>
            </a:r>
          </a:p>
          <a:p>
            <a:pPr lvl="1"/>
            <a:r>
              <a:rPr lang="tr-TR" dirty="0"/>
              <a:t>Bulunamazsa, bir kurban (</a:t>
            </a:r>
            <a:r>
              <a:rPr lang="tr-TR" i="1" dirty="0" err="1"/>
              <a:t>victim</a:t>
            </a:r>
            <a:r>
              <a:rPr lang="tr-TR" dirty="0"/>
              <a:t>) aranır.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Kurban kirli (</a:t>
            </a:r>
            <a:r>
              <a:rPr lang="tr-TR" i="1" dirty="0" err="1"/>
              <a:t>dirty</a:t>
            </a:r>
            <a:r>
              <a:rPr lang="tr-TR" dirty="0"/>
              <a:t>) ise diske yazılır.</a:t>
            </a:r>
          </a:p>
          <a:p>
            <a:r>
              <a:rPr lang="tr-TR" dirty="0"/>
              <a:t>İstenen yeni sayfa boş çerçeveye taşınır.</a:t>
            </a:r>
          </a:p>
          <a:p>
            <a:r>
              <a:rPr lang="tr-TR" dirty="0"/>
              <a:t>Sayfa tablosu (</a:t>
            </a:r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table</a:t>
            </a:r>
            <a:r>
              <a:rPr lang="tr-TR" dirty="0"/>
              <a:t>) güncellenir.</a:t>
            </a:r>
          </a:p>
          <a:p>
            <a:r>
              <a:rPr lang="tr-TR" dirty="0"/>
              <a:t>Tuzağa (</a:t>
            </a:r>
            <a:r>
              <a:rPr lang="tr-TR" i="1" dirty="0"/>
              <a:t>trap</a:t>
            </a:r>
            <a:r>
              <a:rPr lang="tr-TR" dirty="0"/>
              <a:t>) neden olan komut yeniden başlatılır.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277" y="2521131"/>
            <a:ext cx="2639414" cy="3745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9064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Yer Değiştirme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9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1557338"/>
            <a:ext cx="6267450" cy="4619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455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Hatasının Etkisi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hatası süresi = 25 </a:t>
            </a:r>
            <a:r>
              <a:rPr lang="tr-TR" i="1" dirty="0" err="1"/>
              <a:t>ms</a:t>
            </a:r>
            <a:r>
              <a:rPr lang="tr-TR" i="1" dirty="0"/>
              <a:t> </a:t>
            </a:r>
            <a:r>
              <a:rPr lang="tr-TR" dirty="0"/>
              <a:t>(</a:t>
            </a:r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fault</a:t>
            </a:r>
            <a:r>
              <a:rPr lang="tr-TR" dirty="0"/>
              <a:t>)</a:t>
            </a:r>
          </a:p>
          <a:p>
            <a:r>
              <a:rPr lang="tr-TR" dirty="0"/>
              <a:t>Bellek erişim süresi = 100 </a:t>
            </a:r>
            <a:r>
              <a:rPr lang="tr-TR" i="1" dirty="0" err="1"/>
              <a:t>ns</a:t>
            </a:r>
            <a:r>
              <a:rPr lang="tr-TR" dirty="0"/>
              <a:t> (</a:t>
            </a:r>
            <a:r>
              <a:rPr lang="tr-TR" i="1" dirty="0" err="1"/>
              <a:t>memory</a:t>
            </a:r>
            <a:r>
              <a:rPr lang="tr-TR" i="1" dirty="0"/>
              <a:t> </a:t>
            </a:r>
            <a:r>
              <a:rPr lang="tr-TR" i="1" dirty="0" err="1"/>
              <a:t>access</a:t>
            </a:r>
            <a:r>
              <a:rPr lang="tr-TR" dirty="0"/>
              <a:t>)</a:t>
            </a:r>
          </a:p>
          <a:p>
            <a:r>
              <a:rPr lang="tr-TR" dirty="0"/>
              <a:t>Sayfa kayıp oranı = </a:t>
            </a:r>
            <a:r>
              <a:rPr lang="tr-TR" i="1" dirty="0"/>
              <a:t>p</a:t>
            </a:r>
            <a:r>
              <a:rPr lang="tr-TR" dirty="0"/>
              <a:t> (</a:t>
            </a:r>
            <a:r>
              <a:rPr lang="tr-TR" i="1" dirty="0" err="1"/>
              <a:t>miss</a:t>
            </a:r>
            <a:r>
              <a:rPr lang="tr-TR" i="1" dirty="0"/>
              <a:t> rate</a:t>
            </a:r>
            <a:r>
              <a:rPr lang="tr-TR" dirty="0"/>
              <a:t>)</a:t>
            </a:r>
          </a:p>
          <a:p>
            <a:r>
              <a:rPr lang="tr-TR" dirty="0"/>
              <a:t>EAT = </a:t>
            </a:r>
            <a:r>
              <a:rPr lang="tr-TR" dirty="0" err="1"/>
              <a:t>Effective</a:t>
            </a:r>
            <a:r>
              <a:rPr lang="tr-TR" dirty="0"/>
              <a:t> </a:t>
            </a:r>
            <a:r>
              <a:rPr lang="tr-TR" dirty="0" err="1"/>
              <a:t>access</a:t>
            </a:r>
            <a:r>
              <a:rPr lang="tr-TR" dirty="0"/>
              <a:t> time.</a:t>
            </a:r>
          </a:p>
          <a:p>
            <a:r>
              <a:rPr lang="tr-TR" dirty="0"/>
              <a:t>EAT = 100(1-</a:t>
            </a:r>
            <a:r>
              <a:rPr lang="tr-TR" i="1" dirty="0"/>
              <a:t>p</a:t>
            </a:r>
            <a:r>
              <a:rPr lang="tr-TR" dirty="0"/>
              <a:t>) + (25)10</a:t>
            </a:r>
            <a:r>
              <a:rPr lang="tr-TR" baseline="30000" dirty="0"/>
              <a:t>6</a:t>
            </a:r>
            <a:r>
              <a:rPr lang="tr-TR" i="1" dirty="0"/>
              <a:t>p</a:t>
            </a:r>
            <a:r>
              <a:rPr lang="tr-TR" dirty="0"/>
              <a:t> = 100 + 24999900*</a:t>
            </a:r>
            <a:r>
              <a:rPr lang="tr-TR" i="1" dirty="0"/>
              <a:t>p.</a:t>
            </a:r>
          </a:p>
          <a:p>
            <a:r>
              <a:rPr lang="tr-TR" i="1" dirty="0"/>
              <a:t>p</a:t>
            </a:r>
            <a:r>
              <a:rPr lang="tr-TR" dirty="0"/>
              <a:t> = 0.001 ise, EAT = 25099.9 </a:t>
            </a:r>
            <a:r>
              <a:rPr lang="tr-TR" i="1" dirty="0" err="1"/>
              <a:t>ns</a:t>
            </a:r>
            <a:r>
              <a:rPr lang="tr-TR" i="1" dirty="0"/>
              <a:t>.</a:t>
            </a:r>
          </a:p>
          <a:p>
            <a:r>
              <a:rPr lang="tr-TR" dirty="0"/>
              <a:t>EAT &lt; 110 </a:t>
            </a:r>
            <a:r>
              <a:rPr lang="tr-TR" i="1" dirty="0" err="1"/>
              <a:t>ns</a:t>
            </a:r>
            <a:r>
              <a:rPr lang="tr-TR" dirty="0"/>
              <a:t> olması için, </a:t>
            </a:r>
            <a:r>
              <a:rPr lang="tr-TR" i="1" dirty="0"/>
              <a:t>p</a:t>
            </a:r>
            <a:r>
              <a:rPr lang="tr-TR" dirty="0"/>
              <a:t> &lt; 0.0000004 olmalı.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38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Yer Değiştirme Algoritmaları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Optimum (</a:t>
            </a:r>
            <a:r>
              <a:rPr lang="tr-TR" i="1" dirty="0"/>
              <a:t>optimal</a:t>
            </a:r>
            <a:r>
              <a:rPr lang="tr-TR" dirty="0"/>
              <a:t>)</a:t>
            </a:r>
          </a:p>
          <a:p>
            <a:r>
              <a:rPr lang="tr-TR" dirty="0"/>
              <a:t>Yakın zamanda kullanılmayan (</a:t>
            </a:r>
            <a:r>
              <a:rPr lang="tr-TR" i="1" dirty="0"/>
              <a:t>not </a:t>
            </a:r>
            <a:r>
              <a:rPr lang="tr-TR" i="1" dirty="0" err="1"/>
              <a:t>recently</a:t>
            </a:r>
            <a:r>
              <a:rPr lang="tr-TR" i="1" dirty="0"/>
              <a:t> </a:t>
            </a:r>
            <a:r>
              <a:rPr lang="tr-TR" i="1" dirty="0" err="1"/>
              <a:t>used</a:t>
            </a:r>
            <a:r>
              <a:rPr lang="tr-TR" dirty="0"/>
              <a:t>)</a:t>
            </a:r>
          </a:p>
          <a:p>
            <a:r>
              <a:rPr lang="tr-TR" dirty="0"/>
              <a:t>İlk giren ilk çıkar (</a:t>
            </a:r>
            <a:r>
              <a:rPr lang="tr-TR" i="1" dirty="0" err="1"/>
              <a:t>first</a:t>
            </a:r>
            <a:r>
              <a:rPr lang="tr-TR" i="1" dirty="0"/>
              <a:t>-in </a:t>
            </a:r>
            <a:r>
              <a:rPr lang="tr-TR" i="1" dirty="0" err="1"/>
              <a:t>first-out</a:t>
            </a:r>
            <a:r>
              <a:rPr lang="tr-TR" dirty="0"/>
              <a:t>)</a:t>
            </a:r>
          </a:p>
          <a:p>
            <a:r>
              <a:rPr lang="tr-TR" dirty="0"/>
              <a:t>İkinci şans (</a:t>
            </a:r>
            <a:r>
              <a:rPr lang="tr-TR" i="1" dirty="0" err="1"/>
              <a:t>second</a:t>
            </a:r>
            <a:r>
              <a:rPr lang="tr-TR" i="1" dirty="0"/>
              <a:t> </a:t>
            </a:r>
            <a:r>
              <a:rPr lang="tr-TR" i="1" dirty="0" err="1"/>
              <a:t>chance</a:t>
            </a:r>
            <a:r>
              <a:rPr lang="tr-TR" dirty="0"/>
              <a:t>)</a:t>
            </a:r>
          </a:p>
          <a:p>
            <a:r>
              <a:rPr lang="tr-TR" dirty="0"/>
              <a:t>Saat (</a:t>
            </a:r>
            <a:r>
              <a:rPr lang="tr-TR" i="1" dirty="0" err="1"/>
              <a:t>clock</a:t>
            </a:r>
            <a:r>
              <a:rPr lang="tr-TR" dirty="0"/>
              <a:t>)</a:t>
            </a:r>
          </a:p>
          <a:p>
            <a:r>
              <a:rPr lang="tr-TR" dirty="0"/>
              <a:t>En eski kullanılan (</a:t>
            </a:r>
            <a:r>
              <a:rPr lang="tr-TR" i="1" dirty="0" err="1"/>
              <a:t>least</a:t>
            </a:r>
            <a:r>
              <a:rPr lang="tr-TR" i="1" dirty="0"/>
              <a:t> </a:t>
            </a:r>
            <a:r>
              <a:rPr lang="tr-TR" i="1" dirty="0" err="1"/>
              <a:t>recently</a:t>
            </a:r>
            <a:r>
              <a:rPr lang="tr-TR" i="1" dirty="0"/>
              <a:t> </a:t>
            </a:r>
            <a:r>
              <a:rPr lang="tr-TR" i="1" dirty="0" err="1"/>
              <a:t>used</a:t>
            </a:r>
            <a:r>
              <a:rPr lang="tr-TR" dirty="0"/>
              <a:t>)</a:t>
            </a:r>
          </a:p>
          <a:p>
            <a:r>
              <a:rPr lang="tr-TR" dirty="0"/>
              <a:t>Çalışma kümesi (</a:t>
            </a:r>
            <a:r>
              <a:rPr lang="tr-TR" i="1" dirty="0" err="1"/>
              <a:t>working</a:t>
            </a:r>
            <a:r>
              <a:rPr lang="tr-TR" i="1" dirty="0"/>
              <a:t> set</a:t>
            </a:r>
            <a:r>
              <a:rPr lang="tr-TR" dirty="0"/>
              <a:t>)</a:t>
            </a:r>
          </a:p>
          <a:p>
            <a:r>
              <a:rPr lang="tr-TR" dirty="0"/>
              <a:t>Çalışma kümesi saat (</a:t>
            </a:r>
            <a:r>
              <a:rPr lang="tr-TR" i="1" dirty="0" err="1"/>
              <a:t>working</a:t>
            </a:r>
            <a:r>
              <a:rPr lang="tr-TR" i="1" dirty="0"/>
              <a:t> set </a:t>
            </a:r>
            <a:r>
              <a:rPr lang="tr-TR" i="1" dirty="0" err="1"/>
              <a:t>clock</a:t>
            </a:r>
            <a:r>
              <a:rPr lang="tr-TR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396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Optimum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Tarifi kolay, uygulanması imkansız.</a:t>
            </a:r>
          </a:p>
          <a:p>
            <a:r>
              <a:rPr lang="tr-TR" dirty="0"/>
              <a:t>En uzun süre kullanılmayacak olan sayfa seçilir.</a:t>
            </a:r>
          </a:p>
          <a:p>
            <a:r>
              <a:rPr lang="tr-TR" dirty="0"/>
              <a:t>Sayfalar kendisine erişimden önce çalıştırılacak </a:t>
            </a:r>
          </a:p>
          <a:p>
            <a:pPr marL="0" indent="0">
              <a:buNone/>
            </a:pPr>
            <a:r>
              <a:rPr lang="tr-TR" dirty="0"/>
              <a:t>komut sayısı ile etiketlenir.</a:t>
            </a:r>
          </a:p>
          <a:p>
            <a:r>
              <a:rPr lang="tr-TR" dirty="0"/>
              <a:t>İhtiyaç halinde en yüksek etikete sahip sayfa çıkarılır.</a:t>
            </a:r>
          </a:p>
          <a:p>
            <a:r>
              <a:rPr lang="tr-TR" dirty="0"/>
              <a:t>İşletim sistemi hangi sayfaya ne zaman erişileceğini </a:t>
            </a:r>
          </a:p>
          <a:p>
            <a:pPr marL="0" indent="0">
              <a:buNone/>
            </a:pPr>
            <a:r>
              <a:rPr lang="tr-TR" dirty="0"/>
              <a:t>bilemez (</a:t>
            </a:r>
            <a:r>
              <a:rPr lang="tr-TR" i="1" dirty="0" err="1"/>
              <a:t>crystal</a:t>
            </a:r>
            <a:r>
              <a:rPr lang="tr-TR" i="1" dirty="0"/>
              <a:t> </a:t>
            </a:r>
            <a:r>
              <a:rPr lang="tr-TR" i="1" dirty="0" err="1"/>
              <a:t>ball</a:t>
            </a:r>
            <a:r>
              <a:rPr lang="tr-TR" dirty="0"/>
              <a:t>).</a:t>
            </a:r>
          </a:p>
          <a:p>
            <a:r>
              <a:rPr lang="tr-TR" dirty="0"/>
              <a:t>Algoritmaların performansını karşılaştırmak için kullanılır.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837" y="2442754"/>
            <a:ext cx="2404759" cy="3256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7781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Optimum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hatası (</a:t>
            </a:r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fault</a:t>
            </a:r>
            <a:r>
              <a:rPr lang="tr-TR" dirty="0"/>
              <a:t>) 9 kez, </a:t>
            </a:r>
          </a:p>
          <a:p>
            <a:r>
              <a:rPr lang="tr-TR" dirty="0"/>
              <a:t>Sayfa değiştirme (</a:t>
            </a:r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replacement</a:t>
            </a:r>
            <a:r>
              <a:rPr lang="tr-TR" dirty="0"/>
              <a:t>) 6 kez.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3041777"/>
            <a:ext cx="8640000" cy="2905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892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Yakın Zamanda Kullanılmayan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Sayfalara kullanım zamanlarına göre öncelik değerleri atanır. </a:t>
            </a:r>
          </a:p>
          <a:p>
            <a:r>
              <a:rPr lang="tr-TR" dirty="0"/>
              <a:t>Sayfa çıkarılacağında en düşük öncelikli sayfa seçilir.</a:t>
            </a:r>
          </a:p>
          <a:p>
            <a:r>
              <a:rPr lang="tr-TR" dirty="0"/>
              <a:t>Her bir sayfa için </a:t>
            </a:r>
            <a:r>
              <a:rPr lang="tr-TR" i="1" dirty="0"/>
              <a:t>R (</a:t>
            </a:r>
            <a:r>
              <a:rPr lang="tr-TR" i="1" dirty="0" err="1"/>
              <a:t>referenced</a:t>
            </a:r>
            <a:r>
              <a:rPr lang="tr-TR" i="1" dirty="0"/>
              <a:t>) </a:t>
            </a:r>
            <a:r>
              <a:rPr lang="tr-TR" dirty="0"/>
              <a:t>ve </a:t>
            </a:r>
            <a:r>
              <a:rPr lang="tr-TR" i="1" dirty="0"/>
              <a:t>M (</a:t>
            </a:r>
            <a:r>
              <a:rPr lang="tr-TR" i="1" dirty="0" err="1"/>
              <a:t>modified</a:t>
            </a:r>
            <a:r>
              <a:rPr lang="tr-TR" i="1" dirty="0"/>
              <a:t>) bitleri</a:t>
            </a:r>
            <a:r>
              <a:rPr lang="tr-TR" dirty="0"/>
              <a:t> bulunur.</a:t>
            </a:r>
          </a:p>
          <a:p>
            <a:r>
              <a:rPr lang="tr-TR" dirty="0"/>
              <a:t>Süreç başladığında, bitlere 0 atanır, periyodik olarak, </a:t>
            </a:r>
            <a:r>
              <a:rPr lang="tr-TR" i="1" dirty="0"/>
              <a:t>R biti </a:t>
            </a:r>
            <a:r>
              <a:rPr lang="tr-TR" dirty="0"/>
              <a:t>temizlenir.</a:t>
            </a:r>
          </a:p>
          <a:p>
            <a:r>
              <a:rPr lang="tr-TR" dirty="0"/>
              <a:t>Sayfa dört farklı durumda olabilir.</a:t>
            </a:r>
          </a:p>
          <a:p>
            <a:pPr lvl="1"/>
            <a:r>
              <a:rPr lang="tr-TR" dirty="0"/>
              <a:t>Erişilmedi, değiştirilmedi.</a:t>
            </a:r>
          </a:p>
          <a:p>
            <a:pPr lvl="1"/>
            <a:r>
              <a:rPr lang="tr-TR" dirty="0"/>
              <a:t>Erişilmedi, değiştirildi.</a:t>
            </a:r>
          </a:p>
          <a:p>
            <a:pPr lvl="1"/>
            <a:r>
              <a:rPr lang="tr-TR" dirty="0"/>
              <a:t>Erişildi, değiştirilmedi.</a:t>
            </a:r>
          </a:p>
          <a:p>
            <a:pPr lvl="1"/>
            <a:r>
              <a:rPr lang="tr-TR" dirty="0"/>
              <a:t>Erişildi, değiştirildi.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822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LRU </a:t>
            </a:r>
            <a:r>
              <a:rPr lang="tr-TR" dirty="0" err="1"/>
              <a:t>vs</a:t>
            </a:r>
            <a:r>
              <a:rPr lang="tr-TR" dirty="0"/>
              <a:t> NRU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least</a:t>
            </a:r>
            <a:r>
              <a:rPr lang="tr-TR" dirty="0"/>
              <a:t> </a:t>
            </a:r>
            <a:r>
              <a:rPr lang="tr-TR" dirty="0" err="1"/>
              <a:t>recently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vs</a:t>
            </a:r>
            <a:r>
              <a:rPr lang="tr-TR" dirty="0"/>
              <a:t> not </a:t>
            </a:r>
            <a:r>
              <a:rPr lang="tr-TR" dirty="0" err="1"/>
              <a:t>recently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.</a:t>
            </a:r>
          </a:p>
          <a:p>
            <a:r>
              <a:rPr lang="tr-TR" dirty="0"/>
              <a:t>En eski kullanılan, Yakın zamanda kullanılmayan.</a:t>
            </a:r>
          </a:p>
          <a:p>
            <a:r>
              <a:rPr lang="en-US" i="1" u="sng" dirty="0"/>
              <a:t>LRU keeps track of page usage over a short period of time, while NRU just looks at the usage in the last clock interval.</a:t>
            </a:r>
            <a:endParaRPr lang="tr-TR" i="1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951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 Giren İlk Çıkar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FIFO (</a:t>
            </a:r>
            <a:r>
              <a:rPr lang="tr-TR" dirty="0" err="1"/>
              <a:t>first</a:t>
            </a:r>
            <a:r>
              <a:rPr lang="tr-TR" dirty="0"/>
              <a:t> in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out</a:t>
            </a:r>
            <a:r>
              <a:rPr lang="tr-TR" dirty="0"/>
              <a:t>).</a:t>
            </a:r>
          </a:p>
          <a:p>
            <a:r>
              <a:rPr lang="tr-TR" dirty="0"/>
              <a:t>Zamana göre sıralı sayfa listesi tutar.</a:t>
            </a:r>
          </a:p>
          <a:p>
            <a:pPr lvl="1"/>
            <a:r>
              <a:rPr lang="tr-TR" dirty="0"/>
              <a:t>En son erişilen sayfa listenin sonunda durur.</a:t>
            </a:r>
          </a:p>
          <a:p>
            <a:r>
              <a:rPr lang="tr-TR" dirty="0"/>
              <a:t>İhtiyaç halinde en eski sayfa, yani sıranın başındaki tahliye edilir.</a:t>
            </a:r>
          </a:p>
          <a:p>
            <a:r>
              <a:rPr lang="tr-TR" dirty="0"/>
              <a:t>Uygulaması kolay bir algoritma.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En eski sayfa en yoğun kullanılan sayfa olabilir! </a:t>
            </a:r>
          </a:p>
          <a:p>
            <a:r>
              <a:rPr lang="tr-TR" dirty="0"/>
              <a:t>Kullanım bilgisini dikkate almaz.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51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 Giren İlk Çıkar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En eski olanı</a:t>
            </a:r>
            <a:r>
              <a:rPr lang="tr-TR" dirty="0"/>
              <a:t> değiştirir.</a:t>
            </a:r>
          </a:p>
          <a:p>
            <a:r>
              <a:rPr lang="tr-TR" dirty="0"/>
              <a:t>Kötü performans ama basit.</a:t>
            </a:r>
          </a:p>
          <a:p>
            <a:r>
              <a:rPr lang="tr-TR" dirty="0"/>
              <a:t>Sayfa hatası 15 kez, Sayfa değiştirme 12 kez.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3424827"/>
            <a:ext cx="8640000" cy="2752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77352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İkinci Şans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İlk giren ilk çıkar</a:t>
            </a:r>
            <a:r>
              <a:rPr lang="tr-TR" dirty="0"/>
              <a:t> yönteminin gelişmiş bir versiyonu.</a:t>
            </a:r>
          </a:p>
          <a:p>
            <a:r>
              <a:rPr lang="tr-TR" dirty="0"/>
              <a:t>Sık kullanılan sayfaların değiştirilmesi önlenir.</a:t>
            </a:r>
          </a:p>
          <a:p>
            <a:pPr lvl="1"/>
            <a:r>
              <a:rPr lang="tr-TR" i="1" dirty="0"/>
              <a:t>R (</a:t>
            </a:r>
            <a:r>
              <a:rPr lang="tr-TR" i="1" dirty="0" err="1"/>
              <a:t>referenced</a:t>
            </a:r>
            <a:r>
              <a:rPr lang="tr-TR" i="1" dirty="0"/>
              <a:t>)</a:t>
            </a:r>
            <a:r>
              <a:rPr lang="tr-TR" dirty="0"/>
              <a:t> bitine bakılır.</a:t>
            </a:r>
          </a:p>
          <a:p>
            <a:pPr lvl="1"/>
            <a:r>
              <a:rPr lang="tr-TR" i="1" dirty="0"/>
              <a:t>R</a:t>
            </a:r>
            <a:r>
              <a:rPr lang="tr-TR" dirty="0"/>
              <a:t> değeri </a:t>
            </a:r>
            <a:r>
              <a:rPr lang="tr-TR" i="1" dirty="0"/>
              <a:t>0</a:t>
            </a:r>
            <a:r>
              <a:rPr lang="tr-TR" dirty="0"/>
              <a:t> ise, sayfa eski ve erişilmemiştir.</a:t>
            </a:r>
          </a:p>
          <a:p>
            <a:pPr lvl="1"/>
            <a:r>
              <a:rPr lang="tr-TR" i="1" dirty="0"/>
              <a:t>R</a:t>
            </a:r>
            <a:r>
              <a:rPr lang="tr-TR" dirty="0"/>
              <a:t> değeri </a:t>
            </a:r>
            <a:r>
              <a:rPr lang="tr-TR" i="1" dirty="0"/>
              <a:t>1</a:t>
            </a:r>
            <a:r>
              <a:rPr lang="tr-TR" dirty="0"/>
              <a:t> ise, sayfaya ikinci bir şans verilir.</a:t>
            </a:r>
          </a:p>
          <a:p>
            <a:pPr lvl="1"/>
            <a:r>
              <a:rPr lang="tr-TR" dirty="0"/>
              <a:t>Eğer tüm sayfalara erişildiyse, </a:t>
            </a:r>
            <a:r>
              <a:rPr lang="tr-TR" i="1" dirty="0"/>
              <a:t>İlk giren ilk çıkar</a:t>
            </a:r>
            <a:r>
              <a:rPr lang="tr-TR" dirty="0"/>
              <a:t> gibi çalışır.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035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İkinci Şans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Both"/>
            </a:pPr>
            <a:r>
              <a:rPr lang="tr-TR" i="1" dirty="0"/>
              <a:t>FIFO</a:t>
            </a:r>
            <a:r>
              <a:rPr lang="tr-TR" dirty="0"/>
              <a:t> mantığında sıralı sayfalar. </a:t>
            </a:r>
          </a:p>
          <a:p>
            <a:pPr marL="457200" indent="-457200">
              <a:buAutoNum type="alphaLcParenBoth"/>
            </a:pPr>
            <a:r>
              <a:rPr lang="tr-TR" dirty="0"/>
              <a:t>Sayfa hatası varsa, </a:t>
            </a:r>
            <a:r>
              <a:rPr lang="tr-TR" i="1" dirty="0"/>
              <a:t>A</a:t>
            </a:r>
            <a:r>
              <a:rPr lang="tr-TR" dirty="0"/>
              <a:t>'nın </a:t>
            </a:r>
            <a:r>
              <a:rPr lang="tr-TR" i="1" dirty="0"/>
              <a:t>R</a:t>
            </a:r>
            <a:r>
              <a:rPr lang="tr-TR" dirty="0"/>
              <a:t> biti 1 ise, </a:t>
            </a:r>
            <a:r>
              <a:rPr lang="tr-TR" i="1" dirty="0"/>
              <a:t>A</a:t>
            </a:r>
            <a:r>
              <a:rPr lang="tr-TR" dirty="0"/>
              <a:t>'ya </a:t>
            </a:r>
            <a:r>
              <a:rPr lang="tr-TR" i="1" dirty="0"/>
              <a:t>ikinci şans </a:t>
            </a:r>
            <a:r>
              <a:rPr lang="tr-TR" dirty="0"/>
              <a:t>verilir.</a:t>
            </a:r>
          </a:p>
          <a:p>
            <a:pPr marL="0" indent="0">
              <a:buNone/>
            </a:pPr>
            <a:r>
              <a:rPr lang="tr-TR" i="1" dirty="0"/>
              <a:t>Sayılar</a:t>
            </a:r>
            <a:r>
              <a:rPr lang="tr-TR" dirty="0"/>
              <a:t>: sayfaların gelme zamanlarını gösterir.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4" name="Picture 6" descr="03-1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587" y="3563938"/>
            <a:ext cx="7616825" cy="2613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2130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Saat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İkinci şans </a:t>
            </a:r>
            <a:r>
              <a:rPr lang="tr-TR" dirty="0"/>
              <a:t>algoritmasına benzer, işleyişi farklıdır.</a:t>
            </a:r>
          </a:p>
          <a:p>
            <a:r>
              <a:rPr lang="tr-TR" i="1" dirty="0"/>
              <a:t>İkinci şans </a:t>
            </a:r>
            <a:r>
              <a:rPr lang="tr-TR" dirty="0"/>
              <a:t>algoritması, sayfaları listede sürekli olarak hareket ettirir.</a:t>
            </a:r>
          </a:p>
          <a:p>
            <a:r>
              <a:rPr lang="tr-TR" dirty="0"/>
              <a:t>Alternatif olarak sayfa çerçeveleri </a:t>
            </a:r>
            <a:r>
              <a:rPr lang="tr-TR" i="1" dirty="0"/>
              <a:t>saat </a:t>
            </a:r>
            <a:r>
              <a:rPr lang="tr-TR" dirty="0"/>
              <a:t>şeklinde dairesel bir listede tutulur.</a:t>
            </a:r>
          </a:p>
          <a:p>
            <a:r>
              <a:rPr lang="tr-TR" dirty="0"/>
              <a:t>Sayfa tablosundaki bir işaretçi (</a:t>
            </a:r>
            <a:r>
              <a:rPr lang="tr-TR" i="1" dirty="0"/>
              <a:t>saat işareti</a:t>
            </a:r>
            <a:r>
              <a:rPr lang="tr-TR" dirty="0"/>
              <a:t>) kullanılarak sayfalar işlenir.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52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Saat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4" name="Picture 6" descr="03-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776000" y="1690688"/>
            <a:ext cx="8640000" cy="4492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573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Son Kullanılan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Optimum</a:t>
            </a:r>
            <a:r>
              <a:rPr lang="tr-TR" dirty="0"/>
              <a:t> algoritmaya yakın bir yaklaşım.</a:t>
            </a:r>
          </a:p>
          <a:p>
            <a:r>
              <a:rPr lang="tr-TR" i="1" dirty="0"/>
              <a:t>Uzun süre kullanılmayan sayfalar, bir daha kullanılmaz</a:t>
            </a:r>
            <a:r>
              <a:rPr lang="tr-TR" dirty="0"/>
              <a:t> mantığı.</a:t>
            </a:r>
          </a:p>
          <a:p>
            <a:r>
              <a:rPr lang="tr-TR" dirty="0"/>
              <a:t>Sayfa hatası olduğunda, en uzun süre kullanılmayan sayfa çıkarılır.</a:t>
            </a:r>
          </a:p>
          <a:p>
            <a:r>
              <a:rPr lang="tr-TR" dirty="0"/>
              <a:t>Süreyi kaydetmek için, </a:t>
            </a:r>
          </a:p>
          <a:p>
            <a:pPr lvl="1"/>
            <a:r>
              <a:rPr lang="tr-TR" dirty="0"/>
              <a:t>Bellekteki sayfaların yer aldığı bir bağlı liste veri yapısı, </a:t>
            </a:r>
          </a:p>
          <a:p>
            <a:pPr lvl="1"/>
            <a:r>
              <a:rPr lang="tr-TR" dirty="0"/>
              <a:t>Donanım sayacı, veya</a:t>
            </a:r>
          </a:p>
          <a:p>
            <a:pPr lvl="1"/>
            <a:r>
              <a:rPr lang="tr-TR" dirty="0"/>
              <a:t>Bir matris kullanılır.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03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Son Kullanılan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hata sayısı: 12 kez, </a:t>
            </a:r>
          </a:p>
          <a:p>
            <a:r>
              <a:rPr lang="tr-TR" dirty="0"/>
              <a:t>Sayfa değiştirme: 9 kez.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8" name="Picture 4" descr="9">
            <a:extLst>
              <a:ext uri="{FF2B5EF4-FFF2-40B4-BE49-F238E27FC236}">
                <a16:creationId xmlns:a16="http://schemas.microsoft.com/office/drawing/2014/main" id="{1C494269-8B4A-4BA9-9CC1-ED6087AC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3197379"/>
            <a:ext cx="8640000" cy="2358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455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Son Kullanılan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Maliyetli bir algoritma, verimli bir şekilde gerçeklenmesi zor.</a:t>
            </a:r>
          </a:p>
          <a:p>
            <a:r>
              <a:rPr lang="tr-TR" dirty="0"/>
              <a:t>Sayfa için fazladan bir sayaç (</a:t>
            </a:r>
            <a:r>
              <a:rPr lang="tr-TR" i="1" dirty="0"/>
              <a:t>kullanım süresi</a:t>
            </a:r>
            <a:r>
              <a:rPr lang="tr-TR" dirty="0"/>
              <a:t>) kullanılır. (</a:t>
            </a:r>
            <a:r>
              <a:rPr lang="tr-TR" i="1" dirty="0"/>
              <a:t>donanımsal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En eski sayfa değiştirilir.</a:t>
            </a:r>
          </a:p>
          <a:p>
            <a:pPr lvl="1"/>
            <a:r>
              <a:rPr lang="tr-TR" dirty="0"/>
              <a:t>Sayaç için </a:t>
            </a:r>
            <a:r>
              <a:rPr lang="tr-TR" i="1" dirty="0"/>
              <a:t>donanım desteği </a:t>
            </a:r>
            <a:r>
              <a:rPr lang="tr-TR" dirty="0"/>
              <a:t>gerekir.</a:t>
            </a:r>
          </a:p>
          <a:p>
            <a:pPr lvl="1"/>
            <a:r>
              <a:rPr lang="tr-TR" dirty="0"/>
              <a:t>Sayfa hatasında, en eski olanı bulmak için tüm sayaçlar kontrol edilir.</a:t>
            </a:r>
          </a:p>
          <a:p>
            <a:r>
              <a:rPr lang="tr-TR" dirty="0"/>
              <a:t>Bir yığında sayfa numaraları saklanır. (</a:t>
            </a:r>
            <a:r>
              <a:rPr lang="tr-TR" i="1" dirty="0" err="1"/>
              <a:t>yazılımsal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Yığının en altındaki sayfa değiştirilir.</a:t>
            </a:r>
          </a:p>
          <a:p>
            <a:pPr lvl="1"/>
            <a:r>
              <a:rPr lang="tr-TR" dirty="0"/>
              <a:t>Sayfa çerçevelerin boyutunda bir </a:t>
            </a:r>
            <a:r>
              <a:rPr lang="tr-TR" i="1" dirty="0"/>
              <a:t>yığın gerekli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Sayfa zaten yığının içindeyse, önce çıkarılır, sonra yığına geri konur.</a:t>
            </a:r>
          </a:p>
          <a:p>
            <a:pPr lvl="1"/>
            <a:r>
              <a:rPr lang="tr-TR" dirty="0"/>
              <a:t>Değilse, yığına konur. (</a:t>
            </a:r>
            <a:r>
              <a:rPr lang="tr-TR" i="1" dirty="0" err="1"/>
              <a:t>push</a:t>
            </a:r>
            <a:r>
              <a:rPr lang="tr-TR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567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Son Kullanılan Sayfa Değişimi (Yığın)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8" name="Picture 1" descr="9_16.pdf">
            <a:extLst>
              <a:ext uri="{FF2B5EF4-FFF2-40B4-BE49-F238E27FC236}">
                <a16:creationId xmlns:a16="http://schemas.microsoft.com/office/drawing/2014/main" id="{650D8023-264A-4AC3-B430-E0C59C953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00" y="1958327"/>
            <a:ext cx="5400000" cy="4218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046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Son Kullanılan Sayfa Değişimi (Donanımsal)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Sayfalara 0, 1, 2, 3, 2, 1, 0, 3, 2, 3 sırasıyla erişildiğinde matrisin içeriği.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4" name="Picture 6" descr="03-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2" y="2501353"/>
            <a:ext cx="7419975" cy="4003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27860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Son Kullanılan Sayfa Değişimi (Donanımsal)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i'ye erişildiğinde, i. sütunu 0 doldur, i. satırı 1 doldur.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03-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2" y="2501353"/>
            <a:ext cx="7419975" cy="4003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13720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Sık Kullanılmayan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En son kullanılanı değiştir</a:t>
            </a:r>
            <a:r>
              <a:rPr lang="tr-TR" dirty="0"/>
              <a:t> algoritmasına benzer. (</a:t>
            </a:r>
            <a:r>
              <a:rPr lang="tr-TR" i="1" dirty="0"/>
              <a:t>Not </a:t>
            </a:r>
            <a:r>
              <a:rPr lang="tr-TR" i="1" dirty="0" err="1"/>
              <a:t>frequently</a:t>
            </a:r>
            <a:r>
              <a:rPr lang="tr-TR" i="1" dirty="0"/>
              <a:t> </a:t>
            </a:r>
            <a:r>
              <a:rPr lang="tr-TR" i="1" dirty="0" err="1"/>
              <a:t>used</a:t>
            </a:r>
            <a:r>
              <a:rPr lang="tr-TR" dirty="0"/>
              <a:t>)</a:t>
            </a:r>
          </a:p>
          <a:p>
            <a:r>
              <a:rPr lang="tr-TR" dirty="0"/>
              <a:t>Sayfaların erişim zamanları kaydedilir.</a:t>
            </a:r>
          </a:p>
          <a:p>
            <a:r>
              <a:rPr lang="tr-TR" dirty="0"/>
              <a:t>Sayfa hatası olduğunda, en düşük değerli olan çıkarılır.</a:t>
            </a:r>
          </a:p>
          <a:p>
            <a:r>
              <a:rPr lang="tr-TR" dirty="0"/>
              <a:t>Uzun bir günlük (</a:t>
            </a:r>
            <a:r>
              <a:rPr lang="tr-TR" i="1" dirty="0" err="1"/>
              <a:t>log</a:t>
            </a:r>
            <a:r>
              <a:rPr lang="tr-TR" dirty="0"/>
              <a:t>) tutmak gerekir.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4003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Sık Kullanılmayan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Altı sayfa ve beş zaman dilimi için algoritma çıktısı.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4" name="Picture 6" descr="03-18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7" y="2298384"/>
            <a:ext cx="7566025" cy="4188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6818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 Kümesi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Sayfaları önceden değil talep üzerine yükler.</a:t>
            </a:r>
          </a:p>
          <a:p>
            <a:r>
              <a:rPr lang="tr-TR" dirty="0"/>
              <a:t>Süreç koşarken, sayfalarının nispeten küçük bir kısmına erişir.</a:t>
            </a:r>
          </a:p>
          <a:p>
            <a:r>
              <a:rPr lang="tr-TR" dirty="0"/>
              <a:t>Çalışma kümesi (</a:t>
            </a:r>
            <a:r>
              <a:rPr lang="tr-TR" i="1" dirty="0" err="1"/>
              <a:t>working</a:t>
            </a:r>
            <a:r>
              <a:rPr lang="tr-TR" i="1" dirty="0"/>
              <a:t> set</a:t>
            </a:r>
            <a:r>
              <a:rPr lang="tr-TR" dirty="0"/>
              <a:t>):</a:t>
            </a:r>
          </a:p>
          <a:p>
            <a:pPr lvl="1"/>
            <a:r>
              <a:rPr lang="tr-TR" dirty="0"/>
              <a:t>Bir sürecin herhangi bir anda kullanmakta olduğu sayfalar.</a:t>
            </a:r>
          </a:p>
          <a:p>
            <a:pPr lvl="1"/>
            <a:r>
              <a:rPr lang="tr-TR" dirty="0"/>
              <a:t>Bir sonraki aşamaya kadar, çok fazla sayfa hatasına neden olmaz.</a:t>
            </a:r>
          </a:p>
          <a:p>
            <a:r>
              <a:rPr lang="tr-TR" dirty="0"/>
              <a:t>Bir süreç bellekten çıkarılıp, tekrar belleğe alındığında, </a:t>
            </a:r>
          </a:p>
          <a:p>
            <a:pPr lvl="1"/>
            <a:r>
              <a:rPr lang="tr-TR" dirty="0"/>
              <a:t>Önce çalışma kümesi yüklenir, </a:t>
            </a:r>
          </a:p>
          <a:p>
            <a:pPr lvl="1"/>
            <a:r>
              <a:rPr lang="tr-TR" dirty="0"/>
              <a:t>Böylece </a:t>
            </a:r>
            <a:r>
              <a:rPr lang="tr-TR" i="1" dirty="0"/>
              <a:t>sayfa hata</a:t>
            </a:r>
            <a:r>
              <a:rPr lang="tr-TR" dirty="0"/>
              <a:t> sayısı, büyük ölçüde azaltılır.</a:t>
            </a:r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43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 Kümesi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Çalışma kümesi</a:t>
            </a:r>
            <a:r>
              <a:rPr lang="tr-TR" dirty="0"/>
              <a:t>, </a:t>
            </a:r>
            <a:r>
              <a:rPr lang="tr-TR" i="1" dirty="0"/>
              <a:t>k</a:t>
            </a:r>
            <a:r>
              <a:rPr lang="tr-TR" dirty="0"/>
              <a:t> adet </a:t>
            </a:r>
          </a:p>
          <a:p>
            <a:pPr marL="0" indent="0">
              <a:buNone/>
            </a:pPr>
            <a:r>
              <a:rPr lang="tr-TR" dirty="0"/>
              <a:t>en son erişilen sayfa. </a:t>
            </a:r>
          </a:p>
          <a:p>
            <a:endParaRPr lang="tr-TR" i="1" dirty="0"/>
          </a:p>
          <a:p>
            <a:endParaRPr lang="tr-TR" i="1" dirty="0"/>
          </a:p>
          <a:p>
            <a:endParaRPr lang="tr-TR" i="1" dirty="0"/>
          </a:p>
          <a:p>
            <a:r>
              <a:rPr lang="tr-TR" i="1" dirty="0"/>
              <a:t>w(</a:t>
            </a:r>
            <a:r>
              <a:rPr lang="tr-TR" i="1" dirty="0" err="1"/>
              <a:t>k,t</a:t>
            </a:r>
            <a:r>
              <a:rPr lang="tr-TR" i="1" dirty="0"/>
              <a:t>)</a:t>
            </a:r>
            <a:r>
              <a:rPr lang="tr-TR" dirty="0"/>
              <a:t> fonksiyonu, </a:t>
            </a:r>
            <a:r>
              <a:rPr lang="tr-TR" i="1" dirty="0"/>
              <a:t>t</a:t>
            </a:r>
            <a:r>
              <a:rPr lang="tr-TR" dirty="0"/>
              <a:t> anında çalışan </a:t>
            </a:r>
          </a:p>
          <a:p>
            <a:pPr marL="0" indent="0">
              <a:buNone/>
            </a:pPr>
            <a:r>
              <a:rPr lang="tr-TR" dirty="0"/>
              <a:t>kümenin boyutu.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78CC71D-4523-4A34-A452-9A1A6004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998" y="1870075"/>
            <a:ext cx="7200000" cy="1919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08" y="4218598"/>
            <a:ext cx="5724890" cy="2002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91400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 Kümesi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hatası olduğunda, çalışma kümesinde olmayan sayfa çıkarılır.</a:t>
            </a:r>
          </a:p>
          <a:p>
            <a:r>
              <a:rPr lang="tr-TR" dirty="0"/>
              <a:t>Çalışma kümesi için, </a:t>
            </a:r>
          </a:p>
          <a:p>
            <a:pPr lvl="1"/>
            <a:r>
              <a:rPr lang="tr-TR" dirty="0"/>
              <a:t>bir yazmaç tutulur ve </a:t>
            </a:r>
          </a:p>
          <a:p>
            <a:pPr lvl="1"/>
            <a:r>
              <a:rPr lang="tr-TR" dirty="0"/>
              <a:t>maliyetli olacak her erişimde değeri bir kaydırılır (</a:t>
            </a:r>
            <a:r>
              <a:rPr lang="tr-TR" i="1" dirty="0" err="1"/>
              <a:t>shift</a:t>
            </a:r>
            <a:r>
              <a:rPr lang="tr-TR" dirty="0"/>
              <a:t>).</a:t>
            </a:r>
          </a:p>
          <a:p>
            <a:r>
              <a:rPr lang="tr-TR" dirty="0"/>
              <a:t>Her bellek erişiminde bellekteki sayfalar takip edilir. Masraflı.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Her </a:t>
            </a:r>
            <a:r>
              <a:rPr lang="tr-TR" i="1" dirty="0"/>
              <a:t>k</a:t>
            </a:r>
            <a:r>
              <a:rPr lang="tr-TR" dirty="0"/>
              <a:t> erişim, bir çalışma kümesiyle sonuçlanır.</a:t>
            </a:r>
          </a:p>
          <a:p>
            <a:r>
              <a:rPr lang="tr-TR" i="1" dirty="0"/>
              <a:t>k</a:t>
            </a:r>
            <a:r>
              <a:rPr lang="tr-TR" dirty="0"/>
              <a:t> adet bellek erişimi yerine sürecin koşma süresi (</a:t>
            </a:r>
            <a:r>
              <a:rPr lang="tr-TR" i="1" dirty="0" err="1"/>
              <a:t>tau</a:t>
            </a:r>
            <a:r>
              <a:rPr lang="tr-TR" dirty="0"/>
              <a:t>) kullanılabilir.</a:t>
            </a:r>
          </a:p>
          <a:p>
            <a:r>
              <a:rPr lang="tr-TR" i="1" dirty="0"/>
              <a:t>t</a:t>
            </a:r>
            <a:r>
              <a:rPr lang="tr-TR" dirty="0"/>
              <a:t> koşma süresi boyunca erişilen son </a:t>
            </a:r>
            <a:r>
              <a:rPr lang="tr-TR" i="1" dirty="0"/>
              <a:t>k</a:t>
            </a:r>
            <a:r>
              <a:rPr lang="tr-TR" dirty="0"/>
              <a:t> sayfanın kaydı tutulur.</a:t>
            </a:r>
          </a:p>
          <a:p>
            <a:r>
              <a:rPr lang="tr-TR" dirty="0" err="1"/>
              <a:t>tau</a:t>
            </a:r>
            <a:r>
              <a:rPr lang="tr-TR" dirty="0"/>
              <a:t>: time of </a:t>
            </a:r>
            <a:r>
              <a:rPr lang="tr-TR" dirty="0" err="1"/>
              <a:t>actively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3547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 Kümesi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i="1" dirty="0"/>
              <a:t>R</a:t>
            </a:r>
            <a:r>
              <a:rPr lang="tr-TR" i="1" dirty="0"/>
              <a:t> (</a:t>
            </a:r>
            <a:r>
              <a:rPr lang="tr-TR" i="1" dirty="0" err="1"/>
              <a:t>referenced</a:t>
            </a:r>
            <a:r>
              <a:rPr lang="tr-TR" i="1" dirty="0"/>
              <a:t>)</a:t>
            </a:r>
            <a:r>
              <a:rPr lang="pl-PL" dirty="0"/>
              <a:t> biti periyodik olarak temizlenir</a:t>
            </a:r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4" name="Picture 6" descr="03-20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062" y="2422344"/>
            <a:ext cx="6873875" cy="4081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36427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 Kümesi Saat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Çalışma kümesi algoritması, sayfa hatasında sayfa tablosunu tarar.</a:t>
            </a:r>
          </a:p>
          <a:p>
            <a:r>
              <a:rPr lang="tr-TR" i="1" dirty="0" err="1"/>
              <a:t>Working</a:t>
            </a:r>
            <a:r>
              <a:rPr lang="tr-TR" i="1" dirty="0"/>
              <a:t> Set </a:t>
            </a:r>
            <a:r>
              <a:rPr lang="tr-TR" i="1" dirty="0" err="1"/>
              <a:t>Clock</a:t>
            </a:r>
            <a:r>
              <a:rPr lang="tr-TR" dirty="0"/>
              <a:t>: basit ve etkili.</a:t>
            </a:r>
          </a:p>
          <a:p>
            <a:pPr lvl="1"/>
            <a:r>
              <a:rPr lang="tr-TR" dirty="0"/>
              <a:t>Sayfa çerçeveleri dairesel bir listede tutulur.</a:t>
            </a:r>
          </a:p>
          <a:p>
            <a:pPr lvl="1"/>
            <a:r>
              <a:rPr lang="tr-TR" i="1" dirty="0"/>
              <a:t>R</a:t>
            </a:r>
            <a:r>
              <a:rPr lang="tr-TR" dirty="0"/>
              <a:t> biti 1 ise, </a:t>
            </a:r>
          </a:p>
          <a:p>
            <a:pPr lvl="2"/>
            <a:r>
              <a:rPr lang="tr-TR" dirty="0"/>
              <a:t>sayfaya erişilmiştir. </a:t>
            </a:r>
          </a:p>
          <a:p>
            <a:pPr lvl="2"/>
            <a:r>
              <a:rPr lang="tr-TR" i="1" dirty="0"/>
              <a:t>R</a:t>
            </a:r>
            <a:r>
              <a:rPr lang="tr-TR" dirty="0"/>
              <a:t>'ye 0 ata. eli (</a:t>
            </a:r>
            <a:r>
              <a:rPr lang="tr-TR" i="1" dirty="0" err="1"/>
              <a:t>clock</a:t>
            </a:r>
            <a:r>
              <a:rPr lang="tr-TR" i="1" dirty="0"/>
              <a:t> </a:t>
            </a:r>
            <a:r>
              <a:rPr lang="tr-TR" i="1" dirty="0" err="1"/>
              <a:t>hand</a:t>
            </a:r>
            <a:r>
              <a:rPr lang="tr-TR" dirty="0"/>
              <a:t>) ilerlet.</a:t>
            </a:r>
          </a:p>
          <a:p>
            <a:pPr lvl="1"/>
            <a:r>
              <a:rPr lang="tr-TR" i="1" dirty="0"/>
              <a:t>R</a:t>
            </a:r>
            <a:r>
              <a:rPr lang="tr-TR" dirty="0"/>
              <a:t> biti 0 ise, </a:t>
            </a:r>
          </a:p>
          <a:p>
            <a:pPr lvl="2"/>
            <a:r>
              <a:rPr lang="tr-TR" i="1" dirty="0"/>
              <a:t>M</a:t>
            </a:r>
            <a:r>
              <a:rPr lang="tr-TR" dirty="0"/>
              <a:t> biti 0 ise ve (yaş &gt; </a:t>
            </a:r>
            <a:r>
              <a:rPr lang="tr-TR" i="1" dirty="0" err="1"/>
              <a:t>tau</a:t>
            </a:r>
            <a:r>
              <a:rPr lang="tr-TR" dirty="0"/>
              <a:t>) ise yer değiştir. </a:t>
            </a:r>
          </a:p>
          <a:p>
            <a:pPr lvl="2"/>
            <a:r>
              <a:rPr lang="tr-TR" i="1" dirty="0"/>
              <a:t>M</a:t>
            </a:r>
            <a:r>
              <a:rPr lang="tr-TR" dirty="0"/>
              <a:t> biti 1 ise, eli ilerlet ve diske geri yazmayı çizelgele.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798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 Kümesi Saat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6000" y="1971947"/>
            <a:ext cx="10800000" cy="4058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9297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 Kümesi Saat Sayfa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İki durumda da el başlangıç noktasına kadar gelir.</a:t>
            </a:r>
          </a:p>
          <a:p>
            <a:r>
              <a:rPr lang="tr-TR" dirty="0"/>
              <a:t>En az bir yazma çizelgelendi ise,</a:t>
            </a:r>
          </a:p>
          <a:p>
            <a:pPr lvl="1"/>
            <a:r>
              <a:rPr lang="tr-TR" dirty="0"/>
              <a:t>İşaretçi temiz bir sayfa bulana kadar hareket eder.</a:t>
            </a:r>
          </a:p>
          <a:p>
            <a:r>
              <a:rPr lang="tr-TR" dirty="0"/>
              <a:t>Hiçbir yazma çizelgelenmedi ise, </a:t>
            </a:r>
          </a:p>
          <a:p>
            <a:pPr lvl="1"/>
            <a:r>
              <a:rPr lang="tr-TR" dirty="0"/>
              <a:t>Tüm sayfalar çalışma kümesindedir.</a:t>
            </a:r>
          </a:p>
          <a:p>
            <a:pPr lvl="1"/>
            <a:r>
              <a:rPr lang="tr-TR" dirty="0"/>
              <a:t>Temiz bir sayfa seçilir. </a:t>
            </a:r>
          </a:p>
          <a:p>
            <a:pPr lvl="1"/>
            <a:r>
              <a:rPr lang="tr-TR" dirty="0"/>
              <a:t>Temiz sayfa yoksa, </a:t>
            </a:r>
          </a:p>
          <a:p>
            <a:pPr lvl="2"/>
            <a:r>
              <a:rPr lang="tr-TR" dirty="0"/>
              <a:t>Geçerli sayfa kurban (</a:t>
            </a:r>
            <a:r>
              <a:rPr lang="tr-TR" i="1" dirty="0" err="1"/>
              <a:t>victim</a:t>
            </a:r>
            <a:r>
              <a:rPr lang="tr-TR" dirty="0"/>
              <a:t>), diske geri yaz.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633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Özet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026269"/>
              </p:ext>
            </p:extLst>
          </p:nvPr>
        </p:nvGraphicFramePr>
        <p:xfrm>
          <a:off x="1086394" y="1590494"/>
          <a:ext cx="10515600" cy="4572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81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7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Algoritma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Yorum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Optimum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Uygulanabilir değil, kıyaslama amaçlı.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Yakın Zamanda Kullanılmayan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Çok kaba.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İlk Giren İlk Çıkar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Önemli sayfaları çıkarabilir.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İkinci şans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İlk Giren İlk </a:t>
                      </a:r>
                      <a:r>
                        <a:rPr lang="tr-TR" sz="2400" dirty="0" err="1"/>
                        <a:t>Çıkar'ın</a:t>
                      </a:r>
                      <a:r>
                        <a:rPr lang="tr-TR" sz="2400" dirty="0"/>
                        <a:t> gelişmiş versiyonu.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Saat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Gerçekçi.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En Son Kullanılan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İyi performans, uygulanması zor.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Sık Kullanılmayan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400" dirty="0"/>
                        <a:t>En Son </a:t>
                      </a:r>
                      <a:r>
                        <a:rPr lang="tr-TR" sz="2400" dirty="0" err="1"/>
                        <a:t>Kullanılan'a</a:t>
                      </a:r>
                      <a:r>
                        <a:rPr lang="tr-TR" sz="2400" baseline="0" dirty="0"/>
                        <a:t> </a:t>
                      </a:r>
                      <a:r>
                        <a:rPr lang="tr-TR" sz="2400" dirty="0"/>
                        <a:t>yakınsar, </a:t>
                      </a:r>
                      <a:r>
                        <a:rPr lang="tr-TR" sz="2400" baseline="0" dirty="0"/>
                        <a:t>adil.</a:t>
                      </a:r>
                      <a:endParaRPr lang="tr-T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Çalışma Kümesi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Uygulanması maliyetli.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Çalışma Kümesi Saat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İyi, verimli bir algoritma.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597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Yerel ve Genel Tahsis Politikaları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Genel tahsis: </a:t>
            </a:r>
          </a:p>
          <a:p>
            <a:pPr lvl="1"/>
            <a:r>
              <a:rPr lang="tr-TR" dirty="0"/>
              <a:t>Bir süreç, tüm çerçeveler arasından yedek bir çerçeve seçer.</a:t>
            </a:r>
          </a:p>
          <a:p>
            <a:pPr lvl="1"/>
            <a:r>
              <a:rPr lang="tr-TR" dirty="0"/>
              <a:t>Bir süreç, başka bir süreç ile çerçeve paylaşabilir.</a:t>
            </a:r>
          </a:p>
          <a:p>
            <a:pPr lvl="1"/>
            <a:r>
              <a:rPr lang="tr-TR" dirty="0"/>
              <a:t>Yüksek verim, süreçlerin yürütme süresi büyük ölçüde değişebilir.</a:t>
            </a:r>
          </a:p>
          <a:p>
            <a:r>
              <a:rPr lang="tr-TR" dirty="0"/>
              <a:t>Yerel tahsis: </a:t>
            </a:r>
          </a:p>
          <a:p>
            <a:pPr lvl="1"/>
            <a:r>
              <a:rPr lang="tr-TR" dirty="0"/>
              <a:t>Süreçler yalnızca kendi çerçeve kümesinden seçim yapabilir.</a:t>
            </a:r>
          </a:p>
          <a:p>
            <a:pPr lvl="1"/>
            <a:r>
              <a:rPr lang="tr-TR" dirty="0"/>
              <a:t>Süreç başına daha tutarlı performans elde edilir.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Bellek verimli kullanılmayabilir.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212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Yerel ve Genel Tahsis Politikaları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(a) Orijinal konfigürasyon. (b) Yerel tahsis. (c) Genel tahsis.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4" name="Picture 6" descr="03-2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964" y="2272937"/>
            <a:ext cx="6782072" cy="4228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3267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Yerel ve Genel Tahsis Politikaları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4" name="Picture 6" descr="03-2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2282031"/>
            <a:ext cx="6819900" cy="3438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7477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Belady</a:t>
            </a:r>
            <a:r>
              <a:rPr lang="tr-TR" dirty="0"/>
              <a:t> Anomalisi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Daha çok çerçeve, daha iyi performans beklenir.!</a:t>
            </a:r>
          </a:p>
          <a:p>
            <a:r>
              <a:rPr lang="tr-TR" dirty="0"/>
              <a:t>Erişim sıralaması: 1 2 3 4 1 2 5 1 2 3 4 5</a:t>
            </a:r>
          </a:p>
          <a:p>
            <a:r>
              <a:rPr lang="tr-TR" dirty="0"/>
              <a:t>4 çerçeve: sayfa hatası: 10 kez, sayfa yer değiştirme: 6 kez</a:t>
            </a:r>
          </a:p>
          <a:p>
            <a:pPr marL="669925" lvl="1" indent="-325438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None/>
            </a:pP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1</a:t>
            </a:r>
            <a:r>
              <a:rPr lang="tr-TR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1 1 1 </a:t>
            </a:r>
            <a:r>
              <a:rPr lang="en-US" altLang="zh-CN" sz="2600" kern="0" dirty="0">
                <a:solidFill>
                  <a:srgbClr val="0000FF"/>
                </a:solidFill>
                <a:latin typeface="Consolas" panose="020B0609020204030204" pitchFamily="49" charset="0"/>
                <a:ea typeface="宋体"/>
              </a:rPr>
              <a:t>1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1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5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5 5 5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4 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4</a:t>
            </a:r>
            <a:b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</a:b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2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2 2 2 </a:t>
            </a:r>
            <a:r>
              <a:rPr lang="en-US" altLang="zh-CN" sz="2600" kern="0" dirty="0">
                <a:solidFill>
                  <a:srgbClr val="0000FF"/>
                </a:solidFill>
                <a:latin typeface="Consolas" panose="020B0609020204030204" pitchFamily="49" charset="0"/>
                <a:ea typeface="宋体"/>
              </a:rPr>
              <a:t>2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2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1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1 1 1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5</a:t>
            </a:r>
            <a:b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</a:br>
            <a:r>
              <a:rPr lang="tr-TR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3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3 3 3 3 3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2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2 2 2</a:t>
            </a:r>
            <a:b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</a:b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  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4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4 4 4 4 4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3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3 3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tr-TR" dirty="0"/>
              <a:t>3 çerçeve: sayfa hatası:   9 kez, sayfa yer değiştirme: 6 kez</a:t>
            </a:r>
          </a:p>
          <a:p>
            <a:pPr marL="669925" lvl="1" indent="-325438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None/>
            </a:pP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1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1 1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4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4 4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5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5 5 5 5 </a:t>
            </a:r>
            <a:r>
              <a:rPr lang="en-US" altLang="zh-CN" sz="2600" kern="0" dirty="0">
                <a:solidFill>
                  <a:srgbClr val="0000FF"/>
                </a:solidFill>
                <a:latin typeface="Consolas" panose="020B0609020204030204" pitchFamily="49" charset="0"/>
                <a:ea typeface="宋体"/>
              </a:rPr>
              <a:t>5</a:t>
            </a:r>
            <a:b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</a:b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2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2 2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1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1 1 </a:t>
            </a:r>
            <a:r>
              <a:rPr lang="en-US" altLang="zh-CN" sz="2600" kern="0" dirty="0">
                <a:solidFill>
                  <a:srgbClr val="0000FF"/>
                </a:solidFill>
                <a:latin typeface="Consolas" panose="020B0609020204030204" pitchFamily="49" charset="0"/>
                <a:ea typeface="宋体"/>
              </a:rPr>
              <a:t>1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1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3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3 4</a:t>
            </a:r>
            <a:b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</a:b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3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3 3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2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2 2 </a:t>
            </a:r>
            <a:r>
              <a:rPr lang="en-US" altLang="zh-CN" sz="2600" kern="0" dirty="0">
                <a:solidFill>
                  <a:srgbClr val="0000FF"/>
                </a:solidFill>
                <a:latin typeface="Consolas" panose="020B0609020204030204" pitchFamily="49" charset="0"/>
                <a:ea typeface="宋体"/>
              </a:rPr>
              <a:t>2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2 </a:t>
            </a:r>
            <a:r>
              <a:rPr lang="en-US" altLang="zh-CN" sz="2600" kern="0" dirty="0">
                <a:solidFill>
                  <a:srgbClr val="3B812F"/>
                </a:solidFill>
                <a:latin typeface="Consolas" panose="020B0609020204030204" pitchFamily="49" charset="0"/>
                <a:ea typeface="宋体"/>
              </a:rPr>
              <a:t>4</a:t>
            </a:r>
            <a:r>
              <a:rPr lang="en-US" altLang="zh-CN" sz="2600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4</a:t>
            </a:r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959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Tablosu Boyutu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Ek maliyet = </a:t>
            </a:r>
            <a:r>
              <a:rPr lang="tr-TR" i="1" dirty="0"/>
              <a:t>se/p + p/2</a:t>
            </a:r>
            <a:r>
              <a:rPr lang="tr-TR" dirty="0"/>
              <a:t> </a:t>
            </a:r>
          </a:p>
          <a:p>
            <a:pPr lvl="1"/>
            <a:r>
              <a:rPr lang="tr-TR" i="1" dirty="0"/>
              <a:t>p</a:t>
            </a:r>
            <a:r>
              <a:rPr lang="tr-TR" dirty="0"/>
              <a:t>, sayfa boyutu,  </a:t>
            </a:r>
          </a:p>
          <a:p>
            <a:pPr lvl="1"/>
            <a:r>
              <a:rPr lang="tr-TR" i="1" dirty="0"/>
              <a:t>s</a:t>
            </a:r>
            <a:r>
              <a:rPr lang="tr-TR" dirty="0"/>
              <a:t>, süreç boyutu,  </a:t>
            </a:r>
          </a:p>
          <a:p>
            <a:pPr lvl="1"/>
            <a:r>
              <a:rPr lang="tr-TR" i="1" dirty="0"/>
              <a:t>e</a:t>
            </a:r>
            <a:r>
              <a:rPr lang="tr-TR" dirty="0"/>
              <a:t>, sayfa tablosunun satır boyutu.</a:t>
            </a:r>
          </a:p>
          <a:p>
            <a:pPr lvl="1"/>
            <a:endParaRPr lang="tr-TR" dirty="0"/>
          </a:p>
          <a:p>
            <a:r>
              <a:rPr lang="tr-TR" i="1" dirty="0"/>
              <a:t>p</a:t>
            </a:r>
            <a:r>
              <a:rPr lang="tr-TR" dirty="0"/>
              <a:t> = </a:t>
            </a:r>
            <a:r>
              <a:rPr lang="tr-TR" i="1" dirty="0"/>
              <a:t>√(2se)</a:t>
            </a:r>
          </a:p>
          <a:p>
            <a:pPr lvl="1"/>
            <a:r>
              <a:rPr lang="tr-TR" i="1" dirty="0"/>
              <a:t>s</a:t>
            </a:r>
            <a:r>
              <a:rPr lang="tr-TR" dirty="0"/>
              <a:t> = 1 </a:t>
            </a:r>
            <a:r>
              <a:rPr lang="tr-TR" i="1" dirty="0"/>
              <a:t>MB</a:t>
            </a:r>
            <a:r>
              <a:rPr lang="tr-TR" dirty="0"/>
              <a:t>, </a:t>
            </a:r>
            <a:r>
              <a:rPr lang="tr-TR" i="1" dirty="0"/>
              <a:t>e</a:t>
            </a:r>
            <a:r>
              <a:rPr lang="tr-TR" dirty="0"/>
              <a:t> = 8 </a:t>
            </a:r>
            <a:r>
              <a:rPr lang="tr-TR" i="1" dirty="0"/>
              <a:t>bayt</a:t>
            </a:r>
            <a:r>
              <a:rPr lang="tr-TR" dirty="0"/>
              <a:t>, </a:t>
            </a:r>
            <a:r>
              <a:rPr lang="tr-TR" i="1" dirty="0"/>
              <a:t>p</a:t>
            </a:r>
            <a:r>
              <a:rPr lang="tr-TR" dirty="0"/>
              <a:t> = 4 </a:t>
            </a:r>
            <a:r>
              <a:rPr lang="tr-TR" i="1" dirty="0"/>
              <a:t>KB</a:t>
            </a:r>
            <a:r>
              <a:rPr lang="tr-TR" dirty="0"/>
              <a:t> en uygun.</a:t>
            </a:r>
          </a:p>
          <a:p>
            <a:pPr lvl="1"/>
            <a:r>
              <a:rPr lang="tr-TR" dirty="0"/>
              <a:t>1 </a:t>
            </a:r>
            <a:r>
              <a:rPr lang="tr-TR" i="1" dirty="0"/>
              <a:t>KB</a:t>
            </a:r>
            <a:r>
              <a:rPr lang="tr-TR" dirty="0"/>
              <a:t> tipik.</a:t>
            </a:r>
          </a:p>
          <a:p>
            <a:pPr lvl="1"/>
            <a:r>
              <a:rPr lang="tr-TR" dirty="0"/>
              <a:t>4-8 </a:t>
            </a:r>
            <a:r>
              <a:rPr lang="tr-TR" i="1" dirty="0"/>
              <a:t>KB</a:t>
            </a:r>
            <a:r>
              <a:rPr lang="tr-TR" dirty="0"/>
              <a:t> yaygın.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54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Temizleme İlkesi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İhtiyaç duyulduğunda kurban aramak yerine, </a:t>
            </a:r>
          </a:p>
          <a:p>
            <a:pPr lvl="1"/>
            <a:r>
              <a:rPr lang="tr-TR" dirty="0"/>
              <a:t>Tahliye edilecek sayfaları bulmak için arka plan programı olmalı.</a:t>
            </a:r>
          </a:p>
          <a:p>
            <a:r>
              <a:rPr lang="tr-TR" dirty="0"/>
              <a:t>Arka plan (</a:t>
            </a:r>
            <a:r>
              <a:rPr lang="tr-TR" i="1" dirty="0" err="1"/>
              <a:t>daemon</a:t>
            </a:r>
            <a:r>
              <a:rPr lang="tr-TR" dirty="0"/>
              <a:t>) programı periyodik olarak uyanır.</a:t>
            </a:r>
          </a:p>
          <a:p>
            <a:r>
              <a:rPr lang="tr-TR" dirty="0"/>
              <a:t>Boşta çerçeve azsa, kullanılmayan çerçeveleri serbest bırakır.</a:t>
            </a:r>
          </a:p>
          <a:p>
            <a:r>
              <a:rPr lang="tr-TR" dirty="0"/>
              <a:t>Çerçeveler, tahliye edilmeden önce, </a:t>
            </a:r>
          </a:p>
          <a:p>
            <a:pPr lvl="1"/>
            <a:r>
              <a:rPr lang="tr-TR" dirty="0"/>
              <a:t>Temiz (değiştirilmemiş) olmalı.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267210"/>
            <a:ext cx="3219450" cy="3219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23897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Boşa Çabalama (</a:t>
            </a:r>
            <a:r>
              <a:rPr lang="tr-TR" dirty="0" err="1"/>
              <a:t>Thrashing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sürecin yeterli sayfası bellekte değil ise, </a:t>
            </a:r>
          </a:p>
          <a:p>
            <a:pPr lvl="1"/>
            <a:r>
              <a:rPr lang="tr-TR" dirty="0"/>
              <a:t>Sayfa hata oranı yüksektir.</a:t>
            </a:r>
          </a:p>
          <a:p>
            <a:pPr lvl="1"/>
            <a:r>
              <a:rPr lang="tr-TR" dirty="0"/>
              <a:t>Sayfa takası için sayfa hatası üretir.</a:t>
            </a:r>
          </a:p>
          <a:p>
            <a:pPr lvl="1"/>
            <a:r>
              <a:rPr lang="tr-TR" dirty="0"/>
              <a:t>Mevcut çerçeve değiştirilir.</a:t>
            </a:r>
          </a:p>
          <a:p>
            <a:pPr lvl="1"/>
            <a:r>
              <a:rPr lang="tr-TR" dirty="0"/>
              <a:t>Ancak hızlı bir şekilde takas edilmeli.</a:t>
            </a:r>
          </a:p>
          <a:p>
            <a:pPr lvl="2"/>
            <a:r>
              <a:rPr lang="tr-TR" dirty="0"/>
              <a:t>CPU verimi düşer.</a:t>
            </a:r>
          </a:p>
          <a:p>
            <a:pPr lvl="2"/>
            <a:r>
              <a:rPr lang="tr-TR" dirty="0"/>
              <a:t>İşletim sistemi süreç sayısının artması gerektiğini düşünür.</a:t>
            </a:r>
          </a:p>
          <a:p>
            <a:pPr lvl="2"/>
            <a:r>
              <a:rPr lang="tr-TR" dirty="0"/>
              <a:t>Sisteme eklenen bir süreç daha.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4012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Boşa Çabalama (</a:t>
            </a:r>
            <a:r>
              <a:rPr lang="tr-TR" dirty="0" err="1"/>
              <a:t>Thrashing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Süreç, sayfaları takas etmekle meşgul.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8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94F4115B-BBC6-4F1B-BBD0-84201898A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568" y="3006852"/>
            <a:ext cx="4868863" cy="2867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0284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 Sayfalama (</a:t>
            </a:r>
            <a:r>
              <a:rPr lang="tr-TR" dirty="0" err="1"/>
              <a:t>Prepaging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 başlangıcında sayfa hatasını azaltmak için kullanılır.</a:t>
            </a:r>
          </a:p>
          <a:p>
            <a:r>
              <a:rPr lang="tr-TR" dirty="0"/>
              <a:t>Sürecin ihtiyaç duyacağı sayfaların bir kısmı hazırlanır.</a:t>
            </a:r>
          </a:p>
          <a:p>
            <a:r>
              <a:rPr lang="tr-TR" dirty="0"/>
              <a:t>Ancak, hazırlanan sayfalar kullanılmaz ise,</a:t>
            </a:r>
          </a:p>
          <a:p>
            <a:pPr lvl="1"/>
            <a:r>
              <a:rPr lang="tr-TR" dirty="0"/>
              <a:t>G/Ç ve bellek boşa harcanmış olur.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9399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5304</TotalTime>
  <Words>3877</Words>
  <Application>Microsoft Office PowerPoint</Application>
  <PresentationFormat>Widescreen</PresentationFormat>
  <Paragraphs>586</Paragraphs>
  <Slides>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Calibri Light</vt:lpstr>
      <vt:lpstr>Consolas</vt:lpstr>
      <vt:lpstr>Times New Roman</vt:lpstr>
      <vt:lpstr>Wingdings</vt:lpstr>
      <vt:lpstr>1_Office Theme</vt:lpstr>
      <vt:lpstr>Bölüm 9: Sanal Bellek</vt:lpstr>
      <vt:lpstr>Sanal Bellek - Takas</vt:lpstr>
      <vt:lpstr>Sanal Bellek</vt:lpstr>
      <vt:lpstr>Sanal Bellek</vt:lpstr>
      <vt:lpstr>Sanal Bellek Adres Uzayı</vt:lpstr>
      <vt:lpstr>Sanal Bellek</vt:lpstr>
      <vt:lpstr>Sanal Bellek Adres Uzayı</vt:lpstr>
      <vt:lpstr>Paylaşımlı Kütüphane</vt:lpstr>
      <vt:lpstr>Sanal Bellek – Şişkin (Bloat) Yazılım Yönetimi</vt:lpstr>
      <vt:lpstr>Talep Olduğunda Sayfalama</vt:lpstr>
      <vt:lpstr>Talep Olduğunda Sayfalama</vt:lpstr>
      <vt:lpstr>Geçerli Geçersiz Biti</vt:lpstr>
      <vt:lpstr>Geçerli Geçersiz Biti</vt:lpstr>
      <vt:lpstr>Hatalı Sayfa İşlemi</vt:lpstr>
      <vt:lpstr>Hatalı Sayfa İşlemi</vt:lpstr>
      <vt:lpstr>Hatalı Sayfa İşlemi</vt:lpstr>
      <vt:lpstr>Talep Olduğunda Sayfalama Adımları</vt:lpstr>
      <vt:lpstr>Talep Olduğunda Sayfalama Adımları</vt:lpstr>
      <vt:lpstr>Bellek Eşlemeli (Memory Mapped) Dosyalar</vt:lpstr>
      <vt:lpstr>Yazarken Kopyalama (Copy-on-Write)</vt:lpstr>
      <vt:lpstr>Yazarken Kopyalama</vt:lpstr>
      <vt:lpstr>Yazarken Kopyalama</vt:lpstr>
      <vt:lpstr>Boş Çerçeve Bulunamazsa</vt:lpstr>
      <vt:lpstr>Sayfa Yer Değiştirme (Page Replacement)</vt:lpstr>
      <vt:lpstr>Sayfa Yer Değiştirme</vt:lpstr>
      <vt:lpstr>Sayfa Yer Değiştirme</vt:lpstr>
      <vt:lpstr>Sayfa Hatasının Etkisi</vt:lpstr>
      <vt:lpstr>Sayfa Yer Değiştirme Algoritmaları</vt:lpstr>
      <vt:lpstr>Optimum Sayfa Değişimi</vt:lpstr>
      <vt:lpstr>Optimum Sayfa Değişimi</vt:lpstr>
      <vt:lpstr>Yakın Zamanda Kullanılmayan Sayfa Değişimi</vt:lpstr>
      <vt:lpstr>LRU vs NRU</vt:lpstr>
      <vt:lpstr>İlk Giren İlk Çıkar Sayfa Değişimi</vt:lpstr>
      <vt:lpstr>İlk Giren İlk Çıkar Sayfa Değişimi</vt:lpstr>
      <vt:lpstr>İkinci Şans Sayfa Değişimi</vt:lpstr>
      <vt:lpstr>İkinci Şans Sayfa Değişimi</vt:lpstr>
      <vt:lpstr>Saat Sayfa Değişimi</vt:lpstr>
      <vt:lpstr>Saat Sayfa Değişimi</vt:lpstr>
      <vt:lpstr>En Son Kullanılan Sayfa Değişimi</vt:lpstr>
      <vt:lpstr>En Son Kullanılan Sayfa Değişimi</vt:lpstr>
      <vt:lpstr>En Son Kullanılan Sayfa Değişimi</vt:lpstr>
      <vt:lpstr>En Son Kullanılan Sayfa Değişimi (Yığın)</vt:lpstr>
      <vt:lpstr>En Son Kullanılan Sayfa Değişimi (Donanımsal)</vt:lpstr>
      <vt:lpstr>En Son Kullanılan Sayfa Değişimi (Donanımsal)</vt:lpstr>
      <vt:lpstr>Sık Kullanılmayan Sayfa Değişimi</vt:lpstr>
      <vt:lpstr>Sık Kullanılmayan Sayfa Değişimi</vt:lpstr>
      <vt:lpstr>Çalışma Kümesi Sayfa Değişimi</vt:lpstr>
      <vt:lpstr>Çalışma Kümesi Sayfa Değişimi</vt:lpstr>
      <vt:lpstr>Çalışma Kümesi Sayfa Değişimi</vt:lpstr>
      <vt:lpstr>Çalışma Kümesi Sayfa Değişimi</vt:lpstr>
      <vt:lpstr>Çalışma Kümesi Saat Sayfa Değişimi</vt:lpstr>
      <vt:lpstr>Çalışma Kümesi Saat Sayfa Değişimi</vt:lpstr>
      <vt:lpstr>Çalışma Kümesi Saat Sayfa Değişimi</vt:lpstr>
      <vt:lpstr>Özet</vt:lpstr>
      <vt:lpstr>Yerel ve Genel Tahsis Politikaları</vt:lpstr>
      <vt:lpstr>Yerel ve Genel Tahsis Politikaları</vt:lpstr>
      <vt:lpstr>Yerel ve Genel Tahsis Politikaları</vt:lpstr>
      <vt:lpstr>Belady Anomalisi</vt:lpstr>
      <vt:lpstr>Sayfa Tablosu Boyutu</vt:lpstr>
      <vt:lpstr>Temizleme İlkesi</vt:lpstr>
      <vt:lpstr>Boşa Çabalama (Thrashing)</vt:lpstr>
      <vt:lpstr>Boşa Çabalama (Thrashing)</vt:lpstr>
      <vt:lpstr>Ön Sayfalama (Prepaging)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Sanal Bellek</dc:title>
  <dc:creator>sercan</dc:creator>
  <cp:lastModifiedBy>Sercan Kulcu</cp:lastModifiedBy>
  <cp:revision>509</cp:revision>
  <dcterms:created xsi:type="dcterms:W3CDTF">2023-01-12T09:23:55Z</dcterms:created>
  <dcterms:modified xsi:type="dcterms:W3CDTF">2025-01-23T21:23:24Z</dcterms:modified>
</cp:coreProperties>
</file>