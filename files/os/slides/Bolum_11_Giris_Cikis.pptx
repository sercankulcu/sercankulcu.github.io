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7" r:id="rId1"/>
  </p:sldMasterIdLst>
  <p:notesMasterIdLst>
    <p:notesMasterId r:id="rId98"/>
  </p:notesMasterIdLst>
  <p:sldIdLst>
    <p:sldId id="256" r:id="rId2"/>
    <p:sldId id="257" r:id="rId3"/>
    <p:sldId id="369" r:id="rId4"/>
    <p:sldId id="412" r:id="rId5"/>
    <p:sldId id="411" r:id="rId6"/>
    <p:sldId id="370" r:id="rId7"/>
    <p:sldId id="371" r:id="rId8"/>
    <p:sldId id="420" r:id="rId9"/>
    <p:sldId id="372" r:id="rId10"/>
    <p:sldId id="427" r:id="rId11"/>
    <p:sldId id="313" r:id="rId12"/>
    <p:sldId id="373" r:id="rId13"/>
    <p:sldId id="424" r:id="rId14"/>
    <p:sldId id="374" r:id="rId15"/>
    <p:sldId id="375" r:id="rId16"/>
    <p:sldId id="377" r:id="rId17"/>
    <p:sldId id="314" r:id="rId18"/>
    <p:sldId id="315" r:id="rId19"/>
    <p:sldId id="379" r:id="rId20"/>
    <p:sldId id="378" r:id="rId21"/>
    <p:sldId id="381" r:id="rId22"/>
    <p:sldId id="316" r:id="rId23"/>
    <p:sldId id="382" r:id="rId24"/>
    <p:sldId id="384" r:id="rId25"/>
    <p:sldId id="319" r:id="rId26"/>
    <p:sldId id="428" r:id="rId27"/>
    <p:sldId id="429" r:id="rId28"/>
    <p:sldId id="320" r:id="rId29"/>
    <p:sldId id="385" r:id="rId30"/>
    <p:sldId id="386" r:id="rId31"/>
    <p:sldId id="321" r:id="rId32"/>
    <p:sldId id="413" r:id="rId33"/>
    <p:sldId id="322" r:id="rId34"/>
    <p:sldId id="425" r:id="rId35"/>
    <p:sldId id="323" r:id="rId36"/>
    <p:sldId id="414" r:id="rId37"/>
    <p:sldId id="426" r:id="rId38"/>
    <p:sldId id="430" r:id="rId39"/>
    <p:sldId id="387" r:id="rId40"/>
    <p:sldId id="324" r:id="rId41"/>
    <p:sldId id="415" r:id="rId42"/>
    <p:sldId id="388" r:id="rId43"/>
    <p:sldId id="431" r:id="rId44"/>
    <p:sldId id="432" r:id="rId45"/>
    <p:sldId id="433" r:id="rId46"/>
    <p:sldId id="326" r:id="rId47"/>
    <p:sldId id="349" r:id="rId48"/>
    <p:sldId id="327" r:id="rId49"/>
    <p:sldId id="389" r:id="rId50"/>
    <p:sldId id="390" r:id="rId51"/>
    <p:sldId id="328" r:id="rId52"/>
    <p:sldId id="329" r:id="rId53"/>
    <p:sldId id="391" r:id="rId54"/>
    <p:sldId id="330" r:id="rId55"/>
    <p:sldId id="350" r:id="rId56"/>
    <p:sldId id="392" r:id="rId57"/>
    <p:sldId id="393" r:id="rId58"/>
    <p:sldId id="353" r:id="rId59"/>
    <p:sldId id="394" r:id="rId60"/>
    <p:sldId id="416" r:id="rId61"/>
    <p:sldId id="417" r:id="rId62"/>
    <p:sldId id="354" r:id="rId63"/>
    <p:sldId id="396" r:id="rId64"/>
    <p:sldId id="395" r:id="rId65"/>
    <p:sldId id="397" r:id="rId66"/>
    <p:sldId id="355" r:id="rId67"/>
    <p:sldId id="356" r:id="rId68"/>
    <p:sldId id="398" r:id="rId69"/>
    <p:sldId id="399" r:id="rId70"/>
    <p:sldId id="357" r:id="rId71"/>
    <p:sldId id="400" r:id="rId72"/>
    <p:sldId id="331" r:id="rId73"/>
    <p:sldId id="332" r:id="rId74"/>
    <p:sldId id="333" r:id="rId75"/>
    <p:sldId id="334" r:id="rId76"/>
    <p:sldId id="401" r:id="rId77"/>
    <p:sldId id="335" r:id="rId78"/>
    <p:sldId id="336" r:id="rId79"/>
    <p:sldId id="402" r:id="rId80"/>
    <p:sldId id="403" r:id="rId81"/>
    <p:sldId id="404" r:id="rId82"/>
    <p:sldId id="337" r:id="rId83"/>
    <p:sldId id="359" r:id="rId84"/>
    <p:sldId id="418" r:id="rId85"/>
    <p:sldId id="421" r:id="rId86"/>
    <p:sldId id="360" r:id="rId87"/>
    <p:sldId id="405" r:id="rId88"/>
    <p:sldId id="422" r:id="rId89"/>
    <p:sldId id="423" r:id="rId90"/>
    <p:sldId id="338" r:id="rId91"/>
    <p:sldId id="407" r:id="rId92"/>
    <p:sldId id="406" r:id="rId93"/>
    <p:sldId id="339" r:id="rId94"/>
    <p:sldId id="409" r:id="rId95"/>
    <p:sldId id="410" r:id="rId96"/>
    <p:sldId id="312" r:id="rId9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E1B4FC-4274-48A9-89AE-45E0DD511BA3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tr-TR"/>
        </a:p>
      </dgm:t>
    </dgm:pt>
    <dgm:pt modelId="{C42A45A3-E475-479B-8AB3-E9A7E7BA1F5A}">
      <dgm:prSet phldrT="[Text]"/>
      <dgm:spPr/>
      <dgm:t>
        <a:bodyPr/>
        <a:lstStyle/>
        <a:p>
          <a:r>
            <a:rPr lang="tr-TR" b="0" dirty="0"/>
            <a:t>Kullanıcı düzeyinde G/Ç yazılımı</a:t>
          </a:r>
          <a:endParaRPr lang="tr-TR" dirty="0"/>
        </a:p>
      </dgm:t>
    </dgm:pt>
    <dgm:pt modelId="{DF76FAC8-68C3-4800-8289-09C229B93B61}" type="parTrans" cxnId="{161C37B5-5C14-4A07-A548-88C2E6D1C32D}">
      <dgm:prSet/>
      <dgm:spPr/>
      <dgm:t>
        <a:bodyPr/>
        <a:lstStyle/>
        <a:p>
          <a:endParaRPr lang="tr-TR"/>
        </a:p>
      </dgm:t>
    </dgm:pt>
    <dgm:pt modelId="{EF7A643E-FBDA-4EC8-97D1-4AFC5E27BA60}" type="sibTrans" cxnId="{161C37B5-5C14-4A07-A548-88C2E6D1C32D}">
      <dgm:prSet/>
      <dgm:spPr/>
      <dgm:t>
        <a:bodyPr/>
        <a:lstStyle/>
        <a:p>
          <a:endParaRPr lang="tr-TR"/>
        </a:p>
      </dgm:t>
    </dgm:pt>
    <dgm:pt modelId="{2C66588C-58E1-4F80-90FA-1FA698677953}">
      <dgm:prSet phldrT="[Text]"/>
      <dgm:spPr/>
      <dgm:t>
        <a:bodyPr/>
        <a:lstStyle/>
        <a:p>
          <a:r>
            <a:rPr lang="tr-TR" b="0" dirty="0"/>
            <a:t>Aygıttan bağımsız işletim sistemi</a:t>
          </a:r>
          <a:endParaRPr lang="tr-TR" dirty="0"/>
        </a:p>
      </dgm:t>
    </dgm:pt>
    <dgm:pt modelId="{0DFC48D9-7106-482E-97C6-4C12D5624F64}" type="parTrans" cxnId="{BF4E203F-B577-4151-BCBD-8D432758616B}">
      <dgm:prSet/>
      <dgm:spPr/>
      <dgm:t>
        <a:bodyPr/>
        <a:lstStyle/>
        <a:p>
          <a:endParaRPr lang="tr-TR"/>
        </a:p>
      </dgm:t>
    </dgm:pt>
    <dgm:pt modelId="{94CD6EF8-8808-4C67-AF69-B7FC09EA5B0F}" type="sibTrans" cxnId="{BF4E203F-B577-4151-BCBD-8D432758616B}">
      <dgm:prSet/>
      <dgm:spPr/>
      <dgm:t>
        <a:bodyPr/>
        <a:lstStyle/>
        <a:p>
          <a:endParaRPr lang="tr-TR"/>
        </a:p>
      </dgm:t>
    </dgm:pt>
    <dgm:pt modelId="{7C238177-68EB-4FEC-B8E7-30A68E7FD60D}">
      <dgm:prSet phldrT="[Text]"/>
      <dgm:spPr/>
      <dgm:t>
        <a:bodyPr/>
        <a:lstStyle/>
        <a:p>
          <a:r>
            <a:rPr lang="tr-TR" b="0" dirty="0"/>
            <a:t>Aygıt sürücüleri</a:t>
          </a:r>
          <a:endParaRPr lang="tr-TR" dirty="0"/>
        </a:p>
      </dgm:t>
    </dgm:pt>
    <dgm:pt modelId="{94C82E0E-06A7-4B45-8CAD-B75A3E95E414}" type="parTrans" cxnId="{ED92C76B-A002-4673-923E-56CF690BC532}">
      <dgm:prSet/>
      <dgm:spPr/>
      <dgm:t>
        <a:bodyPr/>
        <a:lstStyle/>
        <a:p>
          <a:endParaRPr lang="tr-TR"/>
        </a:p>
      </dgm:t>
    </dgm:pt>
    <dgm:pt modelId="{8AF8BC33-FE3F-43DD-AA57-4866DD42CCF2}" type="sibTrans" cxnId="{ED92C76B-A002-4673-923E-56CF690BC532}">
      <dgm:prSet/>
      <dgm:spPr/>
      <dgm:t>
        <a:bodyPr/>
        <a:lstStyle/>
        <a:p>
          <a:endParaRPr lang="tr-TR"/>
        </a:p>
      </dgm:t>
    </dgm:pt>
    <dgm:pt modelId="{AA2C9F6C-D89B-46AD-BE64-0EB68F9A8B01}">
      <dgm:prSet/>
      <dgm:spPr/>
      <dgm:t>
        <a:bodyPr/>
        <a:lstStyle/>
        <a:p>
          <a:r>
            <a:rPr lang="tr-TR" b="0" dirty="0"/>
            <a:t>Kesme işleyicileri</a:t>
          </a:r>
        </a:p>
      </dgm:t>
    </dgm:pt>
    <dgm:pt modelId="{49628E2A-5A4A-42AB-BCA0-7BD2BDBACE2B}" type="parTrans" cxnId="{F7777239-6881-40BD-8F23-8885E4A0AADB}">
      <dgm:prSet/>
      <dgm:spPr/>
      <dgm:t>
        <a:bodyPr/>
        <a:lstStyle/>
        <a:p>
          <a:endParaRPr lang="tr-TR"/>
        </a:p>
      </dgm:t>
    </dgm:pt>
    <dgm:pt modelId="{FB332563-C147-47FA-98FA-7988AAF60387}" type="sibTrans" cxnId="{F7777239-6881-40BD-8F23-8885E4A0AADB}">
      <dgm:prSet/>
      <dgm:spPr/>
      <dgm:t>
        <a:bodyPr/>
        <a:lstStyle/>
        <a:p>
          <a:endParaRPr lang="tr-TR"/>
        </a:p>
      </dgm:t>
    </dgm:pt>
    <dgm:pt modelId="{37E6AADD-2C0B-48DB-B0FD-501BE94AED85}">
      <dgm:prSet/>
      <dgm:spPr/>
      <dgm:t>
        <a:bodyPr/>
        <a:lstStyle/>
        <a:p>
          <a:r>
            <a:rPr lang="tr-TR" b="0" dirty="0"/>
            <a:t>Donanım</a:t>
          </a:r>
          <a:endParaRPr lang="tr-TR" dirty="0"/>
        </a:p>
      </dgm:t>
    </dgm:pt>
    <dgm:pt modelId="{9D0314D3-C7C2-4AF7-B8D3-75EEC00B6AB7}" type="parTrans" cxnId="{7558C913-4793-445B-99BA-2180D5E00993}">
      <dgm:prSet/>
      <dgm:spPr/>
      <dgm:t>
        <a:bodyPr/>
        <a:lstStyle/>
        <a:p>
          <a:endParaRPr lang="tr-TR"/>
        </a:p>
      </dgm:t>
    </dgm:pt>
    <dgm:pt modelId="{32F43D80-FD83-4990-AB32-82DBC28B2644}" type="sibTrans" cxnId="{7558C913-4793-445B-99BA-2180D5E00993}">
      <dgm:prSet/>
      <dgm:spPr/>
      <dgm:t>
        <a:bodyPr/>
        <a:lstStyle/>
        <a:p>
          <a:endParaRPr lang="tr-TR"/>
        </a:p>
      </dgm:t>
    </dgm:pt>
    <dgm:pt modelId="{2563CE12-4CF9-457A-956D-90B0E30E6C05}" type="pres">
      <dgm:prSet presAssocID="{FDE1B4FC-4274-48A9-89AE-45E0DD511BA3}" presName="rootnode" presStyleCnt="0">
        <dgm:presLayoutVars>
          <dgm:chMax/>
          <dgm:chPref/>
          <dgm:dir/>
          <dgm:animLvl val="lvl"/>
        </dgm:presLayoutVars>
      </dgm:prSet>
      <dgm:spPr/>
    </dgm:pt>
    <dgm:pt modelId="{EBF53A9A-0C1D-4C28-9C70-1589EA96FC46}" type="pres">
      <dgm:prSet presAssocID="{C42A45A3-E475-479B-8AB3-E9A7E7BA1F5A}" presName="composite" presStyleCnt="0"/>
      <dgm:spPr/>
    </dgm:pt>
    <dgm:pt modelId="{C96002BB-7962-4ADC-AD03-9B65EBB0C236}" type="pres">
      <dgm:prSet presAssocID="{C42A45A3-E475-479B-8AB3-E9A7E7BA1F5A}" presName="bentUpArrow1" presStyleLbl="alignImgPlace1" presStyleIdx="0" presStyleCnt="4" custLinFactNeighborX="-53981"/>
      <dgm:spPr/>
    </dgm:pt>
    <dgm:pt modelId="{71094AA1-FE58-4D55-8D00-00D3F647259C}" type="pres">
      <dgm:prSet presAssocID="{C42A45A3-E475-479B-8AB3-E9A7E7BA1F5A}" presName="ParentText" presStyleLbl="node1" presStyleIdx="0" presStyleCnt="5" custScaleX="331133">
        <dgm:presLayoutVars>
          <dgm:chMax val="1"/>
          <dgm:chPref val="1"/>
          <dgm:bulletEnabled val="1"/>
        </dgm:presLayoutVars>
      </dgm:prSet>
      <dgm:spPr/>
    </dgm:pt>
    <dgm:pt modelId="{E94EEEEE-3714-465B-BF2B-8BA6D1368961}" type="pres">
      <dgm:prSet presAssocID="{C42A45A3-E475-479B-8AB3-E9A7E7BA1F5A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924CDF6D-1C2A-4FE5-A6D4-250F79164F5C}" type="pres">
      <dgm:prSet presAssocID="{EF7A643E-FBDA-4EC8-97D1-4AFC5E27BA60}" presName="sibTrans" presStyleCnt="0"/>
      <dgm:spPr/>
    </dgm:pt>
    <dgm:pt modelId="{0B5DA6EF-94A2-49EE-A0E1-70D988BEAC67}" type="pres">
      <dgm:prSet presAssocID="{2C66588C-58E1-4F80-90FA-1FA698677953}" presName="composite" presStyleCnt="0"/>
      <dgm:spPr/>
    </dgm:pt>
    <dgm:pt modelId="{11552911-ADCA-4191-8F78-53A975AEE628}" type="pres">
      <dgm:prSet presAssocID="{2C66588C-58E1-4F80-90FA-1FA698677953}" presName="bentUpArrow1" presStyleLbl="alignImgPlace1" presStyleIdx="1" presStyleCnt="4" custLinFactNeighborX="-37220"/>
      <dgm:spPr/>
    </dgm:pt>
    <dgm:pt modelId="{4F6A2777-B8F9-4FFE-BFE9-ED6F773F668B}" type="pres">
      <dgm:prSet presAssocID="{2C66588C-58E1-4F80-90FA-1FA698677953}" presName="ParentText" presStyleLbl="node1" presStyleIdx="1" presStyleCnt="5" custScaleX="309156">
        <dgm:presLayoutVars>
          <dgm:chMax val="1"/>
          <dgm:chPref val="1"/>
          <dgm:bulletEnabled val="1"/>
        </dgm:presLayoutVars>
      </dgm:prSet>
      <dgm:spPr/>
    </dgm:pt>
    <dgm:pt modelId="{B4F82746-E8BA-4376-B733-365D45FC1445}" type="pres">
      <dgm:prSet presAssocID="{2C66588C-58E1-4F80-90FA-1FA698677953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C996B86C-9837-48AD-8D28-4F778445C008}" type="pres">
      <dgm:prSet presAssocID="{94CD6EF8-8808-4C67-AF69-B7FC09EA5B0F}" presName="sibTrans" presStyleCnt="0"/>
      <dgm:spPr/>
    </dgm:pt>
    <dgm:pt modelId="{904C8B75-FF2F-4B21-83BE-1C9D809622B9}" type="pres">
      <dgm:prSet presAssocID="{7C238177-68EB-4FEC-B8E7-30A68E7FD60D}" presName="composite" presStyleCnt="0"/>
      <dgm:spPr/>
    </dgm:pt>
    <dgm:pt modelId="{C9C08E41-C14F-4C66-986C-5E543976CF38}" type="pres">
      <dgm:prSet presAssocID="{7C238177-68EB-4FEC-B8E7-30A68E7FD60D}" presName="bentUpArrow1" presStyleLbl="alignImgPlace1" presStyleIdx="2" presStyleCnt="4" custLinFactNeighborX="-1861"/>
      <dgm:spPr/>
    </dgm:pt>
    <dgm:pt modelId="{AFBBDA90-F6D4-4BCE-893B-014EECA98A94}" type="pres">
      <dgm:prSet presAssocID="{7C238177-68EB-4FEC-B8E7-30A68E7FD60D}" presName="ParentText" presStyleLbl="node1" presStyleIdx="2" presStyleCnt="5" custScaleX="253416">
        <dgm:presLayoutVars>
          <dgm:chMax val="1"/>
          <dgm:chPref val="1"/>
          <dgm:bulletEnabled val="1"/>
        </dgm:presLayoutVars>
      </dgm:prSet>
      <dgm:spPr/>
    </dgm:pt>
    <dgm:pt modelId="{41F030E5-D69E-4804-BB32-5CF1429F9DAD}" type="pres">
      <dgm:prSet presAssocID="{7C238177-68EB-4FEC-B8E7-30A68E7FD60D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A4276CD0-340C-4A2B-9CF3-C5AE809BA0A0}" type="pres">
      <dgm:prSet presAssocID="{8AF8BC33-FE3F-43DD-AA57-4866DD42CCF2}" presName="sibTrans" presStyleCnt="0"/>
      <dgm:spPr/>
    </dgm:pt>
    <dgm:pt modelId="{38AD6346-A188-47D1-AC75-8B8400677BDB}" type="pres">
      <dgm:prSet presAssocID="{AA2C9F6C-D89B-46AD-BE64-0EB68F9A8B01}" presName="composite" presStyleCnt="0"/>
      <dgm:spPr/>
    </dgm:pt>
    <dgm:pt modelId="{D65C6D1C-1CD0-4D94-B9B5-10D6EACA2BA0}" type="pres">
      <dgm:prSet presAssocID="{AA2C9F6C-D89B-46AD-BE64-0EB68F9A8B01}" presName="bentUpArrow1" presStyleLbl="alignImgPlace1" presStyleIdx="3" presStyleCnt="4" custLinFactNeighborX="37220"/>
      <dgm:spPr/>
    </dgm:pt>
    <dgm:pt modelId="{89819F33-D99F-472E-B908-46514824D7E9}" type="pres">
      <dgm:prSet presAssocID="{AA2C9F6C-D89B-46AD-BE64-0EB68F9A8B01}" presName="ParentText" presStyleLbl="node1" presStyleIdx="3" presStyleCnt="5" custScaleX="206311">
        <dgm:presLayoutVars>
          <dgm:chMax val="1"/>
          <dgm:chPref val="1"/>
          <dgm:bulletEnabled val="1"/>
        </dgm:presLayoutVars>
      </dgm:prSet>
      <dgm:spPr/>
    </dgm:pt>
    <dgm:pt modelId="{87D96DA8-8D5E-430B-B594-32D2B879CB98}" type="pres">
      <dgm:prSet presAssocID="{AA2C9F6C-D89B-46AD-BE64-0EB68F9A8B01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D59B51B0-6D63-484D-A901-1D6C4D8A5817}" type="pres">
      <dgm:prSet presAssocID="{FB332563-C147-47FA-98FA-7988AAF60387}" presName="sibTrans" presStyleCnt="0"/>
      <dgm:spPr/>
    </dgm:pt>
    <dgm:pt modelId="{BF68FC57-09A3-4F37-AC89-541AB2A25762}" type="pres">
      <dgm:prSet presAssocID="{37E6AADD-2C0B-48DB-B0FD-501BE94AED85}" presName="composite" presStyleCnt="0"/>
      <dgm:spPr/>
    </dgm:pt>
    <dgm:pt modelId="{CA396ADF-96BD-4849-A489-6897F0B6047C}" type="pres">
      <dgm:prSet presAssocID="{37E6AADD-2C0B-48DB-B0FD-501BE94AED85}" presName="ParentText" presStyleLbl="node1" presStyleIdx="4" presStyleCnt="5" custScaleX="224658">
        <dgm:presLayoutVars>
          <dgm:chMax val="1"/>
          <dgm:chPref val="1"/>
          <dgm:bulletEnabled val="1"/>
        </dgm:presLayoutVars>
      </dgm:prSet>
      <dgm:spPr/>
    </dgm:pt>
  </dgm:ptLst>
  <dgm:cxnLst>
    <dgm:cxn modelId="{EC89A909-F484-4E53-AE2D-0D9C76282433}" type="presOf" srcId="{C42A45A3-E475-479B-8AB3-E9A7E7BA1F5A}" destId="{71094AA1-FE58-4D55-8D00-00D3F647259C}" srcOrd="0" destOrd="0" presId="urn:microsoft.com/office/officeart/2005/8/layout/StepDownProcess"/>
    <dgm:cxn modelId="{3931B00A-1E3C-4ADA-8A78-66819204878F}" type="presOf" srcId="{FDE1B4FC-4274-48A9-89AE-45E0DD511BA3}" destId="{2563CE12-4CF9-457A-956D-90B0E30E6C05}" srcOrd="0" destOrd="0" presId="urn:microsoft.com/office/officeart/2005/8/layout/StepDownProcess"/>
    <dgm:cxn modelId="{7558C913-4793-445B-99BA-2180D5E00993}" srcId="{FDE1B4FC-4274-48A9-89AE-45E0DD511BA3}" destId="{37E6AADD-2C0B-48DB-B0FD-501BE94AED85}" srcOrd="4" destOrd="0" parTransId="{9D0314D3-C7C2-4AF7-B8D3-75EEC00B6AB7}" sibTransId="{32F43D80-FD83-4990-AB32-82DBC28B2644}"/>
    <dgm:cxn modelId="{F7777239-6881-40BD-8F23-8885E4A0AADB}" srcId="{FDE1B4FC-4274-48A9-89AE-45E0DD511BA3}" destId="{AA2C9F6C-D89B-46AD-BE64-0EB68F9A8B01}" srcOrd="3" destOrd="0" parTransId="{49628E2A-5A4A-42AB-BCA0-7BD2BDBACE2B}" sibTransId="{FB332563-C147-47FA-98FA-7988AAF60387}"/>
    <dgm:cxn modelId="{BF4E203F-B577-4151-BCBD-8D432758616B}" srcId="{FDE1B4FC-4274-48A9-89AE-45E0DD511BA3}" destId="{2C66588C-58E1-4F80-90FA-1FA698677953}" srcOrd="1" destOrd="0" parTransId="{0DFC48D9-7106-482E-97C6-4C12D5624F64}" sibTransId="{94CD6EF8-8808-4C67-AF69-B7FC09EA5B0F}"/>
    <dgm:cxn modelId="{32664A61-9889-4F41-BA3E-A3194A8A773D}" type="presOf" srcId="{7C238177-68EB-4FEC-B8E7-30A68E7FD60D}" destId="{AFBBDA90-F6D4-4BCE-893B-014EECA98A94}" srcOrd="0" destOrd="0" presId="urn:microsoft.com/office/officeart/2005/8/layout/StepDownProcess"/>
    <dgm:cxn modelId="{A578BE48-2BDA-4BDF-AFD6-B80B0C0BFE17}" type="presOf" srcId="{AA2C9F6C-D89B-46AD-BE64-0EB68F9A8B01}" destId="{89819F33-D99F-472E-B908-46514824D7E9}" srcOrd="0" destOrd="0" presId="urn:microsoft.com/office/officeart/2005/8/layout/StepDownProcess"/>
    <dgm:cxn modelId="{ED92C76B-A002-4673-923E-56CF690BC532}" srcId="{FDE1B4FC-4274-48A9-89AE-45E0DD511BA3}" destId="{7C238177-68EB-4FEC-B8E7-30A68E7FD60D}" srcOrd="2" destOrd="0" parTransId="{94C82E0E-06A7-4B45-8CAD-B75A3E95E414}" sibTransId="{8AF8BC33-FE3F-43DD-AA57-4866DD42CCF2}"/>
    <dgm:cxn modelId="{2D52AC53-E8DB-484C-B606-4F9C450A4E5B}" type="presOf" srcId="{37E6AADD-2C0B-48DB-B0FD-501BE94AED85}" destId="{CA396ADF-96BD-4849-A489-6897F0B6047C}" srcOrd="0" destOrd="0" presId="urn:microsoft.com/office/officeart/2005/8/layout/StepDownProcess"/>
    <dgm:cxn modelId="{161C37B5-5C14-4A07-A548-88C2E6D1C32D}" srcId="{FDE1B4FC-4274-48A9-89AE-45E0DD511BA3}" destId="{C42A45A3-E475-479B-8AB3-E9A7E7BA1F5A}" srcOrd="0" destOrd="0" parTransId="{DF76FAC8-68C3-4800-8289-09C229B93B61}" sibTransId="{EF7A643E-FBDA-4EC8-97D1-4AFC5E27BA60}"/>
    <dgm:cxn modelId="{525CC8E4-3EE5-425A-AE40-02BAE9266F4A}" type="presOf" srcId="{2C66588C-58E1-4F80-90FA-1FA698677953}" destId="{4F6A2777-B8F9-4FFE-BFE9-ED6F773F668B}" srcOrd="0" destOrd="0" presId="urn:microsoft.com/office/officeart/2005/8/layout/StepDownProcess"/>
    <dgm:cxn modelId="{F21D78CF-B138-4BC9-BC6C-097750305D98}" type="presParOf" srcId="{2563CE12-4CF9-457A-956D-90B0E30E6C05}" destId="{EBF53A9A-0C1D-4C28-9C70-1589EA96FC46}" srcOrd="0" destOrd="0" presId="urn:microsoft.com/office/officeart/2005/8/layout/StepDownProcess"/>
    <dgm:cxn modelId="{6F328A25-AA3B-43E6-97CA-930C666E6EB2}" type="presParOf" srcId="{EBF53A9A-0C1D-4C28-9C70-1589EA96FC46}" destId="{C96002BB-7962-4ADC-AD03-9B65EBB0C236}" srcOrd="0" destOrd="0" presId="urn:microsoft.com/office/officeart/2005/8/layout/StepDownProcess"/>
    <dgm:cxn modelId="{CB459EF2-37C8-4ABF-A671-38F78D57A8D5}" type="presParOf" srcId="{EBF53A9A-0C1D-4C28-9C70-1589EA96FC46}" destId="{71094AA1-FE58-4D55-8D00-00D3F647259C}" srcOrd="1" destOrd="0" presId="urn:microsoft.com/office/officeart/2005/8/layout/StepDownProcess"/>
    <dgm:cxn modelId="{FA4C8E6E-42B3-4FF4-8EC2-1B309E1EDFB9}" type="presParOf" srcId="{EBF53A9A-0C1D-4C28-9C70-1589EA96FC46}" destId="{E94EEEEE-3714-465B-BF2B-8BA6D1368961}" srcOrd="2" destOrd="0" presId="urn:microsoft.com/office/officeart/2005/8/layout/StepDownProcess"/>
    <dgm:cxn modelId="{E1BB9592-DEB3-4018-99CC-235408975F86}" type="presParOf" srcId="{2563CE12-4CF9-457A-956D-90B0E30E6C05}" destId="{924CDF6D-1C2A-4FE5-A6D4-250F79164F5C}" srcOrd="1" destOrd="0" presId="urn:microsoft.com/office/officeart/2005/8/layout/StepDownProcess"/>
    <dgm:cxn modelId="{1041146D-C9D5-4B35-8BDA-CC833955A20B}" type="presParOf" srcId="{2563CE12-4CF9-457A-956D-90B0E30E6C05}" destId="{0B5DA6EF-94A2-49EE-A0E1-70D988BEAC67}" srcOrd="2" destOrd="0" presId="urn:microsoft.com/office/officeart/2005/8/layout/StepDownProcess"/>
    <dgm:cxn modelId="{9EA99FEB-E0CA-4497-88D4-87DB1441AC70}" type="presParOf" srcId="{0B5DA6EF-94A2-49EE-A0E1-70D988BEAC67}" destId="{11552911-ADCA-4191-8F78-53A975AEE628}" srcOrd="0" destOrd="0" presId="urn:microsoft.com/office/officeart/2005/8/layout/StepDownProcess"/>
    <dgm:cxn modelId="{35C092AB-DC19-404C-B3F1-916F24C88AAD}" type="presParOf" srcId="{0B5DA6EF-94A2-49EE-A0E1-70D988BEAC67}" destId="{4F6A2777-B8F9-4FFE-BFE9-ED6F773F668B}" srcOrd="1" destOrd="0" presId="urn:microsoft.com/office/officeart/2005/8/layout/StepDownProcess"/>
    <dgm:cxn modelId="{BA4006B1-D1E3-4B13-8473-38D62ACF65F0}" type="presParOf" srcId="{0B5DA6EF-94A2-49EE-A0E1-70D988BEAC67}" destId="{B4F82746-E8BA-4376-B733-365D45FC1445}" srcOrd="2" destOrd="0" presId="urn:microsoft.com/office/officeart/2005/8/layout/StepDownProcess"/>
    <dgm:cxn modelId="{2C4826FC-6985-415F-8158-E7B1ED313EBA}" type="presParOf" srcId="{2563CE12-4CF9-457A-956D-90B0E30E6C05}" destId="{C996B86C-9837-48AD-8D28-4F778445C008}" srcOrd="3" destOrd="0" presId="urn:microsoft.com/office/officeart/2005/8/layout/StepDownProcess"/>
    <dgm:cxn modelId="{9BF1F269-DE74-4366-ACCA-FFF88B69EB25}" type="presParOf" srcId="{2563CE12-4CF9-457A-956D-90B0E30E6C05}" destId="{904C8B75-FF2F-4B21-83BE-1C9D809622B9}" srcOrd="4" destOrd="0" presId="urn:microsoft.com/office/officeart/2005/8/layout/StepDownProcess"/>
    <dgm:cxn modelId="{4F619563-20CF-42E2-A721-2D919516882A}" type="presParOf" srcId="{904C8B75-FF2F-4B21-83BE-1C9D809622B9}" destId="{C9C08E41-C14F-4C66-986C-5E543976CF38}" srcOrd="0" destOrd="0" presId="urn:microsoft.com/office/officeart/2005/8/layout/StepDownProcess"/>
    <dgm:cxn modelId="{08025BF4-88CD-4032-985A-E787375EE7E1}" type="presParOf" srcId="{904C8B75-FF2F-4B21-83BE-1C9D809622B9}" destId="{AFBBDA90-F6D4-4BCE-893B-014EECA98A94}" srcOrd="1" destOrd="0" presId="urn:microsoft.com/office/officeart/2005/8/layout/StepDownProcess"/>
    <dgm:cxn modelId="{FCE4BF61-FBCD-4AC9-BB0C-2DFD4DF78C93}" type="presParOf" srcId="{904C8B75-FF2F-4B21-83BE-1C9D809622B9}" destId="{41F030E5-D69E-4804-BB32-5CF1429F9DAD}" srcOrd="2" destOrd="0" presId="urn:microsoft.com/office/officeart/2005/8/layout/StepDownProcess"/>
    <dgm:cxn modelId="{31CE5E7A-B69A-4114-9338-460E0CC368C0}" type="presParOf" srcId="{2563CE12-4CF9-457A-956D-90B0E30E6C05}" destId="{A4276CD0-340C-4A2B-9CF3-C5AE809BA0A0}" srcOrd="5" destOrd="0" presId="urn:microsoft.com/office/officeart/2005/8/layout/StepDownProcess"/>
    <dgm:cxn modelId="{FFEF1660-6105-4F1B-A800-73F83A13881D}" type="presParOf" srcId="{2563CE12-4CF9-457A-956D-90B0E30E6C05}" destId="{38AD6346-A188-47D1-AC75-8B8400677BDB}" srcOrd="6" destOrd="0" presId="urn:microsoft.com/office/officeart/2005/8/layout/StepDownProcess"/>
    <dgm:cxn modelId="{5AC13075-172E-41B5-BFCD-7E46BD711619}" type="presParOf" srcId="{38AD6346-A188-47D1-AC75-8B8400677BDB}" destId="{D65C6D1C-1CD0-4D94-B9B5-10D6EACA2BA0}" srcOrd="0" destOrd="0" presId="urn:microsoft.com/office/officeart/2005/8/layout/StepDownProcess"/>
    <dgm:cxn modelId="{47AA73A1-1AAC-4713-98F6-A70BE51CEED7}" type="presParOf" srcId="{38AD6346-A188-47D1-AC75-8B8400677BDB}" destId="{89819F33-D99F-472E-B908-46514824D7E9}" srcOrd="1" destOrd="0" presId="urn:microsoft.com/office/officeart/2005/8/layout/StepDownProcess"/>
    <dgm:cxn modelId="{13AB7977-E6CF-4C0C-BE06-0CEC0880E953}" type="presParOf" srcId="{38AD6346-A188-47D1-AC75-8B8400677BDB}" destId="{87D96DA8-8D5E-430B-B594-32D2B879CB98}" srcOrd="2" destOrd="0" presId="urn:microsoft.com/office/officeart/2005/8/layout/StepDownProcess"/>
    <dgm:cxn modelId="{D88F5332-D440-4BC3-8760-777843E92BF3}" type="presParOf" srcId="{2563CE12-4CF9-457A-956D-90B0E30E6C05}" destId="{D59B51B0-6D63-484D-A901-1D6C4D8A5817}" srcOrd="7" destOrd="0" presId="urn:microsoft.com/office/officeart/2005/8/layout/StepDownProcess"/>
    <dgm:cxn modelId="{9190FC4C-CAD3-4009-A249-5E005690DDA4}" type="presParOf" srcId="{2563CE12-4CF9-457A-956D-90B0E30E6C05}" destId="{BF68FC57-09A3-4F37-AC89-541AB2A25762}" srcOrd="8" destOrd="0" presId="urn:microsoft.com/office/officeart/2005/8/layout/StepDownProcess"/>
    <dgm:cxn modelId="{4AEDCDB1-34C8-4FB1-B4A2-E56122778A08}" type="presParOf" srcId="{BF68FC57-09A3-4F37-AC89-541AB2A25762}" destId="{CA396ADF-96BD-4849-A489-6897F0B6047C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002BB-7962-4ADC-AD03-9B65EBB0C236}">
      <dsp:nvSpPr>
        <dsp:cNvPr id="0" name=""/>
        <dsp:cNvSpPr/>
      </dsp:nvSpPr>
      <dsp:spPr>
        <a:xfrm rot="5400000">
          <a:off x="1508999" y="762875"/>
          <a:ext cx="663918" cy="7558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94AA1-FE58-4D55-8D00-00D3F647259C}">
      <dsp:nvSpPr>
        <dsp:cNvPr id="0" name=""/>
        <dsp:cNvSpPr/>
      </dsp:nvSpPr>
      <dsp:spPr>
        <a:xfrm>
          <a:off x="449488" y="26907"/>
          <a:ext cx="3700903" cy="782317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0" kern="1200" dirty="0"/>
            <a:t>Kullanıcı düzeyinde G/Ç yazılımı</a:t>
          </a:r>
          <a:endParaRPr lang="tr-TR" sz="1900" kern="1200" dirty="0"/>
        </a:p>
      </dsp:txBody>
      <dsp:txXfrm>
        <a:off x="487684" y="65103"/>
        <a:ext cx="3624511" cy="705925"/>
      </dsp:txXfrm>
    </dsp:sp>
    <dsp:sp modelId="{E94EEEEE-3714-465B-BF2B-8BA6D1368961}">
      <dsp:nvSpPr>
        <dsp:cNvPr id="0" name=""/>
        <dsp:cNvSpPr/>
      </dsp:nvSpPr>
      <dsp:spPr>
        <a:xfrm>
          <a:off x="2858764" y="101519"/>
          <a:ext cx="812871" cy="632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552911-ADCA-4191-8F78-53A975AEE628}">
      <dsp:nvSpPr>
        <dsp:cNvPr id="0" name=""/>
        <dsp:cNvSpPr/>
      </dsp:nvSpPr>
      <dsp:spPr>
        <a:xfrm rot="5400000">
          <a:off x="3289308" y="1641676"/>
          <a:ext cx="663918" cy="7558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6A2777-B8F9-4FFE-BFE9-ED6F773F668B}">
      <dsp:nvSpPr>
        <dsp:cNvPr id="0" name=""/>
        <dsp:cNvSpPr/>
      </dsp:nvSpPr>
      <dsp:spPr>
        <a:xfrm>
          <a:off x="2225922" y="905708"/>
          <a:ext cx="3455278" cy="782317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0" kern="1200" dirty="0"/>
            <a:t>Aygıttan bağımsız işletim sistemi</a:t>
          </a:r>
          <a:endParaRPr lang="tr-TR" sz="1900" kern="1200" dirty="0"/>
        </a:p>
      </dsp:txBody>
      <dsp:txXfrm>
        <a:off x="2264118" y="943904"/>
        <a:ext cx="3378886" cy="705925"/>
      </dsp:txXfrm>
    </dsp:sp>
    <dsp:sp modelId="{B4F82746-E8BA-4376-B733-365D45FC1445}">
      <dsp:nvSpPr>
        <dsp:cNvPr id="0" name=""/>
        <dsp:cNvSpPr/>
      </dsp:nvSpPr>
      <dsp:spPr>
        <a:xfrm>
          <a:off x="4512385" y="980320"/>
          <a:ext cx="812871" cy="632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C08E41-C14F-4C66-986C-5E543976CF38}">
      <dsp:nvSpPr>
        <dsp:cNvPr id="0" name=""/>
        <dsp:cNvSpPr/>
      </dsp:nvSpPr>
      <dsp:spPr>
        <a:xfrm rot="5400000">
          <a:off x="5021514" y="2520477"/>
          <a:ext cx="663918" cy="7558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BDA90-F6D4-4BCE-893B-014EECA98A94}">
      <dsp:nvSpPr>
        <dsp:cNvPr id="0" name=""/>
        <dsp:cNvSpPr/>
      </dsp:nvSpPr>
      <dsp:spPr>
        <a:xfrm>
          <a:off x="4002356" y="1784510"/>
          <a:ext cx="2832300" cy="782317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0" kern="1200" dirty="0"/>
            <a:t>Aygıt sürücüleri</a:t>
          </a:r>
          <a:endParaRPr lang="tr-TR" sz="1900" kern="1200" dirty="0"/>
        </a:p>
      </dsp:txBody>
      <dsp:txXfrm>
        <a:off x="4040552" y="1822706"/>
        <a:ext cx="2755908" cy="705925"/>
      </dsp:txXfrm>
    </dsp:sp>
    <dsp:sp modelId="{41F030E5-D69E-4804-BB32-5CF1429F9DAD}">
      <dsp:nvSpPr>
        <dsp:cNvPr id="0" name=""/>
        <dsp:cNvSpPr/>
      </dsp:nvSpPr>
      <dsp:spPr>
        <a:xfrm>
          <a:off x="5977331" y="1859121"/>
          <a:ext cx="812871" cy="632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5C6D1C-1CD0-4D94-B9B5-10D6EACA2BA0}">
      <dsp:nvSpPr>
        <dsp:cNvPr id="0" name=""/>
        <dsp:cNvSpPr/>
      </dsp:nvSpPr>
      <dsp:spPr>
        <a:xfrm rot="5400000">
          <a:off x="6830106" y="3399278"/>
          <a:ext cx="663918" cy="75584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819F33-D99F-472E-B908-46514824D7E9}">
      <dsp:nvSpPr>
        <dsp:cNvPr id="0" name=""/>
        <dsp:cNvSpPr/>
      </dsp:nvSpPr>
      <dsp:spPr>
        <a:xfrm>
          <a:off x="5778790" y="2663311"/>
          <a:ext cx="2305832" cy="782317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0" kern="1200" dirty="0"/>
            <a:t>Kesme işleyicileri</a:t>
          </a:r>
        </a:p>
      </dsp:txBody>
      <dsp:txXfrm>
        <a:off x="5816986" y="2701507"/>
        <a:ext cx="2229440" cy="705925"/>
      </dsp:txXfrm>
    </dsp:sp>
    <dsp:sp modelId="{87D96DA8-8D5E-430B-B594-32D2B879CB98}">
      <dsp:nvSpPr>
        <dsp:cNvPr id="0" name=""/>
        <dsp:cNvSpPr/>
      </dsp:nvSpPr>
      <dsp:spPr>
        <a:xfrm>
          <a:off x="7490530" y="2737923"/>
          <a:ext cx="812871" cy="632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396ADF-96BD-4849-A489-6897F0B6047C}">
      <dsp:nvSpPr>
        <dsp:cNvPr id="0" name=""/>
        <dsp:cNvSpPr/>
      </dsp:nvSpPr>
      <dsp:spPr>
        <a:xfrm>
          <a:off x="7555224" y="3542112"/>
          <a:ext cx="2510887" cy="782317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b="0" kern="1200" dirty="0"/>
            <a:t>Donanım</a:t>
          </a:r>
          <a:endParaRPr lang="tr-TR" sz="1900" kern="1200" dirty="0"/>
        </a:p>
      </dsp:txBody>
      <dsp:txXfrm>
        <a:off x="7593420" y="3580308"/>
        <a:ext cx="2434495" cy="7059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11.05.2026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490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Sercan KÜLCÜ,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Tanenbaum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, Modern Operating Systems 3e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kitabından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faydalanılmıştır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Tüm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hakları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saklıdır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85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390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852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40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205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03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185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359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8872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854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0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/>
              <a:t>Bölüm 11: </a:t>
            </a:r>
            <a:r>
              <a:rPr lang="tr-TR" b="1" dirty="0"/>
              <a:t>Giriş Çıkış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/>
              <a:t>İşletim Sistemleri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Genel Bakış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İşletim sistemi, </a:t>
            </a:r>
            <a:r>
              <a:rPr lang="tr-TR" i="1" dirty="0"/>
              <a:t>G/Ç aygıtlarını </a:t>
            </a:r>
            <a:r>
              <a:rPr lang="tr-TR" dirty="0"/>
              <a:t>kontrol eder.</a:t>
            </a:r>
          </a:p>
          <a:p>
            <a:pPr lvl="1"/>
            <a:r>
              <a:rPr lang="tr-TR" dirty="0"/>
              <a:t>Komut verir.</a:t>
            </a:r>
          </a:p>
          <a:p>
            <a:pPr lvl="1"/>
            <a:r>
              <a:rPr lang="tr-TR" dirty="0"/>
              <a:t>Kesmeleri yönetir.</a:t>
            </a:r>
          </a:p>
          <a:p>
            <a:pPr lvl="1"/>
            <a:r>
              <a:rPr lang="tr-TR" dirty="0"/>
              <a:t>Durumlarını okur.</a:t>
            </a:r>
          </a:p>
          <a:p>
            <a:pPr lvl="1"/>
            <a:r>
              <a:rPr lang="tr-TR" dirty="0"/>
              <a:t>Hataları ele alır.</a:t>
            </a:r>
          </a:p>
          <a:p>
            <a:r>
              <a:rPr lang="tr-TR" dirty="0"/>
              <a:t>Aygıtların kullanımı için </a:t>
            </a:r>
            <a:r>
              <a:rPr lang="tr-TR" i="1" dirty="0"/>
              <a:t>arayüz</a:t>
            </a:r>
            <a:r>
              <a:rPr lang="tr-TR" dirty="0"/>
              <a:t> sağlar.</a:t>
            </a:r>
          </a:p>
          <a:p>
            <a:pPr lvl="1"/>
            <a:r>
              <a:rPr lang="tr-TR" dirty="0"/>
              <a:t>Aygıttan bağımsız.</a:t>
            </a:r>
          </a:p>
          <a:p>
            <a:pPr lvl="1"/>
            <a:r>
              <a:rPr lang="tr-TR" dirty="0"/>
              <a:t>Katman </a:t>
            </a:r>
            <a:r>
              <a:rPr lang="tr-TR" dirty="0" err="1"/>
              <a:t>katman</a:t>
            </a:r>
            <a:r>
              <a:rPr lang="tr-TR" dirty="0"/>
              <a:t> yapılandırılır.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88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075" y="3159175"/>
            <a:ext cx="4276725" cy="2981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8232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Yolu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Verilerin iletildiği fiziksel bağlantı.</a:t>
            </a:r>
          </a:p>
          <a:p>
            <a:r>
              <a:rPr lang="tr-TR" dirty="0"/>
              <a:t>Veri yolları</a:t>
            </a:r>
          </a:p>
          <a:p>
            <a:pPr lvl="1"/>
            <a:r>
              <a:rPr lang="tr-TR" b="1" dirty="0"/>
              <a:t>Dahili</a:t>
            </a:r>
            <a:r>
              <a:rPr lang="tr-TR" dirty="0"/>
              <a:t>: </a:t>
            </a:r>
            <a:r>
              <a:rPr lang="tr-TR" i="1" dirty="0"/>
              <a:t>sistem veri yolları, bellek veri yolları, G/Ç veri yolları </a:t>
            </a:r>
            <a:r>
              <a:rPr lang="tr-TR" dirty="0"/>
              <a:t>gibi. </a:t>
            </a:r>
          </a:p>
          <a:p>
            <a:pPr lvl="1"/>
            <a:r>
              <a:rPr lang="tr-TR" b="1" dirty="0"/>
              <a:t>Harici</a:t>
            </a:r>
            <a:r>
              <a:rPr lang="tr-TR" dirty="0"/>
              <a:t>: </a:t>
            </a:r>
            <a:r>
              <a:rPr lang="tr-TR" i="1" dirty="0"/>
              <a:t>Ethernet, USB, </a:t>
            </a:r>
            <a:r>
              <a:rPr lang="tr-TR" i="1" dirty="0" err="1"/>
              <a:t>FireWire</a:t>
            </a:r>
            <a:r>
              <a:rPr lang="tr-TR" dirty="0"/>
              <a:t> gibi.</a:t>
            </a:r>
          </a:p>
          <a:p>
            <a:r>
              <a:rPr lang="tr-TR" dirty="0"/>
              <a:t>CPU, bellek ve G/Ç aygıtları arasında veri iletmeye yarar.</a:t>
            </a:r>
          </a:p>
          <a:p>
            <a:r>
              <a:rPr lang="tr-TR" dirty="0"/>
              <a:t>Veri aktarımı hızı önemli.</a:t>
            </a:r>
          </a:p>
          <a:p>
            <a:r>
              <a:rPr lang="tr-TR" dirty="0"/>
              <a:t>Aynı anda birden fazla veri akışını yönetebilme.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285" y="3817497"/>
            <a:ext cx="3466011" cy="25388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0675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Hızı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Birim zamanda iletilen veri miktarı, </a:t>
            </a:r>
          </a:p>
          <a:p>
            <a:pPr lvl="1"/>
            <a:r>
              <a:rPr lang="tr-TR" dirty="0"/>
              <a:t>Saniye başına bit (</a:t>
            </a:r>
            <a:r>
              <a:rPr lang="tr-TR" i="1" dirty="0" err="1"/>
              <a:t>bps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Saniye başına bayt (</a:t>
            </a:r>
            <a:r>
              <a:rPr lang="tr-TR" i="1" dirty="0" err="1"/>
              <a:t>Bps</a:t>
            </a:r>
            <a:r>
              <a:rPr lang="tr-TR" dirty="0"/>
              <a:t>).</a:t>
            </a:r>
          </a:p>
          <a:p>
            <a:r>
              <a:rPr lang="tr-TR" dirty="0"/>
              <a:t>Veri yolunun </a:t>
            </a:r>
            <a:r>
              <a:rPr lang="tr-TR" i="1" dirty="0"/>
              <a:t>bant genişliği</a:t>
            </a:r>
            <a:r>
              <a:rPr lang="tr-TR" dirty="0"/>
              <a:t>, </a:t>
            </a:r>
            <a:r>
              <a:rPr lang="tr-TR" i="1" dirty="0"/>
              <a:t>sinyal kalitesi</a:t>
            </a:r>
            <a:r>
              <a:rPr lang="tr-TR" dirty="0"/>
              <a:t>, </a:t>
            </a:r>
          </a:p>
          <a:p>
            <a:pPr marL="0" indent="0">
              <a:buNone/>
            </a:pPr>
            <a:r>
              <a:rPr lang="tr-TR" i="1" dirty="0"/>
              <a:t>sinyal girişimi </a:t>
            </a:r>
            <a:r>
              <a:rPr lang="tr-TR" dirty="0"/>
              <a:t>veri hızını etkiler.</a:t>
            </a:r>
          </a:p>
          <a:p>
            <a:r>
              <a:rPr lang="tr-TR" dirty="0"/>
              <a:t>Yüksek veri hızları, </a:t>
            </a:r>
          </a:p>
          <a:p>
            <a:pPr lvl="1"/>
            <a:r>
              <a:rPr lang="tr-TR" dirty="0"/>
              <a:t>Gerçek zamanlı video ve ses iletimi gibi, </a:t>
            </a:r>
          </a:p>
          <a:p>
            <a:pPr lvl="1"/>
            <a:r>
              <a:rPr lang="tr-TR" dirty="0"/>
              <a:t>Zamana duyarlı uygulamalar için kritik.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2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017" y="1690688"/>
            <a:ext cx="3868783" cy="41663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9897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Veri Hızları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Hard disk</a:t>
            </a:r>
            <a:r>
              <a:rPr lang="tr-TR" dirty="0"/>
              <a:t>: 200 </a:t>
            </a:r>
            <a:r>
              <a:rPr lang="tr-TR" i="1" dirty="0"/>
              <a:t>MB/s </a:t>
            </a:r>
            <a:r>
              <a:rPr lang="tr-TR" dirty="0"/>
              <a:t>okuma, 150 </a:t>
            </a:r>
            <a:r>
              <a:rPr lang="tr-TR" i="1" dirty="0"/>
              <a:t>MB/s  </a:t>
            </a:r>
            <a:r>
              <a:rPr lang="tr-TR" dirty="0"/>
              <a:t>yazma</a:t>
            </a:r>
          </a:p>
          <a:p>
            <a:r>
              <a:rPr lang="tr-TR" b="1" dirty="0"/>
              <a:t>Solid </a:t>
            </a:r>
            <a:r>
              <a:rPr lang="tr-TR" b="1" dirty="0" err="1"/>
              <a:t>state</a:t>
            </a:r>
            <a:r>
              <a:rPr lang="tr-TR" dirty="0"/>
              <a:t>: 1.5 </a:t>
            </a:r>
            <a:r>
              <a:rPr lang="tr-TR" i="1" dirty="0"/>
              <a:t>GB/s </a:t>
            </a:r>
            <a:r>
              <a:rPr lang="tr-TR" dirty="0"/>
              <a:t>okuma, 800 </a:t>
            </a:r>
            <a:r>
              <a:rPr lang="tr-TR" i="1" dirty="0"/>
              <a:t>MB/s </a:t>
            </a:r>
            <a:r>
              <a:rPr lang="tr-TR" dirty="0"/>
              <a:t>yazma</a:t>
            </a:r>
          </a:p>
          <a:p>
            <a:r>
              <a:rPr lang="tr-TR" b="1" dirty="0"/>
              <a:t>USB</a:t>
            </a:r>
            <a:r>
              <a:rPr lang="tr-TR" dirty="0"/>
              <a:t> </a:t>
            </a:r>
            <a:r>
              <a:rPr lang="tr-TR" b="1" dirty="0"/>
              <a:t>2.0</a:t>
            </a:r>
            <a:r>
              <a:rPr lang="tr-TR" dirty="0"/>
              <a:t>: 480 </a:t>
            </a:r>
            <a:r>
              <a:rPr lang="tr-TR" i="1" dirty="0" err="1"/>
              <a:t>Mbps</a:t>
            </a:r>
            <a:r>
              <a:rPr lang="tr-TR" dirty="0"/>
              <a:t>,   </a:t>
            </a:r>
            <a:r>
              <a:rPr lang="tr-TR" b="1" dirty="0"/>
              <a:t>USB 3.0</a:t>
            </a:r>
            <a:r>
              <a:rPr lang="tr-TR" dirty="0"/>
              <a:t>: 5 </a:t>
            </a:r>
            <a:r>
              <a:rPr lang="tr-TR" i="1" dirty="0" err="1"/>
              <a:t>Gbps</a:t>
            </a:r>
            <a:endParaRPr lang="tr-TR" i="1" dirty="0"/>
          </a:p>
          <a:p>
            <a:r>
              <a:rPr lang="tr-TR" b="1" dirty="0"/>
              <a:t>Ethernet</a:t>
            </a:r>
            <a:r>
              <a:rPr lang="tr-TR" dirty="0"/>
              <a:t>: 10/100/1000 </a:t>
            </a:r>
            <a:r>
              <a:rPr lang="tr-TR" i="1" dirty="0" err="1"/>
              <a:t>Mbps</a:t>
            </a:r>
            <a:endParaRPr lang="tr-TR" i="1" dirty="0"/>
          </a:p>
          <a:p>
            <a:r>
              <a:rPr lang="tr-TR" b="1" dirty="0"/>
              <a:t>SATA III</a:t>
            </a:r>
            <a:r>
              <a:rPr lang="tr-TR" dirty="0"/>
              <a:t>: 6 </a:t>
            </a:r>
            <a:r>
              <a:rPr lang="tr-TR" i="1" dirty="0" err="1"/>
              <a:t>Gbps</a:t>
            </a:r>
            <a:endParaRPr lang="tr-TR" i="1" dirty="0"/>
          </a:p>
          <a:p>
            <a:r>
              <a:rPr lang="tr-TR" b="1" dirty="0"/>
              <a:t>Keyboard</a:t>
            </a:r>
            <a:r>
              <a:rPr lang="tr-TR" dirty="0"/>
              <a:t>: 2000 </a:t>
            </a:r>
            <a:r>
              <a:rPr lang="tr-TR" i="1" dirty="0"/>
              <a:t>karakter</a:t>
            </a:r>
            <a:r>
              <a:rPr lang="tr-TR" dirty="0"/>
              <a:t>,  </a:t>
            </a:r>
            <a:r>
              <a:rPr lang="tr-TR" b="1" dirty="0"/>
              <a:t>Mouse</a:t>
            </a:r>
            <a:r>
              <a:rPr lang="tr-TR" dirty="0"/>
              <a:t>: 1000 </a:t>
            </a:r>
            <a:r>
              <a:rPr lang="tr-TR" i="1" dirty="0" err="1"/>
              <a:t>reports</a:t>
            </a:r>
            <a:endParaRPr lang="tr-TR" i="1" dirty="0"/>
          </a:p>
          <a:p>
            <a:r>
              <a:rPr lang="tr-TR" b="1" dirty="0"/>
              <a:t>Modem</a:t>
            </a:r>
            <a:r>
              <a:rPr lang="tr-TR" dirty="0"/>
              <a:t>: 56 </a:t>
            </a:r>
            <a:r>
              <a:rPr lang="tr-TR" i="1" dirty="0" err="1"/>
              <a:t>Kbps</a:t>
            </a:r>
            <a:r>
              <a:rPr lang="tr-TR" i="1" dirty="0"/>
              <a:t> </a:t>
            </a:r>
            <a:r>
              <a:rPr lang="tr-TR" dirty="0"/>
              <a:t>/ 1 </a:t>
            </a:r>
            <a:r>
              <a:rPr lang="tr-TR" i="1" dirty="0" err="1"/>
              <a:t>Mbps</a:t>
            </a:r>
            <a:endParaRPr lang="tr-TR" i="1" dirty="0"/>
          </a:p>
          <a:p>
            <a:r>
              <a:rPr lang="tr-TR" b="1" dirty="0" err="1"/>
              <a:t>Camcorder</a:t>
            </a:r>
            <a:r>
              <a:rPr lang="tr-TR" dirty="0"/>
              <a:t>: 50 </a:t>
            </a:r>
            <a:r>
              <a:rPr lang="tr-TR" i="1" dirty="0" err="1"/>
              <a:t>Mbps</a:t>
            </a:r>
            <a:endParaRPr lang="tr-TR" i="1" dirty="0"/>
          </a:p>
          <a:p>
            <a:r>
              <a:rPr lang="tr-TR" b="1" dirty="0" err="1"/>
              <a:t>Firewire</a:t>
            </a:r>
            <a:r>
              <a:rPr lang="tr-TR" dirty="0"/>
              <a:t>: 50/100 </a:t>
            </a:r>
            <a:r>
              <a:rPr lang="tr-TR" i="1" dirty="0"/>
              <a:t>MB/s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154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Genel Bakış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İki tip G/Ç aygıtı,</a:t>
            </a:r>
          </a:p>
          <a:p>
            <a:pPr lvl="1"/>
            <a:r>
              <a:rPr lang="tr-TR" dirty="0"/>
              <a:t>Blok tabanlı: blok </a:t>
            </a:r>
            <a:r>
              <a:rPr lang="tr-TR" dirty="0" err="1"/>
              <a:t>blok</a:t>
            </a:r>
            <a:r>
              <a:rPr lang="tr-TR" dirty="0"/>
              <a:t> okuma yapar.</a:t>
            </a:r>
          </a:p>
          <a:p>
            <a:pPr lvl="2"/>
            <a:r>
              <a:rPr lang="tr-TR" dirty="0"/>
              <a:t>Sabit disk, </a:t>
            </a:r>
            <a:r>
              <a:rPr lang="tr-TR" i="1" dirty="0"/>
              <a:t>CD-ROM</a:t>
            </a:r>
            <a:r>
              <a:rPr lang="tr-TR" dirty="0"/>
              <a:t>, </a:t>
            </a:r>
            <a:r>
              <a:rPr lang="tr-TR" i="1" dirty="0"/>
              <a:t>USB </a:t>
            </a:r>
            <a:r>
              <a:rPr lang="tr-TR" dirty="0"/>
              <a:t>bellek.</a:t>
            </a:r>
          </a:p>
          <a:p>
            <a:pPr lvl="2"/>
            <a:r>
              <a:rPr lang="tr-TR" dirty="0"/>
              <a:t>512 </a:t>
            </a:r>
            <a:r>
              <a:rPr lang="tr-TR" i="1" dirty="0"/>
              <a:t>bayt</a:t>
            </a:r>
            <a:r>
              <a:rPr lang="tr-TR" dirty="0"/>
              <a:t> - 32 </a:t>
            </a:r>
            <a:r>
              <a:rPr lang="tr-TR" i="1" dirty="0"/>
              <a:t>KB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Karakter tabanlı: karakter </a:t>
            </a:r>
            <a:r>
              <a:rPr lang="tr-TR" dirty="0" err="1"/>
              <a:t>karakter</a:t>
            </a:r>
            <a:r>
              <a:rPr lang="tr-TR" dirty="0"/>
              <a:t> okuma yapar.</a:t>
            </a:r>
          </a:p>
          <a:p>
            <a:pPr lvl="2"/>
            <a:r>
              <a:rPr lang="tr-TR" dirty="0"/>
              <a:t>Yazıcı, klavye, fare, ağ arabirimleri.</a:t>
            </a:r>
          </a:p>
          <a:p>
            <a:r>
              <a:rPr lang="tr-TR" dirty="0"/>
              <a:t>İşletim sistemi, aygıtın marka, model, özelliklerinden bağımsız bir arayüz sağlar.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105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Geometrisi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A: iz (</a:t>
            </a:r>
            <a:r>
              <a:rPr lang="tr-TR" i="1" dirty="0" err="1"/>
              <a:t>track</a:t>
            </a:r>
            <a:r>
              <a:rPr lang="tr-TR" dirty="0"/>
              <a:t>), B: sektör, C: geometrik sektör, D: küme (</a:t>
            </a:r>
            <a:r>
              <a:rPr lang="tr-TR" i="1" dirty="0" err="1"/>
              <a:t>cluster</a:t>
            </a:r>
            <a:r>
              <a:rPr lang="tr-TR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892" y="2497160"/>
            <a:ext cx="5178216" cy="37917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5230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Mekanizması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1" descr="10_01.pdf">
            <a:extLst>
              <a:ext uri="{FF2B5EF4-FFF2-40B4-BE49-F238E27FC236}">
                <a16:creationId xmlns:a16="http://schemas.microsoft.com/office/drawing/2014/main" id="{DEEE75F2-D712-48C4-9214-B66B52B22D4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4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106" y="1825625"/>
            <a:ext cx="5157787" cy="4200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6478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Aygıt Denetleyicileri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G/Ç birimi 2 bileşene sahiptir.</a:t>
            </a:r>
          </a:p>
          <a:p>
            <a:pPr lvl="1"/>
            <a:r>
              <a:rPr lang="tr-TR" dirty="0"/>
              <a:t>Mekanik, </a:t>
            </a:r>
          </a:p>
          <a:p>
            <a:pPr lvl="1"/>
            <a:r>
              <a:rPr lang="tr-TR" dirty="0"/>
              <a:t>Elektronik (</a:t>
            </a:r>
            <a:r>
              <a:rPr lang="tr-TR" i="1" dirty="0"/>
              <a:t>kontrol birimi</a:t>
            </a:r>
            <a:r>
              <a:rPr lang="tr-TR" dirty="0"/>
              <a:t>).</a:t>
            </a:r>
          </a:p>
          <a:p>
            <a:r>
              <a:rPr lang="tr-TR" dirty="0"/>
              <a:t>Denetleyici, </a:t>
            </a:r>
          </a:p>
          <a:p>
            <a:pPr lvl="1"/>
            <a:r>
              <a:rPr lang="tr-TR" dirty="0"/>
              <a:t>Bağlayıcı (</a:t>
            </a:r>
            <a:r>
              <a:rPr lang="tr-TR" i="1" dirty="0" err="1"/>
              <a:t>connector</a:t>
            </a:r>
            <a:r>
              <a:rPr lang="tr-TR" dirty="0"/>
              <a:t>) ve </a:t>
            </a:r>
          </a:p>
          <a:p>
            <a:pPr lvl="1"/>
            <a:r>
              <a:rPr lang="tr-TR" dirty="0"/>
              <a:t>Yongadan (</a:t>
            </a:r>
            <a:r>
              <a:rPr lang="tr-TR" i="1" dirty="0"/>
              <a:t>çip</a:t>
            </a:r>
            <a:r>
              <a:rPr lang="tr-TR" dirty="0"/>
              <a:t>) oluşur.</a:t>
            </a:r>
          </a:p>
          <a:p>
            <a:r>
              <a:rPr lang="tr-TR" dirty="0"/>
              <a:t>İz (</a:t>
            </a:r>
            <a:r>
              <a:rPr lang="tr-TR" i="1" dirty="0" err="1"/>
              <a:t>track</a:t>
            </a:r>
            <a:r>
              <a:rPr lang="tr-TR" dirty="0"/>
              <a:t>), 512 </a:t>
            </a:r>
            <a:r>
              <a:rPr lang="tr-TR" i="1" dirty="0"/>
              <a:t>baytlık </a:t>
            </a:r>
            <a:r>
              <a:rPr lang="tr-TR" dirty="0"/>
              <a:t>sektörlerden oluşur.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513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Aygıt Denetleyicileri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Seri bit akışı, </a:t>
            </a:r>
          </a:p>
          <a:p>
            <a:pPr lvl="1"/>
            <a:r>
              <a:rPr lang="tr-TR" dirty="0" err="1"/>
              <a:t>Eşzamanlama</a:t>
            </a:r>
            <a:r>
              <a:rPr lang="tr-TR" dirty="0"/>
              <a:t> öncülü (</a:t>
            </a:r>
            <a:r>
              <a:rPr lang="tr-TR" i="1" dirty="0" err="1"/>
              <a:t>preamble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4096 bit/sektör, </a:t>
            </a:r>
          </a:p>
          <a:p>
            <a:pPr lvl="1"/>
            <a:r>
              <a:rPr lang="tr-TR" dirty="0"/>
              <a:t>Hata düzeltme kodu (</a:t>
            </a:r>
            <a:r>
              <a:rPr lang="tr-TR" i="1" dirty="0" err="1"/>
              <a:t>error</a:t>
            </a:r>
            <a:r>
              <a:rPr lang="tr-TR" i="1" dirty="0"/>
              <a:t> </a:t>
            </a:r>
            <a:r>
              <a:rPr lang="tr-TR" i="1" dirty="0" err="1"/>
              <a:t>correcting</a:t>
            </a:r>
            <a:r>
              <a:rPr lang="tr-TR" i="1" dirty="0"/>
              <a:t> </a:t>
            </a:r>
            <a:r>
              <a:rPr lang="tr-TR" i="1" dirty="0" err="1"/>
              <a:t>code</a:t>
            </a:r>
            <a:r>
              <a:rPr lang="tr-TR" dirty="0"/>
              <a:t>) içerir.</a:t>
            </a:r>
          </a:p>
          <a:p>
            <a:r>
              <a:rPr lang="tr-TR" b="1" dirty="0"/>
              <a:t>Öncül</a:t>
            </a:r>
            <a:r>
              <a:rPr lang="tr-TR" dirty="0"/>
              <a:t>: sektör numarası, silindir numarası, ve sektör boyutu.</a:t>
            </a:r>
          </a:p>
          <a:p>
            <a:r>
              <a:rPr lang="tr-TR" dirty="0"/>
              <a:t>Denetleyici, </a:t>
            </a:r>
          </a:p>
          <a:p>
            <a:pPr lvl="1"/>
            <a:r>
              <a:rPr lang="tr-TR" dirty="0"/>
              <a:t>Bit akışından bir blok oluşturur, </a:t>
            </a:r>
          </a:p>
          <a:p>
            <a:pPr lvl="1"/>
            <a:r>
              <a:rPr lang="tr-TR" dirty="0"/>
              <a:t>Hata düzeltme yapar, </a:t>
            </a:r>
          </a:p>
          <a:p>
            <a:pPr lvl="1"/>
            <a:r>
              <a:rPr lang="tr-TR" dirty="0"/>
              <a:t>Denetleyici içinde bulunan ara belleğe (</a:t>
            </a:r>
            <a:r>
              <a:rPr lang="tr-TR" i="1" dirty="0" err="1"/>
              <a:t>buffer</a:t>
            </a:r>
            <a:r>
              <a:rPr lang="tr-TR" dirty="0"/>
              <a:t>) koyar.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127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Eşlemeli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Denetleyici, işletim sisteminin okuyup yazabildiği yazmaçlara sahiptir.</a:t>
            </a:r>
          </a:p>
          <a:p>
            <a:r>
              <a:rPr lang="tr-TR" b="1" dirty="0" err="1"/>
              <a:t>write</a:t>
            </a:r>
            <a:r>
              <a:rPr lang="tr-TR" dirty="0"/>
              <a:t>: Aygıta komut gönderilir.</a:t>
            </a:r>
          </a:p>
          <a:p>
            <a:r>
              <a:rPr lang="tr-TR" b="1" dirty="0" err="1"/>
              <a:t>read</a:t>
            </a:r>
            <a:r>
              <a:rPr lang="tr-TR" dirty="0"/>
              <a:t>: Aygıtın durumu okunur.</a:t>
            </a:r>
          </a:p>
          <a:p>
            <a:r>
              <a:rPr lang="tr-TR" dirty="0"/>
              <a:t>Aygıtlar, işletim sisteminin okuyup yazabildiği arabelleğe sahip.</a:t>
            </a:r>
          </a:p>
          <a:p>
            <a:r>
              <a:rPr lang="tr-TR" dirty="0"/>
              <a:t>Örneğin, ekranda pikselleri görüntülemek için kullanılan video </a:t>
            </a:r>
            <a:r>
              <a:rPr lang="tr-TR" i="1" dirty="0"/>
              <a:t>RAM</a:t>
            </a:r>
            <a:r>
              <a:rPr lang="tr-TR" dirty="0"/>
              <a:t>.</a:t>
            </a:r>
          </a:p>
          <a:p>
            <a:r>
              <a:rPr lang="tr-TR" dirty="0"/>
              <a:t>CPU, yazmaçlar ve arabellek ile nasıl iletişim kurar?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565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Eşlemeli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G/Ç kapıları ve bellek ayrı. (b) Bellek eşlemeli. (c) </a:t>
            </a:r>
            <a:r>
              <a:rPr lang="tr-TR" dirty="0" err="1"/>
              <a:t>Hibrit</a:t>
            </a:r>
            <a:r>
              <a:rPr lang="tr-TR" dirty="0"/>
              <a:t> yaklaşım.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2825612"/>
            <a:ext cx="8640000" cy="29693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1454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Aygıt G/Ç Kapıları (Port)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7D041AE-5DB8-4D40-9330-4BADDBEE7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000" y="2020975"/>
            <a:ext cx="7200000" cy="41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5761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CPU Yazmaç ve Arabelleği Nasıl Adresler?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İlk tasarım,</a:t>
            </a:r>
          </a:p>
          <a:p>
            <a:pPr lvl="1"/>
            <a:r>
              <a:rPr lang="tr-TR" dirty="0"/>
              <a:t>Read komutu, kontrol satırına konulur.</a:t>
            </a:r>
          </a:p>
          <a:p>
            <a:pPr lvl="1"/>
            <a:r>
              <a:rPr lang="tr-TR" dirty="0"/>
              <a:t>Adres, adres satırına konulur.</a:t>
            </a:r>
          </a:p>
          <a:p>
            <a:pPr lvl="1"/>
            <a:r>
              <a:rPr lang="tr-TR" dirty="0"/>
              <a:t>G/Ç veya bellek alanındaki veri, sinyal hattına konulur.</a:t>
            </a:r>
          </a:p>
          <a:p>
            <a:pPr lvl="1"/>
            <a:r>
              <a:rPr lang="tr-TR" dirty="0"/>
              <a:t>Sinyal hattından okunur.</a:t>
            </a:r>
          </a:p>
          <a:p>
            <a:r>
              <a:rPr lang="tr-TR" dirty="0"/>
              <a:t>Bellek eşlemeli yaklaşım,</a:t>
            </a:r>
          </a:p>
          <a:p>
            <a:pPr lvl="1"/>
            <a:r>
              <a:rPr lang="tr-TR" dirty="0"/>
              <a:t>Adres, adres satırına konulur.</a:t>
            </a:r>
          </a:p>
          <a:p>
            <a:pPr lvl="1"/>
            <a:r>
              <a:rPr lang="tr-TR" dirty="0"/>
              <a:t>Bellek ve G/Ç aygıtları, </a:t>
            </a:r>
          </a:p>
          <a:p>
            <a:pPr lvl="2"/>
            <a:r>
              <a:rPr lang="tr-TR" dirty="0"/>
              <a:t>Adresi hizmet verdikleri aralıkta karşılaştırırlar.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517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Eşlemeli G/Ç Avantajları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Kontrol yazmaçlarını okumak/yazmak için özel komutlara gerek yok.</a:t>
            </a:r>
          </a:p>
          <a:p>
            <a:r>
              <a:rPr lang="tr-TR" dirty="0"/>
              <a:t>Doğrudan G/Ç yapılmasını engellemek için özel korumaya gerek yok.</a:t>
            </a:r>
          </a:p>
          <a:p>
            <a:r>
              <a:rPr lang="tr-TR" dirty="0"/>
              <a:t>Bir komut, kontrol yazmaçlarına ve belleğe erişebilir.</a:t>
            </a:r>
          </a:p>
          <a:p>
            <a:r>
              <a:rPr lang="tr-TR" dirty="0"/>
              <a:t>C dilinde bir aygıt sürücüsü yazılabilir. </a:t>
            </a:r>
            <a:r>
              <a:rPr lang="tr-TR" dirty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r>
              <a:rPr lang="tr-TR" dirty="0"/>
              <a:t>G/Ç belleği, kullanıcı alanına konulmaz.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60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Eşlemeli G/Ç Dezavantajları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Bellek sözcükleri önbelleğe alınır, </a:t>
            </a:r>
          </a:p>
          <a:p>
            <a:pPr lvl="1"/>
            <a:r>
              <a:rPr lang="tr-TR" dirty="0"/>
              <a:t>Önbellekte güncel değerler olmayabilir. </a:t>
            </a:r>
            <a:r>
              <a:rPr lang="tr-TR" i="1" dirty="0"/>
              <a:t>veri tutarsızlığı</a:t>
            </a:r>
            <a:r>
              <a:rPr lang="tr-TR" dirty="0"/>
              <a:t>!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r>
              <a:rPr lang="tr-TR" dirty="0"/>
              <a:t>Gerekli olduğunda önbelleğe almayı devre dışı bırakabilmelidir.</a:t>
            </a:r>
          </a:p>
          <a:p>
            <a:r>
              <a:rPr lang="tr-TR" dirty="0"/>
              <a:t>G/Ç aygıtları ve bellek, bellek erişim isteklerine yanıt vermelidir.</a:t>
            </a:r>
          </a:p>
          <a:p>
            <a:r>
              <a:rPr lang="tr-TR" dirty="0"/>
              <a:t>Tek veri yolu ile çalışır.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pPr lvl="1"/>
            <a:r>
              <a:rPr lang="tr-TR" dirty="0"/>
              <a:t>Çünkü, hem bellek hem de G/Ç, veri yolu üzerindeki adrese bakar. </a:t>
            </a:r>
          </a:p>
          <a:p>
            <a:pPr lvl="1"/>
            <a:r>
              <a:rPr lang="tr-TR" dirty="0"/>
              <a:t>Çoklu veri yolu ile çalışması zor.</a:t>
            </a:r>
          </a:p>
          <a:p>
            <a:pPr lvl="2"/>
            <a:r>
              <a:rPr lang="tr-TR" dirty="0"/>
              <a:t>Çünkü, G/Ç aygıtları adresi göremez.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43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Eşlemeli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Tekli veri yolu mimarisi. (b) Çift veri yolu mimarisi.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7" y="2446362"/>
            <a:ext cx="8429625" cy="3438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3358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Doğrudan Bellek Erişimi (DMA)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CPU, G/Ç denetleyicisinden her seferinde bir </a:t>
            </a:r>
            <a:r>
              <a:rPr lang="tr-TR" i="1" dirty="0"/>
              <a:t>baytlık</a:t>
            </a:r>
            <a:r>
              <a:rPr lang="tr-TR" dirty="0"/>
              <a:t> veri talep edebilir.</a:t>
            </a:r>
          </a:p>
          <a:p>
            <a:pPr lvl="1"/>
            <a:r>
              <a:rPr lang="tr-TR" dirty="0"/>
              <a:t>Büyük zaman kaybına neden olur.</a:t>
            </a:r>
          </a:p>
          <a:p>
            <a:r>
              <a:rPr lang="tr-TR" i="1" dirty="0"/>
              <a:t>DMA</a:t>
            </a:r>
            <a:r>
              <a:rPr lang="tr-TR" dirty="0"/>
              <a:t> denetleyicisi anakart (</a:t>
            </a:r>
            <a:r>
              <a:rPr lang="tr-TR" i="1" dirty="0" err="1"/>
              <a:t>mainboard</a:t>
            </a:r>
            <a:r>
              <a:rPr lang="tr-TR" dirty="0"/>
              <a:t>) üzerinde bulunur.</a:t>
            </a:r>
          </a:p>
          <a:p>
            <a:r>
              <a:rPr lang="tr-TR" dirty="0"/>
              <a:t>CPU, denetleyicideki yazmaçlardan okuyabilir, yazmaçlara yazabilir.</a:t>
            </a:r>
          </a:p>
          <a:p>
            <a:pPr lvl="1"/>
            <a:r>
              <a:rPr lang="tr-TR" dirty="0"/>
              <a:t>Bellek adres yazmacı.</a:t>
            </a:r>
          </a:p>
          <a:p>
            <a:pPr lvl="1"/>
            <a:r>
              <a:rPr lang="tr-TR" dirty="0"/>
              <a:t>Bayt sayısı yazmacı.</a:t>
            </a:r>
          </a:p>
          <a:p>
            <a:pPr lvl="1"/>
            <a:r>
              <a:rPr lang="tr-TR" dirty="0"/>
              <a:t>Kontrol yazmaçları.</a:t>
            </a:r>
          </a:p>
          <a:p>
            <a:pPr lvl="2"/>
            <a:r>
              <a:rPr lang="tr-TR" dirty="0"/>
              <a:t>G/Ç bağlantı noktası (</a:t>
            </a:r>
            <a:r>
              <a:rPr lang="tr-TR" i="1" dirty="0"/>
              <a:t>port</a:t>
            </a:r>
            <a:r>
              <a:rPr lang="tr-TR" dirty="0"/>
              <a:t>), </a:t>
            </a:r>
          </a:p>
          <a:p>
            <a:pPr lvl="2"/>
            <a:r>
              <a:rPr lang="tr-TR" dirty="0"/>
              <a:t>Aktarım yönü (</a:t>
            </a:r>
            <a:r>
              <a:rPr lang="tr-TR" i="1" dirty="0" err="1"/>
              <a:t>direction</a:t>
            </a:r>
            <a:r>
              <a:rPr lang="tr-TR" dirty="0"/>
              <a:t>), </a:t>
            </a:r>
          </a:p>
          <a:p>
            <a:pPr lvl="2"/>
            <a:r>
              <a:rPr lang="tr-TR" dirty="0"/>
              <a:t>Aktarım birimi (</a:t>
            </a:r>
            <a:r>
              <a:rPr lang="tr-TR" i="1" dirty="0"/>
              <a:t>bayt/</a:t>
            </a:r>
            <a:r>
              <a:rPr lang="tr-TR" i="1" dirty="0" err="1"/>
              <a:t>word</a:t>
            </a:r>
            <a:r>
              <a:rPr lang="tr-TR" i="1" dirty="0"/>
              <a:t> (sözcük)</a:t>
            </a:r>
            <a:r>
              <a:rPr lang="tr-TR" dirty="0"/>
              <a:t>), </a:t>
            </a:r>
          </a:p>
          <a:p>
            <a:pPr lvl="2"/>
            <a:r>
              <a:rPr lang="tr-TR" dirty="0"/>
              <a:t>Tek seferde aktarılacak bayt sayısı (</a:t>
            </a:r>
            <a:r>
              <a:rPr lang="tr-TR" i="1" dirty="0" err="1"/>
              <a:t>burst</a:t>
            </a:r>
            <a:r>
              <a:rPr lang="tr-TR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49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DMA Ne Zaman Kullanılmaz?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Denetleyici, </a:t>
            </a:r>
          </a:p>
          <a:p>
            <a:pPr lvl="1"/>
            <a:r>
              <a:rPr lang="tr-TR" dirty="0"/>
              <a:t>Belleğe bir blok okur.</a:t>
            </a:r>
          </a:p>
          <a:p>
            <a:pPr lvl="1"/>
            <a:r>
              <a:rPr lang="tr-TR" dirty="0"/>
              <a:t>Hata kontrolü (</a:t>
            </a:r>
            <a:r>
              <a:rPr lang="tr-TR" i="1" dirty="0" err="1"/>
              <a:t>checksum</a:t>
            </a:r>
            <a:r>
              <a:rPr lang="tr-TR" dirty="0"/>
              <a:t>) yapar.</a:t>
            </a:r>
          </a:p>
          <a:p>
            <a:pPr lvl="1"/>
            <a:r>
              <a:rPr lang="tr-TR" dirty="0"/>
              <a:t>Kesme üreterek işletim sistemini uyarır.</a:t>
            </a:r>
          </a:p>
          <a:p>
            <a:pPr lvl="1"/>
            <a:r>
              <a:rPr lang="tr-TR" dirty="0"/>
              <a:t>Belleğe her seferinde bir </a:t>
            </a:r>
            <a:r>
              <a:rPr lang="tr-TR" i="1" dirty="0"/>
              <a:t>bayt </a:t>
            </a:r>
            <a:r>
              <a:rPr lang="tr-TR" dirty="0"/>
              <a:t>gönderir.</a:t>
            </a:r>
          </a:p>
          <a:p>
            <a:pPr lvl="1"/>
            <a:r>
              <a:rPr lang="tr-TR" dirty="0"/>
              <a:t>Sık sık kesme üretir. </a:t>
            </a:r>
            <a:r>
              <a:rPr lang="tr-TR" dirty="0">
                <a:sym typeface="Wingdings" panose="05000000000000000000" pitchFamily="2" charset="2"/>
              </a:rPr>
              <a:t>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870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Doğrudan Bellek Erişimi (DMA)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DMA veri transferi aşamaları.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2346350"/>
            <a:ext cx="8286750" cy="3638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9594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Sorular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Neden veriler denetleyicilerin arabelleğine alınır?</a:t>
            </a:r>
          </a:p>
          <a:p>
            <a:pPr lvl="1"/>
            <a:r>
              <a:rPr lang="tr-TR" dirty="0"/>
              <a:t>Hata kontrolü (</a:t>
            </a:r>
            <a:r>
              <a:rPr lang="tr-TR" i="1" dirty="0" err="1"/>
              <a:t>Checksum</a:t>
            </a:r>
            <a:r>
              <a:rPr lang="tr-TR" dirty="0"/>
              <a:t>) yapılabilir.</a:t>
            </a:r>
          </a:p>
          <a:p>
            <a:pPr lvl="1"/>
            <a:r>
              <a:rPr lang="tr-TR" dirty="0"/>
              <a:t>Veri yolu meşgul olabilir, </a:t>
            </a:r>
          </a:p>
          <a:p>
            <a:pPr lvl="2"/>
            <a:r>
              <a:rPr lang="tr-TR" dirty="0"/>
              <a:t>Verilerin bir yerde saklanması gerekir.</a:t>
            </a:r>
          </a:p>
          <a:p>
            <a:r>
              <a:rPr lang="tr-TR" dirty="0"/>
              <a:t>DMA gerçekten buna değer mi? </a:t>
            </a:r>
          </a:p>
          <a:p>
            <a:pPr lvl="1"/>
            <a:r>
              <a:rPr lang="tr-TR" dirty="0"/>
              <a:t>CPU, DMA denetleyicisinden çok daha hızlıdır.</a:t>
            </a:r>
          </a:p>
          <a:p>
            <a:pPr lvl="1"/>
            <a:r>
              <a:rPr lang="tr-TR" dirty="0"/>
              <a:t>Aktarılacak çok fazla veri yoksa değmez.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937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Kesmeler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Aygıt işini bitirince kesme oluşturur, </a:t>
            </a:r>
          </a:p>
          <a:p>
            <a:r>
              <a:rPr lang="tr-TR" dirty="0"/>
              <a:t>Kesme denetleyicisi ile veri yolundaki kesme hatlarından haberleşir.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25" y="2997200"/>
            <a:ext cx="8032750" cy="3224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7205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Kesme İşleme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Denetleyici, adres satırına bir </a:t>
            </a:r>
            <a:r>
              <a:rPr lang="tr-TR" i="1" dirty="0"/>
              <a:t>sayı</a:t>
            </a:r>
            <a:r>
              <a:rPr lang="tr-TR" dirty="0"/>
              <a:t> koyarak kesme üreten aygıtı söyler.</a:t>
            </a:r>
          </a:p>
          <a:p>
            <a:r>
              <a:rPr lang="tr-TR" dirty="0"/>
              <a:t>Kesme vektörü, ilgili kesme servis prosedürünü işaret eder.</a:t>
            </a:r>
          </a:p>
          <a:p>
            <a:r>
              <a:rPr lang="tr-TR" dirty="0"/>
              <a:t>Adres satırındaki sayı, kesme vektörüne </a:t>
            </a:r>
            <a:r>
              <a:rPr lang="tr-TR" i="1" dirty="0"/>
              <a:t>indis (</a:t>
            </a:r>
            <a:r>
              <a:rPr lang="tr-TR" i="1" dirty="0" err="1"/>
              <a:t>index</a:t>
            </a:r>
            <a:r>
              <a:rPr lang="tr-TR" i="1" dirty="0"/>
              <a:t>)</a:t>
            </a:r>
            <a:r>
              <a:rPr lang="tr-TR" dirty="0"/>
              <a:t> görevi görür.</a:t>
            </a:r>
          </a:p>
          <a:p>
            <a:r>
              <a:rPr lang="tr-TR" dirty="0"/>
              <a:t>Kesme hizmeti yordamı (ISR) kesmeyi kontrol eder.</a:t>
            </a:r>
          </a:p>
          <a:p>
            <a:r>
              <a:rPr lang="tr-TR" dirty="0"/>
              <a:t>ISR (</a:t>
            </a:r>
            <a:r>
              <a:rPr lang="tr-TR" i="1" dirty="0" err="1"/>
              <a:t>Interrupt</a:t>
            </a:r>
            <a:r>
              <a:rPr lang="tr-TR" i="1" dirty="0"/>
              <a:t> service </a:t>
            </a:r>
            <a:r>
              <a:rPr lang="tr-TR" i="1" dirty="0" err="1"/>
              <a:t>routine</a:t>
            </a:r>
            <a:r>
              <a:rPr lang="tr-TR" dirty="0"/>
              <a:t>).</a:t>
            </a:r>
          </a:p>
          <a:p>
            <a:r>
              <a:rPr lang="tr-TR" dirty="0"/>
              <a:t>Yürütülmesi durdurulan süreç ile ilgili bilgileri kaydeder.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008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PC ve PSW Kaydedilebilir Mi?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Boru hattı düzenli (</a:t>
            </a:r>
            <a:r>
              <a:rPr lang="tr-TR" i="1" dirty="0" err="1"/>
              <a:t>pipelined</a:t>
            </a:r>
            <a:r>
              <a:rPr lang="tr-TR" dirty="0"/>
              <a:t>) veya </a:t>
            </a:r>
          </a:p>
          <a:p>
            <a:r>
              <a:rPr lang="tr-TR" dirty="0"/>
              <a:t>Üstün ölçekli (</a:t>
            </a:r>
            <a:r>
              <a:rPr lang="tr-TR" i="1" dirty="0" err="1"/>
              <a:t>superscalar</a:t>
            </a:r>
            <a:r>
              <a:rPr lang="tr-TR" dirty="0"/>
              <a:t>) işlemciler kullanılmıyorsa, </a:t>
            </a:r>
            <a:r>
              <a:rPr lang="tr-TR" b="1" dirty="0"/>
              <a:t>evet</a:t>
            </a:r>
            <a:r>
              <a:rPr lang="tr-TR" dirty="0"/>
              <a:t>. </a:t>
            </a:r>
          </a:p>
          <a:p>
            <a:r>
              <a:rPr lang="tr-TR" b="1" dirty="0" err="1"/>
              <a:t>Pipelined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Bir komut grubu kısmen tamamlanır.</a:t>
            </a:r>
          </a:p>
          <a:p>
            <a:pPr lvl="1"/>
            <a:r>
              <a:rPr lang="en-US" i="1" u="sng" dirty="0"/>
              <a:t>multiple interrupts can occur in the same clock</a:t>
            </a:r>
            <a:r>
              <a:rPr lang="tr-TR" i="1" u="sng" dirty="0"/>
              <a:t> </a:t>
            </a:r>
            <a:r>
              <a:rPr lang="en-US" i="1" u="sng" dirty="0"/>
              <a:t>cycle</a:t>
            </a:r>
            <a:r>
              <a:rPr lang="tr-TR" i="1" u="sng" dirty="0"/>
              <a:t>.</a:t>
            </a:r>
          </a:p>
          <a:p>
            <a:r>
              <a:rPr lang="tr-TR" b="1" dirty="0" err="1"/>
              <a:t>Superscalar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Komutlar ayrıştırılır ve sıra dışı yürütülebilir.</a:t>
            </a:r>
          </a:p>
          <a:p>
            <a:pPr lvl="1"/>
            <a:r>
              <a:rPr lang="tr-TR" u="sng" dirty="0" err="1"/>
              <a:t>multiple</a:t>
            </a:r>
            <a:r>
              <a:rPr lang="tr-TR" u="sng" dirty="0"/>
              <a:t> </a:t>
            </a:r>
            <a:r>
              <a:rPr lang="tr-TR" u="sng" dirty="0" err="1"/>
              <a:t>pipelines</a:t>
            </a:r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080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Kesin olan Kesmenin Özellikleri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err="1"/>
              <a:t>Precise</a:t>
            </a:r>
            <a:r>
              <a:rPr lang="tr-TR" i="1" dirty="0"/>
              <a:t> </a:t>
            </a:r>
            <a:r>
              <a:rPr lang="tr-TR" i="1" dirty="0" err="1"/>
              <a:t>interrupt</a:t>
            </a:r>
            <a:r>
              <a:rPr lang="tr-TR" i="1" dirty="0"/>
              <a:t>.</a:t>
            </a:r>
          </a:p>
          <a:p>
            <a:r>
              <a:rPr lang="tr-TR" dirty="0"/>
              <a:t>Program sayacı (</a:t>
            </a:r>
            <a:r>
              <a:rPr lang="tr-TR" i="1" dirty="0"/>
              <a:t>PC</a:t>
            </a:r>
            <a:r>
              <a:rPr lang="tr-TR" dirty="0"/>
              <a:t>) bilinen bir yere kaydedilir.</a:t>
            </a:r>
          </a:p>
          <a:p>
            <a:r>
              <a:rPr lang="tr-TR" i="1" dirty="0"/>
              <a:t>PC</a:t>
            </a:r>
            <a:r>
              <a:rPr lang="tr-TR" dirty="0"/>
              <a:t>'den önceki tüm komutlar tam olarak yerine getirilmiştir.</a:t>
            </a:r>
          </a:p>
          <a:p>
            <a:r>
              <a:rPr lang="tr-TR" i="1" dirty="0"/>
              <a:t>PC</a:t>
            </a:r>
            <a:r>
              <a:rPr lang="tr-TR" dirty="0"/>
              <a:t>'den sonraki hiçbir komut yürütülmemiştir.</a:t>
            </a:r>
          </a:p>
          <a:p>
            <a:r>
              <a:rPr lang="tr-TR" i="1" dirty="0"/>
              <a:t>PC</a:t>
            </a:r>
            <a:r>
              <a:rPr lang="tr-TR" dirty="0"/>
              <a:t>'nin gösterdiği komutun durumu bilinmektedir.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853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G/Ç Aygıt Kesmesi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G/Ç aygıtı, bir durum oluştuğunda kesme üretir.</a:t>
            </a:r>
          </a:p>
          <a:p>
            <a:r>
              <a:rPr lang="tr-TR" dirty="0"/>
              <a:t>CPU, kesmeye yanıt vermeden önce işlemekte olduğu komutu tamamlar. </a:t>
            </a:r>
          </a:p>
          <a:p>
            <a:r>
              <a:rPr lang="tr-TR" dirty="0"/>
              <a:t>Mevcut komutun düzgün bir şekilde tamamlandığından emin olur.</a:t>
            </a:r>
          </a:p>
          <a:p>
            <a:r>
              <a:rPr lang="tr-TR" dirty="0"/>
              <a:t>CPU, çalışan sürecin bağlamını (</a:t>
            </a:r>
            <a:r>
              <a:rPr lang="tr-TR" i="1" dirty="0" err="1"/>
              <a:t>context</a:t>
            </a:r>
            <a:r>
              <a:rPr lang="tr-TR" dirty="0"/>
              <a:t>) kaydeder. </a:t>
            </a:r>
          </a:p>
          <a:p>
            <a:r>
              <a:rPr lang="tr-TR" dirty="0"/>
              <a:t>CPU, ardından Kesme hizmet yordamını (</a:t>
            </a:r>
            <a:r>
              <a:rPr lang="tr-TR" i="1" dirty="0"/>
              <a:t>ISR</a:t>
            </a:r>
            <a:r>
              <a:rPr lang="tr-TR" dirty="0"/>
              <a:t>) çağırır.</a:t>
            </a:r>
          </a:p>
          <a:p>
            <a:r>
              <a:rPr lang="tr-TR" dirty="0"/>
              <a:t>Kesme hizmet yordamı tamamlandığında, kaydedilen bağlam geri yüklenir. </a:t>
            </a:r>
          </a:p>
          <a:p>
            <a:r>
              <a:rPr lang="tr-TR" dirty="0"/>
              <a:t>Yürütme, kesintiyi izleyen komuttan devam eder.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200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Sayfa Hatası / Aritmetik Taşma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 err="1"/>
              <a:t>Page</a:t>
            </a:r>
            <a:r>
              <a:rPr lang="tr-TR" i="1" dirty="0"/>
              <a:t> </a:t>
            </a:r>
            <a:r>
              <a:rPr lang="tr-TR" i="1" dirty="0" err="1"/>
              <a:t>fault</a:t>
            </a:r>
            <a:r>
              <a:rPr lang="tr-TR" i="1" dirty="0"/>
              <a:t> / </a:t>
            </a:r>
            <a:r>
              <a:rPr lang="tr-TR" i="1" dirty="0" err="1"/>
              <a:t>Arithmetic</a:t>
            </a:r>
            <a:r>
              <a:rPr lang="tr-TR" i="1" dirty="0"/>
              <a:t> </a:t>
            </a:r>
            <a:r>
              <a:rPr lang="tr-TR" i="1" dirty="0" err="1"/>
              <a:t>overflow</a:t>
            </a:r>
            <a:r>
              <a:rPr lang="tr-TR" dirty="0"/>
              <a:t>.</a:t>
            </a:r>
          </a:p>
          <a:p>
            <a:r>
              <a:rPr lang="tr-TR" dirty="0"/>
              <a:t>CPU, işlemekte olduğu komutu tamamlayamaz.</a:t>
            </a:r>
          </a:p>
          <a:p>
            <a:r>
              <a:rPr lang="tr-TR" dirty="0"/>
              <a:t>Komut iptal (</a:t>
            </a:r>
            <a:r>
              <a:rPr lang="tr-TR" i="1" dirty="0" err="1"/>
              <a:t>abort</a:t>
            </a:r>
            <a:r>
              <a:rPr lang="tr-TR" dirty="0"/>
              <a:t>) edilir.</a:t>
            </a:r>
          </a:p>
          <a:p>
            <a:r>
              <a:rPr lang="tr-TR" dirty="0"/>
              <a:t>CPU, çalışan sürecin bağlamını kaydeder. </a:t>
            </a:r>
          </a:p>
          <a:p>
            <a:r>
              <a:rPr lang="tr-TR" dirty="0"/>
              <a:t>CPU, ardından Kesme hizmet yordamını (</a:t>
            </a:r>
            <a:r>
              <a:rPr lang="tr-TR" i="1" dirty="0"/>
              <a:t>ISR</a:t>
            </a:r>
            <a:r>
              <a:rPr lang="tr-TR" dirty="0"/>
              <a:t>) çağırır.</a:t>
            </a:r>
          </a:p>
          <a:p>
            <a:r>
              <a:rPr lang="tr-TR" dirty="0"/>
              <a:t>Kesme hizmet yordamı tamamlandığında, kaydedilen bağlam geri yüklenir. </a:t>
            </a:r>
          </a:p>
          <a:p>
            <a:r>
              <a:rPr lang="tr-TR" dirty="0"/>
              <a:t>Yürütme, tamamlanamayan komuttan devam eder.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083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Kesin ve Kesin Olmayan Kesmeler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fi-FI" dirty="0"/>
              <a:t>(a) Kesin </a:t>
            </a:r>
            <a:r>
              <a:rPr lang="tr-TR" dirty="0"/>
              <a:t>(</a:t>
            </a:r>
            <a:r>
              <a:rPr lang="tr-TR" i="1" dirty="0" err="1"/>
              <a:t>precise</a:t>
            </a:r>
            <a:r>
              <a:rPr lang="tr-TR" dirty="0"/>
              <a:t>) kesme</a:t>
            </a:r>
            <a:r>
              <a:rPr lang="fi-FI" dirty="0"/>
              <a:t>. (b) Kesin olmayan </a:t>
            </a:r>
            <a:r>
              <a:rPr lang="tr-TR" dirty="0"/>
              <a:t>(</a:t>
            </a:r>
            <a:r>
              <a:rPr lang="tr-TR" i="1" dirty="0" err="1"/>
              <a:t>imprecise</a:t>
            </a:r>
            <a:r>
              <a:rPr lang="tr-TR" dirty="0"/>
              <a:t>)</a:t>
            </a:r>
            <a:r>
              <a:rPr lang="fi-FI" dirty="0"/>
              <a:t> </a:t>
            </a:r>
            <a:r>
              <a:rPr lang="tr-TR" dirty="0"/>
              <a:t>kesme.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100" y="2446113"/>
            <a:ext cx="8051800" cy="355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8121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Kesin Olmayan Kesmenin Özellikleri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Kesmeyi yeniden başlatabilmek için,</a:t>
            </a:r>
          </a:p>
          <a:p>
            <a:pPr lvl="1"/>
            <a:r>
              <a:rPr lang="tr-TR" dirty="0"/>
              <a:t>Karmaşık donanım ihtiyacı,</a:t>
            </a:r>
          </a:p>
          <a:p>
            <a:pPr lvl="2"/>
            <a:r>
              <a:rPr lang="tr-TR" dirty="0" err="1"/>
              <a:t>backtracking</a:t>
            </a:r>
            <a:r>
              <a:rPr lang="tr-TR" dirty="0"/>
              <a:t>, </a:t>
            </a:r>
            <a:r>
              <a:rPr lang="tr-TR" dirty="0" err="1"/>
              <a:t>shadow</a:t>
            </a:r>
            <a:r>
              <a:rPr lang="tr-TR" dirty="0"/>
              <a:t>, </a:t>
            </a:r>
            <a:r>
              <a:rPr lang="tr-TR" dirty="0" err="1"/>
              <a:t>rename</a:t>
            </a:r>
            <a:r>
              <a:rPr lang="tr-TR" dirty="0"/>
              <a:t> </a:t>
            </a:r>
            <a:r>
              <a:rPr lang="tr-TR" dirty="0" err="1"/>
              <a:t>registers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İşletim sisteminde karmaşık işlemler gerektirir.</a:t>
            </a:r>
          </a:p>
          <a:p>
            <a:pPr lvl="2"/>
            <a:r>
              <a:rPr lang="tr-TR" dirty="0"/>
              <a:t>Kesme oluşturan komuttan sonraki komutlar geri alınmalı (</a:t>
            </a:r>
            <a:r>
              <a:rPr lang="tr-TR" i="1" dirty="0" err="1"/>
              <a:t>undo</a:t>
            </a:r>
            <a:r>
              <a:rPr lang="tr-TR" dirty="0"/>
              <a:t>).</a:t>
            </a:r>
          </a:p>
          <a:p>
            <a:pPr lvl="2"/>
            <a:r>
              <a:rPr lang="tr-TR" dirty="0"/>
              <a:t>Hata veren komut tekrar başlatılmalı (</a:t>
            </a:r>
            <a:r>
              <a:rPr lang="tr-TR" i="1" dirty="0" err="1"/>
              <a:t>restart</a:t>
            </a:r>
            <a:r>
              <a:rPr lang="tr-TR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032118"/>
              </p:ext>
            </p:extLst>
          </p:nvPr>
        </p:nvGraphicFramePr>
        <p:xfrm>
          <a:off x="1157668" y="4455643"/>
          <a:ext cx="576000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5-Point Star 7"/>
          <p:cNvSpPr/>
          <p:nvPr/>
        </p:nvSpPr>
        <p:spPr>
          <a:xfrm>
            <a:off x="3426655" y="4749808"/>
            <a:ext cx="540000" cy="540000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8444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G/Ç Yazılımı Hedefler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Aygıt bağımsızlığı: </a:t>
            </a:r>
            <a:r>
              <a:rPr lang="tr-TR" dirty="0"/>
              <a:t>aygıta erişirken aygıtı belirtmek gerekmemeli.</a:t>
            </a:r>
          </a:p>
          <a:p>
            <a:r>
              <a:rPr lang="tr-TR" b="1" dirty="0"/>
              <a:t>Tek tip adlandırma: </a:t>
            </a:r>
            <a:r>
              <a:rPr lang="tr-TR" dirty="0"/>
              <a:t>aygıt adı, tipine bağlı olmamalı.</a:t>
            </a:r>
          </a:p>
          <a:p>
            <a:r>
              <a:rPr lang="tr-TR" b="1" dirty="0"/>
              <a:t>Hata ele alma: </a:t>
            </a:r>
            <a:r>
              <a:rPr lang="tr-TR" dirty="0"/>
              <a:t>aygıta olabildiğince yakın yerde olmalı.</a:t>
            </a:r>
          </a:p>
          <a:p>
            <a:r>
              <a:rPr lang="tr-TR" b="1" dirty="0"/>
              <a:t>Bloke olma</a:t>
            </a:r>
            <a:r>
              <a:rPr lang="tr-TR" dirty="0"/>
              <a:t>: İşletim sistemi G/Ç işlemlerini bloke edebilmeli.</a:t>
            </a:r>
          </a:p>
          <a:p>
            <a:pPr lvl="1"/>
            <a:r>
              <a:rPr lang="tr-TR" dirty="0"/>
              <a:t>(örneğin, okuma sırasında veri gelene kadar süreç bloke edilir.)</a:t>
            </a:r>
          </a:p>
          <a:p>
            <a:r>
              <a:rPr lang="tr-TR" b="1" dirty="0"/>
              <a:t>Ara bellek:</a:t>
            </a:r>
            <a:r>
              <a:rPr lang="tr-TR" dirty="0"/>
              <a:t> bir paket geldiğinde tampon belleğe konabilmeli.</a:t>
            </a:r>
          </a:p>
          <a:p>
            <a:r>
              <a:rPr lang="tr-TR" b="1" dirty="0"/>
              <a:t>Paylaşım</a:t>
            </a:r>
            <a:r>
              <a:rPr lang="tr-TR" dirty="0"/>
              <a:t>: Paylaşılabilen (</a:t>
            </a:r>
            <a:r>
              <a:rPr lang="tr-TR" i="1" dirty="0"/>
              <a:t>disk</a:t>
            </a:r>
            <a:r>
              <a:rPr lang="tr-TR" dirty="0"/>
              <a:t>), paylaşılamayan (</a:t>
            </a:r>
            <a:r>
              <a:rPr lang="tr-TR" i="1" dirty="0"/>
              <a:t>teyp</a:t>
            </a:r>
            <a:r>
              <a:rPr lang="tr-TR" dirty="0"/>
              <a:t>) aygıtlar ele alınmalı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394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Programlanmış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komut ile G/Ç aygıtına veri gönderilir.</a:t>
            </a:r>
          </a:p>
          <a:p>
            <a:r>
              <a:rPr lang="tr-TR" dirty="0"/>
              <a:t>Bir komut ile G/Ç aygıtından veri okunur.</a:t>
            </a:r>
          </a:p>
          <a:p>
            <a:r>
              <a:rPr lang="tr-TR" dirty="0"/>
              <a:t>CPU, sonraki işleme geçmeden, G/Ç komutunun tamamlanmasını bekler.</a:t>
            </a:r>
          </a:p>
          <a:p>
            <a:r>
              <a:rPr lang="tr-TR" dirty="0"/>
              <a:t>Uygulaması basit ve kolay. </a:t>
            </a:r>
          </a:p>
          <a:p>
            <a:r>
              <a:rPr lang="tr-TR" dirty="0"/>
              <a:t>G/Ç komutunun tamamlanmasını beklenirken CPU zamanı boşa harcanır.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150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Programlanmış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Yazıcıdan karakter dizisi yazdırma adımları.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337" y="2408262"/>
            <a:ext cx="8315325" cy="3514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3718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Programlanmış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Programlanmış G/Ç kullanarak yazıcıya bir dizi karakter yazma.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copy_from_user</a:t>
            </a:r>
            <a:r>
              <a:rPr lang="en-US" dirty="0">
                <a:latin typeface="Consolas" panose="020B0609020204030204" pitchFamily="49" charset="0"/>
              </a:rPr>
              <a:t>(buffer, p, count);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&lt; count;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++)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// loop on every character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b="1" dirty="0">
                <a:latin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</a:rPr>
              <a:t> (*</a:t>
            </a:r>
            <a:r>
              <a:rPr lang="en-US" dirty="0" err="1">
                <a:latin typeface="Consolas" panose="020B0609020204030204" pitchFamily="49" charset="0"/>
              </a:rPr>
              <a:t>printer_status_reg</a:t>
            </a:r>
            <a:r>
              <a:rPr lang="en-US" dirty="0">
                <a:latin typeface="Consolas" panose="020B0609020204030204" pitchFamily="49" charset="0"/>
              </a:rPr>
              <a:t> != READY);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// loop until the printer is ready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*</a:t>
            </a:r>
            <a:r>
              <a:rPr lang="en-US" dirty="0" err="1">
                <a:latin typeface="Consolas" panose="020B0609020204030204" pitchFamily="49" charset="0"/>
              </a:rPr>
              <a:t>printer_data_register</a:t>
            </a:r>
            <a:r>
              <a:rPr lang="en-US" dirty="0">
                <a:latin typeface="Consolas" panose="020B0609020204030204" pitchFamily="49" charset="0"/>
              </a:rPr>
              <a:t> = p[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// output one character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return_to_user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3872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Programlanmış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Her bayt için,</a:t>
            </a:r>
          </a:p>
          <a:p>
            <a:pPr lvl="1"/>
            <a:r>
              <a:rPr lang="tr-TR" i="1" dirty="0"/>
              <a:t>Durum yazmacı</a:t>
            </a:r>
            <a:r>
              <a:rPr lang="tr-TR" dirty="0"/>
              <a:t>, </a:t>
            </a:r>
            <a:r>
              <a:rPr lang="tr-TR" i="1" dirty="0"/>
              <a:t>meşgul biti 0</a:t>
            </a:r>
            <a:r>
              <a:rPr lang="tr-TR" dirty="0"/>
              <a:t> olana kadar okunur.</a:t>
            </a:r>
          </a:p>
          <a:p>
            <a:pPr lvl="1"/>
            <a:r>
              <a:rPr lang="tr-TR" dirty="0"/>
              <a:t>Okuma veya yazma </a:t>
            </a:r>
            <a:r>
              <a:rPr lang="tr-TR" i="1" dirty="0"/>
              <a:t>bitine 1 </a:t>
            </a:r>
            <a:r>
              <a:rPr lang="tr-TR" dirty="0"/>
              <a:t>atanır.</a:t>
            </a:r>
          </a:p>
          <a:p>
            <a:pPr lvl="2"/>
            <a:r>
              <a:rPr lang="tr-TR" dirty="0"/>
              <a:t>Yazma komutu ise veriler </a:t>
            </a:r>
            <a:r>
              <a:rPr lang="tr-TR" i="1" dirty="0"/>
              <a:t>veri çıkış yazmacına </a:t>
            </a:r>
            <a:r>
              <a:rPr lang="tr-TR" dirty="0"/>
              <a:t>kopyalanır.</a:t>
            </a:r>
          </a:p>
          <a:p>
            <a:pPr lvl="1"/>
            <a:r>
              <a:rPr lang="tr-TR" dirty="0"/>
              <a:t>Komut için </a:t>
            </a:r>
            <a:r>
              <a:rPr lang="tr-TR" i="1" dirty="0"/>
              <a:t>hazır bitine 1</a:t>
            </a:r>
            <a:r>
              <a:rPr lang="tr-TR" dirty="0"/>
              <a:t> atanır.</a:t>
            </a:r>
          </a:p>
          <a:p>
            <a:pPr lvl="1"/>
            <a:r>
              <a:rPr lang="tr-TR" dirty="0"/>
              <a:t>Denetleyici </a:t>
            </a:r>
            <a:r>
              <a:rPr lang="tr-TR" i="1" dirty="0"/>
              <a:t>meşgul bitine 1</a:t>
            </a:r>
            <a:r>
              <a:rPr lang="tr-TR" dirty="0"/>
              <a:t> atar, ve veri aktarımını yürütür.</a:t>
            </a:r>
          </a:p>
          <a:p>
            <a:pPr lvl="1"/>
            <a:r>
              <a:rPr lang="tr-TR" dirty="0"/>
              <a:t>Aktarım tamamlandığında, </a:t>
            </a:r>
            <a:r>
              <a:rPr lang="tr-TR" i="1" dirty="0"/>
              <a:t>meşgul biti</a:t>
            </a:r>
            <a:r>
              <a:rPr lang="tr-TR" dirty="0"/>
              <a:t>, </a:t>
            </a:r>
            <a:r>
              <a:rPr lang="tr-TR" i="1" dirty="0"/>
              <a:t>hata biti </a:t>
            </a:r>
            <a:r>
              <a:rPr lang="tr-TR" dirty="0"/>
              <a:t>ve </a:t>
            </a:r>
            <a:r>
              <a:rPr lang="tr-TR" i="1" dirty="0"/>
              <a:t>hazır biti</a:t>
            </a:r>
            <a:r>
              <a:rPr lang="tr-TR" dirty="0"/>
              <a:t> temizlenir.</a:t>
            </a:r>
          </a:p>
          <a:p>
            <a:r>
              <a:rPr lang="tr-TR" dirty="0"/>
              <a:t>Verimsiz bir yöntem. </a:t>
            </a:r>
          </a:p>
          <a:p>
            <a:r>
              <a:rPr lang="tr-TR" dirty="0"/>
              <a:t>CPU başka sürece geçip, döngü (</a:t>
            </a:r>
            <a:r>
              <a:rPr lang="tr-TR" i="1" dirty="0" err="1"/>
              <a:t>cycle</a:t>
            </a:r>
            <a:r>
              <a:rPr lang="tr-TR" dirty="0"/>
              <a:t>) kaçırırsa,</a:t>
            </a:r>
          </a:p>
          <a:p>
            <a:pPr lvl="1"/>
            <a:r>
              <a:rPr lang="tr-TR" dirty="0"/>
              <a:t>Üzerine yazmadan (</a:t>
            </a:r>
            <a:r>
              <a:rPr lang="tr-TR" i="1" dirty="0" err="1"/>
              <a:t>overwrite</a:t>
            </a:r>
            <a:r>
              <a:rPr lang="tr-TR" dirty="0"/>
              <a:t>) dolayı veri kaybı yaşanabilir.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085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Kesme Odaklı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G/Ç aygıtı, bir durum olduğunda </a:t>
            </a:r>
            <a:r>
              <a:rPr lang="tr-TR" i="1" dirty="0"/>
              <a:t>CPU</a:t>
            </a:r>
            <a:r>
              <a:rPr lang="tr-TR" dirty="0"/>
              <a:t>'ya kesme isteği (</a:t>
            </a:r>
            <a:r>
              <a:rPr lang="tr-TR" i="1" dirty="0"/>
              <a:t>IRQ</a:t>
            </a:r>
            <a:r>
              <a:rPr lang="tr-TR" dirty="0"/>
              <a:t>) gönderir.</a:t>
            </a:r>
          </a:p>
          <a:p>
            <a:r>
              <a:rPr lang="tr-TR" dirty="0"/>
              <a:t>CPU, isteği alınca mevcut görevini durdurur.</a:t>
            </a:r>
          </a:p>
          <a:p>
            <a:r>
              <a:rPr lang="tr-TR" dirty="0"/>
              <a:t>İlgili </a:t>
            </a:r>
            <a:r>
              <a:rPr lang="tr-TR" i="1" dirty="0"/>
              <a:t>kesme hizmeti yordamı</a:t>
            </a:r>
            <a:r>
              <a:rPr lang="tr-TR" dirty="0"/>
              <a:t> yürüterek G/Ç aygıtına hizmet verir.</a:t>
            </a:r>
          </a:p>
          <a:p>
            <a:r>
              <a:rPr lang="tr-TR" dirty="0"/>
              <a:t>G/Ç işlemi </a:t>
            </a:r>
            <a:r>
              <a:rPr lang="tr-TR" dirty="0" err="1"/>
              <a:t>eşzamansız</a:t>
            </a:r>
            <a:r>
              <a:rPr lang="tr-TR" dirty="0"/>
              <a:t> (</a:t>
            </a:r>
            <a:r>
              <a:rPr lang="tr-TR" i="1" dirty="0" err="1"/>
              <a:t>asynchronous</a:t>
            </a:r>
            <a:r>
              <a:rPr lang="tr-TR" dirty="0"/>
              <a:t>) olarak gerçekleştirilir.</a:t>
            </a:r>
          </a:p>
          <a:p>
            <a:r>
              <a:rPr lang="tr-TR" dirty="0"/>
              <a:t>G/Ç işlemi devam ederken CPU diğer görevlerini gerçekleştirebilir.</a:t>
            </a:r>
          </a:p>
          <a:p>
            <a:r>
              <a:rPr lang="tr-TR" dirty="0"/>
              <a:t>CPU kullanımı ile G/Ç verimliliği arasında bir denge sağlar.</a:t>
            </a:r>
          </a:p>
          <a:p>
            <a:r>
              <a:rPr lang="tr-TR" dirty="0"/>
              <a:t>Kesme ele alma (</a:t>
            </a:r>
            <a:r>
              <a:rPr lang="tr-TR" i="1" dirty="0" err="1"/>
              <a:t>interrupt</a:t>
            </a:r>
            <a:r>
              <a:rPr lang="tr-TR" i="1" dirty="0"/>
              <a:t> </a:t>
            </a:r>
            <a:r>
              <a:rPr lang="tr-TR" i="1" dirty="0" err="1"/>
              <a:t>handling</a:t>
            </a:r>
            <a:r>
              <a:rPr lang="tr-TR" dirty="0"/>
              <a:t>) ve </a:t>
            </a:r>
            <a:r>
              <a:rPr lang="tr-TR" dirty="0" err="1"/>
              <a:t>önceliklendirme</a:t>
            </a:r>
            <a:r>
              <a:rPr lang="tr-TR" dirty="0"/>
              <a:t> (</a:t>
            </a:r>
            <a:r>
              <a:rPr lang="tr-TR" i="1" dirty="0" err="1"/>
              <a:t>prioritization</a:t>
            </a:r>
            <a:r>
              <a:rPr lang="tr-TR" dirty="0"/>
              <a:t>) mekanizması gerektirir.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6666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Kesme Odaklı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Fikir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G/Ç isteyen işlem bloke edilir, başka bir işlem çizelgelenir.</a:t>
            </a:r>
          </a:p>
          <a:p>
            <a:r>
              <a:rPr lang="tr-TR" dirty="0"/>
              <a:t>G/Ç isteği tamamlandığında, çağıran işleme geri dönülür.</a:t>
            </a:r>
          </a:p>
          <a:p>
            <a:r>
              <a:rPr lang="tr-TR" dirty="0"/>
              <a:t>Yazıcı, </a:t>
            </a:r>
          </a:p>
          <a:p>
            <a:pPr lvl="1"/>
            <a:r>
              <a:rPr lang="tr-TR" dirty="0"/>
              <a:t>Bir karakter yazdığında kesme oluşturur.</a:t>
            </a:r>
          </a:p>
          <a:p>
            <a:pPr lvl="1"/>
            <a:r>
              <a:rPr lang="tr-TR" dirty="0"/>
              <a:t>Karakter dizisinin sonuna kadar yazdırmaya devam eder.</a:t>
            </a:r>
          </a:p>
          <a:p>
            <a:pPr lvl="1"/>
            <a:r>
              <a:rPr lang="tr-TR" dirty="0"/>
              <a:t>İşlem bitince, çağıran işlem yeniden başlatılır.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5234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Kesme Odaklı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5013DE9-A3BA-40F9-A790-C287B11C1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819" y="1495425"/>
            <a:ext cx="4932362" cy="4860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74163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Kesme Odaklı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Yazdırma sistem çağrısı yapıldığında yürütülen kod. 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copy_from_user</a:t>
            </a:r>
            <a:r>
              <a:rPr lang="en-US" dirty="0">
                <a:latin typeface="Consolas" panose="020B0609020204030204" pitchFamily="49" charset="0"/>
              </a:rPr>
              <a:t>(buffer, p, count);</a:t>
            </a:r>
            <a:r>
              <a:rPr lang="tr-TR" dirty="0">
                <a:latin typeface="Consolas" panose="020B0609020204030204" pitchFamily="49" charset="0"/>
              </a:rPr>
              <a:t> // </a:t>
            </a:r>
            <a:r>
              <a:rPr lang="tr-TR" dirty="0" err="1">
                <a:latin typeface="Consolas" panose="020B0609020204030204" pitchFamily="49" charset="0"/>
              </a:rPr>
              <a:t>user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space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to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kernel</a:t>
            </a:r>
            <a:r>
              <a:rPr lang="tr-TR" dirty="0">
                <a:latin typeface="Consolas" panose="020B0609020204030204" pitchFamily="49" charset="0"/>
              </a:rPr>
              <a:t> 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enable_interrupts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r>
              <a:rPr lang="tr-TR" dirty="0">
                <a:latin typeface="Consolas" panose="020B0609020204030204" pitchFamily="49" charset="0"/>
              </a:rPr>
              <a:t> 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</a:rPr>
              <a:t> (*</a:t>
            </a:r>
            <a:r>
              <a:rPr lang="en-US" dirty="0" err="1">
                <a:latin typeface="Consolas" panose="020B0609020204030204" pitchFamily="49" charset="0"/>
              </a:rPr>
              <a:t>printer_status_reg</a:t>
            </a:r>
            <a:r>
              <a:rPr lang="en-US" dirty="0">
                <a:latin typeface="Consolas" panose="020B0609020204030204" pitchFamily="49" charset="0"/>
              </a:rPr>
              <a:t> != READY);</a:t>
            </a:r>
            <a:r>
              <a:rPr lang="tr-TR" dirty="0">
                <a:latin typeface="Consolas" panose="020B0609020204030204" pitchFamily="49" charset="0"/>
              </a:rPr>
              <a:t> // </a:t>
            </a:r>
            <a:r>
              <a:rPr lang="tr-TR" dirty="0" err="1">
                <a:latin typeface="Consolas" panose="020B0609020204030204" pitchFamily="49" charset="0"/>
              </a:rPr>
              <a:t>busy-waiting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 err="1">
                <a:latin typeface="Consolas" panose="020B0609020204030204" pitchFamily="49" charset="0"/>
              </a:rPr>
              <a:t>printer_data_register</a:t>
            </a:r>
            <a:r>
              <a:rPr lang="en-US" dirty="0">
                <a:latin typeface="Consolas" panose="020B0609020204030204" pitchFamily="49" charset="0"/>
              </a:rPr>
              <a:t> = p[0];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scheduler();</a:t>
            </a:r>
            <a:endParaRPr lang="tr-TR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8900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Kesme Odaklı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10000"/>
          </a:bodyPr>
          <a:lstStyle/>
          <a:p>
            <a:r>
              <a:rPr lang="tr-TR" sz="2600" dirty="0"/>
              <a:t>Yazıcı için kesme hizmet yordamı (</a:t>
            </a:r>
            <a:r>
              <a:rPr lang="tr-TR" sz="2600" i="1" dirty="0"/>
              <a:t>ISR</a:t>
            </a:r>
            <a:r>
              <a:rPr lang="tr-TR" sz="2600" dirty="0"/>
              <a:t>).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sz="2600" b="1" dirty="0">
                <a:latin typeface="Consolas" panose="020B0609020204030204" pitchFamily="49" charset="0"/>
              </a:rPr>
              <a:t>if</a:t>
            </a:r>
            <a:r>
              <a:rPr lang="en-US" sz="2600" dirty="0">
                <a:latin typeface="Consolas" panose="020B0609020204030204" pitchFamily="49" charset="0"/>
              </a:rPr>
              <a:t> (count == 0) {</a:t>
            </a:r>
            <a:r>
              <a:rPr lang="tr-TR" sz="2600" dirty="0">
                <a:latin typeface="Consolas" panose="020B0609020204030204" pitchFamily="49" charset="0"/>
              </a:rPr>
              <a:t> // </a:t>
            </a:r>
            <a:r>
              <a:rPr lang="en-US" sz="2600" dirty="0">
                <a:latin typeface="Consolas" panose="020B0609020204030204" pitchFamily="49" charset="0"/>
              </a:rPr>
              <a:t>all characters have been printed</a:t>
            </a:r>
          </a:p>
          <a:p>
            <a:pPr marL="0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    </a:t>
            </a:r>
            <a:r>
              <a:rPr lang="en-US" sz="2600" dirty="0" err="1">
                <a:latin typeface="Consolas" panose="020B0609020204030204" pitchFamily="49" charset="0"/>
              </a:rPr>
              <a:t>unblock_user</a:t>
            </a:r>
            <a:r>
              <a:rPr lang="en-US" sz="2600" dirty="0">
                <a:latin typeface="Consolas" panose="020B0609020204030204" pitchFamily="49" charset="0"/>
              </a:rPr>
              <a:t>();</a:t>
            </a:r>
            <a:r>
              <a:rPr lang="tr-TR" sz="2600" dirty="0">
                <a:latin typeface="Consolas" panose="020B0609020204030204" pitchFamily="49" charset="0"/>
              </a:rPr>
              <a:t> // </a:t>
            </a:r>
            <a:r>
              <a:rPr lang="tr-TR" sz="2600" dirty="0" err="1">
                <a:latin typeface="Consolas" panose="020B0609020204030204" pitchFamily="49" charset="0"/>
              </a:rPr>
              <a:t>unblock</a:t>
            </a:r>
            <a:r>
              <a:rPr lang="tr-TR" sz="2600" dirty="0">
                <a:latin typeface="Consolas" panose="020B0609020204030204" pitchFamily="49" charset="0"/>
              </a:rPr>
              <a:t> </a:t>
            </a:r>
            <a:r>
              <a:rPr lang="tr-TR" sz="2600" dirty="0" err="1">
                <a:latin typeface="Consolas" panose="020B0609020204030204" pitchFamily="49" charset="0"/>
              </a:rPr>
              <a:t>the</a:t>
            </a:r>
            <a:r>
              <a:rPr lang="tr-TR" sz="2600" dirty="0">
                <a:latin typeface="Consolas" panose="020B0609020204030204" pitchFamily="49" charset="0"/>
              </a:rPr>
              <a:t> </a:t>
            </a:r>
            <a:r>
              <a:rPr lang="tr-TR" sz="2600" dirty="0" err="1">
                <a:latin typeface="Consolas" panose="020B0609020204030204" pitchFamily="49" charset="0"/>
              </a:rPr>
              <a:t>user-level</a:t>
            </a:r>
            <a:r>
              <a:rPr lang="tr-TR" sz="2600" dirty="0">
                <a:latin typeface="Consolas" panose="020B0609020204030204" pitchFamily="49" charset="0"/>
              </a:rPr>
              <a:t> </a:t>
            </a:r>
            <a:r>
              <a:rPr lang="tr-TR" sz="2600" dirty="0" err="1">
                <a:latin typeface="Consolas" panose="020B0609020204030204" pitchFamily="49" charset="0"/>
              </a:rPr>
              <a:t>process</a:t>
            </a:r>
            <a:endParaRPr lang="en-US" sz="2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} </a:t>
            </a:r>
            <a:r>
              <a:rPr lang="en-US" sz="2600" b="1" dirty="0">
                <a:latin typeface="Consolas" panose="020B0609020204030204" pitchFamily="49" charset="0"/>
              </a:rPr>
              <a:t>else</a:t>
            </a:r>
            <a:r>
              <a:rPr lang="en-US" sz="26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    *</a:t>
            </a:r>
            <a:r>
              <a:rPr lang="en-US" sz="2600" dirty="0" err="1">
                <a:latin typeface="Consolas" panose="020B0609020204030204" pitchFamily="49" charset="0"/>
              </a:rPr>
              <a:t>printer_data_register</a:t>
            </a:r>
            <a:r>
              <a:rPr lang="en-US" sz="2600" dirty="0">
                <a:latin typeface="Consolas" panose="020B0609020204030204" pitchFamily="49" charset="0"/>
              </a:rPr>
              <a:t> = p[</a:t>
            </a:r>
            <a:r>
              <a:rPr lang="en-US" sz="2600" dirty="0" err="1">
                <a:latin typeface="Consolas" panose="020B0609020204030204" pitchFamily="49" charset="0"/>
              </a:rPr>
              <a:t>i</a:t>
            </a:r>
            <a:r>
              <a:rPr lang="en-US" sz="2600" dirty="0"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    count = count - 1;</a:t>
            </a:r>
          </a:p>
          <a:p>
            <a:pPr marL="0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    </a:t>
            </a:r>
            <a:r>
              <a:rPr lang="en-US" sz="2600" dirty="0" err="1">
                <a:latin typeface="Consolas" panose="020B0609020204030204" pitchFamily="49" charset="0"/>
              </a:rPr>
              <a:t>i</a:t>
            </a:r>
            <a:r>
              <a:rPr lang="en-US" sz="2600" dirty="0">
                <a:latin typeface="Consolas" panose="020B0609020204030204" pitchFamily="49" charset="0"/>
              </a:rPr>
              <a:t> = </a:t>
            </a:r>
            <a:r>
              <a:rPr lang="en-US" sz="2600" dirty="0" err="1">
                <a:latin typeface="Consolas" panose="020B0609020204030204" pitchFamily="49" charset="0"/>
              </a:rPr>
              <a:t>i</a:t>
            </a:r>
            <a:r>
              <a:rPr lang="en-US" sz="2600" dirty="0">
                <a:latin typeface="Consolas" panose="020B0609020204030204" pitchFamily="49" charset="0"/>
              </a:rPr>
              <a:t> + 1;</a:t>
            </a:r>
            <a:r>
              <a:rPr lang="tr-TR" sz="2600" dirty="0">
                <a:latin typeface="Consolas" panose="020B0609020204030204" pitchFamily="49" charset="0"/>
              </a:rPr>
              <a:t> // </a:t>
            </a:r>
            <a:r>
              <a:rPr lang="en-US" sz="2600" dirty="0">
                <a:latin typeface="Consolas" panose="020B0609020204030204" pitchFamily="49" charset="0"/>
              </a:rPr>
              <a:t>point to the next character in buffer</a:t>
            </a:r>
          </a:p>
          <a:p>
            <a:pPr marL="0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600" dirty="0" err="1">
                <a:latin typeface="Consolas" panose="020B0609020204030204" pitchFamily="49" charset="0"/>
              </a:rPr>
              <a:t>acknowledge_interrupt</a:t>
            </a:r>
            <a:r>
              <a:rPr lang="en-US" sz="2600" dirty="0">
                <a:latin typeface="Consolas" panose="020B0609020204030204" pitchFamily="49" charset="0"/>
              </a:rPr>
              <a:t>();</a:t>
            </a:r>
            <a:r>
              <a:rPr lang="tr-TR" sz="2600" dirty="0">
                <a:latin typeface="Consolas" panose="020B0609020204030204" pitchFamily="49" charset="0"/>
              </a:rPr>
              <a:t> // </a:t>
            </a:r>
            <a:r>
              <a:rPr lang="tr-TR" sz="2600" dirty="0" err="1">
                <a:latin typeface="Consolas" panose="020B0609020204030204" pitchFamily="49" charset="0"/>
              </a:rPr>
              <a:t>interrupt</a:t>
            </a:r>
            <a:r>
              <a:rPr lang="tr-TR" sz="2600" dirty="0">
                <a:latin typeface="Consolas" panose="020B0609020204030204" pitchFamily="49" charset="0"/>
              </a:rPr>
              <a:t> </a:t>
            </a:r>
            <a:r>
              <a:rPr lang="tr-TR" sz="2600" dirty="0" err="1">
                <a:latin typeface="Consolas" panose="020B0609020204030204" pitchFamily="49" charset="0"/>
              </a:rPr>
              <a:t>handling</a:t>
            </a:r>
            <a:r>
              <a:rPr lang="tr-TR" sz="2600" dirty="0">
                <a:latin typeface="Consolas" panose="020B0609020204030204" pitchFamily="49" charset="0"/>
              </a:rPr>
              <a:t> </a:t>
            </a:r>
            <a:r>
              <a:rPr lang="tr-TR" sz="2600" dirty="0" err="1">
                <a:latin typeface="Consolas" panose="020B0609020204030204" pitchFamily="49" charset="0"/>
              </a:rPr>
              <a:t>complete</a:t>
            </a:r>
            <a:endParaRPr lang="en-US" sz="2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 err="1">
                <a:latin typeface="Consolas" panose="020B0609020204030204" pitchFamily="49" charset="0"/>
              </a:rPr>
              <a:t>return_from_interrupt</a:t>
            </a:r>
            <a:r>
              <a:rPr lang="en-US" sz="2600" dirty="0">
                <a:latin typeface="Consolas" panose="020B0609020204030204" pitchFamily="49" charset="0"/>
              </a:rPr>
              <a:t>();</a:t>
            </a:r>
            <a:r>
              <a:rPr lang="tr-TR" sz="2600" dirty="0">
                <a:latin typeface="Consolas" panose="020B0609020204030204" pitchFamily="49" charset="0"/>
              </a:rPr>
              <a:t> // </a:t>
            </a:r>
            <a:r>
              <a:rPr lang="en-US" sz="2600" dirty="0">
                <a:latin typeface="Consolas" panose="020B0609020204030204" pitchFamily="49" charset="0"/>
              </a:rPr>
              <a:t>Return from interrupt context</a:t>
            </a:r>
            <a:endParaRPr lang="tr-TR" sz="2600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2502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DMA Kullanarak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G/Ç aygıtı, CPU'yu dahil etmeden sistem belleğine doğrudan erişebilir.</a:t>
            </a:r>
          </a:p>
          <a:p>
            <a:r>
              <a:rPr lang="tr-TR" dirty="0"/>
              <a:t>CPU, G/Ç işlemleri sırasında diğer görevlerini gerçekleştirebilir.</a:t>
            </a:r>
          </a:p>
          <a:p>
            <a:r>
              <a:rPr lang="tr-TR" dirty="0"/>
              <a:t>DMA denetleyicisi, G/Ç aygıtı ile bellek arasındaki veri transferini yönetir.</a:t>
            </a:r>
          </a:p>
          <a:p>
            <a:r>
              <a:rPr lang="tr-TR" dirty="0"/>
              <a:t>CPU'yu serbest bırakarak sistem performansını artırır.</a:t>
            </a:r>
          </a:p>
          <a:p>
            <a:r>
              <a:rPr lang="tr-TR" dirty="0"/>
              <a:t>Ancak; DMA denetleyici, yönetim ve bellek tahsisi açısından karmaşık.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061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DMA Kullanarak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Yazıcıya karakter dizisi gönderilmek istenirse, </a:t>
            </a:r>
          </a:p>
          <a:p>
            <a:pPr lvl="1"/>
            <a:r>
              <a:rPr lang="tr-TR" dirty="0"/>
              <a:t>CPU, her karakter yazdırıldığında değil, </a:t>
            </a:r>
          </a:p>
          <a:p>
            <a:pPr lvl="1"/>
            <a:r>
              <a:rPr lang="tr-TR" dirty="0"/>
              <a:t>Yalnızca arabellek yazdırıldığında kesmeye uğrar.</a:t>
            </a:r>
          </a:p>
          <a:p>
            <a:r>
              <a:rPr lang="tr-TR" dirty="0"/>
              <a:t>DMA ne zaman kullanılmaya değer?</a:t>
            </a:r>
          </a:p>
          <a:p>
            <a:pPr lvl="1"/>
            <a:r>
              <a:rPr lang="tr-TR" dirty="0"/>
              <a:t>DMA denetleyicisi, aygıtı CPU'nun çalıştırdığı hızla çalıştırabiliyor ise.</a:t>
            </a:r>
          </a:p>
          <a:p>
            <a:pPr lvl="1"/>
            <a:r>
              <a:rPr lang="tr-TR" dirty="0"/>
              <a:t>Yeterli miktarda aktarılacak veri var ise.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1409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DMA Kullanarak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Yazdırma </a:t>
            </a:r>
            <a:r>
              <a:rPr lang="tr-TR" i="1" dirty="0"/>
              <a:t>sistem çağrısı </a:t>
            </a:r>
            <a:r>
              <a:rPr lang="tr-TR" dirty="0"/>
              <a:t>yapıldığında yürütülen kod parçası. </a:t>
            </a:r>
          </a:p>
          <a:p>
            <a:pPr marL="457200" indent="-457200">
              <a:buAutoNum type="alphaLcParenBoth"/>
            </a:pPr>
            <a:endParaRPr lang="tr-TR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copy_from_user</a:t>
            </a:r>
            <a:r>
              <a:rPr lang="en-US" dirty="0">
                <a:latin typeface="Consolas" panose="020B0609020204030204" pitchFamily="49" charset="0"/>
              </a:rPr>
              <a:t>(buffer, p, count); 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set_up_DMA_controller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scheduler();</a:t>
            </a:r>
            <a:r>
              <a:rPr lang="tr-TR" dirty="0">
                <a:latin typeface="Consolas" panose="020B0609020204030204" pitchFamily="49" charset="0"/>
              </a:rPr>
              <a:t> // </a:t>
            </a:r>
            <a:r>
              <a:rPr lang="en-US" dirty="0">
                <a:latin typeface="Consolas" panose="020B0609020204030204" pitchFamily="49" charset="0"/>
              </a:rPr>
              <a:t>CPU may switch to another task</a:t>
            </a:r>
            <a:endParaRPr lang="tr-TR" dirty="0"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8788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DMA Kullanarak G/Ç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Kesme hizmet yordamı.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 err="1">
                <a:latin typeface="Consolas" panose="020B0609020204030204" pitchFamily="49" charset="0"/>
              </a:rPr>
              <a:t>acknowledge_interrupt</a:t>
            </a:r>
            <a:r>
              <a:rPr lang="tr-TR" dirty="0">
                <a:latin typeface="Consolas" panose="020B0609020204030204" pitchFamily="49" charset="0"/>
              </a:rPr>
              <a:t>(); // </a:t>
            </a:r>
            <a:r>
              <a:rPr lang="en-US" dirty="0">
                <a:latin typeface="Consolas" panose="020B0609020204030204" pitchFamily="49" charset="0"/>
              </a:rPr>
              <a:t>interrupt has been received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 err="1">
                <a:latin typeface="Consolas" panose="020B0609020204030204" pitchFamily="49" charset="0"/>
              </a:rPr>
              <a:t>unblock_user</a:t>
            </a:r>
            <a:r>
              <a:rPr lang="tr-TR" dirty="0">
                <a:latin typeface="Consolas" panose="020B0609020204030204" pitchFamily="49" charset="0"/>
              </a:rPr>
              <a:t>(); // </a:t>
            </a:r>
            <a:r>
              <a:rPr lang="en-US" dirty="0">
                <a:latin typeface="Consolas" panose="020B0609020204030204" pitchFamily="49" charset="0"/>
              </a:rPr>
              <a:t>waking up a process that was blocked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 err="1">
                <a:latin typeface="Consolas" panose="020B0609020204030204" pitchFamily="49" charset="0"/>
              </a:rPr>
              <a:t>return_from_interrupt</a:t>
            </a:r>
            <a:r>
              <a:rPr lang="tr-TR" dirty="0">
                <a:latin typeface="Consolas" panose="020B0609020204030204" pitchFamily="49" charset="0"/>
              </a:rPr>
              <a:t>(); // </a:t>
            </a:r>
            <a:r>
              <a:rPr lang="en-US" dirty="0">
                <a:latin typeface="Consolas" panose="020B0609020204030204" pitchFamily="49" charset="0"/>
              </a:rPr>
              <a:t>signals end of </a:t>
            </a:r>
            <a:r>
              <a:rPr lang="tr-TR" dirty="0">
                <a:latin typeface="Consolas" panose="020B0609020204030204" pitchFamily="49" charset="0"/>
              </a:rPr>
              <a:t>ISR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4188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G/Ç Yazılım Katmanları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68998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80212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G/Ç Sisteminin Katmanları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2145983"/>
            <a:ext cx="8640000" cy="37839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56310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Kesme İşleyicileri (</a:t>
            </a:r>
            <a:r>
              <a:rPr lang="tr-TR" dirty="0" err="1"/>
              <a:t>Handler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Kesme donanımı tarafından yazmaçlar kaydedilir.</a:t>
            </a:r>
          </a:p>
          <a:p>
            <a:r>
              <a:rPr lang="tr-TR" dirty="0"/>
              <a:t>Kesme hizmet yordamı için bir bağlam (</a:t>
            </a:r>
            <a:r>
              <a:rPr lang="tr-TR" i="1" dirty="0" err="1"/>
              <a:t>context</a:t>
            </a:r>
            <a:r>
              <a:rPr lang="tr-TR" dirty="0"/>
              <a:t>) ayarlanır.</a:t>
            </a:r>
          </a:p>
          <a:p>
            <a:r>
              <a:rPr lang="tr-TR" dirty="0"/>
              <a:t>Kesme hizmet yordamı için bir yığın ayarlanır.</a:t>
            </a:r>
          </a:p>
          <a:p>
            <a:r>
              <a:rPr lang="tr-TR" dirty="0"/>
              <a:t>Kesme denetleyicisi, kesmenin alındığına dair bilgilendirilir. </a:t>
            </a:r>
          </a:p>
          <a:p>
            <a:r>
              <a:rPr lang="tr-TR" dirty="0"/>
              <a:t>Merkezi kesme denetleyicisi yoksa kesme yeniden etkinleştirilir (</a:t>
            </a:r>
            <a:r>
              <a:rPr lang="tr-TR" i="1" dirty="0"/>
              <a:t>re-</a:t>
            </a:r>
            <a:r>
              <a:rPr lang="tr-TR" i="1" dirty="0" err="1"/>
              <a:t>enable</a:t>
            </a:r>
            <a:r>
              <a:rPr lang="tr-TR" dirty="0"/>
              <a:t>)</a:t>
            </a:r>
          </a:p>
          <a:p>
            <a:r>
              <a:rPr lang="tr-TR" dirty="0"/>
              <a:t>Yazmaçlar, süreç tablosundan alınan değerlerle güncellenir.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3417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Kesme İşleyicileri (</a:t>
            </a:r>
            <a:r>
              <a:rPr lang="tr-TR" dirty="0" err="1"/>
              <a:t>Handler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Kesme hizmeti yordamı yürütülür.</a:t>
            </a:r>
          </a:p>
          <a:p>
            <a:r>
              <a:rPr lang="tr-TR" dirty="0"/>
              <a:t>Sırada hangi işlemin çalıştırılacağı seçilir.</a:t>
            </a:r>
          </a:p>
          <a:p>
            <a:r>
              <a:rPr lang="tr-TR" dirty="0"/>
              <a:t>Bir sonraki işlemin çalışması için </a:t>
            </a:r>
            <a:r>
              <a:rPr lang="tr-TR" i="1" dirty="0"/>
              <a:t>MMU </a:t>
            </a:r>
            <a:r>
              <a:rPr lang="tr-TR" dirty="0"/>
              <a:t>içeriği ayarlanır.</a:t>
            </a:r>
          </a:p>
          <a:p>
            <a:r>
              <a:rPr lang="tr-TR" dirty="0"/>
              <a:t>Yürütülecek işlem için yazmaçlar güncellenir.</a:t>
            </a:r>
          </a:p>
          <a:p>
            <a:r>
              <a:rPr lang="tr-TR" dirty="0"/>
              <a:t>Yeni işlem yürütülür.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7342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Aygıt Sürücüleri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Sürücü ve aygıt denetleyicisi</a:t>
            </a:r>
          </a:p>
          <a:p>
            <a:pPr marL="0" indent="0">
              <a:buNone/>
            </a:pPr>
            <a:r>
              <a:rPr lang="tr-TR" dirty="0"/>
              <a:t>veri yolu üzerinden haberleşir.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925" y="730300"/>
            <a:ext cx="5476875" cy="5410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6781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Aygıt Sürücüleri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Sürücü (</a:t>
            </a:r>
            <a:r>
              <a:rPr lang="tr-TR" i="1" dirty="0" err="1"/>
              <a:t>driver</a:t>
            </a:r>
            <a:r>
              <a:rPr lang="tr-TR" dirty="0"/>
              <a:t>), aygıta özel kodlanmıştır.</a:t>
            </a:r>
          </a:p>
          <a:p>
            <a:r>
              <a:rPr lang="tr-TR" dirty="0"/>
              <a:t>Üretici (</a:t>
            </a:r>
            <a:r>
              <a:rPr lang="tr-TR" i="1" dirty="0" err="1"/>
              <a:t>manufacturer</a:t>
            </a:r>
            <a:r>
              <a:rPr lang="tr-TR" dirty="0"/>
              <a:t>) tarafından sağlanır.</a:t>
            </a:r>
          </a:p>
          <a:p>
            <a:r>
              <a:rPr lang="tr-TR" dirty="0"/>
              <a:t>Çekirdeğe (</a:t>
            </a:r>
            <a:r>
              <a:rPr lang="tr-TR" dirty="0" err="1"/>
              <a:t>kernel</a:t>
            </a:r>
            <a:r>
              <a:rPr lang="tr-TR" dirty="0"/>
              <a:t>) yüklenir.</a:t>
            </a:r>
          </a:p>
          <a:p>
            <a:pPr lvl="1"/>
            <a:r>
              <a:rPr lang="tr-TR" dirty="0"/>
              <a:t>Sürücü için kullanıcı alanı (</a:t>
            </a:r>
            <a:r>
              <a:rPr lang="tr-TR" i="1" dirty="0" err="1"/>
              <a:t>user</a:t>
            </a:r>
            <a:r>
              <a:rPr lang="tr-TR" i="1" dirty="0"/>
              <a:t> </a:t>
            </a:r>
            <a:r>
              <a:rPr lang="tr-TR" i="1" dirty="0" err="1"/>
              <a:t>space</a:t>
            </a:r>
            <a:r>
              <a:rPr lang="tr-TR" dirty="0"/>
              <a:t>) daha iyi bir yer olabilir.</a:t>
            </a:r>
          </a:p>
          <a:p>
            <a:pPr lvl="1"/>
            <a:r>
              <a:rPr lang="tr-TR" dirty="0"/>
              <a:t>Sürücü yazılımındaki bir hata, çekirdeği bozabilir.</a:t>
            </a:r>
          </a:p>
          <a:p>
            <a:r>
              <a:rPr lang="tr-TR" dirty="0"/>
              <a:t>İşletim sistemi </a:t>
            </a:r>
            <a:r>
              <a:rPr lang="tr-TR" dirty="0" err="1"/>
              <a:t>arayüzüne</a:t>
            </a:r>
            <a:r>
              <a:rPr lang="tr-TR" dirty="0"/>
              <a:t> ihtiyaç var.</a:t>
            </a:r>
          </a:p>
          <a:p>
            <a:pPr lvl="1"/>
            <a:r>
              <a:rPr lang="tr-TR" dirty="0"/>
              <a:t>Blok ve karakter tabanlı aygıt arayüzleri.</a:t>
            </a:r>
          </a:p>
          <a:p>
            <a:pPr lvl="1"/>
            <a:r>
              <a:rPr lang="tr-TR" dirty="0"/>
              <a:t>Sürücüyü kullanmak için sistem çağrıları (</a:t>
            </a:r>
            <a:r>
              <a:rPr lang="tr-TR" i="1" dirty="0"/>
              <a:t>bir blok oku</a:t>
            </a:r>
            <a:r>
              <a:rPr lang="tr-TR" dirty="0"/>
              <a:t> gibi).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2148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Aygıt Sürücüleri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Verilen parametrelerin tutarlılığını kontrol eder.</a:t>
            </a:r>
          </a:p>
          <a:p>
            <a:r>
              <a:rPr lang="tr-TR" dirty="0"/>
              <a:t>Mantıksal adresi fiziksel adrese çevirir.</a:t>
            </a:r>
          </a:p>
          <a:p>
            <a:pPr lvl="1"/>
            <a:r>
              <a:rPr lang="tr-TR" i="1" dirty="0"/>
              <a:t>blok numarası -&gt; silindir, kafa, iz, sektör</a:t>
            </a:r>
            <a:r>
              <a:rPr lang="tr-TR" dirty="0"/>
              <a:t>.</a:t>
            </a:r>
          </a:p>
          <a:p>
            <a:r>
              <a:rPr lang="tr-TR" dirty="0"/>
              <a:t>Aygıt durumunu kontrol eder. Başlatmak zorunda kalabilir.</a:t>
            </a:r>
          </a:p>
          <a:p>
            <a:r>
              <a:rPr lang="tr-TR" dirty="0"/>
              <a:t>Komutları aygıt denetleyicisinin yazmaçlarına koyar.</a:t>
            </a:r>
          </a:p>
          <a:p>
            <a:r>
              <a:rPr lang="tr-TR" dirty="0"/>
              <a:t>Kesme gelene kadar sürücü kendini bloke eder.</a:t>
            </a:r>
          </a:p>
          <a:p>
            <a:r>
              <a:rPr lang="tr-TR" dirty="0"/>
              <a:t>Talep edilen verileri gönderir. </a:t>
            </a:r>
          </a:p>
          <a:p>
            <a:r>
              <a:rPr lang="tr-TR" dirty="0"/>
              <a:t>Aygıtın durum bilgisini döndürür.</a:t>
            </a:r>
          </a:p>
          <a:p>
            <a:r>
              <a:rPr lang="tr-TR" dirty="0"/>
              <a:t>Sürücüler yeniden girilebilir (</a:t>
            </a:r>
            <a:r>
              <a:rPr lang="tr-TR" i="1" dirty="0" err="1"/>
              <a:t>reentrant</a:t>
            </a:r>
            <a:r>
              <a:rPr lang="tr-TR" dirty="0"/>
              <a:t>) yapıdadır.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485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Aygıtdan</a:t>
            </a:r>
            <a:r>
              <a:rPr lang="tr-TR" dirty="0"/>
              <a:t> Bağımsız G/Ç Yazılımı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Aygıt sürücüleri için tek tip arayüz sağlar.</a:t>
            </a:r>
          </a:p>
          <a:p>
            <a:r>
              <a:rPr lang="tr-TR" dirty="0"/>
              <a:t>Ara bellek kullanarak verileri saklar.</a:t>
            </a:r>
          </a:p>
          <a:p>
            <a:r>
              <a:rPr lang="tr-TR" dirty="0"/>
              <a:t>Oluşan hataları raporlar.</a:t>
            </a:r>
          </a:p>
          <a:p>
            <a:r>
              <a:rPr lang="tr-TR" dirty="0"/>
              <a:t>Aygıtı bir sürece tahsis eder. </a:t>
            </a:r>
          </a:p>
          <a:p>
            <a:r>
              <a:rPr lang="tr-TR" dirty="0"/>
              <a:t>İşlem tamamlanınca serbest bırakır.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029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Aygıt Sürücüleri İçin Tek Tip Arayüz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(a) Standart bir arayüz yoksa, karmaşık. (b) varsa, düzenli.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7" y="2493987"/>
            <a:ext cx="8277225" cy="3343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11841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Aygıt Sürücü Fonksiyonları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Her aygıt sınıfı için sağlanması gereken işlemler.</a:t>
            </a:r>
          </a:p>
          <a:p>
            <a:pPr lvl="1"/>
            <a:r>
              <a:rPr lang="tr-TR" dirty="0"/>
              <a:t>örneğin, oku, yaz, aç, kapat..</a:t>
            </a:r>
          </a:p>
          <a:p>
            <a:r>
              <a:rPr lang="tr-TR" dirty="0"/>
              <a:t>Sürücü, doğru işlemi işaret eden, bir </a:t>
            </a:r>
            <a:r>
              <a:rPr lang="tr-TR" i="1" dirty="0"/>
              <a:t>işaretçi tablosuna</a:t>
            </a:r>
            <a:r>
              <a:rPr lang="tr-TR" dirty="0"/>
              <a:t> sahip.</a:t>
            </a:r>
          </a:p>
          <a:p>
            <a:r>
              <a:rPr lang="tr-TR" dirty="0"/>
              <a:t>İşletim sistemi, gerekli işlemi çağırmak için tablo adresine ihtiyaç duyar.</a:t>
            </a:r>
          </a:p>
          <a:p>
            <a:r>
              <a:rPr lang="tr-TR" dirty="0"/>
              <a:t>İşletim sistemi, sembolik aygıt adlarını doğru sürücü ile eşler. (</a:t>
            </a:r>
            <a:r>
              <a:rPr lang="tr-TR" i="1" dirty="0" err="1"/>
              <a:t>map</a:t>
            </a:r>
            <a:r>
              <a:rPr lang="tr-TR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3314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Ara Belleğe Alma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457200" indent="-457200">
              <a:buAutoNum type="alphaLcParenBoth"/>
            </a:pPr>
            <a:r>
              <a:rPr lang="tr-TR" dirty="0"/>
              <a:t>Tampon bellek (</a:t>
            </a:r>
            <a:r>
              <a:rPr lang="tr-TR" i="1" dirty="0" err="1"/>
              <a:t>buffer</a:t>
            </a:r>
            <a:r>
              <a:rPr lang="tr-TR" dirty="0"/>
              <a:t>) yok. (b) Kullanıcı alanında tampon bellek.       </a:t>
            </a:r>
          </a:p>
          <a:p>
            <a:pPr marL="0" indent="0">
              <a:buNone/>
            </a:pPr>
            <a:r>
              <a:rPr lang="tr-TR" dirty="0"/>
              <a:t>(c) Çekirdekte tampon bellek ve kullanıcı alanına kopyalama.  </a:t>
            </a:r>
          </a:p>
          <a:p>
            <a:pPr marL="0" indent="0">
              <a:buNone/>
            </a:pPr>
            <a:r>
              <a:rPr lang="tr-TR" dirty="0"/>
              <a:t>(d) Çekirdekte çift tampon bellek kullanımı.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597" y="3211482"/>
            <a:ext cx="6990806" cy="29290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92091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Ara Belleğe Alma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Ağ paketinin, birçok kopyası olabilir.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2417787"/>
            <a:ext cx="7181850" cy="3495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70242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Bağımsız Yazılımın Diğer İşlevleri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Hata raporlama: </a:t>
            </a:r>
          </a:p>
          <a:p>
            <a:pPr lvl="1"/>
            <a:r>
              <a:rPr lang="tr-TR" dirty="0"/>
              <a:t>Sürücü tarafından çözülemeyen yazılım donanım sorunları raporlanır.</a:t>
            </a:r>
          </a:p>
          <a:p>
            <a:r>
              <a:rPr lang="tr-TR" dirty="0"/>
              <a:t>Aynı anda tek bir kullanıcıya hizmet veren aygıtları,</a:t>
            </a:r>
          </a:p>
          <a:p>
            <a:pPr lvl="1"/>
            <a:r>
              <a:rPr lang="tr-TR" dirty="0"/>
              <a:t>Tahsis eder ve serbest bırakır. (</a:t>
            </a:r>
            <a:r>
              <a:rPr lang="tr-TR" i="1" dirty="0"/>
              <a:t>CD-ROM, </a:t>
            </a:r>
            <a:r>
              <a:rPr lang="tr-TR" i="1" dirty="0" err="1"/>
              <a:t>scanner</a:t>
            </a:r>
            <a:r>
              <a:rPr lang="tr-TR" i="1" dirty="0"/>
              <a:t>, printer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Aygıt meşgul ise, </a:t>
            </a:r>
          </a:p>
          <a:p>
            <a:pPr lvl="2"/>
            <a:r>
              <a:rPr lang="tr-TR" dirty="0"/>
              <a:t>İstek bir kuyruk (</a:t>
            </a:r>
            <a:r>
              <a:rPr lang="tr-TR" i="1" dirty="0" err="1"/>
              <a:t>queue</a:t>
            </a:r>
            <a:r>
              <a:rPr lang="tr-TR" dirty="0"/>
              <a:t>) yapısına eklenebilir.</a:t>
            </a:r>
          </a:p>
          <a:p>
            <a:pPr lvl="2"/>
            <a:r>
              <a:rPr lang="tr-TR" dirty="0"/>
              <a:t>İstek iptal edilip, olumsuz cevap dönülebilir.</a:t>
            </a:r>
          </a:p>
          <a:p>
            <a:r>
              <a:rPr lang="tr-TR" dirty="0"/>
              <a:t>Aygıttan bağımsız blok boyutu:</a:t>
            </a:r>
          </a:p>
          <a:p>
            <a:pPr lvl="1"/>
            <a:r>
              <a:rPr lang="tr-TR" dirty="0"/>
              <a:t>İşletim sistemi, aygıtların ayrıntılarını bilmek zorunda değil.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9306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Kullanıcı Alanında G/Ç Yazılımı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Kütüphane yordamları G/Ç ile ilgilidir.</a:t>
            </a:r>
          </a:p>
          <a:p>
            <a:pPr lvl="1"/>
            <a:r>
              <a:rPr lang="tr-TR" i="1" dirty="0" err="1"/>
              <a:t>printf</a:t>
            </a:r>
            <a:r>
              <a:rPr lang="tr-TR" i="1" dirty="0"/>
              <a:t>(), </a:t>
            </a:r>
            <a:r>
              <a:rPr lang="tr-TR" i="1" dirty="0" err="1"/>
              <a:t>scanf</a:t>
            </a:r>
            <a:r>
              <a:rPr lang="tr-TR" i="1" dirty="0"/>
              <a:t>(), </a:t>
            </a:r>
            <a:r>
              <a:rPr lang="tr-TR" i="1" dirty="0" err="1"/>
              <a:t>read</a:t>
            </a:r>
            <a:r>
              <a:rPr lang="tr-TR" i="1" dirty="0"/>
              <a:t>(), </a:t>
            </a:r>
            <a:r>
              <a:rPr lang="tr-TR" i="1" dirty="0" err="1"/>
              <a:t>write</a:t>
            </a:r>
            <a:r>
              <a:rPr lang="tr-TR" i="1" dirty="0"/>
              <a:t>()</a:t>
            </a:r>
            <a:r>
              <a:rPr lang="tr-TR" dirty="0"/>
              <a:t> gibi metotlar sistem çağrıları yapar.</a:t>
            </a:r>
          </a:p>
          <a:p>
            <a:r>
              <a:rPr lang="tr-TR" dirty="0"/>
              <a:t>Yapılan aygıt istekleri kuyruğa eklenerek, takip edilir.</a:t>
            </a:r>
          </a:p>
          <a:p>
            <a:r>
              <a:rPr lang="tr-TR" dirty="0"/>
              <a:t>Yazıcıdan çıktı alma,</a:t>
            </a:r>
          </a:p>
          <a:p>
            <a:pPr lvl="1"/>
            <a:r>
              <a:rPr lang="tr-TR" dirty="0"/>
              <a:t>Kullanıcı dosyayı oluşturur, </a:t>
            </a:r>
          </a:p>
          <a:p>
            <a:pPr lvl="1"/>
            <a:r>
              <a:rPr lang="tr-TR" dirty="0"/>
              <a:t>Dosya bekleme kuyruğuna koyulur, </a:t>
            </a:r>
          </a:p>
          <a:p>
            <a:pPr lvl="1"/>
            <a:r>
              <a:rPr lang="tr-TR" dirty="0"/>
              <a:t>Arka plan süreci, kuyruğu izler ve dosyayı yazdırır.</a:t>
            </a:r>
          </a:p>
          <a:p>
            <a:r>
              <a:rPr lang="tr-TR" dirty="0"/>
              <a:t>Dosya aktarımlarında da ayrı bir bekleme kuyruğu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687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Disk içinde bulunan </a:t>
            </a:r>
            <a:r>
              <a:rPr lang="tr-TR" dirty="0" err="1"/>
              <a:t>mikrodenetleyici</a:t>
            </a:r>
            <a:r>
              <a:rPr lang="tr-TR" dirty="0"/>
              <a:t>, </a:t>
            </a:r>
          </a:p>
          <a:p>
            <a:pPr lvl="1"/>
            <a:r>
              <a:rPr lang="tr-TR" dirty="0"/>
              <a:t>Bozuk blokları izler, eşler, kullanılmaması için etiketler.</a:t>
            </a:r>
          </a:p>
          <a:p>
            <a:pPr lvl="1"/>
            <a:r>
              <a:rPr lang="tr-TR" dirty="0"/>
              <a:t>Okunan izin içeriğini önbelleğe alır.</a:t>
            </a:r>
          </a:p>
          <a:p>
            <a:r>
              <a:rPr lang="tr-TR" dirty="0"/>
              <a:t>Bazı diskler aynı anda birden fazla arama (</a:t>
            </a:r>
            <a:r>
              <a:rPr lang="tr-TR" i="1" dirty="0" err="1"/>
              <a:t>seek</a:t>
            </a:r>
            <a:r>
              <a:rPr lang="tr-TR" dirty="0"/>
              <a:t>) yapabilir.</a:t>
            </a:r>
          </a:p>
          <a:p>
            <a:pPr lvl="1"/>
            <a:r>
              <a:rPr lang="tr-TR" dirty="0"/>
              <a:t>Bir plaktan okurken, diğer plağa yazabilir.</a:t>
            </a:r>
          </a:p>
          <a:p>
            <a:r>
              <a:rPr lang="tr-TR" dirty="0"/>
              <a:t>Disk geometrisi, sürücünün kullandığı geometriden farklıdır.</a:t>
            </a:r>
          </a:p>
          <a:p>
            <a:r>
              <a:rPr lang="tr-TR" dirty="0"/>
              <a:t>Denetleyicinin (</a:t>
            </a:r>
            <a:r>
              <a:rPr lang="tr-TR" i="1" dirty="0"/>
              <a:t>silindir, başlık, sektör</a:t>
            </a:r>
            <a:r>
              <a:rPr lang="tr-TR" dirty="0"/>
              <a:t>) talebi,</a:t>
            </a:r>
          </a:p>
          <a:p>
            <a:pPr lvl="1"/>
            <a:r>
              <a:rPr lang="tr-TR" dirty="0"/>
              <a:t>Gerçek disk geometrisine çevrilir.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3973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Manyetik Diskler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diskin (a) fiziksel geometrisi. (b) sanal geometrisi.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317" y="2250600"/>
            <a:ext cx="7625366" cy="3970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99521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SSD (Solid State Drive) </a:t>
            </a:r>
            <a:r>
              <a:rPr lang="tr-TR" dirty="0"/>
              <a:t>Diskler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Katı hal sürücüsü diskler, </a:t>
            </a:r>
            <a:r>
              <a:rPr lang="tr-TR" i="1" dirty="0"/>
              <a:t>NAND </a:t>
            </a:r>
            <a:r>
              <a:rPr lang="tr-TR" i="1" dirty="0" err="1"/>
              <a:t>flash</a:t>
            </a:r>
            <a:r>
              <a:rPr lang="tr-TR" i="1" dirty="0"/>
              <a:t> </a:t>
            </a:r>
            <a:r>
              <a:rPr lang="tr-TR" dirty="0"/>
              <a:t>bellek kullanır.</a:t>
            </a:r>
          </a:p>
          <a:p>
            <a:r>
              <a:rPr lang="tr-TR" dirty="0"/>
              <a:t>Hareketli (</a:t>
            </a:r>
            <a:r>
              <a:rPr lang="tr-TR" i="1" dirty="0"/>
              <a:t>mekanik</a:t>
            </a:r>
            <a:r>
              <a:rPr lang="tr-TR" dirty="0"/>
              <a:t>) parçaları yoktur.</a:t>
            </a:r>
          </a:p>
          <a:p>
            <a:r>
              <a:rPr lang="tr-TR" dirty="0"/>
              <a:t>Güvenilir ve daha hızlı veri erişimi sunar.</a:t>
            </a:r>
          </a:p>
          <a:p>
            <a:r>
              <a:rPr lang="tr-TR" dirty="0"/>
              <a:t>Dayanıklılık, düşük güç tüketimi, sessiz çalışma sunar.</a:t>
            </a:r>
          </a:p>
          <a:p>
            <a:r>
              <a:rPr lang="tr-TR" dirty="0"/>
              <a:t>Her bir hücrenin sınırlı sayıda yazma ömrü vardır. </a:t>
            </a:r>
          </a:p>
          <a:p>
            <a:r>
              <a:rPr lang="tr-TR" i="1" dirty="0"/>
              <a:t>Hard Disk </a:t>
            </a:r>
            <a:r>
              <a:rPr lang="tr-TR" i="1" dirty="0" err="1"/>
              <a:t>Drive</a:t>
            </a:r>
            <a:r>
              <a:rPr lang="tr-TR" dirty="0" err="1"/>
              <a:t>'dan</a:t>
            </a:r>
            <a:r>
              <a:rPr lang="tr-TR" dirty="0"/>
              <a:t> daha pahalıdır.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1332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NVMe</a:t>
            </a:r>
            <a:r>
              <a:rPr lang="en-US" dirty="0"/>
              <a:t> (Non-Volatile Memory Express)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/>
              <a:t>NVMe</a:t>
            </a:r>
            <a:r>
              <a:rPr lang="tr-TR" dirty="0"/>
              <a:t> yüksek performanslı, ölçeklenebilir, optimize edilmiş bir protokol.</a:t>
            </a:r>
          </a:p>
          <a:p>
            <a:r>
              <a:rPr lang="tr-TR" dirty="0"/>
              <a:t>M.2, SATA ve SAS tabanlı </a:t>
            </a:r>
            <a:r>
              <a:rPr lang="tr-TR" dirty="0" err="1"/>
              <a:t>SSD'lere</a:t>
            </a:r>
            <a:r>
              <a:rPr lang="tr-TR" dirty="0"/>
              <a:t> kıyasla </a:t>
            </a:r>
          </a:p>
          <a:p>
            <a:pPr lvl="1"/>
            <a:r>
              <a:rPr lang="tr-TR" dirty="0"/>
              <a:t>Yüksek performans, güvenilirlik sağlar.</a:t>
            </a:r>
          </a:p>
          <a:p>
            <a:pPr lvl="1"/>
            <a:r>
              <a:rPr lang="tr-TR" dirty="0"/>
              <a:t>Düşük gecikme süresi, yüksek bant genişliği sağlar.</a:t>
            </a:r>
          </a:p>
          <a:p>
            <a:pPr lvl="1"/>
            <a:r>
              <a:rPr lang="tr-TR" dirty="0"/>
              <a:t>Kablo ihtiyacını ortadan kaldırır.</a:t>
            </a:r>
          </a:p>
          <a:p>
            <a:pPr lvl="1"/>
            <a:r>
              <a:rPr lang="tr-TR" dirty="0"/>
              <a:t>Daha pahalıdır.</a:t>
            </a:r>
          </a:p>
          <a:p>
            <a:r>
              <a:rPr lang="tr-TR" dirty="0"/>
              <a:t>64 </a:t>
            </a:r>
            <a:r>
              <a:rPr lang="tr-TR" i="1" dirty="0"/>
              <a:t>KB</a:t>
            </a:r>
            <a:r>
              <a:rPr lang="tr-TR" dirty="0"/>
              <a:t>'a kadar çoklu paralel komut dizisi destekler.</a:t>
            </a:r>
          </a:p>
          <a:p>
            <a:r>
              <a:rPr lang="tr-TR" dirty="0"/>
              <a:t>Geriye dönük uyumlu değildir.</a:t>
            </a:r>
          </a:p>
          <a:p>
            <a:r>
              <a:rPr lang="tr-TR" dirty="0"/>
              <a:t>Özel sürücü ve donanım desteği gerektirir.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6011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Ucuz Disklerin Artık Dizisi</a:t>
            </a:r>
            <a:r>
              <a:rPr lang="tr-TR" dirty="0"/>
              <a:t> (</a:t>
            </a:r>
            <a:r>
              <a:rPr lang="it-IT" dirty="0"/>
              <a:t>RAID</a:t>
            </a:r>
            <a:r>
              <a:rPr lang="tr-TR" dirty="0"/>
              <a:t>)</a:t>
            </a:r>
            <a:r>
              <a:rPr lang="it-IT" dirty="0"/>
              <a:t>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en-US" i="1" dirty="0"/>
              <a:t>Redundant array of inexpensive disks</a:t>
            </a:r>
            <a:r>
              <a:rPr lang="tr-TR" i="1" dirty="0"/>
              <a:t>.</a:t>
            </a:r>
          </a:p>
          <a:p>
            <a:r>
              <a:rPr lang="tr-TR" dirty="0"/>
              <a:t>SLED (</a:t>
            </a:r>
            <a:r>
              <a:rPr lang="tr-TR" i="1" dirty="0" err="1"/>
              <a:t>Single</a:t>
            </a:r>
            <a:r>
              <a:rPr lang="tr-TR" i="1" dirty="0"/>
              <a:t> </a:t>
            </a:r>
            <a:r>
              <a:rPr lang="tr-TR" i="1" dirty="0" err="1"/>
              <a:t>large</a:t>
            </a:r>
            <a:r>
              <a:rPr lang="tr-TR" i="1" dirty="0"/>
              <a:t> </a:t>
            </a:r>
            <a:r>
              <a:rPr lang="tr-TR" i="1" dirty="0" err="1"/>
              <a:t>expensive</a:t>
            </a:r>
            <a:r>
              <a:rPr lang="tr-TR" i="1" dirty="0"/>
              <a:t> disk</a:t>
            </a:r>
            <a:r>
              <a:rPr lang="tr-TR" dirty="0"/>
              <a:t>), tek, büyük ve pahalı disk.</a:t>
            </a:r>
          </a:p>
          <a:p>
            <a:r>
              <a:rPr lang="tr-TR" dirty="0"/>
              <a:t>Tek bir diske kıyasla paralel G/Ç işlemleri sağlar.</a:t>
            </a:r>
          </a:p>
          <a:p>
            <a:r>
              <a:rPr lang="tr-TR" dirty="0"/>
              <a:t>İşletim sistemine tek bir disk gibi görünen bir grup disk.</a:t>
            </a:r>
          </a:p>
          <a:p>
            <a:r>
              <a:rPr lang="tr-TR" dirty="0"/>
              <a:t>SCSI diskleri sıklıkla kullanılır, ucuzdur.</a:t>
            </a:r>
          </a:p>
          <a:p>
            <a:r>
              <a:rPr lang="tr-TR" dirty="0"/>
              <a:t>Denetleyici başına 7 tane disk kullanılabilir.</a:t>
            </a:r>
          </a:p>
          <a:p>
            <a:r>
              <a:rPr lang="tr-TR" dirty="0"/>
              <a:t>Seviye 0'dan 7'ye kadar farklı mimariler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9837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RAID Seviyeleri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RAID 0</a:t>
            </a:r>
            <a:r>
              <a:rPr lang="tr-TR" dirty="0"/>
              <a:t>, şerit (</a:t>
            </a:r>
            <a:r>
              <a:rPr lang="tr-TR" i="1" dirty="0" err="1"/>
              <a:t>strip</a:t>
            </a:r>
            <a:r>
              <a:rPr lang="tr-TR" dirty="0"/>
              <a:t>) başına </a:t>
            </a:r>
            <a:r>
              <a:rPr lang="tr-TR" i="1" dirty="0"/>
              <a:t>k</a:t>
            </a:r>
            <a:r>
              <a:rPr lang="tr-TR" dirty="0"/>
              <a:t> sektör şeridi kullanır.</a:t>
            </a:r>
          </a:p>
          <a:p>
            <a:pPr lvl="1"/>
            <a:r>
              <a:rPr lang="tr-TR" dirty="0"/>
              <a:t>Ardışık şeritler farklı disklerde bulunur.</a:t>
            </a:r>
          </a:p>
          <a:p>
            <a:pPr lvl="1"/>
            <a:r>
              <a:rPr lang="tr-TR" dirty="0"/>
              <a:t>Ardışık şeritlere paralel olarak yazma/okuma yapılır.</a:t>
            </a:r>
          </a:p>
          <a:p>
            <a:pPr lvl="1"/>
            <a:r>
              <a:rPr lang="tr-TR" dirty="0"/>
              <a:t>Büyük boyutlu istekler için iyi.</a:t>
            </a:r>
          </a:p>
          <a:p>
            <a:r>
              <a:rPr lang="tr-TR" b="1" dirty="0"/>
              <a:t>RAID 1</a:t>
            </a:r>
            <a:r>
              <a:rPr lang="tr-TR" dirty="0"/>
              <a:t>, diskleri çoğaltır.</a:t>
            </a:r>
          </a:p>
          <a:p>
            <a:pPr lvl="1"/>
            <a:r>
              <a:rPr lang="tr-TR" dirty="0"/>
              <a:t>Yazma işlemleri iki kez yapılır.</a:t>
            </a:r>
          </a:p>
          <a:p>
            <a:pPr lvl="1"/>
            <a:r>
              <a:rPr lang="tr-TR" dirty="0"/>
              <a:t>Okuma işlemleri her iki diski de kullanabilir.</a:t>
            </a:r>
          </a:p>
          <a:p>
            <a:pPr lvl="1"/>
            <a:r>
              <a:rPr lang="tr-TR" dirty="0"/>
              <a:t>Güvenilirliği artırır.</a:t>
            </a:r>
          </a:p>
          <a:p>
            <a:r>
              <a:rPr lang="tr-TR" b="1" dirty="0"/>
              <a:t>RAID 2</a:t>
            </a:r>
            <a:r>
              <a:rPr lang="tr-TR" dirty="0"/>
              <a:t>, tek tek sözcüklerle (</a:t>
            </a:r>
            <a:r>
              <a:rPr lang="tr-TR" dirty="0" err="1"/>
              <a:t>word</a:t>
            </a:r>
            <a:r>
              <a:rPr lang="tr-TR" dirty="0"/>
              <a:t>) çalışır, sözcük + </a:t>
            </a:r>
            <a:r>
              <a:rPr lang="tr-TR" dirty="0" err="1"/>
              <a:t>ecc'yi</a:t>
            </a:r>
            <a:r>
              <a:rPr lang="tr-TR" dirty="0"/>
              <a:t> disklere yazar.</a:t>
            </a:r>
          </a:p>
          <a:p>
            <a:pPr lvl="1"/>
            <a:r>
              <a:rPr lang="tr-TR" dirty="0"/>
              <a:t>Paralelliği sağlamak için kollar (</a:t>
            </a:r>
            <a:r>
              <a:rPr lang="tr-TR" i="1" dirty="0" err="1"/>
              <a:t>arm</a:t>
            </a:r>
            <a:r>
              <a:rPr lang="tr-TR" dirty="0"/>
              <a:t>) senkronize edilmeli.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5615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RAID </a:t>
            </a:r>
            <a:r>
              <a:rPr lang="tr-TR" dirty="0"/>
              <a:t>S</a:t>
            </a:r>
            <a:r>
              <a:rPr lang="it-IT" dirty="0"/>
              <a:t>eviyeleri </a:t>
            </a:r>
            <a:r>
              <a:rPr lang="tr-TR" dirty="0"/>
              <a:t>(</a:t>
            </a:r>
            <a:r>
              <a:rPr lang="it-IT" dirty="0"/>
              <a:t>0</a:t>
            </a:r>
            <a:r>
              <a:rPr lang="tr-TR" dirty="0"/>
              <a:t>-2)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583" y="1759296"/>
            <a:ext cx="6928834" cy="44621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3155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RAID Seviyeleri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RAID 3</a:t>
            </a:r>
            <a:r>
              <a:rPr lang="tr-TR" dirty="0"/>
              <a:t>, </a:t>
            </a:r>
          </a:p>
          <a:p>
            <a:pPr lvl="1"/>
            <a:r>
              <a:rPr lang="tr-TR" dirty="0"/>
              <a:t>Tüm eşlik (</a:t>
            </a:r>
            <a:r>
              <a:rPr lang="tr-TR" i="1" dirty="0" err="1"/>
              <a:t>parity</a:t>
            </a:r>
            <a:r>
              <a:rPr lang="tr-TR" dirty="0"/>
              <a:t>) bitleri </a:t>
            </a:r>
            <a:r>
              <a:rPr lang="tr-TR" i="1" dirty="0"/>
              <a:t>tek</a:t>
            </a:r>
            <a:r>
              <a:rPr lang="tr-TR" dirty="0"/>
              <a:t> bir sürücüye gider.</a:t>
            </a:r>
          </a:p>
          <a:p>
            <a:pPr lvl="1"/>
            <a:r>
              <a:rPr lang="tr-TR" dirty="0"/>
              <a:t>RAID 2 gibi çalışır.</a:t>
            </a:r>
          </a:p>
          <a:p>
            <a:r>
              <a:rPr lang="tr-TR" b="1" dirty="0"/>
              <a:t>RAID 4,</a:t>
            </a:r>
            <a:r>
              <a:rPr lang="tr-TR" dirty="0"/>
              <a:t> </a:t>
            </a:r>
          </a:p>
          <a:p>
            <a:pPr lvl="1"/>
            <a:r>
              <a:rPr lang="tr-TR" dirty="0"/>
              <a:t>Şeritler ile çalışır.</a:t>
            </a:r>
          </a:p>
          <a:p>
            <a:pPr lvl="1"/>
            <a:r>
              <a:rPr lang="tr-TR" dirty="0"/>
              <a:t>Şeritler için eşlik bitleri </a:t>
            </a:r>
            <a:r>
              <a:rPr lang="tr-TR" i="1" dirty="0"/>
              <a:t>aynı</a:t>
            </a:r>
            <a:r>
              <a:rPr lang="tr-TR" dirty="0"/>
              <a:t> sürücüye yazılır.</a:t>
            </a:r>
          </a:p>
          <a:p>
            <a:r>
              <a:rPr lang="tr-TR" b="1" dirty="0"/>
              <a:t>RAID 5,</a:t>
            </a:r>
            <a:r>
              <a:rPr lang="tr-TR" dirty="0"/>
              <a:t> </a:t>
            </a:r>
          </a:p>
          <a:p>
            <a:pPr lvl="1"/>
            <a:r>
              <a:rPr lang="tr-TR" dirty="0"/>
              <a:t>Şeritler için eşlik bitleri </a:t>
            </a:r>
            <a:r>
              <a:rPr lang="tr-TR" i="1" dirty="0"/>
              <a:t>farklı</a:t>
            </a:r>
            <a:r>
              <a:rPr lang="tr-TR" dirty="0"/>
              <a:t> sürücüye yazılır.</a:t>
            </a:r>
          </a:p>
          <a:p>
            <a:pPr lvl="1"/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696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RAID </a:t>
            </a:r>
            <a:r>
              <a:rPr lang="tr-TR" dirty="0"/>
              <a:t>S</a:t>
            </a:r>
            <a:r>
              <a:rPr lang="it-IT" dirty="0"/>
              <a:t>eviyeleri </a:t>
            </a:r>
            <a:r>
              <a:rPr lang="tr-TR" dirty="0"/>
              <a:t>(3-</a:t>
            </a:r>
            <a:r>
              <a:rPr lang="it-IT" dirty="0"/>
              <a:t>5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66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830" y="1676500"/>
            <a:ext cx="4720339" cy="446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73622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CD-ROM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Optik diskler, manyetik disklerden daha yüksek yoğunluğa sahiptir.</a:t>
            </a:r>
          </a:p>
          <a:p>
            <a:r>
              <a:rPr lang="tr-TR" dirty="0"/>
              <a:t>Müzik CD'lerinin yüksek üretim hacmi nedeniyle ucuz.</a:t>
            </a:r>
          </a:p>
          <a:p>
            <a:r>
              <a:rPr lang="tr-TR" dirty="0"/>
              <a:t>İlk önce dijital olarak müzik çalmak için kullanıldı.</a:t>
            </a:r>
          </a:p>
          <a:p>
            <a:r>
              <a:rPr lang="tr-TR" dirty="0"/>
              <a:t>Cam ile kaplanmış disk üzerindeki lazer ile delikler yakılır.</a:t>
            </a:r>
          </a:p>
          <a:p>
            <a:r>
              <a:rPr lang="tr-TR" dirty="0"/>
              <a:t>Çukur (yakılmış), ve düz (yakılmamış) spiraller halinde düzenlenir. </a:t>
            </a:r>
          </a:p>
          <a:p>
            <a:r>
              <a:rPr lang="tr-TR" dirty="0"/>
              <a:t>Okuma işlemleri için lazer kullanılır.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540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CD-ROM Kayıt Yapısı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68</a:t>
            </a:fld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362" y="1609775"/>
            <a:ext cx="5629275" cy="4467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87073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CD-ROM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Sesin yanı sıra veri depolamak için de kullanılır.</a:t>
            </a:r>
          </a:p>
          <a:p>
            <a:r>
              <a:rPr lang="tr-TR" dirty="0"/>
              <a:t>Hata düzeltme kodu (</a:t>
            </a:r>
            <a:r>
              <a:rPr lang="tr-TR" i="1" dirty="0" err="1"/>
              <a:t>error</a:t>
            </a:r>
            <a:r>
              <a:rPr lang="tr-TR" i="1" dirty="0"/>
              <a:t> </a:t>
            </a:r>
            <a:r>
              <a:rPr lang="tr-TR" i="1" dirty="0" err="1"/>
              <a:t>correcting</a:t>
            </a:r>
            <a:r>
              <a:rPr lang="tr-TR" i="1" dirty="0"/>
              <a:t> </a:t>
            </a:r>
            <a:r>
              <a:rPr lang="tr-TR" i="1" dirty="0" err="1"/>
              <a:t>code</a:t>
            </a:r>
            <a:r>
              <a:rPr lang="tr-TR" dirty="0"/>
              <a:t>) sektöre eklenir.</a:t>
            </a:r>
          </a:p>
          <a:p>
            <a:r>
              <a:rPr lang="tr-TR" dirty="0"/>
              <a:t>Her bayt (</a:t>
            </a:r>
            <a:r>
              <a:rPr lang="tr-TR" i="1" dirty="0"/>
              <a:t>8 bit</a:t>
            </a:r>
            <a:r>
              <a:rPr lang="tr-TR" dirty="0"/>
              <a:t>), </a:t>
            </a:r>
            <a:r>
              <a:rPr lang="tr-TR" i="1" dirty="0"/>
              <a:t>6 bitlik ECC </a:t>
            </a:r>
            <a:r>
              <a:rPr lang="tr-TR" dirty="0"/>
              <a:t>ile beraber </a:t>
            </a:r>
            <a:r>
              <a:rPr lang="tr-TR" i="1" dirty="0"/>
              <a:t>14 bitlik sembol</a:t>
            </a:r>
            <a:r>
              <a:rPr lang="tr-TR" dirty="0"/>
              <a:t> ile kodlanır.</a:t>
            </a:r>
          </a:p>
          <a:p>
            <a:r>
              <a:rPr lang="tr-TR" dirty="0"/>
              <a:t>42 adet sembol bir çerçeve (</a:t>
            </a:r>
            <a:r>
              <a:rPr lang="tr-TR" i="1" dirty="0" err="1"/>
              <a:t>frame</a:t>
            </a:r>
            <a:r>
              <a:rPr lang="tr-TR" dirty="0"/>
              <a:t>) oluşturur.</a:t>
            </a:r>
          </a:p>
          <a:p>
            <a:r>
              <a:rPr lang="tr-TR" dirty="0"/>
              <a:t>98 adet çerçeve bir </a:t>
            </a:r>
            <a:r>
              <a:rPr lang="tr-TR" i="1" dirty="0"/>
              <a:t>CD-ROM sektörü </a:t>
            </a:r>
            <a:r>
              <a:rPr lang="tr-TR" dirty="0"/>
              <a:t>oluşturur.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5415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CD-ROM Mantıksal Veri Düzeni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70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2598763"/>
            <a:ext cx="8286750" cy="2676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248146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Kaydedilebilir</a:t>
            </a:r>
            <a:r>
              <a:rPr lang="tr-TR" dirty="0"/>
              <a:t> Compact Disk (CD-R)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CD-R'nin kesiti. CD-ROM’da koruma tabakası yok, altın yerine alüminyum.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71</a:t>
            </a:fld>
            <a:endParaRPr 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297" y="2580766"/>
            <a:ext cx="7323406" cy="37755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85060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Digital</a:t>
            </a:r>
            <a:r>
              <a:rPr lang="tr-TR" dirty="0"/>
              <a:t> </a:t>
            </a:r>
            <a:r>
              <a:rPr lang="tr-TR" dirty="0" err="1"/>
              <a:t>Versatile</a:t>
            </a:r>
            <a:r>
              <a:rPr lang="tr-TR" dirty="0"/>
              <a:t> </a:t>
            </a:r>
            <a:r>
              <a:rPr lang="tr-TR" dirty="0" err="1"/>
              <a:t>Disc</a:t>
            </a:r>
            <a:r>
              <a:rPr lang="tr-TR" dirty="0"/>
              <a:t> (Dijital Çok Yönlü Disk)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µm: </a:t>
            </a:r>
            <a:r>
              <a:rPr lang="tr-TR" dirty="0" err="1"/>
              <a:t>micron</a:t>
            </a:r>
            <a:endParaRPr lang="tr-TR" dirty="0"/>
          </a:p>
          <a:p>
            <a:r>
              <a:rPr lang="tr-TR" dirty="0"/>
              <a:t>Daha küçük çukurları (CD 0.8 µm,</a:t>
            </a:r>
            <a:r>
              <a:rPr lang="tr-TR" b="1" dirty="0"/>
              <a:t> </a:t>
            </a:r>
            <a:r>
              <a:rPr lang="tr-TR" dirty="0"/>
              <a:t>DVD 0.4 µm) destekler.</a:t>
            </a:r>
          </a:p>
          <a:p>
            <a:r>
              <a:rPr lang="tr-TR" dirty="0"/>
              <a:t>Daha sıkı bir sarmal (CD 1.6 µm, DVD 0.74 µm).</a:t>
            </a:r>
          </a:p>
          <a:p>
            <a:r>
              <a:rPr lang="tr-TR" dirty="0"/>
              <a:t>Kırmızı lazer (CD 0.78 µm, DVD 0.65 µm).</a:t>
            </a:r>
          </a:p>
          <a:p>
            <a:r>
              <a:rPr lang="tr-TR" dirty="0"/>
              <a:t>DVD'ye standart bir film sığar (133 dakika).</a:t>
            </a:r>
          </a:p>
          <a:p>
            <a:r>
              <a:rPr lang="tr-TR" dirty="0"/>
              <a:t>Hollywood bir diskte daha fazla film istiyor, </a:t>
            </a:r>
          </a:p>
          <a:p>
            <a:pPr lvl="1"/>
            <a:r>
              <a:rPr lang="tr-TR" dirty="0"/>
              <a:t>Bu nedenle 4 farklı format var.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4365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DVD Formatları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Tek taraflı, tek katmanlı (</a:t>
            </a:r>
            <a:r>
              <a:rPr lang="tr-TR" i="1" dirty="0"/>
              <a:t>4.7 GB</a:t>
            </a:r>
            <a:r>
              <a:rPr lang="tr-TR" dirty="0"/>
              <a:t>).</a:t>
            </a:r>
          </a:p>
          <a:p>
            <a:r>
              <a:rPr lang="tr-TR" dirty="0"/>
              <a:t>Tek taraflı, çift katmanlı (</a:t>
            </a:r>
            <a:r>
              <a:rPr lang="tr-TR" i="1" dirty="0"/>
              <a:t>8.5 GB</a:t>
            </a:r>
            <a:r>
              <a:rPr lang="tr-TR" dirty="0"/>
              <a:t>).</a:t>
            </a:r>
          </a:p>
          <a:p>
            <a:r>
              <a:rPr lang="tr-TR" dirty="0"/>
              <a:t>Çift taraflı, tek katmanlı (</a:t>
            </a:r>
            <a:r>
              <a:rPr lang="tr-TR" i="1" dirty="0"/>
              <a:t>9.4 GB</a:t>
            </a:r>
            <a:r>
              <a:rPr lang="tr-TR" dirty="0"/>
              <a:t>).</a:t>
            </a:r>
          </a:p>
          <a:p>
            <a:r>
              <a:rPr lang="tr-TR" dirty="0"/>
              <a:t>Çift taraflı, çift katmanlı (</a:t>
            </a:r>
            <a:r>
              <a:rPr lang="tr-TR" i="1" dirty="0"/>
              <a:t>17 GB</a:t>
            </a:r>
            <a:r>
              <a:rPr lang="tr-TR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6494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Çift Taraflı Çift Katmanlı DVD Disk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74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2521720"/>
            <a:ext cx="8820150" cy="28717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87260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Sabit Disk Formatı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Düşük seviye format, </a:t>
            </a:r>
          </a:p>
          <a:p>
            <a:pPr lvl="1"/>
            <a:r>
              <a:rPr lang="tr-TR" dirty="0"/>
              <a:t>Yazılım boş diskteki iz (</a:t>
            </a:r>
            <a:r>
              <a:rPr lang="tr-TR" i="1" dirty="0" err="1"/>
              <a:t>track</a:t>
            </a:r>
            <a:r>
              <a:rPr lang="tr-TR" dirty="0"/>
              <a:t>) ve sektörleri (</a:t>
            </a:r>
            <a:r>
              <a:rPr lang="tr-TR" i="1" dirty="0" err="1"/>
              <a:t>sector</a:t>
            </a:r>
            <a:r>
              <a:rPr lang="tr-TR" dirty="0"/>
              <a:t>) yerleştirir.</a:t>
            </a:r>
          </a:p>
          <a:p>
            <a:r>
              <a:rPr lang="tr-TR" dirty="0"/>
              <a:t>Üst düzey format, </a:t>
            </a:r>
          </a:p>
          <a:p>
            <a:pPr lvl="1"/>
            <a:r>
              <a:rPr lang="tr-TR" dirty="0"/>
              <a:t>Bölümler (</a:t>
            </a:r>
            <a:r>
              <a:rPr lang="tr-TR" i="1" dirty="0" err="1"/>
              <a:t>partitions</a:t>
            </a:r>
            <a:r>
              <a:rPr lang="tr-TR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26644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Bir Disk Sektörü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Sektör, temel veri saklama birimidir. </a:t>
            </a:r>
          </a:p>
          <a:p>
            <a:r>
              <a:rPr lang="tr-TR" dirty="0"/>
              <a:t>Genellikle </a:t>
            </a:r>
            <a:r>
              <a:rPr lang="tr-TR" i="1" dirty="0"/>
              <a:t>512 - 4096 bayt </a:t>
            </a:r>
            <a:r>
              <a:rPr lang="tr-TR" dirty="0"/>
              <a:t>sabit miktarda veri saklar.</a:t>
            </a:r>
          </a:p>
          <a:p>
            <a:r>
              <a:rPr lang="tr-TR" dirty="0"/>
              <a:t>Öncül (</a:t>
            </a:r>
            <a:r>
              <a:rPr lang="tr-TR" i="1" dirty="0" err="1"/>
              <a:t>preamble</a:t>
            </a:r>
            <a:r>
              <a:rPr lang="tr-TR" dirty="0"/>
              <a:t>), sektörünün adresi, durumu gibi bilgileri sağlar.</a:t>
            </a:r>
          </a:p>
          <a:p>
            <a:r>
              <a:rPr lang="tr-TR" dirty="0"/>
              <a:t>ECC, veri yazma ve okuma sırasında oluşacak hataları tespit etmek ve düzeltmek için, sektörlere eklenen bir koddur.</a:t>
            </a:r>
          </a:p>
          <a:p>
            <a:pPr lvl="1"/>
            <a:endParaRPr lang="tr-TR" dirty="0"/>
          </a:p>
          <a:p>
            <a:pPr lvl="1"/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76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086957"/>
              </p:ext>
            </p:extLst>
          </p:nvPr>
        </p:nvGraphicFramePr>
        <p:xfrm>
          <a:off x="1809930" y="4952032"/>
          <a:ext cx="792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tr-TR" sz="2400" dirty="0" err="1"/>
                        <a:t>Preamble</a:t>
                      </a:r>
                      <a:endParaRPr lang="tr-T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400" dirty="0"/>
                        <a:t>ECC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2955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Silindir Eğriliği (Asimetri)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77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511" y="1639652"/>
            <a:ext cx="5190978" cy="4500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2525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Biçimlendirme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Serpiştirme (</a:t>
            </a:r>
            <a:r>
              <a:rPr lang="tr-TR" i="1" dirty="0" err="1"/>
              <a:t>interleaving</a:t>
            </a:r>
            <a:r>
              <a:rPr lang="tr-TR" dirty="0"/>
              <a:t>) (a) yok. (b) tek aralıklı. (c) çift aralıklı.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78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081" y="3326770"/>
            <a:ext cx="8351838" cy="248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463493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Üst Düzey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en-US" i="1" u="sng" dirty="0"/>
              <a:t>High-level formatting is the process of setting up an empty file system on a disk partition or a logical volume and for PCs, installing a boot sector. </a:t>
            </a:r>
            <a:endParaRPr lang="tr-TR" i="1" u="sng" dirty="0"/>
          </a:p>
          <a:p>
            <a:r>
              <a:rPr lang="tr-TR" dirty="0"/>
              <a:t>Ana önyükleme kaydı (</a:t>
            </a:r>
            <a:r>
              <a:rPr lang="tr-TR" i="1" dirty="0" err="1"/>
              <a:t>master</a:t>
            </a:r>
            <a:r>
              <a:rPr lang="tr-TR" i="1" dirty="0"/>
              <a:t> </a:t>
            </a:r>
            <a:r>
              <a:rPr lang="tr-TR" i="1" dirty="0" err="1"/>
              <a:t>boot</a:t>
            </a:r>
            <a:r>
              <a:rPr lang="tr-TR" i="1" dirty="0"/>
              <a:t> </a:t>
            </a:r>
            <a:r>
              <a:rPr lang="tr-TR" i="1" dirty="0" err="1"/>
              <a:t>record</a:t>
            </a:r>
            <a:r>
              <a:rPr lang="tr-TR" dirty="0"/>
              <a:t>), </a:t>
            </a:r>
          </a:p>
          <a:p>
            <a:pPr lvl="1"/>
            <a:r>
              <a:rPr lang="tr-TR" dirty="0"/>
              <a:t>Diskte bulunan ilk sektördür.</a:t>
            </a:r>
          </a:p>
          <a:p>
            <a:pPr lvl="1"/>
            <a:r>
              <a:rPr lang="tr-TR" dirty="0"/>
              <a:t>Bölüm tablosuna (</a:t>
            </a:r>
            <a:r>
              <a:rPr lang="tr-TR" i="1" dirty="0" err="1"/>
              <a:t>partition</a:t>
            </a:r>
            <a:r>
              <a:rPr lang="tr-TR" i="1" dirty="0"/>
              <a:t> </a:t>
            </a:r>
            <a:r>
              <a:rPr lang="tr-TR" i="1" dirty="0" err="1"/>
              <a:t>table</a:t>
            </a:r>
            <a:r>
              <a:rPr lang="tr-TR" dirty="0"/>
              <a:t>) sahiptir.</a:t>
            </a:r>
          </a:p>
          <a:p>
            <a:r>
              <a:rPr lang="tr-TR" dirty="0"/>
              <a:t>Bölüm: aynı diske birden fazla işletim sistemi yüklenebilmesini sağlar.</a:t>
            </a:r>
          </a:p>
          <a:p>
            <a:pPr lvl="1"/>
            <a:r>
              <a:rPr lang="tr-TR" dirty="0"/>
              <a:t>Önyükleme bloğuna (</a:t>
            </a:r>
            <a:r>
              <a:rPr lang="tr-TR" i="1" dirty="0" err="1"/>
              <a:t>boot</a:t>
            </a:r>
            <a:r>
              <a:rPr lang="tr-TR" i="1" dirty="0"/>
              <a:t> </a:t>
            </a:r>
            <a:r>
              <a:rPr lang="tr-TR" i="1" dirty="0" err="1"/>
              <a:t>block</a:t>
            </a:r>
            <a:r>
              <a:rPr lang="tr-TR" dirty="0"/>
              <a:t>) sahiptir.</a:t>
            </a:r>
          </a:p>
          <a:p>
            <a:pPr lvl="1"/>
            <a:r>
              <a:rPr lang="tr-TR" dirty="0"/>
              <a:t>Disk 4 adet birincil (</a:t>
            </a:r>
            <a:r>
              <a:rPr lang="tr-TR" dirty="0" err="1"/>
              <a:t>primary</a:t>
            </a:r>
            <a:r>
              <a:rPr lang="tr-TR" dirty="0"/>
              <a:t>) bölüme sahip olabilir.</a:t>
            </a:r>
          </a:p>
          <a:p>
            <a:pPr lvl="1"/>
            <a:r>
              <a:rPr lang="tr-TR" dirty="0"/>
              <a:t>Önyükleme (</a:t>
            </a:r>
            <a:r>
              <a:rPr lang="tr-TR" i="1" dirty="0" err="1"/>
              <a:t>boot</a:t>
            </a:r>
            <a:r>
              <a:rPr lang="tr-TR" dirty="0"/>
              <a:t>) yapabilmek için aktif olarak seçilmelidir.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4582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Her bir Bölüm için Üst Düzey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Sektör 0'da ana önyükleme kaydı (</a:t>
            </a:r>
            <a:r>
              <a:rPr lang="tr-TR" i="1" dirty="0" err="1"/>
              <a:t>master</a:t>
            </a:r>
            <a:r>
              <a:rPr lang="tr-TR" i="1" dirty="0"/>
              <a:t> </a:t>
            </a:r>
            <a:r>
              <a:rPr lang="tr-TR" i="1" dirty="0" err="1"/>
              <a:t>boot</a:t>
            </a:r>
            <a:r>
              <a:rPr lang="tr-TR" i="1" dirty="0"/>
              <a:t> </a:t>
            </a:r>
            <a:r>
              <a:rPr lang="tr-TR" i="1" dirty="0" err="1"/>
              <a:t>record</a:t>
            </a:r>
            <a:r>
              <a:rPr lang="tr-TR" dirty="0"/>
              <a:t>).</a:t>
            </a:r>
          </a:p>
          <a:p>
            <a:r>
              <a:rPr lang="tr-TR" dirty="0"/>
              <a:t>Bölüm tablosu (</a:t>
            </a:r>
            <a:r>
              <a:rPr lang="tr-TR" i="1" dirty="0" err="1"/>
              <a:t>partition</a:t>
            </a:r>
            <a:r>
              <a:rPr lang="tr-TR" i="1" dirty="0"/>
              <a:t> </a:t>
            </a:r>
            <a:r>
              <a:rPr lang="tr-TR" i="1" dirty="0" err="1"/>
              <a:t>table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Bölümde (</a:t>
            </a:r>
            <a:r>
              <a:rPr lang="tr-TR" i="1" dirty="0" err="1"/>
              <a:t>partition</a:t>
            </a:r>
            <a:r>
              <a:rPr lang="tr-TR" dirty="0"/>
              <a:t>) hangi dosya sisteminin olduğunu gösterir.</a:t>
            </a:r>
          </a:p>
          <a:p>
            <a:pPr lvl="1"/>
            <a:r>
              <a:rPr lang="tr-TR" dirty="0"/>
              <a:t>Önyükleme bloğu (</a:t>
            </a:r>
            <a:r>
              <a:rPr lang="tr-TR" i="1" dirty="0" err="1"/>
              <a:t>boot</a:t>
            </a:r>
            <a:r>
              <a:rPr lang="tr-TR" i="1" dirty="0"/>
              <a:t> </a:t>
            </a:r>
            <a:r>
              <a:rPr lang="tr-TR" i="1" dirty="0" err="1"/>
              <a:t>block</a:t>
            </a:r>
            <a:r>
              <a:rPr lang="tr-TR" dirty="0"/>
              <a:t>) programı.</a:t>
            </a:r>
          </a:p>
          <a:p>
            <a:pPr lvl="1"/>
            <a:r>
              <a:rPr lang="tr-TR" dirty="0"/>
              <a:t>Yönetmek için boş depolama alanı (</a:t>
            </a:r>
            <a:r>
              <a:rPr lang="tr-TR" i="1" dirty="0" err="1"/>
              <a:t>biteşlem</a:t>
            </a:r>
            <a:r>
              <a:rPr lang="tr-TR" dirty="0"/>
              <a:t> veya </a:t>
            </a:r>
            <a:r>
              <a:rPr lang="tr-TR" i="1" dirty="0"/>
              <a:t>boş liste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Kök dizini (</a:t>
            </a:r>
            <a:r>
              <a:rPr lang="tr-TR" i="1" dirty="0" err="1"/>
              <a:t>root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Boş dosya sistemi (</a:t>
            </a:r>
            <a:r>
              <a:rPr lang="tr-TR" i="1" dirty="0" err="1"/>
              <a:t>empty</a:t>
            </a:r>
            <a:r>
              <a:rPr lang="tr-TR" i="1" dirty="0"/>
              <a:t>  file </a:t>
            </a:r>
            <a:r>
              <a:rPr lang="tr-TR" i="1" dirty="0" err="1"/>
              <a:t>system</a:t>
            </a:r>
            <a:r>
              <a:rPr lang="tr-TR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65895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Bilgisayara Güç Verildiğinde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/>
              <a:t>BIOS</a:t>
            </a:r>
            <a:r>
              <a:rPr lang="tr-TR" dirty="0"/>
              <a:t>, ana önyükleme kaydını (</a:t>
            </a:r>
            <a:r>
              <a:rPr lang="tr-TR" i="1" dirty="0"/>
              <a:t>MBR</a:t>
            </a:r>
            <a:r>
              <a:rPr lang="tr-TR" dirty="0"/>
              <a:t>) okur.</a:t>
            </a:r>
          </a:p>
          <a:p>
            <a:r>
              <a:rPr lang="tr-TR" dirty="0"/>
              <a:t>Önyükleme programı hangi bölümün aktif olduğunu belirler.</a:t>
            </a:r>
          </a:p>
          <a:p>
            <a:r>
              <a:rPr lang="tr-TR" dirty="0"/>
              <a:t>Aktif bölümden önyükleme sektörünü (</a:t>
            </a:r>
            <a:r>
              <a:rPr lang="tr-TR" i="1" dirty="0" err="1"/>
              <a:t>boot</a:t>
            </a:r>
            <a:r>
              <a:rPr lang="tr-TR" i="1" dirty="0"/>
              <a:t> </a:t>
            </a:r>
            <a:r>
              <a:rPr lang="tr-TR" i="1" dirty="0" err="1"/>
              <a:t>sector</a:t>
            </a:r>
            <a:r>
              <a:rPr lang="tr-TR" dirty="0"/>
              <a:t>) okur.</a:t>
            </a:r>
          </a:p>
          <a:p>
            <a:r>
              <a:rPr lang="tr-TR" dirty="0"/>
              <a:t>Önyükleme sektörü, ikinci bir önyükleme (</a:t>
            </a:r>
            <a:r>
              <a:rPr lang="tr-TR" i="1" dirty="0" err="1"/>
              <a:t>boot</a:t>
            </a:r>
            <a:r>
              <a:rPr lang="tr-TR" dirty="0"/>
              <a:t>) programı yükler.</a:t>
            </a:r>
          </a:p>
          <a:p>
            <a:r>
              <a:rPr lang="tr-TR" dirty="0"/>
              <a:t>Önyükleme programı, işletim sistemi çekirdeğini yükler ve yürütür.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2437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Kolu Zamanlama Algoritması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Disk kafası hareketlerini en aza indirerek, disk gecikmesini azaltır ve disk verimini artırır.</a:t>
            </a:r>
          </a:p>
          <a:p>
            <a:r>
              <a:rPr lang="tr-TR" dirty="0"/>
              <a:t>Arama süresi (</a:t>
            </a:r>
            <a:r>
              <a:rPr lang="tr-TR" i="1" dirty="0" err="1"/>
              <a:t>seek</a:t>
            </a:r>
            <a:r>
              <a:rPr lang="tr-TR" i="1" dirty="0"/>
              <a:t> time</a:t>
            </a:r>
            <a:r>
              <a:rPr lang="tr-TR" dirty="0"/>
              <a:t>): </a:t>
            </a:r>
          </a:p>
          <a:p>
            <a:pPr lvl="1"/>
            <a:r>
              <a:rPr lang="tr-TR" dirty="0"/>
              <a:t>Kolun doğru ize ulaşana kadar geçen süre.</a:t>
            </a:r>
          </a:p>
          <a:p>
            <a:r>
              <a:rPr lang="tr-TR" dirty="0"/>
              <a:t>Dönme gecikmesi (</a:t>
            </a:r>
            <a:r>
              <a:rPr lang="tr-TR" i="1" dirty="0" err="1"/>
              <a:t>rotational</a:t>
            </a:r>
            <a:r>
              <a:rPr lang="tr-TR" i="1" dirty="0"/>
              <a:t> </a:t>
            </a:r>
            <a:r>
              <a:rPr lang="tr-TR" i="1" dirty="0" err="1"/>
              <a:t>latency</a:t>
            </a:r>
            <a:r>
              <a:rPr lang="tr-TR" dirty="0"/>
              <a:t>): </a:t>
            </a:r>
          </a:p>
          <a:p>
            <a:pPr lvl="1"/>
            <a:r>
              <a:rPr lang="tr-TR" dirty="0"/>
              <a:t>Okuma kafasının doğru sektöre varması için geçen süre</a:t>
            </a:r>
          </a:p>
          <a:p>
            <a:r>
              <a:rPr lang="tr-TR" dirty="0"/>
              <a:t>Veri transfer süresi (</a:t>
            </a:r>
            <a:r>
              <a:rPr lang="tr-TR" i="1" dirty="0"/>
              <a:t>transfer time</a:t>
            </a:r>
            <a:r>
              <a:rPr lang="tr-TR" dirty="0"/>
              <a:t>):</a:t>
            </a:r>
          </a:p>
          <a:p>
            <a:pPr lvl="1"/>
            <a:r>
              <a:rPr lang="tr-TR" i="1" dirty="0" err="1"/>
              <a:t>access</a:t>
            </a:r>
            <a:r>
              <a:rPr lang="tr-TR" i="1" dirty="0"/>
              <a:t> time = </a:t>
            </a:r>
            <a:r>
              <a:rPr lang="tr-TR" i="1" dirty="0" err="1"/>
              <a:t>seek</a:t>
            </a:r>
            <a:r>
              <a:rPr lang="tr-TR" i="1" dirty="0"/>
              <a:t> time + </a:t>
            </a:r>
            <a:r>
              <a:rPr lang="tr-TR" i="1" dirty="0" err="1"/>
              <a:t>rotational</a:t>
            </a:r>
            <a:r>
              <a:rPr lang="tr-TR" i="1" dirty="0"/>
              <a:t> </a:t>
            </a:r>
            <a:r>
              <a:rPr lang="tr-TR" i="1" dirty="0" err="1"/>
              <a:t>latency</a:t>
            </a:r>
            <a:r>
              <a:rPr lang="tr-TR" i="1" dirty="0"/>
              <a:t>.</a:t>
            </a:r>
          </a:p>
          <a:p>
            <a:r>
              <a:rPr lang="tr-TR" dirty="0"/>
              <a:t>Sürücü isteklerinin listesini tutar (silindir numarası, istek zamanı).</a:t>
            </a:r>
          </a:p>
          <a:p>
            <a:pPr lvl="1"/>
            <a:r>
              <a:rPr lang="tr-TR" dirty="0"/>
              <a:t>Arama süresini optimize etmeye çalışır.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4970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Kolu Zamanlama Algoritması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FCFS (</a:t>
            </a:r>
            <a:r>
              <a:rPr lang="tr-TR" i="1" dirty="0" err="1"/>
              <a:t>first</a:t>
            </a:r>
            <a:r>
              <a:rPr lang="tr-TR" i="1" dirty="0"/>
              <a:t> </a:t>
            </a:r>
            <a:r>
              <a:rPr lang="tr-TR" i="1" dirty="0" err="1"/>
              <a:t>come</a:t>
            </a:r>
            <a:r>
              <a:rPr lang="tr-TR" i="1" dirty="0"/>
              <a:t> </a:t>
            </a:r>
            <a:r>
              <a:rPr lang="tr-TR" i="1" dirty="0" err="1"/>
              <a:t>first</a:t>
            </a:r>
            <a:r>
              <a:rPr lang="tr-TR" i="1" dirty="0"/>
              <a:t> </a:t>
            </a:r>
            <a:r>
              <a:rPr lang="tr-TR" i="1" dirty="0" err="1"/>
              <a:t>served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İlk gelen ilk hizmet alır.</a:t>
            </a:r>
          </a:p>
          <a:p>
            <a:r>
              <a:rPr lang="tr-TR" dirty="0"/>
              <a:t>SSTF (</a:t>
            </a:r>
            <a:r>
              <a:rPr lang="tr-TR" dirty="0" err="1"/>
              <a:t>shortest</a:t>
            </a:r>
            <a:r>
              <a:rPr lang="tr-TR" dirty="0"/>
              <a:t> </a:t>
            </a:r>
            <a:r>
              <a:rPr lang="tr-TR" dirty="0" err="1"/>
              <a:t>seek</a:t>
            </a:r>
            <a:r>
              <a:rPr lang="tr-TR" dirty="0"/>
              <a:t> time </a:t>
            </a:r>
            <a:r>
              <a:rPr lang="tr-TR" dirty="0" err="1"/>
              <a:t>first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En kısa arama süresi olan ilk hizmet alır.</a:t>
            </a:r>
          </a:p>
          <a:p>
            <a:r>
              <a:rPr lang="tr-TR" dirty="0"/>
              <a:t>SCAN (</a:t>
            </a:r>
            <a:r>
              <a:rPr lang="tr-TR" i="1" dirty="0"/>
              <a:t>Asansör Algoritması</a:t>
            </a:r>
            <a:r>
              <a:rPr lang="tr-TR" dirty="0"/>
              <a:t>)</a:t>
            </a:r>
          </a:p>
          <a:p>
            <a:r>
              <a:rPr lang="tr-TR" dirty="0"/>
              <a:t>C-SCAN (</a:t>
            </a:r>
            <a:r>
              <a:rPr lang="tr-TR" i="1" dirty="0"/>
              <a:t>Döngüsel (</a:t>
            </a:r>
            <a:r>
              <a:rPr lang="tr-TR" i="1" dirty="0" err="1"/>
              <a:t>Circular</a:t>
            </a:r>
            <a:r>
              <a:rPr lang="tr-TR" i="1" dirty="0"/>
              <a:t>) SCAN</a:t>
            </a:r>
            <a:r>
              <a:rPr lang="tr-TR" dirty="0"/>
              <a:t>)</a:t>
            </a:r>
          </a:p>
          <a:p>
            <a:r>
              <a:rPr lang="tr-TR" dirty="0"/>
              <a:t>LOOK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1657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İlk Gelen İlk Hizmet Alır Algoritması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Toplamda 640 disk </a:t>
            </a:r>
          </a:p>
          <a:p>
            <a:pPr marL="0" indent="0">
              <a:buNone/>
            </a:pPr>
            <a:r>
              <a:rPr lang="tr-TR" dirty="0"/>
              <a:t>silindir hareketi yapılır.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84</a:t>
            </a:fld>
            <a:endParaRPr lang="en-US" dirty="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159710FD-52C7-4469-80D4-35B441FEA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931" y="1825625"/>
            <a:ext cx="5840412" cy="4230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82117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Önce En Kısa Arama Algoritması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Kafa </a:t>
            </a:r>
            <a:r>
              <a:rPr lang="tr-TR" i="1" dirty="0"/>
              <a:t>11.</a:t>
            </a:r>
            <a:r>
              <a:rPr lang="tr-TR" dirty="0"/>
              <a:t> silindir üzerinde. Sırasıyla </a:t>
            </a:r>
            <a:r>
              <a:rPr lang="tr-TR" i="1" dirty="0"/>
              <a:t>1,36,16,34,9,12</a:t>
            </a:r>
            <a:r>
              <a:rPr lang="tr-TR" dirty="0"/>
              <a:t> istekleri gelir. </a:t>
            </a:r>
          </a:p>
          <a:p>
            <a:r>
              <a:rPr lang="tr-TR" i="1" dirty="0"/>
              <a:t>FCFS: 111 (10+35+20+18+25+3)</a:t>
            </a:r>
            <a:r>
              <a:rPr lang="tr-TR" dirty="0"/>
              <a:t>, </a:t>
            </a:r>
          </a:p>
          <a:p>
            <a:r>
              <a:rPr lang="tr-TR" i="1" dirty="0"/>
              <a:t>SSTF: 61 (1+3+7+15+33+2)</a:t>
            </a:r>
            <a:r>
              <a:rPr lang="tr-TR" dirty="0"/>
              <a:t> silindir hareketi yapar.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85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2" y="3262933"/>
            <a:ext cx="8410575" cy="2876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295059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Asansör Algoritması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Açgözlü (</a:t>
            </a:r>
            <a:r>
              <a:rPr lang="tr-TR" i="1" dirty="0" err="1"/>
              <a:t>greedy</a:t>
            </a:r>
            <a:r>
              <a:rPr lang="tr-TR" dirty="0"/>
              <a:t>) bir algoritma.</a:t>
            </a:r>
          </a:p>
          <a:p>
            <a:r>
              <a:rPr lang="tr-TR" dirty="0"/>
              <a:t>Yoğun kullanımda kafa, diskin bir bölümünde sıkışabilir.</a:t>
            </a:r>
          </a:p>
          <a:p>
            <a:r>
              <a:rPr lang="tr-TR" dirty="0"/>
              <a:t>Talep kalmayana kadar bir yönde devam eder, ardından ters yönde devam eder.</a:t>
            </a:r>
          </a:p>
          <a:p>
            <a:r>
              <a:rPr lang="tr-TR" dirty="0"/>
              <a:t>Gerçek asansörler bu algoritmayı kullanır.</a:t>
            </a:r>
          </a:p>
          <a:p>
            <a:r>
              <a:rPr lang="tr-TR" dirty="0"/>
              <a:t>Önce bir yöne git, sonra ters yönde git.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88665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Asansör Algoritması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Kafa </a:t>
            </a:r>
            <a:r>
              <a:rPr lang="tr-TR" i="1" dirty="0"/>
              <a:t>11.</a:t>
            </a:r>
            <a:r>
              <a:rPr lang="tr-TR" dirty="0"/>
              <a:t> silindir üzerinde. Sırasıyla </a:t>
            </a:r>
            <a:r>
              <a:rPr lang="tr-TR" i="1" dirty="0"/>
              <a:t>1,36,16,34,9,12</a:t>
            </a:r>
            <a:r>
              <a:rPr lang="tr-TR" dirty="0"/>
              <a:t> istekleri gelir. </a:t>
            </a:r>
          </a:p>
          <a:p>
            <a:r>
              <a:rPr lang="tr-TR" i="1" dirty="0"/>
              <a:t>SCAN: 60 (1+4+18+2+27+8)</a:t>
            </a:r>
            <a:r>
              <a:rPr lang="tr-TR" dirty="0"/>
              <a:t> silindir hareketi yapar.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87</a:t>
            </a:fld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780284"/>
            <a:ext cx="8382000" cy="3267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366012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Asansör Algoritması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Toplamda 208 disk </a:t>
            </a:r>
          </a:p>
          <a:p>
            <a:pPr marL="0" indent="0">
              <a:buNone/>
            </a:pPr>
            <a:r>
              <a:rPr lang="tr-TR" dirty="0"/>
              <a:t>silindir hareketi yapılır.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88</a:t>
            </a:fld>
            <a:endParaRPr lang="en-US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3D6A1640-ABED-47F9-A49D-31E148A3B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095" y="1609775"/>
            <a:ext cx="5981700" cy="4511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532842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C-SCAN Algoritması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SCAN algoritmasına benzer.</a:t>
            </a:r>
          </a:p>
          <a:p>
            <a:r>
              <a:rPr lang="tr-TR" dirty="0"/>
              <a:t>Bir yönde istekler bitince,</a:t>
            </a:r>
          </a:p>
          <a:p>
            <a:pPr marL="0" indent="0">
              <a:buNone/>
            </a:pPr>
            <a:r>
              <a:rPr lang="tr-TR" dirty="0"/>
              <a:t>ters yöne dönmez, en baştan </a:t>
            </a:r>
          </a:p>
          <a:p>
            <a:pPr marL="0" indent="0">
              <a:buNone/>
            </a:pPr>
            <a:r>
              <a:rPr lang="tr-TR" dirty="0"/>
              <a:t>tekrar başlar.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89</a:t>
            </a:fld>
            <a:endParaRPr lang="en-US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0D8AE4FC-A80E-41F5-96B7-27F3CDE0BF01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" t="3731" r="925" b="3731"/>
          <a:stretch>
            <a:fillRect/>
          </a:stretch>
        </p:blipFill>
        <p:spPr bwMode="auto">
          <a:xfrm>
            <a:off x="5269774" y="1609775"/>
            <a:ext cx="5976000" cy="45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285982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Denetleyici Önbelleği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Disk denetleyicilerinin </a:t>
            </a:r>
            <a:r>
              <a:rPr lang="tr-TR" i="1" dirty="0"/>
              <a:t>kendi önbelleği</a:t>
            </a:r>
            <a:r>
              <a:rPr lang="tr-TR" dirty="0"/>
              <a:t> vardır.</a:t>
            </a:r>
          </a:p>
          <a:p>
            <a:r>
              <a:rPr lang="tr-TR" dirty="0"/>
              <a:t>Önbellek, işletim sistemi önbelleğinden ayrıdır.</a:t>
            </a:r>
          </a:p>
          <a:p>
            <a:r>
              <a:rPr lang="tr-TR" dirty="0"/>
              <a:t>İşletim sistemi, </a:t>
            </a:r>
          </a:p>
          <a:p>
            <a:pPr lvl="1"/>
            <a:r>
              <a:rPr lang="tr-TR" dirty="0"/>
              <a:t>Blokları diskte bulundukları yerden, bağımsız olarak önbelleğe alır.</a:t>
            </a:r>
          </a:p>
          <a:p>
            <a:r>
              <a:rPr lang="tr-TR" dirty="0"/>
              <a:t>Denetleyici, </a:t>
            </a:r>
          </a:p>
          <a:p>
            <a:pPr lvl="1"/>
            <a:r>
              <a:rPr lang="tr-TR" dirty="0"/>
              <a:t>Okunması kolay olan, o anda disk kafasına yakın olan,</a:t>
            </a:r>
          </a:p>
          <a:p>
            <a:pPr lvl="1"/>
            <a:r>
              <a:rPr lang="tr-TR" dirty="0"/>
              <a:t>Ancak zorunlu olarak talep edilmeyen blokları önbelleğe alır.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50644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Bozuk Sektörler – Denetleyici Yaklaşımı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Üretim hatası: yazılan veri ile geri okunan veri uyuşmaz.</a:t>
            </a:r>
          </a:p>
          <a:p>
            <a:r>
              <a:rPr lang="tr-TR" dirty="0"/>
              <a:t>Denetleyici ve işletim sistemi bozuk sektörleri ele alır.</a:t>
            </a:r>
          </a:p>
          <a:p>
            <a:r>
              <a:rPr lang="tr-TR" dirty="0"/>
              <a:t>Denetleyici bozuk sektörlerin bir listesini üreticiden sağlar,</a:t>
            </a:r>
          </a:p>
          <a:p>
            <a:pPr lvl="1"/>
            <a:r>
              <a:rPr lang="tr-TR" dirty="0"/>
              <a:t>Bozuk sektörleri, sağlam yedek sektörler ile eşler.</a:t>
            </a:r>
          </a:p>
          <a:p>
            <a:r>
              <a:rPr lang="tr-TR" dirty="0"/>
              <a:t>Denetleyici, bozuk sektörleri disk kullanımda iken fark eder ve eşler.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13966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Bozuk Sektörleri Ele Alma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(a) Bozuk bir sektöre, iki tane yedek sektöre sahip bir disk izi (</a:t>
            </a:r>
            <a:r>
              <a:rPr lang="tr-TR" i="1" dirty="0" err="1"/>
              <a:t>track</a:t>
            </a:r>
            <a:r>
              <a:rPr lang="tr-TR" dirty="0"/>
              <a:t>). </a:t>
            </a:r>
          </a:p>
          <a:p>
            <a:r>
              <a:rPr lang="tr-TR" dirty="0"/>
              <a:t>(b) Bozuk sektör sağlam bir yedek ile eşlenir. </a:t>
            </a:r>
          </a:p>
          <a:p>
            <a:r>
              <a:rPr lang="tr-TR" dirty="0"/>
              <a:t>(c) Bozuk olan sektör atlanır, diğer sektörler kaydırılır.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92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331" y="3187759"/>
            <a:ext cx="8923337" cy="3165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051345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Kararlı (</a:t>
            </a:r>
            <a:r>
              <a:rPr lang="tr-TR" dirty="0" err="1"/>
              <a:t>Stable</a:t>
            </a:r>
            <a:r>
              <a:rPr lang="tr-TR" dirty="0"/>
              <a:t>) Depolama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Ya doğru veriler yazılır, ya da eski veriler yerinde kalır.</a:t>
            </a:r>
          </a:p>
          <a:p>
            <a:r>
              <a:rPr lang="tr-TR" dirty="0"/>
              <a:t>Kaybedilemeyecek veriler için gereklidir.</a:t>
            </a:r>
          </a:p>
          <a:p>
            <a:r>
              <a:rPr lang="tr-TR" dirty="0"/>
              <a:t>Özdeş diskler kullanılarak kararlı depolama:</a:t>
            </a:r>
          </a:p>
          <a:p>
            <a:pPr lvl="1"/>
            <a:r>
              <a:rPr lang="tr-TR" dirty="0"/>
              <a:t>Kararlı yazma, </a:t>
            </a:r>
          </a:p>
          <a:p>
            <a:pPr lvl="1"/>
            <a:r>
              <a:rPr lang="tr-TR" dirty="0"/>
              <a:t>Kararlı okuma, </a:t>
            </a:r>
          </a:p>
          <a:p>
            <a:pPr lvl="1"/>
            <a:r>
              <a:rPr lang="tr-TR" dirty="0"/>
              <a:t>Çökmeden kurtarma (</a:t>
            </a:r>
            <a:r>
              <a:rPr lang="tr-TR" i="1" dirty="0" err="1"/>
              <a:t>crash</a:t>
            </a:r>
            <a:r>
              <a:rPr lang="tr-TR" i="1" dirty="0"/>
              <a:t> </a:t>
            </a:r>
            <a:r>
              <a:rPr lang="tr-TR" i="1" dirty="0" err="1"/>
              <a:t>recovery</a:t>
            </a:r>
            <a:r>
              <a:rPr lang="tr-TR" dirty="0"/>
              <a:t>).</a:t>
            </a:r>
          </a:p>
          <a:p>
            <a:pPr lvl="1"/>
            <a:r>
              <a:rPr lang="tr-TR" i="1" dirty="0"/>
              <a:t>RAID </a:t>
            </a:r>
            <a:r>
              <a:rPr lang="tr-TR" dirty="0"/>
              <a:t>bozulacak sektörlere karşı koruma sağlayabilir.</a:t>
            </a:r>
          </a:p>
          <a:p>
            <a:pPr lvl="1"/>
            <a:r>
              <a:rPr lang="tr-TR" dirty="0"/>
              <a:t>Yazma sırasında çökmelere karşı koruma sağlayamaz.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18791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Varsayımlar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İki farklı diskte hatalı veri bulunma olasılığı ihmal edilebilir düzeydedir.</a:t>
            </a:r>
          </a:p>
          <a:p>
            <a:r>
              <a:rPr lang="tr-TR" dirty="0"/>
              <a:t>CPU hatası olursa, devam eden yazma işlemi durur. </a:t>
            </a:r>
          </a:p>
          <a:p>
            <a:r>
              <a:rPr lang="tr-TR" dirty="0"/>
              <a:t>Hatalı veriler, okuma işlemi sırasında </a:t>
            </a:r>
            <a:r>
              <a:rPr lang="tr-TR" i="1" dirty="0"/>
              <a:t>ECC </a:t>
            </a:r>
            <a:r>
              <a:rPr lang="tr-TR" dirty="0"/>
              <a:t>ile tespit edilebilir.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13196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Fikir ve İşlemler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2 tane özdeş disk kullanılır.</a:t>
            </a:r>
          </a:p>
          <a:p>
            <a:r>
              <a:rPr lang="tr-TR" b="1" dirty="0"/>
              <a:t>Kararlı yazma</a:t>
            </a:r>
            <a:r>
              <a:rPr lang="tr-TR" dirty="0"/>
              <a:t>: yaz, oku, karşılaştır. </a:t>
            </a:r>
          </a:p>
          <a:p>
            <a:pPr lvl="1"/>
            <a:r>
              <a:rPr lang="tr-TR" dirty="0"/>
              <a:t>Başarılı ise ikinci diske yaz. Başarısız ise, </a:t>
            </a:r>
            <a:r>
              <a:rPr lang="tr-TR" i="1" dirty="0"/>
              <a:t>n</a:t>
            </a:r>
            <a:r>
              <a:rPr lang="tr-TR" dirty="0"/>
              <a:t> defa dene. </a:t>
            </a:r>
          </a:p>
          <a:p>
            <a:pPr lvl="1"/>
            <a:r>
              <a:rPr lang="tr-TR" dirty="0"/>
              <a:t>Hala başarısız ise, başarılı olana kadar yedek sektörleri kullan. </a:t>
            </a:r>
          </a:p>
          <a:p>
            <a:pPr lvl="1"/>
            <a:r>
              <a:rPr lang="tr-TR" dirty="0"/>
              <a:t>Ardından ikinci diske yaz.</a:t>
            </a:r>
          </a:p>
          <a:p>
            <a:r>
              <a:rPr lang="tr-TR" b="1" dirty="0"/>
              <a:t>Kararlı okuma</a:t>
            </a:r>
            <a:r>
              <a:rPr lang="tr-TR" dirty="0"/>
              <a:t>: doğru </a:t>
            </a:r>
            <a:r>
              <a:rPr lang="tr-TR" i="1" dirty="0"/>
              <a:t>ECC </a:t>
            </a:r>
            <a:r>
              <a:rPr lang="tr-TR" dirty="0"/>
              <a:t>elde edene kadar birinci diskten </a:t>
            </a:r>
            <a:r>
              <a:rPr lang="tr-TR" i="1" dirty="0"/>
              <a:t>n</a:t>
            </a:r>
            <a:r>
              <a:rPr lang="tr-TR" dirty="0"/>
              <a:t> defa oku. </a:t>
            </a:r>
          </a:p>
          <a:p>
            <a:pPr lvl="1"/>
            <a:r>
              <a:rPr lang="tr-TR" dirty="0"/>
              <a:t>Aksi takdirde ikinci diskten oku.</a:t>
            </a:r>
          </a:p>
          <a:p>
            <a:r>
              <a:rPr lang="tr-TR" b="1" dirty="0"/>
              <a:t>Hatadan kurtarma</a:t>
            </a:r>
            <a:r>
              <a:rPr lang="tr-TR" dirty="0"/>
              <a:t>: iki diskten de oku ve karşılaştır. </a:t>
            </a:r>
          </a:p>
          <a:p>
            <a:pPr lvl="1"/>
            <a:r>
              <a:rPr lang="tr-TR" dirty="0"/>
              <a:t>Bir blokta </a:t>
            </a:r>
            <a:r>
              <a:rPr lang="tr-TR" i="1" dirty="0"/>
              <a:t>ECC </a:t>
            </a:r>
            <a:r>
              <a:rPr lang="tr-TR" dirty="0"/>
              <a:t>hatası varsa, üzerine doğru bloğu yaz. </a:t>
            </a:r>
          </a:p>
          <a:p>
            <a:pPr lvl="1"/>
            <a:r>
              <a:rPr lang="tr-TR" dirty="0"/>
              <a:t>İkisinde de </a:t>
            </a:r>
            <a:r>
              <a:rPr lang="tr-TR" i="1" dirty="0"/>
              <a:t>ECC </a:t>
            </a:r>
            <a:r>
              <a:rPr lang="tr-TR" dirty="0"/>
              <a:t>hatası yoksa, birini seç.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27169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6258</TotalTime>
  <Words>6027</Words>
  <Application>Microsoft Office PowerPoint</Application>
  <PresentationFormat>Widescreen</PresentationFormat>
  <Paragraphs>890</Paragraphs>
  <Slides>96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2" baseType="lpstr">
      <vt:lpstr>Arial</vt:lpstr>
      <vt:lpstr>Calibri</vt:lpstr>
      <vt:lpstr>Calibri Light</vt:lpstr>
      <vt:lpstr>Consolas</vt:lpstr>
      <vt:lpstr>Wingdings</vt:lpstr>
      <vt:lpstr>1_Office Theme</vt:lpstr>
      <vt:lpstr>Bölüm 11: Giriş Çıkış</vt:lpstr>
      <vt:lpstr>Genel Bakış</vt:lpstr>
      <vt:lpstr>Veri Yolu</vt:lpstr>
      <vt:lpstr>Veri Hızı</vt:lpstr>
      <vt:lpstr>Örnek Veri Hızları</vt:lpstr>
      <vt:lpstr>Genel Bakış</vt:lpstr>
      <vt:lpstr>Disk Geometrisi</vt:lpstr>
      <vt:lpstr>Disk Mekanizması</vt:lpstr>
      <vt:lpstr>Aygıt Denetleyicileri</vt:lpstr>
      <vt:lpstr>Aygıt Denetleyicileri</vt:lpstr>
      <vt:lpstr>Bellek Eşlemeli G/Ç</vt:lpstr>
      <vt:lpstr>Bellek Eşlemeli G/Ç</vt:lpstr>
      <vt:lpstr>Aygıt G/Ç Kapıları (Port)</vt:lpstr>
      <vt:lpstr>CPU Yazmaç ve Arabelleği Nasıl Adresler?</vt:lpstr>
      <vt:lpstr>Bellek Eşlemeli G/Ç Avantajları</vt:lpstr>
      <vt:lpstr>Bellek Eşlemeli G/Ç Dezavantajları</vt:lpstr>
      <vt:lpstr>Bellek Eşlemeli G/Ç</vt:lpstr>
      <vt:lpstr>Doğrudan Bellek Erişimi (DMA)</vt:lpstr>
      <vt:lpstr>DMA Ne Zaman Kullanılmaz?</vt:lpstr>
      <vt:lpstr>Doğrudan Bellek Erişimi (DMA)</vt:lpstr>
      <vt:lpstr>Sorular</vt:lpstr>
      <vt:lpstr>Kesmeler</vt:lpstr>
      <vt:lpstr>Kesme İşleme</vt:lpstr>
      <vt:lpstr>PC ve PSW Kaydedilebilir Mi?</vt:lpstr>
      <vt:lpstr>Kesin olan Kesmenin Özellikleri</vt:lpstr>
      <vt:lpstr>G/Ç Aygıt Kesmesi</vt:lpstr>
      <vt:lpstr>Sayfa Hatası / Aritmetik Taşma</vt:lpstr>
      <vt:lpstr>Kesin ve Kesin Olmayan Kesmeler</vt:lpstr>
      <vt:lpstr>Kesin Olmayan Kesmenin Özellikleri</vt:lpstr>
      <vt:lpstr>G/Ç Yazılımı Hedefler</vt:lpstr>
      <vt:lpstr>Programlanmış G/Ç</vt:lpstr>
      <vt:lpstr>Programlanmış G/Ç</vt:lpstr>
      <vt:lpstr>Programlanmış G/Ç</vt:lpstr>
      <vt:lpstr>Programlanmış G/Ç</vt:lpstr>
      <vt:lpstr>Kesme Odaklı G/Ç</vt:lpstr>
      <vt:lpstr>Kesme Odaklı G/Ç</vt:lpstr>
      <vt:lpstr>Kesme Odaklı G/Ç</vt:lpstr>
      <vt:lpstr>Kesme Odaklı G/Ç</vt:lpstr>
      <vt:lpstr>Kesme Odaklı G/Ç</vt:lpstr>
      <vt:lpstr>DMA Kullanarak G/Ç</vt:lpstr>
      <vt:lpstr>DMA Kullanarak G/Ç</vt:lpstr>
      <vt:lpstr>DMA Kullanarak G/Ç</vt:lpstr>
      <vt:lpstr>DMA Kullanarak G/Ç</vt:lpstr>
      <vt:lpstr>G/Ç Yazılım Katmanları</vt:lpstr>
      <vt:lpstr>G/Ç Sisteminin Katmanları</vt:lpstr>
      <vt:lpstr>Kesme İşleyicileri (Handler)</vt:lpstr>
      <vt:lpstr>Kesme İşleyicileri (Handler)</vt:lpstr>
      <vt:lpstr>Aygıt Sürücüleri</vt:lpstr>
      <vt:lpstr>Aygıt Sürücüleri</vt:lpstr>
      <vt:lpstr>Aygıt Sürücüleri</vt:lpstr>
      <vt:lpstr>Aygıtdan Bağımsız G/Ç Yazılımı</vt:lpstr>
      <vt:lpstr>Aygıt Sürücüleri İçin Tek Tip Arayüz</vt:lpstr>
      <vt:lpstr>Aygıt Sürücü Fonksiyonları</vt:lpstr>
      <vt:lpstr>Ara Belleğe Alma</vt:lpstr>
      <vt:lpstr>Ara Belleğe Alma</vt:lpstr>
      <vt:lpstr>Bağımsız Yazılımın Diğer İşlevleri</vt:lpstr>
      <vt:lpstr>Kullanıcı Alanında G/Ç Yazılımı</vt:lpstr>
      <vt:lpstr>Diskler</vt:lpstr>
      <vt:lpstr>Manyetik Diskler</vt:lpstr>
      <vt:lpstr>SSD (Solid State Drive) Diskler</vt:lpstr>
      <vt:lpstr>NVMe (Non-Volatile Memory Express)</vt:lpstr>
      <vt:lpstr>Ucuz Disklerin Artık Dizisi (RAID) </vt:lpstr>
      <vt:lpstr>RAID Seviyeleri</vt:lpstr>
      <vt:lpstr>RAID Seviyeleri (0-2)</vt:lpstr>
      <vt:lpstr>RAID Seviyeleri</vt:lpstr>
      <vt:lpstr>RAID Seviyeleri (3-5)</vt:lpstr>
      <vt:lpstr>CD-ROM</vt:lpstr>
      <vt:lpstr>CD-ROM Kayıt Yapısı</vt:lpstr>
      <vt:lpstr>CD-ROM</vt:lpstr>
      <vt:lpstr>CD-ROM Mantıksal Veri Düzeni</vt:lpstr>
      <vt:lpstr>Kaydedilebilir Compact Disk (CD-R)</vt:lpstr>
      <vt:lpstr>Digital Versatile Disc (Dijital Çok Yönlü Disk)</vt:lpstr>
      <vt:lpstr>DVD Formatları</vt:lpstr>
      <vt:lpstr>Çift Taraflı Çift Katmanlı DVD Disk</vt:lpstr>
      <vt:lpstr>Sabit Disk Formatı</vt:lpstr>
      <vt:lpstr>Bir Disk Sektörü</vt:lpstr>
      <vt:lpstr>Silindir Eğriliği (Asimetri)</vt:lpstr>
      <vt:lpstr>Disk Biçimlendirme</vt:lpstr>
      <vt:lpstr>Üst Düzey Format</vt:lpstr>
      <vt:lpstr>Her bir Bölüm için Üst Düzey Format</vt:lpstr>
      <vt:lpstr>Bilgisayara Güç Verildiğinde</vt:lpstr>
      <vt:lpstr>Disk Kolu Zamanlama Algoritması</vt:lpstr>
      <vt:lpstr>Disk Kolu Zamanlama Algoritması</vt:lpstr>
      <vt:lpstr>İlk Gelen İlk Hizmet Alır Algoritması</vt:lpstr>
      <vt:lpstr>Önce En Kısa Arama Algoritması</vt:lpstr>
      <vt:lpstr>Asansör Algoritması</vt:lpstr>
      <vt:lpstr>Asansör Algoritması</vt:lpstr>
      <vt:lpstr>Asansör Algoritması</vt:lpstr>
      <vt:lpstr>C-SCAN Algoritması</vt:lpstr>
      <vt:lpstr>Disk Denetleyici Önbelleği</vt:lpstr>
      <vt:lpstr>Bozuk Sektörler – Denetleyici Yaklaşımı</vt:lpstr>
      <vt:lpstr>Bozuk Sektörleri Ele Alma</vt:lpstr>
      <vt:lpstr>Kararlı (Stable) Depolama</vt:lpstr>
      <vt:lpstr>Varsayımlar</vt:lpstr>
      <vt:lpstr>Fikir ve İşlemler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Giris Cikis</dc:title>
  <dc:creator>sercan</dc:creator>
  <cp:lastModifiedBy>Sercan Kulcu</cp:lastModifiedBy>
  <cp:revision>507</cp:revision>
  <dcterms:created xsi:type="dcterms:W3CDTF">2023-01-12T09:23:55Z</dcterms:created>
  <dcterms:modified xsi:type="dcterms:W3CDTF">2026-05-11T13:59:22Z</dcterms:modified>
</cp:coreProperties>
</file>