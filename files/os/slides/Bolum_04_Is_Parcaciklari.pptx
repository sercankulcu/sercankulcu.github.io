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9" r:id="rId1"/>
  </p:sldMasterIdLst>
  <p:notesMasterIdLst>
    <p:notesMasterId r:id="rId56"/>
  </p:notesMasterIdLst>
  <p:sldIdLst>
    <p:sldId id="256" r:id="rId2"/>
    <p:sldId id="484" r:id="rId3"/>
    <p:sldId id="485" r:id="rId4"/>
    <p:sldId id="486" r:id="rId5"/>
    <p:sldId id="322" r:id="rId6"/>
    <p:sldId id="457" r:id="rId7"/>
    <p:sldId id="456" r:id="rId8"/>
    <p:sldId id="329" r:id="rId9"/>
    <p:sldId id="458" r:id="rId10"/>
    <p:sldId id="466" r:id="rId11"/>
    <p:sldId id="467" r:id="rId12"/>
    <p:sldId id="469" r:id="rId13"/>
    <p:sldId id="459" r:id="rId14"/>
    <p:sldId id="460" r:id="rId15"/>
    <p:sldId id="461" r:id="rId16"/>
    <p:sldId id="463" r:id="rId17"/>
    <p:sldId id="464" r:id="rId18"/>
    <p:sldId id="324" r:id="rId19"/>
    <p:sldId id="487" r:id="rId20"/>
    <p:sldId id="325" r:id="rId21"/>
    <p:sldId id="411" r:id="rId22"/>
    <p:sldId id="470" r:id="rId23"/>
    <p:sldId id="413" r:id="rId24"/>
    <p:sldId id="414" r:id="rId25"/>
    <p:sldId id="472" r:id="rId26"/>
    <p:sldId id="475" r:id="rId27"/>
    <p:sldId id="473" r:id="rId28"/>
    <p:sldId id="476" r:id="rId29"/>
    <p:sldId id="474" r:id="rId30"/>
    <p:sldId id="471" r:id="rId31"/>
    <p:sldId id="415" r:id="rId32"/>
    <p:sldId id="416" r:id="rId33"/>
    <p:sldId id="417" r:id="rId34"/>
    <p:sldId id="418" r:id="rId35"/>
    <p:sldId id="420" r:id="rId36"/>
    <p:sldId id="421" r:id="rId37"/>
    <p:sldId id="488" r:id="rId38"/>
    <p:sldId id="489" r:id="rId39"/>
    <p:sldId id="477" r:id="rId40"/>
    <p:sldId id="478" r:id="rId41"/>
    <p:sldId id="326" r:id="rId42"/>
    <p:sldId id="480" r:id="rId43"/>
    <p:sldId id="481" r:id="rId44"/>
    <p:sldId id="482" r:id="rId45"/>
    <p:sldId id="483" r:id="rId46"/>
    <p:sldId id="479" r:id="rId47"/>
    <p:sldId id="330" r:id="rId48"/>
    <p:sldId id="422" r:id="rId49"/>
    <p:sldId id="331" r:id="rId50"/>
    <p:sldId id="409" r:id="rId51"/>
    <p:sldId id="332" r:id="rId52"/>
    <p:sldId id="443" r:id="rId53"/>
    <p:sldId id="444" r:id="rId54"/>
    <p:sldId id="312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CFAA6-72E2-46AA-A31F-7256698B51A5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C4D3-4FDC-45D7-AD9A-F86E806099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53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6C4D3-4FDC-45D7-AD9A-F86E8060999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7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4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9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6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9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27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7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12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5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4: </a:t>
            </a:r>
            <a:r>
              <a:rPr lang="tr-TR" b="1"/>
              <a:t>İş Parçacıkları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 (</a:t>
            </a:r>
            <a:r>
              <a:rPr lang="tr-TR" dirty="0" err="1"/>
              <a:t>Thread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Kendi başına çalışabilen, süreç içindeki en küçük iş birimi.</a:t>
            </a:r>
          </a:p>
          <a:p>
            <a:r>
              <a:rPr lang="tr-TR" dirty="0"/>
              <a:t>Süreç, bir programın yürütülmekte olan bir örneği. </a:t>
            </a:r>
          </a:p>
          <a:p>
            <a:r>
              <a:rPr lang="tr-TR" dirty="0"/>
              <a:t>İş parçacığı ise süreç içindeki birden fazla yürütme birimi.</a:t>
            </a:r>
          </a:p>
          <a:p>
            <a:r>
              <a:rPr lang="tr-TR" dirty="0"/>
              <a:t>İş parçacıkları, süreçlere göre daha hafif ve hızlı bir iletişim sağlar.</a:t>
            </a:r>
          </a:p>
          <a:p>
            <a:r>
              <a:rPr lang="tr-TR" dirty="0"/>
              <a:t>Aynı süreç içindeki iş parçacıkları aynı adres uzayını paylaşır.</a:t>
            </a:r>
          </a:p>
          <a:p>
            <a:r>
              <a:rPr lang="tr-TR" dirty="0"/>
              <a:t>Çoklu iş parçacıklı uygulamalar, işlemci kaynaklarını daha etkin kullanır.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87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5" y="1999456"/>
            <a:ext cx="4286250" cy="4048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25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1368063"/>
            <a:ext cx="8640000" cy="4988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87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Modern uygulamalar çoklu iş parçacıklıdır (</a:t>
            </a:r>
            <a:r>
              <a:rPr lang="tr-TR" i="1" dirty="0" err="1"/>
              <a:t>multi-threaded</a:t>
            </a:r>
            <a:r>
              <a:rPr lang="tr-TR" dirty="0"/>
              <a:t>).</a:t>
            </a:r>
          </a:p>
          <a:p>
            <a:r>
              <a:rPr lang="tr-TR" dirty="0"/>
              <a:t>İş parçacıkları uygulama içerisinde çalışır.</a:t>
            </a:r>
          </a:p>
          <a:p>
            <a:r>
              <a:rPr lang="tr-TR" dirty="0"/>
              <a:t>Farklı görevler, ayrı iş parçacıkları tarafından yürütülebilir.</a:t>
            </a:r>
          </a:p>
          <a:p>
            <a:pPr lvl="1"/>
            <a:r>
              <a:rPr lang="tr-TR" dirty="0"/>
              <a:t>Ekranı güncelleme,</a:t>
            </a:r>
          </a:p>
          <a:p>
            <a:pPr lvl="1"/>
            <a:r>
              <a:rPr lang="tr-TR" dirty="0"/>
              <a:t>Veri getirme,</a:t>
            </a:r>
          </a:p>
          <a:p>
            <a:pPr lvl="1"/>
            <a:r>
              <a:rPr lang="tr-TR" dirty="0"/>
              <a:t>Bir ağ isteğini yanıtlama gibi.</a:t>
            </a:r>
          </a:p>
          <a:p>
            <a:r>
              <a:rPr lang="tr-TR" dirty="0"/>
              <a:t>Süreç oluşturma masraflı, iş parçacığı oluşturma az maliyetlidir.</a:t>
            </a:r>
          </a:p>
          <a:p>
            <a:r>
              <a:rPr lang="tr-TR" dirty="0"/>
              <a:t>Kodu basitleştirir, verimliliği artırır.</a:t>
            </a:r>
          </a:p>
          <a:p>
            <a:r>
              <a:rPr lang="tr-TR" dirty="0"/>
              <a:t>İşletim sistemi çekirdeği genellikle çok iş parçacıklıdır.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Tekli ve Çoklu İş Parçacığı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25" y="1939925"/>
            <a:ext cx="7626350" cy="42814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260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Üç Tane İş Parçacığına Sahip Uygulama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" y="1122221"/>
            <a:ext cx="10080000" cy="506144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73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 İş Parçacıklı Web Sunucusu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440989"/>
            <a:ext cx="7200000" cy="478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Web Sunucusu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2" y="2566963"/>
            <a:ext cx="7966075" cy="2841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86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İşlemci görev dağıtıcı (</a:t>
            </a:r>
            <a:r>
              <a:rPr lang="tr-TR" i="1" dirty="0" err="1"/>
              <a:t>dispatcher</a:t>
            </a:r>
            <a:r>
              <a:rPr lang="tr-TR" dirty="0"/>
              <a:t>) iş parçacığı </a:t>
            </a:r>
          </a:p>
          <a:p>
            <a:pPr marL="514350" indent="-514350">
              <a:buAutoNum type="alphaLcParenBoth"/>
            </a:pPr>
            <a:r>
              <a:rPr lang="tr-TR" dirty="0"/>
              <a:t>İşçi (</a:t>
            </a:r>
            <a:r>
              <a:rPr lang="tr-TR" i="1" dirty="0" err="1"/>
              <a:t>worker</a:t>
            </a:r>
            <a:r>
              <a:rPr lang="tr-TR" dirty="0"/>
              <a:t>) iş parçacığı </a:t>
            </a:r>
          </a:p>
          <a:p>
            <a:pPr marL="514350" indent="-514350">
              <a:buAutoNum type="alphaLcParenBoth"/>
            </a:pPr>
            <a:endParaRPr lang="tr-TR" dirty="0"/>
          </a:p>
          <a:p>
            <a:pPr marL="0" indent="0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000" dirty="0">
                <a:latin typeface="Consolas" panose="020B0609020204030204" pitchFamily="49" charset="0"/>
              </a:rPr>
              <a:t> (</a:t>
            </a:r>
            <a:r>
              <a:rPr lang="tr-TR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000" dirty="0">
                <a:latin typeface="Consolas" panose="020B0609020204030204" pitchFamily="49" charset="0"/>
              </a:rPr>
              <a:t>) { 		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000" dirty="0">
                <a:latin typeface="Consolas" panose="020B0609020204030204" pitchFamily="49" charset="0"/>
              </a:rPr>
              <a:t> (</a:t>
            </a:r>
            <a:r>
              <a:rPr lang="tr-TR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sz="20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tr-TR" sz="2000" dirty="0" err="1">
                <a:latin typeface="Consolas" panose="020B0609020204030204" pitchFamily="49" charset="0"/>
              </a:rPr>
              <a:t>get_next_request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buf</a:t>
            </a:r>
            <a:r>
              <a:rPr lang="tr-TR" sz="2000" dirty="0">
                <a:latin typeface="Consolas" panose="020B0609020204030204" pitchFamily="49" charset="0"/>
              </a:rPr>
              <a:t>); 	    </a:t>
            </a:r>
            <a:r>
              <a:rPr lang="tr-TR" sz="2000" dirty="0" err="1">
                <a:latin typeface="Consolas" panose="020B0609020204030204" pitchFamily="49" charset="0"/>
              </a:rPr>
              <a:t>wait_for_work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buf</a:t>
            </a:r>
            <a:r>
              <a:rPr lang="tr-TR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tr-TR" sz="2000" dirty="0" err="1">
                <a:latin typeface="Consolas" panose="020B0609020204030204" pitchFamily="49" charset="0"/>
              </a:rPr>
              <a:t>handoff_work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buf</a:t>
            </a:r>
            <a:r>
              <a:rPr lang="tr-TR" sz="2000" dirty="0">
                <a:latin typeface="Consolas" panose="020B0609020204030204" pitchFamily="49" charset="0"/>
              </a:rPr>
              <a:t>);	    </a:t>
            </a:r>
            <a:r>
              <a:rPr lang="tr-TR" sz="2000" dirty="0" err="1">
                <a:latin typeface="Consolas" panose="020B0609020204030204" pitchFamily="49" charset="0"/>
              </a:rPr>
              <a:t>look_for_page_in_cache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buf</a:t>
            </a:r>
            <a:r>
              <a:rPr lang="tr-TR" sz="2000" dirty="0">
                <a:latin typeface="Consolas" panose="020B0609020204030204" pitchFamily="49" charset="0"/>
              </a:rPr>
              <a:t>, &amp;</a:t>
            </a:r>
            <a:r>
              <a:rPr lang="tr-TR" sz="2000" dirty="0" err="1">
                <a:latin typeface="Consolas" panose="020B0609020204030204" pitchFamily="49" charset="0"/>
              </a:rPr>
              <a:t>page</a:t>
            </a:r>
            <a:r>
              <a:rPr lang="tr-TR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}				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2000" dirty="0">
                <a:latin typeface="Consolas" panose="020B0609020204030204" pitchFamily="49" charset="0"/>
              </a:rPr>
              <a:t> (</a:t>
            </a:r>
            <a:r>
              <a:rPr lang="tr-TR" sz="2000" dirty="0" err="1">
                <a:latin typeface="Consolas" panose="020B0609020204030204" pitchFamily="49" charset="0"/>
              </a:rPr>
              <a:t>page_not_in_cache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page</a:t>
            </a:r>
            <a:r>
              <a:rPr lang="tr-TR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				      </a:t>
            </a:r>
            <a:r>
              <a:rPr lang="tr-TR" sz="2000" dirty="0" err="1">
                <a:latin typeface="Consolas" panose="020B0609020204030204" pitchFamily="49" charset="0"/>
              </a:rPr>
              <a:t>read_page_from_disk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buf</a:t>
            </a:r>
            <a:r>
              <a:rPr lang="tr-TR" sz="2000" dirty="0">
                <a:latin typeface="Consolas" panose="020B0609020204030204" pitchFamily="49" charset="0"/>
              </a:rPr>
              <a:t>, &amp;</a:t>
            </a:r>
            <a:r>
              <a:rPr lang="tr-TR" sz="2000" dirty="0" err="1">
                <a:latin typeface="Consolas" panose="020B0609020204030204" pitchFamily="49" charset="0"/>
              </a:rPr>
              <a:t>page</a:t>
            </a:r>
            <a:r>
              <a:rPr lang="tr-TR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				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return_</a:t>
            </a:r>
            <a:r>
              <a:rPr lang="tr-TR" sz="2000" dirty="0" err="1">
                <a:latin typeface="Consolas" panose="020B0609020204030204" pitchFamily="49" charset="0"/>
              </a:rPr>
              <a:t>page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page</a:t>
            </a:r>
            <a:r>
              <a:rPr lang="tr-TR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				  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53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Web Sunucusu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Çoklu iş parçacığı kullanılmadığında,</a:t>
            </a:r>
          </a:p>
          <a:p>
            <a:pPr lvl="1"/>
            <a:r>
              <a:rPr lang="tr-TR" dirty="0"/>
              <a:t>Eğer sayfa önbellekte değilse, süreç bloke olur.</a:t>
            </a:r>
          </a:p>
          <a:p>
            <a:pPr lvl="1"/>
            <a:r>
              <a:rPr lang="tr-TR" dirty="0"/>
              <a:t>Sayfanın hazır olması beklenirken, işlemci hiçbir şey yapamaz.</a:t>
            </a:r>
          </a:p>
          <a:p>
            <a:r>
              <a:rPr lang="tr-TR" dirty="0"/>
              <a:t>Çoklu iş parçacığı kullanıldığında ise, </a:t>
            </a:r>
          </a:p>
          <a:p>
            <a:pPr lvl="1"/>
            <a:r>
              <a:rPr lang="tr-TR" dirty="0"/>
              <a:t>Sunucu sayfanın hazırlanmasını bir iş parçacığına aktarır.</a:t>
            </a:r>
          </a:p>
          <a:p>
            <a:pPr lvl="1"/>
            <a:r>
              <a:rPr lang="tr-TR" dirty="0"/>
              <a:t>Çalışmaya devam eder.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Web Sunucusu Geliştirmek için Üç Farklı Yol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Çoklu iş parçacıklı süreç (</a:t>
            </a:r>
            <a:r>
              <a:rPr lang="tr-TR" i="1" dirty="0" err="1"/>
              <a:t>multi-threaded</a:t>
            </a:r>
            <a:r>
              <a:rPr lang="tr-TR" i="1" dirty="0"/>
              <a:t> </a:t>
            </a:r>
            <a:r>
              <a:rPr lang="tr-TR" i="1" dirty="0" err="1"/>
              <a:t>process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Paralellik var, sistem çağrıları bloke olur.</a:t>
            </a:r>
          </a:p>
          <a:p>
            <a:r>
              <a:rPr lang="tr-TR" dirty="0"/>
              <a:t>Tek iş parçacıklı süreç (</a:t>
            </a:r>
            <a:r>
              <a:rPr lang="tr-TR" i="1" dirty="0" err="1"/>
              <a:t>single</a:t>
            </a:r>
            <a:r>
              <a:rPr lang="tr-TR" i="1" dirty="0"/>
              <a:t> </a:t>
            </a:r>
            <a:r>
              <a:rPr lang="tr-TR" i="1" dirty="0" err="1"/>
              <a:t>threaded</a:t>
            </a:r>
            <a:r>
              <a:rPr lang="tr-TR" i="1" dirty="0"/>
              <a:t> </a:t>
            </a:r>
            <a:r>
              <a:rPr lang="tr-TR" i="1" dirty="0" err="1"/>
              <a:t>process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Paralellik yok, sistem çağrıları bloke olur.</a:t>
            </a:r>
          </a:p>
          <a:p>
            <a:r>
              <a:rPr lang="tr-TR" dirty="0"/>
              <a:t>Sonlu durum makinesi (</a:t>
            </a:r>
            <a:r>
              <a:rPr lang="tr-TR" i="1" dirty="0" err="1"/>
              <a:t>finite</a:t>
            </a:r>
            <a:r>
              <a:rPr lang="tr-TR" i="1" dirty="0"/>
              <a:t> </a:t>
            </a:r>
            <a:r>
              <a:rPr lang="tr-TR" i="1" dirty="0" err="1"/>
              <a:t>state</a:t>
            </a:r>
            <a:r>
              <a:rPr lang="tr-TR" i="1" dirty="0"/>
              <a:t> </a:t>
            </a:r>
            <a:r>
              <a:rPr lang="tr-TR" i="1" dirty="0" err="1"/>
              <a:t>machine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Paralellik var, sistem çağrıları bloke olmaz, kesmeler.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3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İş Parçacıklı Süreç Faydaları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Duyarlılık</a:t>
            </a:r>
            <a:r>
              <a:rPr lang="tr-TR" dirty="0"/>
              <a:t>: özellikle kullanıcı arayüzleri için önemli, sürecin bir kısmı bloke olsa da yürütme devam eder.</a:t>
            </a:r>
          </a:p>
          <a:p>
            <a:r>
              <a:rPr lang="tr-TR" b="1" dirty="0"/>
              <a:t>Kaynak Paylaşımı:</a:t>
            </a:r>
            <a:r>
              <a:rPr lang="tr-TR" dirty="0"/>
              <a:t> iş parçacıkları, ait oldukları sürecin kaynaklarını paylaşırlar, paylaşımlı bellek veya mesaj iletmeye göre daha kolaydır.</a:t>
            </a:r>
          </a:p>
          <a:p>
            <a:r>
              <a:rPr lang="tr-TR" b="1" dirty="0"/>
              <a:t>Maliyet</a:t>
            </a:r>
            <a:r>
              <a:rPr lang="tr-TR" dirty="0"/>
              <a:t>: süreç oluşturmaya kıyasla daha az maliyetli, iş parçacığı değiştirme, bağlam anahtarlamaya göre sisteme daha az ek yük getirir</a:t>
            </a:r>
          </a:p>
          <a:p>
            <a:r>
              <a:rPr lang="tr-TR" b="1" dirty="0"/>
              <a:t>Ölçeklenebilirlik</a:t>
            </a:r>
            <a:r>
              <a:rPr lang="tr-TR" dirty="0"/>
              <a:t>: süreç, çok çekirdekli mimarilerden yararlanabilir.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3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 Çekirdekli Programlama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Paralellik (</a:t>
            </a:r>
            <a:r>
              <a:rPr lang="tr-TR" b="1" i="1" dirty="0" err="1"/>
              <a:t>parallelism</a:t>
            </a:r>
            <a:r>
              <a:rPr lang="tr-TR" b="1" dirty="0"/>
              <a:t>)</a:t>
            </a:r>
            <a:r>
              <a:rPr lang="tr-TR" dirty="0"/>
              <a:t>, sistem aynı anda birden fazla süreci yürütebilir.</a:t>
            </a:r>
          </a:p>
          <a:p>
            <a:r>
              <a:rPr lang="tr-TR" b="1" dirty="0"/>
              <a:t>Eşzamanlılık (</a:t>
            </a:r>
            <a:r>
              <a:rPr lang="tr-TR" b="1" i="1" dirty="0" err="1"/>
              <a:t>concurrency</a:t>
            </a:r>
            <a:r>
              <a:rPr lang="tr-TR" b="1" dirty="0"/>
              <a:t>)</a:t>
            </a:r>
            <a:r>
              <a:rPr lang="tr-TR" dirty="0"/>
              <a:t>, tüm süreçler zamanla ilerleme kaydeder. </a:t>
            </a:r>
          </a:p>
          <a:p>
            <a:r>
              <a:rPr lang="tr-TR" b="1" dirty="0"/>
              <a:t>Getirdiği zorluklar:</a:t>
            </a:r>
          </a:p>
          <a:p>
            <a:pPr lvl="1"/>
            <a:r>
              <a:rPr lang="tr-TR" dirty="0"/>
              <a:t>Etkinlikleri bölme (</a:t>
            </a:r>
            <a:r>
              <a:rPr lang="tr-TR" i="1" dirty="0" err="1"/>
              <a:t>dividing</a:t>
            </a:r>
            <a:r>
              <a:rPr lang="tr-TR" i="1" dirty="0"/>
              <a:t> </a:t>
            </a:r>
            <a:r>
              <a:rPr lang="tr-TR" i="1" dirty="0" err="1"/>
              <a:t>activities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Denge (</a:t>
            </a:r>
            <a:r>
              <a:rPr lang="tr-TR" i="1" dirty="0" err="1"/>
              <a:t>balance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Veri bölme (</a:t>
            </a:r>
            <a:r>
              <a:rPr lang="tr-TR" i="1" dirty="0"/>
              <a:t>data </a:t>
            </a:r>
            <a:r>
              <a:rPr lang="tr-TR" i="1" dirty="0" err="1"/>
              <a:t>splitting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Veri bağımlılığı (</a:t>
            </a:r>
            <a:r>
              <a:rPr lang="tr-TR" i="1" dirty="0"/>
              <a:t>data </a:t>
            </a:r>
            <a:r>
              <a:rPr lang="tr-TR" i="1" dirty="0" err="1"/>
              <a:t>dependency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Test etme ve hata ayıklama (</a:t>
            </a:r>
            <a:r>
              <a:rPr lang="tr-TR" i="1" dirty="0"/>
              <a:t>test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debug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420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Parallellik</a:t>
            </a:r>
            <a:r>
              <a:rPr lang="tr-TR" dirty="0"/>
              <a:t> ve Eşzamanlılık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2200974"/>
            <a:ext cx="10080000" cy="1122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000" y="4143207"/>
            <a:ext cx="5760000" cy="19972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849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ve Görev Bölme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1549187"/>
            <a:ext cx="7200000" cy="4807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9589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Amdahl</a:t>
            </a:r>
            <a:r>
              <a:rPr lang="tr-TR" dirty="0"/>
              <a:t> Kuralı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Programın %95'i paralel hale </a:t>
            </a:r>
          </a:p>
          <a:p>
            <a:pPr marL="0" indent="0">
              <a:buNone/>
            </a:pPr>
            <a:r>
              <a:rPr lang="tr-TR" dirty="0"/>
              <a:t>getirilebilirse, paralel hesaplama </a:t>
            </a:r>
          </a:p>
          <a:p>
            <a:pPr marL="0" indent="0">
              <a:buNone/>
            </a:pPr>
            <a:r>
              <a:rPr lang="tr-TR" dirty="0"/>
              <a:t>kullanan teorik maksimum </a:t>
            </a:r>
          </a:p>
          <a:p>
            <a:pPr marL="0" indent="0">
              <a:buNone/>
            </a:pPr>
            <a:r>
              <a:rPr lang="tr-TR" dirty="0"/>
              <a:t>hızlanma 20 kat olacaktır.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72" y="1825625"/>
            <a:ext cx="6204856" cy="43792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7126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Sürece ait olan tüm iş parçacıkları ile paylaşılan veriler</a:t>
            </a:r>
          </a:p>
          <a:p>
            <a:pPr lvl="1"/>
            <a:r>
              <a:rPr lang="tr-TR" dirty="0"/>
              <a:t>Bellek adres uzayı (</a:t>
            </a:r>
            <a:r>
              <a:rPr lang="tr-TR" i="1" dirty="0" err="1"/>
              <a:t>address</a:t>
            </a:r>
            <a:r>
              <a:rPr lang="tr-TR" i="1" dirty="0"/>
              <a:t> </a:t>
            </a:r>
            <a:r>
              <a:rPr lang="tr-TR" i="1" dirty="0" err="1"/>
              <a:t>space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Global değişkenler (</a:t>
            </a:r>
            <a:r>
              <a:rPr lang="tr-TR" i="1" dirty="0" err="1"/>
              <a:t>variables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Açık dosyalar (</a:t>
            </a:r>
            <a:r>
              <a:rPr lang="tr-TR" i="1" dirty="0" err="1"/>
              <a:t>open</a:t>
            </a:r>
            <a:r>
              <a:rPr lang="tr-TR" i="1" dirty="0"/>
              <a:t> </a:t>
            </a:r>
            <a:r>
              <a:rPr lang="tr-TR" i="1" dirty="0" err="1"/>
              <a:t>files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Çocuk süreçler (</a:t>
            </a:r>
            <a:r>
              <a:rPr lang="tr-TR" i="1" dirty="0" err="1"/>
              <a:t>child</a:t>
            </a:r>
            <a:r>
              <a:rPr lang="tr-TR" i="1" dirty="0"/>
              <a:t> </a:t>
            </a:r>
            <a:r>
              <a:rPr lang="tr-TR" i="1" dirty="0" err="1"/>
              <a:t>processes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Bekleyen alarmlar (</a:t>
            </a:r>
            <a:r>
              <a:rPr lang="tr-TR" i="1" dirty="0" err="1"/>
              <a:t>waiting</a:t>
            </a:r>
            <a:r>
              <a:rPr lang="tr-TR" i="1" dirty="0"/>
              <a:t> </a:t>
            </a:r>
            <a:r>
              <a:rPr lang="tr-TR" i="1" dirty="0" err="1"/>
              <a:t>alarms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Sinyali ele alacak süreçler (</a:t>
            </a:r>
            <a:r>
              <a:rPr lang="tr-TR" i="1" dirty="0" err="1"/>
              <a:t>signal</a:t>
            </a:r>
            <a:r>
              <a:rPr lang="tr-TR" i="1" dirty="0"/>
              <a:t> </a:t>
            </a:r>
            <a:r>
              <a:rPr lang="tr-TR" i="1" dirty="0" err="1"/>
              <a:t>handlers</a:t>
            </a:r>
            <a:r>
              <a:rPr lang="tr-TR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01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bir iş parçacığına özel veriler</a:t>
            </a:r>
          </a:p>
          <a:p>
            <a:pPr lvl="1"/>
            <a:r>
              <a:rPr lang="tr-TR" dirty="0"/>
              <a:t>Program sayacı (</a:t>
            </a:r>
            <a:r>
              <a:rPr lang="tr-TR" i="1" dirty="0" err="1"/>
              <a:t>counter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Yazmaçlar (</a:t>
            </a:r>
            <a:r>
              <a:rPr lang="tr-TR" i="1" dirty="0" err="1"/>
              <a:t>register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Yığın (</a:t>
            </a:r>
            <a:r>
              <a:rPr lang="tr-TR" i="1" dirty="0" err="1"/>
              <a:t>stack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Durum (</a:t>
            </a:r>
            <a:r>
              <a:rPr lang="tr-TR" i="1" dirty="0" err="1"/>
              <a:t>state</a:t>
            </a:r>
            <a:r>
              <a:rPr lang="tr-TR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83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Kendi program sayacı, yazmaç kümesi ve yığını var.</a:t>
            </a:r>
          </a:p>
          <a:p>
            <a:r>
              <a:rPr lang="tr-TR" dirty="0"/>
              <a:t>Kod (</a:t>
            </a:r>
            <a:r>
              <a:rPr lang="tr-TR" i="1" dirty="0" err="1"/>
              <a:t>text</a:t>
            </a:r>
            <a:r>
              <a:rPr lang="tr-TR" dirty="0"/>
              <a:t>), global veri ve açık dosyaları, aynı süreç içerisinde paralel çalıştığı iş parçacıkları ile paylaşır.</a:t>
            </a:r>
          </a:p>
          <a:p>
            <a:r>
              <a:rPr lang="tr-TR" dirty="0"/>
              <a:t>Kendi süreç kontrol bloğuna (</a:t>
            </a:r>
            <a:r>
              <a:rPr lang="tr-TR" i="1" dirty="0"/>
              <a:t>PCB</a:t>
            </a:r>
            <a:r>
              <a:rPr lang="tr-TR" dirty="0"/>
              <a:t>) sahip olabilir. (</a:t>
            </a:r>
            <a:r>
              <a:rPr lang="tr-TR" i="1" dirty="0"/>
              <a:t>İşletim sistemine bağlı</a:t>
            </a:r>
            <a:r>
              <a:rPr lang="tr-TR" dirty="0"/>
              <a:t>)</a:t>
            </a:r>
          </a:p>
          <a:p>
            <a:r>
              <a:rPr lang="tr-TR" dirty="0"/>
              <a:t>Bağlam, iş parçacığı kimliği, program sayacı, yazmaçlar, ve yığın işaretçisini içerir.</a:t>
            </a:r>
          </a:p>
          <a:p>
            <a:r>
              <a:rPr lang="tr-TR" dirty="0"/>
              <a:t>Aynı süreç içerisindeki iş parçacıklarıyla bellek adres uzayı ve bellek yönetimi bilgileri paylaşılır.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8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Parçacıkları Nasıl Çalışır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Sürecin kendisi de bir iş parçacığı olarak başlar.</a:t>
            </a:r>
          </a:p>
          <a:p>
            <a:r>
              <a:rPr lang="tr-TR" dirty="0"/>
              <a:t>İş parçacığı içeriği (kimlik, yazmaçlar, nitelikler).</a:t>
            </a:r>
          </a:p>
          <a:p>
            <a:r>
              <a:rPr lang="tr-TR" dirty="0"/>
              <a:t>Yeni iş parçacıkları oluşturmak ve kullanmak için kütüphane çağrıları,</a:t>
            </a:r>
          </a:p>
          <a:p>
            <a:pPr lvl="1"/>
            <a:r>
              <a:rPr lang="tr-TR" dirty="0" err="1">
                <a:latin typeface="Consolas" panose="020B0609020204030204" pitchFamily="49" charset="0"/>
              </a:rPr>
              <a:t>thread_create</a:t>
            </a:r>
            <a:r>
              <a:rPr lang="tr-TR" dirty="0"/>
              <a:t> </a:t>
            </a:r>
          </a:p>
          <a:p>
            <a:pPr lvl="2"/>
            <a:r>
              <a:rPr lang="tr-TR" dirty="0"/>
              <a:t>parametre olarak aldığı prosedürü iş parçacığı olarak başlatır.</a:t>
            </a:r>
          </a:p>
          <a:p>
            <a:pPr lvl="1"/>
            <a:r>
              <a:rPr lang="tr-TR" dirty="0" err="1">
                <a:latin typeface="Consolas" panose="020B0609020204030204" pitchFamily="49" charset="0"/>
              </a:rPr>
              <a:t>thread_exit</a:t>
            </a:r>
            <a:r>
              <a:rPr lang="tr-TR" dirty="0"/>
              <a:t> </a:t>
            </a:r>
          </a:p>
          <a:p>
            <a:pPr lvl="2"/>
            <a:r>
              <a:rPr lang="tr-TR" dirty="0"/>
              <a:t>iş parçacığını sonlandırır.</a:t>
            </a:r>
          </a:p>
          <a:p>
            <a:pPr lvl="1"/>
            <a:r>
              <a:rPr lang="tr-TR" dirty="0" err="1">
                <a:latin typeface="Consolas" panose="020B0609020204030204" pitchFamily="49" charset="0"/>
              </a:rPr>
              <a:t>thread_join</a:t>
            </a:r>
            <a:r>
              <a:rPr lang="tr-TR" dirty="0"/>
              <a:t> </a:t>
            </a:r>
          </a:p>
          <a:p>
            <a:pPr lvl="2"/>
            <a:r>
              <a:rPr lang="tr-TR" dirty="0"/>
              <a:t>başka bir iş parçacığının sonlanmasını bekler.</a:t>
            </a:r>
          </a:p>
          <a:p>
            <a:pPr lvl="1"/>
            <a:r>
              <a:rPr lang="tr-TR" dirty="0" err="1">
                <a:latin typeface="Consolas" panose="020B0609020204030204" pitchFamily="49" charset="0"/>
              </a:rPr>
              <a:t>thread_yield</a:t>
            </a:r>
            <a:r>
              <a:rPr lang="tr-TR" dirty="0"/>
              <a:t> </a:t>
            </a:r>
          </a:p>
          <a:p>
            <a:pPr lvl="2"/>
            <a:r>
              <a:rPr lang="tr-TR" dirty="0"/>
              <a:t>CPU'yu bırakarak, diğer iş parçacıklarına çalışma şansı verir.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09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ve Çekirdek Modu İş Parçacıkları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2622575"/>
            <a:ext cx="4826000" cy="2660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7029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ve Çekirdek Modu İş Parçacıkları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Kullanıcı düzeyinde iş parçacığı yönetimi. (b) Çekirdek tarafından yönetilen iş parçacıkları.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6" descr="D:\b\b4\IBM\02-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747" y="2729862"/>
            <a:ext cx="7514506" cy="35536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580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İş Parçacığı Modelleri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Çoktan bire (</a:t>
            </a:r>
            <a:r>
              <a:rPr lang="tr-TR" i="1" dirty="0" err="1"/>
              <a:t>many-to-one</a:t>
            </a:r>
            <a:r>
              <a:rPr lang="tr-TR" dirty="0"/>
              <a:t>)</a:t>
            </a:r>
          </a:p>
          <a:p>
            <a:r>
              <a:rPr lang="tr-TR" dirty="0"/>
              <a:t>Bire bir (</a:t>
            </a:r>
            <a:r>
              <a:rPr lang="tr-TR" i="1" dirty="0" err="1"/>
              <a:t>one-to-one</a:t>
            </a:r>
            <a:r>
              <a:rPr lang="tr-TR" dirty="0"/>
              <a:t>)</a:t>
            </a:r>
          </a:p>
          <a:p>
            <a:r>
              <a:rPr lang="tr-TR" dirty="0"/>
              <a:t>Çoktan çoğa (</a:t>
            </a:r>
            <a:r>
              <a:rPr lang="tr-TR" i="1" dirty="0" err="1"/>
              <a:t>many-to-many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79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Çoktan Bire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Tek çekirdek iş parçacığına eşlenen birçok kullanıcı düzeyi iş parçacığı.</a:t>
            </a:r>
          </a:p>
          <a:p>
            <a:r>
              <a:rPr lang="tr-TR" dirty="0"/>
              <a:t>Bir iş parçacığının bloke olması, tümünün bloke olmasına neden olur.</a:t>
            </a:r>
          </a:p>
          <a:p>
            <a:r>
              <a:rPr lang="tr-TR" dirty="0"/>
              <a:t>İş parçacıkları, çok çekirdekli sistemde paralel olarak çalışmaz.</a:t>
            </a:r>
          </a:p>
          <a:p>
            <a:pPr lvl="1"/>
            <a:r>
              <a:rPr lang="tr-TR" dirty="0"/>
              <a:t>Çünkü; aynı anda yalnızca bir tanesi çekirdekte olabilir.</a:t>
            </a:r>
          </a:p>
          <a:p>
            <a:r>
              <a:rPr lang="tr-TR" dirty="0"/>
              <a:t>Çok az sistem bu modeli kullanıyor.</a:t>
            </a:r>
          </a:p>
          <a:p>
            <a:pPr lvl="1"/>
            <a:r>
              <a:rPr lang="tr-TR" i="1" dirty="0" err="1"/>
              <a:t>Solaris</a:t>
            </a:r>
            <a:r>
              <a:rPr lang="tr-TR" i="1" dirty="0"/>
              <a:t> </a:t>
            </a:r>
            <a:r>
              <a:rPr lang="tr-TR" i="1" dirty="0" err="1"/>
              <a:t>Green</a:t>
            </a:r>
            <a:r>
              <a:rPr lang="tr-TR" i="1" dirty="0"/>
              <a:t> </a:t>
            </a:r>
            <a:r>
              <a:rPr lang="tr-TR" i="1" dirty="0" err="1"/>
              <a:t>Threads</a:t>
            </a:r>
            <a:r>
              <a:rPr lang="tr-TR" i="1" dirty="0"/>
              <a:t>, GNU </a:t>
            </a:r>
            <a:r>
              <a:rPr lang="tr-TR" i="1" dirty="0" err="1"/>
              <a:t>Portable</a:t>
            </a:r>
            <a:r>
              <a:rPr lang="tr-TR" i="1" dirty="0"/>
              <a:t> </a:t>
            </a:r>
            <a:r>
              <a:rPr lang="tr-TR" i="1" dirty="0" err="1"/>
              <a:t>Threads</a:t>
            </a:r>
            <a:endParaRPr lang="tr-TR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919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Çoktan Bire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2508046"/>
            <a:ext cx="5400000" cy="29619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280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Bire Bir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Kullanıcı düzeyi her iş parçacığı, bir çekirdek iş parçacığına eşlenir.</a:t>
            </a:r>
          </a:p>
          <a:p>
            <a:r>
              <a:rPr lang="tr-TR" dirty="0"/>
              <a:t>Kullanıcı düzeyi her bir iş parçacığına, bir çekirdek iş parçacığı oluşturulur.</a:t>
            </a:r>
          </a:p>
          <a:p>
            <a:r>
              <a:rPr lang="tr-TR" dirty="0"/>
              <a:t>Çoktan bire yaklaşımına göre daha fazla eşzamanlılık sağlar.</a:t>
            </a:r>
          </a:p>
          <a:p>
            <a:r>
              <a:rPr lang="tr-TR" dirty="0"/>
              <a:t>Süreç başına iş parçacığı sayısı bazen ek yük nedeniyle kısıtlanır.</a:t>
            </a:r>
          </a:p>
          <a:p>
            <a:r>
              <a:rPr lang="tr-TR" dirty="0"/>
              <a:t>Örnekler; </a:t>
            </a:r>
          </a:p>
          <a:p>
            <a:pPr lvl="1"/>
            <a:r>
              <a:rPr lang="tr-TR" i="1" dirty="0"/>
              <a:t>Windows, Linux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213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Bire Bir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2667815"/>
            <a:ext cx="5400000" cy="29956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282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Çoktan Çoğa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Birçok kullanıcı düzeyi iş parçacığı, birçok çekirdek iş parçacığına eşlenir.</a:t>
            </a:r>
          </a:p>
          <a:p>
            <a:r>
              <a:rPr lang="tr-TR" dirty="0"/>
              <a:t>İşletim sistemi yeterli sayıda çekirdek iş parçacığı oluşturabilir.</a:t>
            </a:r>
          </a:p>
          <a:p>
            <a:r>
              <a:rPr lang="tr-TR" dirty="0"/>
              <a:t>Yaygın değil.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3247503"/>
            <a:ext cx="5400000" cy="29739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092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Modu İş Parçacıkları Avantajlar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 parçacığı tablosu, iş parçacığı hakkında gerekli bilgileri içerir, </a:t>
            </a:r>
          </a:p>
          <a:p>
            <a:pPr lvl="1"/>
            <a:r>
              <a:rPr lang="tr-TR" dirty="0"/>
              <a:t>böylece çalışma zamanı sistemi (</a:t>
            </a:r>
            <a:r>
              <a:rPr lang="tr-TR" i="1" dirty="0"/>
              <a:t>RTS</a:t>
            </a:r>
            <a:r>
              <a:rPr lang="tr-TR" dirty="0"/>
              <a:t>) tarafından yönetilebilir.</a:t>
            </a:r>
          </a:p>
          <a:p>
            <a:r>
              <a:rPr lang="tr-TR" dirty="0"/>
              <a:t>İş parçacığı bloke olursa, çalışma zamanı sistemi (</a:t>
            </a:r>
            <a:r>
              <a:rPr lang="tr-TR" i="1" dirty="0" err="1"/>
              <a:t>run</a:t>
            </a:r>
            <a:r>
              <a:rPr lang="tr-TR" i="1" dirty="0"/>
              <a:t> time </a:t>
            </a:r>
            <a:r>
              <a:rPr lang="tr-TR" i="1" dirty="0" err="1"/>
              <a:t>system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iş parçacığı bilgilerini tabloda günceller.</a:t>
            </a:r>
          </a:p>
          <a:p>
            <a:pPr lvl="1"/>
            <a:r>
              <a:rPr lang="tr-TR" dirty="0"/>
              <a:t>çalıştırılacak yeni bir iş parçacığı bulur.</a:t>
            </a:r>
          </a:p>
          <a:p>
            <a:r>
              <a:rPr lang="tr-TR" dirty="0"/>
              <a:t>Durum kaydetme ve çizelgeleme, çekirdek </a:t>
            </a:r>
            <a:r>
              <a:rPr lang="tr-TR" dirty="0" err="1"/>
              <a:t>modunda</a:t>
            </a:r>
            <a:r>
              <a:rPr lang="tr-TR" dirty="0"/>
              <a:t> daha hızlı çağrılır.</a:t>
            </a:r>
          </a:p>
          <a:p>
            <a:pPr lvl="1"/>
            <a:r>
              <a:rPr lang="tr-TR" dirty="0"/>
              <a:t>tuzak kapı yok (</a:t>
            </a:r>
            <a:r>
              <a:rPr lang="tr-TR" i="1" dirty="0" err="1"/>
              <a:t>no</a:t>
            </a:r>
            <a:r>
              <a:rPr lang="tr-TR" i="1" dirty="0"/>
              <a:t> trap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önbellek temizleme yok (</a:t>
            </a:r>
            <a:r>
              <a:rPr lang="tr-TR" i="1" dirty="0" err="1"/>
              <a:t>no</a:t>
            </a:r>
            <a:r>
              <a:rPr lang="tr-TR" i="1" dirty="0"/>
              <a:t> </a:t>
            </a:r>
            <a:r>
              <a:rPr lang="tr-TR" i="1" dirty="0" err="1"/>
              <a:t>cache</a:t>
            </a:r>
            <a:r>
              <a:rPr lang="tr-TR" i="1" dirty="0"/>
              <a:t> </a:t>
            </a:r>
            <a:r>
              <a:rPr lang="tr-TR" i="1" dirty="0" err="1"/>
              <a:t>flush</a:t>
            </a:r>
            <a:r>
              <a:rPr lang="tr-TR" dirty="0"/>
              <a:t>).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14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Modu İş Parçacıkları Dezavantajlar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 parçacığının sistem çağrısı yürütmesine izin verilmez, </a:t>
            </a:r>
          </a:p>
          <a:p>
            <a:pPr lvl="1"/>
            <a:r>
              <a:rPr lang="tr-TR" dirty="0"/>
              <a:t>Çünkü diğer tüm iş parçacıklarını bloke eder.</a:t>
            </a:r>
          </a:p>
          <a:p>
            <a:r>
              <a:rPr lang="tr-TR" dirty="0"/>
              <a:t>Zarif bir çözüm yok,</a:t>
            </a:r>
          </a:p>
          <a:p>
            <a:pPr lvl="1"/>
            <a:r>
              <a:rPr lang="tr-TR" dirty="0"/>
              <a:t>Sistem çağrılarına izin vermek için sistem kütüphanesi kırılabilir (</a:t>
            </a:r>
            <a:r>
              <a:rPr lang="tr-TR" i="1" dirty="0" err="1"/>
              <a:t>hack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Unix'in bazı sürümlerinde aynı işi yapan fonksiyonlar kullanılabilir.</a:t>
            </a:r>
          </a:p>
          <a:p>
            <a:r>
              <a:rPr lang="tr-TR" dirty="0"/>
              <a:t>İş parçacıkları gönüllü olarak işlemciyi bırakmaz.</a:t>
            </a:r>
          </a:p>
          <a:p>
            <a:pPr lvl="1"/>
            <a:r>
              <a:rPr lang="tr-TR" dirty="0"/>
              <a:t>Kontrolü sisteme geri vermek için periyodik olarak kesmeye uğrar.</a:t>
            </a:r>
          </a:p>
          <a:p>
            <a:pPr lvl="1"/>
            <a:r>
              <a:rPr lang="tr-TR" dirty="0"/>
              <a:t>Maliyetli bir çözüm.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52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Çekirdek Modu İş Parçacıkları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Çekirdek, kullanıcı modu ile aynı iş parçacığı tablosunu tutar.</a:t>
            </a:r>
          </a:p>
          <a:p>
            <a:r>
              <a:rPr lang="tr-TR" dirty="0"/>
              <a:t>İş parçacığı bloke olursa, çekirdek başka bir tanesini seçer.</a:t>
            </a:r>
          </a:p>
          <a:p>
            <a:pPr lvl="1"/>
            <a:r>
              <a:rPr lang="tr-TR" dirty="0"/>
              <a:t>Aynı süreçten olması gerekmez!</a:t>
            </a:r>
          </a:p>
          <a:p>
            <a:r>
              <a:rPr lang="tr-TR" dirty="0"/>
              <a:t>Çekirdekte iş parçacıklarını yönetmek çok maliyetli.</a:t>
            </a:r>
          </a:p>
          <a:p>
            <a:r>
              <a:rPr lang="tr-TR" dirty="0"/>
              <a:t>Değerli olan çekirdek alanında yer kaplar.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445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Hibrit</a:t>
            </a:r>
            <a:r>
              <a:rPr lang="tr-TR" dirty="0"/>
              <a:t>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Kullanıcı düzeyi iş parçacıkları, çekirdek düzeyi iş parçacıklarına eşlenir.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3031332"/>
            <a:ext cx="5400000" cy="2777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864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Hibrit</a:t>
            </a:r>
            <a:r>
              <a:rPr lang="tr-TR" dirty="0"/>
              <a:t> Yaklaşım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Çekirdek, sadece çekirdek iş parçacıklarından haberdardır.</a:t>
            </a:r>
          </a:p>
          <a:p>
            <a:r>
              <a:rPr lang="tr-TR" dirty="0"/>
              <a:t>Kullanıcı düzeyinde iş parçacıkları, çekirdekten bağımsız olarak, </a:t>
            </a:r>
          </a:p>
          <a:p>
            <a:pPr lvl="1"/>
            <a:r>
              <a:rPr lang="tr-TR" dirty="0"/>
              <a:t>oluşturulur, çizelgelenir, ve sonlandırılır.</a:t>
            </a:r>
          </a:p>
          <a:p>
            <a:r>
              <a:rPr lang="tr-TR" dirty="0"/>
              <a:t>Programcı, </a:t>
            </a:r>
          </a:p>
          <a:p>
            <a:pPr lvl="1"/>
            <a:r>
              <a:rPr lang="tr-TR" dirty="0"/>
              <a:t>kaç tane kullanıcı düzeyi ve </a:t>
            </a:r>
          </a:p>
          <a:p>
            <a:pPr lvl="1"/>
            <a:r>
              <a:rPr lang="tr-TR" dirty="0"/>
              <a:t>kaç tane çekirdek düzeyi iş parçacığı kullanacağını belirler.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99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Açılır (Pop-</a:t>
            </a:r>
            <a:r>
              <a:rPr lang="tr-TR" dirty="0" err="1"/>
              <a:t>up</a:t>
            </a:r>
            <a:r>
              <a:rPr lang="tr-TR" dirty="0"/>
              <a:t>) İş Parçacıkları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mesaj geldiğinde yeni bir iş parçacığı yaratılır.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4" name="Picture 6" descr="D:\b\b4\IBM\02-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25" y="2417130"/>
            <a:ext cx="6203950" cy="3892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944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Açılır İş Parçacıkları (Thread Spawn)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Sistem, mesaj alma çağrısına bloke olmuş ve </a:t>
            </a:r>
          </a:p>
          <a:p>
            <a:pPr lvl="1"/>
            <a:r>
              <a:rPr lang="tr-TR" dirty="0"/>
              <a:t>mesaj geldikçe mesajı işleyen bir iş parçacığı kullanabilir.</a:t>
            </a:r>
          </a:p>
          <a:p>
            <a:r>
              <a:rPr lang="tr-TR" dirty="0"/>
              <a:t>Her mesaj geldiğinde iş parçacığının geçmişinin geri yüklenmesi gerekir.</a:t>
            </a:r>
          </a:p>
          <a:p>
            <a:r>
              <a:rPr lang="tr-TR" dirty="0"/>
              <a:t>Açılır iş parçacıkları yenidir ve geri yüklenecek verisi yoktur.</a:t>
            </a:r>
          </a:p>
          <a:p>
            <a:r>
              <a:rPr lang="tr-TR" dirty="0"/>
              <a:t>Bu nedenle daha hızlı.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Açılır iş parçacığı tarafından çalıştırılacak fonksiyon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*</a:t>
            </a:r>
            <a:r>
              <a:rPr lang="tr-TR" dirty="0" err="1">
                <a:latin typeface="Consolas" panose="020B0609020204030204" pitchFamily="49" charset="0"/>
              </a:rPr>
              <a:t>threadFunction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*</a:t>
            </a:r>
            <a:r>
              <a:rPr lang="tr-TR" dirty="0" err="1">
                <a:latin typeface="Consolas" panose="020B0609020204030204" pitchFamily="49" charset="0"/>
              </a:rPr>
              <a:t>arg</a:t>
            </a:r>
            <a:r>
              <a:rPr lang="tr-TR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printf</a:t>
            </a:r>
            <a:r>
              <a:rPr lang="tr-TR" dirty="0">
                <a:latin typeface="Consolas" panose="020B0609020204030204" pitchFamily="49" charset="0"/>
              </a:rPr>
              <a:t>("Merhaba, ben bir açılır iş parçacığıyım!\n");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b="1" dirty="0">
                <a:latin typeface="Consolas" panose="020B0609020204030204" pitchFamily="49" charset="0"/>
              </a:rPr>
              <a:t>NULL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656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 İş Parçacığı Kütüphaneleri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POSIX </a:t>
            </a:r>
            <a:r>
              <a:rPr lang="tr-TR" b="1" dirty="0" err="1"/>
              <a:t>Pthreads</a:t>
            </a:r>
            <a:r>
              <a:rPr lang="tr-TR" b="1" dirty="0"/>
              <a:t>:</a:t>
            </a:r>
          </a:p>
          <a:p>
            <a:pPr lvl="1"/>
            <a:r>
              <a:rPr lang="tr-TR" dirty="0"/>
              <a:t>Unix ve benzeri işletim sistemleri için standart iş parçacığı kütüphanesi.</a:t>
            </a:r>
          </a:p>
          <a:p>
            <a:pPr lvl="1"/>
            <a:r>
              <a:rPr lang="tr-TR" dirty="0"/>
              <a:t>İş parçacığı oluşturma, yönetme ve senkronize etme için </a:t>
            </a:r>
            <a:r>
              <a:rPr lang="tr-TR" dirty="0" err="1"/>
              <a:t>API'ler</a:t>
            </a:r>
            <a:r>
              <a:rPr lang="tr-TR" dirty="0"/>
              <a:t> sağlar.</a:t>
            </a:r>
          </a:p>
          <a:p>
            <a:r>
              <a:rPr lang="tr-TR" b="1" dirty="0"/>
              <a:t>Win32:</a:t>
            </a:r>
          </a:p>
          <a:p>
            <a:pPr lvl="1"/>
            <a:r>
              <a:rPr lang="tr-TR" dirty="0"/>
              <a:t>Windows işletim sistemi için iş parçacığı kütüphanesi.</a:t>
            </a:r>
          </a:p>
          <a:p>
            <a:pPr lvl="1"/>
            <a:r>
              <a:rPr lang="tr-TR" dirty="0"/>
              <a:t>Hafif ve hızlı iş parçacıkları oluşturmayı sağlar.</a:t>
            </a:r>
          </a:p>
          <a:p>
            <a:r>
              <a:rPr lang="tr-TR" b="1" dirty="0"/>
              <a:t>Java:</a:t>
            </a:r>
          </a:p>
          <a:p>
            <a:pPr lvl="1"/>
            <a:r>
              <a:rPr lang="tr-TR" dirty="0" err="1"/>
              <a:t>Thread</a:t>
            </a:r>
            <a:r>
              <a:rPr lang="tr-TR" dirty="0"/>
              <a:t> sınıfı ve </a:t>
            </a:r>
            <a:r>
              <a:rPr lang="tr-TR" dirty="0" err="1"/>
              <a:t>Runnable</a:t>
            </a:r>
            <a:r>
              <a:rPr lang="tr-TR" dirty="0"/>
              <a:t> </a:t>
            </a:r>
            <a:r>
              <a:rPr lang="tr-TR" dirty="0" err="1"/>
              <a:t>arayüzü</a:t>
            </a:r>
            <a:r>
              <a:rPr lang="tr-TR" dirty="0"/>
              <a:t> ile iş parçacıkları oluşturulur.</a:t>
            </a:r>
          </a:p>
          <a:p>
            <a:pPr lvl="1"/>
            <a:r>
              <a:rPr lang="tr-TR" i="1" dirty="0"/>
              <a:t>Java Virtual Machine (JVM) </a:t>
            </a:r>
            <a:r>
              <a:rPr lang="tr-TR" dirty="0"/>
              <a:t>tarafından yönetilir.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0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Diğer İş Parçacığı Kütüphaneleri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i="1" dirty="0" err="1"/>
              <a:t>Boost.Thread</a:t>
            </a:r>
            <a:endParaRPr lang="en-US" i="1" dirty="0"/>
          </a:p>
          <a:p>
            <a:r>
              <a:rPr lang="en-US" dirty="0"/>
              <a:t>Python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i="1" dirty="0"/>
              <a:t>threading</a:t>
            </a:r>
          </a:p>
          <a:p>
            <a:r>
              <a:rPr lang="en-US" dirty="0"/>
              <a:t>Go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i="1" dirty="0"/>
              <a:t>go-routine</a:t>
            </a:r>
            <a:endParaRPr lang="tr-TR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289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POSIX kütüphanesi (</a:t>
            </a:r>
            <a:r>
              <a:rPr lang="tr-TR" dirty="0" err="1"/>
              <a:t>pthreads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Hem kullanıcı düzeyi hem çekirdek düzeyi iş parçacıklarını destekler.</a:t>
            </a:r>
          </a:p>
          <a:p>
            <a:r>
              <a:rPr lang="tr-TR" dirty="0"/>
              <a:t>İş parçacığı oluşturma ve senkronizasyon için bir standart (</a:t>
            </a:r>
            <a:r>
              <a:rPr lang="tr-TR" i="1" dirty="0"/>
              <a:t>IEEE 1003.1c</a:t>
            </a:r>
            <a:r>
              <a:rPr lang="tr-TR" dirty="0"/>
              <a:t>)</a:t>
            </a:r>
          </a:p>
          <a:p>
            <a:r>
              <a:rPr lang="tr-TR" dirty="0"/>
              <a:t>Tanımlama (</a:t>
            </a:r>
            <a:r>
              <a:rPr lang="tr-TR" i="1" dirty="0" err="1"/>
              <a:t>specification</a:t>
            </a:r>
            <a:r>
              <a:rPr lang="tr-TR" dirty="0"/>
              <a:t>) ve uygulama (</a:t>
            </a:r>
            <a:r>
              <a:rPr lang="tr-TR" i="1" dirty="0" err="1"/>
              <a:t>implementation</a:t>
            </a:r>
            <a:r>
              <a:rPr lang="tr-TR" dirty="0"/>
              <a:t>) değil, bir API.</a:t>
            </a:r>
          </a:p>
          <a:p>
            <a:r>
              <a:rPr lang="tr-TR" dirty="0"/>
              <a:t>İş parçacığı kütüphanesinin nasıl davranması gerektiğini belirtir.</a:t>
            </a:r>
          </a:p>
          <a:p>
            <a:r>
              <a:rPr lang="tr-TR" dirty="0"/>
              <a:t>Uygulama, kütüphanenin geliştirilmesine bağlıdır.</a:t>
            </a:r>
          </a:p>
          <a:p>
            <a:r>
              <a:rPr lang="tr-TR" dirty="0"/>
              <a:t>UNIX işletim sistemlerinde yaygın (</a:t>
            </a:r>
            <a:r>
              <a:rPr lang="tr-TR" i="1" dirty="0"/>
              <a:t>Linux ve Mac OS X</a:t>
            </a:r>
            <a:r>
              <a:rPr lang="tr-TR" dirty="0"/>
              <a:t>).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40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POSIX kütüphanesi (</a:t>
            </a:r>
            <a:r>
              <a:rPr lang="tr-TR" dirty="0" err="1"/>
              <a:t>pthreads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IEEE Unix standart kütüphane çağrıları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385243"/>
              </p:ext>
            </p:extLst>
          </p:nvPr>
        </p:nvGraphicFramePr>
        <p:xfrm>
          <a:off x="964483" y="2822786"/>
          <a:ext cx="901554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3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7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İşlev çağrısı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Açıklama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pthread_create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Yeni bir iş parçacığı oluşturur.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pthread_exit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Çağıran iş parçacığını sonlandırır.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pthread_join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Belirli bir iş parçacığının sonlanmasını bekler.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pthread_yield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Başka bir iş parçacığının çalışması için CPU'yu serbest bırakır.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pthread_attr_init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iş parçacığının öznitelik yapısını oluştur ve </a:t>
                      </a:r>
                      <a:r>
                        <a:rPr lang="tr-TR" dirty="0" err="1"/>
                        <a:t>ilklendirir</a:t>
                      </a:r>
                      <a:r>
                        <a:rPr lang="tr-T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/>
                        <a:t>pthread_attr_destroy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Bir iş parçacığının öznitelik yapısını kaldırır.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792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Üstü Örtülü İş Parçacığı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 parçacığı sayısı arttığında, programın doğruluğunun kontrolü zorlaşır.	</a:t>
            </a:r>
          </a:p>
          <a:p>
            <a:r>
              <a:rPr lang="tr-TR" dirty="0"/>
              <a:t>Çalışma zamanı kütüphaneleri tarafından oluşturulur ve yönetilir.</a:t>
            </a:r>
          </a:p>
          <a:p>
            <a:r>
              <a:rPr lang="tr-TR" dirty="0"/>
              <a:t>Yöntemler</a:t>
            </a:r>
          </a:p>
          <a:p>
            <a:pPr lvl="1"/>
            <a:r>
              <a:rPr lang="tr-TR" dirty="0"/>
              <a:t>İş parçacığı havuzları (</a:t>
            </a:r>
            <a:r>
              <a:rPr lang="tr-TR" i="1" dirty="0" err="1"/>
              <a:t>thread</a:t>
            </a:r>
            <a:r>
              <a:rPr lang="tr-TR" i="1" dirty="0"/>
              <a:t> </a:t>
            </a:r>
            <a:r>
              <a:rPr lang="tr-TR" i="1" dirty="0" err="1"/>
              <a:t>pool</a:t>
            </a:r>
            <a:r>
              <a:rPr lang="tr-TR" dirty="0"/>
              <a:t>),</a:t>
            </a:r>
          </a:p>
          <a:p>
            <a:pPr lvl="1"/>
            <a:r>
              <a:rPr lang="tr-TR" i="1" dirty="0" err="1"/>
              <a:t>fork</a:t>
            </a:r>
            <a:r>
              <a:rPr lang="tr-TR" i="1" dirty="0"/>
              <a:t> - </a:t>
            </a:r>
            <a:r>
              <a:rPr lang="tr-TR" i="1" dirty="0" err="1"/>
              <a:t>join</a:t>
            </a:r>
            <a:r>
              <a:rPr lang="tr-TR" i="1" dirty="0"/>
              <a:t>,</a:t>
            </a:r>
          </a:p>
          <a:p>
            <a:pPr lvl="1"/>
            <a:r>
              <a:rPr lang="tr-TR" i="1" dirty="0" err="1"/>
              <a:t>OpenMP</a:t>
            </a:r>
            <a:r>
              <a:rPr lang="tr-TR" i="1" dirty="0"/>
              <a:t>,</a:t>
            </a:r>
          </a:p>
          <a:p>
            <a:pPr lvl="1"/>
            <a:r>
              <a:rPr lang="tr-TR" dirty="0"/>
              <a:t>Görev dağıtımı (</a:t>
            </a:r>
            <a:r>
              <a:rPr lang="tr-TR" i="1" dirty="0" err="1"/>
              <a:t>grand</a:t>
            </a:r>
            <a:r>
              <a:rPr lang="tr-TR" i="1" dirty="0"/>
              <a:t> </a:t>
            </a:r>
            <a:r>
              <a:rPr lang="tr-TR" i="1" dirty="0" err="1"/>
              <a:t>cental</a:t>
            </a:r>
            <a:r>
              <a:rPr lang="tr-TR" i="1" dirty="0"/>
              <a:t> </a:t>
            </a:r>
            <a:r>
              <a:rPr lang="tr-TR" i="1" dirty="0" err="1"/>
              <a:t>dispatch</a:t>
            </a:r>
            <a:r>
              <a:rPr lang="tr-TR" dirty="0"/>
              <a:t>),</a:t>
            </a:r>
          </a:p>
          <a:p>
            <a:pPr lvl="1"/>
            <a:r>
              <a:rPr lang="tr-TR" dirty="0"/>
              <a:t>Intel İş Parçacığı Oluşturma Yapı Taşları (</a:t>
            </a:r>
            <a:r>
              <a:rPr lang="tr-TR" i="1" dirty="0" err="1"/>
              <a:t>intel</a:t>
            </a:r>
            <a:r>
              <a:rPr lang="tr-TR" i="1" dirty="0"/>
              <a:t> </a:t>
            </a:r>
            <a:r>
              <a:rPr lang="tr-TR" i="1" dirty="0" err="1"/>
              <a:t>threads</a:t>
            </a:r>
            <a:r>
              <a:rPr lang="tr-TR" i="1" dirty="0"/>
              <a:t> </a:t>
            </a:r>
            <a:r>
              <a:rPr lang="tr-TR" i="1" dirty="0" err="1"/>
              <a:t>building</a:t>
            </a:r>
            <a:r>
              <a:rPr lang="tr-TR" i="1" dirty="0"/>
              <a:t> </a:t>
            </a:r>
            <a:r>
              <a:rPr lang="tr-TR" i="1" dirty="0" err="1"/>
              <a:t>blocks</a:t>
            </a:r>
            <a:r>
              <a:rPr lang="tr-TR" dirty="0"/>
              <a:t>).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904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Parçacığı Havuzu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havuzda belirli sayıda iş parçacığı tutulur.</a:t>
            </a:r>
          </a:p>
          <a:p>
            <a:r>
              <a:rPr lang="tr-TR" dirty="0"/>
              <a:t>Havuzda mevcut bir iş parçacığıyla bir isteğe hizmet vermek, yeni bir iş parçacığı oluşturmaktan hızlıdır.</a:t>
            </a:r>
          </a:p>
          <a:p>
            <a:r>
              <a:rPr lang="tr-TR" dirty="0"/>
              <a:t>Uygulamadaki iş parçacığı sayısı havuzun boyutu ile sınırlıdır.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30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fork</a:t>
            </a:r>
            <a:r>
              <a:rPr lang="tr-TR" dirty="0"/>
              <a:t> - </a:t>
            </a:r>
            <a:r>
              <a:rPr lang="tr-TR" dirty="0" err="1"/>
              <a:t>join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D71E8547-BE08-417E-B714-75D03F5D5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1" y="2786198"/>
            <a:ext cx="8351837" cy="1743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7451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OpenMP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C, C++, FORTRAN dilleri için bir API.</a:t>
            </a:r>
          </a:p>
          <a:p>
            <a:r>
              <a:rPr lang="tr-TR" dirty="0"/>
              <a:t>Derleyici yönergeleri kümesi. (</a:t>
            </a:r>
            <a:r>
              <a:rPr lang="tr-TR" i="1" dirty="0" err="1"/>
              <a:t>compiler</a:t>
            </a:r>
            <a:r>
              <a:rPr lang="tr-TR" i="1" dirty="0"/>
              <a:t> </a:t>
            </a:r>
            <a:r>
              <a:rPr lang="tr-TR" i="1" dirty="0" err="1"/>
              <a:t>directives</a:t>
            </a:r>
            <a:r>
              <a:rPr lang="tr-TR" dirty="0"/>
              <a:t>)</a:t>
            </a:r>
          </a:p>
          <a:p>
            <a:r>
              <a:rPr lang="tr-TR" dirty="0"/>
              <a:t>Paylaşımlı bellek ortamlarında paralel programlama için destek sağlar.</a:t>
            </a:r>
          </a:p>
          <a:p>
            <a:r>
              <a:rPr lang="tr-TR" dirty="0"/>
              <a:t>Paralel bölgeleri (paralel olarak çalışabilen kod blokları) tanımlar.</a:t>
            </a:r>
          </a:p>
          <a:p>
            <a:r>
              <a:rPr lang="tr-TR" dirty="0">
                <a:latin typeface="Consolas" panose="020B0609020204030204" pitchFamily="49" charset="0"/>
              </a:rPr>
              <a:t>#pragma </a:t>
            </a:r>
            <a:r>
              <a:rPr lang="tr-TR" dirty="0" err="1">
                <a:latin typeface="Consolas" panose="020B0609020204030204" pitchFamily="49" charset="0"/>
              </a:rPr>
              <a:t>omp</a:t>
            </a:r>
            <a:r>
              <a:rPr lang="tr-TR" dirty="0">
                <a:latin typeface="Consolas" panose="020B0609020204030204" pitchFamily="49" charset="0"/>
              </a:rPr>
              <a:t> paralel</a:t>
            </a:r>
          </a:p>
          <a:p>
            <a:r>
              <a:rPr lang="tr-TR" dirty="0"/>
              <a:t>İşlemci çekirdek sayısı kadar iş parçacığı oluşturur.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838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Grand Central </a:t>
            </a:r>
            <a:r>
              <a:rPr lang="tr-TR" dirty="0" err="1"/>
              <a:t>Dispatch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macOS</a:t>
            </a:r>
            <a:r>
              <a:rPr lang="tr-TR" dirty="0"/>
              <a:t> ve </a:t>
            </a:r>
            <a:r>
              <a:rPr lang="tr-TR" dirty="0" err="1"/>
              <a:t>iOS</a:t>
            </a:r>
            <a:r>
              <a:rPr lang="tr-TR" dirty="0"/>
              <a:t> işletim sistemleri için geliştirilen Apple teknolojisi.</a:t>
            </a:r>
          </a:p>
          <a:p>
            <a:r>
              <a:rPr lang="tr-TR" dirty="0"/>
              <a:t>C, C++ ve </a:t>
            </a:r>
            <a:r>
              <a:rPr lang="tr-TR" dirty="0" err="1"/>
              <a:t>Objective</a:t>
            </a:r>
            <a:r>
              <a:rPr lang="tr-TR" dirty="0"/>
              <a:t>-C dillerine, </a:t>
            </a:r>
            <a:r>
              <a:rPr lang="tr-TR" dirty="0" err="1"/>
              <a:t>API'ye</a:t>
            </a:r>
            <a:r>
              <a:rPr lang="tr-TR" dirty="0"/>
              <a:t> ve çalışma zamanı kütüphanesine yönelik eklemeler.</a:t>
            </a:r>
          </a:p>
          <a:p>
            <a:r>
              <a:rPr lang="tr-TR" dirty="0"/>
              <a:t>Paralel çalıştırılacak kod blokları tanımlanmasına izin verir.</a:t>
            </a:r>
          </a:p>
          <a:p>
            <a:r>
              <a:rPr lang="tr-TR" dirty="0"/>
              <a:t>İş parçacığı oluşturma işlemlerini yönetir.</a:t>
            </a:r>
          </a:p>
          <a:p>
            <a:r>
              <a:rPr lang="tr-TR" dirty="0"/>
              <a:t>“^{ }” içerisine yazılır.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^{ </a:t>
            </a:r>
            <a:r>
              <a:rPr lang="tr-TR" dirty="0" err="1">
                <a:latin typeface="Consolas" panose="020B0609020204030204" pitchFamily="49" charset="0"/>
              </a:rPr>
              <a:t>printf</a:t>
            </a:r>
            <a:r>
              <a:rPr lang="tr-TR" dirty="0">
                <a:latin typeface="Consolas" panose="020B0609020204030204" pitchFamily="49" charset="0"/>
              </a:rPr>
              <a:t>("Ben bir bloğum"); }</a:t>
            </a:r>
          </a:p>
          <a:p>
            <a:r>
              <a:rPr lang="tr-TR" dirty="0"/>
              <a:t>Kod blokları görev dağıtım kuyruğuna yerleştirilir.</a:t>
            </a:r>
          </a:p>
          <a:p>
            <a:pPr lvl="1"/>
            <a:r>
              <a:rPr lang="tr-TR" dirty="0"/>
              <a:t>Kuyruktan çıkan havuzdaki kullanılabilir iş parçacığına atanır.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96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Parçacıkları Arasında Çakışma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Global değişken ile ilgili iş parçacıkları arasında yaşanabilecek çakışma.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08B40-941D-BF6D-9648-4709F1F35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2515089"/>
            <a:ext cx="5760000" cy="3625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57141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İş Parçacıklı Programlama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İş parçacıkları kendilerine ait global değişkenlere sahip olabilir.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4" name="Picture 4" descr="2-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2323104"/>
            <a:ext cx="3848100" cy="4108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719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Yeniden girilmez (</a:t>
            </a:r>
            <a:r>
              <a:rPr lang="tr-TR" i="1" dirty="0"/>
              <a:t>not re-</a:t>
            </a:r>
            <a:r>
              <a:rPr lang="tr-TR" i="1" dirty="0" err="1"/>
              <a:t>entrant</a:t>
            </a:r>
            <a:r>
              <a:rPr lang="tr-TR" dirty="0"/>
              <a:t>) kütüphane yordamı.</a:t>
            </a:r>
          </a:p>
          <a:p>
            <a:pPr lvl="1"/>
            <a:r>
              <a:rPr lang="tr-TR" dirty="0"/>
              <a:t>İş parçacığı gelen mesajı bir ara belleğe koyar, </a:t>
            </a:r>
          </a:p>
          <a:p>
            <a:pPr lvl="1"/>
            <a:r>
              <a:rPr lang="tr-TR" dirty="0"/>
              <a:t>Yeni bir iş parçacığı mesajın üzerine yazar.</a:t>
            </a:r>
          </a:p>
          <a:p>
            <a:r>
              <a:rPr lang="tr-TR" dirty="0"/>
              <a:t>Bellekten yer alma programları (</a:t>
            </a:r>
            <a:r>
              <a:rPr lang="tr-TR" i="1" dirty="0"/>
              <a:t>geçici olarak</a:t>
            </a:r>
            <a:r>
              <a:rPr lang="tr-TR" dirty="0"/>
              <a:t>) tutarsız bir durumda olabilir.</a:t>
            </a:r>
          </a:p>
          <a:p>
            <a:pPr lvl="1"/>
            <a:r>
              <a:rPr lang="tr-TR" dirty="0"/>
              <a:t>Yeni iş parçacığı yanlış işaretçi almış olabilir.</a:t>
            </a:r>
          </a:p>
          <a:p>
            <a:r>
              <a:rPr lang="tr-TR" dirty="0"/>
              <a:t>İş parçacığına özgü sinyalleri uygulamak zor mu?</a:t>
            </a:r>
          </a:p>
          <a:p>
            <a:pPr lvl="1"/>
            <a:r>
              <a:rPr lang="tr-TR" dirty="0"/>
              <a:t>İş parçacıkları kullanıcı düzeyindeyse, çekirdek doğru iş parçacığını adresleyemez.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Parçacıklarının Kullanılma Nedeni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Sistem çağrıları bloke olduğunda paralelliği etkinleştirir (</a:t>
            </a:r>
            <a:r>
              <a:rPr lang="tr-TR" i="1" dirty="0"/>
              <a:t>web sunucusu</a:t>
            </a:r>
            <a:r>
              <a:rPr lang="tr-TR" dirty="0"/>
              <a:t>).</a:t>
            </a:r>
          </a:p>
          <a:p>
            <a:r>
              <a:rPr lang="tr-TR" dirty="0"/>
              <a:t>İş parçacıkları oluşturmak ve yok etmek, süreçlerden daha hızlı.</a:t>
            </a:r>
          </a:p>
          <a:p>
            <a:r>
              <a:rPr lang="tr-TR" dirty="0"/>
              <a:t>Çok çekirdekli sistemler için gerekli.</a:t>
            </a:r>
          </a:p>
          <a:p>
            <a:r>
              <a:rPr lang="tr-TR" dirty="0"/>
              <a:t>Uygulaması kolay bir programlama modeli.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983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Parçacıklarının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Kullanıcı duyarlılığı:</a:t>
            </a:r>
          </a:p>
          <a:p>
            <a:pPr lvl="1"/>
            <a:r>
              <a:rPr lang="tr-TR" dirty="0"/>
              <a:t>Bir iş parçacığı bloke olduğunda, diğeri kullanıcı G/Ç'sini işleyebilir. </a:t>
            </a:r>
          </a:p>
          <a:p>
            <a:r>
              <a:rPr lang="tr-TR" dirty="0"/>
              <a:t>Kaynak paylaşımı:</a:t>
            </a:r>
          </a:p>
          <a:p>
            <a:pPr lvl="1"/>
            <a:r>
              <a:rPr lang="tr-TR" dirty="0"/>
              <a:t>Bellek (</a:t>
            </a:r>
            <a:r>
              <a:rPr lang="tr-TR" i="1" dirty="0"/>
              <a:t>adres alanı</a:t>
            </a:r>
            <a:r>
              <a:rPr lang="tr-TR" dirty="0"/>
              <a:t>), açık dosyalar, soketler.</a:t>
            </a:r>
          </a:p>
          <a:p>
            <a:r>
              <a:rPr lang="tr-TR" dirty="0"/>
              <a:t>Hız:</a:t>
            </a:r>
          </a:p>
          <a:p>
            <a:pPr lvl="1"/>
            <a:r>
              <a:rPr lang="tr-TR" dirty="0"/>
              <a:t>İş parçacığı oluşturma 30 kat, bağlam anahtarlama 5 kat daha hızlıdır.</a:t>
            </a:r>
          </a:p>
          <a:p>
            <a:r>
              <a:rPr lang="tr-TR" dirty="0"/>
              <a:t>Donanım paralelliğinden yararlanma:</a:t>
            </a:r>
          </a:p>
          <a:p>
            <a:pPr lvl="1"/>
            <a:r>
              <a:rPr lang="tr-TR" dirty="0"/>
              <a:t>Ağır (</a:t>
            </a:r>
            <a:r>
              <a:rPr lang="tr-TR" i="1" dirty="0" err="1"/>
              <a:t>heavy</a:t>
            </a:r>
            <a:r>
              <a:rPr lang="tr-TR" dirty="0"/>
              <a:t>) süreçler, çoklu işlemcili mimarilerden faydalanabilir.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9600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 Parçacıklarının Dezavantajları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Senkronizasyon</a:t>
            </a:r>
          </a:p>
          <a:p>
            <a:pPr lvl="1"/>
            <a:r>
              <a:rPr lang="tr-TR" dirty="0"/>
              <a:t>Paylaşımlı bellek ve değişkenlere erişim kontrol edilmelidir.</a:t>
            </a:r>
          </a:p>
          <a:p>
            <a:pPr lvl="1"/>
            <a:r>
              <a:rPr lang="tr-TR" dirty="0"/>
              <a:t>Program kodunda karmaşıklık ve hataya neden olabilir. </a:t>
            </a:r>
          </a:p>
          <a:p>
            <a:pPr lvl="1"/>
            <a:r>
              <a:rPr lang="tr-TR" dirty="0"/>
              <a:t>Yarış koşullarından ve kilitlenmelerden kaçınmak gerekir.</a:t>
            </a:r>
          </a:p>
          <a:p>
            <a:r>
              <a:rPr lang="tr-TR" dirty="0"/>
              <a:t>Bağımlılık</a:t>
            </a:r>
          </a:p>
          <a:p>
            <a:pPr lvl="1"/>
            <a:r>
              <a:rPr lang="tr-TR" dirty="0"/>
              <a:t>Ağır Ağırlık İşlemde (HWP) iş parçacıkları bağımsız değildir.</a:t>
            </a:r>
          </a:p>
          <a:p>
            <a:pPr lvl="1"/>
            <a:r>
              <a:rPr lang="tr-TR" dirty="0"/>
              <a:t>Adres uzayı paylaşıldığından bellek koruması yoktur.</a:t>
            </a:r>
          </a:p>
          <a:p>
            <a:pPr lvl="1"/>
            <a:r>
              <a:rPr lang="tr-TR" dirty="0"/>
              <a:t>Her iş parçacığının yığınının bellekte ayrı yerde olması amaçlanır.</a:t>
            </a:r>
          </a:p>
          <a:p>
            <a:pPr lvl="1"/>
            <a:r>
              <a:rPr lang="tr-TR" dirty="0"/>
              <a:t>Bir iş parçacığının hatası nedeniyle başka bir iş parçacığının yığınının üzerine yazma yapılabilir.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5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 - Producer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the_mutex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  <a:endParaRPr lang="tr-T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condc</a:t>
            </a:r>
            <a:r>
              <a:rPr lang="en-US" sz="1600" dirty="0">
                <a:latin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</a:rPr>
              <a:t>condp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  <a:endParaRPr lang="tr-T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tr-TR" sz="1600" dirty="0" err="1">
                <a:latin typeface="Consolas" panose="020B0609020204030204" pitchFamily="49" charset="0"/>
              </a:rPr>
              <a:t>buffer</a:t>
            </a:r>
            <a:r>
              <a:rPr lang="tr-TR" sz="1600" dirty="0">
                <a:latin typeface="Consolas" panose="020B0609020204030204" pitchFamily="49" charset="0"/>
              </a:rPr>
              <a:t> = 0;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buffer used between producer and consumer */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*producer(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*</a:t>
            </a:r>
            <a:r>
              <a:rPr lang="en-US" sz="1600" dirty="0" err="1">
                <a:latin typeface="Consolas" panose="020B06090202040302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</a:rPr>
              <a:t>) {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produce data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(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= 1;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&lt;= MAX;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++) {</a:t>
            </a:r>
            <a:endParaRPr lang="tr-T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the_mutex</a:t>
            </a:r>
            <a:r>
              <a:rPr lang="en-US" sz="1600" dirty="0"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get exclusive access to buffer */ </a:t>
            </a:r>
            <a:endParaRPr lang="tr-TR" sz="16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latin typeface="Consolas" panose="020B0609020204030204" pitchFamily="49" charset="0"/>
              </a:rPr>
              <a:t> (buffer != 0)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pthread_cond_wait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condp</a:t>
            </a:r>
            <a:r>
              <a:rPr lang="en-US" sz="1600" dirty="0">
                <a:latin typeface="Consolas" panose="020B0609020204030204" pitchFamily="49" charset="0"/>
              </a:rPr>
              <a:t>, &amp;</a:t>
            </a:r>
            <a:r>
              <a:rPr lang="en-US" sz="1600" dirty="0" err="1">
                <a:latin typeface="Consolas" panose="020B0609020204030204" pitchFamily="49" charset="0"/>
              </a:rPr>
              <a:t>the_mutex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</a:rPr>
              <a:t>buffer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put item in buffer</a:t>
            </a:r>
            <a:r>
              <a:rPr lang="tr-TR" sz="1600" dirty="0">
                <a:solidFill>
                  <a:srgbClr val="3F7F5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 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pthread_cond_signal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condc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wake up consumer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1600" dirty="0">
                <a:latin typeface="Consolas" panose="020B0609020204030204" pitchFamily="49" charset="0"/>
              </a:rPr>
              <a:t>(&amp;</a:t>
            </a:r>
            <a:r>
              <a:rPr lang="en-US" sz="1600" dirty="0" err="1">
                <a:latin typeface="Consolas" panose="020B0609020204030204" pitchFamily="49" charset="0"/>
              </a:rPr>
              <a:t>the_mutex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  <a:r>
              <a:rPr lang="tr-TR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/* release access to buffer */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tr-TR" sz="1600" dirty="0">
                <a:latin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pthread_exit</a:t>
            </a:r>
            <a:r>
              <a:rPr lang="en-US" sz="1600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48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Pthreads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 -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000" dirty="0">
                <a:latin typeface="Consolas" panose="020B0609020204030204" pitchFamily="49" charset="0"/>
              </a:rPr>
              <a:t> *</a:t>
            </a:r>
            <a:r>
              <a:rPr lang="tr-TR" sz="2000" dirty="0" err="1">
                <a:latin typeface="Consolas" panose="020B0609020204030204" pitchFamily="49" charset="0"/>
              </a:rPr>
              <a:t>consumer</a:t>
            </a:r>
            <a:r>
              <a:rPr lang="tr-TR" sz="2000" dirty="0">
                <a:latin typeface="Consolas" panose="020B0609020204030204" pitchFamily="49" charset="0"/>
              </a:rPr>
              <a:t>(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sz="2000" dirty="0">
                <a:latin typeface="Consolas" panose="020B0609020204030204" pitchFamily="49" charset="0"/>
              </a:rPr>
              <a:t> *</a:t>
            </a:r>
            <a:r>
              <a:rPr lang="tr-TR" sz="2000" dirty="0" err="1">
                <a:latin typeface="Consolas" panose="020B0609020204030204" pitchFamily="49" charset="0"/>
              </a:rPr>
              <a:t>ptr</a:t>
            </a:r>
            <a:r>
              <a:rPr lang="tr-TR" sz="2000" dirty="0">
                <a:latin typeface="Consolas" panose="020B0609020204030204" pitchFamily="49" charset="0"/>
              </a:rPr>
              <a:t>) {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consume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data */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sz="2000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i = 1; i &lt;= MAX; i++) {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pthread_mutex_lock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the_mutex</a:t>
            </a:r>
            <a:r>
              <a:rPr lang="tr-TR" sz="2000" dirty="0">
                <a:latin typeface="Consolas" panose="020B0609020204030204" pitchFamily="49" charset="0"/>
              </a:rPr>
              <a:t>);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get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exclusive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*/     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2000" dirty="0">
                <a:latin typeface="Consolas" panose="020B0609020204030204" pitchFamily="49" charset="0"/>
              </a:rPr>
              <a:t> (</a:t>
            </a:r>
            <a:r>
              <a:rPr lang="tr-TR" sz="2000" dirty="0" err="1">
                <a:latin typeface="Consolas" panose="020B0609020204030204" pitchFamily="49" charset="0"/>
              </a:rPr>
              <a:t>buffer</a:t>
            </a:r>
            <a:r>
              <a:rPr lang="tr-TR" sz="2000" dirty="0">
                <a:latin typeface="Consolas" panose="020B0609020204030204" pitchFamily="49" charset="0"/>
              </a:rPr>
              <a:t> == 0)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pthread_cond_wait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condc</a:t>
            </a:r>
            <a:r>
              <a:rPr lang="tr-TR" sz="2000" dirty="0">
                <a:latin typeface="Consolas" panose="020B0609020204030204" pitchFamily="49" charset="0"/>
              </a:rPr>
              <a:t>, &amp;</a:t>
            </a:r>
            <a:r>
              <a:rPr lang="tr-TR" sz="2000" dirty="0" err="1">
                <a:latin typeface="Consolas" panose="020B0609020204030204" pitchFamily="49" charset="0"/>
              </a:rPr>
              <a:t>the_mutex</a:t>
            </a:r>
            <a:r>
              <a:rPr lang="tr-TR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tr-TR" sz="2000" dirty="0" err="1">
                <a:latin typeface="Consolas" panose="020B0609020204030204" pitchFamily="49" charset="0"/>
              </a:rPr>
              <a:t>buffer</a:t>
            </a:r>
            <a:r>
              <a:rPr lang="tr-TR" sz="2000" dirty="0">
                <a:latin typeface="Consolas" panose="020B0609020204030204" pitchFamily="49" charset="0"/>
              </a:rPr>
              <a:t> = 0;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take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item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out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of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pthread_cond_signal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condp</a:t>
            </a:r>
            <a:r>
              <a:rPr lang="tr-TR" sz="2000" dirty="0">
                <a:latin typeface="Consolas" panose="020B0609020204030204" pitchFamily="49" charset="0"/>
              </a:rPr>
              <a:t>);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wake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up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producer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pthread_mutex_unlock</a:t>
            </a:r>
            <a:r>
              <a:rPr lang="tr-TR" sz="2000" dirty="0">
                <a:latin typeface="Consolas" panose="020B0609020204030204" pitchFamily="49" charset="0"/>
              </a:rPr>
              <a:t>(&amp;</a:t>
            </a:r>
            <a:r>
              <a:rPr lang="tr-TR" sz="2000" dirty="0" err="1">
                <a:latin typeface="Consolas" panose="020B0609020204030204" pitchFamily="49" charset="0"/>
              </a:rPr>
              <a:t>the_mutex</a:t>
            </a:r>
            <a:r>
              <a:rPr lang="tr-TR" sz="2000" dirty="0">
                <a:latin typeface="Consolas" panose="020B0609020204030204" pitchFamily="49" charset="0"/>
              </a:rPr>
              <a:t>); 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/*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release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access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to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tr-TR" sz="2000" dirty="0" err="1">
                <a:solidFill>
                  <a:srgbClr val="3F7F5F"/>
                </a:solidFill>
                <a:latin typeface="Consolas" panose="020B0609020204030204" pitchFamily="49" charset="0"/>
              </a:rPr>
              <a:t>buffer</a:t>
            </a:r>
            <a:r>
              <a:rPr lang="tr-TR" sz="2000" dirty="0">
                <a:solidFill>
                  <a:srgbClr val="3F7F5F"/>
                </a:solidFill>
                <a:latin typeface="Consolas" panose="020B0609020204030204" pitchFamily="49" charset="0"/>
              </a:rPr>
              <a:t> */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tr-TR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pthread_exit</a:t>
            </a:r>
            <a:r>
              <a:rPr lang="tr-TR" sz="2000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}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587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3420</TotalTime>
  <Words>3287</Words>
  <Application>Microsoft Office PowerPoint</Application>
  <PresentationFormat>Widescreen</PresentationFormat>
  <Paragraphs>482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Consolas</vt:lpstr>
      <vt:lpstr>Wingdings</vt:lpstr>
      <vt:lpstr>Office Theme</vt:lpstr>
      <vt:lpstr>Bölüm 4: İş Parçacıkları</vt:lpstr>
      <vt:lpstr>İş Parçacığı (Thread)</vt:lpstr>
      <vt:lpstr>İş Parçacığı</vt:lpstr>
      <vt:lpstr>İş Parçacığı</vt:lpstr>
      <vt:lpstr>İş Parçacığı</vt:lpstr>
      <vt:lpstr>Tekli ve Çoklu İş Parçacığı</vt:lpstr>
      <vt:lpstr>Üç Tane İş Parçacığına Sahip Uygulama</vt:lpstr>
      <vt:lpstr>Çok İş Parçacıklı Web Sunucusu</vt:lpstr>
      <vt:lpstr>Web Sunucusu</vt:lpstr>
      <vt:lpstr>İş Parçacığı Kullanımı</vt:lpstr>
      <vt:lpstr>Web Sunucusu</vt:lpstr>
      <vt:lpstr>Web Sunucusu Geliştirmek için Üç Farklı Yol</vt:lpstr>
      <vt:lpstr>Çoklu İş Parçacıklı Süreç Faydaları</vt:lpstr>
      <vt:lpstr>Çok Çekirdekli Programlama</vt:lpstr>
      <vt:lpstr>Parallellik ve Eşzamanlılık</vt:lpstr>
      <vt:lpstr>Veri ve Görev Bölme</vt:lpstr>
      <vt:lpstr>Amdahl Kuralı</vt:lpstr>
      <vt:lpstr>İş Parçacığı Modeli</vt:lpstr>
      <vt:lpstr>İş Parçacığı Modeli</vt:lpstr>
      <vt:lpstr>İş Parçacığı</vt:lpstr>
      <vt:lpstr>İş Parçacıkları Nasıl Çalışır</vt:lpstr>
      <vt:lpstr>Kullanıcı ve Çekirdek Modu İş Parçacıkları</vt:lpstr>
      <vt:lpstr>Kullanıcı ve Çekirdek Modu İş Parçacıkları</vt:lpstr>
      <vt:lpstr>Çoklu İş Parçacığı Modelleri</vt:lpstr>
      <vt:lpstr>Çoktan Bire Yaklaşım</vt:lpstr>
      <vt:lpstr>Çoktan Bire Yaklaşım</vt:lpstr>
      <vt:lpstr>Bire Bir Yaklaşım</vt:lpstr>
      <vt:lpstr>Bire Bir Yaklaşım</vt:lpstr>
      <vt:lpstr>Çoktan Çoğa Yaklaşım</vt:lpstr>
      <vt:lpstr>Kullanıcı Modu İş Parçacıkları Avantajlar</vt:lpstr>
      <vt:lpstr>Kullanıcı Modu İş Parçacıkları Dezavantajlar</vt:lpstr>
      <vt:lpstr>Çekirdek Modu İş Parçacıkları</vt:lpstr>
      <vt:lpstr>Hibrit Yaklaşım</vt:lpstr>
      <vt:lpstr>Hibrit Yaklaşım</vt:lpstr>
      <vt:lpstr>Açılır (Pop-up) İş Parçacıkları</vt:lpstr>
      <vt:lpstr>Açılır İş Parçacıkları (Thread Spawn)</vt:lpstr>
      <vt:lpstr>Ana İş Parçacığı Kütüphaneleri</vt:lpstr>
      <vt:lpstr>Diğer İş Parçacığı Kütüphaneleri</vt:lpstr>
      <vt:lpstr>POSIX kütüphanesi (pthreads)</vt:lpstr>
      <vt:lpstr>POSIX kütüphanesi (pthreads)</vt:lpstr>
      <vt:lpstr>Üstü Örtülü İş Parçacığı Oluşturma</vt:lpstr>
      <vt:lpstr>İş Parçacığı Havuzu</vt:lpstr>
      <vt:lpstr>fork - join</vt:lpstr>
      <vt:lpstr>OpenMP</vt:lpstr>
      <vt:lpstr>Grand Central Dispatch</vt:lpstr>
      <vt:lpstr>İş Parçacıkları Arasında Çakışma</vt:lpstr>
      <vt:lpstr>Çoklu İş Parçacıklı Programlama</vt:lpstr>
      <vt:lpstr>Problemler</vt:lpstr>
      <vt:lpstr>İş Parçacıklarının Kullanılma Nedeni</vt:lpstr>
      <vt:lpstr>İş Parçacıklarının Avantajları</vt:lpstr>
      <vt:lpstr>İş Parçacıklarının Dezavantajları</vt:lpstr>
      <vt:lpstr>Pthreads Mutex - Producer</vt:lpstr>
      <vt:lpstr>Pthreads Mutex - Consumer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Parcaciklari</dc:title>
  <dc:creator>sercan</dc:creator>
  <cp:lastModifiedBy>Sercan Kulcu</cp:lastModifiedBy>
  <cp:revision>384</cp:revision>
  <dcterms:created xsi:type="dcterms:W3CDTF">2023-01-12T09:23:55Z</dcterms:created>
  <dcterms:modified xsi:type="dcterms:W3CDTF">2025-01-23T16:32:23Z</dcterms:modified>
</cp:coreProperties>
</file>