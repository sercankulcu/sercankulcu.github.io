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75"/>
  </p:notesMasterIdLst>
  <p:sldIdLst>
    <p:sldId id="256" r:id="rId2"/>
    <p:sldId id="257" r:id="rId3"/>
    <p:sldId id="371" r:id="rId4"/>
    <p:sldId id="370" r:id="rId5"/>
    <p:sldId id="313" r:id="rId6"/>
    <p:sldId id="372" r:id="rId7"/>
    <p:sldId id="314" r:id="rId8"/>
    <p:sldId id="315" r:id="rId9"/>
    <p:sldId id="316" r:id="rId10"/>
    <p:sldId id="373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54" r:id="rId34"/>
    <p:sldId id="355" r:id="rId35"/>
    <p:sldId id="356" r:id="rId36"/>
    <p:sldId id="357" r:id="rId37"/>
    <p:sldId id="358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76" r:id="rId46"/>
    <p:sldId id="347" r:id="rId47"/>
    <p:sldId id="374" r:id="rId48"/>
    <p:sldId id="348" r:id="rId49"/>
    <p:sldId id="349" r:id="rId50"/>
    <p:sldId id="384" r:id="rId51"/>
    <p:sldId id="383" r:id="rId52"/>
    <p:sldId id="350" r:id="rId53"/>
    <p:sldId id="385" r:id="rId54"/>
    <p:sldId id="351" r:id="rId55"/>
    <p:sldId id="352" r:id="rId56"/>
    <p:sldId id="353" r:id="rId57"/>
    <p:sldId id="359" r:id="rId58"/>
    <p:sldId id="360" r:id="rId59"/>
    <p:sldId id="361" r:id="rId60"/>
    <p:sldId id="362" r:id="rId61"/>
    <p:sldId id="363" r:id="rId62"/>
    <p:sldId id="365" r:id="rId63"/>
    <p:sldId id="364" r:id="rId64"/>
    <p:sldId id="339" r:id="rId65"/>
    <p:sldId id="378" r:id="rId66"/>
    <p:sldId id="377" r:id="rId67"/>
    <p:sldId id="366" r:id="rId68"/>
    <p:sldId id="380" r:id="rId69"/>
    <p:sldId id="367" r:id="rId70"/>
    <p:sldId id="368" r:id="rId71"/>
    <p:sldId id="381" r:id="rId72"/>
    <p:sldId id="369" r:id="rId73"/>
    <p:sldId id="312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4.02.2024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9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82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73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36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95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74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58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95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41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58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00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0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xxx.org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12: Çoklu İşlemcili Sistemler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İşletim Sistemleri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İşlemcili Sistemler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Bellek ve </a:t>
            </a:r>
            <a:r>
              <a:rPr lang="tr-TR" dirty="0"/>
              <a:t>G/Ç kaynaklarını paylaşan çok işlemcili </a:t>
            </a:r>
            <a:r>
              <a:rPr lang="tr-TR" dirty="0" smtClean="0"/>
              <a:t>bilgisayar </a:t>
            </a:r>
            <a:r>
              <a:rPr lang="tr-TR" dirty="0"/>
              <a:t>sistemi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Simetrik </a:t>
            </a:r>
            <a:r>
              <a:rPr lang="tr-TR" b="1" dirty="0"/>
              <a:t>Çoklu İşlemci (SMP)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işlemci, paylaşılan kaynaklara eşit </a:t>
            </a:r>
            <a:r>
              <a:rPr lang="tr-TR" dirty="0" smtClean="0"/>
              <a:t>düzeyde erişime </a:t>
            </a:r>
            <a:r>
              <a:rPr lang="tr-TR" dirty="0"/>
              <a:t>sahiptir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Asimetrik </a:t>
            </a:r>
            <a:r>
              <a:rPr lang="tr-TR" b="1" dirty="0"/>
              <a:t>Çoklu İşlemci (AMP)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Bir </a:t>
            </a:r>
            <a:r>
              <a:rPr lang="tr-TR" dirty="0"/>
              <a:t>işlemci ana işlemci, diğerleri yardımcı işlemci görevi görür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Küme </a:t>
            </a:r>
            <a:r>
              <a:rPr lang="tr-TR" b="1" dirty="0"/>
              <a:t>Sistemleri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Tek </a:t>
            </a:r>
            <a:r>
              <a:rPr lang="tr-TR" dirty="0"/>
              <a:t>bir sistem olarak birlikte çalışan, </a:t>
            </a:r>
            <a:endParaRPr lang="tr-TR" dirty="0" smtClean="0"/>
          </a:p>
          <a:p>
            <a:pPr lvl="1"/>
            <a:r>
              <a:rPr lang="tr-TR" dirty="0" smtClean="0"/>
              <a:t>Birbirine bağlantılı (</a:t>
            </a:r>
            <a:r>
              <a:rPr lang="tr-TR" i="1" dirty="0" err="1" smtClean="0"/>
              <a:t>connected</a:t>
            </a:r>
            <a:r>
              <a:rPr lang="tr-TR" dirty="0" smtClean="0"/>
              <a:t>) </a:t>
            </a:r>
            <a:r>
              <a:rPr lang="tr-TR" dirty="0"/>
              <a:t>bağımsız sistemler kümesi.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İşlemcili Sistemler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İşlemci </a:t>
            </a:r>
            <a:r>
              <a:rPr lang="tr-TR" dirty="0"/>
              <a:t>ve </a:t>
            </a:r>
            <a:r>
              <a:rPr lang="tr-TR" dirty="0" smtClean="0"/>
              <a:t>kaynakları </a:t>
            </a:r>
            <a:r>
              <a:rPr lang="tr-TR" dirty="0"/>
              <a:t>bağlamak için </a:t>
            </a:r>
            <a:r>
              <a:rPr lang="tr-TR" i="1" dirty="0" smtClean="0"/>
              <a:t>ağ ve </a:t>
            </a:r>
            <a:r>
              <a:rPr lang="tr-TR" i="1" dirty="0"/>
              <a:t>veri </a:t>
            </a:r>
            <a:r>
              <a:rPr lang="tr-TR" i="1" dirty="0" smtClean="0"/>
              <a:t>yolu </a:t>
            </a:r>
            <a:r>
              <a:rPr lang="tr-TR" dirty="0" smtClean="0"/>
              <a:t>kullanılır.</a:t>
            </a:r>
          </a:p>
          <a:p>
            <a:r>
              <a:rPr lang="tr-TR" dirty="0" smtClean="0"/>
              <a:t>İşletim </a:t>
            </a:r>
            <a:r>
              <a:rPr lang="tr-TR" dirty="0"/>
              <a:t>sistemi, </a:t>
            </a:r>
            <a:endParaRPr lang="tr-TR" dirty="0" smtClean="0"/>
          </a:p>
          <a:p>
            <a:pPr lvl="1"/>
            <a:r>
              <a:rPr lang="tr-TR" dirty="0"/>
              <a:t>İ</a:t>
            </a:r>
            <a:r>
              <a:rPr lang="tr-TR" dirty="0" smtClean="0"/>
              <a:t>şlemci tahsisi, senkronizasyon </a:t>
            </a:r>
            <a:r>
              <a:rPr lang="tr-TR" dirty="0"/>
              <a:t>ve </a:t>
            </a:r>
            <a:r>
              <a:rPr lang="tr-TR" dirty="0" smtClean="0"/>
              <a:t>süreçler arası iletişimi yönetir.</a:t>
            </a:r>
          </a:p>
          <a:p>
            <a:r>
              <a:rPr lang="tr-TR" dirty="0" smtClean="0"/>
              <a:t>Daha </a:t>
            </a:r>
            <a:r>
              <a:rPr lang="tr-TR" dirty="0"/>
              <a:t>fazla işlemci </a:t>
            </a:r>
            <a:r>
              <a:rPr lang="tr-TR" dirty="0" smtClean="0"/>
              <a:t>eklenerek, performans artırılabilir.</a:t>
            </a:r>
          </a:p>
          <a:p>
            <a:r>
              <a:rPr lang="tr-TR" dirty="0"/>
              <a:t>Paylaşılan veriler güncel ve tutarlı olmalı.</a:t>
            </a:r>
          </a:p>
          <a:p>
            <a:r>
              <a:rPr lang="tr-TR" dirty="0" smtClean="0"/>
              <a:t>Görevler </a:t>
            </a:r>
            <a:r>
              <a:rPr lang="tr-TR" dirty="0"/>
              <a:t>işlemciler arasında </a:t>
            </a:r>
            <a:r>
              <a:rPr lang="tr-TR" dirty="0" smtClean="0"/>
              <a:t>dağıtılır.</a:t>
            </a:r>
          </a:p>
          <a:p>
            <a:r>
              <a:rPr lang="tr-TR" dirty="0" smtClean="0"/>
              <a:t>Aynı </a:t>
            </a:r>
            <a:r>
              <a:rPr lang="tr-TR" dirty="0"/>
              <a:t>anda birden çok </a:t>
            </a:r>
            <a:r>
              <a:rPr lang="tr-TR" dirty="0" smtClean="0"/>
              <a:t>süreç yürütebilmeli.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1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İşlemcili Sistemler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Paylaşımlı bellek kullanımı. </a:t>
            </a:r>
            <a:r>
              <a:rPr lang="tr-TR" dirty="0"/>
              <a:t>(b) Mesaj </a:t>
            </a:r>
            <a:r>
              <a:rPr lang="tr-TR" dirty="0" smtClean="0"/>
              <a:t>iletimi ile haberleşme. </a:t>
            </a:r>
          </a:p>
          <a:p>
            <a:r>
              <a:rPr lang="tr-TR" dirty="0" smtClean="0"/>
              <a:t>(</a:t>
            </a:r>
            <a:r>
              <a:rPr lang="tr-TR" dirty="0"/>
              <a:t>c) Geniş </a:t>
            </a:r>
            <a:r>
              <a:rPr lang="tr-TR" dirty="0" smtClean="0"/>
              <a:t>alana </a:t>
            </a:r>
            <a:r>
              <a:rPr lang="tr-TR" dirty="0"/>
              <a:t>dağıtılmış bir sistem.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456" y="2763703"/>
            <a:ext cx="8447087" cy="3509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94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Yolu Tabanlı Mimariler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Tekdüzen Bellek </a:t>
            </a:r>
            <a:r>
              <a:rPr lang="tr-TR" b="1" dirty="0" smtClean="0"/>
              <a:t>Erişimi: </a:t>
            </a:r>
            <a:r>
              <a:rPr lang="tr-TR" dirty="0"/>
              <a:t>(</a:t>
            </a:r>
            <a:r>
              <a:rPr lang="tr-TR" i="1" dirty="0" smtClean="0"/>
              <a:t>UMA </a:t>
            </a:r>
            <a:r>
              <a:rPr lang="tr-TR" i="1" dirty="0" err="1" smtClean="0"/>
              <a:t>Unified</a:t>
            </a:r>
            <a:r>
              <a:rPr lang="tr-TR" i="1" dirty="0" smtClean="0"/>
              <a:t> Memory Access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İşlemciler paylaşımlı belleğe eşit erişim </a:t>
            </a:r>
            <a:r>
              <a:rPr lang="tr-TR" dirty="0"/>
              <a:t>süresine sahiptir. </a:t>
            </a:r>
            <a:endParaRPr lang="tr-TR" dirty="0" smtClean="0"/>
          </a:p>
          <a:p>
            <a:pPr lvl="1"/>
            <a:r>
              <a:rPr lang="tr-TR" dirty="0" smtClean="0"/>
              <a:t>Paralel </a:t>
            </a:r>
            <a:r>
              <a:rPr lang="tr-TR" dirty="0"/>
              <a:t>algoritmaların programlanmasını </a:t>
            </a:r>
            <a:r>
              <a:rPr lang="tr-TR" dirty="0" smtClean="0"/>
              <a:t>basitleştirir.</a:t>
            </a:r>
          </a:p>
          <a:p>
            <a:r>
              <a:rPr lang="tr-TR" b="1" dirty="0" smtClean="0"/>
              <a:t>Önbellek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cache</a:t>
            </a:r>
            <a:r>
              <a:rPr lang="tr-TR" i="1" dirty="0" smtClean="0"/>
              <a:t> </a:t>
            </a:r>
            <a:r>
              <a:rPr lang="tr-TR" i="1" dirty="0" err="1" smtClean="0"/>
              <a:t>memory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İşlemciye </a:t>
            </a:r>
            <a:r>
              <a:rPr lang="tr-TR" dirty="0"/>
              <a:t>yakın yerleştirilmiş küçük ve hızlı </a:t>
            </a:r>
            <a:r>
              <a:rPr lang="tr-TR" dirty="0" smtClean="0"/>
              <a:t>bellek. </a:t>
            </a:r>
          </a:p>
          <a:p>
            <a:r>
              <a:rPr lang="tr-TR" b="1" dirty="0" smtClean="0"/>
              <a:t>Paylaşımlı </a:t>
            </a:r>
            <a:r>
              <a:rPr lang="tr-TR" b="1" dirty="0"/>
              <a:t>Bellek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shared</a:t>
            </a:r>
            <a:r>
              <a:rPr lang="tr-TR" i="1" dirty="0" smtClean="0"/>
              <a:t> </a:t>
            </a:r>
            <a:r>
              <a:rPr lang="tr-TR" i="1" dirty="0" err="1" smtClean="0"/>
              <a:t>memory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İşlemcilerin </a:t>
            </a:r>
            <a:r>
              <a:rPr lang="tr-TR" dirty="0"/>
              <a:t>aynı belleğe erişimi </a:t>
            </a:r>
            <a:r>
              <a:rPr lang="tr-TR" dirty="0" smtClean="0"/>
              <a:t>vardır.</a:t>
            </a:r>
          </a:p>
          <a:p>
            <a:r>
              <a:rPr lang="tr-TR" b="1" dirty="0" smtClean="0"/>
              <a:t>Özel </a:t>
            </a:r>
            <a:r>
              <a:rPr lang="tr-TR" b="1" dirty="0"/>
              <a:t>Bellek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local</a:t>
            </a:r>
            <a:r>
              <a:rPr lang="tr-TR" i="1" dirty="0" smtClean="0"/>
              <a:t> </a:t>
            </a:r>
            <a:r>
              <a:rPr lang="tr-TR" i="1" dirty="0" err="1" smtClean="0"/>
              <a:t>memory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İşlemcinin kendisine ait bellek. </a:t>
            </a:r>
          </a:p>
          <a:p>
            <a:pPr lvl="1"/>
            <a:r>
              <a:rPr lang="tr-TR" dirty="0" smtClean="0"/>
              <a:t>Yerel değişken </a:t>
            </a:r>
            <a:r>
              <a:rPr lang="tr-TR" dirty="0"/>
              <a:t>ve verilerin </a:t>
            </a:r>
            <a:r>
              <a:rPr lang="tr-TR" dirty="0" smtClean="0"/>
              <a:t>saklanması için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5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Yolu Tabanlı Mimariler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</a:t>
            </a:r>
            <a:r>
              <a:rPr lang="tr-TR" dirty="0"/>
              <a:t>a) </a:t>
            </a:r>
            <a:r>
              <a:rPr lang="tr-TR" dirty="0" smtClean="0"/>
              <a:t>paylaşımlı bellek. </a:t>
            </a:r>
            <a:r>
              <a:rPr lang="tr-TR" dirty="0"/>
              <a:t>(b) </a:t>
            </a:r>
            <a:r>
              <a:rPr lang="tr-TR" dirty="0" smtClean="0"/>
              <a:t>önbellek. </a:t>
            </a:r>
            <a:r>
              <a:rPr lang="tr-TR" dirty="0"/>
              <a:t>(c) </a:t>
            </a:r>
            <a:r>
              <a:rPr lang="tr-TR" dirty="0" smtClean="0"/>
              <a:t>özel bellek.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206" y="3022283"/>
            <a:ext cx="9145588" cy="26987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891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Çapraz </a:t>
            </a:r>
            <a:r>
              <a:rPr lang="tr-TR" dirty="0" smtClean="0"/>
              <a:t>Çubuk (Cross Bar) Anahtarları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8 × 8 çapraz çubuk anahtarı.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(</a:t>
            </a:r>
            <a:r>
              <a:rPr lang="tr-TR" i="1" dirty="0" err="1" smtClean="0"/>
              <a:t>crosspoint</a:t>
            </a:r>
            <a:r>
              <a:rPr lang="tr-TR" i="1" dirty="0" smtClean="0"/>
              <a:t> </a:t>
            </a:r>
            <a:r>
              <a:rPr lang="tr-TR" i="1" dirty="0" err="1" smtClean="0"/>
              <a:t>switch</a:t>
            </a:r>
            <a:r>
              <a:rPr lang="tr-TR" dirty="0" smtClean="0"/>
              <a:t>)</a:t>
            </a:r>
          </a:p>
          <a:p>
            <a:r>
              <a:rPr lang="tr-TR" dirty="0" smtClean="0"/>
              <a:t>(</a:t>
            </a:r>
            <a:r>
              <a:rPr lang="tr-TR" dirty="0"/>
              <a:t>b) </a:t>
            </a:r>
            <a:r>
              <a:rPr lang="tr-TR" dirty="0" smtClean="0"/>
              <a:t>anahtar açık. </a:t>
            </a:r>
          </a:p>
          <a:p>
            <a:r>
              <a:rPr lang="tr-TR" dirty="0" smtClean="0"/>
              <a:t>(</a:t>
            </a:r>
            <a:r>
              <a:rPr lang="tr-TR" dirty="0"/>
              <a:t>c) </a:t>
            </a:r>
            <a:r>
              <a:rPr lang="tr-TR" dirty="0" smtClean="0"/>
              <a:t>anahtar kapalı.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181" y="2349810"/>
            <a:ext cx="5447619" cy="38716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41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Çok Aşamalı </a:t>
            </a:r>
            <a:r>
              <a:rPr lang="tr-TR" sz="3600" dirty="0" smtClean="0"/>
              <a:t>Anahtarlama</a:t>
            </a:r>
            <a:endParaRPr lang="tr-TR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İki giriş (</a:t>
            </a:r>
            <a:r>
              <a:rPr lang="tr-TR" i="1" dirty="0" smtClean="0"/>
              <a:t>A </a:t>
            </a:r>
            <a:r>
              <a:rPr lang="tr-TR" i="1" dirty="0"/>
              <a:t>ve </a:t>
            </a:r>
            <a:r>
              <a:rPr lang="tr-TR" i="1" dirty="0" smtClean="0"/>
              <a:t>B</a:t>
            </a:r>
            <a:r>
              <a:rPr lang="tr-TR" dirty="0" smtClean="0"/>
              <a:t>) ve iki çıkış (</a:t>
            </a:r>
            <a:r>
              <a:rPr lang="tr-TR" i="1" dirty="0" smtClean="0"/>
              <a:t>X </a:t>
            </a:r>
            <a:r>
              <a:rPr lang="tr-TR" i="1" dirty="0"/>
              <a:t>ve </a:t>
            </a:r>
            <a:r>
              <a:rPr lang="tr-TR" i="1" dirty="0" smtClean="0"/>
              <a:t>Y</a:t>
            </a:r>
            <a:r>
              <a:rPr lang="tr-TR" dirty="0" smtClean="0"/>
              <a:t>) hattına </a:t>
            </a:r>
            <a:r>
              <a:rPr lang="tr-TR" dirty="0"/>
              <a:t>sahip </a:t>
            </a:r>
            <a:r>
              <a:rPr lang="tr-TR" dirty="0" smtClean="0"/>
              <a:t>2 </a:t>
            </a:r>
            <a:r>
              <a:rPr lang="tr-TR" dirty="0"/>
              <a:t>× 2 </a:t>
            </a:r>
            <a:r>
              <a:rPr lang="tr-TR" dirty="0" smtClean="0"/>
              <a:t>anahtar. </a:t>
            </a:r>
          </a:p>
          <a:p>
            <a:r>
              <a:rPr lang="tr-TR" dirty="0" smtClean="0"/>
              <a:t>(</a:t>
            </a:r>
            <a:r>
              <a:rPr lang="tr-TR" dirty="0"/>
              <a:t>b) </a:t>
            </a:r>
            <a:r>
              <a:rPr lang="tr-TR" dirty="0" smtClean="0"/>
              <a:t>Mesaj </a:t>
            </a:r>
            <a:r>
              <a:rPr lang="tr-TR" dirty="0"/>
              <a:t>formatı.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819" y="3781483"/>
            <a:ext cx="7536361" cy="1671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68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Omega</a:t>
            </a:r>
            <a:r>
              <a:rPr lang="tr-TR" dirty="0" smtClean="0"/>
              <a:t> Anahtarlama Ağı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3 aşamalı anahtarlama ağı.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2" y="2430463"/>
            <a:ext cx="7915275" cy="3790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21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Omega</a:t>
            </a:r>
            <a:r>
              <a:rPr lang="tr-TR" dirty="0" smtClean="0"/>
              <a:t> Anahtarlama Ağı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İşlemciler </a:t>
            </a:r>
            <a:r>
              <a:rPr lang="tr-TR" dirty="0"/>
              <a:t>ve </a:t>
            </a:r>
            <a:r>
              <a:rPr lang="tr-TR" dirty="0" smtClean="0"/>
              <a:t>bellek </a:t>
            </a:r>
            <a:r>
              <a:rPr lang="tr-TR" dirty="0"/>
              <a:t>arasında </a:t>
            </a:r>
            <a:r>
              <a:rPr lang="tr-TR" dirty="0" smtClean="0"/>
              <a:t>bağlantı sağlayan, bilgisayar </a:t>
            </a:r>
            <a:r>
              <a:rPr lang="tr-TR" dirty="0"/>
              <a:t>ağ </a:t>
            </a:r>
            <a:r>
              <a:rPr lang="tr-TR" dirty="0" smtClean="0"/>
              <a:t>mimarisi.</a:t>
            </a:r>
          </a:p>
          <a:p>
            <a:r>
              <a:rPr lang="tr-TR" dirty="0"/>
              <a:t>Anahtar </a:t>
            </a:r>
            <a:r>
              <a:rPr lang="tr-TR" dirty="0" smtClean="0"/>
              <a:t>düğümler </a:t>
            </a:r>
            <a:r>
              <a:rPr lang="tr-TR" dirty="0"/>
              <a:t>ve düğümler arasındaki </a:t>
            </a:r>
            <a:r>
              <a:rPr lang="tr-TR" dirty="0" smtClean="0"/>
              <a:t>bağlantılar ağa benzer.</a:t>
            </a:r>
          </a:p>
          <a:p>
            <a:r>
              <a:rPr lang="tr-TR" dirty="0" smtClean="0"/>
              <a:t>İşlemciler </a:t>
            </a:r>
            <a:r>
              <a:rPr lang="tr-TR" dirty="0"/>
              <a:t>arasında </a:t>
            </a:r>
            <a:r>
              <a:rPr lang="tr-TR" dirty="0" smtClean="0"/>
              <a:t>eşzamanlı (</a:t>
            </a:r>
            <a:r>
              <a:rPr lang="tr-TR" i="1" dirty="0" smtClean="0"/>
              <a:t>senkron</a:t>
            </a:r>
            <a:r>
              <a:rPr lang="tr-TR" dirty="0" smtClean="0"/>
              <a:t>) </a:t>
            </a:r>
            <a:r>
              <a:rPr lang="tr-TR" dirty="0"/>
              <a:t>iletişime izin verir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Tasarımı karmaşık ve uygulaması zor. </a:t>
            </a:r>
          </a:p>
          <a:p>
            <a:r>
              <a:rPr lang="tr-TR" dirty="0" smtClean="0"/>
              <a:t>Çok </a:t>
            </a:r>
            <a:r>
              <a:rPr lang="tr-TR" dirty="0"/>
              <a:t>sayıda anahtar düğümü nedeniyle </a:t>
            </a:r>
            <a:r>
              <a:rPr lang="tr-TR" dirty="0" smtClean="0"/>
              <a:t>güç tüketimi yüksek.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9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NUMA Çoklu İşlemcileri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 smtClean="0"/>
              <a:t>Non-unified</a:t>
            </a:r>
            <a:r>
              <a:rPr lang="tr-TR" dirty="0" smtClean="0"/>
              <a:t> </a:t>
            </a:r>
            <a:r>
              <a:rPr lang="tr-TR" dirty="0" err="1" smtClean="0"/>
              <a:t>memory</a:t>
            </a:r>
            <a:r>
              <a:rPr lang="tr-TR" dirty="0" smtClean="0"/>
              <a:t> </a:t>
            </a:r>
            <a:r>
              <a:rPr lang="tr-TR" dirty="0" err="1" smtClean="0"/>
              <a:t>access</a:t>
            </a:r>
            <a:r>
              <a:rPr lang="tr-TR" dirty="0" smtClean="0"/>
              <a:t>:</a:t>
            </a:r>
          </a:p>
          <a:p>
            <a:pPr lvl="1"/>
            <a:r>
              <a:rPr lang="tr-TR" dirty="0" smtClean="0"/>
              <a:t>İşlemciler </a:t>
            </a:r>
            <a:r>
              <a:rPr lang="tr-TR" dirty="0"/>
              <a:t>tarafından görülebilen tek bir adres alanı </a:t>
            </a:r>
            <a:r>
              <a:rPr lang="tr-TR" dirty="0" smtClean="0"/>
              <a:t>var.</a:t>
            </a:r>
          </a:p>
          <a:p>
            <a:pPr lvl="1"/>
            <a:r>
              <a:rPr lang="tr-TR" dirty="0" smtClean="0"/>
              <a:t>Uzak </a:t>
            </a:r>
            <a:r>
              <a:rPr lang="tr-TR" dirty="0"/>
              <a:t>belleğe erişim </a:t>
            </a:r>
            <a:r>
              <a:rPr lang="tr-TR" i="1" dirty="0"/>
              <a:t>LOAD </a:t>
            </a:r>
            <a:r>
              <a:rPr lang="tr-TR" dirty="0"/>
              <a:t>ve </a:t>
            </a:r>
            <a:r>
              <a:rPr lang="tr-TR" i="1" dirty="0"/>
              <a:t>STORE </a:t>
            </a:r>
            <a:r>
              <a:rPr lang="tr-TR" dirty="0"/>
              <a:t>komutları ile yapılır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Uzak </a:t>
            </a:r>
            <a:r>
              <a:rPr lang="tr-TR" dirty="0"/>
              <a:t>belleğe erişim, yerel belleğe erişimden daha </a:t>
            </a:r>
            <a:r>
              <a:rPr lang="tr-TR" dirty="0" smtClean="0"/>
              <a:t>yavaş.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0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NUMA </a:t>
            </a:r>
            <a:r>
              <a:rPr lang="tr-TR" dirty="0" smtClean="0"/>
              <a:t>Çoklu </a:t>
            </a:r>
            <a:r>
              <a:rPr lang="tr-TR" dirty="0"/>
              <a:t>İşlemcileri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256 düğümlü </a:t>
            </a:r>
            <a:r>
              <a:rPr lang="tr-TR" dirty="0" smtClean="0"/>
              <a:t>dizin </a:t>
            </a:r>
            <a:r>
              <a:rPr lang="tr-TR" dirty="0"/>
              <a:t>tabanlı çok </a:t>
            </a:r>
            <a:r>
              <a:rPr lang="tr-TR" dirty="0" smtClean="0"/>
              <a:t>işlemci.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2532881"/>
            <a:ext cx="8750300" cy="32654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749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NUMA </a:t>
            </a:r>
            <a:r>
              <a:rPr lang="tr-TR" dirty="0" smtClean="0"/>
              <a:t>Çoklu </a:t>
            </a:r>
            <a:r>
              <a:rPr lang="tr-TR" dirty="0"/>
              <a:t>İşlemcileri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(b) </a:t>
            </a:r>
            <a:r>
              <a:rPr lang="tr-TR" i="1" dirty="0"/>
              <a:t>32 bitlik </a:t>
            </a:r>
            <a:r>
              <a:rPr lang="tr-TR" dirty="0" smtClean="0"/>
              <a:t>bellek </a:t>
            </a:r>
            <a:r>
              <a:rPr lang="tr-TR" dirty="0"/>
              <a:t>adresinin </a:t>
            </a:r>
            <a:r>
              <a:rPr lang="tr-TR" dirty="0" smtClean="0"/>
              <a:t>alanları. </a:t>
            </a:r>
            <a:r>
              <a:rPr lang="tr-TR" dirty="0"/>
              <a:t>(c) 36. düğümdeki dizin.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2800329"/>
            <a:ext cx="8528050" cy="32083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173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Her CPU'nun Kendi İşletim Sistemi Vardır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işlemcinin kendine </a:t>
            </a:r>
            <a:r>
              <a:rPr lang="tr-TR" dirty="0" smtClean="0"/>
              <a:t>özel ayrılmış </a:t>
            </a:r>
            <a:r>
              <a:rPr lang="tr-TR" dirty="0"/>
              <a:t>belleği vardır.</a:t>
            </a:r>
          </a:p>
          <a:p>
            <a:r>
              <a:rPr lang="tr-TR" dirty="0" smtClean="0"/>
              <a:t>İşletim </a:t>
            </a:r>
            <a:r>
              <a:rPr lang="tr-TR" dirty="0"/>
              <a:t>sistemi </a:t>
            </a:r>
            <a:r>
              <a:rPr lang="tr-TR" dirty="0" smtClean="0"/>
              <a:t>kodu paylaşılır.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206" y="3175953"/>
            <a:ext cx="8891587" cy="27384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79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Usta Köle (Master </a:t>
            </a:r>
            <a:r>
              <a:rPr lang="tr-TR" dirty="0" err="1" smtClean="0"/>
              <a:t>Slave</a:t>
            </a:r>
            <a:r>
              <a:rPr lang="tr-TR" dirty="0" smtClean="0"/>
              <a:t>) Çoklu İşlemcili Model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Usta işlemci, işletim sistemini koşar, </a:t>
            </a:r>
          </a:p>
          <a:p>
            <a:r>
              <a:rPr lang="tr-TR" dirty="0" smtClean="0"/>
              <a:t>Köle işlemciler ortak belleği paylaşarak süreçleri yürütürler.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3135042"/>
            <a:ext cx="8940800" cy="28971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91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Simetrik Çoklu İşlemciler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SMP çok işlemcili </a:t>
            </a:r>
            <a:r>
              <a:rPr lang="tr-TR" dirty="0" smtClean="0"/>
              <a:t>model.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7" y="2587650"/>
            <a:ext cx="8785225" cy="3155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9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</a:t>
            </a:r>
            <a:r>
              <a:rPr lang="tr-TR" dirty="0"/>
              <a:t>İşlemcili Senkronizasyon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 yolu kilitlenemezse </a:t>
            </a:r>
            <a:r>
              <a:rPr lang="tr-TR" i="1" dirty="0"/>
              <a:t>TSL</a:t>
            </a:r>
            <a:r>
              <a:rPr lang="tr-TR" dirty="0"/>
              <a:t> komutu başarısız olabilir.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893" y="2877186"/>
            <a:ext cx="8558213" cy="2960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8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</a:t>
            </a:r>
            <a:r>
              <a:rPr lang="tr-TR" dirty="0"/>
              <a:t>İşlemcili Senkronizasyon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Önbellekte veri tutarsızlığını önlemek </a:t>
            </a:r>
            <a:r>
              <a:rPr lang="tr-TR" dirty="0"/>
              <a:t>için çoklu kilit </a:t>
            </a:r>
            <a:r>
              <a:rPr lang="tr-TR" dirty="0" smtClean="0"/>
              <a:t>kullanımı.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2" y="2311628"/>
            <a:ext cx="8969375" cy="3975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0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Zaman Paylaşımı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Çoklu </a:t>
            </a:r>
            <a:r>
              <a:rPr lang="tr-TR" dirty="0"/>
              <a:t>işlemcili </a:t>
            </a:r>
            <a:r>
              <a:rPr lang="tr-TR" dirty="0" smtClean="0"/>
              <a:t>çizelgeleme </a:t>
            </a:r>
            <a:r>
              <a:rPr lang="tr-TR" dirty="0"/>
              <a:t>için </a:t>
            </a:r>
            <a:r>
              <a:rPr lang="tr-TR" dirty="0" smtClean="0"/>
              <a:t>veri </a:t>
            </a:r>
            <a:r>
              <a:rPr lang="tr-TR" dirty="0"/>
              <a:t>yapısı </a:t>
            </a:r>
            <a:r>
              <a:rPr lang="tr-TR" dirty="0" smtClean="0"/>
              <a:t>kullanımı.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382" y="2387744"/>
            <a:ext cx="7859236" cy="38336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80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Alan Paylaşımı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smtClean="0"/>
              <a:t>32 </a:t>
            </a:r>
            <a:r>
              <a:rPr lang="tr-TR" dirty="0" smtClean="0"/>
              <a:t>işlemciden oluşan bir küme. </a:t>
            </a:r>
            <a:r>
              <a:rPr lang="tr-TR" i="1" dirty="0" smtClean="0"/>
              <a:t>2 </a:t>
            </a:r>
            <a:r>
              <a:rPr lang="tr-TR" dirty="0" smtClean="0"/>
              <a:t>işlemci boşta. </a:t>
            </a:r>
          </a:p>
          <a:p>
            <a:r>
              <a:rPr lang="tr-TR" i="1" dirty="0" smtClean="0"/>
              <a:t>4, 6, 8</a:t>
            </a:r>
            <a:r>
              <a:rPr lang="tr-TR" dirty="0" smtClean="0"/>
              <a:t> ve </a:t>
            </a:r>
            <a:r>
              <a:rPr lang="tr-TR" i="1" dirty="0" smtClean="0"/>
              <a:t>12</a:t>
            </a:r>
            <a:r>
              <a:rPr lang="tr-TR" dirty="0" smtClean="0"/>
              <a:t> işlemciden oluşan dört gruba ayrılmış.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3014617"/>
            <a:ext cx="8940800" cy="2960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614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Çete (</a:t>
            </a:r>
            <a:r>
              <a:rPr lang="tr-TR" dirty="0" smtClean="0"/>
              <a:t>Gang) Çizelgeleme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Farklı işlemciye atanan </a:t>
            </a:r>
            <a:r>
              <a:rPr lang="tr-TR" i="1" dirty="0"/>
              <a:t>A</a:t>
            </a:r>
            <a:r>
              <a:rPr lang="tr-TR" dirty="0"/>
              <a:t> iş </a:t>
            </a:r>
            <a:r>
              <a:rPr lang="tr-TR" dirty="0" smtClean="0"/>
              <a:t>parçacıklarının arasındaki </a:t>
            </a:r>
            <a:r>
              <a:rPr lang="tr-TR" dirty="0"/>
              <a:t>iletişim.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2403476"/>
            <a:ext cx="8737600" cy="3817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13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Çete (Gang)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İlgili </a:t>
            </a:r>
            <a:r>
              <a:rPr lang="tr-TR" dirty="0"/>
              <a:t>iş parçacığı </a:t>
            </a:r>
            <a:r>
              <a:rPr lang="tr-TR" dirty="0" smtClean="0"/>
              <a:t>grupları, çete </a:t>
            </a:r>
            <a:r>
              <a:rPr lang="tr-TR" dirty="0"/>
              <a:t>olarak </a:t>
            </a:r>
            <a:r>
              <a:rPr lang="tr-TR" dirty="0" smtClean="0"/>
              <a:t>toplu çizelgelenir.</a:t>
            </a:r>
          </a:p>
          <a:p>
            <a:r>
              <a:rPr lang="tr-TR" dirty="0" smtClean="0"/>
              <a:t>Her bir iş parçacığı, </a:t>
            </a:r>
          </a:p>
          <a:p>
            <a:pPr lvl="1"/>
            <a:r>
              <a:rPr lang="tr-TR" dirty="0" smtClean="0"/>
              <a:t>farklı işlemcilerde aynı </a:t>
            </a:r>
            <a:r>
              <a:rPr lang="tr-TR" dirty="0"/>
              <a:t>anda çalışır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zaman </a:t>
            </a:r>
            <a:r>
              <a:rPr lang="tr-TR" dirty="0"/>
              <a:t>dilimlerini birlikte </a:t>
            </a:r>
            <a:r>
              <a:rPr lang="tr-TR" dirty="0" smtClean="0"/>
              <a:t>başlatırlar.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4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Çete (Gang)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34" y="2070644"/>
            <a:ext cx="7799433" cy="4189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673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Ara bağlantı (</a:t>
            </a:r>
            <a:r>
              <a:rPr lang="tr-TR" dirty="0" err="1" smtClean="0"/>
              <a:t>Interconnection</a:t>
            </a:r>
            <a:r>
              <a:rPr lang="tr-TR" dirty="0" smtClean="0"/>
              <a:t>) Topolojileri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</a:t>
            </a:r>
            <a:r>
              <a:rPr lang="tr-TR" dirty="0"/>
              <a:t>a) Tek </a:t>
            </a:r>
            <a:r>
              <a:rPr lang="tr-TR" dirty="0" smtClean="0"/>
              <a:t>anahtar (</a:t>
            </a:r>
            <a:r>
              <a:rPr lang="tr-TR" i="1" dirty="0" err="1" smtClean="0"/>
              <a:t>switch</a:t>
            </a:r>
            <a:r>
              <a:rPr lang="tr-TR" dirty="0" smtClean="0"/>
              <a:t>). </a:t>
            </a:r>
            <a:r>
              <a:rPr lang="tr-TR" dirty="0"/>
              <a:t>(b) </a:t>
            </a:r>
            <a:r>
              <a:rPr lang="tr-TR" dirty="0" smtClean="0"/>
              <a:t>yüzük (</a:t>
            </a:r>
            <a:r>
              <a:rPr lang="tr-TR" i="1" dirty="0" smtClean="0"/>
              <a:t>ring</a:t>
            </a:r>
            <a:r>
              <a:rPr lang="tr-TR" dirty="0" smtClean="0"/>
              <a:t>). </a:t>
            </a:r>
            <a:r>
              <a:rPr lang="tr-TR" dirty="0"/>
              <a:t>(c) </a:t>
            </a:r>
            <a:r>
              <a:rPr lang="tr-TR" dirty="0" smtClean="0"/>
              <a:t>ızgara (</a:t>
            </a:r>
            <a:r>
              <a:rPr lang="tr-TR" i="1" dirty="0" err="1" smtClean="0"/>
              <a:t>grid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2" y="2678137"/>
            <a:ext cx="8461375" cy="2974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980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 bağlantı (</a:t>
            </a:r>
            <a:r>
              <a:rPr lang="tr-TR" dirty="0" err="1"/>
              <a:t>Interconnection</a:t>
            </a:r>
            <a:r>
              <a:rPr lang="tr-TR" dirty="0"/>
              <a:t>) Topolojileri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</a:t>
            </a:r>
            <a:r>
              <a:rPr lang="tr-TR" dirty="0"/>
              <a:t>d) Çift </a:t>
            </a:r>
            <a:r>
              <a:rPr lang="tr-TR" dirty="0" smtClean="0"/>
              <a:t>simit (</a:t>
            </a:r>
            <a:r>
              <a:rPr lang="tr-TR" i="1" dirty="0" err="1" smtClean="0"/>
              <a:t>torus</a:t>
            </a:r>
            <a:r>
              <a:rPr lang="tr-TR" dirty="0" smtClean="0"/>
              <a:t>). </a:t>
            </a:r>
            <a:r>
              <a:rPr lang="tr-TR" dirty="0"/>
              <a:t>(e) </a:t>
            </a:r>
            <a:r>
              <a:rPr lang="tr-TR" dirty="0" smtClean="0"/>
              <a:t>küp (</a:t>
            </a:r>
            <a:r>
              <a:rPr lang="tr-TR" i="1" dirty="0" err="1" smtClean="0"/>
              <a:t>cube</a:t>
            </a:r>
            <a:r>
              <a:rPr lang="tr-TR" dirty="0" smtClean="0"/>
              <a:t>). </a:t>
            </a:r>
            <a:r>
              <a:rPr lang="tr-TR" dirty="0"/>
              <a:t>(f) </a:t>
            </a:r>
            <a:r>
              <a:rPr lang="tr-TR" dirty="0" smtClean="0"/>
              <a:t>4D </a:t>
            </a:r>
            <a:r>
              <a:rPr lang="tr-TR" dirty="0" err="1" smtClean="0"/>
              <a:t>hiperküp</a:t>
            </a:r>
            <a:r>
              <a:rPr lang="tr-TR" dirty="0" smtClean="0"/>
              <a:t> (</a:t>
            </a:r>
            <a:r>
              <a:rPr lang="tr-TR" i="1" dirty="0" err="1" smtClean="0"/>
              <a:t>hypercube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2597944"/>
            <a:ext cx="8820150" cy="2986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15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 bağlantı (</a:t>
            </a:r>
            <a:r>
              <a:rPr lang="tr-TR" dirty="0" err="1"/>
              <a:t>Interconnection</a:t>
            </a:r>
            <a:r>
              <a:rPr lang="tr-TR" dirty="0"/>
              <a:t>) Topolojileri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Sakla </a:t>
            </a:r>
            <a:r>
              <a:rPr lang="fi-FI" dirty="0" smtClean="0"/>
              <a:t>ve </a:t>
            </a:r>
            <a:r>
              <a:rPr lang="fi-FI" dirty="0"/>
              <a:t>ilet </a:t>
            </a:r>
            <a:r>
              <a:rPr lang="tr-TR" dirty="0" smtClean="0"/>
              <a:t>(</a:t>
            </a:r>
            <a:r>
              <a:rPr lang="tr-TR" i="1" dirty="0" err="1" smtClean="0"/>
              <a:t>store</a:t>
            </a:r>
            <a:r>
              <a:rPr lang="tr-TR" i="1" dirty="0" smtClean="0"/>
              <a:t> </a:t>
            </a:r>
            <a:r>
              <a:rPr lang="tr-TR" i="1" dirty="0" err="1" smtClean="0"/>
              <a:t>and</a:t>
            </a:r>
            <a:r>
              <a:rPr lang="tr-TR" i="1" dirty="0" smtClean="0"/>
              <a:t> </a:t>
            </a:r>
            <a:r>
              <a:rPr lang="tr-TR" i="1" dirty="0" err="1" smtClean="0"/>
              <a:t>forward</a:t>
            </a:r>
            <a:r>
              <a:rPr lang="tr-TR" dirty="0" smtClean="0"/>
              <a:t>) </a:t>
            </a:r>
            <a:r>
              <a:rPr lang="fi-FI" dirty="0" smtClean="0"/>
              <a:t>paket </a:t>
            </a:r>
            <a:r>
              <a:rPr lang="fi-FI" dirty="0"/>
              <a:t>anahtarlama.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338" y="2311450"/>
            <a:ext cx="8505825" cy="3829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108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Arayüzleri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Çoklu işlemcili sistemde </a:t>
            </a:r>
            <a:r>
              <a:rPr lang="tr-TR" dirty="0"/>
              <a:t>ağ arayüz </a:t>
            </a:r>
            <a:r>
              <a:rPr lang="tr-TR" dirty="0" smtClean="0"/>
              <a:t>(</a:t>
            </a:r>
            <a:r>
              <a:rPr lang="tr-TR" i="1" dirty="0" smtClean="0"/>
              <a:t>network </a:t>
            </a:r>
            <a:r>
              <a:rPr lang="tr-TR" i="1" dirty="0" err="1" smtClean="0"/>
              <a:t>interface</a:t>
            </a:r>
            <a:r>
              <a:rPr lang="tr-TR" dirty="0" smtClean="0"/>
              <a:t>) kartlarının </a:t>
            </a:r>
            <a:r>
              <a:rPr lang="tr-TR" dirty="0"/>
              <a:t>konumu.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823" y="2330811"/>
            <a:ext cx="7170354" cy="38906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816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Bloke Eden ve Etmeyen </a:t>
            </a:r>
            <a:r>
              <a:rPr lang="tr-TR" dirty="0"/>
              <a:t>Çağrılar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dirty="0"/>
              <a:t>(a) </a:t>
            </a:r>
            <a:r>
              <a:rPr lang="tr-TR" dirty="0" smtClean="0"/>
              <a:t>Bloke eden (</a:t>
            </a:r>
            <a:r>
              <a:rPr lang="en-US" i="1" dirty="0" smtClean="0"/>
              <a:t>blocking</a:t>
            </a:r>
            <a:r>
              <a:rPr lang="tr-TR" dirty="0" smtClean="0"/>
              <a:t>)</a:t>
            </a:r>
            <a:r>
              <a:rPr lang="en-US" dirty="0" smtClean="0"/>
              <a:t> </a:t>
            </a:r>
            <a:r>
              <a:rPr lang="tr-TR" dirty="0" smtClean="0"/>
              <a:t>gönderme çağrısı</a:t>
            </a:r>
            <a:r>
              <a:rPr lang="en-US" dirty="0" smtClean="0"/>
              <a:t>.</a:t>
            </a:r>
            <a:endParaRPr lang="en-US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681" y="2867026"/>
            <a:ext cx="8656637" cy="22812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234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Bloke Eden ve Etmeyen Çağrılar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(b) Bloke etmeyen (</a:t>
            </a:r>
            <a:r>
              <a:rPr lang="tr-TR" i="1" dirty="0" err="1" smtClean="0"/>
              <a:t>non-blocking</a:t>
            </a:r>
            <a:r>
              <a:rPr lang="tr-TR" dirty="0" smtClean="0"/>
              <a:t>) gönderme </a:t>
            </a:r>
            <a:r>
              <a:rPr lang="tr-TR" dirty="0"/>
              <a:t>çağrısı.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2" y="2484462"/>
            <a:ext cx="8575675" cy="3362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32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Bloke Eden ve Etmeyen Çağrılar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Bloke eden (</a:t>
            </a:r>
            <a:r>
              <a:rPr lang="tr-TR" i="1" dirty="0" err="1" smtClean="0"/>
              <a:t>blocking</a:t>
            </a:r>
            <a:r>
              <a:rPr lang="tr-TR" dirty="0" smtClean="0"/>
              <a:t>) gönderim,</a:t>
            </a:r>
          </a:p>
          <a:p>
            <a:pPr lvl="1"/>
            <a:r>
              <a:rPr lang="tr-TR" dirty="0" smtClean="0"/>
              <a:t>mesaj </a:t>
            </a:r>
            <a:r>
              <a:rPr lang="tr-TR" dirty="0"/>
              <a:t>iletimi sırasında CPU </a:t>
            </a:r>
            <a:r>
              <a:rPr lang="tr-TR" dirty="0" smtClean="0"/>
              <a:t>boşta bekler.</a:t>
            </a:r>
          </a:p>
          <a:p>
            <a:r>
              <a:rPr lang="tr-TR" dirty="0" smtClean="0"/>
              <a:t>Bloke etmeyen (</a:t>
            </a:r>
            <a:r>
              <a:rPr lang="tr-TR" i="1" dirty="0" err="1" smtClean="0"/>
              <a:t>non-blocking</a:t>
            </a:r>
            <a:r>
              <a:rPr lang="tr-TR" dirty="0" smtClean="0"/>
              <a:t>) gönderim,</a:t>
            </a:r>
          </a:p>
          <a:p>
            <a:pPr lvl="1"/>
            <a:r>
              <a:rPr lang="tr-TR" dirty="0" smtClean="0"/>
              <a:t>fazladan kopyalama işlemi </a:t>
            </a:r>
            <a:r>
              <a:rPr lang="tr-TR" dirty="0"/>
              <a:t>için </a:t>
            </a:r>
            <a:r>
              <a:rPr lang="tr-TR" dirty="0" smtClean="0"/>
              <a:t>CPU zamanı boşa harcanır.</a:t>
            </a:r>
          </a:p>
          <a:p>
            <a:r>
              <a:rPr lang="tr-TR" dirty="0" smtClean="0"/>
              <a:t>Kesme ile bloke etmeyen gönderim,</a:t>
            </a:r>
          </a:p>
          <a:p>
            <a:pPr lvl="1"/>
            <a:r>
              <a:rPr lang="tr-TR" dirty="0" smtClean="0"/>
              <a:t>programlamayı zorlaştırır.</a:t>
            </a:r>
          </a:p>
          <a:p>
            <a:r>
              <a:rPr lang="tr-TR" dirty="0" smtClean="0"/>
              <a:t>Yazarken kopyalama, (</a:t>
            </a:r>
            <a:r>
              <a:rPr lang="tr-TR" i="1" dirty="0" err="1" smtClean="0"/>
              <a:t>copy</a:t>
            </a:r>
            <a:r>
              <a:rPr lang="tr-TR" i="1" dirty="0" smtClean="0"/>
              <a:t> on </a:t>
            </a:r>
            <a:r>
              <a:rPr lang="tr-TR" i="1" dirty="0" err="1" smtClean="0"/>
              <a:t>write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muhtemelen </a:t>
            </a:r>
            <a:r>
              <a:rPr lang="tr-TR" dirty="0"/>
              <a:t>fazladan kopya </a:t>
            </a:r>
            <a:r>
              <a:rPr lang="tr-TR" dirty="0" smtClean="0"/>
              <a:t>gerekir.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6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Uzaktan Prosedür Çağrısı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 smtClean="0"/>
              <a:t>remote</a:t>
            </a:r>
            <a:r>
              <a:rPr lang="tr-TR" i="1" dirty="0" smtClean="0"/>
              <a:t> </a:t>
            </a:r>
            <a:r>
              <a:rPr lang="tr-TR" i="1" dirty="0" err="1" smtClean="0"/>
              <a:t>procedure</a:t>
            </a:r>
            <a:r>
              <a:rPr lang="tr-TR" i="1" dirty="0" smtClean="0"/>
              <a:t> </a:t>
            </a:r>
            <a:r>
              <a:rPr lang="tr-TR" i="1" dirty="0" err="1" smtClean="0"/>
              <a:t>call</a:t>
            </a:r>
            <a:r>
              <a:rPr lang="tr-TR" dirty="0"/>
              <a:t>.</a:t>
            </a:r>
            <a:endParaRPr lang="tr-TR" dirty="0" smtClean="0"/>
          </a:p>
          <a:p>
            <a:r>
              <a:rPr lang="tr-TR" b="1" dirty="0" err="1" smtClean="0"/>
              <a:t>Stub</a:t>
            </a:r>
            <a:r>
              <a:rPr lang="tr-TR" dirty="0" smtClean="0"/>
              <a:t>: Sonra </a:t>
            </a:r>
            <a:r>
              <a:rPr lang="tr-TR" dirty="0"/>
              <a:t>aslıyla değiştirilmek üzere geçici </a:t>
            </a:r>
            <a:r>
              <a:rPr lang="tr-TR" dirty="0" smtClean="0"/>
              <a:t>olarak yürütülebilir program. 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980" y="3029133"/>
            <a:ext cx="6416040" cy="31113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62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Paylaşımlı Bellek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smtClean="0"/>
              <a:t>Distributed </a:t>
            </a:r>
            <a:r>
              <a:rPr lang="tr-TR" i="1" dirty="0" err="1" smtClean="0"/>
              <a:t>shared</a:t>
            </a:r>
            <a:r>
              <a:rPr lang="tr-TR" i="1" dirty="0" smtClean="0"/>
              <a:t> </a:t>
            </a:r>
            <a:r>
              <a:rPr lang="tr-TR" i="1" dirty="0" err="1" smtClean="0"/>
              <a:t>memory</a:t>
            </a:r>
            <a:r>
              <a:rPr lang="tr-TR" i="1" dirty="0" smtClean="0"/>
              <a:t>.</a:t>
            </a:r>
          </a:p>
          <a:p>
            <a:r>
              <a:rPr lang="tr-TR" dirty="0" smtClean="0"/>
              <a:t>Paylaşımlı </a:t>
            </a:r>
            <a:r>
              <a:rPr lang="tr-TR" dirty="0"/>
              <a:t>belleğin uygulanabileceği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katmanlar</a:t>
            </a:r>
            <a:r>
              <a:rPr lang="tr-TR" dirty="0"/>
              <a:t>. (a) Donanım.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668" y="365125"/>
            <a:ext cx="2700000" cy="60339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249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Paylaşımlı Bellek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Distributed 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i="1" dirty="0"/>
              <a:t>.</a:t>
            </a:r>
          </a:p>
          <a:p>
            <a:r>
              <a:rPr lang="tr-TR" dirty="0"/>
              <a:t>Paylaşımlı belleğin uygulanabileceği </a:t>
            </a:r>
          </a:p>
          <a:p>
            <a:pPr marL="0" indent="0">
              <a:buNone/>
            </a:pPr>
            <a:r>
              <a:rPr lang="tr-TR" dirty="0"/>
              <a:t>katmanlar. </a:t>
            </a:r>
            <a:r>
              <a:rPr lang="tr-TR" dirty="0" smtClean="0"/>
              <a:t>(b) İşletim sistemi.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668" y="431685"/>
            <a:ext cx="2700000" cy="59246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412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Paylaşımlı Bellek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Distributed </a:t>
            </a:r>
            <a:r>
              <a:rPr lang="tr-TR" i="1" dirty="0" err="1"/>
              <a:t>shared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i="1" dirty="0"/>
              <a:t>.</a:t>
            </a:r>
          </a:p>
          <a:p>
            <a:r>
              <a:rPr lang="tr-TR" dirty="0"/>
              <a:t>Paylaşımlı belleğin uygulanabileceği </a:t>
            </a:r>
          </a:p>
          <a:p>
            <a:pPr marL="0" indent="0">
              <a:buNone/>
            </a:pPr>
            <a:r>
              <a:rPr lang="tr-TR" dirty="0"/>
              <a:t>katmanlar. </a:t>
            </a:r>
            <a:r>
              <a:rPr lang="tr-TR" dirty="0" smtClean="0"/>
              <a:t>(</a:t>
            </a:r>
            <a:r>
              <a:rPr lang="tr-TR" dirty="0"/>
              <a:t>c) Kullanıcı </a:t>
            </a:r>
            <a:r>
              <a:rPr lang="tr-TR" dirty="0" smtClean="0"/>
              <a:t>yazılımı.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470" y="428235"/>
            <a:ext cx="2651760" cy="59128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50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Paylaşımlı Bellek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Dört </a:t>
            </a:r>
            <a:r>
              <a:rPr lang="tr-TR" dirty="0" smtClean="0"/>
              <a:t>işlemci arasında </a:t>
            </a:r>
            <a:r>
              <a:rPr lang="tr-TR" dirty="0"/>
              <a:t>dağıtılan adres alanının sayfaları.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317" y="2423493"/>
            <a:ext cx="7625366" cy="3797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54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Paylaşımlı Bellek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(b) CPU 1</a:t>
            </a:r>
            <a:r>
              <a:rPr lang="tr-TR" dirty="0"/>
              <a:t> sayfa </a:t>
            </a:r>
            <a:r>
              <a:rPr lang="tr-TR" i="1" dirty="0"/>
              <a:t>10</a:t>
            </a:r>
            <a:r>
              <a:rPr lang="tr-TR" dirty="0"/>
              <a:t>'a </a:t>
            </a:r>
            <a:r>
              <a:rPr lang="tr-TR" dirty="0" smtClean="0"/>
              <a:t>referans verir, sayfa taşındıktan </a:t>
            </a:r>
            <a:r>
              <a:rPr lang="tr-TR" dirty="0"/>
              <a:t>sonraki durum.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906" y="3021428"/>
            <a:ext cx="8358188" cy="28257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99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Paylaşımlı Bellek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(c) Sayfa </a:t>
            </a:r>
            <a:r>
              <a:rPr lang="tr-TR" i="1" dirty="0"/>
              <a:t>10</a:t>
            </a:r>
            <a:r>
              <a:rPr lang="tr-TR" dirty="0"/>
              <a:t> salt </a:t>
            </a:r>
            <a:r>
              <a:rPr lang="tr-TR" dirty="0" smtClean="0"/>
              <a:t>okunursa, kopya ile çoğaltılır. (</a:t>
            </a:r>
            <a:r>
              <a:rPr lang="tr-TR" i="1" dirty="0" err="1" smtClean="0"/>
              <a:t>replication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3103613"/>
            <a:ext cx="8585200" cy="30368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85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Yanlış </a:t>
            </a:r>
            <a:r>
              <a:rPr lang="tr-TR" dirty="0" smtClean="0"/>
              <a:t>Paylaşım (</a:t>
            </a:r>
            <a:r>
              <a:rPr lang="tr-TR" dirty="0" err="1"/>
              <a:t>F</a:t>
            </a:r>
            <a:r>
              <a:rPr lang="tr-TR" dirty="0" err="1" smtClean="0"/>
              <a:t>alse</a:t>
            </a:r>
            <a:r>
              <a:rPr lang="tr-TR" dirty="0" smtClean="0"/>
              <a:t> </a:t>
            </a:r>
            <a:r>
              <a:rPr lang="tr-TR" dirty="0" err="1"/>
              <a:t>S</a:t>
            </a:r>
            <a:r>
              <a:rPr lang="tr-TR" dirty="0" err="1" smtClean="0"/>
              <a:t>haring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</a:t>
            </a:r>
            <a:r>
              <a:rPr lang="tr-TR" dirty="0" smtClean="0"/>
              <a:t>birbirinden bağımsız değişken </a:t>
            </a:r>
            <a:r>
              <a:rPr lang="tr-TR" dirty="0"/>
              <a:t>içeren bir sayfanın </a:t>
            </a:r>
            <a:r>
              <a:rPr lang="tr-TR" i="1" dirty="0"/>
              <a:t>yanlış paylaşımı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163" y="2447156"/>
            <a:ext cx="8512175" cy="3436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27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 </a:t>
            </a:r>
            <a:r>
              <a:rPr lang="tr-TR" dirty="0" smtClean="0"/>
              <a:t>Çizge-Teorik </a:t>
            </a:r>
            <a:r>
              <a:rPr lang="tr-TR" dirty="0" err="1"/>
              <a:t>Deterministik</a:t>
            </a:r>
            <a:r>
              <a:rPr lang="tr-TR" dirty="0"/>
              <a:t> Algoritma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smtClean="0"/>
              <a:t>9</a:t>
            </a:r>
            <a:r>
              <a:rPr lang="tr-TR" dirty="0" smtClean="0"/>
              <a:t> süreci </a:t>
            </a:r>
            <a:r>
              <a:rPr lang="tr-TR" i="1" dirty="0" smtClean="0"/>
              <a:t>3</a:t>
            </a:r>
            <a:r>
              <a:rPr lang="tr-TR" dirty="0" smtClean="0"/>
              <a:t> </a:t>
            </a:r>
            <a:r>
              <a:rPr lang="tr-TR" dirty="0"/>
              <a:t>düğüme </a:t>
            </a:r>
            <a:r>
              <a:rPr lang="tr-TR" dirty="0" smtClean="0"/>
              <a:t>atama.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7" y="2494756"/>
            <a:ext cx="8658225" cy="31924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27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 smtClean="0"/>
              <a:t>Dağıtık </a:t>
            </a:r>
            <a:r>
              <a:rPr lang="tr-TR" sz="2800" dirty="0"/>
              <a:t>Sezgisel Algoritma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Aşırı </a:t>
            </a:r>
            <a:r>
              <a:rPr lang="tr-TR" dirty="0"/>
              <a:t>yüklenmiş </a:t>
            </a:r>
            <a:r>
              <a:rPr lang="tr-TR" dirty="0" smtClean="0"/>
              <a:t>bir düğüm</a:t>
            </a:r>
            <a:r>
              <a:rPr lang="tr-TR" dirty="0"/>
              <a:t>. (b) </a:t>
            </a:r>
            <a:r>
              <a:rPr lang="tr-TR" dirty="0" smtClean="0"/>
              <a:t>İş </a:t>
            </a:r>
            <a:r>
              <a:rPr lang="tr-TR" dirty="0"/>
              <a:t>arayan boş bir düğüm.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2755900"/>
            <a:ext cx="8896350" cy="34655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9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Tip 1 </a:t>
            </a:r>
            <a:r>
              <a:rPr lang="tr-TR" dirty="0" err="1"/>
              <a:t>Hipervizörler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Sanal </a:t>
            </a:r>
            <a:r>
              <a:rPr lang="tr-TR" dirty="0" smtClean="0"/>
              <a:t>makinedeki işletim sistemi, donanıma erişemez, komutu </a:t>
            </a:r>
            <a:r>
              <a:rPr lang="tr-TR" dirty="0" err="1" smtClean="0"/>
              <a:t>hipervizöre</a:t>
            </a:r>
            <a:r>
              <a:rPr lang="tr-TR" dirty="0" smtClean="0"/>
              <a:t> (</a:t>
            </a:r>
            <a:r>
              <a:rPr lang="tr-TR" dirty="0" err="1" smtClean="0"/>
              <a:t>hypervisor</a:t>
            </a:r>
            <a:r>
              <a:rPr lang="tr-TR" dirty="0" smtClean="0"/>
              <a:t>) </a:t>
            </a:r>
            <a:r>
              <a:rPr lang="tr-TR" dirty="0" smtClean="0"/>
              <a:t>iletir (</a:t>
            </a:r>
            <a:r>
              <a:rPr lang="tr-TR" i="1" dirty="0" smtClean="0"/>
              <a:t>trap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2" y="3128963"/>
            <a:ext cx="8474075" cy="3092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879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Yarı Sanallaştırma </a:t>
            </a:r>
            <a:r>
              <a:rPr lang="tr-TR" dirty="0" smtClean="0"/>
              <a:t>(</a:t>
            </a:r>
            <a:r>
              <a:rPr lang="tr-TR" dirty="0" err="1"/>
              <a:t>P</a:t>
            </a:r>
            <a:r>
              <a:rPr lang="tr-TR" dirty="0" err="1" smtClean="0"/>
              <a:t>aravirtualization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Sanal makinedeki işletim sistemi </a:t>
            </a:r>
            <a:r>
              <a:rPr lang="tr-TR" dirty="0" err="1" smtClean="0"/>
              <a:t>modifiye</a:t>
            </a:r>
            <a:r>
              <a:rPr lang="tr-TR" dirty="0" smtClean="0"/>
              <a:t> edilir.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7" y="2740025"/>
            <a:ext cx="8467725" cy="34813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754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Yarı Sanallaştırma </a:t>
            </a:r>
            <a:r>
              <a:rPr lang="tr-TR" dirty="0" smtClean="0"/>
              <a:t>(</a:t>
            </a:r>
            <a:r>
              <a:rPr lang="tr-TR" dirty="0" err="1"/>
              <a:t>P</a:t>
            </a:r>
            <a:r>
              <a:rPr lang="tr-TR" dirty="0" err="1" smtClean="0"/>
              <a:t>aravirtualization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Çıplak (</a:t>
            </a:r>
            <a:r>
              <a:rPr lang="tr-TR" i="1" dirty="0" err="1" smtClean="0"/>
              <a:t>bare</a:t>
            </a:r>
            <a:r>
              <a:rPr lang="tr-TR" dirty="0" smtClean="0"/>
              <a:t>) </a:t>
            </a:r>
            <a:r>
              <a:rPr lang="tr-TR" dirty="0"/>
              <a:t>donanım (b) </a:t>
            </a:r>
            <a:r>
              <a:rPr lang="tr-TR" dirty="0" err="1"/>
              <a:t>VMware</a:t>
            </a:r>
            <a:r>
              <a:rPr lang="tr-TR" dirty="0"/>
              <a:t> (c) </a:t>
            </a:r>
            <a:r>
              <a:rPr lang="tr-TR" dirty="0" err="1"/>
              <a:t>Xen</a:t>
            </a:r>
            <a:r>
              <a:rPr lang="tr-TR" dirty="0"/>
              <a:t> üzerinde çalışan VMI Linux.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806" y="2409875"/>
            <a:ext cx="7926387" cy="3730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1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</a:t>
            </a:r>
            <a:r>
              <a:rPr lang="tr-TR" dirty="0" smtClean="0"/>
              <a:t>Bilgisayar Sistemi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ağ ile birbirine </a:t>
            </a:r>
            <a:r>
              <a:rPr lang="tr-TR" dirty="0" smtClean="0"/>
              <a:t>bağlantılı </a:t>
            </a:r>
            <a:r>
              <a:rPr lang="tr-TR" dirty="0" smtClean="0"/>
              <a:t>bağımsız </a:t>
            </a:r>
            <a:r>
              <a:rPr lang="tr-TR" dirty="0"/>
              <a:t>bilgisayardan </a:t>
            </a:r>
            <a:r>
              <a:rPr lang="tr-TR" dirty="0" smtClean="0"/>
              <a:t>oluşur.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bilgisayar kendi işletim sistemine </a:t>
            </a:r>
            <a:r>
              <a:rPr lang="tr-TR" dirty="0" smtClean="0"/>
              <a:t>sahip.</a:t>
            </a:r>
            <a:endParaRPr lang="tr-TR" dirty="0" smtClean="0"/>
          </a:p>
          <a:p>
            <a:r>
              <a:rPr lang="tr-TR" dirty="0" smtClean="0"/>
              <a:t>Bilgisayarlar </a:t>
            </a:r>
            <a:r>
              <a:rPr lang="tr-TR" dirty="0"/>
              <a:t>arasında </a:t>
            </a:r>
            <a:r>
              <a:rPr lang="tr-TR" dirty="0" smtClean="0"/>
              <a:t>iletişim </a:t>
            </a:r>
            <a:r>
              <a:rPr lang="tr-TR" dirty="0" smtClean="0"/>
              <a:t>sınırlı.</a:t>
            </a:r>
            <a:endParaRPr lang="tr-TR" dirty="0" smtClean="0"/>
          </a:p>
          <a:p>
            <a:r>
              <a:rPr lang="tr-TR" dirty="0" smtClean="0"/>
              <a:t>Büyük </a:t>
            </a:r>
            <a:r>
              <a:rPr lang="tr-TR" dirty="0"/>
              <a:t>ölçekli </a:t>
            </a:r>
            <a:r>
              <a:rPr lang="tr-TR" dirty="0" smtClean="0"/>
              <a:t>simülasyonlar </a:t>
            </a:r>
            <a:r>
              <a:rPr lang="tr-TR" dirty="0"/>
              <a:t>ve </a:t>
            </a:r>
            <a:r>
              <a:rPr lang="tr-TR" dirty="0" smtClean="0"/>
              <a:t>paralel </a:t>
            </a:r>
            <a:r>
              <a:rPr lang="tr-TR" dirty="0"/>
              <a:t>bilgi işlem görevleri için </a:t>
            </a:r>
            <a:r>
              <a:rPr lang="tr-TR" dirty="0" smtClean="0"/>
              <a:t>uygun.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2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Dağıtık Sistem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ağ aracılığıyla iletişim kuran </a:t>
            </a:r>
            <a:r>
              <a:rPr lang="tr-TR" dirty="0" smtClean="0"/>
              <a:t>otonom bilgisayar </a:t>
            </a:r>
            <a:r>
              <a:rPr lang="tr-TR" dirty="0"/>
              <a:t>topluluğu</a:t>
            </a:r>
            <a:r>
              <a:rPr lang="tr-TR" dirty="0" smtClean="0"/>
              <a:t>.</a:t>
            </a:r>
          </a:p>
          <a:p>
            <a:r>
              <a:rPr lang="tr-TR" dirty="0" smtClean="0"/>
              <a:t>Her </a:t>
            </a:r>
            <a:r>
              <a:rPr lang="tr-TR" dirty="0" smtClean="0"/>
              <a:t>bilgisayar,</a:t>
            </a:r>
          </a:p>
          <a:p>
            <a:pPr lvl="1"/>
            <a:r>
              <a:rPr lang="tr-TR" dirty="0" smtClean="0"/>
              <a:t>kendi </a:t>
            </a:r>
            <a:r>
              <a:rPr lang="tr-TR" dirty="0"/>
              <a:t>işletim sistemini </a:t>
            </a:r>
            <a:r>
              <a:rPr lang="tr-TR" dirty="0" smtClean="0"/>
              <a:t>çalıştırır. </a:t>
            </a:r>
          </a:p>
          <a:p>
            <a:pPr lvl="1"/>
            <a:r>
              <a:rPr lang="tr-TR" dirty="0" smtClean="0"/>
              <a:t>kendi </a:t>
            </a:r>
            <a:r>
              <a:rPr lang="tr-TR" dirty="0"/>
              <a:t>belleğine ve kaynaklarına sahiptir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Kaynak </a:t>
            </a:r>
            <a:r>
              <a:rPr lang="tr-TR" dirty="0"/>
              <a:t>tahsisi ve görev dağıtımı, </a:t>
            </a:r>
            <a:endParaRPr lang="tr-TR" dirty="0" smtClean="0"/>
          </a:p>
          <a:p>
            <a:pPr lvl="1"/>
            <a:r>
              <a:rPr lang="tr-TR" dirty="0" smtClean="0"/>
              <a:t>dağıtık işletim </a:t>
            </a:r>
            <a:r>
              <a:rPr lang="tr-TR" dirty="0"/>
              <a:t>sistemi </a:t>
            </a:r>
            <a:r>
              <a:rPr lang="tr-TR" dirty="0" smtClean="0"/>
              <a:t>tarafından yönetilir.</a:t>
            </a:r>
            <a:endParaRPr lang="tr-TR" dirty="0" smtClean="0"/>
          </a:p>
          <a:p>
            <a:r>
              <a:rPr lang="tr-TR" dirty="0" smtClean="0"/>
              <a:t>Esneklik </a:t>
            </a:r>
            <a:r>
              <a:rPr lang="tr-TR" dirty="0"/>
              <a:t>ve ölçeklenebilirlik gerektiren </a:t>
            </a:r>
            <a:r>
              <a:rPr lang="tr-TR" dirty="0" smtClean="0"/>
              <a:t>uygulamalar </a:t>
            </a:r>
            <a:r>
              <a:rPr lang="tr-TR" dirty="0"/>
              <a:t>için </a:t>
            </a:r>
            <a:r>
              <a:rPr lang="tr-TR" dirty="0" smtClean="0"/>
              <a:t>uygun.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99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Dağıtık </a:t>
            </a:r>
            <a:r>
              <a:rPr lang="tr-TR" dirty="0" smtClean="0"/>
              <a:t>Sistem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Dağıtık </a:t>
            </a:r>
            <a:r>
              <a:rPr lang="tr-TR" dirty="0"/>
              <a:t>bir sistemde ara yazılımın </a:t>
            </a:r>
            <a:r>
              <a:rPr lang="tr-TR" dirty="0" smtClean="0"/>
              <a:t>konumu.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30" y="2350720"/>
            <a:ext cx="7340940" cy="3938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325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Karşılaştırma</a:t>
            </a:r>
            <a:endParaRPr lang="tr-TR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194636"/>
              </p:ext>
            </p:extLst>
          </p:nvPr>
        </p:nvGraphicFramePr>
        <p:xfrm>
          <a:off x="955766" y="2030322"/>
          <a:ext cx="10549800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12000"/>
                <a:gridCol w="2628900"/>
                <a:gridCol w="2880000"/>
                <a:gridCol w="2628900"/>
              </a:tblGrid>
              <a:tr h="370840">
                <a:tc>
                  <a:txBody>
                    <a:bodyPr/>
                    <a:lstStyle/>
                    <a:p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Çoklu İşlemci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Çoklu Bilgisayar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smtClean="0"/>
                        <a:t>Dağıtık</a:t>
                      </a:r>
                      <a:r>
                        <a:rPr lang="tr-TR" sz="2400" baseline="0" dirty="0" smtClean="0"/>
                        <a:t> Sistem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Düğüm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CPU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CPU, RAM, ağ </a:t>
                      </a:r>
                      <a:r>
                        <a:rPr lang="tr-TR" sz="2400" dirty="0" smtClean="0"/>
                        <a:t>birimi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Tüm Bilgisayar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Çevre </a:t>
                      </a:r>
                      <a:r>
                        <a:rPr lang="tr-TR" sz="2400" b="1" dirty="0" smtClean="0"/>
                        <a:t>birimleri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Tümü paylaşılır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Disk paylaşılır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Tümü paylaşılır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Konum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Aynı raf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Aynı oda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Dünya çapında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İletişim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Paylaşılan RAM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Özel ara bağlantı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Geleneksel ağ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İşletim sistemleri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Bir, paylaşılan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Çoklu, aynı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Hepsi farklı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Dosya sistemleri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Bir, paylaşılan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Bir, paylaşılan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Kendine </a:t>
                      </a:r>
                      <a:r>
                        <a:rPr lang="tr-TR" sz="2400" dirty="0" smtClean="0"/>
                        <a:t>ait</a:t>
                      </a:r>
                      <a:endParaRPr lang="tr-T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b="1" dirty="0" smtClean="0"/>
                        <a:t>Yönetim</a:t>
                      </a:r>
                      <a:endParaRPr lang="tr-T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Tek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Tek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 smtClean="0"/>
                        <a:t>Çoklu</a:t>
                      </a:r>
                      <a:endParaRPr lang="tr-TR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4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Ethernet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Klasik. </a:t>
            </a:r>
            <a:r>
              <a:rPr lang="tr-TR" dirty="0"/>
              <a:t>(b) </a:t>
            </a:r>
            <a:r>
              <a:rPr lang="tr-TR" dirty="0" smtClean="0"/>
              <a:t>Anahtarlamalı.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2534444"/>
            <a:ext cx="8877300" cy="3113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16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Protokolleri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İletim Kontrol Protokolü (TCP)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transmission</a:t>
            </a:r>
            <a:r>
              <a:rPr lang="tr-TR" i="1" dirty="0" smtClean="0"/>
              <a:t> </a:t>
            </a:r>
            <a:r>
              <a:rPr lang="tr-TR" i="1" dirty="0" err="1" smtClean="0"/>
              <a:t>control</a:t>
            </a:r>
            <a:r>
              <a:rPr lang="tr-TR" i="1" dirty="0" smtClean="0"/>
              <a:t> </a:t>
            </a:r>
            <a:r>
              <a:rPr lang="tr-TR" i="1" dirty="0" err="1" smtClean="0"/>
              <a:t>protocol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Hata </a:t>
            </a:r>
            <a:r>
              <a:rPr lang="tr-TR" dirty="0"/>
              <a:t>algılama ve düzeltme </a:t>
            </a:r>
            <a:r>
              <a:rPr lang="tr-TR" dirty="0" smtClean="0"/>
              <a:t>yeteneği.</a:t>
            </a:r>
          </a:p>
          <a:p>
            <a:pPr lvl="1"/>
            <a:r>
              <a:rPr lang="tr-TR" dirty="0" smtClean="0"/>
              <a:t>Güvenilir</a:t>
            </a:r>
            <a:r>
              <a:rPr lang="tr-TR" dirty="0"/>
              <a:t>, bağlantı </a:t>
            </a:r>
            <a:r>
              <a:rPr lang="tr-TR" dirty="0" smtClean="0"/>
              <a:t>yönelimli (</a:t>
            </a:r>
            <a:r>
              <a:rPr lang="tr-TR" i="1" dirty="0" err="1" smtClean="0"/>
              <a:t>connection</a:t>
            </a:r>
            <a:r>
              <a:rPr lang="tr-TR" i="1" dirty="0" smtClean="0"/>
              <a:t> </a:t>
            </a:r>
            <a:r>
              <a:rPr lang="tr-TR" i="1" dirty="0" err="1" smtClean="0"/>
              <a:t>oriented</a:t>
            </a:r>
            <a:r>
              <a:rPr lang="tr-TR" dirty="0" smtClean="0"/>
              <a:t>) </a:t>
            </a:r>
            <a:r>
              <a:rPr lang="tr-TR" dirty="0"/>
              <a:t>veri aktarımı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Kullanıcı </a:t>
            </a:r>
            <a:r>
              <a:rPr lang="tr-TR" b="1" dirty="0" err="1"/>
              <a:t>Datagram</a:t>
            </a:r>
            <a:r>
              <a:rPr lang="tr-TR" b="1" dirty="0"/>
              <a:t> Protokolü (UDP)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user</a:t>
            </a:r>
            <a:r>
              <a:rPr lang="tr-TR" i="1" dirty="0" smtClean="0"/>
              <a:t> </a:t>
            </a:r>
            <a:r>
              <a:rPr lang="tr-TR" i="1" dirty="0" err="1" smtClean="0"/>
              <a:t>datagram</a:t>
            </a:r>
            <a:r>
              <a:rPr lang="tr-TR" i="1" dirty="0" smtClean="0"/>
              <a:t> </a:t>
            </a:r>
            <a:r>
              <a:rPr lang="tr-TR" i="1" dirty="0" err="1" smtClean="0"/>
              <a:t>protocol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Hata </a:t>
            </a:r>
            <a:r>
              <a:rPr lang="tr-TR" dirty="0"/>
              <a:t>algılama veya düzeltme </a:t>
            </a:r>
            <a:r>
              <a:rPr lang="tr-TR" dirty="0" smtClean="0"/>
              <a:t>yok.</a:t>
            </a:r>
          </a:p>
          <a:p>
            <a:pPr lvl="1"/>
            <a:r>
              <a:rPr lang="tr-TR" dirty="0" smtClean="0"/>
              <a:t>Güvenilir </a:t>
            </a:r>
            <a:r>
              <a:rPr lang="tr-TR" dirty="0"/>
              <a:t>olmayan, </a:t>
            </a:r>
            <a:r>
              <a:rPr lang="tr-TR" dirty="0" smtClean="0"/>
              <a:t>bağlantısız (</a:t>
            </a:r>
            <a:r>
              <a:rPr lang="tr-TR" i="1" dirty="0" err="1" smtClean="0"/>
              <a:t>connectionless</a:t>
            </a:r>
            <a:r>
              <a:rPr lang="tr-TR" dirty="0" smtClean="0"/>
              <a:t>) </a:t>
            </a:r>
            <a:r>
              <a:rPr lang="tr-TR" dirty="0"/>
              <a:t>veri aktarımı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İnternet </a:t>
            </a:r>
            <a:r>
              <a:rPr lang="tr-TR" b="1" dirty="0"/>
              <a:t>Protokolü (IP)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smtClean="0"/>
              <a:t>internet </a:t>
            </a:r>
            <a:r>
              <a:rPr lang="tr-TR" i="1" dirty="0" err="1" smtClean="0"/>
              <a:t>protocol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Ağlar </a:t>
            </a:r>
            <a:r>
              <a:rPr lang="tr-TR" dirty="0"/>
              <a:t>arasında veri iletimi için yönlendirme ve adresleme işlevi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Basit </a:t>
            </a:r>
            <a:r>
              <a:rPr lang="tr-TR" b="1" dirty="0"/>
              <a:t>Ağ Yönetimi Protokolü (SNMP)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simple</a:t>
            </a:r>
            <a:r>
              <a:rPr lang="tr-TR" i="1" dirty="0" smtClean="0"/>
              <a:t> network </a:t>
            </a:r>
            <a:r>
              <a:rPr lang="tr-TR" i="1" dirty="0" err="1" smtClean="0"/>
              <a:t>management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Ağ </a:t>
            </a:r>
            <a:r>
              <a:rPr lang="tr-TR" dirty="0"/>
              <a:t>cihazlarını yönetmek ve izlemek için kullanılır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0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Protokolleri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Alan Adı </a:t>
            </a:r>
            <a:r>
              <a:rPr lang="tr-TR" b="1" dirty="0"/>
              <a:t>Sistemi (DNS)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smtClean="0"/>
              <a:t>domain name </a:t>
            </a:r>
            <a:r>
              <a:rPr lang="tr-TR" i="1" dirty="0" err="1" smtClean="0"/>
              <a:t>system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Alan adını </a:t>
            </a:r>
            <a:r>
              <a:rPr lang="tr-TR" dirty="0"/>
              <a:t>IP </a:t>
            </a:r>
            <a:r>
              <a:rPr lang="tr-TR" dirty="0" smtClean="0"/>
              <a:t>adresine </a:t>
            </a:r>
            <a:r>
              <a:rPr lang="tr-TR" dirty="0"/>
              <a:t>çözümler</a:t>
            </a:r>
            <a:r>
              <a:rPr lang="tr-TR" dirty="0" smtClean="0"/>
              <a:t>. Hiyerarşik, dağıtık adlandırma sistemi.</a:t>
            </a:r>
            <a:endParaRPr lang="tr-TR" dirty="0" smtClean="0"/>
          </a:p>
          <a:p>
            <a:r>
              <a:rPr lang="tr-TR" b="1" dirty="0" smtClean="0"/>
              <a:t>Dosya </a:t>
            </a:r>
            <a:r>
              <a:rPr lang="tr-TR" b="1" dirty="0"/>
              <a:t>Aktarım Protokolü (FTP)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smtClean="0"/>
              <a:t>file transfer </a:t>
            </a:r>
            <a:r>
              <a:rPr lang="tr-TR" i="1" dirty="0" err="1" smtClean="0"/>
              <a:t>protocol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İnternet </a:t>
            </a:r>
            <a:r>
              <a:rPr lang="tr-TR" dirty="0"/>
              <a:t>üzerinden dosya aktarımı için kullanılır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Köprü Metni </a:t>
            </a:r>
            <a:r>
              <a:rPr lang="tr-TR" b="1" dirty="0"/>
              <a:t>Aktarım Protokolü (HTTP)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hypertext</a:t>
            </a:r>
            <a:r>
              <a:rPr lang="tr-TR" i="1" dirty="0" smtClean="0"/>
              <a:t> transfer </a:t>
            </a:r>
            <a:r>
              <a:rPr lang="tr-TR" i="1" dirty="0" err="1" smtClean="0"/>
              <a:t>protocol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/>
              <a:t>Web (</a:t>
            </a:r>
            <a:r>
              <a:rPr lang="tr-TR" i="1" dirty="0"/>
              <a:t>World </a:t>
            </a:r>
            <a:r>
              <a:rPr lang="tr-TR" i="1" dirty="0" err="1"/>
              <a:t>Wide</a:t>
            </a:r>
            <a:r>
              <a:rPr lang="tr-TR" i="1" dirty="0"/>
              <a:t> Web</a:t>
            </a:r>
            <a:r>
              <a:rPr lang="tr-TR" dirty="0"/>
              <a:t>) sayfalarının görüntülenmesini </a:t>
            </a:r>
            <a:r>
              <a:rPr lang="tr-TR" dirty="0" smtClean="0"/>
              <a:t>sağlar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b="1" dirty="0" smtClean="0"/>
              <a:t>Basit </a:t>
            </a:r>
            <a:r>
              <a:rPr lang="tr-TR" b="1" dirty="0"/>
              <a:t>Posta Aktarım Protokolü (SMTP)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simple</a:t>
            </a:r>
            <a:r>
              <a:rPr lang="tr-TR" i="1" dirty="0" smtClean="0"/>
              <a:t> mail transfer </a:t>
            </a:r>
            <a:r>
              <a:rPr lang="tr-TR" i="1" dirty="0" err="1" smtClean="0"/>
              <a:t>protocol</a:t>
            </a:r>
            <a:r>
              <a:rPr lang="tr-TR" dirty="0" smtClean="0"/>
              <a:t>)</a:t>
            </a:r>
            <a:endParaRPr lang="tr-TR" dirty="0" smtClean="0"/>
          </a:p>
          <a:p>
            <a:pPr lvl="1"/>
            <a:r>
              <a:rPr lang="tr-TR" dirty="0" smtClean="0"/>
              <a:t>E-posta </a:t>
            </a:r>
            <a:r>
              <a:rPr lang="tr-TR" dirty="0" smtClean="0"/>
              <a:t>mesajlarının aktarımı </a:t>
            </a:r>
            <a:r>
              <a:rPr lang="tr-TR" dirty="0"/>
              <a:t>için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8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İnternet </a:t>
            </a:r>
            <a:r>
              <a:rPr lang="tr-TR" dirty="0" smtClean="0"/>
              <a:t>Omurgası (</a:t>
            </a:r>
            <a:r>
              <a:rPr lang="tr-TR" dirty="0" err="1" smtClean="0"/>
              <a:t>Backbone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915" y="1948070"/>
            <a:ext cx="6834170" cy="42858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33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Güvenilir ve Olmayan </a:t>
            </a:r>
            <a:r>
              <a:rPr lang="tr-TR" dirty="0" smtClean="0"/>
              <a:t>Ağ Servisleri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Güvenilir </a:t>
            </a:r>
            <a:r>
              <a:rPr lang="tr-TR" dirty="0" smtClean="0"/>
              <a:t>(</a:t>
            </a:r>
            <a:r>
              <a:rPr lang="tr-TR" i="1" dirty="0" err="1" smtClean="0"/>
              <a:t>reliable</a:t>
            </a:r>
            <a:r>
              <a:rPr lang="tr-TR" dirty="0" smtClean="0"/>
              <a:t>):</a:t>
            </a:r>
            <a:endParaRPr lang="tr-TR" dirty="0" smtClean="0"/>
          </a:p>
          <a:p>
            <a:pPr lvl="1"/>
            <a:r>
              <a:rPr lang="tr-TR" dirty="0" smtClean="0"/>
              <a:t>Verilerin </a:t>
            </a:r>
            <a:r>
              <a:rPr lang="tr-TR" dirty="0"/>
              <a:t>teslimi garanti edilir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Göndericiye </a:t>
            </a:r>
            <a:r>
              <a:rPr lang="tr-TR" dirty="0"/>
              <a:t>Alındı </a:t>
            </a:r>
            <a:r>
              <a:rPr lang="tr-TR" dirty="0" smtClean="0"/>
              <a:t>(</a:t>
            </a:r>
            <a:r>
              <a:rPr lang="tr-TR" i="1" dirty="0" err="1" smtClean="0"/>
              <a:t>acknowledge</a:t>
            </a:r>
            <a:r>
              <a:rPr lang="tr-TR" dirty="0" smtClean="0"/>
              <a:t>) </a:t>
            </a:r>
            <a:r>
              <a:rPr lang="tr-TR" dirty="0"/>
              <a:t>onayı </a:t>
            </a:r>
            <a:r>
              <a:rPr lang="tr-TR" dirty="0" smtClean="0"/>
              <a:t>gönderilir</a:t>
            </a:r>
            <a:r>
              <a:rPr lang="tr-TR" dirty="0" smtClean="0"/>
              <a:t>.</a:t>
            </a:r>
          </a:p>
          <a:p>
            <a:pPr lvl="1"/>
            <a:r>
              <a:rPr lang="tr-TR" i="1" dirty="0" smtClean="0"/>
              <a:t>TCP</a:t>
            </a:r>
            <a:r>
              <a:rPr lang="tr-TR" dirty="0" smtClean="0"/>
              <a:t> </a:t>
            </a:r>
            <a:r>
              <a:rPr lang="tr-TR" dirty="0"/>
              <a:t>gibi güvenilir </a:t>
            </a:r>
            <a:r>
              <a:rPr lang="tr-TR" dirty="0" smtClean="0"/>
              <a:t>aktarım protokolleri kullanılır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Güvenilir </a:t>
            </a:r>
            <a:r>
              <a:rPr lang="tr-TR" dirty="0" smtClean="0"/>
              <a:t>Olmayan (</a:t>
            </a:r>
            <a:r>
              <a:rPr lang="tr-TR" i="1" dirty="0" err="1" smtClean="0"/>
              <a:t>unreliable</a:t>
            </a:r>
            <a:r>
              <a:rPr lang="tr-TR" dirty="0" smtClean="0"/>
              <a:t>):</a:t>
            </a:r>
            <a:endParaRPr lang="tr-TR" dirty="0" smtClean="0"/>
          </a:p>
          <a:p>
            <a:pPr lvl="1"/>
            <a:r>
              <a:rPr lang="tr-TR" dirty="0" smtClean="0"/>
              <a:t>Verilerin </a:t>
            </a:r>
            <a:r>
              <a:rPr lang="tr-TR" dirty="0"/>
              <a:t>teslimi </a:t>
            </a:r>
            <a:r>
              <a:rPr lang="tr-TR" dirty="0" smtClean="0"/>
              <a:t>garanti edilmez.</a:t>
            </a:r>
            <a:endParaRPr lang="tr-TR" dirty="0" smtClean="0"/>
          </a:p>
          <a:p>
            <a:pPr lvl="1"/>
            <a:r>
              <a:rPr lang="tr-TR" dirty="0" smtClean="0"/>
              <a:t>Alındı </a:t>
            </a:r>
            <a:r>
              <a:rPr lang="tr-TR" dirty="0" smtClean="0"/>
              <a:t>onayı gönderilmez</a:t>
            </a:r>
            <a:r>
              <a:rPr lang="tr-TR" dirty="0" smtClean="0"/>
              <a:t>.</a:t>
            </a:r>
          </a:p>
          <a:p>
            <a:pPr lvl="1"/>
            <a:r>
              <a:rPr lang="tr-TR" i="1" dirty="0" smtClean="0"/>
              <a:t>UDP</a:t>
            </a:r>
            <a:r>
              <a:rPr lang="tr-TR" dirty="0" smtClean="0"/>
              <a:t> </a:t>
            </a:r>
            <a:r>
              <a:rPr lang="tr-TR" dirty="0"/>
              <a:t>gibi </a:t>
            </a:r>
            <a:r>
              <a:rPr lang="tr-TR" dirty="0" smtClean="0"/>
              <a:t>güvenilir olmayan </a:t>
            </a:r>
            <a:r>
              <a:rPr lang="tr-TR" dirty="0"/>
              <a:t>aktarım protokolleri </a:t>
            </a:r>
            <a:r>
              <a:rPr lang="tr-TR" dirty="0" smtClean="0"/>
              <a:t>kullanılır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2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Bağlantı Odaklı ve Bağlantısız Servisler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Bağlantı Odaklı </a:t>
            </a:r>
            <a:r>
              <a:rPr lang="tr-TR" dirty="0" smtClean="0"/>
              <a:t>(</a:t>
            </a:r>
            <a:r>
              <a:rPr lang="tr-TR" i="1" dirty="0" err="1" smtClean="0"/>
              <a:t>connection</a:t>
            </a:r>
            <a:r>
              <a:rPr lang="tr-TR" i="1" dirty="0" smtClean="0"/>
              <a:t> </a:t>
            </a:r>
            <a:r>
              <a:rPr lang="tr-TR" i="1" dirty="0" err="1" smtClean="0"/>
              <a:t>oriented</a:t>
            </a:r>
            <a:r>
              <a:rPr lang="tr-TR" dirty="0" smtClean="0"/>
              <a:t>): </a:t>
            </a:r>
          </a:p>
          <a:p>
            <a:pPr lvl="1"/>
            <a:r>
              <a:rPr lang="tr-TR" dirty="0" smtClean="0"/>
              <a:t>İki </a:t>
            </a:r>
            <a:r>
              <a:rPr lang="tr-TR" dirty="0"/>
              <a:t>düğüm arasında güvenilir bir bağlantı </a:t>
            </a:r>
            <a:r>
              <a:rPr lang="tr-TR" dirty="0" smtClean="0"/>
              <a:t>kurulur.</a:t>
            </a:r>
            <a:endParaRPr lang="tr-TR" dirty="0" smtClean="0"/>
          </a:p>
          <a:p>
            <a:pPr lvl="1"/>
            <a:r>
              <a:rPr lang="tr-TR" dirty="0" smtClean="0"/>
              <a:t>Akış </a:t>
            </a:r>
            <a:r>
              <a:rPr lang="tr-TR" dirty="0"/>
              <a:t>kontrolü, hata düzeltme ve yeniden iletim mekanizmaları </a:t>
            </a:r>
            <a:r>
              <a:rPr lang="tr-TR" dirty="0" smtClean="0"/>
              <a:t>var.</a:t>
            </a:r>
            <a:endParaRPr lang="tr-TR" dirty="0" smtClean="0"/>
          </a:p>
          <a:p>
            <a:pPr lvl="1"/>
            <a:r>
              <a:rPr lang="tr-TR" dirty="0" smtClean="0"/>
              <a:t>Veri </a:t>
            </a:r>
            <a:r>
              <a:rPr lang="tr-TR" dirty="0" smtClean="0"/>
              <a:t>teslimatı, veri </a:t>
            </a:r>
            <a:r>
              <a:rPr lang="tr-TR" dirty="0" smtClean="0"/>
              <a:t>bütünlüğü garanti edilir.</a:t>
            </a:r>
            <a:endParaRPr lang="tr-TR" dirty="0" smtClean="0"/>
          </a:p>
          <a:p>
            <a:pPr lvl="1"/>
            <a:r>
              <a:rPr lang="tr-TR" dirty="0" smtClean="0"/>
              <a:t>Örnekler</a:t>
            </a:r>
            <a:r>
              <a:rPr lang="tr-TR" dirty="0"/>
              <a:t>: </a:t>
            </a:r>
            <a:r>
              <a:rPr lang="tr-TR" i="1" dirty="0"/>
              <a:t>TCP, </a:t>
            </a:r>
            <a:r>
              <a:rPr lang="tr-TR" i="1" dirty="0" smtClean="0"/>
              <a:t>SCTP</a:t>
            </a:r>
          </a:p>
          <a:p>
            <a:r>
              <a:rPr lang="tr-TR" dirty="0" smtClean="0"/>
              <a:t>Bağlantısız </a:t>
            </a:r>
            <a:r>
              <a:rPr lang="tr-TR" dirty="0" smtClean="0"/>
              <a:t>(</a:t>
            </a:r>
            <a:r>
              <a:rPr lang="tr-TR" i="1" dirty="0" err="1" smtClean="0"/>
              <a:t>connectionless</a:t>
            </a:r>
            <a:r>
              <a:rPr lang="tr-TR" dirty="0" smtClean="0"/>
              <a:t>): </a:t>
            </a:r>
          </a:p>
          <a:p>
            <a:pPr lvl="1"/>
            <a:r>
              <a:rPr lang="tr-TR" dirty="0" smtClean="0"/>
              <a:t>Kalıcı </a:t>
            </a:r>
            <a:r>
              <a:rPr lang="tr-TR" dirty="0"/>
              <a:t>bir bağlantı </a:t>
            </a:r>
            <a:r>
              <a:rPr lang="tr-TR" dirty="0" smtClean="0"/>
              <a:t>kurulmaz.</a:t>
            </a:r>
            <a:endParaRPr lang="tr-TR" dirty="0" smtClean="0"/>
          </a:p>
          <a:p>
            <a:pPr lvl="1"/>
            <a:r>
              <a:rPr lang="tr-TR" dirty="0" smtClean="0"/>
              <a:t>Veri teslimatı garanti edilmez.</a:t>
            </a:r>
            <a:endParaRPr lang="tr-TR" dirty="0" smtClean="0"/>
          </a:p>
          <a:p>
            <a:pPr lvl="1"/>
            <a:r>
              <a:rPr lang="tr-TR" dirty="0" smtClean="0"/>
              <a:t>Bağlantı kurma ve sonlandırma maliyeti </a:t>
            </a:r>
            <a:r>
              <a:rPr lang="tr-TR" dirty="0" smtClean="0"/>
              <a:t>yok.</a:t>
            </a:r>
            <a:endParaRPr lang="tr-TR" dirty="0" smtClean="0"/>
          </a:p>
          <a:p>
            <a:pPr lvl="1"/>
            <a:r>
              <a:rPr lang="tr-TR" dirty="0" smtClean="0"/>
              <a:t>Yüksek </a:t>
            </a:r>
            <a:r>
              <a:rPr lang="tr-TR" dirty="0" smtClean="0"/>
              <a:t>verim, düşük gecikme </a:t>
            </a:r>
            <a:r>
              <a:rPr lang="tr-TR" dirty="0" smtClean="0"/>
              <a:t>süresi sağlar.</a:t>
            </a:r>
            <a:endParaRPr lang="tr-TR" dirty="0" smtClean="0"/>
          </a:p>
          <a:p>
            <a:pPr lvl="1"/>
            <a:r>
              <a:rPr lang="tr-TR" dirty="0" smtClean="0"/>
              <a:t>Örnekler</a:t>
            </a:r>
            <a:r>
              <a:rPr lang="tr-TR" dirty="0"/>
              <a:t>: </a:t>
            </a:r>
            <a:r>
              <a:rPr lang="tr-TR" i="1" dirty="0"/>
              <a:t>UDP, </a:t>
            </a:r>
            <a:r>
              <a:rPr lang="tr-TR" i="1" dirty="0" smtClean="0"/>
              <a:t>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76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Protokolleri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Her bir katmanda pakete bir başlık eklenir.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2" y="2481313"/>
            <a:ext cx="8042275" cy="36591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78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Belge Tabanlı Ara Yazılım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Web, </a:t>
            </a:r>
            <a:r>
              <a:rPr lang="tr-TR" dirty="0" smtClean="0"/>
              <a:t>belgelerden oluşan </a:t>
            </a:r>
            <a:r>
              <a:rPr lang="tr-TR" dirty="0"/>
              <a:t>yönlendirilmiş büyük bir </a:t>
            </a:r>
            <a:r>
              <a:rPr lang="tr-TR" dirty="0" smtClean="0"/>
              <a:t>çizgedir</a:t>
            </a:r>
            <a:r>
              <a:rPr lang="tr-TR" dirty="0" smtClean="0"/>
              <a:t>.</a:t>
            </a:r>
          </a:p>
          <a:p>
            <a:r>
              <a:rPr lang="tr-TR" i="1" dirty="0" err="1" smtClean="0"/>
              <a:t>document</a:t>
            </a:r>
            <a:r>
              <a:rPr lang="tr-TR" i="1" dirty="0" smtClean="0"/>
              <a:t> </a:t>
            </a:r>
            <a:r>
              <a:rPr lang="tr-TR" i="1" dirty="0" err="1" smtClean="0"/>
              <a:t>based</a:t>
            </a:r>
            <a:r>
              <a:rPr lang="tr-TR" i="1" dirty="0" smtClean="0"/>
              <a:t> </a:t>
            </a:r>
            <a:r>
              <a:rPr lang="tr-TR" i="1" dirty="0" err="1" smtClean="0"/>
              <a:t>middleware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544" y="2744788"/>
            <a:ext cx="8570912" cy="36115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431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Tarayıcı </a:t>
            </a:r>
            <a:r>
              <a:rPr lang="tr-TR" dirty="0" smtClean="0"/>
              <a:t>Nasıl Çalışır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Tarayıcı </a:t>
            </a:r>
            <a:r>
              <a:rPr lang="tr-TR" i="1" dirty="0" smtClean="0"/>
              <a:t>DNS</a:t>
            </a:r>
            <a:r>
              <a:rPr lang="tr-TR" dirty="0"/>
              <a:t> </a:t>
            </a:r>
            <a:r>
              <a:rPr lang="tr-TR" dirty="0" smtClean="0"/>
              <a:t>sorgusu ile</a:t>
            </a:r>
            <a:r>
              <a:rPr lang="tr-TR" dirty="0" smtClean="0"/>
              <a:t> </a:t>
            </a:r>
            <a:r>
              <a:rPr lang="tr-TR" i="1" dirty="0" smtClean="0">
                <a:hlinkClick r:id="rId2"/>
              </a:rPr>
              <a:t>www.xxx.org</a:t>
            </a:r>
            <a:r>
              <a:rPr lang="tr-TR" dirty="0"/>
              <a:t> </a:t>
            </a:r>
            <a:r>
              <a:rPr lang="tr-TR" dirty="0" smtClean="0"/>
              <a:t>alan adının</a:t>
            </a:r>
            <a:r>
              <a:rPr lang="tr-TR" dirty="0" smtClean="0"/>
              <a:t> </a:t>
            </a:r>
            <a:r>
              <a:rPr lang="tr-TR" i="1" dirty="0"/>
              <a:t>IP</a:t>
            </a:r>
            <a:r>
              <a:rPr lang="tr-TR" dirty="0"/>
              <a:t> adresini ister</a:t>
            </a:r>
            <a:r>
              <a:rPr lang="tr-TR" dirty="0" smtClean="0"/>
              <a:t>.</a:t>
            </a:r>
          </a:p>
          <a:p>
            <a:r>
              <a:rPr lang="tr-TR" i="1" dirty="0" smtClean="0"/>
              <a:t>DNS</a:t>
            </a:r>
            <a:r>
              <a:rPr lang="tr-TR" dirty="0"/>
              <a:t>, </a:t>
            </a:r>
            <a:r>
              <a:rPr lang="tr-TR" i="1" dirty="0" smtClean="0"/>
              <a:t>XX.XXX.XX.XXX</a:t>
            </a:r>
            <a:r>
              <a:rPr lang="tr-TR" dirty="0" smtClean="0"/>
              <a:t> </a:t>
            </a:r>
            <a:r>
              <a:rPr lang="tr-TR" dirty="0"/>
              <a:t>ile yanıt verir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Tarayıcı</a:t>
            </a:r>
            <a:r>
              <a:rPr lang="tr-TR" dirty="0"/>
              <a:t>, </a:t>
            </a:r>
            <a:r>
              <a:rPr lang="tr-TR" i="1" dirty="0" smtClean="0"/>
              <a:t>XX.XXX.XX.XXX</a:t>
            </a:r>
            <a:r>
              <a:rPr lang="tr-TR" dirty="0"/>
              <a:t> </a:t>
            </a:r>
            <a:r>
              <a:rPr lang="tr-TR" dirty="0" smtClean="0"/>
              <a:t>adresi</a:t>
            </a:r>
            <a:r>
              <a:rPr lang="tr-TR" dirty="0" smtClean="0"/>
              <a:t> </a:t>
            </a:r>
            <a:r>
              <a:rPr lang="tr-TR" i="1" dirty="0"/>
              <a:t>80</a:t>
            </a:r>
            <a:r>
              <a:rPr lang="tr-TR" dirty="0"/>
              <a:t> </a:t>
            </a:r>
            <a:r>
              <a:rPr lang="tr-TR" dirty="0" smtClean="0"/>
              <a:t>portuna </a:t>
            </a:r>
            <a:r>
              <a:rPr lang="tr-TR" i="1" dirty="0" smtClean="0"/>
              <a:t>TCP </a:t>
            </a:r>
            <a:r>
              <a:rPr lang="tr-TR" dirty="0"/>
              <a:t>bağlantısı kurar</a:t>
            </a:r>
            <a:r>
              <a:rPr lang="tr-TR" dirty="0" smtClean="0"/>
              <a:t>.</a:t>
            </a:r>
          </a:p>
          <a:p>
            <a:r>
              <a:rPr lang="tr-TR" i="1" dirty="0" smtClean="0"/>
              <a:t>xxx.html</a:t>
            </a:r>
            <a:r>
              <a:rPr lang="tr-TR" dirty="0" smtClean="0"/>
              <a:t> </a:t>
            </a:r>
            <a:r>
              <a:rPr lang="tr-TR" dirty="0"/>
              <a:t>dosyasını isteyen bir istek gönderir</a:t>
            </a:r>
            <a:r>
              <a:rPr lang="tr-TR" dirty="0" smtClean="0"/>
              <a:t>.</a:t>
            </a:r>
          </a:p>
          <a:p>
            <a:r>
              <a:rPr lang="tr-TR" i="1" dirty="0" smtClean="0">
                <a:hlinkClick r:id="rId2"/>
              </a:rPr>
              <a:t>www.xxx.org</a:t>
            </a:r>
            <a:r>
              <a:rPr lang="tr-TR" i="1" dirty="0" smtClean="0"/>
              <a:t> </a:t>
            </a:r>
            <a:r>
              <a:rPr lang="tr-TR" dirty="0" smtClean="0"/>
              <a:t>sunucusu </a:t>
            </a:r>
            <a:r>
              <a:rPr lang="tr-TR" i="1" dirty="0" smtClean="0"/>
              <a:t>xxx.html</a:t>
            </a:r>
            <a:r>
              <a:rPr lang="tr-TR" dirty="0" smtClean="0"/>
              <a:t> </a:t>
            </a:r>
            <a:r>
              <a:rPr lang="tr-TR" dirty="0"/>
              <a:t>dosyasını gönderir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TCP </a:t>
            </a:r>
            <a:r>
              <a:rPr lang="tr-TR" dirty="0"/>
              <a:t>bağlantısı </a:t>
            </a:r>
            <a:r>
              <a:rPr lang="tr-TR" dirty="0" smtClean="0"/>
              <a:t>sonlandırılır.</a:t>
            </a:r>
            <a:endParaRPr lang="tr-TR" dirty="0" smtClean="0"/>
          </a:p>
          <a:p>
            <a:r>
              <a:rPr lang="tr-TR" dirty="0" smtClean="0"/>
              <a:t>Tarayıcı </a:t>
            </a:r>
            <a:r>
              <a:rPr lang="tr-TR" i="1" dirty="0" smtClean="0"/>
              <a:t>xxx.html</a:t>
            </a:r>
            <a:r>
              <a:rPr lang="tr-TR" dirty="0" smtClean="0"/>
              <a:t> </a:t>
            </a:r>
            <a:r>
              <a:rPr lang="tr-TR" dirty="0"/>
              <a:t>içindeki </a:t>
            </a:r>
            <a:r>
              <a:rPr lang="tr-TR" dirty="0" smtClean="0"/>
              <a:t>metni </a:t>
            </a:r>
            <a:r>
              <a:rPr lang="tr-TR" dirty="0"/>
              <a:t>görüntüler</a:t>
            </a:r>
            <a:r>
              <a:rPr lang="tr-TR" dirty="0" smtClean="0"/>
              <a:t>.</a:t>
            </a:r>
          </a:p>
          <a:p>
            <a:r>
              <a:rPr lang="tr-TR" dirty="0" smtClean="0"/>
              <a:t>Tarayıcı </a:t>
            </a:r>
            <a:r>
              <a:rPr lang="tr-TR" i="1" dirty="0" smtClean="0"/>
              <a:t>xxx.html</a:t>
            </a:r>
            <a:r>
              <a:rPr lang="tr-TR" dirty="0" smtClean="0"/>
              <a:t> </a:t>
            </a:r>
            <a:r>
              <a:rPr lang="tr-TR" dirty="0"/>
              <a:t>içindeki </a:t>
            </a:r>
            <a:r>
              <a:rPr lang="tr-TR" dirty="0" smtClean="0"/>
              <a:t>resimleri </a:t>
            </a:r>
            <a:r>
              <a:rPr lang="tr-TR" dirty="0"/>
              <a:t>alır ve görüntüler.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53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Sistemi Tabanlı Ara </a:t>
            </a:r>
            <a:r>
              <a:rPr lang="tr-TR" dirty="0" smtClean="0"/>
              <a:t>Yazılım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Yükleme/indirme </a:t>
            </a:r>
            <a:r>
              <a:rPr lang="tr-TR" dirty="0" smtClean="0"/>
              <a:t>(</a:t>
            </a:r>
            <a:r>
              <a:rPr lang="tr-TR" i="1" dirty="0" err="1" smtClean="0"/>
              <a:t>upload</a:t>
            </a:r>
            <a:r>
              <a:rPr lang="tr-TR" i="1" dirty="0" smtClean="0"/>
              <a:t>/</a:t>
            </a:r>
            <a:r>
              <a:rPr lang="tr-TR" i="1" dirty="0" err="1" smtClean="0"/>
              <a:t>download</a:t>
            </a:r>
            <a:r>
              <a:rPr lang="tr-TR" dirty="0" smtClean="0"/>
              <a:t>) </a:t>
            </a:r>
          </a:p>
          <a:p>
            <a:r>
              <a:rPr lang="tr-TR" dirty="0" smtClean="0"/>
              <a:t>(</a:t>
            </a:r>
            <a:r>
              <a:rPr lang="tr-TR" dirty="0"/>
              <a:t>b) Uzaktan erişim </a:t>
            </a:r>
            <a:r>
              <a:rPr lang="tr-TR" dirty="0" smtClean="0"/>
              <a:t>(</a:t>
            </a:r>
            <a:r>
              <a:rPr lang="tr-TR" i="1" dirty="0" err="1" smtClean="0"/>
              <a:t>remote</a:t>
            </a:r>
            <a:r>
              <a:rPr lang="tr-TR" i="1" dirty="0" smtClean="0"/>
              <a:t> </a:t>
            </a:r>
            <a:r>
              <a:rPr lang="tr-TR" i="1" dirty="0" err="1" smtClean="0"/>
              <a:t>access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7" y="2881362"/>
            <a:ext cx="8721725" cy="32591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605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 Hiyerarşisi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İki dosya sunucusu. </a:t>
            </a:r>
            <a:r>
              <a:rPr lang="tr-TR" dirty="0" smtClean="0"/>
              <a:t>Kare dizinleri </a:t>
            </a:r>
            <a:r>
              <a:rPr lang="tr-TR" dirty="0"/>
              <a:t>ve </a:t>
            </a:r>
            <a:r>
              <a:rPr lang="tr-TR" dirty="0" smtClean="0"/>
              <a:t>daire dosyaları temsil eder.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25" y="2791142"/>
            <a:ext cx="4329452" cy="27489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550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 Hiyerarşisi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(b) Tüm </a:t>
            </a:r>
            <a:r>
              <a:rPr lang="tr-TR" dirty="0" smtClean="0"/>
              <a:t>istemciler </a:t>
            </a:r>
            <a:r>
              <a:rPr lang="tr-TR" dirty="0"/>
              <a:t>aynı dosya sistemi görünümüne </a:t>
            </a:r>
            <a:r>
              <a:rPr lang="tr-TR" dirty="0" smtClean="0"/>
              <a:t>sahip.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7" y="2379687"/>
            <a:ext cx="5610225" cy="35718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193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Dizin Hiyerarşisi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(c) Farklı </a:t>
            </a:r>
            <a:r>
              <a:rPr lang="tr-TR" dirty="0" smtClean="0"/>
              <a:t>istemciler </a:t>
            </a:r>
            <a:r>
              <a:rPr lang="tr-TR" dirty="0"/>
              <a:t>farklı dosya sistemi görünümlerine </a:t>
            </a:r>
            <a:r>
              <a:rPr lang="tr-TR" dirty="0" smtClean="0"/>
              <a:t>sahip.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812" y="2281237"/>
            <a:ext cx="4524375" cy="4257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593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Adlandırma Şeffaflığı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Dağıtık sistemlerde </a:t>
            </a:r>
            <a:r>
              <a:rPr lang="tr-TR" dirty="0" smtClean="0"/>
              <a:t>dosya/dizin </a:t>
            </a:r>
            <a:r>
              <a:rPr lang="tr-TR" dirty="0" smtClean="0"/>
              <a:t>adlandırma:</a:t>
            </a:r>
            <a:endParaRPr lang="tr-TR" dirty="0" smtClean="0"/>
          </a:p>
          <a:p>
            <a:pPr lvl="1"/>
            <a:r>
              <a:rPr lang="tr-TR" dirty="0" smtClean="0"/>
              <a:t>Makine </a:t>
            </a:r>
            <a:r>
              <a:rPr lang="tr-TR" dirty="0"/>
              <a:t>+ </a:t>
            </a:r>
            <a:r>
              <a:rPr lang="tr-TR" dirty="0" smtClean="0"/>
              <a:t>yol, </a:t>
            </a:r>
          </a:p>
          <a:p>
            <a:pPr lvl="2"/>
            <a:r>
              <a:rPr lang="tr-TR" dirty="0" smtClean="0"/>
              <a:t>/</a:t>
            </a:r>
            <a:r>
              <a:rPr lang="tr-TR" dirty="0"/>
              <a:t>makine/yol veya </a:t>
            </a:r>
            <a:r>
              <a:rPr lang="tr-TR" dirty="0" err="1"/>
              <a:t>makine:yol</a:t>
            </a:r>
            <a:r>
              <a:rPr lang="tr-TR" dirty="0"/>
              <a:t> </a:t>
            </a:r>
            <a:r>
              <a:rPr lang="tr-TR" dirty="0" smtClean="0"/>
              <a:t>gibi.</a:t>
            </a:r>
            <a:endParaRPr lang="tr-TR" dirty="0" smtClean="0"/>
          </a:p>
          <a:p>
            <a:pPr lvl="1"/>
            <a:r>
              <a:rPr lang="tr-TR" dirty="0" smtClean="0"/>
              <a:t>Uzak </a:t>
            </a:r>
            <a:r>
              <a:rPr lang="tr-TR" dirty="0"/>
              <a:t>dosya </a:t>
            </a:r>
            <a:r>
              <a:rPr lang="tr-TR" dirty="0" smtClean="0"/>
              <a:t>sistemini, </a:t>
            </a:r>
            <a:r>
              <a:rPr lang="tr-TR" dirty="0"/>
              <a:t>yerel dosya hiyerarşisine </a:t>
            </a:r>
            <a:r>
              <a:rPr lang="tr-TR" dirty="0" smtClean="0"/>
              <a:t>bağlama (</a:t>
            </a:r>
            <a:r>
              <a:rPr lang="tr-TR" i="1" dirty="0" err="1" smtClean="0"/>
              <a:t>mount</a:t>
            </a:r>
            <a:r>
              <a:rPr lang="tr-TR" dirty="0" smtClean="0"/>
              <a:t>).</a:t>
            </a:r>
            <a:endParaRPr lang="tr-TR" dirty="0" smtClean="0"/>
          </a:p>
          <a:p>
            <a:pPr lvl="1"/>
            <a:r>
              <a:rPr lang="tr-TR" dirty="0" smtClean="0"/>
              <a:t>Tüm </a:t>
            </a:r>
            <a:r>
              <a:rPr lang="tr-TR" dirty="0"/>
              <a:t>makinelerde aynı görünen tek bir ad </a:t>
            </a:r>
            <a:r>
              <a:rPr lang="tr-TR" dirty="0" smtClean="0"/>
              <a:t>alanı </a:t>
            </a:r>
            <a:r>
              <a:rPr lang="tr-TR" dirty="0" smtClean="0"/>
              <a:t>(</a:t>
            </a:r>
            <a:r>
              <a:rPr lang="tr-TR" i="1" dirty="0" err="1" smtClean="0"/>
              <a:t>namespace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5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Paylaşımının Semantiği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İşlemlerin sıralı olması </a:t>
            </a:r>
          </a:p>
          <a:p>
            <a:pPr marL="0" indent="0">
              <a:buNone/>
            </a:pPr>
            <a:r>
              <a:rPr lang="tr-TR" dirty="0" smtClean="0"/>
              <a:t>tutarlılığı sağlar.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11413"/>
            <a:ext cx="3627437" cy="4129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29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Paylaşımının Semantiği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(b) Önbelleğe alma </a:t>
            </a:r>
            <a:r>
              <a:rPr lang="tr-TR" dirty="0" smtClean="0"/>
              <a:t>tutarsızlığa</a:t>
            </a:r>
          </a:p>
          <a:p>
            <a:pPr marL="0" indent="0">
              <a:buNone/>
            </a:pPr>
            <a:r>
              <a:rPr lang="tr-TR" dirty="0" smtClean="0"/>
              <a:t>neden olur.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287" y="1012874"/>
            <a:ext cx="4188457" cy="53434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67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CORBA </a:t>
            </a:r>
            <a:r>
              <a:rPr lang="en-US" sz="2800" dirty="0"/>
              <a:t>(Common Object Request Broker Architecture)</a:t>
            </a:r>
            <a:endParaRPr lang="tr-T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Dağıtık </a:t>
            </a:r>
            <a:r>
              <a:rPr lang="tr-TR" dirty="0" smtClean="0"/>
              <a:t>yazılım </a:t>
            </a:r>
            <a:r>
              <a:rPr lang="tr-TR" dirty="0" smtClean="0"/>
              <a:t>bileşenleri arasında, </a:t>
            </a:r>
          </a:p>
          <a:p>
            <a:pPr lvl="1"/>
            <a:r>
              <a:rPr lang="tr-TR" dirty="0" smtClean="0"/>
              <a:t>birlikte çalışabilirlik</a:t>
            </a:r>
            <a:r>
              <a:rPr lang="tr-TR" dirty="0"/>
              <a:t>, ölçeklenebilirlik ve yeniden kullanılabilirlik </a:t>
            </a:r>
            <a:r>
              <a:rPr lang="tr-TR" dirty="0" smtClean="0"/>
              <a:t>sağlayan </a:t>
            </a:r>
            <a:r>
              <a:rPr lang="tr-TR" i="1" dirty="0" smtClean="0"/>
              <a:t>ara katman </a:t>
            </a:r>
            <a:r>
              <a:rPr lang="tr-TR" dirty="0" smtClean="0"/>
              <a:t>teknolojisi.</a:t>
            </a:r>
          </a:p>
          <a:p>
            <a:r>
              <a:rPr lang="tr-TR" b="1" dirty="0" smtClean="0"/>
              <a:t>Nesne yönelimli</a:t>
            </a:r>
            <a:r>
              <a:rPr lang="tr-TR" dirty="0" smtClean="0"/>
              <a:t>: (</a:t>
            </a:r>
            <a:r>
              <a:rPr lang="tr-TR" i="1" dirty="0" err="1" smtClean="0"/>
              <a:t>object</a:t>
            </a:r>
            <a:r>
              <a:rPr lang="tr-TR" i="1" dirty="0" smtClean="0"/>
              <a:t> </a:t>
            </a:r>
            <a:r>
              <a:rPr lang="tr-TR" i="1" dirty="0" err="1" smtClean="0"/>
              <a:t>oriented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Nesne, sınıf, arayüz </a:t>
            </a:r>
            <a:r>
              <a:rPr lang="tr-TR" dirty="0"/>
              <a:t>gibi </a:t>
            </a:r>
            <a:r>
              <a:rPr lang="tr-TR" dirty="0" smtClean="0"/>
              <a:t>kavramlara dayalı.</a:t>
            </a:r>
            <a:endParaRPr lang="tr-TR" dirty="0" smtClean="0"/>
          </a:p>
          <a:p>
            <a:r>
              <a:rPr lang="tr-TR" b="1" dirty="0" smtClean="0"/>
              <a:t>Platformdan </a:t>
            </a:r>
            <a:r>
              <a:rPr lang="tr-TR" b="1" dirty="0"/>
              <a:t>bağımsız</a:t>
            </a:r>
            <a:r>
              <a:rPr lang="tr-TR" dirty="0" smtClean="0"/>
              <a:t>: </a:t>
            </a:r>
            <a:r>
              <a:rPr lang="tr-TR" dirty="0" smtClean="0"/>
              <a:t>(</a:t>
            </a:r>
            <a:r>
              <a:rPr lang="tr-TR" i="1" dirty="0" smtClean="0"/>
              <a:t>platform </a:t>
            </a:r>
            <a:r>
              <a:rPr lang="tr-TR" i="1" dirty="0" err="1" smtClean="0"/>
              <a:t>independent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Nesne </a:t>
            </a:r>
            <a:r>
              <a:rPr lang="tr-TR" dirty="0"/>
              <a:t>ve </a:t>
            </a:r>
            <a:r>
              <a:rPr lang="tr-TR" dirty="0" smtClean="0"/>
              <a:t>arayüzleri tanımlamak için, </a:t>
            </a:r>
            <a:r>
              <a:rPr lang="tr-TR" dirty="0" smtClean="0"/>
              <a:t>farklı </a:t>
            </a:r>
            <a:r>
              <a:rPr lang="tr-TR" dirty="0" smtClean="0"/>
              <a:t>platform ve </a:t>
            </a:r>
            <a:r>
              <a:rPr lang="tr-TR" dirty="0"/>
              <a:t>işletim </a:t>
            </a:r>
            <a:r>
              <a:rPr lang="tr-TR" dirty="0" smtClean="0"/>
              <a:t>sistemlerini destekleyen standart </a:t>
            </a:r>
            <a:r>
              <a:rPr lang="tr-TR" dirty="0"/>
              <a:t>bir </a:t>
            </a:r>
            <a:r>
              <a:rPr lang="tr-TR" dirty="0" smtClean="0"/>
              <a:t>dil </a:t>
            </a:r>
            <a:r>
              <a:rPr lang="tr-TR" dirty="0"/>
              <a:t>(</a:t>
            </a:r>
            <a:r>
              <a:rPr lang="tr-TR" i="1" dirty="0"/>
              <a:t>IDL</a:t>
            </a:r>
            <a:r>
              <a:rPr lang="tr-TR" dirty="0"/>
              <a:t>) kullanır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Ağ </a:t>
            </a:r>
            <a:r>
              <a:rPr lang="tr-TR" b="1" dirty="0" smtClean="0"/>
              <a:t>şeffaflığı</a:t>
            </a:r>
            <a:r>
              <a:rPr lang="tr-TR" dirty="0" smtClean="0"/>
              <a:t>: (</a:t>
            </a:r>
            <a:r>
              <a:rPr lang="tr-TR" i="1" dirty="0" smtClean="0"/>
              <a:t>network </a:t>
            </a:r>
            <a:r>
              <a:rPr lang="tr-TR" i="1" dirty="0" err="1" smtClean="0"/>
              <a:t>transparency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Bir soyutlama düzeyi sağlayarak, nesnelerin ağdaki konumlarından </a:t>
            </a:r>
            <a:r>
              <a:rPr lang="tr-TR" dirty="0"/>
              <a:t>bağımsız </a:t>
            </a:r>
            <a:r>
              <a:rPr lang="tr-TR" dirty="0" smtClean="0"/>
              <a:t>birbirleriyle </a:t>
            </a:r>
            <a:r>
              <a:rPr lang="tr-TR" dirty="0"/>
              <a:t>iletişim kurmasına izin </a:t>
            </a:r>
            <a:r>
              <a:rPr lang="tr-TR" dirty="0" smtClean="0"/>
              <a:t>verir.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01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CORBA</a:t>
            </a:r>
            <a:r>
              <a:rPr lang="en-US" sz="2800" dirty="0" smtClean="0"/>
              <a:t> (Common Object Request Broker Architecture)</a:t>
            </a:r>
            <a:endParaRPr lang="tr-T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Nesne İstek Aracısı (ORB)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object</a:t>
            </a:r>
            <a:r>
              <a:rPr lang="tr-TR" i="1" dirty="0" smtClean="0"/>
              <a:t> </a:t>
            </a:r>
            <a:r>
              <a:rPr lang="tr-TR" i="1" dirty="0" err="1" smtClean="0"/>
              <a:t>request</a:t>
            </a:r>
            <a:r>
              <a:rPr lang="tr-TR" i="1" dirty="0" smtClean="0"/>
              <a:t> broker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İstemci </a:t>
            </a:r>
            <a:r>
              <a:rPr lang="tr-TR" dirty="0"/>
              <a:t>ve sunucu </a:t>
            </a:r>
            <a:r>
              <a:rPr lang="tr-TR" dirty="0" smtClean="0"/>
              <a:t>arasında </a:t>
            </a:r>
            <a:r>
              <a:rPr lang="tr-TR" dirty="0"/>
              <a:t>aracı görevi </a:t>
            </a:r>
            <a:r>
              <a:rPr lang="tr-TR" dirty="0" smtClean="0"/>
              <a:t>görür, iletişimi </a:t>
            </a:r>
            <a:r>
              <a:rPr lang="tr-TR" dirty="0"/>
              <a:t>yönetir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Arayüz </a:t>
            </a:r>
            <a:r>
              <a:rPr lang="tr-TR" b="1" dirty="0"/>
              <a:t>Tanımlama Dili (IDL</a:t>
            </a:r>
            <a:r>
              <a:rPr lang="tr-TR" b="1" dirty="0" smtClean="0"/>
              <a:t>)</a:t>
            </a:r>
            <a:r>
              <a:rPr lang="tr-TR" dirty="0" smtClean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interface</a:t>
            </a:r>
            <a:r>
              <a:rPr lang="tr-TR" i="1" dirty="0" smtClean="0"/>
              <a:t> </a:t>
            </a:r>
            <a:r>
              <a:rPr lang="tr-TR" i="1" dirty="0" err="1" smtClean="0"/>
              <a:t>description</a:t>
            </a:r>
            <a:r>
              <a:rPr lang="tr-TR" i="1" dirty="0" smtClean="0"/>
              <a:t> </a:t>
            </a:r>
            <a:r>
              <a:rPr lang="tr-TR" i="1" dirty="0" err="1" smtClean="0"/>
              <a:t>language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Nesne, arayüz </a:t>
            </a:r>
            <a:r>
              <a:rPr lang="tr-TR" dirty="0"/>
              <a:t>ve </a:t>
            </a:r>
            <a:r>
              <a:rPr lang="tr-TR" dirty="0" smtClean="0"/>
              <a:t>metotları tanımlamak </a:t>
            </a:r>
            <a:r>
              <a:rPr lang="tr-TR" dirty="0"/>
              <a:t>için </a:t>
            </a:r>
            <a:r>
              <a:rPr lang="tr-TR" dirty="0" smtClean="0"/>
              <a:t>kullanılır.</a:t>
            </a:r>
            <a:endParaRPr lang="tr-TR" dirty="0" smtClean="0"/>
          </a:p>
          <a:p>
            <a:r>
              <a:rPr lang="tr-TR" b="1" dirty="0" smtClean="0"/>
              <a:t>Dinamik </a:t>
            </a:r>
            <a:r>
              <a:rPr lang="tr-TR" b="1" dirty="0"/>
              <a:t>Çağırma </a:t>
            </a:r>
            <a:r>
              <a:rPr lang="tr-TR" b="1" dirty="0" err="1"/>
              <a:t>Arayüzü</a:t>
            </a:r>
            <a:r>
              <a:rPr lang="tr-TR" b="1" dirty="0"/>
              <a:t> (DII</a:t>
            </a:r>
            <a:r>
              <a:rPr lang="tr-TR" b="1" dirty="0" smtClean="0"/>
              <a:t>)</a:t>
            </a:r>
            <a:r>
              <a:rPr lang="tr-TR" dirty="0" smtClean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dynamic</a:t>
            </a:r>
            <a:r>
              <a:rPr lang="tr-TR" i="1" dirty="0" smtClean="0"/>
              <a:t> </a:t>
            </a:r>
            <a:r>
              <a:rPr lang="tr-TR" i="1" dirty="0" err="1" smtClean="0"/>
              <a:t>invocation</a:t>
            </a:r>
            <a:r>
              <a:rPr lang="tr-TR" i="1" dirty="0" smtClean="0"/>
              <a:t> </a:t>
            </a:r>
            <a:r>
              <a:rPr lang="tr-TR" i="1" dirty="0" err="1" smtClean="0"/>
              <a:t>interface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Nesne metotlarının keşfedilmesi ve çağrılmasına olanak </a:t>
            </a:r>
            <a:r>
              <a:rPr lang="tr-TR" dirty="0"/>
              <a:t>tanır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Statik </a:t>
            </a:r>
            <a:r>
              <a:rPr lang="tr-TR" b="1" dirty="0"/>
              <a:t>Çağırma Arabirimi (SII</a:t>
            </a:r>
            <a:r>
              <a:rPr lang="tr-TR" b="1" dirty="0" smtClean="0"/>
              <a:t>)</a:t>
            </a:r>
            <a:r>
              <a:rPr lang="tr-TR" dirty="0" smtClean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static</a:t>
            </a:r>
            <a:r>
              <a:rPr lang="tr-TR" i="1" dirty="0" smtClean="0"/>
              <a:t> </a:t>
            </a:r>
            <a:r>
              <a:rPr lang="tr-TR" i="1" dirty="0" err="1" smtClean="0"/>
              <a:t>invocation</a:t>
            </a:r>
            <a:r>
              <a:rPr lang="tr-TR" i="1" dirty="0" smtClean="0"/>
              <a:t> </a:t>
            </a:r>
            <a:r>
              <a:rPr lang="tr-TR" i="1" dirty="0" err="1" smtClean="0"/>
              <a:t>interface</a:t>
            </a:r>
            <a:r>
              <a:rPr lang="tr-TR" dirty="0" smtClean="0"/>
              <a:t>)</a:t>
            </a:r>
          </a:p>
          <a:p>
            <a:pPr lvl="1"/>
            <a:r>
              <a:rPr lang="tr-TR" dirty="0" err="1" smtClean="0"/>
              <a:t>DII'nin</a:t>
            </a:r>
            <a:r>
              <a:rPr lang="tr-TR" dirty="0" smtClean="0"/>
              <a:t> </a:t>
            </a:r>
            <a:r>
              <a:rPr lang="tr-TR" dirty="0"/>
              <a:t>önceden derlenmiş </a:t>
            </a:r>
            <a:r>
              <a:rPr lang="tr-TR" dirty="0" smtClean="0"/>
              <a:t>sürümü, performansı arttırır.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53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CORBA </a:t>
            </a:r>
            <a:r>
              <a:rPr lang="en-US" sz="2800" dirty="0"/>
              <a:t>(Common Object Request Broker Architecture)</a:t>
            </a:r>
            <a:endParaRPr lang="tr-TR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CORBA temel </a:t>
            </a:r>
            <a:r>
              <a:rPr lang="tr-TR" dirty="0"/>
              <a:t>unsurları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7" y="2635250"/>
            <a:ext cx="8747125" cy="3586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10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Linda</a:t>
            </a:r>
            <a:r>
              <a:rPr lang="tr-TR" dirty="0" smtClean="0"/>
              <a:t>: Koordinasyon Tabanlı Ara Yazılım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Coordination-Based</a:t>
            </a:r>
            <a:r>
              <a:rPr lang="tr-TR" i="1" dirty="0"/>
              <a:t> </a:t>
            </a:r>
            <a:r>
              <a:rPr lang="tr-TR" i="1" dirty="0" err="1" smtClean="0"/>
              <a:t>Middleware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dirty="0" smtClean="0"/>
              <a:t>Dağıtık </a:t>
            </a:r>
            <a:r>
              <a:rPr lang="tr-TR" dirty="0" smtClean="0"/>
              <a:t>bilgi </a:t>
            </a:r>
            <a:r>
              <a:rPr lang="tr-TR" dirty="0" smtClean="0"/>
              <a:t>işleme </a:t>
            </a:r>
            <a:r>
              <a:rPr lang="tr-TR" dirty="0"/>
              <a:t>için </a:t>
            </a:r>
            <a:r>
              <a:rPr lang="tr-TR" dirty="0" smtClean="0"/>
              <a:t>kullanılır.</a:t>
            </a:r>
            <a:endParaRPr lang="tr-TR" dirty="0" smtClean="0"/>
          </a:p>
          <a:p>
            <a:r>
              <a:rPr lang="tr-TR" dirty="0" smtClean="0"/>
              <a:t>Verilerin </a:t>
            </a:r>
            <a:r>
              <a:rPr lang="tr-TR" dirty="0"/>
              <a:t>içeriğine göre </a:t>
            </a:r>
            <a:r>
              <a:rPr lang="tr-TR" dirty="0" smtClean="0"/>
              <a:t>saklanabileceği </a:t>
            </a:r>
            <a:r>
              <a:rPr lang="tr-TR" i="1" dirty="0" smtClean="0"/>
              <a:t>demet (</a:t>
            </a:r>
            <a:r>
              <a:rPr lang="tr-TR" i="1" dirty="0" err="1" smtClean="0"/>
              <a:t>tuple</a:t>
            </a:r>
            <a:r>
              <a:rPr lang="tr-TR" i="1" dirty="0" smtClean="0"/>
              <a:t>)</a:t>
            </a:r>
            <a:r>
              <a:rPr lang="tr-TR" dirty="0" smtClean="0"/>
              <a:t> </a:t>
            </a:r>
            <a:r>
              <a:rPr lang="tr-TR" dirty="0"/>
              <a:t>kavramını kullanır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Demetler</a:t>
            </a:r>
            <a:r>
              <a:rPr lang="tr-TR" dirty="0"/>
              <a:t>, </a:t>
            </a:r>
            <a:r>
              <a:rPr lang="tr-TR" dirty="0" smtClean="0"/>
              <a:t>dağıtık </a:t>
            </a:r>
            <a:r>
              <a:rPr lang="tr-TR" dirty="0"/>
              <a:t>bir veritabanı gibi </a:t>
            </a:r>
            <a:r>
              <a:rPr lang="tr-TR" dirty="0" smtClean="0"/>
              <a:t>davranır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Demetler ile </a:t>
            </a:r>
            <a:r>
              <a:rPr lang="tr-TR" dirty="0"/>
              <a:t>süreçler arasında </a:t>
            </a:r>
            <a:r>
              <a:rPr lang="tr-TR" i="1" dirty="0"/>
              <a:t>senkronizasyon ve iletişim </a:t>
            </a:r>
            <a:r>
              <a:rPr lang="tr-TR" dirty="0" smtClean="0"/>
              <a:t>sağlanır</a:t>
            </a:r>
            <a:r>
              <a:rPr lang="tr-TR" dirty="0" smtClean="0"/>
              <a:t>.</a:t>
            </a:r>
          </a:p>
          <a:p>
            <a:r>
              <a:rPr lang="tr-TR" dirty="0" err="1" smtClean="0"/>
              <a:t>Linda</a:t>
            </a:r>
            <a:r>
              <a:rPr lang="tr-TR" dirty="0"/>
              <a:t>, paralel işleme, </a:t>
            </a:r>
            <a:r>
              <a:rPr lang="tr-TR" dirty="0" smtClean="0"/>
              <a:t>işbirliğine </a:t>
            </a:r>
            <a:r>
              <a:rPr lang="tr-TR" dirty="0"/>
              <a:t>dayalı çalışma ortamları gibi süreçlerin koordinasyon ve iletişim gerektirdiği </a:t>
            </a:r>
            <a:r>
              <a:rPr lang="tr-TR" dirty="0" smtClean="0"/>
              <a:t>uygulamalarda kullanılır.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9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Linda</a:t>
            </a:r>
            <a:r>
              <a:rPr lang="tr-TR" dirty="0"/>
              <a:t>: Koordinasyon Tabanlı Ara Yazılım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Bağımsız </a:t>
            </a:r>
            <a:r>
              <a:rPr lang="tr-TR" dirty="0"/>
              <a:t>süreçler, soyut bir </a:t>
            </a:r>
            <a:r>
              <a:rPr lang="tr-TR" i="1" dirty="0"/>
              <a:t>demet</a:t>
            </a:r>
            <a:r>
              <a:rPr lang="tr-TR" dirty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tuple</a:t>
            </a:r>
            <a:r>
              <a:rPr lang="tr-TR" dirty="0" smtClean="0"/>
              <a:t>) </a:t>
            </a:r>
            <a:r>
              <a:rPr lang="tr-TR" dirty="0"/>
              <a:t>aracılığıyla iletişim </a:t>
            </a:r>
            <a:r>
              <a:rPr lang="tr-TR" dirty="0" smtClean="0"/>
              <a:t>kurar.</a:t>
            </a:r>
            <a:endParaRPr lang="tr-TR" dirty="0" smtClean="0"/>
          </a:p>
          <a:p>
            <a:r>
              <a:rPr lang="tr-TR" i="1" dirty="0" err="1" smtClean="0"/>
              <a:t>Tuple</a:t>
            </a:r>
            <a:r>
              <a:rPr lang="tr-TR" i="1" dirty="0" smtClean="0"/>
              <a:t> </a:t>
            </a:r>
            <a:r>
              <a:rPr lang="tr-TR" dirty="0" smtClean="0"/>
              <a:t>veri yapısı, </a:t>
            </a:r>
          </a:p>
          <a:p>
            <a:pPr lvl="1"/>
            <a:r>
              <a:rPr lang="tr-TR" dirty="0" smtClean="0"/>
              <a:t>her </a:t>
            </a:r>
            <a:r>
              <a:rPr lang="tr-TR" dirty="0"/>
              <a:t>biri </a:t>
            </a:r>
            <a:r>
              <a:rPr lang="tr-TR" dirty="0" smtClean="0"/>
              <a:t>bir tür değer olan,</a:t>
            </a:r>
          </a:p>
          <a:p>
            <a:pPr lvl="1"/>
            <a:r>
              <a:rPr lang="tr-TR" dirty="0" smtClean="0"/>
              <a:t>bir </a:t>
            </a:r>
            <a:r>
              <a:rPr lang="tr-TR" dirty="0"/>
              <a:t>veya daha fazla alandan </a:t>
            </a:r>
            <a:r>
              <a:rPr lang="tr-TR" dirty="0" smtClean="0"/>
              <a:t>oluşur.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031" y="4029009"/>
            <a:ext cx="5595937" cy="1339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49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Eşleşen </a:t>
            </a:r>
            <a:r>
              <a:rPr lang="tr-TR" dirty="0" smtClean="0"/>
              <a:t>Demetler </a:t>
            </a:r>
            <a:r>
              <a:rPr lang="tr-TR" dirty="0" smtClean="0"/>
              <a:t>(</a:t>
            </a:r>
            <a:r>
              <a:rPr lang="tr-TR" dirty="0" err="1" smtClean="0"/>
              <a:t>Tuples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Üç </a:t>
            </a:r>
            <a:r>
              <a:rPr lang="tr-TR" dirty="0"/>
              <a:t>koşul </a:t>
            </a:r>
            <a:r>
              <a:rPr lang="tr-TR" dirty="0" smtClean="0"/>
              <a:t>karşılanırsa </a:t>
            </a:r>
            <a:r>
              <a:rPr lang="tr-TR" dirty="0" smtClean="0"/>
              <a:t>demetler eşleşir.</a:t>
            </a:r>
            <a:endParaRPr lang="tr-TR" dirty="0" smtClean="0"/>
          </a:p>
          <a:p>
            <a:pPr lvl="1"/>
            <a:r>
              <a:rPr lang="tr-TR" dirty="0" smtClean="0"/>
              <a:t>Şablon (</a:t>
            </a:r>
            <a:r>
              <a:rPr lang="tr-TR" i="1" dirty="0" err="1" smtClean="0"/>
              <a:t>template</a:t>
            </a:r>
            <a:r>
              <a:rPr lang="tr-TR" dirty="0" smtClean="0"/>
              <a:t>) </a:t>
            </a:r>
            <a:r>
              <a:rPr lang="tr-TR" dirty="0"/>
              <a:t>ve </a:t>
            </a:r>
            <a:r>
              <a:rPr lang="tr-TR" dirty="0" smtClean="0"/>
              <a:t>demet aynı </a:t>
            </a:r>
            <a:r>
              <a:rPr lang="tr-TR" dirty="0"/>
              <a:t>sayıda alana sahiptir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Karşılıklı gelen alanlar aynı türdedir.</a:t>
            </a:r>
            <a:endParaRPr lang="tr-TR" dirty="0" smtClean="0"/>
          </a:p>
          <a:p>
            <a:pPr lvl="1"/>
            <a:r>
              <a:rPr lang="tr-TR" dirty="0" smtClean="0"/>
              <a:t>Şablondaki </a:t>
            </a:r>
            <a:r>
              <a:rPr lang="tr-TR" dirty="0"/>
              <a:t>her </a:t>
            </a:r>
            <a:r>
              <a:rPr lang="tr-TR" dirty="0" smtClean="0"/>
              <a:t>sabit veya değişken değer, </a:t>
            </a:r>
            <a:r>
              <a:rPr lang="tr-TR" dirty="0" smtClean="0"/>
              <a:t>demet </a:t>
            </a:r>
            <a:r>
              <a:rPr lang="tr-TR" dirty="0" smtClean="0"/>
              <a:t>alanı ile aynıdır.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1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Yayınla Abone Ol </a:t>
            </a:r>
            <a:r>
              <a:rPr lang="tr-TR" dirty="0" smtClean="0"/>
              <a:t>Dağıtık Sistemler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 smtClean="0"/>
              <a:t>Publish</a:t>
            </a:r>
            <a:r>
              <a:rPr lang="tr-TR" i="1" dirty="0" smtClean="0"/>
              <a:t> </a:t>
            </a:r>
            <a:r>
              <a:rPr lang="tr-TR" i="1" dirty="0" err="1" smtClean="0"/>
              <a:t>Subscribe</a:t>
            </a:r>
            <a:r>
              <a:rPr lang="tr-TR" i="1" dirty="0" smtClean="0"/>
              <a:t> </a:t>
            </a:r>
            <a:r>
              <a:rPr lang="tr-TR" i="1" dirty="0" err="1" smtClean="0"/>
              <a:t>Mechanism</a:t>
            </a:r>
            <a:r>
              <a:rPr lang="tr-TR" i="1" dirty="0" smtClean="0"/>
              <a:t>.</a:t>
            </a:r>
          </a:p>
          <a:p>
            <a:pPr lvl="1"/>
            <a:r>
              <a:rPr lang="tr-TR" dirty="0" smtClean="0"/>
              <a:t>Üretici </a:t>
            </a:r>
            <a:r>
              <a:rPr lang="tr-TR" dirty="0"/>
              <a:t>bir </a:t>
            </a:r>
            <a:r>
              <a:rPr lang="tr-TR" dirty="0" smtClean="0"/>
              <a:t>konuda </a:t>
            </a:r>
            <a:r>
              <a:rPr lang="tr-TR" dirty="0"/>
              <a:t>mesaj </a:t>
            </a:r>
            <a:r>
              <a:rPr lang="tr-TR" dirty="0" smtClean="0"/>
              <a:t>yayınlar, </a:t>
            </a:r>
          </a:p>
          <a:p>
            <a:pPr lvl="1"/>
            <a:r>
              <a:rPr lang="tr-TR" dirty="0" smtClean="0"/>
              <a:t>Tüketici ilgilendiği </a:t>
            </a:r>
            <a:r>
              <a:rPr lang="tr-TR" dirty="0"/>
              <a:t>konulara abone </a:t>
            </a:r>
            <a:r>
              <a:rPr lang="tr-TR" dirty="0" smtClean="0"/>
              <a:t>olur.</a:t>
            </a:r>
            <a:endParaRPr lang="tr-TR" dirty="0" smtClean="0"/>
          </a:p>
          <a:p>
            <a:r>
              <a:rPr lang="tr-TR" dirty="0" smtClean="0"/>
              <a:t>Süreçlerin </a:t>
            </a:r>
            <a:r>
              <a:rPr lang="tr-TR" dirty="0" smtClean="0"/>
              <a:t>kimlik ve </a:t>
            </a:r>
            <a:r>
              <a:rPr lang="tr-TR" dirty="0"/>
              <a:t>iletişim </a:t>
            </a:r>
            <a:r>
              <a:rPr lang="tr-TR" dirty="0" smtClean="0"/>
              <a:t>protokollerini bilmeye gerek yoktur.</a:t>
            </a:r>
            <a:endParaRPr lang="tr-TR" dirty="0" smtClean="0"/>
          </a:p>
          <a:p>
            <a:r>
              <a:rPr lang="tr-TR" dirty="0" smtClean="0"/>
              <a:t>Aracı</a:t>
            </a:r>
            <a:r>
              <a:rPr lang="tr-TR" dirty="0"/>
              <a:t>, </a:t>
            </a:r>
            <a:r>
              <a:rPr lang="tr-TR" dirty="0" smtClean="0"/>
              <a:t>üreticiden </a:t>
            </a:r>
            <a:r>
              <a:rPr lang="tr-TR" dirty="0"/>
              <a:t>gelen </a:t>
            </a:r>
            <a:r>
              <a:rPr lang="tr-TR" dirty="0" smtClean="0"/>
              <a:t>mesajı alır, abonelere gönderir.</a:t>
            </a:r>
            <a:endParaRPr lang="tr-TR" dirty="0" smtClean="0"/>
          </a:p>
          <a:p>
            <a:r>
              <a:rPr lang="tr-TR" dirty="0" smtClean="0"/>
              <a:t>Gönderici </a:t>
            </a:r>
            <a:r>
              <a:rPr lang="tr-TR" dirty="0"/>
              <a:t>ve </a:t>
            </a:r>
            <a:r>
              <a:rPr lang="tr-TR" dirty="0" smtClean="0"/>
              <a:t>alıcıları </a:t>
            </a:r>
            <a:r>
              <a:rPr lang="tr-TR" dirty="0"/>
              <a:t>birbirinden </a:t>
            </a:r>
            <a:r>
              <a:rPr lang="tr-TR" dirty="0" smtClean="0"/>
              <a:t>ayırır. (</a:t>
            </a:r>
            <a:r>
              <a:rPr lang="tr-TR" i="1" dirty="0" smtClean="0"/>
              <a:t>bağımsızlık</a:t>
            </a:r>
            <a:r>
              <a:rPr lang="tr-TR" dirty="0" smtClean="0"/>
              <a:t>)</a:t>
            </a:r>
            <a:endParaRPr lang="tr-TR" dirty="0" smtClean="0"/>
          </a:p>
          <a:p>
            <a:r>
              <a:rPr lang="tr-TR" dirty="0" smtClean="0"/>
              <a:t>Aboneler dinamik </a:t>
            </a:r>
            <a:r>
              <a:rPr lang="tr-TR" dirty="0"/>
              <a:t>olarak eklenebilir ve kaldırılabilir</a:t>
            </a:r>
            <a:r>
              <a:rPr lang="tr-TR" dirty="0" smtClean="0"/>
              <a:t>. (</a:t>
            </a:r>
            <a:r>
              <a:rPr lang="tr-TR" i="1" dirty="0" smtClean="0"/>
              <a:t>ölçeklenebilir</a:t>
            </a:r>
            <a:r>
              <a:rPr lang="tr-TR" dirty="0" smtClean="0"/>
              <a:t>)</a:t>
            </a:r>
          </a:p>
          <a:p>
            <a:r>
              <a:rPr lang="tr-TR" dirty="0" smtClean="0"/>
              <a:t>Yeni konular </a:t>
            </a:r>
            <a:r>
              <a:rPr lang="tr-TR" dirty="0" smtClean="0"/>
              <a:t>eklenebilir ve </a:t>
            </a:r>
            <a:r>
              <a:rPr lang="tr-TR" dirty="0"/>
              <a:t>bunlara abone </a:t>
            </a:r>
            <a:r>
              <a:rPr lang="tr-TR" dirty="0" smtClean="0"/>
              <a:t>olunabilir. (</a:t>
            </a:r>
            <a:r>
              <a:rPr lang="tr-TR" i="1" dirty="0" smtClean="0"/>
              <a:t>esnek</a:t>
            </a:r>
            <a:r>
              <a:rPr lang="tr-TR" dirty="0" smtClean="0"/>
              <a:t>)</a:t>
            </a:r>
          </a:p>
          <a:p>
            <a:r>
              <a:rPr lang="tr-TR" dirty="0" smtClean="0"/>
              <a:t>Mesajlar </a:t>
            </a:r>
            <a:r>
              <a:rPr lang="tr-TR" dirty="0"/>
              <a:t>abonelere teslim edilene kadar </a:t>
            </a:r>
            <a:r>
              <a:rPr lang="tr-TR" dirty="0" smtClean="0"/>
              <a:t>aracıda </a:t>
            </a:r>
            <a:r>
              <a:rPr lang="tr-TR" dirty="0"/>
              <a:t>saklanır</a:t>
            </a:r>
            <a:r>
              <a:rPr lang="tr-TR" dirty="0" smtClean="0"/>
              <a:t>. (</a:t>
            </a:r>
            <a:r>
              <a:rPr lang="tr-TR" i="1" dirty="0" smtClean="0"/>
              <a:t>güvenilir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4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Yayınla Abone Ol Mimarisi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Yayınla abone ol </a:t>
            </a:r>
            <a:r>
              <a:rPr lang="tr-TR" dirty="0"/>
              <a:t>mimarisi</a:t>
            </a:r>
            <a:r>
              <a:rPr lang="tr-TR" dirty="0" smtClean="0"/>
              <a:t>. (</a:t>
            </a:r>
            <a:r>
              <a:rPr lang="tr-TR" i="1" dirty="0" err="1" smtClean="0"/>
              <a:t>publish</a:t>
            </a:r>
            <a:r>
              <a:rPr lang="tr-TR" i="1" dirty="0" smtClean="0"/>
              <a:t>/</a:t>
            </a:r>
            <a:r>
              <a:rPr lang="tr-TR" i="1" dirty="0" err="1" smtClean="0"/>
              <a:t>subscribe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456" y="2536056"/>
            <a:ext cx="8701087" cy="32591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66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Jini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smtClean="0"/>
              <a:t>Sun </a:t>
            </a:r>
            <a:r>
              <a:rPr lang="tr-TR" i="1" dirty="0" err="1"/>
              <a:t>Microsystems</a:t>
            </a:r>
            <a:r>
              <a:rPr lang="tr-TR" i="1" dirty="0"/>
              <a:t> </a:t>
            </a:r>
            <a:r>
              <a:rPr lang="tr-TR" dirty="0"/>
              <a:t>tarafından </a:t>
            </a:r>
            <a:r>
              <a:rPr lang="tr-TR" dirty="0" smtClean="0"/>
              <a:t>geliştirilmiştir.</a:t>
            </a:r>
          </a:p>
          <a:p>
            <a:r>
              <a:rPr lang="tr-TR" dirty="0" smtClean="0"/>
              <a:t>Aygıtlar önceden </a:t>
            </a:r>
            <a:r>
              <a:rPr lang="tr-TR" dirty="0"/>
              <a:t>yapılandırma </a:t>
            </a:r>
            <a:r>
              <a:rPr lang="tr-TR" dirty="0" smtClean="0"/>
              <a:t>olmaksızın, </a:t>
            </a:r>
            <a:r>
              <a:rPr lang="tr-TR" dirty="0"/>
              <a:t>bir ağ </a:t>
            </a:r>
            <a:r>
              <a:rPr lang="tr-TR" dirty="0" smtClean="0"/>
              <a:t>üzerinden, </a:t>
            </a:r>
            <a:r>
              <a:rPr lang="tr-TR" dirty="0"/>
              <a:t>dinamik olarak birbirlerini </a:t>
            </a:r>
            <a:r>
              <a:rPr lang="tr-TR" dirty="0" smtClean="0"/>
              <a:t>keşfedebilir, kullanabilir.</a:t>
            </a:r>
            <a:endParaRPr lang="tr-TR" dirty="0" smtClean="0"/>
          </a:p>
          <a:p>
            <a:r>
              <a:rPr lang="tr-TR" dirty="0" smtClean="0"/>
              <a:t>Birlikte </a:t>
            </a:r>
            <a:r>
              <a:rPr lang="tr-TR" dirty="0" smtClean="0"/>
              <a:t>çalışabilirlik için, </a:t>
            </a:r>
            <a:r>
              <a:rPr lang="tr-TR" i="1" dirty="0" smtClean="0"/>
              <a:t>Java RMI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/>
              <a:t>Uzaktan </a:t>
            </a:r>
            <a:r>
              <a:rPr lang="tr-TR" i="1" dirty="0" smtClean="0"/>
              <a:t>Metot </a:t>
            </a:r>
            <a:r>
              <a:rPr lang="tr-TR" i="1" dirty="0"/>
              <a:t>Çağırma</a:t>
            </a:r>
            <a:r>
              <a:rPr lang="tr-TR" dirty="0"/>
              <a:t>) kullanır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Dağıtık </a:t>
            </a:r>
            <a:r>
              <a:rPr lang="tr-TR" dirty="0"/>
              <a:t>sistemler için esnek, ölçeklenebilir ve güvenli bir altyapı </a:t>
            </a:r>
            <a:r>
              <a:rPr lang="tr-TR" dirty="0" smtClean="0"/>
              <a:t>sağlar.</a:t>
            </a:r>
          </a:p>
          <a:p>
            <a:r>
              <a:rPr lang="tr-TR" dirty="0" smtClean="0"/>
              <a:t>Sistem genelini etkilemeden, aygıtlar ve hizmetler eklenebilir, kaldırılabilir, yeniden yapılandırılabilir.</a:t>
            </a:r>
          </a:p>
          <a:p>
            <a:r>
              <a:rPr lang="tr-TR" dirty="0" smtClean="0"/>
              <a:t>Merkezi </a:t>
            </a:r>
            <a:r>
              <a:rPr lang="tr-TR" dirty="0"/>
              <a:t>olmayan ve dinamik uygulamaların geliştirilmesini sağlar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5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4872</TotalTime>
  <Words>3506</Words>
  <Application>Microsoft Office PowerPoint</Application>
  <PresentationFormat>Widescreen</PresentationFormat>
  <Paragraphs>548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Calibri Light</vt:lpstr>
      <vt:lpstr>Wingdings</vt:lpstr>
      <vt:lpstr>1_Office Theme</vt:lpstr>
      <vt:lpstr>Bölüm 12: Çoklu İşlemcili Sistemler</vt:lpstr>
      <vt:lpstr>Çoklu İşlemcili Sistemler</vt:lpstr>
      <vt:lpstr>Çoklu İşlemcili Sistemler</vt:lpstr>
      <vt:lpstr>Çoklu İşlemcili Sistemler</vt:lpstr>
      <vt:lpstr>Veri Yolu Tabanlı Mimariler</vt:lpstr>
      <vt:lpstr>Veri Yolu Tabanlı Mimariler</vt:lpstr>
      <vt:lpstr>Çapraz Çubuk (Cross Bar) Anahtarları</vt:lpstr>
      <vt:lpstr>Çok Aşamalı Anahtarlama</vt:lpstr>
      <vt:lpstr>Omega Anahtarlama Ağı</vt:lpstr>
      <vt:lpstr>Omega Anahtarlama Ağı</vt:lpstr>
      <vt:lpstr>NUMA Çoklu İşlemcileri</vt:lpstr>
      <vt:lpstr>NUMA Çoklu İşlemcileri</vt:lpstr>
      <vt:lpstr>NUMA Çoklu İşlemcileri</vt:lpstr>
      <vt:lpstr>Her CPU'nun Kendi İşletim Sistemi Vardır</vt:lpstr>
      <vt:lpstr>Usta Köle (Master Slave) Çoklu İşlemcili Model</vt:lpstr>
      <vt:lpstr>Simetrik Çoklu İşlemciler</vt:lpstr>
      <vt:lpstr>Çoklu İşlemcili Senkronizasyon</vt:lpstr>
      <vt:lpstr>Çoklu İşlemcili Senkronizasyon</vt:lpstr>
      <vt:lpstr>Zaman Paylaşımı</vt:lpstr>
      <vt:lpstr>Alan Paylaşımı</vt:lpstr>
      <vt:lpstr>Çete (Gang) Çizelgeleme</vt:lpstr>
      <vt:lpstr>Çete (Gang) Çizelgeleme</vt:lpstr>
      <vt:lpstr>Çete (Gang) Çizelgeleme</vt:lpstr>
      <vt:lpstr>Ara bağlantı (Interconnection) Topolojileri</vt:lpstr>
      <vt:lpstr>Ara bağlantı (Interconnection) Topolojileri</vt:lpstr>
      <vt:lpstr>Ara bağlantı (Interconnection) Topolojileri</vt:lpstr>
      <vt:lpstr>Ağ Arayüzleri</vt:lpstr>
      <vt:lpstr>Bloke Eden ve Etmeyen Çağrılar</vt:lpstr>
      <vt:lpstr>Bloke Eden ve Etmeyen Çağrılar</vt:lpstr>
      <vt:lpstr>Bloke Eden ve Etmeyen Çağrılar</vt:lpstr>
      <vt:lpstr>Uzaktan Prosedür Çağrısı</vt:lpstr>
      <vt:lpstr>Dağıtık Paylaşımlı Bellek</vt:lpstr>
      <vt:lpstr>Dağıtık Paylaşımlı Bellek</vt:lpstr>
      <vt:lpstr>Dağıtık Paylaşımlı Bellek</vt:lpstr>
      <vt:lpstr>Dağıtık Paylaşımlı Bellek</vt:lpstr>
      <vt:lpstr>Dağıtık Paylaşımlı Bellek</vt:lpstr>
      <vt:lpstr>Dağıtık Paylaşımlı Bellek</vt:lpstr>
      <vt:lpstr>Yanlış Paylaşım (False Sharing)</vt:lpstr>
      <vt:lpstr>Bir Çizge-Teorik Deterministik Algoritma</vt:lpstr>
      <vt:lpstr>Dağıtık Sezgisel Algoritma</vt:lpstr>
      <vt:lpstr>Tip 1 Hipervizörler</vt:lpstr>
      <vt:lpstr>Yarı Sanallaştırma (Paravirtualization)</vt:lpstr>
      <vt:lpstr>Yarı Sanallaştırma (Paravirtualization)</vt:lpstr>
      <vt:lpstr>Çoklu Bilgisayar Sistemi</vt:lpstr>
      <vt:lpstr>Dağıtık Sistem</vt:lpstr>
      <vt:lpstr>Dağıtık Sistem</vt:lpstr>
      <vt:lpstr>Karşılaştırma</vt:lpstr>
      <vt:lpstr>Ethernet</vt:lpstr>
      <vt:lpstr>Ağ Protokolleri</vt:lpstr>
      <vt:lpstr>Ağ Protokolleri</vt:lpstr>
      <vt:lpstr>İnternet Omurgası (Backbone)</vt:lpstr>
      <vt:lpstr>Güvenilir ve Olmayan Ağ Servisleri</vt:lpstr>
      <vt:lpstr>Bağlantı Odaklı ve Bağlantısız Servisler</vt:lpstr>
      <vt:lpstr>Ağ Protokolleri</vt:lpstr>
      <vt:lpstr>Belge Tabanlı Ara Yazılım</vt:lpstr>
      <vt:lpstr>Tarayıcı Nasıl Çalışır</vt:lpstr>
      <vt:lpstr>Dosya Sistemi Tabanlı Ara Yazılım</vt:lpstr>
      <vt:lpstr>Dizin Hiyerarşisi</vt:lpstr>
      <vt:lpstr>Dizin Hiyerarşisi</vt:lpstr>
      <vt:lpstr>Dizin Hiyerarşisi</vt:lpstr>
      <vt:lpstr>Adlandırma Şeffaflığı</vt:lpstr>
      <vt:lpstr>Dosya Paylaşımının Semantiği</vt:lpstr>
      <vt:lpstr>Dosya Paylaşımının Semantiği</vt:lpstr>
      <vt:lpstr>CORBA (Common Object Request Broker Architecture)</vt:lpstr>
      <vt:lpstr>CORBA (Common Object Request Broker Architecture)</vt:lpstr>
      <vt:lpstr>CORBA (Common Object Request Broker Architecture)</vt:lpstr>
      <vt:lpstr>Linda: Koordinasyon Tabanlı Ara Yazılım</vt:lpstr>
      <vt:lpstr>Linda: Koordinasyon Tabanlı Ara Yazılım</vt:lpstr>
      <vt:lpstr>Eşleşen Demetler (Tuples)</vt:lpstr>
      <vt:lpstr>Yayınla Abone Ol Dağıtık Sistemler</vt:lpstr>
      <vt:lpstr>Yayınla Abone Ol Mimarisi</vt:lpstr>
      <vt:lpstr>Jini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Cok Islemcili Sistemler</dc:title>
  <dc:creator>sercan</dc:creator>
  <cp:lastModifiedBy>sercan</cp:lastModifiedBy>
  <cp:revision>449</cp:revision>
  <dcterms:created xsi:type="dcterms:W3CDTF">2023-01-12T09:23:55Z</dcterms:created>
  <dcterms:modified xsi:type="dcterms:W3CDTF">2024-02-04T10:29:18Z</dcterms:modified>
</cp:coreProperties>
</file>