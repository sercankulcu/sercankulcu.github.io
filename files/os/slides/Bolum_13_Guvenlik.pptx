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69"/>
  </p:notesMasterIdLst>
  <p:sldIdLst>
    <p:sldId id="256" r:id="rId2"/>
    <p:sldId id="257" r:id="rId3"/>
    <p:sldId id="370" r:id="rId4"/>
    <p:sldId id="371" r:id="rId5"/>
    <p:sldId id="380" r:id="rId6"/>
    <p:sldId id="377" r:id="rId7"/>
    <p:sldId id="37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2" r:id="rId17"/>
    <p:sldId id="323" r:id="rId18"/>
    <p:sldId id="375" r:id="rId19"/>
    <p:sldId id="324" r:id="rId20"/>
    <p:sldId id="325" r:id="rId21"/>
    <p:sldId id="326" r:id="rId22"/>
    <p:sldId id="328" r:id="rId23"/>
    <p:sldId id="329" r:id="rId24"/>
    <p:sldId id="331" r:id="rId25"/>
    <p:sldId id="332" r:id="rId26"/>
    <p:sldId id="373" r:id="rId27"/>
    <p:sldId id="333" r:id="rId28"/>
    <p:sldId id="374" r:id="rId29"/>
    <p:sldId id="334" r:id="rId30"/>
    <p:sldId id="376" r:id="rId31"/>
    <p:sldId id="351" r:id="rId32"/>
    <p:sldId id="352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78" r:id="rId45"/>
    <p:sldId id="346" r:id="rId46"/>
    <p:sldId id="347" r:id="rId47"/>
    <p:sldId id="348" r:id="rId48"/>
    <p:sldId id="349" r:id="rId49"/>
    <p:sldId id="350" r:id="rId50"/>
    <p:sldId id="353" r:id="rId51"/>
    <p:sldId id="354" r:id="rId52"/>
    <p:sldId id="355" r:id="rId53"/>
    <p:sldId id="356" r:id="rId54"/>
    <p:sldId id="357" r:id="rId55"/>
    <p:sldId id="358" r:id="rId56"/>
    <p:sldId id="359" r:id="rId57"/>
    <p:sldId id="381" r:id="rId58"/>
    <p:sldId id="360" r:id="rId59"/>
    <p:sldId id="361" r:id="rId60"/>
    <p:sldId id="363" r:id="rId61"/>
    <p:sldId id="364" r:id="rId62"/>
    <p:sldId id="365" r:id="rId63"/>
    <p:sldId id="366" r:id="rId64"/>
    <p:sldId id="367" r:id="rId65"/>
    <p:sldId id="369" r:id="rId66"/>
    <p:sldId id="379" r:id="rId67"/>
    <p:sldId id="31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5.02.2024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4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07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54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1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29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75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31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82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75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29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3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smtClean="0"/>
              <a:t>Bölüm 13: </a:t>
            </a:r>
            <a:r>
              <a:rPr lang="tr-TR" b="1" dirty="0" smtClean="0"/>
              <a:t>Güvenlik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İşletim Sistemleri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Hedefleri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Gizlilik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privacy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Hassas </a:t>
            </a:r>
            <a:r>
              <a:rPr lang="tr-TR" dirty="0"/>
              <a:t>verilere yetkisiz </a:t>
            </a:r>
            <a:r>
              <a:rPr lang="tr-TR" dirty="0" smtClean="0"/>
              <a:t>kullanıcılar </a:t>
            </a:r>
            <a:r>
              <a:rPr lang="tr-TR" i="1" dirty="0" smtClean="0"/>
              <a:t>erişememeli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Bütünlük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integrity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Yetkisiz kullanıcılar veri ve sistem üzerinde </a:t>
            </a:r>
            <a:r>
              <a:rPr lang="tr-TR" i="1" dirty="0" smtClean="0"/>
              <a:t>değişiklik </a:t>
            </a:r>
            <a:r>
              <a:rPr lang="tr-TR" dirty="0" smtClean="0"/>
              <a:t>yapamamalı.</a:t>
            </a:r>
          </a:p>
          <a:p>
            <a:r>
              <a:rPr lang="tr-TR" b="1" dirty="0" smtClean="0"/>
              <a:t>Erişilebilirlik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dirty="0" err="1" smtClean="0"/>
              <a:t>accessibility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Yetkili kullanıcılar </a:t>
            </a:r>
            <a:r>
              <a:rPr lang="tr-TR" i="1" dirty="0" smtClean="0"/>
              <a:t>gerektiğinde</a:t>
            </a:r>
            <a:r>
              <a:rPr lang="tr-TR" dirty="0" smtClean="0"/>
              <a:t> veri ve </a:t>
            </a:r>
            <a:r>
              <a:rPr lang="tr-TR" dirty="0"/>
              <a:t>sistemlere </a:t>
            </a:r>
            <a:r>
              <a:rPr lang="tr-TR" dirty="0" smtClean="0"/>
              <a:t>erişebilmeli.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Tehditler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Kötü Amaçlı Yazılım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malware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Virüs</a:t>
            </a:r>
            <a:r>
              <a:rPr lang="tr-TR" dirty="0"/>
              <a:t>, Truva atı, solucan, casus yazılım, fidye </a:t>
            </a:r>
            <a:r>
              <a:rPr lang="tr-TR" dirty="0" smtClean="0"/>
              <a:t>yazılımı..</a:t>
            </a:r>
          </a:p>
          <a:p>
            <a:r>
              <a:rPr lang="tr-TR" b="1" dirty="0" smtClean="0"/>
              <a:t>Yetkisiz </a:t>
            </a:r>
            <a:r>
              <a:rPr lang="tr-TR" b="1" dirty="0"/>
              <a:t>Erişim</a:t>
            </a:r>
            <a:r>
              <a:rPr lang="tr-TR" dirty="0"/>
              <a:t>: (</a:t>
            </a:r>
            <a:r>
              <a:rPr lang="tr-TR" i="1" dirty="0" err="1" smtClean="0"/>
              <a:t>unauthorized</a:t>
            </a:r>
            <a:r>
              <a:rPr lang="tr-TR" i="1" dirty="0" smtClean="0"/>
              <a:t> </a:t>
            </a:r>
            <a:r>
              <a:rPr lang="tr-TR" i="1" dirty="0" err="1" smtClean="0"/>
              <a:t>access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Uygun yetkilendirme </a:t>
            </a:r>
            <a:r>
              <a:rPr lang="tr-TR" dirty="0"/>
              <a:t>olmadan </a:t>
            </a:r>
            <a:r>
              <a:rPr lang="tr-TR" dirty="0" smtClean="0"/>
              <a:t>verilere </a:t>
            </a:r>
            <a:r>
              <a:rPr lang="tr-TR" dirty="0"/>
              <a:t>erişme </a:t>
            </a:r>
            <a:r>
              <a:rPr lang="tr-TR" dirty="0" smtClean="0"/>
              <a:t>girişimi.</a:t>
            </a:r>
          </a:p>
          <a:p>
            <a:r>
              <a:rPr lang="tr-TR" b="1" dirty="0" smtClean="0"/>
              <a:t>Hizmet </a:t>
            </a:r>
            <a:r>
              <a:rPr lang="tr-TR" b="1" dirty="0"/>
              <a:t>Reddi (</a:t>
            </a:r>
            <a:r>
              <a:rPr lang="tr-TR" b="1" dirty="0" err="1"/>
              <a:t>DoS</a:t>
            </a:r>
            <a:r>
              <a:rPr lang="tr-TR" b="1" dirty="0"/>
              <a:t>)</a:t>
            </a:r>
            <a:r>
              <a:rPr lang="tr-TR" dirty="0"/>
              <a:t>: (</a:t>
            </a:r>
            <a:r>
              <a:rPr lang="tr-TR" i="1" dirty="0" err="1"/>
              <a:t>denial</a:t>
            </a:r>
            <a:r>
              <a:rPr lang="tr-TR" i="1" dirty="0"/>
              <a:t> of service</a:t>
            </a:r>
            <a:r>
              <a:rPr lang="tr-TR" dirty="0"/>
              <a:t>)</a:t>
            </a:r>
            <a:endParaRPr lang="tr-TR" dirty="0" smtClean="0"/>
          </a:p>
          <a:p>
            <a:pPr lvl="1"/>
            <a:r>
              <a:rPr lang="tr-TR" dirty="0" smtClean="0"/>
              <a:t>Sistemin kullanılabilirliğini </a:t>
            </a:r>
            <a:r>
              <a:rPr lang="tr-TR" dirty="0"/>
              <a:t>kesintiye </a:t>
            </a:r>
            <a:r>
              <a:rPr lang="tr-TR" dirty="0" smtClean="0"/>
              <a:t>uğratmak.</a:t>
            </a:r>
          </a:p>
          <a:p>
            <a:r>
              <a:rPr lang="tr-TR" b="1" dirty="0" smtClean="0"/>
              <a:t>Arabellek </a:t>
            </a:r>
            <a:r>
              <a:rPr lang="tr-TR" b="1" dirty="0"/>
              <a:t>Taşmaları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buffer</a:t>
            </a:r>
            <a:r>
              <a:rPr lang="tr-TR" i="1" dirty="0" smtClean="0"/>
              <a:t> </a:t>
            </a:r>
            <a:r>
              <a:rPr lang="tr-TR" i="1" dirty="0" err="1" smtClean="0"/>
              <a:t>overflow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Bellekte izin verilmeyen bir alana erişme girişimi.</a:t>
            </a:r>
          </a:p>
          <a:p>
            <a:r>
              <a:rPr lang="tr-TR" b="1" dirty="0" smtClean="0"/>
              <a:t>Yarış </a:t>
            </a:r>
            <a:r>
              <a:rPr lang="tr-TR" b="1" dirty="0"/>
              <a:t>Koşulları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race</a:t>
            </a:r>
            <a:r>
              <a:rPr lang="tr-TR" i="1" dirty="0" smtClean="0"/>
              <a:t> </a:t>
            </a:r>
            <a:r>
              <a:rPr lang="tr-TR" i="1" dirty="0" err="1" smtClean="0"/>
              <a:t>condition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Kodun </a:t>
            </a:r>
            <a:r>
              <a:rPr lang="tr-TR" dirty="0"/>
              <a:t>eşzamanlı yürütülmesi </a:t>
            </a:r>
            <a:r>
              <a:rPr lang="tr-TR" dirty="0" smtClean="0"/>
              <a:t>sonucu beklenmeyen durumlar.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5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Savunma Mekanizmaları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Erişim Kontrolü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/>
              <a:t>a</a:t>
            </a:r>
            <a:r>
              <a:rPr lang="tr-TR" i="1" dirty="0" err="1" smtClean="0"/>
              <a:t>ccess</a:t>
            </a:r>
            <a:r>
              <a:rPr lang="tr-TR" i="1" dirty="0" smtClean="0"/>
              <a:t> </a:t>
            </a:r>
            <a:r>
              <a:rPr lang="tr-TR" i="1" dirty="0" err="1" smtClean="0"/>
              <a:t>control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Hangi kullanıcının </a:t>
            </a:r>
            <a:r>
              <a:rPr lang="tr-TR" dirty="0"/>
              <a:t>hangi verilere </a:t>
            </a:r>
            <a:r>
              <a:rPr lang="tr-TR" dirty="0" smtClean="0"/>
              <a:t>erişebileceği tanımlanmalı.</a:t>
            </a:r>
          </a:p>
          <a:p>
            <a:r>
              <a:rPr lang="tr-TR" b="1" dirty="0" smtClean="0"/>
              <a:t>Güvenlik Duvarı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smtClean="0"/>
              <a:t>firewall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Yetkisiz </a:t>
            </a:r>
            <a:r>
              <a:rPr lang="tr-TR" dirty="0"/>
              <a:t>erişimi önlemek </a:t>
            </a:r>
            <a:r>
              <a:rPr lang="tr-TR" dirty="0" smtClean="0"/>
              <a:t>amacıyla </a:t>
            </a:r>
            <a:r>
              <a:rPr lang="tr-TR" dirty="0"/>
              <a:t>ağ </a:t>
            </a:r>
            <a:r>
              <a:rPr lang="tr-TR" dirty="0" smtClean="0"/>
              <a:t>trafiği filtrelenmeli.</a:t>
            </a:r>
          </a:p>
          <a:p>
            <a:r>
              <a:rPr lang="tr-TR" b="1" dirty="0" smtClean="0"/>
              <a:t>Bellek </a:t>
            </a:r>
            <a:r>
              <a:rPr lang="tr-TR" b="1" dirty="0"/>
              <a:t>Koruması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memory</a:t>
            </a:r>
            <a:r>
              <a:rPr lang="tr-TR" i="1" dirty="0" smtClean="0"/>
              <a:t> </a:t>
            </a:r>
            <a:r>
              <a:rPr lang="tr-TR" i="1" dirty="0" err="1" smtClean="0"/>
              <a:t>protection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Arabellek taşması gibi bellek </a:t>
            </a:r>
            <a:r>
              <a:rPr lang="tr-TR" dirty="0"/>
              <a:t>tabanlı </a:t>
            </a:r>
            <a:r>
              <a:rPr lang="tr-TR" dirty="0" smtClean="0"/>
              <a:t>saldırılar önlenmeli.</a:t>
            </a:r>
          </a:p>
          <a:p>
            <a:r>
              <a:rPr lang="tr-TR" b="1" dirty="0" smtClean="0"/>
              <a:t>Kum Havuzu</a:t>
            </a:r>
            <a:r>
              <a:rPr lang="tr-TR" dirty="0" smtClean="0"/>
              <a:t>: (</a:t>
            </a:r>
            <a:r>
              <a:rPr lang="tr-TR" dirty="0" err="1" smtClean="0"/>
              <a:t>sandboxing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Süreçler izole edilerek birbirlerini engellemeleri önlenmeli.</a:t>
            </a:r>
          </a:p>
          <a:p>
            <a:r>
              <a:rPr lang="tr-TR" b="1" dirty="0" smtClean="0"/>
              <a:t>Şifreleme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encryption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Hassas veriler aktarım sırasında da korunmalı.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55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İhlali Kategorileri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Gizlilik İhlali: </a:t>
            </a:r>
            <a:r>
              <a:rPr lang="tr-TR" i="1" dirty="0" smtClean="0"/>
              <a:t>(</a:t>
            </a:r>
            <a:r>
              <a:rPr lang="tr-TR" i="1" dirty="0" err="1" smtClean="0"/>
              <a:t>Breach</a:t>
            </a:r>
            <a:r>
              <a:rPr lang="tr-TR" i="1" dirty="0" smtClean="0"/>
              <a:t> </a:t>
            </a:r>
            <a:r>
              <a:rPr lang="tr-TR" i="1" dirty="0"/>
              <a:t>of </a:t>
            </a:r>
            <a:r>
              <a:rPr lang="tr-TR" i="1" dirty="0" err="1" smtClean="0"/>
              <a:t>confidentiality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Verilerin </a:t>
            </a:r>
            <a:r>
              <a:rPr lang="tr-TR" dirty="0"/>
              <a:t>izinsiz </a:t>
            </a:r>
            <a:r>
              <a:rPr lang="tr-TR" dirty="0" smtClean="0"/>
              <a:t>okunması.</a:t>
            </a:r>
          </a:p>
          <a:p>
            <a:r>
              <a:rPr lang="tr-TR" b="1" dirty="0" smtClean="0"/>
              <a:t>Bütünlük İhlali: </a:t>
            </a:r>
            <a:r>
              <a:rPr lang="tr-TR" i="1" dirty="0" smtClean="0"/>
              <a:t>(</a:t>
            </a:r>
            <a:r>
              <a:rPr lang="tr-TR" i="1" dirty="0" err="1" smtClean="0"/>
              <a:t>Breach</a:t>
            </a:r>
            <a:r>
              <a:rPr lang="tr-TR" i="1" dirty="0" smtClean="0"/>
              <a:t> </a:t>
            </a:r>
            <a:r>
              <a:rPr lang="tr-TR" i="1" dirty="0"/>
              <a:t>of </a:t>
            </a:r>
            <a:r>
              <a:rPr lang="tr-TR" i="1" dirty="0" err="1" smtClean="0"/>
              <a:t>integrity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Verilerin </a:t>
            </a:r>
            <a:r>
              <a:rPr lang="tr-TR" dirty="0"/>
              <a:t>izinsiz </a:t>
            </a:r>
            <a:r>
              <a:rPr lang="tr-TR" dirty="0" smtClean="0"/>
              <a:t>değiştirilmesi.</a:t>
            </a:r>
          </a:p>
          <a:p>
            <a:r>
              <a:rPr lang="tr-TR" b="1" dirty="0"/>
              <a:t>Erişilebilirlik </a:t>
            </a:r>
            <a:r>
              <a:rPr lang="tr-TR" b="1" dirty="0" smtClean="0"/>
              <a:t>İhlali: </a:t>
            </a:r>
            <a:r>
              <a:rPr lang="tr-TR" i="1" dirty="0" smtClean="0"/>
              <a:t>(</a:t>
            </a:r>
            <a:r>
              <a:rPr lang="tr-TR" i="1" dirty="0" err="1" smtClean="0"/>
              <a:t>Breach</a:t>
            </a:r>
            <a:r>
              <a:rPr lang="tr-TR" i="1" dirty="0" smtClean="0"/>
              <a:t> </a:t>
            </a:r>
            <a:r>
              <a:rPr lang="tr-TR" i="1" dirty="0"/>
              <a:t>of </a:t>
            </a:r>
            <a:r>
              <a:rPr lang="tr-TR" i="1" dirty="0" err="1" smtClean="0"/>
              <a:t>availability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Verilerin </a:t>
            </a:r>
            <a:r>
              <a:rPr lang="tr-TR" dirty="0"/>
              <a:t>yetkisiz </a:t>
            </a:r>
            <a:r>
              <a:rPr lang="tr-TR" dirty="0" smtClean="0"/>
              <a:t>imhası.</a:t>
            </a:r>
          </a:p>
          <a:p>
            <a:r>
              <a:rPr lang="tr-TR" b="1" dirty="0"/>
              <a:t>Hizmet Hırsızlığı: </a:t>
            </a:r>
            <a:r>
              <a:rPr lang="tr-TR" i="1" dirty="0" smtClean="0"/>
              <a:t>(</a:t>
            </a:r>
            <a:r>
              <a:rPr lang="tr-TR" i="1" dirty="0" err="1" smtClean="0"/>
              <a:t>Theft</a:t>
            </a:r>
            <a:r>
              <a:rPr lang="tr-TR" i="1" dirty="0" smtClean="0"/>
              <a:t> </a:t>
            </a:r>
            <a:r>
              <a:rPr lang="tr-TR" i="1" dirty="0"/>
              <a:t>of </a:t>
            </a:r>
            <a:r>
              <a:rPr lang="tr-TR" i="1" dirty="0" smtClean="0"/>
              <a:t>service)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Kaynakların </a:t>
            </a:r>
            <a:r>
              <a:rPr lang="tr-TR" dirty="0"/>
              <a:t>yetkisiz </a:t>
            </a:r>
            <a:r>
              <a:rPr lang="tr-TR" dirty="0" smtClean="0"/>
              <a:t>kullanımı.</a:t>
            </a:r>
          </a:p>
          <a:p>
            <a:r>
              <a:rPr lang="tr-TR" b="1" dirty="0" smtClean="0"/>
              <a:t>Hizmet Reddi: </a:t>
            </a:r>
            <a:r>
              <a:rPr lang="tr-TR" i="1" dirty="0" smtClean="0"/>
              <a:t>(</a:t>
            </a:r>
            <a:r>
              <a:rPr lang="tr-TR" i="1" dirty="0" err="1" smtClean="0"/>
              <a:t>Denial</a:t>
            </a:r>
            <a:r>
              <a:rPr lang="tr-TR" i="1" dirty="0" smtClean="0"/>
              <a:t> </a:t>
            </a:r>
            <a:r>
              <a:rPr lang="tr-TR" i="1" dirty="0"/>
              <a:t>of service (</a:t>
            </a:r>
            <a:r>
              <a:rPr lang="tr-TR" i="1" dirty="0" err="1" smtClean="0"/>
              <a:t>DoS</a:t>
            </a:r>
            <a:r>
              <a:rPr lang="tr-TR" i="1" dirty="0" smtClean="0"/>
              <a:t>))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Sistem kullanımının önlenmesi.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94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İhlali Kategorileri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Kimlik Değiştirme: </a:t>
            </a:r>
            <a:r>
              <a:rPr lang="tr-TR" i="1" dirty="0" smtClean="0"/>
              <a:t>(</a:t>
            </a:r>
            <a:r>
              <a:rPr lang="tr-TR" i="1" dirty="0" err="1" smtClean="0"/>
              <a:t>Masquerading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Yetkisiz bir kullanıcının yetkili gibi davranması.</a:t>
            </a:r>
          </a:p>
          <a:p>
            <a:r>
              <a:rPr lang="tr-TR" b="1" dirty="0" smtClean="0"/>
              <a:t>Tekrar Saldırısı: </a:t>
            </a:r>
            <a:r>
              <a:rPr lang="tr-TR" i="1" dirty="0" smtClean="0"/>
              <a:t>(</a:t>
            </a:r>
            <a:r>
              <a:rPr lang="tr-TR" i="1" dirty="0" err="1" smtClean="0"/>
              <a:t>Replay</a:t>
            </a:r>
            <a:r>
              <a:rPr lang="tr-TR" i="1" dirty="0" smtClean="0"/>
              <a:t> </a:t>
            </a:r>
            <a:r>
              <a:rPr lang="tr-TR" i="1" dirty="0" err="1" smtClean="0"/>
              <a:t>attack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İzinsiz bir şekilde elde edilen mesajın tekrar kullanılması.</a:t>
            </a:r>
          </a:p>
          <a:p>
            <a:r>
              <a:rPr lang="tr-TR" b="1" dirty="0" smtClean="0"/>
              <a:t>Ortadaki Adam Saldırısı: </a:t>
            </a:r>
            <a:r>
              <a:rPr lang="tr-TR" i="1" dirty="0" smtClean="0"/>
              <a:t>(Man-in-</a:t>
            </a:r>
            <a:r>
              <a:rPr lang="tr-TR" i="1" dirty="0" err="1" smtClean="0"/>
              <a:t>the</a:t>
            </a:r>
            <a:r>
              <a:rPr lang="tr-TR" i="1" dirty="0" smtClean="0"/>
              <a:t>-</a:t>
            </a:r>
            <a:r>
              <a:rPr lang="tr-TR" i="1" dirty="0" err="1" smtClean="0"/>
              <a:t>middle</a:t>
            </a:r>
            <a:r>
              <a:rPr lang="tr-TR" i="1" dirty="0" smtClean="0"/>
              <a:t> </a:t>
            </a:r>
            <a:r>
              <a:rPr lang="tr-TR" i="1" dirty="0" err="1" smtClean="0"/>
              <a:t>attack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Üçüncü tarafın kendisini alıcı sisteme gönderici kılığında göstermesi.</a:t>
            </a:r>
          </a:p>
          <a:p>
            <a:r>
              <a:rPr lang="tr-TR" b="1" dirty="0" smtClean="0"/>
              <a:t>Oturum Kaçırma: </a:t>
            </a:r>
            <a:r>
              <a:rPr lang="tr-TR" i="1" dirty="0" smtClean="0"/>
              <a:t>(</a:t>
            </a:r>
            <a:r>
              <a:rPr lang="tr-TR" i="1" dirty="0" err="1" smtClean="0"/>
              <a:t>Session</a:t>
            </a:r>
            <a:r>
              <a:rPr lang="tr-TR" i="1" dirty="0" smtClean="0"/>
              <a:t> </a:t>
            </a:r>
            <a:r>
              <a:rPr lang="tr-TR" i="1" dirty="0" err="1" smtClean="0"/>
              <a:t>hijacking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Kimlik kontrolü yapılmış oturumun ele geçirilmesi.</a:t>
            </a:r>
          </a:p>
          <a:p>
            <a:r>
              <a:rPr lang="tr-TR" b="1" dirty="0" smtClean="0"/>
              <a:t>Ayrıcalık Yükseltme: </a:t>
            </a:r>
            <a:r>
              <a:rPr lang="tr-TR" i="1" dirty="0" smtClean="0"/>
              <a:t>(</a:t>
            </a:r>
            <a:r>
              <a:rPr lang="tr-TR" i="1" dirty="0" err="1" smtClean="0"/>
              <a:t>Privilege</a:t>
            </a:r>
            <a:r>
              <a:rPr lang="tr-TR" i="1" dirty="0" smtClean="0"/>
              <a:t> </a:t>
            </a:r>
            <a:r>
              <a:rPr lang="tr-TR" i="1" dirty="0" err="1" smtClean="0"/>
              <a:t>escalation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Gerekenden daha fazla erişim hakkına sahip olunması.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33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İyi Uygulamalar (Best </a:t>
            </a:r>
            <a:r>
              <a:rPr lang="tr-TR" dirty="0" err="1"/>
              <a:t>P</a:t>
            </a:r>
            <a:r>
              <a:rPr lang="tr-TR" dirty="0" err="1" smtClean="0"/>
              <a:t>ractices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Güvenlik </a:t>
            </a:r>
            <a:r>
              <a:rPr lang="tr-TR" dirty="0" smtClean="0"/>
              <a:t>yamalarıyla (</a:t>
            </a:r>
            <a:r>
              <a:rPr lang="tr-TR" i="1" dirty="0" err="1" smtClean="0"/>
              <a:t>security</a:t>
            </a:r>
            <a:r>
              <a:rPr lang="tr-TR" i="1" dirty="0" smtClean="0"/>
              <a:t> </a:t>
            </a:r>
            <a:r>
              <a:rPr lang="tr-TR" i="1" dirty="0" err="1" smtClean="0"/>
              <a:t>patch</a:t>
            </a:r>
            <a:r>
              <a:rPr lang="tr-TR" dirty="0" smtClean="0"/>
              <a:t>) yazılım </a:t>
            </a:r>
            <a:r>
              <a:rPr lang="tr-TR" dirty="0"/>
              <a:t>güncel </a:t>
            </a:r>
            <a:r>
              <a:rPr lang="tr-TR" dirty="0" smtClean="0"/>
              <a:t>tutulmalı.</a:t>
            </a:r>
          </a:p>
          <a:p>
            <a:r>
              <a:rPr lang="tr-TR" dirty="0" smtClean="0"/>
              <a:t>Güçlü </a:t>
            </a:r>
            <a:r>
              <a:rPr lang="tr-TR" dirty="0"/>
              <a:t>kimlik doğrulama ve erişim kontrol mekanizmaları </a:t>
            </a:r>
            <a:r>
              <a:rPr lang="tr-TR" dirty="0" smtClean="0"/>
              <a:t>kullanılmalı.</a:t>
            </a:r>
          </a:p>
          <a:p>
            <a:r>
              <a:rPr lang="tr-TR" dirty="0" smtClean="0"/>
              <a:t>Güvenlik ile ilgili izleme </a:t>
            </a:r>
            <a:r>
              <a:rPr lang="tr-TR" dirty="0"/>
              <a:t>ve </a:t>
            </a:r>
            <a:r>
              <a:rPr lang="tr-TR" dirty="0" smtClean="0"/>
              <a:t>günlük </a:t>
            </a:r>
            <a:r>
              <a:rPr lang="tr-TR" dirty="0"/>
              <a:t>kaydı (</a:t>
            </a:r>
            <a:r>
              <a:rPr lang="tr-TR" i="1" dirty="0" err="1"/>
              <a:t>log</a:t>
            </a:r>
            <a:r>
              <a:rPr lang="tr-TR" dirty="0"/>
              <a:t>) </a:t>
            </a:r>
            <a:r>
              <a:rPr lang="tr-TR" dirty="0" smtClean="0"/>
              <a:t>tutulmalı.</a:t>
            </a:r>
          </a:p>
          <a:p>
            <a:r>
              <a:rPr lang="tr-TR" dirty="0" smtClean="0"/>
              <a:t>Düzenli olarak güvenlik ve </a:t>
            </a:r>
            <a:r>
              <a:rPr lang="tr-TR" dirty="0"/>
              <a:t>sızma testleri </a:t>
            </a:r>
            <a:r>
              <a:rPr lang="tr-TR" dirty="0" smtClean="0"/>
              <a:t>gerçekleştirilmeli.</a:t>
            </a:r>
          </a:p>
          <a:p>
            <a:r>
              <a:rPr lang="tr-TR" dirty="0" smtClean="0"/>
              <a:t>Kullanıcılar güvenlik tehditlerine karşı farkındalık </a:t>
            </a:r>
            <a:r>
              <a:rPr lang="tr-TR" dirty="0"/>
              <a:t>konusunda </a:t>
            </a:r>
            <a:r>
              <a:rPr lang="tr-TR" dirty="0" smtClean="0"/>
              <a:t>eğitilmeli.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5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Yetkisiz Kullanıcı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Teknik </a:t>
            </a:r>
            <a:r>
              <a:rPr lang="tr-TR" dirty="0"/>
              <a:t>olmayan kişiler tarafından, </a:t>
            </a:r>
            <a:endParaRPr lang="tr-TR" dirty="0" smtClean="0"/>
          </a:p>
          <a:p>
            <a:pPr lvl="1"/>
            <a:r>
              <a:rPr lang="tr-TR" dirty="0" smtClean="0"/>
              <a:t>bilgi </a:t>
            </a:r>
            <a:r>
              <a:rPr lang="tr-TR" dirty="0"/>
              <a:t>veya eğlence amacıyla gerçekleştirilen rastgele </a:t>
            </a:r>
            <a:r>
              <a:rPr lang="tr-TR" dirty="0" smtClean="0"/>
              <a:t>gözlemleme.</a:t>
            </a:r>
          </a:p>
          <a:p>
            <a:pPr lvl="1"/>
            <a:r>
              <a:rPr lang="tr-TR" dirty="0" smtClean="0"/>
              <a:t>kişisel </a:t>
            </a:r>
            <a:r>
              <a:rPr lang="tr-TR" dirty="0"/>
              <a:t>gizliliği ihlal edebilir ve etik olmayan bir </a:t>
            </a:r>
            <a:r>
              <a:rPr lang="tr-TR" dirty="0" smtClean="0"/>
              <a:t>davranış.</a:t>
            </a:r>
          </a:p>
          <a:p>
            <a:r>
              <a:rPr lang="tr-TR" dirty="0" smtClean="0"/>
              <a:t>Organizasyonun </a:t>
            </a:r>
            <a:r>
              <a:rPr lang="tr-TR" dirty="0"/>
              <a:t>kötü niyetli</a:t>
            </a:r>
            <a:r>
              <a:rPr lang="tr-TR" dirty="0" smtClean="0"/>
              <a:t> </a:t>
            </a:r>
            <a:r>
              <a:rPr lang="tr-TR" dirty="0"/>
              <a:t>çalışanları </a:t>
            </a:r>
            <a:r>
              <a:rPr lang="tr-TR" dirty="0" smtClean="0"/>
              <a:t>tarafından, </a:t>
            </a:r>
          </a:p>
          <a:p>
            <a:pPr lvl="1"/>
            <a:r>
              <a:rPr lang="tr-TR" dirty="0" smtClean="0"/>
              <a:t>gerçekleştirilen </a:t>
            </a:r>
            <a:r>
              <a:rPr lang="tr-TR" dirty="0"/>
              <a:t>gözetleme </a:t>
            </a:r>
            <a:r>
              <a:rPr lang="tr-TR" dirty="0" smtClean="0"/>
              <a:t>faaliyetleri. </a:t>
            </a:r>
          </a:p>
          <a:p>
            <a:pPr lvl="1"/>
            <a:r>
              <a:rPr lang="tr-TR" dirty="0" smtClean="0"/>
              <a:t>güvenlik ihlalleri </a:t>
            </a:r>
            <a:r>
              <a:rPr lang="tr-TR" dirty="0"/>
              <a:t>ve hassas bilgilerin sızdırılmasına yol </a:t>
            </a:r>
            <a:r>
              <a:rPr lang="tr-TR" dirty="0" smtClean="0"/>
              <a:t>açar.</a:t>
            </a:r>
          </a:p>
          <a:p>
            <a:r>
              <a:rPr lang="tr-TR" dirty="0" smtClean="0"/>
              <a:t>Kar </a:t>
            </a:r>
            <a:r>
              <a:rPr lang="tr-TR" dirty="0"/>
              <a:t>amacı güden bireyler </a:t>
            </a:r>
            <a:r>
              <a:rPr lang="tr-TR" dirty="0" smtClean="0"/>
              <a:t>tarafından,</a:t>
            </a:r>
          </a:p>
          <a:p>
            <a:pPr lvl="1"/>
            <a:r>
              <a:rPr lang="tr-TR" dirty="0" smtClean="0"/>
              <a:t>gerçekleştirilen</a:t>
            </a:r>
            <a:r>
              <a:rPr lang="tr-TR" dirty="0"/>
              <a:t>, </a:t>
            </a:r>
            <a:r>
              <a:rPr lang="tr-TR" dirty="0" smtClean="0"/>
              <a:t>kazanç </a:t>
            </a:r>
            <a:r>
              <a:rPr lang="tr-TR" dirty="0"/>
              <a:t>sağlamayı amaçlayan casusluk </a:t>
            </a:r>
            <a:r>
              <a:rPr lang="tr-TR" dirty="0" smtClean="0"/>
              <a:t>gözetleme.</a:t>
            </a:r>
          </a:p>
          <a:p>
            <a:r>
              <a:rPr lang="tr-TR" dirty="0"/>
              <a:t>Ticari casusluk, </a:t>
            </a:r>
            <a:r>
              <a:rPr lang="tr-TR" dirty="0" smtClean="0"/>
              <a:t>firmalar </a:t>
            </a:r>
            <a:r>
              <a:rPr lang="tr-TR" dirty="0"/>
              <a:t>arasında rekabet avantajı elde etmeyi </a:t>
            </a:r>
            <a:r>
              <a:rPr lang="tr-TR" dirty="0" smtClean="0"/>
              <a:t>amaçlar.</a:t>
            </a:r>
          </a:p>
          <a:p>
            <a:r>
              <a:rPr lang="tr-TR" dirty="0" smtClean="0"/>
              <a:t>Askeri casusluk, devletler </a:t>
            </a:r>
            <a:r>
              <a:rPr lang="tr-TR" dirty="0"/>
              <a:t>arasında stratejik avantaj sağlama </a:t>
            </a:r>
            <a:r>
              <a:rPr lang="tr-TR" dirty="0" smtClean="0"/>
              <a:t>amacı </a:t>
            </a:r>
            <a:r>
              <a:rPr lang="tr-TR" dirty="0"/>
              <a:t>taşır.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73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Kazayla Veri Kaybı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Kader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yangın, sel, deprem, savaş veya </a:t>
            </a:r>
            <a:r>
              <a:rPr lang="tr-TR" dirty="0"/>
              <a:t>yedek bantları kemiren fareler</a:t>
            </a:r>
            <a:r>
              <a:rPr lang="tr-TR" dirty="0" smtClean="0"/>
              <a:t>.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  <a:endParaRPr lang="tr-TR" dirty="0" smtClean="0"/>
          </a:p>
          <a:p>
            <a:r>
              <a:rPr lang="tr-TR" b="1" dirty="0" smtClean="0"/>
              <a:t>Donanım </a:t>
            </a:r>
            <a:r>
              <a:rPr lang="tr-TR" b="1" dirty="0"/>
              <a:t>veya yazılım hataları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CPU </a:t>
            </a:r>
            <a:r>
              <a:rPr lang="tr-TR" dirty="0"/>
              <a:t>arızaları, okunamayan </a:t>
            </a:r>
            <a:r>
              <a:rPr lang="tr-TR" dirty="0" smtClean="0"/>
              <a:t>diskler, </a:t>
            </a:r>
            <a:r>
              <a:rPr lang="tr-TR" dirty="0"/>
              <a:t>program hataları</a:t>
            </a:r>
            <a:r>
              <a:rPr lang="tr-TR" dirty="0" smtClean="0"/>
              <a:t>.</a:t>
            </a:r>
            <a:r>
              <a:rPr lang="tr-TR" dirty="0" smtClean="0">
                <a:sym typeface="Wingdings" panose="05000000000000000000" pitchFamily="2" charset="2"/>
              </a:rPr>
              <a:t></a:t>
            </a:r>
            <a:endParaRPr lang="tr-TR" dirty="0" smtClean="0"/>
          </a:p>
          <a:p>
            <a:r>
              <a:rPr lang="tr-TR" b="1" dirty="0" smtClean="0"/>
              <a:t>İnsan kaynaklı hatalar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hatalı </a:t>
            </a:r>
            <a:r>
              <a:rPr lang="tr-TR" dirty="0"/>
              <a:t>veri girişi, yanlış teyp veya CD-ROM </a:t>
            </a:r>
            <a:r>
              <a:rPr lang="tr-TR" dirty="0" smtClean="0"/>
              <a:t>takma, programın yanlış kullanımı, </a:t>
            </a:r>
            <a:r>
              <a:rPr lang="tr-TR" dirty="0"/>
              <a:t>kayıp disk </a:t>
            </a:r>
            <a:r>
              <a:rPr lang="tr-TR" dirty="0" smtClean="0"/>
              <a:t>veya </a:t>
            </a:r>
            <a:r>
              <a:rPr lang="tr-TR" dirty="0"/>
              <a:t>başka bir hata.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37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Şifrelemenin Temelleri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Düz </a:t>
            </a:r>
            <a:r>
              <a:rPr lang="tr-TR" dirty="0" smtClean="0"/>
              <a:t>metin (</a:t>
            </a:r>
            <a:r>
              <a:rPr lang="tr-TR" i="1" dirty="0" err="1" smtClean="0"/>
              <a:t>plain</a:t>
            </a:r>
            <a:r>
              <a:rPr lang="tr-TR" i="1" dirty="0" smtClean="0"/>
              <a:t> </a:t>
            </a:r>
            <a:r>
              <a:rPr lang="tr-TR" i="1" dirty="0" err="1" smtClean="0"/>
              <a:t>text</a:t>
            </a:r>
            <a:r>
              <a:rPr lang="tr-TR" dirty="0" smtClean="0"/>
              <a:t>) </a:t>
            </a:r>
            <a:r>
              <a:rPr lang="tr-TR" dirty="0"/>
              <a:t>ve şifreli </a:t>
            </a:r>
            <a:r>
              <a:rPr lang="tr-TR" dirty="0" smtClean="0"/>
              <a:t>metin (</a:t>
            </a:r>
            <a:r>
              <a:rPr lang="tr-TR" i="1" dirty="0" err="1" smtClean="0"/>
              <a:t>ciphertext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633798"/>
            <a:ext cx="8553450" cy="3314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118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Gizli Anahtarlı </a:t>
            </a:r>
            <a:r>
              <a:rPr lang="tr-TR" dirty="0" smtClean="0"/>
              <a:t>Şifreleme (</a:t>
            </a:r>
            <a:r>
              <a:rPr lang="tr-TR" dirty="0" err="1"/>
              <a:t>S</a:t>
            </a:r>
            <a:r>
              <a:rPr lang="tr-TR" dirty="0" err="1" smtClean="0"/>
              <a:t>ecret</a:t>
            </a:r>
            <a:r>
              <a:rPr lang="tr-TR" dirty="0" smtClean="0"/>
              <a:t> </a:t>
            </a:r>
            <a:r>
              <a:rPr lang="tr-TR" dirty="0" err="1"/>
              <a:t>K</a:t>
            </a:r>
            <a:r>
              <a:rPr lang="tr-TR" dirty="0" err="1" smtClean="0"/>
              <a:t>ey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Mono alfabetik </a:t>
            </a:r>
            <a:r>
              <a:rPr lang="tr-TR" dirty="0"/>
              <a:t>ikame</a:t>
            </a:r>
            <a:r>
              <a:rPr lang="tr-TR" dirty="0" smtClean="0"/>
              <a:t>:</a:t>
            </a:r>
          </a:p>
          <a:p>
            <a:pPr lvl="1"/>
            <a:r>
              <a:rPr lang="tr-TR" dirty="0"/>
              <a:t>her </a:t>
            </a:r>
            <a:r>
              <a:rPr lang="tr-TR" dirty="0" smtClean="0"/>
              <a:t>karakter, </a:t>
            </a:r>
            <a:r>
              <a:rPr lang="tr-TR" dirty="0"/>
              <a:t>sabit bir başka </a:t>
            </a:r>
            <a:r>
              <a:rPr lang="tr-TR" dirty="0" smtClean="0"/>
              <a:t>karaktere dönüştürülür.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Kaynak metin:  </a:t>
            </a:r>
            <a:r>
              <a:rPr lang="tr-TR" dirty="0">
                <a:latin typeface="Consolas" panose="020B0609020204030204" pitchFamily="49" charset="0"/>
              </a:rPr>
              <a:t>ABCDEFGHIJKLMNOPQRSTUVWXYZ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Hedef metin:   QWERTYUIOPASDFGHJKLZXCVBNM</a:t>
            </a:r>
          </a:p>
          <a:p>
            <a:r>
              <a:rPr lang="tr-TR" dirty="0" smtClean="0"/>
              <a:t>Örnek:</a:t>
            </a:r>
          </a:p>
          <a:p>
            <a:pPr lvl="1"/>
            <a:r>
              <a:rPr lang="tr-TR" dirty="0" smtClean="0">
                <a:latin typeface="Consolas" panose="020B0609020204030204" pitchFamily="49" charset="0"/>
              </a:rPr>
              <a:t>Düz metin:     MERHABA</a:t>
            </a:r>
          </a:p>
          <a:p>
            <a:pPr lvl="1"/>
            <a:r>
              <a:rPr lang="tr-TR" dirty="0" smtClean="0">
                <a:latin typeface="Consolas" panose="020B0609020204030204" pitchFamily="49" charset="0"/>
              </a:rPr>
              <a:t>Şifreli metin: DTKIQWQ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3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 Anahtarlı </a:t>
            </a:r>
            <a:r>
              <a:rPr lang="tr-TR" dirty="0" smtClean="0"/>
              <a:t>Şifreleme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Şifreleme: </a:t>
            </a:r>
          </a:p>
          <a:p>
            <a:pPr lvl="1"/>
            <a:r>
              <a:rPr lang="tr-TR" i="1" dirty="0" smtClean="0"/>
              <a:t>11x11</a:t>
            </a:r>
            <a:r>
              <a:rPr lang="tr-TR" dirty="0" smtClean="0"/>
              <a:t> </a:t>
            </a:r>
            <a:r>
              <a:rPr lang="tr-TR" dirty="0"/>
              <a:t>gibi </a:t>
            </a:r>
            <a:r>
              <a:rPr lang="tr-TR" i="1" dirty="0" smtClean="0"/>
              <a:t>kolay</a:t>
            </a:r>
            <a:r>
              <a:rPr lang="tr-TR" dirty="0" smtClean="0"/>
              <a:t> </a:t>
            </a:r>
            <a:r>
              <a:rPr lang="tr-TR" dirty="0"/>
              <a:t>bir </a:t>
            </a:r>
            <a:r>
              <a:rPr lang="tr-TR" dirty="0" smtClean="0"/>
              <a:t>işlem.</a:t>
            </a:r>
          </a:p>
          <a:p>
            <a:r>
              <a:rPr lang="tr-TR" dirty="0" smtClean="0"/>
              <a:t>Anahtar </a:t>
            </a:r>
            <a:r>
              <a:rPr lang="tr-TR" dirty="0"/>
              <a:t>olmadan şifre </a:t>
            </a:r>
            <a:r>
              <a:rPr lang="tr-TR" dirty="0" smtClean="0"/>
              <a:t>çözme: </a:t>
            </a:r>
          </a:p>
          <a:p>
            <a:pPr lvl="1"/>
            <a:r>
              <a:rPr lang="tr-TR" i="1" dirty="0" smtClean="0"/>
              <a:t>121</a:t>
            </a:r>
            <a:r>
              <a:rPr lang="tr-TR" dirty="0" smtClean="0"/>
              <a:t>'in </a:t>
            </a:r>
            <a:r>
              <a:rPr lang="tr-TR" i="1" dirty="0" smtClean="0"/>
              <a:t>karekökü</a:t>
            </a:r>
            <a:r>
              <a:rPr lang="tr-TR" dirty="0" smtClean="0"/>
              <a:t> gibi </a:t>
            </a:r>
            <a:r>
              <a:rPr lang="tr-TR" i="1" dirty="0"/>
              <a:t>zor </a:t>
            </a:r>
            <a:r>
              <a:rPr lang="tr-TR" dirty="0"/>
              <a:t>bir işlem </a:t>
            </a:r>
            <a:r>
              <a:rPr lang="tr-TR" dirty="0" smtClean="0"/>
              <a:t>gerektirir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2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Dijital </a:t>
            </a:r>
            <a:r>
              <a:rPr lang="tr-TR" dirty="0" smtClean="0"/>
              <a:t>İmzalar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Belge sıkıştırılarak bir değer (</a:t>
            </a:r>
            <a:r>
              <a:rPr lang="tr-TR" i="1" dirty="0" err="1" smtClean="0"/>
              <a:t>hash</a:t>
            </a:r>
            <a:r>
              <a:rPr lang="tr-TR" dirty="0" smtClean="0"/>
              <a:t>) hesaplanır.</a:t>
            </a:r>
          </a:p>
          <a:p>
            <a:r>
              <a:rPr lang="tr-TR" dirty="0" smtClean="0"/>
              <a:t>(</a:t>
            </a:r>
            <a:r>
              <a:rPr lang="tr-TR" dirty="0"/>
              <a:t>b) </a:t>
            </a:r>
            <a:r>
              <a:rPr lang="tr-TR" dirty="0" smtClean="0"/>
              <a:t>Alıcıya belge ile beraber </a:t>
            </a:r>
            <a:r>
              <a:rPr lang="tr-TR" dirty="0" err="1" smtClean="0"/>
              <a:t>hash</a:t>
            </a:r>
            <a:r>
              <a:rPr lang="tr-TR" dirty="0" smtClean="0"/>
              <a:t> değeri gönderilir.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 descr="09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3328963"/>
            <a:ext cx="7696200" cy="2333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47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Koruma Etki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Üç </a:t>
            </a:r>
            <a:r>
              <a:rPr lang="tr-TR" dirty="0" smtClean="0"/>
              <a:t>farklı koruma </a:t>
            </a:r>
            <a:r>
              <a:rPr lang="tr-TR" dirty="0"/>
              <a:t>alanı.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 descr="09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2714399"/>
            <a:ext cx="7705725" cy="221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49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Koruma Etki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koruma </a:t>
            </a:r>
            <a:r>
              <a:rPr lang="tr-TR" dirty="0"/>
              <a:t>matrisi.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 descr="09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739257"/>
            <a:ext cx="8362950" cy="25828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3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Erişim Kontrol Listeleri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 erişimini yönetmek için erişim kontrol </a:t>
            </a:r>
            <a:r>
              <a:rPr lang="tr-TR" dirty="0" smtClean="0"/>
              <a:t>listeleri.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 descr="09-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467000"/>
            <a:ext cx="7639050" cy="33972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3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Erişim Kontrol Listeleri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Access </a:t>
            </a:r>
            <a:r>
              <a:rPr lang="tr-TR" i="1" dirty="0" err="1" smtClean="0"/>
              <a:t>control</a:t>
            </a:r>
            <a:r>
              <a:rPr lang="tr-TR" i="1" dirty="0" smtClean="0"/>
              <a:t> </a:t>
            </a:r>
            <a:r>
              <a:rPr lang="tr-TR" i="1" dirty="0" err="1" smtClean="0"/>
              <a:t>list</a:t>
            </a:r>
            <a:r>
              <a:rPr lang="tr-TR" i="1" dirty="0" smtClean="0"/>
              <a:t>.</a:t>
            </a:r>
          </a:p>
          <a:p>
            <a:r>
              <a:rPr lang="tr-TR" dirty="0" smtClean="0"/>
              <a:t>Sistem </a:t>
            </a:r>
            <a:r>
              <a:rPr lang="tr-TR" dirty="0"/>
              <a:t>kaynaklarına erişim kontrolü sağlayan </a:t>
            </a:r>
            <a:r>
              <a:rPr lang="tr-TR" dirty="0" smtClean="0"/>
              <a:t>güvenlik mekanizması.</a:t>
            </a:r>
          </a:p>
          <a:p>
            <a:r>
              <a:rPr lang="tr-TR" dirty="0" smtClean="0"/>
              <a:t>Hangi kaynağa, kim erişebilir, neler yapabilir?</a:t>
            </a:r>
          </a:p>
          <a:p>
            <a:r>
              <a:rPr lang="tr-TR" dirty="0" smtClean="0"/>
              <a:t>Kısıtlı kaynak </a:t>
            </a:r>
            <a:r>
              <a:rPr lang="tr-TR" dirty="0"/>
              <a:t>sistemlerde performansı </a:t>
            </a:r>
            <a:r>
              <a:rPr lang="tr-TR" dirty="0" smtClean="0"/>
              <a:t>olumsuz etkiler.</a:t>
            </a:r>
          </a:p>
          <a:p>
            <a:r>
              <a:rPr lang="tr-TR" dirty="0" smtClean="0"/>
              <a:t>Büyük </a:t>
            </a:r>
            <a:r>
              <a:rPr lang="tr-TR" dirty="0"/>
              <a:t>ve karmaşık sistemlerde </a:t>
            </a:r>
            <a:r>
              <a:rPr lang="tr-TR" dirty="0" smtClean="0"/>
              <a:t>yönetimi zor.</a:t>
            </a:r>
          </a:p>
          <a:p>
            <a:r>
              <a:rPr lang="tr-TR" dirty="0" smtClean="0"/>
              <a:t>Farklı işletim sistemlerinde,</a:t>
            </a:r>
          </a:p>
          <a:p>
            <a:pPr lvl="1"/>
            <a:r>
              <a:rPr lang="tr-TR" dirty="0" smtClean="0"/>
              <a:t>Uyumluluk </a:t>
            </a:r>
            <a:r>
              <a:rPr lang="tr-TR" dirty="0"/>
              <a:t>ve birlikte çalışabilirlik sorunlarına yol </a:t>
            </a:r>
            <a:r>
              <a:rPr lang="tr-TR" dirty="0" smtClean="0"/>
              <a:t>açabilir.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1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Erişim Kontrol Listeleri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dirty="0"/>
              <a:t>User Group 1: Read-only access to file A, full access to file B.</a:t>
            </a:r>
          </a:p>
          <a:p>
            <a:r>
              <a:rPr lang="en-US" dirty="0"/>
              <a:t>User Group 2: Write access to file A, no access to file B.</a:t>
            </a:r>
          </a:p>
          <a:p>
            <a:r>
              <a:rPr lang="en-US" dirty="0"/>
              <a:t>User Group 3: Execute access to file C, read access to file D.</a:t>
            </a:r>
          </a:p>
          <a:p>
            <a:r>
              <a:rPr lang="en-US" dirty="0"/>
              <a:t>User Group 4: No access to files A, B, C, and D.</a:t>
            </a:r>
          </a:p>
          <a:p>
            <a:r>
              <a:rPr lang="en-US" dirty="0"/>
              <a:t>Admin Group: Full access to all files.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5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Yetenek Listesi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Her </a:t>
            </a:r>
            <a:r>
              <a:rPr lang="tr-TR" dirty="0"/>
              <a:t>sürecin bir </a:t>
            </a:r>
            <a:r>
              <a:rPr lang="tr-TR" dirty="0" smtClean="0"/>
              <a:t>yetenek (</a:t>
            </a:r>
            <a:r>
              <a:rPr lang="tr-TR" i="1" dirty="0" err="1" smtClean="0"/>
              <a:t>capability</a:t>
            </a:r>
            <a:r>
              <a:rPr lang="tr-TR" dirty="0" smtClean="0"/>
              <a:t>) </a:t>
            </a:r>
            <a:r>
              <a:rPr lang="tr-TR" dirty="0"/>
              <a:t>listesi </a:t>
            </a:r>
            <a:r>
              <a:rPr lang="tr-TR" dirty="0" smtClean="0"/>
              <a:t>var.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 descr="09-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37" y="2546350"/>
            <a:ext cx="6969125" cy="3089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15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Yetenek Listesi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Şifreli </a:t>
            </a:r>
            <a:r>
              <a:rPr lang="nn-NO" dirty="0" smtClean="0"/>
              <a:t>olarak </a:t>
            </a:r>
            <a:r>
              <a:rPr lang="nn-NO" dirty="0"/>
              <a:t>korunan bir yetenek</a:t>
            </a:r>
            <a:r>
              <a:rPr lang="nn-NO" dirty="0" smtClean="0"/>
              <a:t>.</a:t>
            </a:r>
            <a:endParaRPr lang="tr-TR" dirty="0" smtClean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832075"/>
              </p:ext>
            </p:extLst>
          </p:nvPr>
        </p:nvGraphicFramePr>
        <p:xfrm>
          <a:off x="960845" y="2837475"/>
          <a:ext cx="924851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000"/>
                <a:gridCol w="2300515"/>
                <a:gridCol w="2700000"/>
                <a:gridCol w="3024000"/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Sunucu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Nesne - Kaynak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Haklar - Yetenekler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f(</a:t>
                      </a:r>
                      <a:r>
                        <a:rPr lang="tr-TR" sz="2400" dirty="0" err="1" smtClean="0"/>
                        <a:t>nesne,haklar,kontrol</a:t>
                      </a:r>
                      <a:r>
                        <a:rPr lang="tr-TR" sz="2400" dirty="0" smtClean="0"/>
                        <a:t>)</a:t>
                      </a:r>
                      <a:endParaRPr lang="tr-TR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52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Yetenek Listesi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Yetenek kopyalama</a:t>
            </a:r>
            <a:r>
              <a:rPr lang="tr-TR" dirty="0" smtClean="0"/>
              <a:t>: 	</a:t>
            </a:r>
          </a:p>
          <a:p>
            <a:pPr lvl="1"/>
            <a:r>
              <a:rPr lang="tr-TR" dirty="0" smtClean="0"/>
              <a:t>aynı </a:t>
            </a:r>
            <a:r>
              <a:rPr lang="tr-TR" dirty="0"/>
              <a:t>nesne için yeni bir yetenek </a:t>
            </a:r>
            <a:r>
              <a:rPr lang="tr-TR" dirty="0" smtClean="0"/>
              <a:t>oluşturur.</a:t>
            </a:r>
          </a:p>
          <a:p>
            <a:r>
              <a:rPr lang="tr-TR" b="1" dirty="0" smtClean="0"/>
              <a:t>Nesne kopyalama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yeni bir yeteneğe </a:t>
            </a:r>
            <a:r>
              <a:rPr lang="tr-TR" dirty="0"/>
              <a:t>sahip </a:t>
            </a:r>
            <a:r>
              <a:rPr lang="tr-TR" dirty="0" smtClean="0"/>
              <a:t>yinelenen (</a:t>
            </a:r>
            <a:r>
              <a:rPr lang="tr-TR" i="1" dirty="0" err="1" smtClean="0"/>
              <a:t>duplicate</a:t>
            </a:r>
            <a:r>
              <a:rPr lang="tr-TR" dirty="0" smtClean="0"/>
              <a:t>) bir nesne oluşturur.</a:t>
            </a:r>
          </a:p>
          <a:p>
            <a:r>
              <a:rPr lang="tr-TR" b="1" dirty="0" smtClean="0"/>
              <a:t>Yetenek kaldırma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yetenek </a:t>
            </a:r>
            <a:r>
              <a:rPr lang="tr-TR" dirty="0"/>
              <a:t>listesinden bir </a:t>
            </a:r>
            <a:r>
              <a:rPr lang="tr-TR" dirty="0" smtClean="0"/>
              <a:t>öğeyi siler; </a:t>
            </a:r>
            <a:r>
              <a:rPr lang="tr-TR" dirty="0"/>
              <a:t>nesne etkilenmez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Nesneyi </a:t>
            </a:r>
            <a:r>
              <a:rPr lang="tr-TR" b="1" dirty="0"/>
              <a:t>y</a:t>
            </a:r>
            <a:r>
              <a:rPr lang="tr-TR" b="1" dirty="0" smtClean="0"/>
              <a:t>ok </a:t>
            </a:r>
            <a:r>
              <a:rPr lang="tr-TR" b="1" dirty="0"/>
              <a:t>e</a:t>
            </a:r>
            <a:r>
              <a:rPr lang="tr-TR" b="1" dirty="0" smtClean="0"/>
              <a:t>tme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bir nesne </a:t>
            </a:r>
            <a:r>
              <a:rPr lang="tr-TR" dirty="0"/>
              <a:t>ve bir yeteneği kalıcı olarak </a:t>
            </a:r>
            <a:r>
              <a:rPr lang="tr-TR" dirty="0" smtClean="0"/>
              <a:t>siler.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1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Güvenilir Bilgi </a:t>
            </a:r>
            <a:r>
              <a:rPr lang="tr-TR" dirty="0" smtClean="0"/>
              <a:t>İşleme </a:t>
            </a:r>
            <a:r>
              <a:rPr lang="tr-TR" dirty="0"/>
              <a:t>Tabanı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Güvenlik kontrolü için bir </a:t>
            </a:r>
            <a:r>
              <a:rPr lang="tr-TR" dirty="0"/>
              <a:t>referans </a:t>
            </a:r>
            <a:r>
              <a:rPr lang="tr-TR" dirty="0" smtClean="0"/>
              <a:t>gözetleyici.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 descr="09-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12" y="2532063"/>
            <a:ext cx="6734175" cy="3117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09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 Sistemlerin Biçimsel Modelleri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Yetkili bir </a:t>
            </a:r>
            <a:r>
              <a:rPr lang="tr-TR" dirty="0" smtClean="0"/>
              <a:t>durum. </a:t>
            </a:r>
            <a:r>
              <a:rPr lang="tr-TR" dirty="0"/>
              <a:t>(b) Yetkisiz bir durum.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 descr="09-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2714625"/>
            <a:ext cx="8178800" cy="2752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Bell</a:t>
            </a:r>
            <a:r>
              <a:rPr lang="tr-TR" dirty="0"/>
              <a:t>-La </a:t>
            </a:r>
            <a:r>
              <a:rPr lang="tr-TR" dirty="0" err="1"/>
              <a:t>Padula</a:t>
            </a:r>
            <a:r>
              <a:rPr lang="tr-TR" dirty="0"/>
              <a:t>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Basit </a:t>
            </a:r>
            <a:r>
              <a:rPr lang="tr-TR" b="1" dirty="0"/>
              <a:t>güvenlik özelliği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k</a:t>
            </a:r>
            <a:r>
              <a:rPr lang="tr-TR" dirty="0" smtClean="0"/>
              <a:t> </a:t>
            </a:r>
            <a:r>
              <a:rPr lang="tr-TR" dirty="0"/>
              <a:t>güvenlik düzeyinde çalışan bir </a:t>
            </a:r>
            <a:r>
              <a:rPr lang="tr-TR" dirty="0" smtClean="0"/>
              <a:t>süreç, </a:t>
            </a:r>
          </a:p>
          <a:p>
            <a:pPr lvl="1"/>
            <a:r>
              <a:rPr lang="tr-TR" dirty="0" smtClean="0"/>
              <a:t>yalnızca </a:t>
            </a:r>
            <a:r>
              <a:rPr lang="tr-TR" dirty="0"/>
              <a:t>kendi düzeyindeki veya altındaki nesneleri okuyabilir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* </a:t>
            </a:r>
            <a:r>
              <a:rPr lang="tr-TR" b="1" dirty="0"/>
              <a:t>özelliği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k</a:t>
            </a:r>
            <a:r>
              <a:rPr lang="tr-TR" dirty="0" smtClean="0"/>
              <a:t> </a:t>
            </a:r>
            <a:r>
              <a:rPr lang="tr-TR" dirty="0"/>
              <a:t>güvenlik düzeyinde çalışan bir </a:t>
            </a:r>
            <a:r>
              <a:rPr lang="tr-TR" dirty="0" smtClean="0"/>
              <a:t>süreç, </a:t>
            </a:r>
          </a:p>
          <a:p>
            <a:pPr lvl="1"/>
            <a:r>
              <a:rPr lang="tr-TR" dirty="0" smtClean="0"/>
              <a:t>yalnızca </a:t>
            </a:r>
            <a:r>
              <a:rPr lang="tr-TR" dirty="0"/>
              <a:t>kendi düzeyinde veya daha yüksek olan nesneleri yazabilir.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Bell</a:t>
            </a:r>
            <a:r>
              <a:rPr lang="tr-TR" dirty="0"/>
              <a:t>-La </a:t>
            </a:r>
            <a:r>
              <a:rPr lang="tr-TR" dirty="0" err="1"/>
              <a:t>Padula</a:t>
            </a:r>
            <a:r>
              <a:rPr lang="tr-TR" dirty="0"/>
              <a:t>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Çok </a:t>
            </a:r>
            <a:r>
              <a:rPr lang="tr-TR" dirty="0"/>
              <a:t>düzeyli güvenlik modeli.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 descr="09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438" y="2587675"/>
            <a:ext cx="6651625" cy="3552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6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Bell</a:t>
            </a:r>
            <a:r>
              <a:rPr lang="tr-TR" dirty="0"/>
              <a:t>-La </a:t>
            </a:r>
            <a:r>
              <a:rPr lang="tr-TR" dirty="0" err="1"/>
              <a:t>Padula</a:t>
            </a:r>
            <a:r>
              <a:rPr lang="tr-TR" dirty="0"/>
              <a:t>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Gizli </a:t>
            </a:r>
            <a:r>
              <a:rPr lang="tr-TR" dirty="0"/>
              <a:t>bilgilerin güvenliğini sağlamak </a:t>
            </a:r>
            <a:r>
              <a:rPr lang="tr-TR" dirty="0" smtClean="0"/>
              <a:t>amacıyla geliştirildi.</a:t>
            </a:r>
          </a:p>
          <a:p>
            <a:r>
              <a:rPr lang="tr-TR" dirty="0" smtClean="0"/>
              <a:t>Gizliliğe </a:t>
            </a:r>
            <a:r>
              <a:rPr lang="tr-TR" dirty="0"/>
              <a:t>odaklanır ve verilere yetkisiz erişime karşı koruma </a:t>
            </a:r>
            <a:r>
              <a:rPr lang="tr-TR" dirty="0" smtClean="0"/>
              <a:t>sağlar.</a:t>
            </a:r>
          </a:p>
          <a:p>
            <a:r>
              <a:rPr lang="tr-TR" dirty="0" smtClean="0"/>
              <a:t>Süreç ve </a:t>
            </a:r>
            <a:r>
              <a:rPr lang="tr-TR" dirty="0"/>
              <a:t>nesnelerin </a:t>
            </a:r>
            <a:r>
              <a:rPr lang="tr-TR" dirty="0" smtClean="0"/>
              <a:t>düzeylerine </a:t>
            </a:r>
            <a:r>
              <a:rPr lang="tr-TR" dirty="0"/>
              <a:t>göre erişim </a:t>
            </a:r>
            <a:r>
              <a:rPr lang="tr-TR" dirty="0" smtClean="0"/>
              <a:t>kontrolü tanımlar.</a:t>
            </a:r>
          </a:p>
          <a:p>
            <a:r>
              <a:rPr lang="tr-TR" dirty="0" smtClean="0"/>
              <a:t>Güvenliği </a:t>
            </a:r>
            <a:r>
              <a:rPr lang="tr-TR" dirty="0"/>
              <a:t>sağlamak için </a:t>
            </a:r>
            <a:r>
              <a:rPr lang="tr-TR" i="1" dirty="0" smtClean="0"/>
              <a:t>okuma yok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i="1" dirty="0" smtClean="0"/>
              <a:t>yazma yok</a:t>
            </a:r>
            <a:r>
              <a:rPr lang="tr-TR" dirty="0" smtClean="0"/>
              <a:t> </a:t>
            </a:r>
            <a:r>
              <a:rPr lang="tr-TR" dirty="0"/>
              <a:t>ilkesini </a:t>
            </a:r>
            <a:r>
              <a:rPr lang="tr-TR" dirty="0" smtClean="0"/>
              <a:t>kullanır.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7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Biba</a:t>
            </a:r>
            <a:r>
              <a:rPr lang="tr-TR" dirty="0" smtClean="0"/>
              <a:t> Modeli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Basit </a:t>
            </a:r>
            <a:r>
              <a:rPr lang="tr-TR" b="1" dirty="0"/>
              <a:t>bütünlük ilkesi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k</a:t>
            </a:r>
            <a:r>
              <a:rPr lang="tr-TR" dirty="0" smtClean="0"/>
              <a:t> </a:t>
            </a:r>
            <a:r>
              <a:rPr lang="tr-TR" dirty="0"/>
              <a:t>güvenlik düzeyinde çalışan bir </a:t>
            </a:r>
            <a:r>
              <a:rPr lang="tr-TR" dirty="0" smtClean="0"/>
              <a:t>süreç, </a:t>
            </a:r>
          </a:p>
          <a:p>
            <a:pPr lvl="1"/>
            <a:r>
              <a:rPr lang="tr-TR" dirty="0" smtClean="0"/>
              <a:t>yalnızca </a:t>
            </a:r>
            <a:r>
              <a:rPr lang="tr-TR" dirty="0"/>
              <a:t>kendi düzeyindeki veya altındaki nesneleri </a:t>
            </a:r>
            <a:r>
              <a:rPr lang="tr-TR" dirty="0" smtClean="0"/>
              <a:t>yazabilir.</a:t>
            </a:r>
          </a:p>
          <a:p>
            <a:r>
              <a:rPr lang="tr-TR" b="1" dirty="0" smtClean="0"/>
              <a:t>Bütünlük </a:t>
            </a:r>
            <a:r>
              <a:rPr lang="tr-TR" b="1" dirty="0"/>
              <a:t>* özelliği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k</a:t>
            </a:r>
            <a:r>
              <a:rPr lang="tr-TR" dirty="0" smtClean="0"/>
              <a:t> </a:t>
            </a:r>
            <a:r>
              <a:rPr lang="tr-TR" dirty="0"/>
              <a:t>güvenlik düzeyinde çalışan bir </a:t>
            </a:r>
            <a:r>
              <a:rPr lang="tr-TR" dirty="0" smtClean="0"/>
              <a:t>süreç, </a:t>
            </a:r>
          </a:p>
          <a:p>
            <a:pPr lvl="1"/>
            <a:r>
              <a:rPr lang="tr-TR" dirty="0" smtClean="0"/>
              <a:t>yalnızca </a:t>
            </a:r>
            <a:r>
              <a:rPr lang="tr-TR" dirty="0"/>
              <a:t>kendi </a:t>
            </a:r>
            <a:r>
              <a:rPr lang="tr-TR" dirty="0" smtClean="0"/>
              <a:t>düzeyindeki </a:t>
            </a:r>
            <a:r>
              <a:rPr lang="tr-TR" dirty="0"/>
              <a:t>veya daha yüksek </a:t>
            </a:r>
            <a:r>
              <a:rPr lang="tr-TR" dirty="0" smtClean="0"/>
              <a:t>olan nesneleri okuyabilir.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3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Biba</a:t>
            </a:r>
            <a:r>
              <a:rPr lang="tr-TR" dirty="0" smtClean="0"/>
              <a:t> Modeli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Verileri yetkisiz </a:t>
            </a:r>
            <a:r>
              <a:rPr lang="tr-TR" dirty="0"/>
              <a:t>değişikliklere karşı koruma sağlamak için </a:t>
            </a:r>
            <a:r>
              <a:rPr lang="tr-TR" dirty="0" smtClean="0"/>
              <a:t>geliştirildi.</a:t>
            </a:r>
          </a:p>
          <a:p>
            <a:r>
              <a:rPr lang="tr-TR" dirty="0" smtClean="0"/>
              <a:t>Bütünlüğe </a:t>
            </a:r>
            <a:r>
              <a:rPr lang="tr-TR" dirty="0"/>
              <a:t>odaklanır ve </a:t>
            </a:r>
            <a:r>
              <a:rPr lang="tr-TR" dirty="0" smtClean="0"/>
              <a:t>veriler üzerinde yetkisiz </a:t>
            </a:r>
            <a:r>
              <a:rPr lang="tr-TR" dirty="0"/>
              <a:t>değişiklikleri </a:t>
            </a:r>
            <a:r>
              <a:rPr lang="tr-TR" dirty="0" smtClean="0"/>
              <a:t>önler.</a:t>
            </a:r>
          </a:p>
          <a:p>
            <a:r>
              <a:rPr lang="tr-TR" dirty="0" smtClean="0"/>
              <a:t>Süreç </a:t>
            </a:r>
            <a:r>
              <a:rPr lang="tr-TR" dirty="0"/>
              <a:t>ve nesnelerin bütünlük düzeylerine göre erişim </a:t>
            </a:r>
            <a:r>
              <a:rPr lang="tr-TR" dirty="0" smtClean="0"/>
              <a:t>kontrolü tanımlar.</a:t>
            </a:r>
          </a:p>
          <a:p>
            <a:r>
              <a:rPr lang="tr-TR" dirty="0" smtClean="0"/>
              <a:t>Güvenliği </a:t>
            </a:r>
            <a:r>
              <a:rPr lang="tr-TR" dirty="0"/>
              <a:t>sağlamak için </a:t>
            </a:r>
            <a:r>
              <a:rPr lang="tr-TR" i="1" dirty="0" smtClean="0"/>
              <a:t>okuma yok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i="1" dirty="0" smtClean="0"/>
              <a:t>yazma yok</a:t>
            </a:r>
            <a:r>
              <a:rPr lang="tr-TR" dirty="0" smtClean="0"/>
              <a:t> </a:t>
            </a:r>
            <a:r>
              <a:rPr lang="tr-TR" dirty="0"/>
              <a:t>ilkesini </a:t>
            </a:r>
            <a:r>
              <a:rPr lang="tr-TR" dirty="0" smtClean="0"/>
              <a:t>kullanır.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7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Gizli Kanal (</a:t>
            </a:r>
            <a:r>
              <a:rPr lang="tr-TR" dirty="0" err="1" smtClean="0"/>
              <a:t>Covert</a:t>
            </a:r>
            <a:r>
              <a:rPr lang="tr-TR" dirty="0" smtClean="0"/>
              <a:t> Channel)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Verilerin </a:t>
            </a:r>
            <a:r>
              <a:rPr lang="tr-TR" dirty="0"/>
              <a:t>gizliliğini ve/veya bütünlüğünü tehlikeye </a:t>
            </a:r>
            <a:r>
              <a:rPr lang="tr-TR" dirty="0" smtClean="0"/>
              <a:t>atarak,</a:t>
            </a:r>
            <a:endParaRPr lang="tr-TR" dirty="0"/>
          </a:p>
          <a:p>
            <a:r>
              <a:rPr lang="tr-TR" dirty="0" smtClean="0"/>
              <a:t>Güvenlik mekanizmaları </a:t>
            </a:r>
            <a:r>
              <a:rPr lang="tr-TR" dirty="0"/>
              <a:t>ve ilkelerini </a:t>
            </a:r>
            <a:r>
              <a:rPr lang="tr-TR" dirty="0" smtClean="0"/>
              <a:t>atlayarak, </a:t>
            </a:r>
          </a:p>
          <a:p>
            <a:r>
              <a:rPr lang="tr-TR" dirty="0" smtClean="0"/>
              <a:t>Süreçler arasında bilgi iletir.</a:t>
            </a:r>
          </a:p>
          <a:p>
            <a:r>
              <a:rPr lang="tr-TR" b="1" dirty="0" smtClean="0"/>
              <a:t>Saklama gizli </a:t>
            </a:r>
            <a:r>
              <a:rPr lang="tr-TR" b="1" dirty="0"/>
              <a:t>kanalı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Veriler</a:t>
            </a:r>
            <a:r>
              <a:rPr lang="tr-TR" dirty="0"/>
              <a:t>, bilgilerin </a:t>
            </a:r>
            <a:r>
              <a:rPr lang="tr-TR" dirty="0" smtClean="0"/>
              <a:t>saklanmasındaki </a:t>
            </a:r>
            <a:r>
              <a:rPr lang="tr-TR" dirty="0"/>
              <a:t>değişiklikler yoluyla iletilir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Zamanlama </a:t>
            </a:r>
            <a:r>
              <a:rPr lang="tr-TR" b="1" dirty="0"/>
              <a:t>gizli kanalı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Veriler</a:t>
            </a:r>
            <a:r>
              <a:rPr lang="tr-TR" dirty="0"/>
              <a:t>, olayların zamanlamasındaki değişiklikler yoluyla iletilir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Kaynak gizli kanalı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Veriler</a:t>
            </a:r>
            <a:r>
              <a:rPr lang="tr-TR" dirty="0"/>
              <a:t>, sistem kaynaklarının kullanımındaki değişiklikler yoluyla iletilir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5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Gizli Kanallar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İstemci, sunucu ve </a:t>
            </a:r>
            <a:r>
              <a:rPr lang="tr-TR" dirty="0" smtClean="0"/>
              <a:t>işbirlikçi süreç. </a:t>
            </a:r>
          </a:p>
          <a:p>
            <a:r>
              <a:rPr lang="tr-TR" dirty="0" smtClean="0"/>
              <a:t>(</a:t>
            </a:r>
            <a:r>
              <a:rPr lang="tr-TR" dirty="0"/>
              <a:t>b) </a:t>
            </a:r>
            <a:r>
              <a:rPr lang="tr-TR" dirty="0" err="1"/>
              <a:t>Kapsüllenmiş</a:t>
            </a:r>
            <a:r>
              <a:rPr lang="tr-TR" dirty="0"/>
              <a:t> sunucu, gizli </a:t>
            </a:r>
            <a:r>
              <a:rPr lang="tr-TR" dirty="0" smtClean="0"/>
              <a:t>kanal ile işbirlikçi sürece </a:t>
            </a:r>
            <a:r>
              <a:rPr lang="tr-TR" dirty="0"/>
              <a:t>sızabilir.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 descr="09-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7" y="3019290"/>
            <a:ext cx="7604125" cy="2752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09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Gizli Kanallar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 </a:t>
            </a:r>
            <a:r>
              <a:rPr lang="tr-TR" dirty="0" smtClean="0"/>
              <a:t>kilitleme işlemi </a:t>
            </a:r>
            <a:r>
              <a:rPr lang="tr-TR" dirty="0"/>
              <a:t>kullanan gizli bir kanal.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6" descr="09-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2640013"/>
            <a:ext cx="8197850" cy="2901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88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Gizli Kanallar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Üç </a:t>
            </a:r>
            <a:r>
              <a:rPr lang="tr-TR" dirty="0" smtClean="0"/>
              <a:t>zebra, bir </a:t>
            </a:r>
            <a:r>
              <a:rPr lang="tr-TR" dirty="0"/>
              <a:t>ağaç. </a:t>
            </a:r>
            <a:endParaRPr lang="tr-TR" dirty="0" smtClean="0"/>
          </a:p>
          <a:p>
            <a:r>
              <a:rPr lang="tr-TR" dirty="0" smtClean="0"/>
              <a:t>(</a:t>
            </a:r>
            <a:r>
              <a:rPr lang="tr-TR" dirty="0"/>
              <a:t>b) Üç zebra, bir ağaç ve </a:t>
            </a:r>
            <a:r>
              <a:rPr lang="tr-TR" dirty="0" smtClean="0"/>
              <a:t>görünmeyen bir metin.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2913856"/>
            <a:ext cx="8013700" cy="3375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745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Kimlik </a:t>
            </a:r>
            <a:r>
              <a:rPr lang="tr-TR" dirty="0"/>
              <a:t>Doğrulama (</a:t>
            </a:r>
            <a:r>
              <a:rPr lang="tr-TR" dirty="0" err="1"/>
              <a:t>Authentication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Kullanıcı </a:t>
            </a:r>
            <a:r>
              <a:rPr lang="tr-TR" dirty="0"/>
              <a:t>kimliğini </a:t>
            </a:r>
            <a:r>
              <a:rPr lang="tr-TR" dirty="0" smtClean="0"/>
              <a:t>doğrulamak için:</a:t>
            </a:r>
          </a:p>
          <a:p>
            <a:pPr lvl="1"/>
            <a:r>
              <a:rPr lang="tr-TR" dirty="0" smtClean="0"/>
              <a:t>Kullanıcının </a:t>
            </a:r>
            <a:r>
              <a:rPr lang="tr-TR" dirty="0"/>
              <a:t>bildiği bir şey</a:t>
            </a:r>
            <a:r>
              <a:rPr lang="tr-TR" dirty="0" smtClean="0"/>
              <a:t>. (</a:t>
            </a:r>
            <a:r>
              <a:rPr lang="tr-TR" i="1" dirty="0" smtClean="0"/>
              <a:t>parola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Kullanıcının </a:t>
            </a:r>
            <a:r>
              <a:rPr lang="tr-TR" dirty="0"/>
              <a:t>sahip olduğu bir şey</a:t>
            </a:r>
            <a:r>
              <a:rPr lang="tr-TR" dirty="0" smtClean="0"/>
              <a:t>. (</a:t>
            </a:r>
            <a:r>
              <a:rPr lang="tr-TR" i="1" dirty="0" smtClean="0"/>
              <a:t>parmak izi, göz retina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Kullanıcının kim olduğunu belirten </a:t>
            </a:r>
            <a:r>
              <a:rPr lang="tr-TR" dirty="0"/>
              <a:t>bir şey</a:t>
            </a:r>
            <a:r>
              <a:rPr lang="tr-TR" dirty="0" smtClean="0"/>
              <a:t>. (</a:t>
            </a:r>
            <a:r>
              <a:rPr lang="tr-TR" i="1" dirty="0" smtClean="0"/>
              <a:t>kimlik kartı</a:t>
            </a:r>
            <a:r>
              <a:rPr lang="tr-TR" dirty="0" smtClean="0"/>
              <a:t>)</a:t>
            </a:r>
          </a:p>
          <a:p>
            <a:pPr lvl="1"/>
            <a:endParaRPr lang="tr-TR" dirty="0"/>
          </a:p>
          <a:p>
            <a:r>
              <a:rPr lang="tr-TR" dirty="0" err="1" smtClean="0"/>
              <a:t>something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user</a:t>
            </a:r>
            <a:r>
              <a:rPr lang="tr-TR" dirty="0" smtClean="0"/>
              <a:t> </a:t>
            </a:r>
            <a:r>
              <a:rPr lang="tr-TR" i="1" dirty="0" err="1" smtClean="0"/>
              <a:t>knows</a:t>
            </a:r>
            <a:r>
              <a:rPr lang="tr-TR" dirty="0" smtClean="0"/>
              <a:t>.</a:t>
            </a:r>
          </a:p>
          <a:p>
            <a:r>
              <a:rPr lang="tr-TR" dirty="0" err="1"/>
              <a:t>something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i="1" dirty="0" smtClean="0"/>
              <a:t>has</a:t>
            </a:r>
            <a:r>
              <a:rPr lang="tr-TR" dirty="0" smtClean="0"/>
              <a:t>.</a:t>
            </a:r>
          </a:p>
          <a:p>
            <a:r>
              <a:rPr lang="tr-TR" dirty="0" err="1"/>
              <a:t>something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i="1" dirty="0" smtClean="0"/>
              <a:t>is</a:t>
            </a:r>
            <a:r>
              <a:rPr lang="tr-TR" dirty="0" smtClean="0"/>
              <a:t>.</a:t>
            </a:r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Parola Kullanarak Kimlik Doğrulama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Başarılı bir oturum açma. </a:t>
            </a:r>
            <a:endParaRPr lang="tr-TR" dirty="0" smtClean="0"/>
          </a:p>
          <a:p>
            <a:r>
              <a:rPr lang="tr-TR" dirty="0" smtClean="0"/>
              <a:t>(</a:t>
            </a:r>
            <a:r>
              <a:rPr lang="tr-TR" dirty="0"/>
              <a:t>b) Ad girildikten sonra </a:t>
            </a:r>
            <a:r>
              <a:rPr lang="tr-TR" i="1" dirty="0" smtClean="0"/>
              <a:t>geçersiz kullanıcı adı</a:t>
            </a:r>
            <a:r>
              <a:rPr lang="tr-TR" dirty="0" smtClean="0"/>
              <a:t> ile başarısız oturum açma. </a:t>
            </a:r>
          </a:p>
          <a:p>
            <a:r>
              <a:rPr lang="tr-TR" dirty="0" smtClean="0"/>
              <a:t>(</a:t>
            </a:r>
            <a:r>
              <a:rPr lang="tr-TR" dirty="0"/>
              <a:t>c) Ad ve parola girildikten sonra </a:t>
            </a:r>
            <a:r>
              <a:rPr lang="tr-TR" i="1" dirty="0" smtClean="0"/>
              <a:t>yanlış şifre</a:t>
            </a:r>
            <a:r>
              <a:rPr lang="tr-TR" dirty="0" smtClean="0"/>
              <a:t> ile </a:t>
            </a:r>
            <a:r>
              <a:rPr lang="tr-TR" dirty="0"/>
              <a:t>başarısız oturum açma.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7" name="Picture 6" descr="09-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3917431"/>
            <a:ext cx="8153400" cy="16541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88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Bilgisayar Korsanları Nasıl </a:t>
            </a:r>
            <a:r>
              <a:rPr lang="tr-TR" dirty="0"/>
              <a:t>İçeri Girer?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6" descr="09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2" y="1825625"/>
            <a:ext cx="6975475" cy="4108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77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Parola Güvenliği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Şifreli parolaların </a:t>
            </a:r>
            <a:r>
              <a:rPr lang="tr-TR" dirty="0" smtClean="0"/>
              <a:t>hesaplanmasını (</a:t>
            </a:r>
            <a:r>
              <a:rPr lang="tr-TR" i="1" dirty="0" err="1" smtClean="0"/>
              <a:t>precomputation</a:t>
            </a:r>
            <a:r>
              <a:rPr lang="tr-TR" dirty="0" smtClean="0"/>
              <a:t>) önlemek (</a:t>
            </a:r>
            <a:r>
              <a:rPr lang="tr-TR" i="1" dirty="0" err="1" smtClean="0"/>
              <a:t>defeat</a:t>
            </a:r>
            <a:r>
              <a:rPr lang="tr-TR" dirty="0" smtClean="0"/>
              <a:t>) için tuz (</a:t>
            </a:r>
            <a:r>
              <a:rPr lang="tr-TR" i="1" dirty="0" smtClean="0"/>
              <a:t>salt</a:t>
            </a:r>
            <a:r>
              <a:rPr lang="tr-TR" dirty="0" smtClean="0"/>
              <a:t>) kullanılır. Tuz aynı şifrelerin üretilmesini önler.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6" descr="09-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698" y="3174687"/>
            <a:ext cx="5624604" cy="28427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99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Sorgu-Yanıt Kimlik Doğrulaması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Sorular, kullanıcının </a:t>
            </a:r>
            <a:r>
              <a:rPr lang="tr-TR" dirty="0" smtClean="0"/>
              <a:t>yazmasını gerektirmeyecek </a:t>
            </a:r>
            <a:r>
              <a:rPr lang="tr-TR" dirty="0"/>
              <a:t>şekilde </a:t>
            </a:r>
            <a:r>
              <a:rPr lang="tr-TR" dirty="0" smtClean="0"/>
              <a:t>seçilmelidir.</a:t>
            </a:r>
          </a:p>
          <a:p>
            <a:r>
              <a:rPr lang="tr-TR" dirty="0" smtClean="0"/>
              <a:t>Örnekler:</a:t>
            </a:r>
          </a:p>
          <a:p>
            <a:pPr lvl="1"/>
            <a:r>
              <a:rPr lang="tr-TR" dirty="0" smtClean="0"/>
              <a:t>Kız kardeşinin adı?</a:t>
            </a:r>
          </a:p>
          <a:p>
            <a:pPr lvl="1"/>
            <a:r>
              <a:rPr lang="tr-TR" dirty="0" smtClean="0"/>
              <a:t>İlkokulunuz </a:t>
            </a:r>
            <a:r>
              <a:rPr lang="tr-TR" dirty="0"/>
              <a:t>hangi sokaktaydı</a:t>
            </a:r>
            <a:r>
              <a:rPr lang="tr-TR" dirty="0" smtClean="0"/>
              <a:t>?</a:t>
            </a:r>
          </a:p>
          <a:p>
            <a:pPr lvl="1"/>
            <a:r>
              <a:rPr lang="tr-TR" dirty="0" smtClean="0"/>
              <a:t>İlk evcil hayvanınız ne?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Fiziksel Nesne Kullanarak Kimlik Doğrulama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Kimlik doğrulama için akıllı kart kullanımı.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7" name="Picture 6" descr="09-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0" y="2497162"/>
            <a:ext cx="7366000" cy="3336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11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Biyometri</a:t>
            </a:r>
            <a:r>
              <a:rPr lang="tr-TR" dirty="0"/>
              <a:t> Kullanarak Kimlik Doğrulama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Parmak uzunluğunu ölçmek için bir cihaz.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6" descr="09-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943" y="2500156"/>
            <a:ext cx="3694113" cy="36403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18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Tuzak Kapısı (Trap </a:t>
            </a:r>
            <a:r>
              <a:rPr lang="tr-TR" dirty="0" err="1" smtClean="0"/>
              <a:t>Doors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dirty="0"/>
              <a:t>(a) Normal </a:t>
            </a:r>
            <a:r>
              <a:rPr lang="en-US" dirty="0" err="1"/>
              <a:t>kod</a:t>
            </a:r>
            <a:r>
              <a:rPr lang="en-US" dirty="0"/>
              <a:t>. (b) </a:t>
            </a:r>
            <a:r>
              <a:rPr lang="tr-TR" dirty="0" smtClean="0"/>
              <a:t>Tuzak kapılı</a:t>
            </a:r>
            <a:r>
              <a:rPr lang="en-US" dirty="0" smtClean="0"/>
              <a:t> </a:t>
            </a:r>
            <a:r>
              <a:rPr lang="en-US" dirty="0" err="1"/>
              <a:t>kod</a:t>
            </a:r>
            <a:r>
              <a:rPr lang="en-US" dirty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2546375"/>
            <a:ext cx="82391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8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 Sayfası Kandırma Saldırısı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Login</a:t>
            </a:r>
            <a:r>
              <a:rPr lang="tr-TR" i="1" dirty="0"/>
              <a:t> </a:t>
            </a:r>
            <a:r>
              <a:rPr lang="tr-TR" i="1" dirty="0" err="1" smtClean="0"/>
              <a:t>Spoofing</a:t>
            </a:r>
            <a:r>
              <a:rPr lang="tr-TR" i="1" dirty="0" smtClean="0"/>
              <a:t>.</a:t>
            </a:r>
            <a:endParaRPr lang="tr-TR" i="1" dirty="0"/>
          </a:p>
          <a:p>
            <a:r>
              <a:rPr lang="tr-TR" dirty="0" smtClean="0"/>
              <a:t>(</a:t>
            </a:r>
            <a:r>
              <a:rPr lang="tr-TR" dirty="0"/>
              <a:t>a) Doğru oturum açma ekranı. (b) Sahte oturum açma ekranı.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6" descr="09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2" y="3515904"/>
            <a:ext cx="7826375" cy="237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49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Kod Hatalarından Yararlanma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Telnet </a:t>
            </a:r>
            <a:r>
              <a:rPr lang="tr-TR" dirty="0"/>
              <a:t>bağlantılarını kabul eden makineleri bulmak </a:t>
            </a:r>
            <a:r>
              <a:rPr lang="tr-TR" dirty="0" smtClean="0"/>
              <a:t>için, </a:t>
            </a:r>
          </a:p>
          <a:p>
            <a:pPr lvl="1"/>
            <a:r>
              <a:rPr lang="tr-TR" dirty="0" smtClean="0"/>
              <a:t>bağlantı </a:t>
            </a:r>
            <a:r>
              <a:rPr lang="tr-TR" dirty="0"/>
              <a:t>noktası </a:t>
            </a:r>
            <a:r>
              <a:rPr lang="tr-TR" dirty="0" smtClean="0"/>
              <a:t>taraması (</a:t>
            </a:r>
            <a:r>
              <a:rPr lang="tr-TR" i="1" dirty="0" err="1" smtClean="0"/>
              <a:t>scan</a:t>
            </a:r>
            <a:r>
              <a:rPr lang="tr-TR" i="1" dirty="0" smtClean="0"/>
              <a:t> port</a:t>
            </a:r>
            <a:r>
              <a:rPr lang="tr-TR" dirty="0" smtClean="0"/>
              <a:t>) çalıştır.</a:t>
            </a:r>
          </a:p>
          <a:p>
            <a:r>
              <a:rPr lang="tr-TR" dirty="0" smtClean="0"/>
              <a:t>Kullanıcı adı, şifre kombinasyonları </a:t>
            </a:r>
            <a:r>
              <a:rPr lang="tr-TR" dirty="0"/>
              <a:t>tahmin ederek giriş yapmayı </a:t>
            </a:r>
            <a:r>
              <a:rPr lang="tr-TR" dirty="0" smtClean="0"/>
              <a:t>dene.</a:t>
            </a:r>
          </a:p>
          <a:p>
            <a:r>
              <a:rPr lang="tr-TR" dirty="0" smtClean="0"/>
              <a:t>Girişten sonra</a:t>
            </a:r>
            <a:r>
              <a:rPr lang="tr-TR" dirty="0"/>
              <a:t>, hatayı tetikleyen </a:t>
            </a:r>
            <a:r>
              <a:rPr lang="tr-TR" dirty="0" smtClean="0"/>
              <a:t>girdiyle (</a:t>
            </a:r>
            <a:r>
              <a:rPr lang="tr-TR" i="1" dirty="0" err="1" smtClean="0"/>
              <a:t>input</a:t>
            </a:r>
            <a:r>
              <a:rPr lang="tr-TR" dirty="0" smtClean="0"/>
              <a:t>) programı çalıştır.</a:t>
            </a:r>
          </a:p>
          <a:p>
            <a:r>
              <a:rPr lang="tr-TR" dirty="0" smtClean="0"/>
              <a:t>Hatalı program </a:t>
            </a:r>
            <a:r>
              <a:rPr lang="tr-TR" dirty="0"/>
              <a:t>SETUID kökü ise, </a:t>
            </a:r>
            <a:r>
              <a:rPr lang="tr-TR" dirty="0" smtClean="0"/>
              <a:t>SETUID </a:t>
            </a:r>
            <a:r>
              <a:rPr lang="tr-TR" dirty="0"/>
              <a:t>kök </a:t>
            </a:r>
            <a:r>
              <a:rPr lang="tr-TR" dirty="0" smtClean="0"/>
              <a:t>kabuğu (</a:t>
            </a:r>
            <a:r>
              <a:rPr lang="tr-TR" i="1" dirty="0" err="1" smtClean="0"/>
              <a:t>root</a:t>
            </a:r>
            <a:r>
              <a:rPr lang="tr-TR" i="1" dirty="0" smtClean="0"/>
              <a:t> </a:t>
            </a:r>
            <a:r>
              <a:rPr lang="tr-TR" i="1" dirty="0" err="1" smtClean="0"/>
              <a:t>shell</a:t>
            </a:r>
            <a:r>
              <a:rPr lang="tr-TR" dirty="0" smtClean="0"/>
              <a:t>) oluştur.</a:t>
            </a:r>
          </a:p>
          <a:p>
            <a:r>
              <a:rPr lang="tr-TR" dirty="0"/>
              <a:t>CMDS (</a:t>
            </a:r>
            <a:r>
              <a:rPr lang="tr-TR" i="1" dirty="0" err="1"/>
              <a:t>Computer</a:t>
            </a:r>
            <a:r>
              <a:rPr lang="tr-TR" i="1" dirty="0"/>
              <a:t> </a:t>
            </a:r>
            <a:r>
              <a:rPr lang="tr-TR" i="1" dirty="0" err="1"/>
              <a:t>Misuse</a:t>
            </a:r>
            <a:r>
              <a:rPr lang="tr-TR" i="1" dirty="0"/>
              <a:t> </a:t>
            </a:r>
            <a:r>
              <a:rPr lang="tr-TR" i="1" dirty="0" err="1"/>
              <a:t>Detection</a:t>
            </a:r>
            <a:r>
              <a:rPr lang="tr-TR" i="1" dirty="0"/>
              <a:t> </a:t>
            </a:r>
            <a:r>
              <a:rPr lang="tr-TR" i="1" dirty="0" err="1"/>
              <a:t>System</a:t>
            </a:r>
            <a:r>
              <a:rPr lang="tr-TR" dirty="0"/>
              <a:t>) </a:t>
            </a:r>
            <a:r>
              <a:rPr lang="tr-TR" dirty="0" smtClean="0"/>
              <a:t>için, </a:t>
            </a:r>
          </a:p>
          <a:p>
            <a:pPr lvl="1"/>
            <a:r>
              <a:rPr lang="tr-TR" i="1" dirty="0" err="1" smtClean="0"/>
              <a:t>IP</a:t>
            </a:r>
            <a:r>
              <a:rPr lang="tr-TR" dirty="0" err="1" smtClean="0"/>
              <a:t>:</a:t>
            </a:r>
            <a:r>
              <a:rPr lang="tr-TR" i="1" dirty="0" err="1" smtClean="0"/>
              <a:t>port</a:t>
            </a:r>
            <a:r>
              <a:rPr lang="tr-TR" i="1" dirty="0" smtClean="0"/>
              <a:t> </a:t>
            </a:r>
            <a:r>
              <a:rPr lang="tr-TR" dirty="0" smtClean="0"/>
              <a:t>dinleyen </a:t>
            </a:r>
            <a:r>
              <a:rPr lang="tr-TR" dirty="0"/>
              <a:t>bir </a:t>
            </a:r>
            <a:r>
              <a:rPr lang="tr-TR" dirty="0" err="1"/>
              <a:t>zombi</a:t>
            </a:r>
            <a:r>
              <a:rPr lang="tr-TR" dirty="0"/>
              <a:t> programı </a:t>
            </a:r>
            <a:r>
              <a:rPr lang="tr-TR" dirty="0" smtClean="0"/>
              <a:t>başlat.</a:t>
            </a:r>
          </a:p>
          <a:p>
            <a:pPr lvl="1"/>
            <a:r>
              <a:rPr lang="tr-TR" dirty="0" err="1" smtClean="0"/>
              <a:t>Zombi</a:t>
            </a:r>
            <a:r>
              <a:rPr lang="tr-TR" dirty="0" smtClean="0"/>
              <a:t> </a:t>
            </a:r>
            <a:r>
              <a:rPr lang="tr-TR" dirty="0"/>
              <a:t>programının </a:t>
            </a:r>
            <a:r>
              <a:rPr lang="tr-TR" dirty="0" smtClean="0"/>
              <a:t>sistem başlangıcında çalışmasını sağla.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4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Ara Bellek Taşma </a:t>
            </a:r>
            <a:r>
              <a:rPr lang="tr-TR" dirty="0"/>
              <a:t>Saldırıları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Normal </a:t>
            </a:r>
            <a:r>
              <a:rPr lang="tr-TR" dirty="0"/>
              <a:t>durum. (b) </a:t>
            </a:r>
            <a:r>
              <a:rPr lang="tr-TR" i="1" dirty="0" smtClean="0"/>
              <a:t>A</a:t>
            </a:r>
            <a:r>
              <a:rPr lang="tr-TR" dirty="0" smtClean="0"/>
              <a:t> prosedürü çağrıldıktan </a:t>
            </a:r>
            <a:r>
              <a:rPr lang="tr-TR" dirty="0"/>
              <a:t>sonra. </a:t>
            </a:r>
            <a:endParaRPr lang="tr-TR" dirty="0" smtClean="0"/>
          </a:p>
          <a:p>
            <a:r>
              <a:rPr lang="tr-TR" dirty="0" smtClean="0"/>
              <a:t>(</a:t>
            </a:r>
            <a:r>
              <a:rPr lang="tr-TR" dirty="0"/>
              <a:t>c) Gri renkle gösterilen </a:t>
            </a:r>
            <a:r>
              <a:rPr lang="tr-TR" dirty="0" smtClean="0"/>
              <a:t>tampon bellek (</a:t>
            </a:r>
            <a:r>
              <a:rPr lang="tr-TR" i="1" dirty="0" err="1" smtClean="0"/>
              <a:t>buffer</a:t>
            </a:r>
            <a:r>
              <a:rPr lang="tr-TR" dirty="0" smtClean="0"/>
              <a:t>) taşması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2797225"/>
            <a:ext cx="6915150" cy="3343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010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Tampon Taşma Saldırıları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</a:t>
            </a:r>
            <a:r>
              <a:rPr lang="tr-TR" b="1" dirty="0" err="1">
                <a:latin typeface="Consolas" panose="020B0609020204030204" pitchFamily="49" charset="0"/>
              </a:rPr>
              <a:t>include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stdio.h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BUFFER SIZE 256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b="1" dirty="0">
                <a:latin typeface="Consolas" panose="020B0609020204030204" pitchFamily="49" charset="0"/>
              </a:rPr>
              <a:t>main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argc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*</a:t>
            </a:r>
            <a:r>
              <a:rPr lang="tr-TR" dirty="0" err="1">
                <a:latin typeface="Consolas" panose="020B0609020204030204" pitchFamily="49" charset="0"/>
              </a:rPr>
              <a:t>argv</a:t>
            </a:r>
            <a:r>
              <a:rPr lang="tr-TR" dirty="0" smtClean="0">
                <a:latin typeface="Consolas" panose="020B0609020204030204" pitchFamily="49" charset="0"/>
              </a:rPr>
              <a:t>[])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[BUFFER SIZE];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argc</a:t>
            </a:r>
            <a:r>
              <a:rPr lang="tr-TR" dirty="0">
                <a:latin typeface="Consolas" panose="020B0609020204030204" pitchFamily="49" charset="0"/>
              </a:rPr>
              <a:t> &lt; 2)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	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tr-TR" b="1" dirty="0">
                <a:latin typeface="Consolas" panose="020B0609020204030204" pitchFamily="49" charset="0"/>
              </a:rPr>
              <a:t>else</a:t>
            </a:r>
            <a:r>
              <a:rPr lang="tr-TR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	</a:t>
            </a:r>
            <a:r>
              <a:rPr lang="tr-TR" dirty="0" err="1">
                <a:latin typeface="Consolas" panose="020B0609020204030204" pitchFamily="49" charset="0"/>
              </a:rPr>
              <a:t>strcpy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buffer,argv</a:t>
            </a:r>
            <a:r>
              <a:rPr lang="tr-TR" dirty="0">
                <a:latin typeface="Consolas" panose="020B0609020204030204" pitchFamily="49" charset="0"/>
              </a:rPr>
              <a:t>[1]);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	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38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</a:t>
            </a:r>
            <a:r>
              <a:rPr lang="tr-TR" dirty="0" err="1" smtClean="0"/>
              <a:t>ibc</a:t>
            </a:r>
            <a:r>
              <a:rPr lang="tr-TR" dirty="0" smtClean="0"/>
              <a:t> Saldırıları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Saldırıdan önceki yığın. (b) Yığın üzerine yazıldıktan </a:t>
            </a:r>
            <a:r>
              <a:rPr lang="tr-TR" dirty="0" smtClean="0"/>
              <a:t>sonra.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7" name="Picture 6" descr="09-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074" y="2292421"/>
            <a:ext cx="5571853" cy="40639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31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Kod Enjeksiyon Saldırıları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Kod </a:t>
            </a:r>
            <a:r>
              <a:rPr lang="tr-TR" dirty="0" smtClean="0"/>
              <a:t>enjeksiyon (</a:t>
            </a:r>
            <a:r>
              <a:rPr lang="tr-TR" i="1" dirty="0" err="1" smtClean="0"/>
              <a:t>code</a:t>
            </a:r>
            <a:r>
              <a:rPr lang="tr-TR" i="1" dirty="0" smtClean="0"/>
              <a:t> </a:t>
            </a:r>
            <a:r>
              <a:rPr lang="tr-TR" i="1" dirty="0" err="1" smtClean="0"/>
              <a:t>injection</a:t>
            </a:r>
            <a:r>
              <a:rPr lang="tr-TR" dirty="0" smtClean="0"/>
              <a:t>) </a:t>
            </a:r>
            <a:r>
              <a:rPr lang="tr-TR" dirty="0"/>
              <a:t>saldırısına yol açabilecek kod.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6" descr="09-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2552700"/>
            <a:ext cx="84836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2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Kötü Amaçlı Yazılım (</a:t>
            </a:r>
            <a:r>
              <a:rPr lang="tr-TR" dirty="0" err="1"/>
              <a:t>M</a:t>
            </a:r>
            <a:r>
              <a:rPr lang="tr-TR" dirty="0" err="1" smtClean="0"/>
              <a:t>alware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tür şantaj için kullanılabilir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Örnek</a:t>
            </a:r>
            <a:r>
              <a:rPr lang="tr-TR" dirty="0"/>
              <a:t>: </a:t>
            </a:r>
            <a:r>
              <a:rPr lang="tr-TR" dirty="0" smtClean="0"/>
              <a:t>diskte bulunan </a:t>
            </a:r>
            <a:r>
              <a:rPr lang="tr-TR" dirty="0"/>
              <a:t>dosyaları şifreler, ardından şu mesajı görüntüler…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3617119"/>
            <a:ext cx="9048750" cy="17811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374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Virüs Çeşitleri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Eşlik </a:t>
            </a:r>
            <a:r>
              <a:rPr lang="tr-TR" dirty="0"/>
              <a:t>eden </a:t>
            </a:r>
            <a:r>
              <a:rPr lang="tr-TR" dirty="0" smtClean="0"/>
              <a:t>virüs (</a:t>
            </a:r>
            <a:r>
              <a:rPr lang="tr-TR" i="1" dirty="0" err="1" smtClean="0"/>
              <a:t>companion</a:t>
            </a:r>
            <a:r>
              <a:rPr lang="tr-TR" dirty="0" smtClean="0"/>
              <a:t>)</a:t>
            </a:r>
          </a:p>
          <a:p>
            <a:r>
              <a:rPr lang="tr-TR" dirty="0" smtClean="0"/>
              <a:t>Yürütülebilir </a:t>
            </a:r>
            <a:r>
              <a:rPr lang="tr-TR" dirty="0"/>
              <a:t>program </a:t>
            </a:r>
            <a:r>
              <a:rPr lang="tr-TR" dirty="0" smtClean="0"/>
              <a:t>virüsü (</a:t>
            </a:r>
            <a:r>
              <a:rPr lang="tr-TR" i="1" dirty="0" err="1" smtClean="0"/>
              <a:t>executable</a:t>
            </a:r>
            <a:r>
              <a:rPr lang="tr-TR" dirty="0" smtClean="0"/>
              <a:t>)</a:t>
            </a:r>
          </a:p>
          <a:p>
            <a:r>
              <a:rPr lang="tr-TR" dirty="0" err="1"/>
              <a:t>P</a:t>
            </a:r>
            <a:r>
              <a:rPr lang="tr-TR" dirty="0" err="1" smtClean="0"/>
              <a:t>arazitik</a:t>
            </a:r>
            <a:r>
              <a:rPr lang="tr-TR" dirty="0" smtClean="0"/>
              <a:t> virüs (</a:t>
            </a:r>
            <a:r>
              <a:rPr lang="tr-TR" i="1" dirty="0" err="1" smtClean="0"/>
              <a:t>parasitic</a:t>
            </a:r>
            <a:r>
              <a:rPr lang="tr-TR" dirty="0" smtClean="0"/>
              <a:t>)</a:t>
            </a:r>
          </a:p>
          <a:p>
            <a:r>
              <a:rPr lang="tr-TR" dirty="0" smtClean="0"/>
              <a:t>Bellekte </a:t>
            </a:r>
            <a:r>
              <a:rPr lang="tr-TR" dirty="0"/>
              <a:t>yerleşik </a:t>
            </a:r>
            <a:r>
              <a:rPr lang="tr-TR" dirty="0" smtClean="0"/>
              <a:t>virüs (</a:t>
            </a:r>
            <a:r>
              <a:rPr lang="tr-TR" i="1" dirty="0" err="1" smtClean="0"/>
              <a:t>memory</a:t>
            </a:r>
            <a:r>
              <a:rPr lang="tr-TR" i="1" dirty="0" smtClean="0"/>
              <a:t> </a:t>
            </a:r>
            <a:r>
              <a:rPr lang="tr-TR" i="1" dirty="0" err="1" smtClean="0"/>
              <a:t>resident</a:t>
            </a:r>
            <a:r>
              <a:rPr lang="tr-TR" dirty="0" smtClean="0"/>
              <a:t>)</a:t>
            </a:r>
          </a:p>
          <a:p>
            <a:r>
              <a:rPr lang="tr-TR" dirty="0" smtClean="0"/>
              <a:t>Önyükleme </a:t>
            </a:r>
            <a:r>
              <a:rPr lang="tr-TR" dirty="0"/>
              <a:t>sektörü </a:t>
            </a:r>
            <a:r>
              <a:rPr lang="tr-TR" dirty="0" smtClean="0"/>
              <a:t>virüsü (</a:t>
            </a:r>
            <a:r>
              <a:rPr lang="tr-TR" i="1" dirty="0" err="1" smtClean="0"/>
              <a:t>boot</a:t>
            </a:r>
            <a:r>
              <a:rPr lang="tr-TR" i="1" dirty="0" smtClean="0"/>
              <a:t> </a:t>
            </a:r>
            <a:r>
              <a:rPr lang="tr-TR" i="1" dirty="0" err="1" smtClean="0"/>
              <a:t>sector</a:t>
            </a:r>
            <a:r>
              <a:rPr lang="tr-TR" dirty="0" smtClean="0"/>
              <a:t>)</a:t>
            </a:r>
          </a:p>
          <a:p>
            <a:r>
              <a:rPr lang="tr-TR" dirty="0" smtClean="0"/>
              <a:t>Aygıt </a:t>
            </a:r>
            <a:r>
              <a:rPr lang="tr-TR" dirty="0"/>
              <a:t>sürücüsü </a:t>
            </a:r>
            <a:r>
              <a:rPr lang="tr-TR" dirty="0" smtClean="0"/>
              <a:t>virüsü (</a:t>
            </a:r>
            <a:r>
              <a:rPr lang="tr-TR" i="1" dirty="0" err="1" smtClean="0"/>
              <a:t>device</a:t>
            </a:r>
            <a:r>
              <a:rPr lang="tr-TR" i="1" dirty="0" smtClean="0"/>
              <a:t> </a:t>
            </a:r>
            <a:r>
              <a:rPr lang="tr-TR" i="1" dirty="0" err="1" smtClean="0"/>
              <a:t>driver</a:t>
            </a:r>
            <a:r>
              <a:rPr lang="tr-TR" dirty="0" smtClean="0"/>
              <a:t>)</a:t>
            </a:r>
          </a:p>
          <a:p>
            <a:r>
              <a:rPr lang="tr-TR" dirty="0"/>
              <a:t>M</a:t>
            </a:r>
            <a:r>
              <a:rPr lang="tr-TR" dirty="0" smtClean="0"/>
              <a:t>akro virüs (</a:t>
            </a:r>
            <a:r>
              <a:rPr lang="tr-TR" i="1" dirty="0" err="1" smtClean="0"/>
              <a:t>macro</a:t>
            </a:r>
            <a:r>
              <a:rPr lang="tr-TR" dirty="0" smtClean="0"/>
              <a:t>)</a:t>
            </a:r>
          </a:p>
          <a:p>
            <a:r>
              <a:rPr lang="tr-TR" dirty="0" smtClean="0"/>
              <a:t>Kaynak </a:t>
            </a:r>
            <a:r>
              <a:rPr lang="tr-TR" dirty="0"/>
              <a:t>kodu </a:t>
            </a:r>
            <a:r>
              <a:rPr lang="tr-TR" dirty="0" smtClean="0"/>
              <a:t>virüsü (</a:t>
            </a:r>
            <a:r>
              <a:rPr lang="tr-TR" i="1" dirty="0" err="1" smtClean="0"/>
              <a:t>source</a:t>
            </a:r>
            <a:r>
              <a:rPr lang="tr-TR" i="1" dirty="0" smtClean="0"/>
              <a:t> </a:t>
            </a:r>
            <a:r>
              <a:rPr lang="tr-TR" i="1" dirty="0" err="1" smtClean="0"/>
              <a:t>code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46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Parazitik</a:t>
            </a:r>
            <a:r>
              <a:rPr lang="tr-TR" dirty="0" smtClean="0"/>
              <a:t> Virüsler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Yürütülebilir </a:t>
            </a:r>
            <a:r>
              <a:rPr lang="tr-TR" dirty="0" smtClean="0"/>
              <a:t>program. </a:t>
            </a:r>
            <a:r>
              <a:rPr lang="tr-TR" dirty="0"/>
              <a:t>(b) </a:t>
            </a:r>
            <a:r>
              <a:rPr lang="tr-TR" dirty="0" smtClean="0"/>
              <a:t>Önünde yerleşik bir </a:t>
            </a:r>
            <a:r>
              <a:rPr lang="tr-TR" dirty="0" smtClean="0"/>
              <a:t>virüs.</a:t>
            </a:r>
          </a:p>
          <a:p>
            <a:r>
              <a:rPr lang="tr-TR" dirty="0" smtClean="0"/>
              <a:t>(</a:t>
            </a:r>
            <a:r>
              <a:rPr lang="tr-TR" dirty="0"/>
              <a:t>c) </a:t>
            </a:r>
            <a:r>
              <a:rPr lang="tr-TR" dirty="0" smtClean="0"/>
              <a:t>Sonunda yerleşik </a:t>
            </a:r>
            <a:r>
              <a:rPr lang="tr-TR" dirty="0"/>
              <a:t>bir </a:t>
            </a:r>
            <a:r>
              <a:rPr lang="tr-TR" dirty="0" smtClean="0"/>
              <a:t>virüs. </a:t>
            </a:r>
            <a:r>
              <a:rPr lang="tr-TR" dirty="0"/>
              <a:t>(d) Program </a:t>
            </a:r>
            <a:r>
              <a:rPr lang="tr-TR" dirty="0" smtClean="0"/>
              <a:t>içinde </a:t>
            </a:r>
            <a:r>
              <a:rPr lang="tr-TR" dirty="0"/>
              <a:t>boş alana </a:t>
            </a:r>
            <a:r>
              <a:rPr lang="tr-TR" dirty="0" smtClean="0"/>
              <a:t>yayılmış virüs.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Picture 6" descr="09-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877184"/>
            <a:ext cx="7724775" cy="3035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50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Önyükleme Sektörü Virüsleri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Virüs, </a:t>
            </a:r>
            <a:r>
              <a:rPr lang="tr-TR" dirty="0"/>
              <a:t>tüm </a:t>
            </a:r>
            <a:r>
              <a:rPr lang="tr-TR" dirty="0" smtClean="0"/>
              <a:t>kesme (</a:t>
            </a:r>
            <a:r>
              <a:rPr lang="tr-TR" i="1" dirty="0" err="1" smtClean="0"/>
              <a:t>interrupt</a:t>
            </a:r>
            <a:r>
              <a:rPr lang="tr-TR" dirty="0"/>
              <a:t>)</a:t>
            </a:r>
            <a:r>
              <a:rPr lang="tr-TR" dirty="0" smtClean="0"/>
              <a:t> </a:t>
            </a:r>
            <a:r>
              <a:rPr lang="tr-TR" dirty="0" smtClean="0"/>
              <a:t>ve </a:t>
            </a:r>
            <a:r>
              <a:rPr lang="tr-TR" dirty="0" smtClean="0"/>
              <a:t>tuzak (</a:t>
            </a:r>
            <a:r>
              <a:rPr lang="tr-TR" i="1" dirty="0" smtClean="0"/>
              <a:t>trap</a:t>
            </a:r>
            <a:r>
              <a:rPr lang="tr-TR" dirty="0" smtClean="0"/>
              <a:t>) </a:t>
            </a:r>
            <a:r>
              <a:rPr lang="tr-TR" dirty="0"/>
              <a:t>vektörlerini </a:t>
            </a:r>
            <a:r>
              <a:rPr lang="tr-TR" dirty="0" smtClean="0"/>
              <a:t>ele geçirmiş. </a:t>
            </a:r>
          </a:p>
          <a:p>
            <a:r>
              <a:rPr lang="tr-TR" dirty="0" smtClean="0"/>
              <a:t>(</a:t>
            </a:r>
            <a:r>
              <a:rPr lang="tr-TR" dirty="0"/>
              <a:t>b) İşletim </a:t>
            </a:r>
            <a:r>
              <a:rPr lang="tr-TR" dirty="0" smtClean="0"/>
              <a:t>sistemi, yazıcı (</a:t>
            </a:r>
            <a:r>
              <a:rPr lang="tr-TR" i="1" dirty="0" smtClean="0"/>
              <a:t>printer</a:t>
            </a:r>
            <a:r>
              <a:rPr lang="tr-TR" dirty="0" smtClean="0"/>
              <a:t>) </a:t>
            </a:r>
            <a:r>
              <a:rPr lang="tr-TR" dirty="0"/>
              <a:t>kesme vektörünü yeniden </a:t>
            </a:r>
            <a:r>
              <a:rPr lang="tr-TR" dirty="0" smtClean="0"/>
              <a:t>almış. </a:t>
            </a:r>
          </a:p>
          <a:p>
            <a:r>
              <a:rPr lang="tr-TR" dirty="0" smtClean="0"/>
              <a:t>(</a:t>
            </a:r>
            <a:r>
              <a:rPr lang="tr-TR" dirty="0"/>
              <a:t>c) Virüs, yazıcı kesme </a:t>
            </a:r>
            <a:r>
              <a:rPr lang="tr-TR" dirty="0" smtClean="0"/>
              <a:t>vektörünü </a:t>
            </a:r>
            <a:r>
              <a:rPr lang="tr-TR" dirty="0"/>
              <a:t>yeniden </a:t>
            </a:r>
            <a:r>
              <a:rPr lang="tr-TR" dirty="0" smtClean="0"/>
              <a:t>ele geçirmiş.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7" name="Picture 6" descr="09-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63" y="3209918"/>
            <a:ext cx="6301674" cy="31029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12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Casus </a:t>
            </a:r>
            <a:r>
              <a:rPr lang="tr-TR" dirty="0" smtClean="0"/>
              <a:t>Yazılım (</a:t>
            </a:r>
            <a:r>
              <a:rPr lang="tr-TR" dirty="0" err="1" smtClean="0"/>
              <a:t>Spyware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Bilgisayara gizlice yüklenir.</a:t>
            </a:r>
            <a:endParaRPr lang="tr-TR" dirty="0" smtClean="0"/>
          </a:p>
          <a:p>
            <a:r>
              <a:rPr lang="tr-TR" dirty="0" smtClean="0"/>
              <a:t>Arka </a:t>
            </a:r>
            <a:r>
              <a:rPr lang="tr-TR" dirty="0"/>
              <a:t>planda </a:t>
            </a:r>
            <a:r>
              <a:rPr lang="tr-TR" dirty="0" smtClean="0"/>
              <a:t>çalışır.</a:t>
            </a:r>
            <a:endParaRPr lang="tr-TR" dirty="0" smtClean="0"/>
          </a:p>
          <a:p>
            <a:r>
              <a:rPr lang="tr-TR" dirty="0"/>
              <a:t>Gizlenir, </a:t>
            </a:r>
            <a:r>
              <a:rPr lang="tr-TR" dirty="0" smtClean="0"/>
              <a:t>kurban (</a:t>
            </a:r>
            <a:r>
              <a:rPr lang="tr-TR" i="1" dirty="0" err="1" smtClean="0"/>
              <a:t>victim</a:t>
            </a:r>
            <a:r>
              <a:rPr lang="tr-TR" dirty="0" smtClean="0"/>
              <a:t>) </a:t>
            </a:r>
            <a:r>
              <a:rPr lang="tr-TR" dirty="0" err="1" smtClean="0"/>
              <a:t>tarafındana</a:t>
            </a:r>
            <a:r>
              <a:rPr lang="tr-TR" dirty="0" smtClean="0"/>
              <a:t> kolayca bulunamaz.</a:t>
            </a:r>
            <a:endParaRPr lang="tr-TR" dirty="0" smtClean="0"/>
          </a:p>
          <a:p>
            <a:r>
              <a:rPr lang="tr-TR" dirty="0" smtClean="0"/>
              <a:t>Kullanıcı </a:t>
            </a:r>
            <a:r>
              <a:rPr lang="tr-TR" dirty="0"/>
              <a:t>hakkında veri </a:t>
            </a:r>
            <a:r>
              <a:rPr lang="tr-TR" dirty="0" smtClean="0"/>
              <a:t>toplar.</a:t>
            </a:r>
            <a:endParaRPr lang="tr-TR" dirty="0" smtClean="0"/>
          </a:p>
          <a:p>
            <a:r>
              <a:rPr lang="tr-TR" dirty="0" smtClean="0"/>
              <a:t>Toplanan </a:t>
            </a:r>
            <a:r>
              <a:rPr lang="tr-TR" dirty="0"/>
              <a:t>bilgileri </a:t>
            </a:r>
            <a:r>
              <a:rPr lang="tr-TR" dirty="0" smtClean="0"/>
              <a:t>uzakta bir bilgisayara </a:t>
            </a:r>
            <a:r>
              <a:rPr lang="tr-TR" dirty="0" smtClean="0"/>
              <a:t>iletir.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1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Casus Yazılım Nasıl Yayılır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Truva atı (</a:t>
            </a:r>
            <a:r>
              <a:rPr lang="tr-TR" i="1" dirty="0" err="1" smtClean="0"/>
              <a:t>Trojan</a:t>
            </a:r>
            <a:r>
              <a:rPr lang="tr-TR" i="1" dirty="0" smtClean="0"/>
              <a:t> </a:t>
            </a:r>
            <a:r>
              <a:rPr lang="tr-TR" i="1" dirty="0" err="1" smtClean="0"/>
              <a:t>horse</a:t>
            </a:r>
            <a:r>
              <a:rPr lang="tr-TR" dirty="0" smtClean="0"/>
              <a:t>) ile.</a:t>
            </a:r>
            <a:endParaRPr lang="tr-TR" dirty="0" smtClean="0"/>
          </a:p>
          <a:p>
            <a:r>
              <a:rPr lang="tr-TR" dirty="0" smtClean="0"/>
              <a:t>İndirme (</a:t>
            </a:r>
            <a:r>
              <a:rPr lang="tr-TR" i="1" dirty="0" err="1" smtClean="0"/>
              <a:t>download</a:t>
            </a:r>
            <a:r>
              <a:rPr lang="tr-TR" dirty="0" smtClean="0"/>
              <a:t>), </a:t>
            </a:r>
          </a:p>
          <a:p>
            <a:pPr lvl="1"/>
            <a:r>
              <a:rPr lang="tr-TR" dirty="0"/>
              <a:t>V</a:t>
            </a:r>
            <a:r>
              <a:rPr lang="tr-TR" dirty="0" smtClean="0"/>
              <a:t>irüslü </a:t>
            </a:r>
            <a:r>
              <a:rPr lang="tr-TR" dirty="0"/>
              <a:t>bir web sitesini ziyaret </a:t>
            </a:r>
            <a:r>
              <a:rPr lang="tr-TR" dirty="0" smtClean="0"/>
              <a:t>etme.</a:t>
            </a:r>
            <a:endParaRPr lang="tr-TR" dirty="0" smtClean="0"/>
          </a:p>
          <a:p>
            <a:pPr lvl="1"/>
            <a:r>
              <a:rPr lang="tr-TR" dirty="0" smtClean="0"/>
              <a:t>Web </a:t>
            </a:r>
            <a:r>
              <a:rPr lang="tr-TR" dirty="0"/>
              <a:t>sayfaları bir </a:t>
            </a:r>
            <a:r>
              <a:rPr lang="tr-TR" i="1" dirty="0"/>
              <a:t>.</a:t>
            </a:r>
            <a:r>
              <a:rPr lang="tr-TR" i="1" dirty="0" err="1"/>
              <a:t>exe</a:t>
            </a:r>
            <a:r>
              <a:rPr lang="tr-TR" dirty="0"/>
              <a:t> </a:t>
            </a:r>
            <a:r>
              <a:rPr lang="tr-TR" dirty="0" smtClean="0"/>
              <a:t>dosyası </a:t>
            </a:r>
            <a:r>
              <a:rPr lang="tr-TR" dirty="0"/>
              <a:t>çalıştırmayı </a:t>
            </a:r>
            <a:r>
              <a:rPr lang="tr-TR" dirty="0" smtClean="0"/>
              <a:t>dener.</a:t>
            </a:r>
            <a:endParaRPr lang="tr-TR" dirty="0" smtClean="0"/>
          </a:p>
          <a:p>
            <a:pPr lvl="1"/>
            <a:r>
              <a:rPr lang="tr-TR" dirty="0" smtClean="0"/>
              <a:t>Şüphelenilmeyen </a:t>
            </a:r>
            <a:r>
              <a:rPr lang="tr-TR" dirty="0" smtClean="0"/>
              <a:t>bir kullanıcı </a:t>
            </a:r>
            <a:r>
              <a:rPr lang="tr-TR" dirty="0"/>
              <a:t>virüslü bir araç </a:t>
            </a:r>
            <a:r>
              <a:rPr lang="tr-TR" dirty="0" smtClean="0"/>
              <a:t>çubuğu (</a:t>
            </a:r>
            <a:r>
              <a:rPr lang="tr-TR" i="1" dirty="0" err="1" smtClean="0"/>
              <a:t>toolbar</a:t>
            </a:r>
            <a:r>
              <a:rPr lang="tr-TR" dirty="0" smtClean="0"/>
              <a:t>) yükler.</a:t>
            </a:r>
            <a:endParaRPr lang="tr-TR" dirty="0" smtClean="0"/>
          </a:p>
          <a:p>
            <a:pPr lvl="1"/>
            <a:r>
              <a:rPr lang="tr-TR" dirty="0" smtClean="0"/>
              <a:t>Kötü </a:t>
            </a:r>
            <a:r>
              <a:rPr lang="tr-TR" dirty="0"/>
              <a:t>amaçlı </a:t>
            </a:r>
            <a:r>
              <a:rPr lang="tr-TR" i="1" dirty="0" err="1"/>
              <a:t>activeX</a:t>
            </a:r>
            <a:r>
              <a:rPr lang="tr-TR" i="1" dirty="0"/>
              <a:t> </a:t>
            </a:r>
            <a:r>
              <a:rPr lang="tr-TR" dirty="0"/>
              <a:t>denetimleri </a:t>
            </a:r>
            <a:r>
              <a:rPr lang="tr-TR" dirty="0" smtClean="0"/>
              <a:t>yüklenir.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78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Casus Yazılım </a:t>
            </a:r>
            <a:r>
              <a:rPr lang="tr-TR" dirty="0" smtClean="0"/>
              <a:t>Gerçekleştirdiği </a:t>
            </a:r>
            <a:r>
              <a:rPr lang="tr-TR" dirty="0"/>
              <a:t>Eylemler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Tarayıcı </a:t>
            </a:r>
            <a:r>
              <a:rPr lang="tr-TR" dirty="0"/>
              <a:t>ana sayfasını </a:t>
            </a:r>
            <a:r>
              <a:rPr lang="tr-TR" dirty="0" smtClean="0"/>
              <a:t>(</a:t>
            </a:r>
            <a:r>
              <a:rPr lang="tr-TR" i="1" dirty="0" err="1" smtClean="0"/>
              <a:t>homepage</a:t>
            </a:r>
            <a:r>
              <a:rPr lang="tr-TR" dirty="0" smtClean="0"/>
              <a:t>) değiştirme</a:t>
            </a:r>
            <a:r>
              <a:rPr lang="tr-TR" dirty="0" smtClean="0"/>
              <a:t>.</a:t>
            </a:r>
          </a:p>
          <a:p>
            <a:r>
              <a:rPr lang="tr-TR" dirty="0" smtClean="0"/>
              <a:t>Tarayıcının </a:t>
            </a:r>
            <a:r>
              <a:rPr lang="tr-TR" i="1" dirty="0" smtClean="0"/>
              <a:t>yer </a:t>
            </a:r>
            <a:r>
              <a:rPr lang="tr-TR" i="1" dirty="0"/>
              <a:t>imi </a:t>
            </a:r>
            <a:r>
              <a:rPr lang="tr-TR" i="1" dirty="0" smtClean="0"/>
              <a:t>(</a:t>
            </a:r>
            <a:r>
              <a:rPr lang="tr-TR" i="1" dirty="0" err="1" smtClean="0"/>
              <a:t>bookmark</a:t>
            </a:r>
            <a:r>
              <a:rPr lang="tr-TR" i="1" dirty="0" smtClean="0"/>
              <a:t>)</a:t>
            </a:r>
            <a:r>
              <a:rPr lang="tr-TR" dirty="0" smtClean="0"/>
              <a:t> eklenmiş sayfalar </a:t>
            </a:r>
            <a:r>
              <a:rPr lang="tr-TR" dirty="0"/>
              <a:t>listesini </a:t>
            </a:r>
            <a:r>
              <a:rPr lang="tr-TR" dirty="0" smtClean="0"/>
              <a:t>değiştirme.</a:t>
            </a:r>
          </a:p>
          <a:p>
            <a:r>
              <a:rPr lang="tr-TR" dirty="0" smtClean="0"/>
              <a:t>Tarayıcıya </a:t>
            </a:r>
            <a:r>
              <a:rPr lang="tr-TR" dirty="0"/>
              <a:t>yeni araç </a:t>
            </a:r>
            <a:r>
              <a:rPr lang="tr-TR" dirty="0" smtClean="0"/>
              <a:t>çubukları (</a:t>
            </a:r>
            <a:r>
              <a:rPr lang="tr-TR" i="1" dirty="0" err="1" smtClean="0"/>
              <a:t>toolbar</a:t>
            </a:r>
            <a:r>
              <a:rPr lang="tr-TR" dirty="0" smtClean="0"/>
              <a:t>) </a:t>
            </a:r>
            <a:r>
              <a:rPr lang="tr-TR" dirty="0" smtClean="0"/>
              <a:t>ekleme.</a:t>
            </a:r>
          </a:p>
          <a:p>
            <a:r>
              <a:rPr lang="tr-TR" dirty="0" smtClean="0"/>
              <a:t>Varsayılan </a:t>
            </a:r>
            <a:r>
              <a:rPr lang="tr-TR" dirty="0"/>
              <a:t>medya </a:t>
            </a:r>
            <a:r>
              <a:rPr lang="tr-TR" dirty="0" smtClean="0"/>
              <a:t>yürütücüsünü (</a:t>
            </a:r>
            <a:r>
              <a:rPr lang="tr-TR" i="1" dirty="0" err="1" smtClean="0"/>
              <a:t>media</a:t>
            </a:r>
            <a:r>
              <a:rPr lang="tr-TR" i="1" dirty="0" smtClean="0"/>
              <a:t> </a:t>
            </a:r>
            <a:r>
              <a:rPr lang="tr-TR" i="1" dirty="0" err="1" smtClean="0"/>
              <a:t>player</a:t>
            </a:r>
            <a:r>
              <a:rPr lang="tr-TR" dirty="0" smtClean="0"/>
              <a:t>) </a:t>
            </a:r>
            <a:r>
              <a:rPr lang="tr-TR" dirty="0" smtClean="0"/>
              <a:t>değiştirme.</a:t>
            </a:r>
          </a:p>
          <a:p>
            <a:r>
              <a:rPr lang="tr-TR" dirty="0" smtClean="0"/>
              <a:t>Varsayılan </a:t>
            </a:r>
            <a:r>
              <a:rPr lang="tr-TR" dirty="0"/>
              <a:t>arama </a:t>
            </a:r>
            <a:r>
              <a:rPr lang="tr-TR" dirty="0" smtClean="0"/>
              <a:t>motorunu (</a:t>
            </a:r>
            <a:r>
              <a:rPr lang="tr-TR" i="1" dirty="0" err="1" smtClean="0"/>
              <a:t>search</a:t>
            </a:r>
            <a:r>
              <a:rPr lang="tr-TR" i="1" dirty="0" smtClean="0"/>
              <a:t> engine</a:t>
            </a:r>
            <a:r>
              <a:rPr lang="tr-TR" dirty="0" smtClean="0"/>
              <a:t>) </a:t>
            </a:r>
            <a:r>
              <a:rPr lang="tr-TR" dirty="0" smtClean="0"/>
              <a:t>değiştirme.</a:t>
            </a:r>
          </a:p>
          <a:p>
            <a:r>
              <a:rPr lang="tr-TR" dirty="0" smtClean="0"/>
              <a:t>Masaüstüne (</a:t>
            </a:r>
            <a:r>
              <a:rPr lang="tr-TR" i="1" dirty="0" err="1" smtClean="0"/>
              <a:t>desktop</a:t>
            </a:r>
            <a:r>
              <a:rPr lang="tr-TR" dirty="0" smtClean="0"/>
              <a:t>) yeni </a:t>
            </a:r>
            <a:r>
              <a:rPr lang="tr-TR" dirty="0"/>
              <a:t>simgeler </a:t>
            </a:r>
            <a:r>
              <a:rPr lang="tr-TR" dirty="0" smtClean="0"/>
              <a:t>ekleme.</a:t>
            </a:r>
          </a:p>
          <a:p>
            <a:r>
              <a:rPr lang="tr-TR" dirty="0" smtClean="0"/>
              <a:t>Web </a:t>
            </a:r>
            <a:r>
              <a:rPr lang="tr-TR" dirty="0" smtClean="0"/>
              <a:t>sayfasındaki reklamları</a:t>
            </a:r>
            <a:r>
              <a:rPr lang="tr-TR" dirty="0"/>
              <a:t>, casus yazılımın seçtikleriyle </a:t>
            </a:r>
            <a:r>
              <a:rPr lang="tr-TR" dirty="0" smtClean="0"/>
              <a:t>değiştirme.</a:t>
            </a:r>
          </a:p>
          <a:p>
            <a:r>
              <a:rPr lang="tr-TR" dirty="0" smtClean="0"/>
              <a:t>Reklamları </a:t>
            </a:r>
            <a:r>
              <a:rPr lang="tr-TR" dirty="0"/>
              <a:t>standart Windows iletişim kutularına </a:t>
            </a:r>
            <a:r>
              <a:rPr lang="tr-TR" dirty="0" smtClean="0"/>
              <a:t>yerleştirme.</a:t>
            </a:r>
            <a:endParaRPr lang="tr-TR" dirty="0" smtClean="0"/>
          </a:p>
          <a:p>
            <a:r>
              <a:rPr lang="tr-TR" dirty="0" smtClean="0"/>
              <a:t>Sürekli </a:t>
            </a:r>
            <a:r>
              <a:rPr lang="tr-TR" dirty="0"/>
              <a:t>ve durdurulamaz bir </a:t>
            </a:r>
            <a:r>
              <a:rPr lang="tr-TR" i="1" dirty="0"/>
              <a:t>pop-</a:t>
            </a:r>
            <a:r>
              <a:rPr lang="tr-TR" i="1" dirty="0" err="1"/>
              <a:t>up</a:t>
            </a:r>
            <a:r>
              <a:rPr lang="tr-TR" dirty="0"/>
              <a:t> reklam akışı </a:t>
            </a:r>
            <a:r>
              <a:rPr lang="tr-TR" dirty="0" smtClean="0"/>
              <a:t>oluşturma.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47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Kök Kullanıcı Takımı (</a:t>
            </a:r>
            <a:r>
              <a:rPr lang="tr-TR" dirty="0" err="1" smtClean="0"/>
              <a:t>Rootkit</a:t>
            </a:r>
            <a:r>
              <a:rPr lang="tr-TR" dirty="0" smtClean="0"/>
              <a:t>) </a:t>
            </a:r>
            <a:r>
              <a:rPr lang="tr-TR" dirty="0"/>
              <a:t>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Bellenim </a:t>
            </a:r>
            <a:r>
              <a:rPr lang="tr-TR" dirty="0" smtClean="0"/>
              <a:t>(</a:t>
            </a:r>
            <a:r>
              <a:rPr lang="tr-TR" i="1" dirty="0" smtClean="0"/>
              <a:t>firmware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err="1" smtClean="0"/>
              <a:t>Hipervizör</a:t>
            </a:r>
            <a:r>
              <a:rPr lang="tr-TR" dirty="0" smtClean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hypervisor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Çekirdek </a:t>
            </a:r>
            <a:r>
              <a:rPr lang="tr-TR" dirty="0" smtClean="0"/>
              <a:t>(</a:t>
            </a:r>
            <a:r>
              <a:rPr lang="tr-TR" i="1" dirty="0" err="1" smtClean="0"/>
              <a:t>kernel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Kütüphane </a:t>
            </a:r>
            <a:r>
              <a:rPr lang="tr-TR" dirty="0" smtClean="0"/>
              <a:t>(</a:t>
            </a:r>
            <a:r>
              <a:rPr lang="tr-TR" i="1" dirty="0" err="1" smtClean="0"/>
              <a:t>library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Uygulama </a:t>
            </a:r>
            <a:r>
              <a:rPr lang="tr-TR" dirty="0" smtClean="0"/>
              <a:t>(</a:t>
            </a:r>
            <a:r>
              <a:rPr lang="tr-TR" i="1" dirty="0" err="1" smtClean="0"/>
              <a:t>application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3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Kök Kullanıcı Takımının </a:t>
            </a:r>
            <a:r>
              <a:rPr lang="tr-TR" dirty="0" smtClean="0"/>
              <a:t>Saklanabileceği </a:t>
            </a:r>
            <a:r>
              <a:rPr lang="tr-TR" dirty="0" smtClean="0"/>
              <a:t>Yerler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7" name="Picture 6" descr="09-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2204901"/>
            <a:ext cx="8277225" cy="3467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0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</a:t>
            </a:r>
            <a:r>
              <a:rPr lang="tr-TR" dirty="0" smtClean="0"/>
              <a:t>Duvarı (Firewall)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Üç bilgisayarlı bir </a:t>
            </a:r>
            <a:r>
              <a:rPr lang="tr-TR" dirty="0" smtClean="0"/>
              <a:t>yerel ağı </a:t>
            </a:r>
            <a:r>
              <a:rPr lang="tr-TR" i="1" dirty="0"/>
              <a:t>koruyan </a:t>
            </a:r>
            <a:r>
              <a:rPr lang="tr-TR" dirty="0"/>
              <a:t>donanım güvenlik </a:t>
            </a:r>
            <a:r>
              <a:rPr lang="tr-TR" dirty="0" smtClean="0"/>
              <a:t>duvarı.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7" name="Picture 6" descr="09-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7" y="2876506"/>
            <a:ext cx="7858125" cy="2092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47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Antivirüs</a:t>
            </a:r>
            <a:r>
              <a:rPr lang="tr-TR" dirty="0"/>
              <a:t> ve Anti-</a:t>
            </a:r>
            <a:r>
              <a:rPr lang="tr-TR" dirty="0" err="1"/>
              <a:t>Antivirüs</a:t>
            </a:r>
            <a:r>
              <a:rPr lang="tr-TR" dirty="0"/>
              <a:t> Teknikleri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Virüs </a:t>
            </a:r>
            <a:r>
              <a:rPr lang="tr-TR" dirty="0" smtClean="0"/>
              <a:t>tarayıcıları (</a:t>
            </a:r>
            <a:r>
              <a:rPr lang="tr-TR" i="1" dirty="0" err="1" smtClean="0"/>
              <a:t>virus</a:t>
            </a:r>
            <a:r>
              <a:rPr lang="tr-TR" i="1" dirty="0" smtClean="0"/>
              <a:t> </a:t>
            </a:r>
            <a:r>
              <a:rPr lang="tr-TR" i="1" dirty="0" err="1" smtClean="0"/>
              <a:t>scanner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Bütünlük denetleyicileri (</a:t>
            </a:r>
            <a:r>
              <a:rPr lang="tr-TR" i="1" dirty="0" err="1" smtClean="0"/>
              <a:t>integrity</a:t>
            </a:r>
            <a:r>
              <a:rPr lang="tr-TR" i="1" dirty="0" smtClean="0"/>
              <a:t> </a:t>
            </a:r>
            <a:r>
              <a:rPr lang="tr-TR" i="1" dirty="0" err="1" smtClean="0"/>
              <a:t>checker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Davranışsal </a:t>
            </a:r>
            <a:r>
              <a:rPr lang="tr-TR" dirty="0" smtClean="0"/>
              <a:t>denetleyiciler (</a:t>
            </a:r>
            <a:r>
              <a:rPr lang="tr-TR" i="1" dirty="0" err="1" smtClean="0"/>
              <a:t>behavioral</a:t>
            </a:r>
            <a:r>
              <a:rPr lang="tr-TR" i="1" dirty="0" smtClean="0"/>
              <a:t> </a:t>
            </a:r>
            <a:r>
              <a:rPr lang="tr-TR" i="1" dirty="0" err="1" smtClean="0"/>
              <a:t>checker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Virüsten </a:t>
            </a:r>
            <a:r>
              <a:rPr lang="tr-TR" dirty="0" smtClean="0"/>
              <a:t>kaçınma (</a:t>
            </a:r>
            <a:r>
              <a:rPr lang="tr-TR" i="1" dirty="0" err="1" smtClean="0"/>
              <a:t>virus</a:t>
            </a:r>
            <a:r>
              <a:rPr lang="tr-TR" i="1" dirty="0" smtClean="0"/>
              <a:t> </a:t>
            </a:r>
            <a:r>
              <a:rPr lang="tr-TR" i="1" dirty="0" err="1" smtClean="0"/>
              <a:t>avoidance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17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Virüs Tarayıcıları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Yürütülebilir program</a:t>
            </a:r>
            <a:r>
              <a:rPr lang="tr-TR" dirty="0"/>
              <a:t>. (b) </a:t>
            </a:r>
            <a:r>
              <a:rPr lang="tr-TR" dirty="0" smtClean="0"/>
              <a:t>Virüslü program</a:t>
            </a:r>
            <a:r>
              <a:rPr lang="tr-TR" dirty="0"/>
              <a:t>. (c) Sıkıştırılmış virüslü </a:t>
            </a:r>
            <a:r>
              <a:rPr lang="tr-TR" dirty="0" smtClean="0"/>
              <a:t>program</a:t>
            </a:r>
            <a:r>
              <a:rPr lang="tr-TR" dirty="0"/>
              <a:t>. (d) </a:t>
            </a:r>
            <a:r>
              <a:rPr lang="tr-TR" dirty="0" smtClean="0"/>
              <a:t>Şifrelenmiş </a:t>
            </a:r>
            <a:r>
              <a:rPr lang="tr-TR" dirty="0"/>
              <a:t>virüs. (e) Şifrelenmiş </a:t>
            </a:r>
            <a:r>
              <a:rPr lang="tr-TR" dirty="0" smtClean="0"/>
              <a:t>ve sıkıştırılmış </a:t>
            </a:r>
            <a:r>
              <a:rPr lang="tr-TR" dirty="0" smtClean="0"/>
              <a:t>virüs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7" name="Picture 6" descr="09-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176" y="2688431"/>
            <a:ext cx="6937647" cy="36374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41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Virüs Tarayıcıları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Çok şekilli (</a:t>
            </a:r>
            <a:r>
              <a:rPr lang="tr-TR" dirty="0" err="1" smtClean="0"/>
              <a:t>p</a:t>
            </a:r>
            <a:r>
              <a:rPr lang="tr-TR" dirty="0" err="1" smtClean="0"/>
              <a:t>olimorphic</a:t>
            </a:r>
            <a:r>
              <a:rPr lang="tr-TR" dirty="0" smtClean="0"/>
              <a:t>) </a:t>
            </a:r>
            <a:r>
              <a:rPr lang="tr-TR" dirty="0"/>
              <a:t>virüs örnekleri.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7" name="Picture 6" descr="09-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2500313"/>
            <a:ext cx="8458200" cy="3181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Kod </a:t>
            </a:r>
            <a:r>
              <a:rPr lang="tr-TR" dirty="0" smtClean="0"/>
              <a:t>İmzalama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Dijital </a:t>
            </a:r>
            <a:r>
              <a:rPr lang="tr-TR" dirty="0" err="1" smtClean="0"/>
              <a:t>imza'ya</a:t>
            </a:r>
            <a:r>
              <a:rPr lang="tr-TR" dirty="0" smtClean="0"/>
              <a:t> benzer şekilde, kod okunarak bir </a:t>
            </a:r>
            <a:r>
              <a:rPr lang="tr-TR" i="1" dirty="0" err="1" smtClean="0"/>
              <a:t>hash</a:t>
            </a:r>
            <a:r>
              <a:rPr lang="tr-TR" dirty="0" smtClean="0"/>
              <a:t> değeri üretilir.</a:t>
            </a:r>
          </a:p>
          <a:p>
            <a:r>
              <a:rPr lang="tr-TR" dirty="0" smtClean="0"/>
              <a:t>Kullanıcı tarafında üretilen ve alınan </a:t>
            </a:r>
            <a:r>
              <a:rPr lang="tr-TR" i="1" dirty="0" err="1" smtClean="0"/>
              <a:t>hash</a:t>
            </a:r>
            <a:r>
              <a:rPr lang="tr-TR" i="1" dirty="0" smtClean="0"/>
              <a:t> </a:t>
            </a:r>
            <a:r>
              <a:rPr lang="tr-TR" dirty="0" smtClean="0"/>
              <a:t>değerleri karşılaştırılır.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7" name="Picture 6" descr="09-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2724949"/>
            <a:ext cx="8267700" cy="35083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54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Hapse Atmak </a:t>
            </a:r>
            <a:r>
              <a:rPr lang="tr-TR" dirty="0" smtClean="0"/>
              <a:t>(</a:t>
            </a:r>
            <a:r>
              <a:rPr lang="tr-TR" dirty="0" err="1"/>
              <a:t>J</a:t>
            </a:r>
            <a:r>
              <a:rPr lang="tr-TR" dirty="0" err="1" smtClean="0"/>
              <a:t>ailing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Mahkum (</a:t>
            </a:r>
            <a:r>
              <a:rPr lang="tr-TR" i="1" dirty="0" err="1" smtClean="0"/>
              <a:t>prisoner</a:t>
            </a:r>
            <a:r>
              <a:rPr lang="tr-TR" dirty="0" smtClean="0"/>
              <a:t>) programın yaptığı tüm sistem çağrıları (</a:t>
            </a:r>
            <a:r>
              <a:rPr lang="tr-TR" i="1" dirty="0" err="1" smtClean="0"/>
              <a:t>system</a:t>
            </a:r>
            <a:r>
              <a:rPr lang="tr-TR" i="1" dirty="0" smtClean="0"/>
              <a:t> </a:t>
            </a:r>
            <a:r>
              <a:rPr lang="tr-TR" i="1" dirty="0" err="1" smtClean="0"/>
              <a:t>call</a:t>
            </a:r>
            <a:r>
              <a:rPr lang="tr-TR" dirty="0" smtClean="0"/>
              <a:t>), gardiyan (</a:t>
            </a:r>
            <a:r>
              <a:rPr lang="tr-TR" i="1" dirty="0" err="1" smtClean="0"/>
              <a:t>jailer</a:t>
            </a:r>
            <a:r>
              <a:rPr lang="tr-TR" dirty="0" smtClean="0"/>
              <a:t>) program tarafından kontrol edilir.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7" name="Picture 6" descr="09-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2" y="3021322"/>
            <a:ext cx="6467475" cy="29480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56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Tabanlı Saldırı Tespiti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pt-BR" sz="2600" dirty="0" smtClean="0"/>
              <a:t>Bir program</a:t>
            </a:r>
            <a:r>
              <a:rPr lang="tr-TR" sz="2600" dirty="0" smtClean="0"/>
              <a:t> ve yaptığı s</a:t>
            </a:r>
            <a:r>
              <a:rPr lang="pt-BR" sz="2600" dirty="0" smtClean="0"/>
              <a:t>istem </a:t>
            </a:r>
            <a:r>
              <a:rPr lang="pt-BR" sz="2600" dirty="0" smtClean="0"/>
              <a:t>çağrı</a:t>
            </a:r>
            <a:r>
              <a:rPr lang="tr-TR" sz="2600" dirty="0" err="1" smtClean="0"/>
              <a:t>ları</a:t>
            </a:r>
            <a:r>
              <a:rPr lang="tr-TR" sz="2600" dirty="0" smtClean="0"/>
              <a:t> (</a:t>
            </a:r>
            <a:r>
              <a:rPr lang="tr-TR" sz="2600" i="1" dirty="0" err="1" smtClean="0"/>
              <a:t>system</a:t>
            </a:r>
            <a:r>
              <a:rPr lang="tr-TR" sz="2600" i="1" dirty="0" smtClean="0"/>
              <a:t> </a:t>
            </a:r>
            <a:r>
              <a:rPr lang="tr-TR" sz="2600" i="1" dirty="0" err="1" smtClean="0"/>
              <a:t>call</a:t>
            </a:r>
            <a:r>
              <a:rPr lang="tr-TR" sz="2600" dirty="0" smtClean="0"/>
              <a:t>)</a:t>
            </a:r>
            <a:r>
              <a:rPr lang="pt-BR" sz="2600" dirty="0" smtClean="0"/>
              <a:t> </a:t>
            </a:r>
            <a:r>
              <a:rPr lang="tr-TR" sz="2600" dirty="0" smtClean="0"/>
              <a:t>çizgesi</a:t>
            </a:r>
            <a:r>
              <a:rPr lang="pt-BR" sz="2600" dirty="0" smtClean="0"/>
              <a:t>.</a:t>
            </a:r>
            <a:endParaRPr lang="tr-TR" sz="2600" dirty="0" smtClean="0"/>
          </a:p>
          <a:p>
            <a:pPr marL="0" indent="0">
              <a:spcBef>
                <a:spcPts val="0"/>
              </a:spcBef>
              <a:buNone/>
            </a:pP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 err="1" smtClean="0">
                <a:latin typeface="Consolas" panose="020B0609020204030204" pitchFamily="49" charset="0"/>
              </a:rPr>
              <a:t>int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main(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argc</a:t>
            </a:r>
            <a:r>
              <a:rPr lang="tr-TR" dirty="0">
                <a:latin typeface="Consolas" panose="020B0609020204030204" pitchFamily="49" charset="0"/>
              </a:rPr>
              <a:t> *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argv</a:t>
            </a:r>
            <a:r>
              <a:rPr lang="tr-TR" dirty="0">
                <a:latin typeface="Consolas" panose="020B0609020204030204" pitchFamily="49" charset="0"/>
              </a:rPr>
              <a:t>[])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fd</a:t>
            </a:r>
            <a:r>
              <a:rPr lang="tr-TR" dirty="0">
                <a:latin typeface="Consolas" panose="020B0609020204030204" pitchFamily="49" charset="0"/>
              </a:rPr>
              <a:t>, n = 0</a:t>
            </a:r>
            <a:r>
              <a:rPr lang="tr-TR" dirty="0" smtClean="0">
                <a:latin typeface="Consolas" panose="020B0609020204030204" pitchFamily="49" charset="0"/>
              </a:rPr>
              <a:t>; </a:t>
            </a:r>
            <a:r>
              <a:rPr lang="tr-TR" b="1" dirty="0" err="1" smtClean="0">
                <a:latin typeface="Consolas" panose="020B0609020204030204" pitchFamily="49" charset="0"/>
              </a:rPr>
              <a:t>char</a:t>
            </a:r>
            <a:r>
              <a:rPr lang="tr-TR" b="1" dirty="0" smtClean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buf</a:t>
            </a:r>
            <a:r>
              <a:rPr lang="tr-TR" dirty="0">
                <a:latin typeface="Consolas" panose="020B0609020204030204" pitchFamily="49" charset="0"/>
              </a:rPr>
              <a:t>[1];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latin typeface="Consolas" panose="020B0609020204030204" pitchFamily="49" charset="0"/>
              </a:rPr>
              <a:t>fd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= </a:t>
            </a:r>
            <a:r>
              <a:rPr lang="tr-TR" b="1" dirty="0" err="1">
                <a:latin typeface="Consolas" panose="020B0609020204030204" pitchFamily="49" charset="0"/>
              </a:rPr>
              <a:t>open</a:t>
            </a:r>
            <a:r>
              <a:rPr lang="tr-TR" dirty="0">
                <a:latin typeface="Consolas" panose="020B0609020204030204" pitchFamily="49" charset="0"/>
              </a:rPr>
              <a:t>("data", 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latin typeface="Consolas" panose="020B0609020204030204" pitchFamily="49" charset="0"/>
              </a:rPr>
              <a:t>if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fd</a:t>
            </a:r>
            <a:r>
              <a:rPr lang="tr-TR" dirty="0">
                <a:latin typeface="Consolas" panose="020B0609020204030204" pitchFamily="49" charset="0"/>
              </a:rPr>
              <a:t> &lt;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latin typeface="Consolas" panose="020B0609020204030204" pitchFamily="49" charset="0"/>
              </a:rPr>
              <a:t>printf</a:t>
            </a:r>
            <a:r>
              <a:rPr lang="tr-TR" dirty="0">
                <a:latin typeface="Consolas" panose="020B0609020204030204" pitchFamily="49" charset="0"/>
              </a:rPr>
              <a:t>("</a:t>
            </a:r>
            <a:r>
              <a:rPr lang="tr-TR" dirty="0" err="1">
                <a:latin typeface="Consolas" panose="020B0609020204030204" pitchFamily="49" charset="0"/>
              </a:rPr>
              <a:t>Bad</a:t>
            </a:r>
            <a:r>
              <a:rPr lang="tr-TR" dirty="0">
                <a:latin typeface="Consolas" panose="020B0609020204030204" pitchFamily="49" charset="0"/>
              </a:rPr>
              <a:t> data file\n</a:t>
            </a:r>
            <a:r>
              <a:rPr lang="tr-TR" dirty="0" smtClean="0">
                <a:latin typeface="Consolas" panose="020B0609020204030204" pitchFamily="49" charset="0"/>
              </a:rPr>
              <a:t>"); </a:t>
            </a:r>
            <a:r>
              <a:rPr lang="tr-TR" b="1" dirty="0" err="1" smtClean="0">
                <a:latin typeface="Consolas" panose="020B0609020204030204" pitchFamily="49" charset="0"/>
              </a:rPr>
              <a:t>exit</a:t>
            </a:r>
            <a:r>
              <a:rPr lang="tr-TR" dirty="0" smtClean="0">
                <a:latin typeface="Consolas" panose="020B0609020204030204" pitchFamily="49" charset="0"/>
              </a:rPr>
              <a:t>(1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} </a:t>
            </a:r>
            <a:r>
              <a:rPr lang="tr-TR" b="1" dirty="0">
                <a:latin typeface="Consolas" panose="020B0609020204030204" pitchFamily="49" charset="0"/>
              </a:rPr>
              <a:t>else</a:t>
            </a:r>
            <a:r>
              <a:rPr lang="tr-TR" dirty="0"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latin typeface="Consolas" panose="020B0609020204030204" pitchFamily="49" charset="0"/>
              </a:rPr>
              <a:t>while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(1)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latin typeface="Consolas" panose="020B0609020204030204" pitchFamily="49" charset="0"/>
              </a:rPr>
              <a:t>read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fd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buf</a:t>
            </a:r>
            <a:r>
              <a:rPr lang="tr-TR" dirty="0">
                <a:latin typeface="Consolas" panose="020B0609020204030204" pitchFamily="49" charset="0"/>
              </a:rPr>
              <a:t>, 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latin typeface="Consolas" panose="020B0609020204030204" pitchFamily="49" charset="0"/>
              </a:rPr>
              <a:t>if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buf</a:t>
            </a:r>
            <a:r>
              <a:rPr lang="tr-TR" dirty="0">
                <a:latin typeface="Consolas" panose="020B0609020204030204" pitchFamily="49" charset="0"/>
              </a:rPr>
              <a:t>[0] ==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    </a:t>
            </a:r>
            <a:r>
              <a:rPr lang="tr-TR" b="1" dirty="0" err="1" smtClean="0">
                <a:latin typeface="Consolas" panose="020B0609020204030204" pitchFamily="49" charset="0"/>
              </a:rPr>
              <a:t>close</a:t>
            </a:r>
            <a:r>
              <a:rPr lang="tr-TR" dirty="0" smtClean="0"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latin typeface="Consolas" panose="020B0609020204030204" pitchFamily="49" charset="0"/>
              </a:rPr>
              <a:t>fd</a:t>
            </a:r>
            <a:r>
              <a:rPr lang="tr-TR" dirty="0" smtClean="0">
                <a:latin typeface="Consolas" panose="020B0609020204030204" pitchFamily="49" charset="0"/>
              </a:rPr>
              <a:t>);</a:t>
            </a:r>
            <a:r>
              <a:rPr lang="tr-TR" b="1" dirty="0" err="1" smtClean="0">
                <a:latin typeface="Consolas" panose="020B0609020204030204" pitchFamily="49" charset="0"/>
              </a:rPr>
              <a:t>printf</a:t>
            </a:r>
            <a:r>
              <a:rPr lang="tr-TR" dirty="0">
                <a:latin typeface="Consolas" panose="020B0609020204030204" pitchFamily="49" charset="0"/>
              </a:rPr>
              <a:t>("n = %d\n", n</a:t>
            </a:r>
            <a:r>
              <a:rPr lang="tr-TR" dirty="0" smtClean="0">
                <a:latin typeface="Consolas" panose="020B0609020204030204" pitchFamily="49" charset="0"/>
              </a:rPr>
              <a:t>);</a:t>
            </a:r>
            <a:r>
              <a:rPr lang="tr-TR" b="1" dirty="0" err="1" smtClean="0">
                <a:latin typeface="Consolas" panose="020B0609020204030204" pitchFamily="49" charset="0"/>
              </a:rPr>
              <a:t>exit</a:t>
            </a:r>
            <a:r>
              <a:rPr lang="tr-TR" dirty="0" smtClean="0">
                <a:latin typeface="Consolas" panose="020B0609020204030204" pitchFamily="49" charset="0"/>
              </a:rPr>
              <a:t>(0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  n </a:t>
            </a:r>
            <a:r>
              <a:rPr lang="tr-TR" dirty="0">
                <a:latin typeface="Consolas" panose="020B0609020204030204" pitchFamily="49" charset="0"/>
              </a:rPr>
              <a:t>= n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latin typeface="Consolas" panose="020B0609020204030204" pitchFamily="49" charset="0"/>
              </a:rPr>
              <a:t>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57" y="2231249"/>
            <a:ext cx="2862943" cy="4125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144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Korumalı Alan </a:t>
            </a:r>
            <a:r>
              <a:rPr lang="tr-TR" dirty="0" smtClean="0"/>
              <a:t>(</a:t>
            </a:r>
            <a:r>
              <a:rPr lang="tr-TR" dirty="0" err="1"/>
              <a:t>S</a:t>
            </a:r>
            <a:r>
              <a:rPr lang="tr-TR" dirty="0" err="1" smtClean="0"/>
              <a:t>andboxing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16 MB </a:t>
            </a:r>
            <a:r>
              <a:rPr lang="tr-TR" dirty="0" smtClean="0"/>
              <a:t>alanlara </a:t>
            </a:r>
          </a:p>
          <a:p>
            <a:pPr marL="0" indent="0">
              <a:buNone/>
            </a:pPr>
            <a:r>
              <a:rPr lang="tr-TR" dirty="0" smtClean="0"/>
              <a:t>bölünmüş </a:t>
            </a:r>
            <a:r>
              <a:rPr lang="tr-TR" dirty="0" smtClean="0"/>
              <a:t>sanal </a:t>
            </a:r>
            <a:r>
              <a:rPr lang="tr-TR" dirty="0" smtClean="0"/>
              <a:t>bellek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(</a:t>
            </a:r>
            <a:r>
              <a:rPr lang="tr-TR" dirty="0"/>
              <a:t>b) Bir </a:t>
            </a:r>
            <a:r>
              <a:rPr lang="tr-TR" dirty="0" smtClean="0"/>
              <a:t>komutun </a:t>
            </a:r>
          </a:p>
          <a:p>
            <a:pPr marL="0" indent="0">
              <a:buNone/>
            </a:pPr>
            <a:r>
              <a:rPr lang="tr-TR" dirty="0" smtClean="0"/>
              <a:t>geçerliliğini kontrol etme.</a:t>
            </a:r>
          </a:p>
          <a:p>
            <a:r>
              <a:rPr lang="tr-TR" dirty="0" smtClean="0"/>
              <a:t>Programın kendi kendini</a:t>
            </a:r>
          </a:p>
          <a:p>
            <a:pPr marL="0" indent="0">
              <a:buNone/>
            </a:pPr>
            <a:r>
              <a:rPr lang="tr-TR" dirty="0" smtClean="0"/>
              <a:t>değiştirememesi için,</a:t>
            </a:r>
          </a:p>
          <a:p>
            <a:pPr marL="0" indent="0">
              <a:buNone/>
            </a:pPr>
            <a:r>
              <a:rPr lang="tr-TR" dirty="0" smtClean="0"/>
              <a:t>kod ve veri </a:t>
            </a:r>
            <a:r>
              <a:rPr lang="tr-TR" i="1" dirty="0" smtClean="0"/>
              <a:t>ayrı</a:t>
            </a:r>
            <a:r>
              <a:rPr lang="tr-TR" dirty="0" smtClean="0"/>
              <a:t> tutulur.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41" y="1825625"/>
            <a:ext cx="6424785" cy="4530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423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Yorumlamalı Dil </a:t>
            </a:r>
            <a:r>
              <a:rPr lang="tr-TR" dirty="0" smtClean="0"/>
              <a:t>(</a:t>
            </a:r>
            <a:r>
              <a:rPr lang="tr-TR" dirty="0"/>
              <a:t>I</a:t>
            </a:r>
            <a:r>
              <a:rPr lang="tr-TR" dirty="0" smtClean="0"/>
              <a:t>nterpreter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Donanıma doğrudan erişime izin verilmez.</a:t>
            </a:r>
          </a:p>
          <a:p>
            <a:r>
              <a:rPr lang="tr-TR" i="1" dirty="0" err="1" smtClean="0"/>
              <a:t>Applet</a:t>
            </a:r>
            <a:r>
              <a:rPr lang="tr-TR" dirty="0" smtClean="0"/>
              <a:t> </a:t>
            </a:r>
            <a:r>
              <a:rPr lang="tr-TR" dirty="0"/>
              <a:t>bir Web tarayıcısı tarafından yorumlanabilir.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7" name="Picture 6" descr="09-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651" y="2872006"/>
            <a:ext cx="6024699" cy="34843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63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Duvarı </a:t>
            </a:r>
            <a:r>
              <a:rPr lang="tr-TR" dirty="0" smtClean="0"/>
              <a:t>(Firewall)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İnternet üzerinden gelen verileri filtreleyip </a:t>
            </a:r>
            <a:r>
              <a:rPr lang="tr-TR" dirty="0"/>
              <a:t>inceleyen </a:t>
            </a:r>
            <a:r>
              <a:rPr lang="tr-TR" i="1" dirty="0" smtClean="0"/>
              <a:t>yazılım veya donanım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41B0B5FA-6E0A-4474-B132-80FC33A20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848" y="2481235"/>
            <a:ext cx="6134304" cy="37401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84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Java 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JVM bayt kodu doğrulayıcı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uygulamanın kurallara </a:t>
            </a:r>
            <a:r>
              <a:rPr lang="tr-TR" dirty="0"/>
              <a:t>uyup uymadığını kontrol </a:t>
            </a:r>
            <a:r>
              <a:rPr lang="tr-TR" dirty="0" smtClean="0"/>
              <a:t>eder</a:t>
            </a:r>
            <a:r>
              <a:rPr lang="tr-TR" dirty="0"/>
              <a:t>.</a:t>
            </a:r>
            <a:endParaRPr lang="tr-TR" dirty="0" smtClean="0"/>
          </a:p>
          <a:p>
            <a:r>
              <a:rPr lang="tr-TR" dirty="0" smtClean="0"/>
              <a:t>Uygulama</a:t>
            </a:r>
            <a:r>
              <a:rPr lang="tr-TR" dirty="0"/>
              <a:t>, </a:t>
            </a:r>
            <a:r>
              <a:rPr lang="tr-TR" dirty="0" smtClean="0"/>
              <a:t>işaretçi (</a:t>
            </a:r>
            <a:r>
              <a:rPr lang="tr-TR" i="1" dirty="0" err="1" smtClean="0"/>
              <a:t>pointer</a:t>
            </a:r>
            <a:r>
              <a:rPr lang="tr-TR" dirty="0" smtClean="0"/>
              <a:t>) </a:t>
            </a:r>
            <a:r>
              <a:rPr lang="tr-TR" dirty="0"/>
              <a:t>oluşturmaya çalışıyor mu</a:t>
            </a:r>
            <a:r>
              <a:rPr lang="tr-TR" dirty="0" smtClean="0"/>
              <a:t>?</a:t>
            </a:r>
          </a:p>
          <a:p>
            <a:r>
              <a:rPr lang="tr-TR" dirty="0" smtClean="0"/>
              <a:t>Gizli (</a:t>
            </a:r>
            <a:r>
              <a:rPr lang="tr-TR" i="1" dirty="0" err="1" smtClean="0"/>
              <a:t>private</a:t>
            </a:r>
            <a:r>
              <a:rPr lang="tr-TR" dirty="0" smtClean="0"/>
              <a:t>) </a:t>
            </a:r>
            <a:r>
              <a:rPr lang="tr-TR" dirty="0"/>
              <a:t>sınıf </a:t>
            </a:r>
            <a:r>
              <a:rPr lang="tr-TR" dirty="0" smtClean="0"/>
              <a:t>üyelerine erişim </a:t>
            </a:r>
            <a:r>
              <a:rPr lang="tr-TR" dirty="0"/>
              <a:t>kısıtlamalarını ihlal ediyor mu</a:t>
            </a:r>
            <a:r>
              <a:rPr lang="tr-TR" dirty="0" smtClean="0"/>
              <a:t>?</a:t>
            </a:r>
          </a:p>
          <a:p>
            <a:r>
              <a:rPr lang="tr-TR" dirty="0" smtClean="0"/>
              <a:t>Bir </a:t>
            </a:r>
            <a:r>
              <a:rPr lang="tr-TR" dirty="0"/>
              <a:t>tür değişkeni başka bir tür olarak kullanmaya çalışıyor mu</a:t>
            </a:r>
            <a:r>
              <a:rPr lang="tr-TR" dirty="0" smtClean="0"/>
              <a:t>?</a:t>
            </a:r>
          </a:p>
          <a:p>
            <a:r>
              <a:rPr lang="tr-TR" dirty="0" smtClean="0"/>
              <a:t>Yığın </a:t>
            </a:r>
            <a:r>
              <a:rPr lang="tr-TR" dirty="0"/>
              <a:t>taşmaları oluşturuyor mu</a:t>
            </a:r>
            <a:r>
              <a:rPr lang="tr-TR" dirty="0" smtClean="0"/>
              <a:t>? (</a:t>
            </a:r>
            <a:r>
              <a:rPr lang="tr-TR" i="1" dirty="0" err="1" smtClean="0"/>
              <a:t>stack</a:t>
            </a:r>
            <a:r>
              <a:rPr lang="tr-TR" i="1" dirty="0" smtClean="0"/>
              <a:t> </a:t>
            </a:r>
            <a:r>
              <a:rPr lang="tr-TR" i="1" dirty="0" err="1" smtClean="0"/>
              <a:t>overflows</a:t>
            </a:r>
            <a:r>
              <a:rPr lang="tr-TR" i="1" dirty="0" smtClean="0"/>
              <a:t>, </a:t>
            </a:r>
            <a:r>
              <a:rPr lang="tr-TR" i="1" dirty="0" err="1" smtClean="0"/>
              <a:t>underflows</a:t>
            </a:r>
            <a:r>
              <a:rPr lang="tr-TR" dirty="0" smtClean="0"/>
              <a:t>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3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5572</TotalTime>
  <Words>3476</Words>
  <Application>Microsoft Office PowerPoint</Application>
  <PresentationFormat>Widescreen</PresentationFormat>
  <Paragraphs>551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</vt:lpstr>
      <vt:lpstr>Calibri</vt:lpstr>
      <vt:lpstr>Calibri Light</vt:lpstr>
      <vt:lpstr>Consolas</vt:lpstr>
      <vt:lpstr>Wingdings</vt:lpstr>
      <vt:lpstr>1_Office Theme</vt:lpstr>
      <vt:lpstr>Bölüm 13: Güvenlik</vt:lpstr>
      <vt:lpstr>Güvenlik Hedefleri</vt:lpstr>
      <vt:lpstr>Tehditler</vt:lpstr>
      <vt:lpstr>Savunma Mekanizmaları</vt:lpstr>
      <vt:lpstr>Güvenlik İhlali Kategorileri</vt:lpstr>
      <vt:lpstr>Güvenlik İhlali Kategorileri</vt:lpstr>
      <vt:lpstr>İyi Uygulamalar (Best Practices)</vt:lpstr>
      <vt:lpstr>Yetkisiz Kullanıcı</vt:lpstr>
      <vt:lpstr>Kazayla Veri Kaybı</vt:lpstr>
      <vt:lpstr>Şifrelemenin Temelleri</vt:lpstr>
      <vt:lpstr>Gizli Anahtarlı Şifreleme (Secret Key)</vt:lpstr>
      <vt:lpstr>Açık Anahtarlı Şifreleme</vt:lpstr>
      <vt:lpstr>Dijital İmzalar</vt:lpstr>
      <vt:lpstr>Koruma Etki Alanları</vt:lpstr>
      <vt:lpstr>Koruma Etki Alanları</vt:lpstr>
      <vt:lpstr>Erişim Kontrol Listeleri</vt:lpstr>
      <vt:lpstr>Erişim Kontrol Listeleri</vt:lpstr>
      <vt:lpstr>Erişim Kontrol Listeleri</vt:lpstr>
      <vt:lpstr>Yetenek Listesi</vt:lpstr>
      <vt:lpstr>Yetenek Listesi</vt:lpstr>
      <vt:lpstr>Yetenek Listesi</vt:lpstr>
      <vt:lpstr>Güvenilir Bilgi İşleme Tabanı</vt:lpstr>
      <vt:lpstr>Güvenli Sistemlerin Biçimsel Modelleri</vt:lpstr>
      <vt:lpstr>Bell-La Padula Modeli</vt:lpstr>
      <vt:lpstr>Bell-La Padula Modeli</vt:lpstr>
      <vt:lpstr>Bell-La Padula Modeli</vt:lpstr>
      <vt:lpstr>Biba Modeli</vt:lpstr>
      <vt:lpstr>Biba Modeli</vt:lpstr>
      <vt:lpstr>Gizli Kanal (Covert Channel)</vt:lpstr>
      <vt:lpstr>Gizli Kanallar</vt:lpstr>
      <vt:lpstr>Gizli Kanallar</vt:lpstr>
      <vt:lpstr>Gizli Kanallar</vt:lpstr>
      <vt:lpstr>Kimlik Doğrulama (Authentication)</vt:lpstr>
      <vt:lpstr>Parola Kullanarak Kimlik Doğrulama</vt:lpstr>
      <vt:lpstr>Bilgisayar Korsanları Nasıl İçeri Girer?</vt:lpstr>
      <vt:lpstr>UNIX Parola Güvenliği</vt:lpstr>
      <vt:lpstr>Sorgu-Yanıt Kimlik Doğrulaması</vt:lpstr>
      <vt:lpstr>Fiziksel Nesne Kullanarak Kimlik Doğrulama</vt:lpstr>
      <vt:lpstr>Biyometri Kullanarak Kimlik Doğrulama</vt:lpstr>
      <vt:lpstr>Tuzak Kapısı (Trap Doors)</vt:lpstr>
      <vt:lpstr>Giriş Sayfası Kandırma Saldırısı </vt:lpstr>
      <vt:lpstr>Kod Hatalarından Yararlanma</vt:lpstr>
      <vt:lpstr>Ara Bellek Taşma Saldırıları</vt:lpstr>
      <vt:lpstr>Tampon Taşma Saldırıları</vt:lpstr>
      <vt:lpstr>libc Saldırıları</vt:lpstr>
      <vt:lpstr>Kod Enjeksiyon Saldırıları</vt:lpstr>
      <vt:lpstr>Kötü Amaçlı Yazılım (Malware)</vt:lpstr>
      <vt:lpstr>Virüs Çeşitleri</vt:lpstr>
      <vt:lpstr>Parazitik Virüsler</vt:lpstr>
      <vt:lpstr>Önyükleme Sektörü Virüsleri</vt:lpstr>
      <vt:lpstr>Casus Yazılım (Spyware)</vt:lpstr>
      <vt:lpstr>Casus Yazılım Nasıl Yayılır</vt:lpstr>
      <vt:lpstr>Casus Yazılım Gerçekleştirdiği Eylemler</vt:lpstr>
      <vt:lpstr>Kök Kullanıcı Takımı (Rootkit) Türleri</vt:lpstr>
      <vt:lpstr>Kök Kullanıcı Takımının Saklanabileceği Yerler</vt:lpstr>
      <vt:lpstr>Güvenlik Duvarı (Firewall)</vt:lpstr>
      <vt:lpstr>Antivirüs ve Anti-Antivirüs Teknikleri</vt:lpstr>
      <vt:lpstr>Virüs Tarayıcıları</vt:lpstr>
      <vt:lpstr>Virüs Tarayıcıları</vt:lpstr>
      <vt:lpstr>Kod İmzalama</vt:lpstr>
      <vt:lpstr>Hapse Atmak (Jailing)</vt:lpstr>
      <vt:lpstr>Model Tabanlı Saldırı Tespiti</vt:lpstr>
      <vt:lpstr>Korumalı Alan (Sandboxing)</vt:lpstr>
      <vt:lpstr>Yorumlamalı Dil (Interpreter)</vt:lpstr>
      <vt:lpstr>Güvenlik Duvarı (Firewall)</vt:lpstr>
      <vt:lpstr>Java Güvenlik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Guvenlik</dc:title>
  <dc:creator>sercan</dc:creator>
  <cp:lastModifiedBy>sercan</cp:lastModifiedBy>
  <cp:revision>481</cp:revision>
  <dcterms:created xsi:type="dcterms:W3CDTF">2023-01-12T09:23:55Z</dcterms:created>
  <dcterms:modified xsi:type="dcterms:W3CDTF">2024-02-05T08:08:57Z</dcterms:modified>
</cp:coreProperties>
</file>