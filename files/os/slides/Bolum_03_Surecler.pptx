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9" r:id="rId1"/>
  </p:sldMasterIdLst>
  <p:notesMasterIdLst>
    <p:notesMasterId r:id="rId71"/>
  </p:notesMasterIdLst>
  <p:sldIdLst>
    <p:sldId id="256" r:id="rId2"/>
    <p:sldId id="257" r:id="rId3"/>
    <p:sldId id="499" r:id="rId4"/>
    <p:sldId id="489" r:id="rId5"/>
    <p:sldId id="456" r:id="rId6"/>
    <p:sldId id="405" r:id="rId7"/>
    <p:sldId id="313" r:id="rId8"/>
    <p:sldId id="467" r:id="rId9"/>
    <p:sldId id="317" r:id="rId10"/>
    <p:sldId id="464" r:id="rId11"/>
    <p:sldId id="465" r:id="rId12"/>
    <p:sldId id="318" r:id="rId13"/>
    <p:sldId id="480" r:id="rId14"/>
    <p:sldId id="481" r:id="rId15"/>
    <p:sldId id="466" r:id="rId16"/>
    <p:sldId id="482" r:id="rId17"/>
    <p:sldId id="483" r:id="rId18"/>
    <p:sldId id="319" r:id="rId19"/>
    <p:sldId id="457" r:id="rId20"/>
    <p:sldId id="327" r:id="rId21"/>
    <p:sldId id="484" r:id="rId22"/>
    <p:sldId id="485" r:id="rId23"/>
    <p:sldId id="486" r:id="rId24"/>
    <p:sldId id="487" r:id="rId25"/>
    <p:sldId id="458" r:id="rId26"/>
    <p:sldId id="320" r:id="rId27"/>
    <p:sldId id="459" r:id="rId28"/>
    <p:sldId id="460" r:id="rId29"/>
    <p:sldId id="461" r:id="rId30"/>
    <p:sldId id="493" r:id="rId31"/>
    <p:sldId id="328" r:id="rId32"/>
    <p:sldId id="462" r:id="rId33"/>
    <p:sldId id="321" r:id="rId34"/>
    <p:sldId id="463" r:id="rId35"/>
    <p:sldId id="333" r:id="rId36"/>
    <p:sldId id="423" r:id="rId37"/>
    <p:sldId id="500" r:id="rId38"/>
    <p:sldId id="468" r:id="rId39"/>
    <p:sldId id="425" r:id="rId40"/>
    <p:sldId id="426" r:id="rId41"/>
    <p:sldId id="427" r:id="rId42"/>
    <p:sldId id="428" r:id="rId43"/>
    <p:sldId id="342" r:id="rId44"/>
    <p:sldId id="437" r:id="rId45"/>
    <p:sldId id="344" r:id="rId46"/>
    <p:sldId id="345" r:id="rId47"/>
    <p:sldId id="346" r:id="rId48"/>
    <p:sldId id="440" r:id="rId49"/>
    <p:sldId id="472" r:id="rId50"/>
    <p:sldId id="473" r:id="rId51"/>
    <p:sldId id="475" r:id="rId52"/>
    <p:sldId id="476" r:id="rId53"/>
    <p:sldId id="477" r:id="rId54"/>
    <p:sldId id="488" r:id="rId55"/>
    <p:sldId id="436" r:id="rId56"/>
    <p:sldId id="479" r:id="rId57"/>
    <p:sldId id="478" r:id="rId58"/>
    <p:sldId id="432" r:id="rId59"/>
    <p:sldId id="358" r:id="rId60"/>
    <p:sldId id="447" r:id="rId61"/>
    <p:sldId id="445" r:id="rId62"/>
    <p:sldId id="361" r:id="rId63"/>
    <p:sldId id="446" r:id="rId64"/>
    <p:sldId id="448" r:id="rId65"/>
    <p:sldId id="449" r:id="rId66"/>
    <p:sldId id="365" r:id="rId67"/>
    <p:sldId id="497" r:id="rId68"/>
    <p:sldId id="498" r:id="rId69"/>
    <p:sldId id="312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CFAA6-72E2-46AA-A31F-7256698B51A5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C4D3-4FDC-45D7-AD9A-F86E806099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53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6C4D3-4FDC-45D7-AD9A-F86E8060999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7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4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9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6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9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27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7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12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5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/>
              <a:t>Bölüm 3: </a:t>
            </a:r>
            <a:r>
              <a:rPr lang="tr-TR" b="1" dirty="0"/>
              <a:t>Süreçler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Yürütülmekte olan programlar.</a:t>
            </a:r>
          </a:p>
          <a:p>
            <a:r>
              <a:rPr lang="tr-TR" dirty="0"/>
              <a:t>Program belleğe yüklendiğinde süreç halini alır.</a:t>
            </a:r>
          </a:p>
          <a:p>
            <a:r>
              <a:rPr lang="tr-TR" dirty="0"/>
              <a:t>Programlar pasif, süreçler aktif.</a:t>
            </a:r>
          </a:p>
          <a:p>
            <a:r>
              <a:rPr lang="tr-TR" dirty="0"/>
              <a:t>Bir süreç sıralı bir şekilde yürütülür, </a:t>
            </a:r>
          </a:p>
          <a:p>
            <a:pPr lvl="1"/>
            <a:r>
              <a:rPr lang="tr-TR" dirty="0"/>
              <a:t>paralel yürütülemez.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ve Program Arasındaki Farklar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Program, bilgisayar komutlarının bir derlemesi. (</a:t>
            </a:r>
            <a:r>
              <a:rPr lang="tr-TR" i="1" dirty="0" err="1"/>
              <a:t>compilation</a:t>
            </a:r>
            <a:r>
              <a:rPr lang="tr-TR" dirty="0"/>
              <a:t>)</a:t>
            </a:r>
          </a:p>
          <a:p>
            <a:r>
              <a:rPr lang="tr-TR" dirty="0"/>
              <a:t>Yürütülebilir dosya halindedir. (ikili, </a:t>
            </a:r>
            <a:r>
              <a:rPr lang="tr-TR" i="1" dirty="0" err="1"/>
              <a:t>binary</a:t>
            </a:r>
            <a:r>
              <a:rPr lang="tr-TR" i="1" dirty="0"/>
              <a:t>, </a:t>
            </a:r>
            <a:r>
              <a:rPr lang="tr-TR" i="1" dirty="0" err="1"/>
              <a:t>executable</a:t>
            </a:r>
            <a:r>
              <a:rPr lang="tr-TR" dirty="0"/>
              <a:t>)</a:t>
            </a:r>
          </a:p>
          <a:p>
            <a:r>
              <a:rPr lang="tr-TR" dirty="0"/>
              <a:t>Program çalıştırıldığında, bir süreç oluşturulur.</a:t>
            </a:r>
          </a:p>
          <a:p>
            <a:r>
              <a:rPr lang="tr-TR" dirty="0"/>
              <a:t>Program diskte, Süreçler bellekte yer alır.</a:t>
            </a:r>
          </a:p>
          <a:p>
            <a:r>
              <a:rPr lang="tr-TR" dirty="0"/>
              <a:t>Bir programdan birden fazla süreç oluşturulabilir.</a:t>
            </a:r>
          </a:p>
          <a:p>
            <a:r>
              <a:rPr lang="tr-TR" dirty="0"/>
              <a:t>Her süreç farklı sistem kaynakları kullanır.</a:t>
            </a:r>
          </a:p>
          <a:p>
            <a:r>
              <a:rPr lang="tr-TR" dirty="0"/>
              <a:t>Süreçler arasında haberleşme, veri paylaşımı ve iş bölümü gerçekleşebilir.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2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Bellekte Süreç Yerleşimi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Metin (</a:t>
            </a:r>
            <a:r>
              <a:rPr lang="tr-TR" b="1" dirty="0" err="1"/>
              <a:t>text</a:t>
            </a:r>
            <a:r>
              <a:rPr lang="tr-TR" b="1" dirty="0"/>
              <a:t>) </a:t>
            </a:r>
            <a:r>
              <a:rPr lang="tr-TR" dirty="0"/>
              <a:t>bölümü, program kodunu içerir.</a:t>
            </a:r>
          </a:p>
          <a:p>
            <a:r>
              <a:rPr lang="tr-TR" b="1" dirty="0"/>
              <a:t>Program sayacı</a:t>
            </a:r>
            <a:r>
              <a:rPr lang="tr-TR" dirty="0"/>
              <a:t>, mevcut etkinliği tutar, işlemci içerisinde bir yazmaç.</a:t>
            </a:r>
          </a:p>
          <a:p>
            <a:r>
              <a:rPr lang="tr-TR" b="1" dirty="0" err="1"/>
              <a:t>Yığıt</a:t>
            </a:r>
            <a:r>
              <a:rPr lang="tr-TR" b="1" dirty="0"/>
              <a:t> (</a:t>
            </a:r>
            <a:r>
              <a:rPr lang="tr-TR" b="1" dirty="0" err="1"/>
              <a:t>stack</a:t>
            </a:r>
            <a:r>
              <a:rPr lang="tr-TR" b="1" dirty="0"/>
              <a:t>), </a:t>
            </a:r>
            <a:r>
              <a:rPr lang="tr-TR" dirty="0"/>
              <a:t>geçici verileri tutar.</a:t>
            </a:r>
          </a:p>
          <a:p>
            <a:pPr lvl="1"/>
            <a:r>
              <a:rPr lang="tr-TR" dirty="0"/>
              <a:t>Fonksiyon parametreleri, dönüş adresleri, yerel değişkenler.</a:t>
            </a:r>
          </a:p>
          <a:p>
            <a:r>
              <a:rPr lang="tr-TR" b="1" dirty="0"/>
              <a:t>Veri (data)</a:t>
            </a:r>
            <a:r>
              <a:rPr lang="tr-TR" dirty="0"/>
              <a:t> bölümü, genel (</a:t>
            </a:r>
            <a:r>
              <a:rPr lang="tr-TR" i="1" dirty="0"/>
              <a:t>global</a:t>
            </a:r>
            <a:r>
              <a:rPr lang="tr-TR" dirty="0"/>
              <a:t>) değişkenleri içerir.</a:t>
            </a:r>
          </a:p>
          <a:p>
            <a:r>
              <a:rPr lang="tr-TR" b="1" dirty="0"/>
              <a:t>Yığın (</a:t>
            </a:r>
            <a:r>
              <a:rPr lang="tr-TR" b="1" dirty="0" err="1"/>
              <a:t>heap</a:t>
            </a:r>
            <a:r>
              <a:rPr lang="tr-TR" b="1" dirty="0"/>
              <a:t>)</a:t>
            </a:r>
            <a:r>
              <a:rPr lang="tr-TR" dirty="0"/>
              <a:t>, çalışma süresi boyunca dinamik olarak ayrılan belleği içerir.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81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Bellekte Süreç Yerleşimi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1631805"/>
            <a:ext cx="10080000" cy="47887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Sözde Paralellik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Modern bir bilgisayardan aynı anda birçok işlem yürütmesi beklenir.</a:t>
            </a:r>
          </a:p>
          <a:p>
            <a:r>
              <a:rPr lang="tr-TR" dirty="0"/>
              <a:t>Tek işlemcili sistemde, herhangi bir anda, sadece bir işlem yürütülebilir.</a:t>
            </a:r>
          </a:p>
          <a:p>
            <a:r>
              <a:rPr lang="tr-TR" dirty="0"/>
              <a:t>Çoklu programlama sisteminde işlemci, </a:t>
            </a:r>
          </a:p>
          <a:p>
            <a:pPr lvl="1"/>
            <a:r>
              <a:rPr lang="tr-TR" dirty="0"/>
              <a:t>yüzlerce </a:t>
            </a:r>
            <a:r>
              <a:rPr lang="tr-TR" i="1" dirty="0" err="1"/>
              <a:t>ms</a:t>
            </a:r>
            <a:r>
              <a:rPr lang="tr-TR" dirty="0"/>
              <a:t> süresince çalışan süreçler arasında hızlıca geçiş yapar.</a:t>
            </a:r>
          </a:p>
          <a:p>
            <a:r>
              <a:rPr lang="tr-TR" dirty="0"/>
              <a:t>Sözde paralellik kullanıcılar için faydalıdır. </a:t>
            </a:r>
          </a:p>
          <a:p>
            <a:pPr lvl="1"/>
            <a:r>
              <a:rPr lang="tr-TR" dirty="0"/>
              <a:t>Ancak; yönetimi zordur.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3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Programlama Süreç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Dört sürecin çoklu programlanması. (b) Birbirinden bağımsız dört sürecin kavramsal modeli. (c) Aynı anda bir süreç etkin.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6" descr="02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711" y="3156628"/>
            <a:ext cx="9298577" cy="2983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958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Chrome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Browser</a:t>
            </a:r>
            <a:r>
              <a:rPr lang="tr-TR" dirty="0"/>
              <a:t>, kullanıcı </a:t>
            </a:r>
            <a:r>
              <a:rPr lang="tr-TR" dirty="0" err="1"/>
              <a:t>arayüzü</a:t>
            </a:r>
            <a:r>
              <a:rPr lang="tr-TR" dirty="0"/>
              <a:t>, disk ve ağ </a:t>
            </a:r>
            <a:r>
              <a:rPr lang="tr-TR" dirty="0" err="1"/>
              <a:t>arayüzlerini</a:t>
            </a:r>
            <a:r>
              <a:rPr lang="tr-TR" dirty="0"/>
              <a:t> yönetir.</a:t>
            </a:r>
          </a:p>
          <a:p>
            <a:r>
              <a:rPr lang="tr-TR" b="1" dirty="0" err="1"/>
              <a:t>Renderer</a:t>
            </a:r>
            <a:r>
              <a:rPr lang="tr-TR" dirty="0"/>
              <a:t>, web sayfası, HTML, </a:t>
            </a:r>
            <a:r>
              <a:rPr lang="tr-TR" dirty="0" err="1"/>
              <a:t>javascript</a:t>
            </a:r>
            <a:r>
              <a:rPr lang="tr-TR" dirty="0"/>
              <a:t> kodları ile ilgilenir.</a:t>
            </a:r>
          </a:p>
          <a:p>
            <a:r>
              <a:rPr lang="tr-TR" b="1" dirty="0"/>
              <a:t>Plug-in</a:t>
            </a:r>
            <a:r>
              <a:rPr lang="tr-TR" dirty="0"/>
              <a:t>, her bir </a:t>
            </a:r>
            <a:r>
              <a:rPr lang="tr-TR" dirty="0" err="1"/>
              <a:t>plug</a:t>
            </a:r>
            <a:r>
              <a:rPr lang="tr-TR" dirty="0"/>
              <a:t>-in için.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3689338"/>
            <a:ext cx="10800000" cy="21791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23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Başlatma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oluşturmaya neden olan olaylar:</a:t>
            </a:r>
          </a:p>
          <a:p>
            <a:pPr lvl="1"/>
            <a:r>
              <a:rPr lang="tr-TR" dirty="0"/>
              <a:t>Sistem başladığında otomatik olarak.</a:t>
            </a:r>
          </a:p>
          <a:p>
            <a:pPr lvl="1"/>
            <a:r>
              <a:rPr lang="tr-TR" dirty="0"/>
              <a:t>Çalışan bir süreç tarafından sistem çağrısının yürütülmesi.</a:t>
            </a:r>
          </a:p>
          <a:p>
            <a:pPr lvl="1"/>
            <a:r>
              <a:rPr lang="tr-TR" dirty="0"/>
              <a:t>Yeni bir süreç oluşturmak için kullanıcı isteği.</a:t>
            </a:r>
          </a:p>
          <a:p>
            <a:pPr lvl="1"/>
            <a:r>
              <a:rPr lang="tr-TR" dirty="0"/>
              <a:t>Toplu işin başlatılması. (</a:t>
            </a:r>
            <a:r>
              <a:rPr lang="tr-TR" i="1" dirty="0" err="1"/>
              <a:t>batch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Başlatma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Ata süreç, çocuk süreç başlatabilir. Tüm kaynakları paylaşabilirler. Paralel olarak çalışırlar. Ata süreç, çocuk sürecin sonlanmasını bekler. Çocuk süreç, ebeveyn sürecin adres uzayını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3711154"/>
            <a:ext cx="10800000" cy="17781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952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Başlatma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0" y="1538254"/>
            <a:ext cx="10800000" cy="46399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94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Sonlandırma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sonlandırılmasına neden olan olaylar:</a:t>
            </a:r>
          </a:p>
          <a:p>
            <a:pPr lvl="1"/>
            <a:r>
              <a:rPr lang="tr-TR" dirty="0"/>
              <a:t>Normal çıkış (</a:t>
            </a:r>
            <a:r>
              <a:rPr lang="tr-TR" i="1" dirty="0"/>
              <a:t>gönüllü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Hata sonrası çıkış (</a:t>
            </a:r>
            <a:r>
              <a:rPr lang="tr-TR" i="1" dirty="0"/>
              <a:t>gönüllü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Ölümcül (</a:t>
            </a:r>
            <a:r>
              <a:rPr lang="tr-TR" i="1" dirty="0" err="1"/>
              <a:t>fatal</a:t>
            </a:r>
            <a:r>
              <a:rPr lang="tr-TR" dirty="0"/>
              <a:t>) hata sonrası çıkış (</a:t>
            </a:r>
            <a:r>
              <a:rPr lang="tr-TR" i="1" dirty="0"/>
              <a:t>istemsiz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Başka bir süreç tarafından sonlandırılma (</a:t>
            </a:r>
            <a:r>
              <a:rPr lang="tr-TR" i="1" dirty="0" err="1"/>
              <a:t>kill</a:t>
            </a:r>
            <a:r>
              <a:rPr lang="tr-TR" dirty="0"/>
              <a:t>) (</a:t>
            </a:r>
            <a:r>
              <a:rPr lang="tr-TR" i="1" dirty="0"/>
              <a:t>istemsiz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4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Ölümcül Hatalar (</a:t>
            </a:r>
            <a:r>
              <a:rPr lang="tr-TR" dirty="0" err="1"/>
              <a:t>Fatal</a:t>
            </a:r>
            <a:r>
              <a:rPr lang="tr-TR" dirty="0"/>
              <a:t> </a:t>
            </a:r>
            <a:r>
              <a:rPr lang="tr-TR" dirty="0" err="1"/>
              <a:t>Errors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Ölümcül hatalar;</a:t>
            </a:r>
          </a:p>
          <a:p>
            <a:pPr lvl="1"/>
            <a:r>
              <a:rPr lang="tr-TR" dirty="0"/>
              <a:t>Bellek bölgesine izinsiz erişim.</a:t>
            </a:r>
          </a:p>
          <a:p>
            <a:pPr lvl="1"/>
            <a:r>
              <a:rPr lang="tr-TR" dirty="0"/>
              <a:t>Bellek taşmaları veya bellek sızıntıları.</a:t>
            </a:r>
          </a:p>
          <a:p>
            <a:pPr lvl="1"/>
            <a:r>
              <a:rPr lang="tr-TR" dirty="0"/>
              <a:t>Sıfıra bölme.</a:t>
            </a:r>
          </a:p>
          <a:p>
            <a:pPr lvl="1"/>
            <a:r>
              <a:rPr lang="tr-TR" dirty="0"/>
              <a:t>Dosya, ağ veya diğer kaynaklara hatalı erişim.</a:t>
            </a:r>
          </a:p>
          <a:p>
            <a:pPr lvl="1"/>
            <a:r>
              <a:rPr lang="tr-TR" dirty="0"/>
              <a:t>Kaynakların doğru şekilde serbest bırakılmaması.</a:t>
            </a:r>
          </a:p>
          <a:p>
            <a:r>
              <a:rPr lang="tr-TR" dirty="0"/>
              <a:t>Ölümcül bir hata durumunda, işletim sistemi ilgili süreci sonlandırır.</a:t>
            </a:r>
          </a:p>
          <a:p>
            <a:r>
              <a:rPr lang="tr-TR" dirty="0"/>
              <a:t>Süreç bellekten temizlenir ve sistem kaynakları serbest bırakılır.</a:t>
            </a:r>
          </a:p>
          <a:p>
            <a:r>
              <a:rPr lang="tr-TR" b="1" dirty="0" err="1"/>
              <a:t>Crash</a:t>
            </a:r>
            <a:r>
              <a:rPr lang="tr-TR" b="1" dirty="0"/>
              <a:t> </a:t>
            </a:r>
            <a:r>
              <a:rPr lang="tr-TR" b="1" dirty="0" err="1"/>
              <a:t>Dump</a:t>
            </a:r>
            <a:r>
              <a:rPr lang="tr-TR" b="1" dirty="0"/>
              <a:t> Analizi</a:t>
            </a:r>
            <a:r>
              <a:rPr lang="tr-TR" dirty="0"/>
              <a:t>: hatanın nedenlerini belirlemek için kullanılır.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045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Sonlandırma (</a:t>
            </a:r>
            <a:r>
              <a:rPr lang="tr-TR" dirty="0" err="1"/>
              <a:t>Kill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Süreci aniden durdurma ve sonlandırma işlemidir.</a:t>
            </a:r>
          </a:p>
          <a:p>
            <a:r>
              <a:rPr lang="tr-TR" i="1" dirty="0" err="1"/>
              <a:t>kill</a:t>
            </a:r>
            <a:r>
              <a:rPr lang="tr-TR" dirty="0"/>
              <a:t>, terminalden kullanılan bir komuttur. </a:t>
            </a:r>
            <a:r>
              <a:rPr lang="tr-TR" i="1" dirty="0"/>
              <a:t>PID </a:t>
            </a:r>
            <a:r>
              <a:rPr lang="tr-TR" dirty="0"/>
              <a:t>ile kullanılır.</a:t>
            </a:r>
          </a:p>
          <a:p>
            <a:pPr lvl="1"/>
            <a:r>
              <a:rPr lang="tr-TR" dirty="0"/>
              <a:t>Her süreç, tekil bir kimliğe (</a:t>
            </a:r>
            <a:r>
              <a:rPr lang="tr-TR" i="1" dirty="0" err="1"/>
              <a:t>Process</a:t>
            </a:r>
            <a:r>
              <a:rPr lang="tr-TR" i="1" dirty="0"/>
              <a:t> ID - PID</a:t>
            </a:r>
            <a:r>
              <a:rPr lang="tr-TR" dirty="0"/>
              <a:t>) sahiptir.</a:t>
            </a:r>
          </a:p>
          <a:p>
            <a:pPr lvl="1"/>
            <a:r>
              <a:rPr lang="tr-TR" dirty="0" err="1">
                <a:latin typeface="Consolas" panose="020B0609020204030204" pitchFamily="49" charset="0"/>
              </a:rPr>
              <a:t>kill</a:t>
            </a:r>
            <a:r>
              <a:rPr lang="tr-TR" dirty="0">
                <a:latin typeface="Consolas" panose="020B0609020204030204" pitchFamily="49" charset="0"/>
              </a:rPr>
              <a:t> -9 1234</a:t>
            </a:r>
          </a:p>
          <a:p>
            <a:r>
              <a:rPr lang="tr-TR" dirty="0"/>
              <a:t>Süreç sonlandırma bir sinyal göndererek yapılır.</a:t>
            </a:r>
          </a:p>
          <a:p>
            <a:pPr lvl="1"/>
            <a:r>
              <a:rPr lang="tr-TR" dirty="0"/>
              <a:t>SIGTERM (15): Süreç kendi kaynaklarını temizleyebilir.</a:t>
            </a:r>
          </a:p>
          <a:p>
            <a:pPr lvl="1"/>
            <a:r>
              <a:rPr lang="tr-TR" dirty="0"/>
              <a:t>SIGKILL (9): Süreç kaynak temizliği yapamaz, aniden zorla kapatılır.</a:t>
            </a:r>
          </a:p>
          <a:p>
            <a:r>
              <a:rPr lang="tr-TR" dirty="0"/>
              <a:t>Aktif terminaldeki süreci durdurmak için </a:t>
            </a:r>
            <a:r>
              <a:rPr lang="tr-TR" i="1" dirty="0" err="1"/>
              <a:t>Ctrl+C</a:t>
            </a:r>
            <a:r>
              <a:rPr lang="tr-TR" i="1" dirty="0"/>
              <a:t> </a:t>
            </a:r>
            <a:r>
              <a:rPr lang="tr-TR" dirty="0" err="1"/>
              <a:t>kısayolu</a:t>
            </a:r>
            <a:r>
              <a:rPr lang="tr-TR" dirty="0"/>
              <a:t> kullanılır.</a:t>
            </a:r>
          </a:p>
          <a:p>
            <a:r>
              <a:rPr lang="tr-TR" b="1" dirty="0" err="1"/>
              <a:t>pkill</a:t>
            </a:r>
            <a:r>
              <a:rPr lang="tr-TR" b="1" dirty="0"/>
              <a:t>, </a:t>
            </a:r>
            <a:r>
              <a:rPr lang="tr-TR" b="1" dirty="0" err="1"/>
              <a:t>killall</a:t>
            </a:r>
            <a:r>
              <a:rPr lang="tr-TR" dirty="0"/>
              <a:t>: İsimle süreç sonlandırma araçları.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3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Sonlandırma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Sürecin sonlanmasını bekleyen başka bir süreç yoksa,</a:t>
            </a:r>
          </a:p>
          <a:p>
            <a:pPr lvl="1"/>
            <a:r>
              <a:rPr lang="tr-TR" dirty="0"/>
              <a:t>(</a:t>
            </a:r>
            <a:r>
              <a:rPr lang="tr-TR" dirty="0" err="1">
                <a:latin typeface="Consolas" panose="020B0609020204030204" pitchFamily="49" charset="0"/>
              </a:rPr>
              <a:t>wait</a:t>
            </a:r>
            <a:r>
              <a:rPr lang="tr-TR" dirty="0">
                <a:latin typeface="Consolas" panose="020B0609020204030204" pitchFamily="49" charset="0"/>
              </a:rPr>
              <a:t>()</a:t>
            </a:r>
            <a:r>
              <a:rPr lang="tr-TR" dirty="0"/>
              <a:t> çağrılmamışsa) </a:t>
            </a:r>
            <a:r>
              <a:rPr lang="tr-TR" b="1" dirty="0" err="1"/>
              <a:t>zombie</a:t>
            </a:r>
            <a:r>
              <a:rPr lang="tr-TR" dirty="0"/>
              <a:t> olarak adlandırılır.</a:t>
            </a:r>
          </a:p>
          <a:p>
            <a:r>
              <a:rPr lang="tr-TR" dirty="0"/>
              <a:t>Ata süreç, </a:t>
            </a:r>
            <a:r>
              <a:rPr lang="tr-TR" dirty="0" err="1">
                <a:latin typeface="Consolas" panose="020B0609020204030204" pitchFamily="49" charset="0"/>
              </a:rPr>
              <a:t>wait</a:t>
            </a:r>
            <a:r>
              <a:rPr lang="tr-TR" dirty="0">
                <a:latin typeface="Consolas" panose="020B0609020204030204" pitchFamily="49" charset="0"/>
              </a:rPr>
              <a:t>()</a:t>
            </a:r>
            <a:r>
              <a:rPr lang="tr-TR" dirty="0"/>
              <a:t> çağıramadan sonlanmışsa, </a:t>
            </a:r>
          </a:p>
          <a:p>
            <a:pPr lvl="1"/>
            <a:r>
              <a:rPr lang="tr-TR" b="1" dirty="0" err="1"/>
              <a:t>orphan</a:t>
            </a:r>
            <a:r>
              <a:rPr lang="tr-TR" dirty="0"/>
              <a:t> olarak adlandırılır.</a:t>
            </a:r>
          </a:p>
          <a:p>
            <a:r>
              <a:rPr lang="tr-TR" dirty="0" err="1">
                <a:latin typeface="Consolas" panose="020B0609020204030204" pitchFamily="49" charset="0"/>
              </a:rPr>
              <a:t>exit</a:t>
            </a:r>
            <a:r>
              <a:rPr lang="tr-TR" dirty="0">
                <a:latin typeface="Consolas" panose="020B0609020204030204" pitchFamily="49" charset="0"/>
              </a:rPr>
              <a:t>() </a:t>
            </a:r>
            <a:r>
              <a:rPr lang="tr-TR" dirty="0"/>
              <a:t>sistem çağrısı ile süreç sonlanabilir.</a:t>
            </a:r>
          </a:p>
          <a:p>
            <a:r>
              <a:rPr lang="tr-TR" dirty="0" err="1">
                <a:latin typeface="Consolas" panose="020B0609020204030204" pitchFamily="49" charset="0"/>
              </a:rPr>
              <a:t>abort</a:t>
            </a:r>
            <a:r>
              <a:rPr lang="tr-TR" dirty="0">
                <a:latin typeface="Consolas" panose="020B0609020204030204" pitchFamily="49" charset="0"/>
              </a:rPr>
              <a:t>()</a:t>
            </a:r>
            <a:r>
              <a:rPr lang="tr-TR" dirty="0"/>
              <a:t> sistem çağrısı ile süreç sonlandırılabilir.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94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Zombi</a:t>
            </a:r>
            <a:r>
              <a:rPr lang="tr-TR" dirty="0"/>
              <a:t> Süreç (</a:t>
            </a:r>
            <a:r>
              <a:rPr lang="tr-TR" dirty="0" err="1"/>
              <a:t>Zombie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 görevini tamamlayan süreci hemen temizlemez. </a:t>
            </a:r>
          </a:p>
          <a:p>
            <a:r>
              <a:rPr lang="tr-TR" dirty="0"/>
              <a:t>Bu süreç, ölü bir süreçtir. Ancak, </a:t>
            </a:r>
            <a:r>
              <a:rPr lang="tr-TR" dirty="0" err="1"/>
              <a:t>PID'si</a:t>
            </a:r>
            <a:r>
              <a:rPr lang="tr-TR" dirty="0"/>
              <a:t> hala süreç tablosunda bulunur.</a:t>
            </a:r>
          </a:p>
          <a:p>
            <a:r>
              <a:rPr lang="tr-TR" dirty="0" err="1"/>
              <a:t>Zombi</a:t>
            </a:r>
            <a:r>
              <a:rPr lang="tr-TR" dirty="0"/>
              <a:t> süreçler genellikle ataları tarafından beklenen çocuk süreçleridir.</a:t>
            </a:r>
          </a:p>
          <a:p>
            <a:r>
              <a:rPr lang="tr-TR" dirty="0"/>
              <a:t>Ata süreç, çocuğunun tamamlandığını öğrenmek için bekleyebilir.</a:t>
            </a:r>
          </a:p>
          <a:p>
            <a:r>
              <a:rPr lang="tr-TR" dirty="0"/>
              <a:t>İşletim sistemi, çocuk sürecin </a:t>
            </a:r>
            <a:r>
              <a:rPr lang="tr-TR" i="1" dirty="0"/>
              <a:t>geri dönüş durumu</a:t>
            </a:r>
            <a:r>
              <a:rPr lang="tr-TR" dirty="0"/>
              <a:t>nu ata süreçten alıp kaynakları temizler.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4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Yetim Süreç (</a:t>
            </a:r>
            <a:r>
              <a:rPr lang="tr-TR" dirty="0" err="1"/>
              <a:t>Orphan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sürecin atası sonlandığında yetim kalır. </a:t>
            </a:r>
          </a:p>
          <a:p>
            <a:r>
              <a:rPr lang="tr-TR" dirty="0"/>
              <a:t>Bu durumda, işletim sistemi yetim sürecin atasını </a:t>
            </a:r>
            <a:r>
              <a:rPr lang="tr-TR" i="1" dirty="0" err="1"/>
              <a:t>init</a:t>
            </a:r>
            <a:r>
              <a:rPr lang="tr-TR" dirty="0"/>
              <a:t> (</a:t>
            </a:r>
            <a:r>
              <a:rPr lang="tr-TR" i="1" dirty="0"/>
              <a:t>PID 1</a:t>
            </a:r>
            <a:r>
              <a:rPr lang="tr-TR" dirty="0"/>
              <a:t>) olarak atar.</a:t>
            </a:r>
          </a:p>
          <a:p>
            <a:r>
              <a:rPr lang="tr-TR" dirty="0"/>
              <a:t>Yetim süreçler, ata sürecin sonlandığı, ancak; çocuk sürecin tamamlanmadığı durumları ifade eder. </a:t>
            </a:r>
          </a:p>
          <a:p>
            <a:r>
              <a:rPr lang="tr-TR" dirty="0"/>
              <a:t>Yetim süreçler, sistem kaynaklarını tutmaya devam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4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Durumları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süreç yürütülürken durum (</a:t>
            </a:r>
            <a:r>
              <a:rPr lang="tr-TR" i="1" dirty="0" err="1"/>
              <a:t>status</a:t>
            </a:r>
            <a:r>
              <a:rPr lang="tr-TR" dirty="0"/>
              <a:t>) değiştirir.</a:t>
            </a:r>
          </a:p>
          <a:p>
            <a:pPr lvl="1"/>
            <a:r>
              <a:rPr lang="tr-TR" b="1" dirty="0"/>
              <a:t>Yeni</a:t>
            </a:r>
            <a:r>
              <a:rPr lang="tr-TR" dirty="0"/>
              <a:t>: Süreç oluşturuldu. (</a:t>
            </a:r>
            <a:r>
              <a:rPr lang="tr-TR" i="1" dirty="0" err="1"/>
              <a:t>new</a:t>
            </a:r>
            <a:r>
              <a:rPr lang="tr-TR" dirty="0"/>
              <a:t>)</a:t>
            </a:r>
          </a:p>
          <a:p>
            <a:pPr lvl="1"/>
            <a:r>
              <a:rPr lang="tr-TR" b="1" dirty="0"/>
              <a:t>Çalışıyor</a:t>
            </a:r>
            <a:r>
              <a:rPr lang="tr-TR" dirty="0"/>
              <a:t>: Talimatlar yürütülüyor. (</a:t>
            </a:r>
            <a:r>
              <a:rPr lang="tr-TR" i="1" dirty="0" err="1"/>
              <a:t>running</a:t>
            </a:r>
            <a:r>
              <a:rPr lang="tr-TR" dirty="0"/>
              <a:t>)</a:t>
            </a:r>
          </a:p>
          <a:p>
            <a:pPr lvl="1"/>
            <a:r>
              <a:rPr lang="tr-TR" b="1" dirty="0"/>
              <a:t>Bekliyor</a:t>
            </a:r>
            <a:r>
              <a:rPr lang="tr-TR" dirty="0"/>
              <a:t>: Bir olayın gerçekleşmesi bekleniyor. (</a:t>
            </a:r>
            <a:r>
              <a:rPr lang="tr-TR" i="1" dirty="0" err="1"/>
              <a:t>waiting</a:t>
            </a:r>
            <a:r>
              <a:rPr lang="tr-TR" dirty="0"/>
              <a:t>)</a:t>
            </a:r>
          </a:p>
          <a:p>
            <a:pPr lvl="1"/>
            <a:r>
              <a:rPr lang="tr-TR" b="1" dirty="0"/>
              <a:t>Hazır</a:t>
            </a:r>
            <a:r>
              <a:rPr lang="tr-TR" dirty="0"/>
              <a:t>: İşlemciye atanma bekleniyor. (</a:t>
            </a:r>
            <a:r>
              <a:rPr lang="tr-TR" i="1" dirty="0" err="1"/>
              <a:t>ready</a:t>
            </a:r>
            <a:r>
              <a:rPr lang="tr-TR" dirty="0"/>
              <a:t>)</a:t>
            </a:r>
          </a:p>
          <a:p>
            <a:pPr lvl="1"/>
            <a:r>
              <a:rPr lang="tr-TR" b="1" dirty="0"/>
              <a:t>Sonlandırıldı</a:t>
            </a:r>
            <a:r>
              <a:rPr lang="tr-TR" dirty="0"/>
              <a:t>: Yürütme tamamlandı. (</a:t>
            </a:r>
            <a:r>
              <a:rPr lang="tr-TR" i="1" dirty="0" err="1"/>
              <a:t>terminated</a:t>
            </a:r>
            <a:r>
              <a:rPr lang="tr-TR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72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Durumları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2406899"/>
            <a:ext cx="8640000" cy="33681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915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 tablosunda 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control</a:t>
            </a:r>
            <a:r>
              <a:rPr lang="tr-TR" i="1" dirty="0"/>
              <a:t> </a:t>
            </a:r>
            <a:r>
              <a:rPr lang="tr-TR" i="1" dirty="0" err="1"/>
              <a:t>block</a:t>
            </a:r>
            <a:r>
              <a:rPr lang="tr-TR" dirty="0"/>
              <a:t>) bulunan alanlar.</a:t>
            </a:r>
          </a:p>
          <a:p>
            <a:r>
              <a:rPr lang="tr-TR" b="1" dirty="0"/>
              <a:t>Süreç yönetimi</a:t>
            </a:r>
          </a:p>
          <a:p>
            <a:pPr lvl="1"/>
            <a:r>
              <a:rPr lang="en-US" i="1" dirty="0"/>
              <a:t>Registers</a:t>
            </a:r>
            <a:r>
              <a:rPr lang="tr-TR" i="1" dirty="0"/>
              <a:t>,</a:t>
            </a:r>
            <a:r>
              <a:rPr lang="en-US" i="1" dirty="0"/>
              <a:t> Program counter</a:t>
            </a:r>
            <a:r>
              <a:rPr lang="tr-TR" i="1" dirty="0"/>
              <a:t>,</a:t>
            </a:r>
            <a:r>
              <a:rPr lang="en-US" i="1" dirty="0"/>
              <a:t> Program status </a:t>
            </a:r>
            <a:r>
              <a:rPr lang="tr-TR" i="1" dirty="0"/>
              <a:t>w</a:t>
            </a:r>
            <a:r>
              <a:rPr lang="en-US" i="1" dirty="0" err="1"/>
              <a:t>ord</a:t>
            </a:r>
            <a:r>
              <a:rPr lang="tr-TR" i="1" dirty="0"/>
              <a:t>, </a:t>
            </a:r>
            <a:r>
              <a:rPr lang="en-US" i="1" dirty="0"/>
              <a:t>Stack pointer</a:t>
            </a:r>
            <a:r>
              <a:rPr lang="tr-TR" i="1" dirty="0"/>
              <a:t>, </a:t>
            </a:r>
            <a:r>
              <a:rPr lang="en-US" i="1" dirty="0"/>
              <a:t>Process state</a:t>
            </a:r>
            <a:r>
              <a:rPr lang="tr-TR" i="1" dirty="0"/>
              <a:t>, </a:t>
            </a:r>
            <a:r>
              <a:rPr lang="en-US" i="1" dirty="0"/>
              <a:t>Priority</a:t>
            </a:r>
            <a:r>
              <a:rPr lang="tr-TR" i="1" dirty="0"/>
              <a:t>, </a:t>
            </a:r>
            <a:r>
              <a:rPr lang="en-US" i="1" dirty="0"/>
              <a:t>Scheduling parameters</a:t>
            </a:r>
            <a:r>
              <a:rPr lang="tr-TR" i="1" dirty="0"/>
              <a:t>, </a:t>
            </a:r>
            <a:r>
              <a:rPr lang="en-US" i="1" dirty="0"/>
              <a:t>Process ID</a:t>
            </a:r>
            <a:r>
              <a:rPr lang="tr-TR" i="1" dirty="0"/>
              <a:t>, </a:t>
            </a:r>
            <a:r>
              <a:rPr lang="en-US" i="1" dirty="0"/>
              <a:t>Parent process</a:t>
            </a:r>
            <a:r>
              <a:rPr lang="tr-TR" i="1" dirty="0"/>
              <a:t>, </a:t>
            </a:r>
            <a:r>
              <a:rPr lang="en-US" i="1" dirty="0"/>
              <a:t>Process group</a:t>
            </a:r>
            <a:r>
              <a:rPr lang="tr-TR" i="1" dirty="0"/>
              <a:t>, </a:t>
            </a:r>
            <a:r>
              <a:rPr lang="en-US" i="1" dirty="0"/>
              <a:t>Signals</a:t>
            </a:r>
            <a:r>
              <a:rPr lang="tr-TR" i="1" dirty="0"/>
              <a:t>, </a:t>
            </a:r>
            <a:r>
              <a:rPr lang="en-US" i="1" dirty="0"/>
              <a:t>Time when process started</a:t>
            </a:r>
            <a:r>
              <a:rPr lang="tr-TR" i="1" dirty="0"/>
              <a:t>, </a:t>
            </a:r>
            <a:r>
              <a:rPr lang="en-US" i="1" dirty="0"/>
              <a:t>CPU time used</a:t>
            </a:r>
            <a:r>
              <a:rPr lang="tr-TR" i="1" dirty="0"/>
              <a:t>, </a:t>
            </a:r>
            <a:r>
              <a:rPr lang="en-US" i="1" dirty="0"/>
              <a:t>Children's CPU time</a:t>
            </a:r>
            <a:r>
              <a:rPr lang="tr-TR" i="1" dirty="0"/>
              <a:t>, </a:t>
            </a:r>
            <a:r>
              <a:rPr lang="en-US" i="1" dirty="0"/>
              <a:t>Time of next alarm</a:t>
            </a:r>
            <a:endParaRPr lang="tr-TR" i="1" dirty="0"/>
          </a:p>
          <a:p>
            <a:r>
              <a:rPr lang="tr-TR" b="1" dirty="0"/>
              <a:t>Bellek yönetimi</a:t>
            </a:r>
          </a:p>
          <a:p>
            <a:pPr lvl="1"/>
            <a:r>
              <a:rPr lang="en-US" i="1" dirty="0"/>
              <a:t>Pointer to </a:t>
            </a:r>
            <a:r>
              <a:rPr lang="tr-TR" i="1" dirty="0"/>
              <a:t>{</a:t>
            </a:r>
            <a:r>
              <a:rPr lang="en-US" i="1" dirty="0"/>
              <a:t>text</a:t>
            </a:r>
            <a:r>
              <a:rPr lang="tr-TR" i="1" dirty="0"/>
              <a:t>, data, </a:t>
            </a:r>
            <a:r>
              <a:rPr lang="tr-TR" i="1" dirty="0" err="1"/>
              <a:t>stack</a:t>
            </a:r>
            <a:r>
              <a:rPr lang="tr-TR" i="1" dirty="0"/>
              <a:t>}</a:t>
            </a:r>
            <a:r>
              <a:rPr lang="en-US" i="1" dirty="0"/>
              <a:t> segment info</a:t>
            </a:r>
            <a:endParaRPr lang="tr-TR" i="1" dirty="0"/>
          </a:p>
          <a:p>
            <a:r>
              <a:rPr lang="tr-TR" b="1" dirty="0"/>
              <a:t>Dosya yönetimi</a:t>
            </a:r>
          </a:p>
          <a:p>
            <a:pPr lvl="1"/>
            <a:r>
              <a:rPr lang="tr-TR" i="1" dirty="0"/>
              <a:t>R</a:t>
            </a:r>
            <a:r>
              <a:rPr lang="en-US" i="1" dirty="0" err="1"/>
              <a:t>oot</a:t>
            </a:r>
            <a:r>
              <a:rPr lang="en-US" i="1" dirty="0"/>
              <a:t> directory</a:t>
            </a:r>
            <a:r>
              <a:rPr lang="tr-TR" i="1" dirty="0"/>
              <a:t>,</a:t>
            </a:r>
            <a:r>
              <a:rPr lang="en-US" i="1" dirty="0"/>
              <a:t> Working directory</a:t>
            </a:r>
            <a:r>
              <a:rPr lang="tr-TR" i="1" dirty="0"/>
              <a:t>,</a:t>
            </a:r>
            <a:r>
              <a:rPr lang="en-US" i="1" dirty="0"/>
              <a:t> File descriptors</a:t>
            </a:r>
            <a:r>
              <a:rPr lang="tr-TR" i="1" dirty="0"/>
              <a:t>, </a:t>
            </a:r>
            <a:r>
              <a:rPr lang="en-US" i="1" dirty="0"/>
              <a:t>User ID</a:t>
            </a:r>
            <a:r>
              <a:rPr lang="tr-TR" i="1" dirty="0"/>
              <a:t>, </a:t>
            </a:r>
            <a:r>
              <a:rPr lang="en-US" i="1" dirty="0"/>
              <a:t>Group ID</a:t>
            </a:r>
            <a:endParaRPr lang="tr-TR" i="1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82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Yazmaçlar </a:t>
            </a:r>
            <a:r>
              <a:rPr lang="tr-TR" dirty="0"/>
              <a:t>(</a:t>
            </a:r>
            <a:r>
              <a:rPr lang="tr-TR" i="1" dirty="0" err="1"/>
              <a:t>registers</a:t>
            </a:r>
            <a:r>
              <a:rPr lang="tr-TR" dirty="0"/>
              <a:t>): CPU içinde bulunan hızlı ve küçük depolama alanları; geçici veri saklama ve işleme için kullanılır.</a:t>
            </a:r>
          </a:p>
          <a:p>
            <a:r>
              <a:rPr lang="tr-TR" b="1" dirty="0"/>
              <a:t>Program Sayacı </a:t>
            </a:r>
            <a:r>
              <a:rPr lang="tr-TR" dirty="0"/>
              <a:t>(</a:t>
            </a:r>
            <a:r>
              <a:rPr lang="tr-TR" i="1" dirty="0" err="1"/>
              <a:t>counter</a:t>
            </a:r>
            <a:r>
              <a:rPr lang="tr-TR" dirty="0"/>
              <a:t>): İşletilecek bir sonraki komutun bellek adresini tutar.</a:t>
            </a:r>
          </a:p>
          <a:p>
            <a:r>
              <a:rPr lang="tr-TR" b="1" dirty="0"/>
              <a:t>Program Durum Sözcüğü </a:t>
            </a:r>
            <a:r>
              <a:rPr lang="tr-TR" dirty="0"/>
              <a:t>(</a:t>
            </a:r>
            <a:r>
              <a:rPr lang="tr-TR" i="1" dirty="0" err="1"/>
              <a:t>status</a:t>
            </a:r>
            <a:r>
              <a:rPr lang="tr-TR" i="1" dirty="0"/>
              <a:t> </a:t>
            </a:r>
            <a:r>
              <a:rPr lang="tr-TR" i="1" dirty="0" err="1"/>
              <a:t>word</a:t>
            </a:r>
            <a:r>
              <a:rPr lang="tr-TR" dirty="0"/>
              <a:t>): İşlemcinin mevcut durumu hakkında durum bayrakları ve kontrol bilgilerini içerir.</a:t>
            </a:r>
          </a:p>
          <a:p>
            <a:r>
              <a:rPr lang="tr-TR" b="1" dirty="0"/>
              <a:t>Yığın İşaretçisi </a:t>
            </a:r>
            <a:r>
              <a:rPr lang="tr-TR" dirty="0"/>
              <a:t>(</a:t>
            </a:r>
            <a:r>
              <a:rPr lang="tr-TR" i="1" dirty="0" err="1"/>
              <a:t>stack</a:t>
            </a:r>
            <a:r>
              <a:rPr lang="tr-TR" i="1" dirty="0"/>
              <a:t> </a:t>
            </a:r>
            <a:r>
              <a:rPr lang="tr-TR" i="1" dirty="0" err="1"/>
              <a:t>pointer</a:t>
            </a:r>
            <a:r>
              <a:rPr lang="tr-TR" dirty="0"/>
              <a:t>): Bellekteki yığının üstünü işaret eder; fonksiyon çağrıları ve yerel değişken yönetimi için kullanılır.</a:t>
            </a:r>
          </a:p>
          <a:p>
            <a:r>
              <a:rPr lang="tr-TR" b="1" dirty="0"/>
              <a:t>Süreç Durumu </a:t>
            </a:r>
            <a:r>
              <a:rPr lang="tr-TR" dirty="0"/>
              <a:t>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state</a:t>
            </a:r>
            <a:r>
              <a:rPr lang="tr-TR" dirty="0"/>
              <a:t>): Bir sürecin mevcut durumunu temsil eder (örneğin, çalışıyor, bekliyor veya sonlandırıldı).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297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Öncelik </a:t>
            </a:r>
            <a:r>
              <a:rPr lang="tr-TR" dirty="0"/>
              <a:t>(</a:t>
            </a:r>
            <a:r>
              <a:rPr lang="tr-TR" i="1" dirty="0" err="1"/>
              <a:t>priority</a:t>
            </a:r>
            <a:r>
              <a:rPr lang="tr-TR" dirty="0"/>
              <a:t>): Bir sürece atanmış öncelik seviyesi; çoklu görev sistemlerinde çizelgelemeyi etkiler.</a:t>
            </a:r>
          </a:p>
          <a:p>
            <a:r>
              <a:rPr lang="tr-TR" b="1" dirty="0"/>
              <a:t>Çizelgeleme Parametreleri </a:t>
            </a:r>
            <a:r>
              <a:rPr lang="tr-TR" dirty="0"/>
              <a:t>(</a:t>
            </a:r>
            <a:r>
              <a:rPr lang="tr-TR" i="1" dirty="0" err="1"/>
              <a:t>scheduling</a:t>
            </a:r>
            <a:r>
              <a:rPr lang="tr-TR" i="1" dirty="0"/>
              <a:t> </a:t>
            </a:r>
            <a:r>
              <a:rPr lang="tr-TR" i="1" dirty="0" err="1"/>
              <a:t>parameters</a:t>
            </a:r>
            <a:r>
              <a:rPr lang="tr-TR" dirty="0"/>
              <a:t>): Sürecin çizelgeleme algoritmasını etkileyen parametreler; öncelik, işlem süresi vb.</a:t>
            </a:r>
          </a:p>
          <a:p>
            <a:r>
              <a:rPr lang="tr-TR" b="1" dirty="0"/>
              <a:t>Süreç Kimliği</a:t>
            </a:r>
            <a:r>
              <a:rPr lang="tr-TR" dirty="0"/>
              <a:t> 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identifier</a:t>
            </a:r>
            <a:r>
              <a:rPr lang="tr-TR" dirty="0"/>
              <a:t>): İşletim sistemi tarafından her sürece atanan benzersiz (</a:t>
            </a:r>
            <a:r>
              <a:rPr lang="tr-TR" i="1" dirty="0" err="1"/>
              <a:t>unique</a:t>
            </a:r>
            <a:r>
              <a:rPr lang="tr-TR" dirty="0"/>
              <a:t>) tekil tanımlayıcı.</a:t>
            </a:r>
          </a:p>
          <a:p>
            <a:r>
              <a:rPr lang="tr-TR" b="1" dirty="0"/>
              <a:t>Ata Süreç</a:t>
            </a:r>
            <a:r>
              <a:rPr lang="tr-TR" dirty="0"/>
              <a:t> (</a:t>
            </a:r>
            <a:r>
              <a:rPr lang="tr-TR" i="1" dirty="0" err="1"/>
              <a:t>parent</a:t>
            </a:r>
            <a:r>
              <a:rPr lang="tr-TR" i="1" dirty="0"/>
              <a:t> </a:t>
            </a:r>
            <a:r>
              <a:rPr lang="tr-TR" i="1" dirty="0" err="1"/>
              <a:t>process</a:t>
            </a:r>
            <a:r>
              <a:rPr lang="tr-TR" dirty="0"/>
              <a:t>): Mevcut süreci oluşturan veya başlatan süreç.</a:t>
            </a:r>
          </a:p>
          <a:p>
            <a:r>
              <a:rPr lang="tr-TR" b="1" dirty="0"/>
              <a:t>Süreç Grubu</a:t>
            </a:r>
            <a:r>
              <a:rPr lang="tr-TR" dirty="0"/>
              <a:t> (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group</a:t>
            </a:r>
            <a:r>
              <a:rPr lang="tr-TR" dirty="0"/>
              <a:t>): Bir veya daha fazla süreci tek bir varlık gibi yönetebilen bir grup.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833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Sinyaller</a:t>
            </a:r>
            <a:r>
              <a:rPr lang="tr-TR" dirty="0"/>
              <a:t> (</a:t>
            </a:r>
            <a:r>
              <a:rPr lang="tr-TR" i="1" dirty="0" err="1"/>
              <a:t>signals</a:t>
            </a:r>
            <a:r>
              <a:rPr lang="tr-TR" dirty="0"/>
              <a:t>): Süreçler arasında iletişim veya bir sürece belirli olayları bildirme mekanizmaları.</a:t>
            </a:r>
          </a:p>
          <a:p>
            <a:r>
              <a:rPr lang="tr-TR" b="1" dirty="0"/>
              <a:t>Başlama Zamanı</a:t>
            </a:r>
            <a:r>
              <a:rPr lang="tr-TR" dirty="0"/>
              <a:t> (</a:t>
            </a:r>
            <a:r>
              <a:rPr lang="tr-TR" i="1" dirty="0"/>
              <a:t>time </a:t>
            </a:r>
            <a:r>
              <a:rPr lang="tr-TR" i="1" dirty="0" err="1"/>
              <a:t>when</a:t>
            </a:r>
            <a:r>
              <a:rPr lang="tr-TR" i="1" dirty="0"/>
              <a:t> </a:t>
            </a:r>
            <a:r>
              <a:rPr lang="tr-TR" i="1" dirty="0" err="1"/>
              <a:t>started</a:t>
            </a:r>
            <a:r>
              <a:rPr lang="tr-TR" dirty="0"/>
              <a:t>): Sürecin başlatıldığı anı gösteren bir zaman damgası.</a:t>
            </a:r>
          </a:p>
          <a:p>
            <a:r>
              <a:rPr lang="tr-TR" b="1" dirty="0"/>
              <a:t>Kullanılan CPU Zamanı</a:t>
            </a:r>
            <a:r>
              <a:rPr lang="tr-TR" dirty="0"/>
              <a:t> (</a:t>
            </a:r>
            <a:r>
              <a:rPr lang="tr-TR" i="1" dirty="0"/>
              <a:t>CPU time </a:t>
            </a:r>
            <a:r>
              <a:rPr lang="tr-TR" i="1" dirty="0" err="1"/>
              <a:t>used</a:t>
            </a:r>
            <a:r>
              <a:rPr lang="tr-TR" i="1" dirty="0"/>
              <a:t>)</a:t>
            </a:r>
            <a:r>
              <a:rPr lang="tr-TR" dirty="0"/>
              <a:t>: Süreç tarafından tüketilen toplam CPU zamanı.</a:t>
            </a:r>
          </a:p>
          <a:p>
            <a:r>
              <a:rPr lang="tr-TR" b="1" dirty="0"/>
              <a:t>Çocukların CPU Zamanı</a:t>
            </a:r>
            <a:r>
              <a:rPr lang="tr-TR" dirty="0"/>
              <a:t> (</a:t>
            </a:r>
            <a:r>
              <a:rPr lang="tr-TR" i="1" dirty="0" err="1"/>
              <a:t>children's</a:t>
            </a:r>
            <a:r>
              <a:rPr lang="tr-TR" i="1" dirty="0"/>
              <a:t> CPU time</a:t>
            </a:r>
            <a:r>
              <a:rPr lang="tr-TR" dirty="0"/>
              <a:t>): Mevcut sürecin tüm çocuk süreçlerince tüketilen toplam CPU zamanı.</a:t>
            </a:r>
          </a:p>
          <a:p>
            <a:r>
              <a:rPr lang="tr-TR" b="1" dirty="0"/>
              <a:t>Sonraki Alarm Zamanı</a:t>
            </a:r>
            <a:r>
              <a:rPr lang="tr-TR" dirty="0"/>
              <a:t> (</a:t>
            </a:r>
            <a:r>
              <a:rPr lang="tr-TR" i="1" dirty="0"/>
              <a:t>time of </a:t>
            </a:r>
            <a:r>
              <a:rPr lang="tr-TR" i="1" dirty="0" err="1"/>
              <a:t>next</a:t>
            </a:r>
            <a:r>
              <a:rPr lang="tr-TR" i="1" dirty="0"/>
              <a:t> alarm</a:t>
            </a:r>
            <a:r>
              <a:rPr lang="tr-TR" dirty="0"/>
              <a:t>): Sürecin belirli bir sinyal alması veya bir olayı tetiklemesi için planlanan zaman.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85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{</a:t>
            </a:r>
            <a:r>
              <a:rPr lang="tr-TR" b="1" dirty="0" err="1"/>
              <a:t>Text</a:t>
            </a:r>
            <a:r>
              <a:rPr lang="tr-TR" b="1" dirty="0"/>
              <a:t>, Data, </a:t>
            </a:r>
            <a:r>
              <a:rPr lang="tr-TR" b="1" dirty="0" err="1"/>
              <a:t>Stack</a:t>
            </a:r>
            <a:r>
              <a:rPr lang="tr-TR" b="1" dirty="0"/>
              <a:t>} </a:t>
            </a:r>
            <a:r>
              <a:rPr lang="tr-TR" b="1" dirty="0" err="1"/>
              <a:t>Segment</a:t>
            </a:r>
            <a:r>
              <a:rPr lang="tr-TR" b="1" dirty="0"/>
              <a:t> İşaretçisi</a:t>
            </a:r>
            <a:r>
              <a:rPr lang="tr-TR" dirty="0"/>
              <a:t>: kod, veri ve yığını gösteren bellek kesimlerinin işaretçileri.</a:t>
            </a:r>
          </a:p>
          <a:p>
            <a:r>
              <a:rPr lang="tr-TR" b="1" dirty="0"/>
              <a:t>Kök Dizin</a:t>
            </a:r>
            <a:r>
              <a:rPr lang="tr-TR" dirty="0"/>
              <a:t> (</a:t>
            </a:r>
            <a:r>
              <a:rPr lang="tr-TR" i="1" dirty="0" err="1"/>
              <a:t>root</a:t>
            </a:r>
            <a:r>
              <a:rPr lang="tr-TR" i="1" dirty="0"/>
              <a:t> </a:t>
            </a:r>
            <a:r>
              <a:rPr lang="tr-TR" i="1" dirty="0" err="1"/>
              <a:t>directory</a:t>
            </a:r>
            <a:r>
              <a:rPr lang="tr-TR" dirty="0"/>
              <a:t>): Dosya sisteminde en üst düzey dizin.</a:t>
            </a:r>
          </a:p>
          <a:p>
            <a:r>
              <a:rPr lang="tr-TR" b="1" dirty="0"/>
              <a:t>Çalışma Dizini</a:t>
            </a:r>
            <a:r>
              <a:rPr lang="tr-TR" dirty="0"/>
              <a:t> (</a:t>
            </a:r>
            <a:r>
              <a:rPr lang="tr-TR" i="1" dirty="0" err="1"/>
              <a:t>working</a:t>
            </a:r>
            <a:r>
              <a:rPr lang="tr-TR" i="1" dirty="0"/>
              <a:t> </a:t>
            </a:r>
            <a:r>
              <a:rPr lang="tr-TR" i="1" dirty="0" err="1"/>
              <a:t>directory</a:t>
            </a:r>
            <a:r>
              <a:rPr lang="tr-TR" dirty="0"/>
              <a:t>): Bir sürecin çalıştığı mevcut dizin.</a:t>
            </a:r>
          </a:p>
          <a:p>
            <a:r>
              <a:rPr lang="tr-TR" b="1" dirty="0"/>
              <a:t>Dosya Tanımlayıcıları</a:t>
            </a:r>
            <a:r>
              <a:rPr lang="tr-TR" dirty="0"/>
              <a:t> (</a:t>
            </a:r>
            <a:r>
              <a:rPr lang="tr-TR" i="1" dirty="0"/>
              <a:t>file </a:t>
            </a:r>
            <a:r>
              <a:rPr lang="tr-TR" i="1" dirty="0" err="1"/>
              <a:t>descriptors</a:t>
            </a:r>
            <a:r>
              <a:rPr lang="tr-TR" dirty="0"/>
              <a:t>): Açık dosyalarla ilişkilendirilen tanımlayıcılar; giriş/çıkış akışlarını temsil eder.</a:t>
            </a:r>
          </a:p>
          <a:p>
            <a:r>
              <a:rPr lang="tr-TR" b="1" dirty="0"/>
              <a:t>Kullanıcı Kimliği</a:t>
            </a:r>
            <a:r>
              <a:rPr lang="tr-TR" dirty="0"/>
              <a:t> (</a:t>
            </a:r>
            <a:r>
              <a:rPr lang="tr-TR" i="1" dirty="0"/>
              <a:t>User ID</a:t>
            </a:r>
            <a:r>
              <a:rPr lang="tr-TR" dirty="0"/>
              <a:t>): İşletim sistemi tarafından her kullanıcıya atanan tekil tanımlayıcı.</a:t>
            </a:r>
          </a:p>
          <a:p>
            <a:r>
              <a:rPr lang="tr-TR" b="1" dirty="0"/>
              <a:t>Grup Kimliği</a:t>
            </a:r>
            <a:r>
              <a:rPr lang="tr-TR" dirty="0"/>
              <a:t> (</a:t>
            </a:r>
            <a:r>
              <a:rPr lang="tr-TR" i="1" dirty="0" err="1"/>
              <a:t>Group</a:t>
            </a:r>
            <a:r>
              <a:rPr lang="tr-TR" i="1" dirty="0"/>
              <a:t> ID</a:t>
            </a:r>
            <a:r>
              <a:rPr lang="tr-TR" dirty="0"/>
              <a:t>): İşletim sistemi tarafından her kullanıcı grubuna atanan tekil tanımlayıcı.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563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Süreçlerin Çizelgelenmesi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latin typeface="Consolas" panose="020B0609020204030204" pitchFamily="49" charset="0"/>
              </a:rPr>
              <a:t>pid </a:t>
            </a:r>
            <a:r>
              <a:rPr lang="en-US" sz="2200" dirty="0" err="1">
                <a:latin typeface="Consolas" panose="020B0609020204030204" pitchFamily="49" charset="0"/>
              </a:rPr>
              <a:t>t_pid</a:t>
            </a:r>
            <a:r>
              <a:rPr lang="en-US" sz="2200" dirty="0">
                <a:latin typeface="Consolas" panose="020B0609020204030204" pitchFamily="49" charset="0"/>
              </a:rPr>
              <a:t>; 			</a:t>
            </a:r>
            <a:r>
              <a:rPr lang="tr-TR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/* process identifier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long state; 			</a:t>
            </a:r>
            <a:r>
              <a:rPr lang="tr-TR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/* state of the process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</a:rPr>
              <a:t>unsigned </a:t>
            </a:r>
            <a:r>
              <a:rPr lang="en-US" sz="2200" dirty="0" err="1">
                <a:latin typeface="Consolas" panose="020B0609020204030204" pitchFamily="49" charset="0"/>
              </a:rPr>
              <a:t>int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time_slice</a:t>
            </a:r>
            <a:r>
              <a:rPr lang="en-US" sz="2200" dirty="0">
                <a:latin typeface="Consolas" panose="020B0609020204030204" pitchFamily="49" charset="0"/>
              </a:rPr>
              <a:t> 	</a:t>
            </a:r>
            <a:r>
              <a:rPr lang="tr-TR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/* scheduling information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 err="1">
                <a:latin typeface="Consolas" panose="020B0609020204030204" pitchFamily="49" charset="0"/>
              </a:rPr>
              <a:t>struct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task_struct</a:t>
            </a:r>
            <a:r>
              <a:rPr lang="en-US" sz="2200" dirty="0">
                <a:latin typeface="Consolas" panose="020B0609020204030204" pitchFamily="49" charset="0"/>
              </a:rPr>
              <a:t> *parent;</a:t>
            </a:r>
            <a:r>
              <a:rPr lang="tr-TR" sz="2200" dirty="0">
                <a:latin typeface="Consolas" panose="020B0609020204030204" pitchFamily="49" charset="0"/>
              </a:rPr>
              <a:t>  </a:t>
            </a:r>
            <a:r>
              <a:rPr lang="en-US" sz="2200" dirty="0">
                <a:latin typeface="Consolas" panose="020B0609020204030204" pitchFamily="49" charset="0"/>
              </a:rPr>
              <a:t>/* this process’s parent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 err="1">
                <a:latin typeface="Consolas" panose="020B0609020204030204" pitchFamily="49" charset="0"/>
              </a:rPr>
              <a:t>struct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list_head</a:t>
            </a:r>
            <a:r>
              <a:rPr lang="en-US" sz="2200" dirty="0">
                <a:latin typeface="Consolas" panose="020B0609020204030204" pitchFamily="49" charset="0"/>
              </a:rPr>
              <a:t> children; </a:t>
            </a:r>
            <a:r>
              <a:rPr lang="tr-TR" sz="2200" dirty="0">
                <a:latin typeface="Consolas" panose="020B0609020204030204" pitchFamily="49" charset="0"/>
              </a:rPr>
              <a:t>  </a:t>
            </a:r>
            <a:r>
              <a:rPr lang="en-US" sz="2200" dirty="0">
                <a:latin typeface="Consolas" panose="020B0609020204030204" pitchFamily="49" charset="0"/>
              </a:rPr>
              <a:t>/* this process’s children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 err="1">
                <a:latin typeface="Consolas" panose="020B0609020204030204" pitchFamily="49" charset="0"/>
              </a:rPr>
              <a:t>struct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files_struct</a:t>
            </a:r>
            <a:r>
              <a:rPr lang="en-US" sz="2200" dirty="0">
                <a:latin typeface="Consolas" panose="020B0609020204030204" pitchFamily="49" charset="0"/>
              </a:rPr>
              <a:t> *files;</a:t>
            </a:r>
            <a:r>
              <a:rPr lang="tr-TR" sz="2200" dirty="0">
                <a:latin typeface="Consolas" panose="020B0609020204030204" pitchFamily="49" charset="0"/>
              </a:rPr>
              <a:t>  </a:t>
            </a:r>
            <a:r>
              <a:rPr lang="en-US" sz="2200" dirty="0">
                <a:latin typeface="Consolas" panose="020B0609020204030204" pitchFamily="49" charset="0"/>
              </a:rPr>
              <a:t>/* list of open files */ </a:t>
            </a: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200" dirty="0" err="1">
                <a:latin typeface="Consolas" panose="020B0609020204030204" pitchFamily="49" charset="0"/>
              </a:rPr>
              <a:t>struct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mm_struct</a:t>
            </a:r>
            <a:r>
              <a:rPr lang="en-US" sz="2200" dirty="0">
                <a:latin typeface="Consolas" panose="020B0609020204030204" pitchFamily="49" charset="0"/>
              </a:rPr>
              <a:t> *mm; 	</a:t>
            </a:r>
            <a:r>
              <a:rPr lang="tr-TR" sz="2200" dirty="0">
                <a:latin typeface="Consolas" panose="020B0609020204030204" pitchFamily="49" charset="0"/>
              </a:rPr>
              <a:t>       </a:t>
            </a:r>
            <a:r>
              <a:rPr lang="en-US" sz="2200" dirty="0">
                <a:latin typeface="Consolas" panose="020B0609020204030204" pitchFamily="49" charset="0"/>
              </a:rPr>
              <a:t>/* address space of this process */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898" y="4114800"/>
            <a:ext cx="6510204" cy="2241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7454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Süreçlerin Çizelgelenmesi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 kesme (</a:t>
            </a:r>
            <a:r>
              <a:rPr lang="tr-TR" i="1" dirty="0" err="1"/>
              <a:t>interrupt</a:t>
            </a:r>
            <a:r>
              <a:rPr lang="tr-TR" dirty="0"/>
              <a:t>) ve çizelgelemeden sorumludur.</a:t>
            </a:r>
          </a:p>
          <a:p>
            <a:r>
              <a:rPr lang="tr-TR" dirty="0"/>
              <a:t>Çizelgeleyici, sonraki yürütme için mevcut süreçler arasından seçim yapar.</a:t>
            </a:r>
          </a:p>
          <a:p>
            <a:r>
              <a:rPr lang="tr-TR" b="1" dirty="0"/>
              <a:t>Ready </a:t>
            </a:r>
            <a:r>
              <a:rPr lang="tr-TR" b="1" dirty="0" err="1"/>
              <a:t>queue</a:t>
            </a:r>
            <a:r>
              <a:rPr lang="tr-TR" dirty="0"/>
              <a:t>, ana bellekte hazır bulunan ve yürütmeyi bekleyen süreçler.</a:t>
            </a:r>
          </a:p>
          <a:p>
            <a:r>
              <a:rPr lang="tr-TR" b="1" dirty="0" err="1"/>
              <a:t>Wait</a:t>
            </a:r>
            <a:r>
              <a:rPr lang="tr-TR" b="1" dirty="0"/>
              <a:t> </a:t>
            </a:r>
            <a:r>
              <a:rPr lang="tr-TR" b="1" dirty="0" err="1"/>
              <a:t>queue</a:t>
            </a:r>
            <a:r>
              <a:rPr lang="tr-TR" dirty="0"/>
              <a:t>, bir olayı bekleyen süreçler kümesi (G/Ç gibi).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Picture 6" descr="02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231" y="4020079"/>
            <a:ext cx="4025537" cy="21204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70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Hazır ve Bekleme Kuyrukları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366435"/>
            <a:ext cx="8640000" cy="51391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122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Süreçlerin Çizelgelenmesi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506646"/>
            <a:ext cx="8640000" cy="49862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43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 Anahtarlama (</a:t>
            </a:r>
            <a:r>
              <a:rPr lang="tr-TR" dirty="0" err="1"/>
              <a:t>Context</a:t>
            </a:r>
            <a:r>
              <a:rPr lang="tr-TR" dirty="0"/>
              <a:t> Switch)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000" y="1648812"/>
            <a:ext cx="5760000" cy="4707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2590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 Anahtarlama (</a:t>
            </a:r>
            <a:r>
              <a:rPr lang="tr-TR" dirty="0" err="1"/>
              <a:t>Context</a:t>
            </a:r>
            <a:r>
              <a:rPr lang="tr-TR" dirty="0"/>
              <a:t> Switch)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İşlemci başka bir sürece geçtiğinde, </a:t>
            </a:r>
          </a:p>
          <a:p>
            <a:pPr lvl="1"/>
            <a:r>
              <a:rPr lang="tr-TR" dirty="0"/>
              <a:t>eski sürecin durumunu kaydetmeli ve </a:t>
            </a:r>
          </a:p>
          <a:p>
            <a:pPr lvl="1"/>
            <a:r>
              <a:rPr lang="tr-TR" dirty="0"/>
              <a:t>yeni süreç için durum bilgisini yeniden yüklemelidir.</a:t>
            </a:r>
          </a:p>
          <a:p>
            <a:r>
              <a:rPr lang="tr-TR" dirty="0"/>
              <a:t>Bağlam, süreç için süreç tablosunda (</a:t>
            </a:r>
            <a:r>
              <a:rPr lang="tr-TR" i="1" dirty="0"/>
              <a:t>PCB</a:t>
            </a:r>
            <a:r>
              <a:rPr lang="tr-TR" dirty="0"/>
              <a:t>) tutulan bilgilerdir.</a:t>
            </a:r>
          </a:p>
          <a:p>
            <a:r>
              <a:rPr lang="tr-TR" dirty="0"/>
              <a:t>Bağlam anahtarlama süresi sisteme ek yük (</a:t>
            </a:r>
            <a:r>
              <a:rPr lang="tr-TR" i="1" dirty="0" err="1"/>
              <a:t>overhead</a:t>
            </a:r>
            <a:r>
              <a:rPr lang="tr-TR" dirty="0"/>
              <a:t>) oluşturur.</a:t>
            </a:r>
          </a:p>
          <a:p>
            <a:r>
              <a:rPr lang="tr-TR" dirty="0"/>
              <a:t>Sistem, anahtarlama yaparken başka bir iş yapamaz.</a:t>
            </a:r>
          </a:p>
          <a:p>
            <a:r>
              <a:rPr lang="tr-TR" dirty="0"/>
              <a:t>İşletim sistemi ve PCB ne kadar </a:t>
            </a:r>
            <a:r>
              <a:rPr lang="tr-TR" i="1" dirty="0"/>
              <a:t>karmaşıksa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bağlam anahtarlama o kadar </a:t>
            </a:r>
            <a:r>
              <a:rPr lang="tr-TR" i="1" dirty="0"/>
              <a:t>uzun</a:t>
            </a:r>
            <a:r>
              <a:rPr lang="tr-TR" dirty="0"/>
              <a:t> sürer.</a:t>
            </a:r>
          </a:p>
          <a:p>
            <a:r>
              <a:rPr lang="tr-TR" dirty="0"/>
              <a:t>Donanım desteği bu süreyi kısaltabilir. (ekstra yazmaçlar gibi)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532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Kesmenin Ele Alınması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Bir kesme oluştuğunda;</a:t>
            </a:r>
          </a:p>
          <a:p>
            <a:pPr marL="514350" indent="-514350">
              <a:buAutoNum type="arabicPeriod"/>
            </a:pPr>
            <a:r>
              <a:rPr lang="tr-TR" dirty="0"/>
              <a:t>Donanım, program sayacı vb. verileri kaydeder.</a:t>
            </a:r>
          </a:p>
          <a:p>
            <a:pPr marL="514350" indent="-514350">
              <a:buAutoNum type="arabicPeriod"/>
            </a:pPr>
            <a:r>
              <a:rPr lang="tr-TR" dirty="0"/>
              <a:t>Donanım, kesme vektöründen yeni program sayacı yükler. </a:t>
            </a:r>
          </a:p>
          <a:p>
            <a:pPr marL="514350" indent="-514350">
              <a:buAutoNum type="arabicPeriod"/>
            </a:pPr>
            <a:r>
              <a:rPr lang="tr-TR" dirty="0"/>
              <a:t>Assembly dili prosedürü, yazmaçları kaydeder.</a:t>
            </a:r>
          </a:p>
          <a:p>
            <a:pPr marL="514350" indent="-514350">
              <a:buAutoNum type="arabicPeriod"/>
            </a:pPr>
            <a:r>
              <a:rPr lang="tr-TR" dirty="0"/>
              <a:t>Assembly dili prosedürü, yeni yığın hazırlar.</a:t>
            </a:r>
          </a:p>
          <a:p>
            <a:pPr marL="514350" indent="-514350">
              <a:buAutoNum type="arabicPeriod"/>
            </a:pPr>
            <a:r>
              <a:rPr lang="tr-TR" dirty="0"/>
              <a:t>C kesme hizmeti çalışır.</a:t>
            </a:r>
          </a:p>
          <a:p>
            <a:pPr marL="514350" indent="-514350">
              <a:buAutoNum type="arabicPeriod"/>
            </a:pPr>
            <a:r>
              <a:rPr lang="tr-TR" dirty="0"/>
              <a:t>Çizelgeleyici hangi sürecin çalıştırılacağına karar verir.</a:t>
            </a:r>
          </a:p>
          <a:p>
            <a:pPr marL="514350" indent="-514350">
              <a:buAutoNum type="arabicPeriod"/>
            </a:pPr>
            <a:r>
              <a:rPr lang="tr-TR" dirty="0"/>
              <a:t>C kesme hizmeti, Assembly dili prosedürüne geri döner.</a:t>
            </a:r>
          </a:p>
          <a:p>
            <a:pPr marL="514350" indent="-514350">
              <a:buAutoNum type="arabicPeriod"/>
            </a:pPr>
            <a:r>
              <a:rPr lang="tr-TR" dirty="0"/>
              <a:t>Assembly dili prosedürü seçilen süreci başlatır.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78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CPU'ya bağlı (</a:t>
            </a:r>
            <a:r>
              <a:rPr lang="tr-TR" i="1" dirty="0" err="1"/>
              <a:t>bound</a:t>
            </a:r>
            <a:r>
              <a:rPr lang="tr-TR" dirty="0"/>
              <a:t>) bir süreç. (b) G/Ç'ye bağlı bir süreç.</a:t>
            </a:r>
          </a:p>
          <a:p>
            <a:pPr marL="514350" indent="-514350">
              <a:buAutoNum type="alphaLcParenBoth"/>
            </a:pP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4" name="Picture 6" descr="02-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77" y="2587016"/>
            <a:ext cx="8572445" cy="34446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521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Programlama Modellemesi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Bellekte bulunan süreç sayısına bağlı olarak CPU kullanımı grafiği.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150" y="2566811"/>
            <a:ext cx="6517700" cy="365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2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G/Ç bağlı süreçler, işlemci hızı arttıkça daha belirgin hale gelir.</a:t>
            </a:r>
          </a:p>
          <a:p>
            <a:pPr lvl="1"/>
            <a:r>
              <a:rPr lang="tr-TR" dirty="0"/>
              <a:t>Veri okuma/yazma, ağ iletişimi gibi işlemleri içeren süreçler.</a:t>
            </a:r>
          </a:p>
          <a:p>
            <a:pPr lvl="1"/>
            <a:r>
              <a:rPr lang="tr-TR" dirty="0"/>
              <a:t>İşlemci yoğunluğu düşük, beklemeye eğilimli.</a:t>
            </a:r>
          </a:p>
          <a:p>
            <a:r>
              <a:rPr lang="tr-TR" dirty="0"/>
              <a:t>G/Ç bağlı süreçlerin CPU'ya geçişi hızlı olmalıdır.</a:t>
            </a:r>
          </a:p>
          <a:p>
            <a:pPr lvl="1"/>
            <a:r>
              <a:rPr lang="tr-TR" dirty="0"/>
              <a:t>Bağlam anahtarlamayı hızlı yapmak gerekir.</a:t>
            </a:r>
          </a:p>
          <a:p>
            <a:r>
              <a:rPr lang="tr-TR" dirty="0"/>
              <a:t>İşlemci ve G/Ç bağlı süreçler dengeli bir şekilde yönetilmeli.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80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 Problemleri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bağımsız (</a:t>
            </a:r>
            <a:r>
              <a:rPr lang="tr-TR" i="1" dirty="0" err="1"/>
              <a:t>independent</a:t>
            </a:r>
            <a:r>
              <a:rPr lang="tr-TR" dirty="0"/>
              <a:t>) ya da işbirlikçi (</a:t>
            </a:r>
            <a:r>
              <a:rPr lang="tr-TR" i="1" dirty="0" err="1"/>
              <a:t>cooperative</a:t>
            </a:r>
            <a:r>
              <a:rPr lang="tr-TR" dirty="0"/>
              <a:t>) olabilir.</a:t>
            </a:r>
          </a:p>
          <a:p>
            <a:r>
              <a:rPr lang="tr-TR" dirty="0"/>
              <a:t>İşbirlikçi süreçler birbirleriyle veri paylaşımı yaparlar.</a:t>
            </a:r>
          </a:p>
          <a:p>
            <a:r>
              <a:rPr lang="tr-TR" dirty="0"/>
              <a:t>Süreç çakışmalarıyla nasıl başa çıkılır?</a:t>
            </a:r>
          </a:p>
          <a:p>
            <a:pPr lvl="1"/>
            <a:r>
              <a:rPr lang="tr-TR" dirty="0"/>
              <a:t>aynı koltuk için 2 rezervasyon</a:t>
            </a:r>
          </a:p>
          <a:p>
            <a:r>
              <a:rPr lang="tr-TR" dirty="0"/>
              <a:t>Bağımlılıklar mevcutken doğru sıralama nasıl yapılır? </a:t>
            </a:r>
          </a:p>
          <a:p>
            <a:pPr lvl="1"/>
            <a:r>
              <a:rPr lang="tr-TR" dirty="0"/>
              <a:t>silahı ateşlemeden önce nişan alınması</a:t>
            </a:r>
          </a:p>
          <a:p>
            <a:r>
              <a:rPr lang="tr-TR" dirty="0"/>
              <a:t>İki yöntem var</a:t>
            </a:r>
          </a:p>
          <a:p>
            <a:pPr lvl="1"/>
            <a:r>
              <a:rPr lang="tr-TR" dirty="0"/>
              <a:t>Paylaşımlı bellek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Mesaj kuyrukları (</a:t>
            </a:r>
            <a:r>
              <a:rPr lang="tr-TR" i="1" dirty="0" err="1"/>
              <a:t>message</a:t>
            </a:r>
            <a:r>
              <a:rPr lang="tr-TR" i="1" dirty="0"/>
              <a:t> </a:t>
            </a:r>
            <a:r>
              <a:rPr lang="tr-TR" i="1" dirty="0" err="1"/>
              <a:t>queue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61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593" y="1963873"/>
            <a:ext cx="6246813" cy="3998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27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Tekrarlanamaz Yürütme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r>
              <a:rPr lang="tr-TR" i="1" u="sng" dirty="0" err="1"/>
              <a:t>Non-reproducible</a:t>
            </a:r>
            <a:endParaRPr lang="tr-TR" i="1" u="sng" dirty="0"/>
          </a:p>
          <a:p>
            <a:endParaRPr lang="tr-TR" dirty="0"/>
          </a:p>
          <a:p>
            <a:pPr marL="0" indent="0">
              <a:buNone/>
            </a:pPr>
            <a:r>
              <a:rPr lang="tr-TR" i="1" dirty="0"/>
              <a:t>Program 1: 					Program 2: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repeat</a:t>
            </a:r>
            <a:r>
              <a:rPr lang="tr-TR" dirty="0">
                <a:latin typeface="Consolas" panose="020B0609020204030204" pitchFamily="49" charset="0"/>
              </a:rPr>
              <a:t> 					</a:t>
            </a:r>
            <a:r>
              <a:rPr lang="tr-TR" b="1" dirty="0" err="1">
                <a:latin typeface="Consolas" panose="020B0609020204030204" pitchFamily="49" charset="0"/>
              </a:rPr>
              <a:t>repeat</a:t>
            </a:r>
            <a:endParaRPr lang="tr-TR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n = n + 1;			 		</a:t>
            </a:r>
            <a:r>
              <a:rPr lang="tr-TR" dirty="0" err="1">
                <a:latin typeface="Consolas" panose="020B0609020204030204" pitchFamily="49" charset="0"/>
              </a:rPr>
              <a:t>print</a:t>
            </a:r>
            <a:r>
              <a:rPr lang="tr-TR" dirty="0">
                <a:latin typeface="Consolas" panose="020B0609020204030204" pitchFamily="49" charset="0"/>
              </a:rPr>
              <a:t>(n);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						n = 0;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Yürütme sırası farklı olabilir.</a:t>
            </a:r>
          </a:p>
          <a:p>
            <a:r>
              <a:rPr lang="tr-TR" dirty="0">
                <a:latin typeface="Consolas" panose="020B0609020204030204" pitchFamily="49" charset="0"/>
              </a:rPr>
              <a:t>n = n + 1; </a:t>
            </a:r>
            <a:r>
              <a:rPr lang="tr-TR" dirty="0" err="1">
                <a:latin typeface="Consolas" panose="020B0609020204030204" pitchFamily="49" charset="0"/>
              </a:rPr>
              <a:t>print</a:t>
            </a:r>
            <a:r>
              <a:rPr lang="tr-TR" dirty="0">
                <a:latin typeface="Consolas" panose="020B0609020204030204" pitchFamily="49" charset="0"/>
              </a:rPr>
              <a:t>(n); n = 0;</a:t>
            </a:r>
          </a:p>
          <a:p>
            <a:r>
              <a:rPr lang="tr-TR" dirty="0" err="1">
                <a:latin typeface="Consolas" panose="020B0609020204030204" pitchFamily="49" charset="0"/>
              </a:rPr>
              <a:t>print</a:t>
            </a:r>
            <a:r>
              <a:rPr lang="tr-TR" dirty="0">
                <a:latin typeface="Consolas" panose="020B0609020204030204" pitchFamily="49" charset="0"/>
              </a:rPr>
              <a:t>(n); n = 0; n = n + 1; </a:t>
            </a:r>
          </a:p>
          <a:p>
            <a:r>
              <a:rPr lang="tr-TR" dirty="0" err="1">
                <a:latin typeface="Consolas" panose="020B0609020204030204" pitchFamily="49" charset="0"/>
              </a:rPr>
              <a:t>print</a:t>
            </a:r>
            <a:r>
              <a:rPr lang="tr-TR" dirty="0">
                <a:latin typeface="Consolas" panose="020B0609020204030204" pitchFamily="49" charset="0"/>
              </a:rPr>
              <a:t>(n); n = n + 1; n = 0; 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08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u="sng" dirty="0"/>
              <a:t>Yarış durumu</a:t>
            </a:r>
            <a:r>
              <a:rPr lang="tr-TR" dirty="0"/>
              <a:t>: iki süreç aynı bellek alanına aynı anda erişmek isterse.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4" name="Picture 4" descr="2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540179"/>
            <a:ext cx="4921250" cy="3611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0834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Yarış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veya daha fazla süreç, </a:t>
            </a:r>
          </a:p>
          <a:p>
            <a:pPr lvl="1"/>
            <a:r>
              <a:rPr lang="tr-TR" dirty="0"/>
              <a:t>paylaşılan bir veriye erişiyor ise,</a:t>
            </a:r>
          </a:p>
          <a:p>
            <a:pPr lvl="1"/>
            <a:r>
              <a:rPr lang="tr-TR" dirty="0"/>
              <a:t>nihai sonucun hangisinin ne zaman çalıştığına bağlı olmasına denir.</a:t>
            </a:r>
          </a:p>
          <a:p>
            <a:r>
              <a:rPr lang="tr-TR" b="1" dirty="0"/>
              <a:t>Karşılıklı dışlama (</a:t>
            </a:r>
            <a:r>
              <a:rPr lang="tr-TR" b="1" i="1" dirty="0" err="1"/>
              <a:t>mutual</a:t>
            </a:r>
            <a:r>
              <a:rPr lang="tr-TR" b="1" i="1" dirty="0"/>
              <a:t> </a:t>
            </a:r>
            <a:r>
              <a:rPr lang="tr-TR" b="1" i="1" dirty="0" err="1"/>
              <a:t>exclusion</a:t>
            </a:r>
            <a:r>
              <a:rPr lang="tr-TR" b="1" dirty="0"/>
              <a:t>)</a:t>
            </a:r>
          </a:p>
          <a:p>
            <a:pPr lvl="1"/>
            <a:r>
              <a:rPr lang="tr-TR" dirty="0"/>
              <a:t>Birden fazla sürecin aynı anda aynı veriye erişimini engellemek.</a:t>
            </a:r>
          </a:p>
          <a:p>
            <a:r>
              <a:rPr lang="tr-TR" b="1" dirty="0"/>
              <a:t>Kritik bölge (</a:t>
            </a:r>
            <a:r>
              <a:rPr lang="tr-TR" b="1" i="1" dirty="0" err="1"/>
              <a:t>critical</a:t>
            </a:r>
            <a:r>
              <a:rPr lang="tr-TR" b="1" i="1" dirty="0"/>
              <a:t> </a:t>
            </a:r>
            <a:r>
              <a:rPr lang="tr-TR" b="1" i="1" dirty="0" err="1"/>
              <a:t>region</a:t>
            </a:r>
            <a:r>
              <a:rPr lang="tr-TR" b="1" dirty="0"/>
              <a:t>)</a:t>
            </a:r>
          </a:p>
          <a:p>
            <a:pPr lvl="1"/>
            <a:r>
              <a:rPr lang="tr-TR" dirty="0"/>
              <a:t>Programın </a:t>
            </a:r>
            <a:r>
              <a:rPr lang="tr-TR" i="1" dirty="0"/>
              <a:t>paylaşılan alana </a:t>
            </a:r>
            <a:r>
              <a:rPr lang="tr-TR" dirty="0"/>
              <a:t>erişim yaptığı kod bölümü.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967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Karşılıklı Dışlama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Karşılıklı dışlamayı sağlamak için dört koşul;</a:t>
            </a:r>
          </a:p>
          <a:p>
            <a:pPr lvl="1"/>
            <a:r>
              <a:rPr lang="tr-TR" dirty="0"/>
              <a:t>İki süreç </a:t>
            </a:r>
            <a:r>
              <a:rPr lang="tr-TR" i="1" dirty="0"/>
              <a:t>aynı anda</a:t>
            </a:r>
            <a:r>
              <a:rPr lang="tr-TR" dirty="0"/>
              <a:t> kritik bölgede olmamalı.</a:t>
            </a:r>
          </a:p>
          <a:p>
            <a:pPr lvl="1"/>
            <a:r>
              <a:rPr lang="tr-TR" dirty="0"/>
              <a:t>İşlemci hızı ve sayısı hakkında </a:t>
            </a:r>
            <a:r>
              <a:rPr lang="tr-TR" i="1" dirty="0"/>
              <a:t>varsayım</a:t>
            </a:r>
            <a:r>
              <a:rPr lang="tr-TR" dirty="0"/>
              <a:t> yapılmamalı.</a:t>
            </a:r>
          </a:p>
          <a:p>
            <a:pPr lvl="1"/>
            <a:r>
              <a:rPr lang="tr-TR" dirty="0"/>
              <a:t>Kritik bölgenin dışında çalışan süreç, başka bir süreci </a:t>
            </a:r>
            <a:r>
              <a:rPr lang="tr-TR" i="1" dirty="0"/>
              <a:t>engellememeli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Hiçbir süreç kritik bölgeye girmek için </a:t>
            </a:r>
            <a:r>
              <a:rPr lang="tr-TR" i="1" dirty="0"/>
              <a:t>sonsuza</a:t>
            </a:r>
            <a:r>
              <a:rPr lang="tr-TR" dirty="0"/>
              <a:t> kadar beklememeli.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26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8150" y="1898106"/>
            <a:ext cx="3695700" cy="4038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19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Kritik Bölge Kullanarak Karşılıklı Dışlama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12217"/>
            <a:ext cx="8305800" cy="40370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5253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Hangi sürecin kritik bölgeye gireceğini belirtmek için "</a:t>
            </a:r>
            <a:r>
              <a:rPr lang="tr-TR" i="1" dirty="0" err="1"/>
              <a:t>turn</a:t>
            </a:r>
            <a:r>
              <a:rPr lang="tr-TR" dirty="0"/>
              <a:t>" ve "</a:t>
            </a:r>
            <a:r>
              <a:rPr lang="tr-TR" i="1" dirty="0" err="1"/>
              <a:t>flag</a:t>
            </a:r>
            <a:r>
              <a:rPr lang="tr-TR" i="1" dirty="0"/>
              <a:t>[2]</a:t>
            </a:r>
            <a:r>
              <a:rPr lang="tr-TR" dirty="0"/>
              <a:t>" olmak üzere iki değişken kullanır.</a:t>
            </a:r>
          </a:p>
          <a:p>
            <a:pPr lvl="1"/>
            <a:r>
              <a:rPr lang="tr-TR" i="1" dirty="0" err="1"/>
              <a:t>flag</a:t>
            </a:r>
            <a:r>
              <a:rPr lang="tr-TR" dirty="0"/>
              <a:t>, süreç tarafından kritik bölgeye girme niyetini belirtir.</a:t>
            </a:r>
          </a:p>
          <a:p>
            <a:pPr lvl="1"/>
            <a:r>
              <a:rPr lang="tr-TR" i="1" dirty="0" err="1"/>
              <a:t>turn</a:t>
            </a:r>
            <a:r>
              <a:rPr lang="tr-TR" dirty="0"/>
              <a:t>, kritik bölgeye girecek bir sonraki süreci belirtir. </a:t>
            </a:r>
          </a:p>
          <a:p>
            <a:r>
              <a:rPr lang="tr-TR" dirty="0"/>
              <a:t>Her iki sürecin de kritik bölgeye aynı anda girmesini önlemek için bir meşgul bekleme (</a:t>
            </a:r>
            <a:r>
              <a:rPr lang="tr-TR" i="1" dirty="0" err="1"/>
              <a:t>busy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 döngüsü ve bir dizi koşul kullanır.</a:t>
            </a:r>
          </a:p>
          <a:p>
            <a:r>
              <a:rPr lang="tr-TR" dirty="0"/>
              <a:t>Karşılıklı dışlamayı sağlar.</a:t>
            </a:r>
          </a:p>
          <a:p>
            <a:r>
              <a:rPr lang="tr-TR" dirty="0"/>
              <a:t>Süreçlerin sonsuz bir bekleme döngüsüne girmesini engeller.</a:t>
            </a:r>
          </a:p>
          <a:p>
            <a:r>
              <a:rPr lang="tr-TR" dirty="0"/>
              <a:t>Meşgul bekleme döngüsü yüksek miktarda CPU zamanı tüketebilir!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18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Peterson’un</a:t>
            </a:r>
            <a:r>
              <a:rPr lang="tr-TR" dirty="0"/>
              <a:t> Çözümü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2; </a:t>
            </a:r>
            <a:r>
              <a:rPr lang="en-US" sz="1800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Number of threads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800" dirty="0"/>
          </a:p>
          <a:p>
            <a:pPr marL="0" indent="0">
              <a:buNone/>
            </a:pP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incrementCounter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currentThread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getId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 % </a:t>
            </a:r>
            <a:r>
              <a:rPr lang="en-US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pt-BR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8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800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8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] &amp;&amp; </a:t>
            </a:r>
            <a:r>
              <a:rPr lang="en-US" sz="1800" i="1" dirty="0">
                <a:solidFill>
                  <a:srgbClr val="0000C0"/>
                </a:solidFill>
                <a:latin typeface="Consolas" panose="020B0609020204030204" pitchFamily="49" charset="0"/>
              </a:rPr>
              <a:t>turn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 {} </a:t>
            </a:r>
            <a:r>
              <a:rPr lang="en-US" sz="1800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Spin loop</a:t>
            </a:r>
          </a:p>
          <a:p>
            <a:pPr marL="0" indent="0">
              <a:buNone/>
            </a:pPr>
            <a:r>
              <a:rPr lang="tr-TR" sz="1800" i="1" dirty="0">
                <a:solidFill>
                  <a:srgbClr val="0000C0"/>
                </a:solidFill>
                <a:latin typeface="Consolas" panose="020B0609020204030204" pitchFamily="49" charset="0"/>
              </a:rPr>
              <a:t>     </a:t>
            </a:r>
            <a:r>
              <a:rPr lang="tr-TR" sz="18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++; </a:t>
            </a:r>
            <a:r>
              <a:rPr lang="tr-T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// Critical </a:t>
            </a:r>
            <a:r>
              <a:rPr lang="tr-TR" sz="18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endParaRPr lang="tr-TR" sz="18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"Counter:"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i="1" dirty="0">
                <a:solidFill>
                  <a:srgbClr val="0000C0"/>
                </a:solidFill>
                <a:latin typeface="Consolas" panose="020B0609020204030204" pitchFamily="49" charset="0"/>
              </a:rPr>
              <a:t>counter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"i:"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"j:"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tr-TR" sz="18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flag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8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800" b="1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86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Uyuma ve Uyanma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Meşgul beklemenin dezavantajları;</a:t>
            </a:r>
          </a:p>
          <a:p>
            <a:pPr lvl="1"/>
            <a:r>
              <a:rPr lang="tr-TR" dirty="0"/>
              <a:t>Düşük öncelikli süreç kritik bölgede iken, yüksek öncelikli süreç gelirse, düşük öncelikli sürecin çalışmasını engeller. </a:t>
            </a:r>
          </a:p>
          <a:p>
            <a:pPr lvl="1"/>
            <a:r>
              <a:rPr lang="tr-TR" dirty="0"/>
              <a:t>Kilit'ten (</a:t>
            </a:r>
            <a:r>
              <a:rPr lang="tr-TR" i="1" dirty="0" err="1"/>
              <a:t>lock</a:t>
            </a:r>
            <a:r>
              <a:rPr lang="tr-TR" dirty="0"/>
              <a:t>) dolayı meşgul beklemede CPU'yu boşa harcar.</a:t>
            </a:r>
          </a:p>
          <a:p>
            <a:pPr lvl="1"/>
            <a:r>
              <a:rPr lang="tr-TR" dirty="0"/>
              <a:t>Daha düşük öncelikli süreç kritik bölge dışına çıkamaz.</a:t>
            </a:r>
          </a:p>
          <a:p>
            <a:pPr lvl="1"/>
            <a:r>
              <a:rPr lang="tr-TR" dirty="0"/>
              <a:t>Ölümcül kilitlenme (</a:t>
            </a:r>
            <a:r>
              <a:rPr lang="tr-TR" i="1" dirty="0" err="1"/>
              <a:t>deadlock</a:t>
            </a:r>
            <a:r>
              <a:rPr lang="tr-TR" dirty="0"/>
              <a:t>) oluşur.</a:t>
            </a:r>
          </a:p>
          <a:p>
            <a:r>
              <a:rPr lang="tr-TR" dirty="0"/>
              <a:t>Meşgul beklemek yerine bloke etmek</a:t>
            </a:r>
          </a:p>
          <a:p>
            <a:pPr lvl="1"/>
            <a:r>
              <a:rPr lang="tr-TR" dirty="0"/>
              <a:t>Önce uyandır, sonra uyut (</a:t>
            </a:r>
            <a:r>
              <a:rPr lang="tr-TR" i="1" dirty="0" err="1"/>
              <a:t>wake</a:t>
            </a:r>
            <a:r>
              <a:rPr lang="tr-TR" i="1" dirty="0"/>
              <a:t> </a:t>
            </a:r>
            <a:r>
              <a:rPr lang="tr-TR" i="1" dirty="0" err="1"/>
              <a:t>up</a:t>
            </a:r>
            <a:r>
              <a:rPr lang="tr-TR" i="1" dirty="0"/>
              <a:t>, </a:t>
            </a:r>
            <a:r>
              <a:rPr lang="tr-TR" i="1" dirty="0" err="1"/>
              <a:t>sleep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90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Üretici Tüketici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süreç, sabit boyutlu bir arabelleği paylaşıyor olsun.</a:t>
            </a:r>
          </a:p>
          <a:p>
            <a:pPr lvl="1"/>
            <a:r>
              <a:rPr lang="tr-TR" dirty="0"/>
              <a:t>Üretici arabelleğe veri yazar.</a:t>
            </a:r>
          </a:p>
          <a:p>
            <a:pPr lvl="1"/>
            <a:r>
              <a:rPr lang="tr-TR" dirty="0"/>
              <a:t>Tüketici arabellekten veri okur.</a:t>
            </a:r>
          </a:p>
          <a:p>
            <a:r>
              <a:rPr lang="tr-TR" b="1" dirty="0"/>
              <a:t>Sınırsız </a:t>
            </a:r>
            <a:r>
              <a:rPr lang="tr-TR" dirty="0"/>
              <a:t>tampon bellek var ise;</a:t>
            </a:r>
          </a:p>
          <a:p>
            <a:pPr lvl="1"/>
            <a:r>
              <a:rPr lang="tr-TR" dirty="0"/>
              <a:t>Üretici beklemez, tüketici tampon boş ise bekler.</a:t>
            </a:r>
          </a:p>
          <a:p>
            <a:r>
              <a:rPr lang="tr-TR" b="1" dirty="0"/>
              <a:t>Sınırlı</a:t>
            </a:r>
            <a:r>
              <a:rPr lang="tr-TR" dirty="0"/>
              <a:t> tampon bellek var ise;</a:t>
            </a:r>
          </a:p>
          <a:p>
            <a:pPr lvl="1"/>
            <a:r>
              <a:rPr lang="tr-TR" dirty="0"/>
              <a:t>Tampon dolu ise üretici bekler.</a:t>
            </a:r>
          </a:p>
          <a:p>
            <a:pPr lvl="1"/>
            <a:r>
              <a:rPr lang="tr-TR" dirty="0"/>
              <a:t>Tampon boş ise tüketici bekler.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12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Ölümcül Yarış Durumu -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100;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number of slots in the buffer */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number of items in the buffer */</a:t>
            </a:r>
            <a:endParaRPr lang="tr-TR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produce_item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generate next item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sleep();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if buffer is full, go to sleep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insert_item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put item in buffer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+ 1;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/* increment count of items in buffer */</a:t>
            </a:r>
          </a:p>
          <a:p>
            <a:pPr mar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== 1) wakeup(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consumer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was buffer empty? */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137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Ölümcül Yarış Durumu -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consumer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== 0) sleep();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if buffer empty, sleep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remove_item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take item out of buffer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tr-TR" sz="2200" dirty="0">
                <a:solidFill>
                  <a:srgbClr val="0000C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1;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 decrement count of items in buffer */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-1) wakeup (</a:t>
            </a:r>
            <a:r>
              <a:rPr lang="en-US" sz="2200" b="1" dirty="0">
                <a:solidFill>
                  <a:srgbClr val="0000C0"/>
                </a:solidFill>
                <a:latin typeface="Consolas" panose="020B0609020204030204" pitchFamily="49" charset="0"/>
              </a:rPr>
              <a:t>producer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200" dirty="0">
                <a:solidFill>
                  <a:srgbClr val="3F7F5F"/>
                </a:solidFill>
                <a:latin typeface="Consolas" panose="020B0609020204030204" pitchFamily="49" charset="0"/>
              </a:rPr>
              <a:t>/*was buffer full?*/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consume_item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print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rgbClr val="3F7F5F"/>
                </a:solidFill>
                <a:latin typeface="Consolas" panose="020B0609020204030204" pitchFamily="49" charset="0"/>
              </a:rPr>
              <a:t>item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1717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Mesaj Gönderme/Alma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süreç haberleşmek için iletişim bağı kurmalı.</a:t>
            </a:r>
          </a:p>
          <a:p>
            <a:r>
              <a:rPr lang="tr-TR" b="1" dirty="0"/>
              <a:t>Fiziksel </a:t>
            </a:r>
          </a:p>
          <a:p>
            <a:pPr lvl="1"/>
            <a:r>
              <a:rPr lang="tr-TR" dirty="0"/>
              <a:t>Paylaşımlı bellek.</a:t>
            </a:r>
          </a:p>
          <a:p>
            <a:pPr lvl="1"/>
            <a:r>
              <a:rPr lang="tr-TR" dirty="0"/>
              <a:t>Donanım </a:t>
            </a:r>
            <a:r>
              <a:rPr lang="tr-TR" dirty="0" err="1"/>
              <a:t>veriyolu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Ağ.</a:t>
            </a:r>
          </a:p>
          <a:p>
            <a:r>
              <a:rPr lang="tr-TR" b="1" dirty="0"/>
              <a:t>Mantıksal</a:t>
            </a:r>
          </a:p>
          <a:p>
            <a:pPr lvl="1"/>
            <a:r>
              <a:rPr lang="tr-TR" dirty="0"/>
              <a:t>Doğrudan, dolaylı.</a:t>
            </a:r>
          </a:p>
          <a:p>
            <a:pPr lvl="1"/>
            <a:r>
              <a:rPr lang="tr-TR" dirty="0"/>
              <a:t>Senkron, asenkron.</a:t>
            </a:r>
          </a:p>
          <a:p>
            <a:pPr lvl="1"/>
            <a:r>
              <a:rPr lang="tr-TR" dirty="0"/>
              <a:t>Otomatik, </a:t>
            </a:r>
            <a:r>
              <a:rPr lang="tr-TR" dirty="0" err="1"/>
              <a:t>tamponlayarak</a:t>
            </a:r>
            <a:r>
              <a:rPr lang="tr-TR" dirty="0"/>
              <a:t>.</a:t>
            </a:r>
          </a:p>
          <a:p>
            <a:pPr lvl="1"/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48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Doğrudan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açık olarak adlarını belirtirler.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send (P, message) </a:t>
            </a:r>
            <a:r>
              <a:rPr lang="tr-TR" dirty="0">
                <a:latin typeface="Consolas" panose="020B0609020204030204" pitchFamily="49" charset="0"/>
              </a:rPr>
              <a:t>   </a:t>
            </a:r>
            <a:r>
              <a:rPr lang="tr-TR" dirty="0"/>
              <a:t> </a:t>
            </a:r>
            <a:r>
              <a:rPr lang="en-US" dirty="0"/>
              <a:t>P</a:t>
            </a:r>
            <a:r>
              <a:rPr lang="tr-TR" dirty="0"/>
              <a:t> sürecine mesaj gönder.</a:t>
            </a:r>
            <a:endParaRPr lang="en-US" dirty="0"/>
          </a:p>
          <a:p>
            <a:pPr lvl="1"/>
            <a:r>
              <a:rPr lang="tr-TR" dirty="0">
                <a:latin typeface="Consolas" panose="020B0609020204030204" pitchFamily="49" charset="0"/>
              </a:rPr>
              <a:t>r</a:t>
            </a:r>
            <a:r>
              <a:rPr lang="en-US" dirty="0" err="1">
                <a:latin typeface="Consolas" panose="020B0609020204030204" pitchFamily="49" charset="0"/>
              </a:rPr>
              <a:t>eceive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(Q, message)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/>
              <a:t> </a:t>
            </a:r>
            <a:r>
              <a:rPr lang="en-US" dirty="0"/>
              <a:t>Q</a:t>
            </a:r>
            <a:r>
              <a:rPr lang="tr-TR" dirty="0"/>
              <a:t> sürecinden mesaj al.</a:t>
            </a:r>
          </a:p>
          <a:p>
            <a:r>
              <a:rPr lang="tr-TR" dirty="0"/>
              <a:t>Bağlantı otomatik kurulur.</a:t>
            </a:r>
          </a:p>
          <a:p>
            <a:r>
              <a:rPr lang="tr-TR" dirty="0"/>
              <a:t>Bir bağlantı bir çift (</a:t>
            </a:r>
            <a:r>
              <a:rPr lang="tr-TR" i="1" dirty="0" err="1"/>
              <a:t>pair</a:t>
            </a:r>
            <a:r>
              <a:rPr lang="tr-TR" dirty="0"/>
              <a:t>) süreçle ilişkilidir.</a:t>
            </a:r>
          </a:p>
          <a:p>
            <a:r>
              <a:rPr lang="tr-TR" dirty="0"/>
              <a:t>Her bir çift arasında sadece bir bağlantı vardır.</a:t>
            </a:r>
          </a:p>
          <a:p>
            <a:r>
              <a:rPr lang="tr-TR" dirty="0"/>
              <a:t>Bağlantı </a:t>
            </a:r>
            <a:r>
              <a:rPr lang="tr-TR" i="1" dirty="0"/>
              <a:t>çift</a:t>
            </a:r>
            <a:r>
              <a:rPr lang="tr-TR" dirty="0"/>
              <a:t> yönlüdür.</a:t>
            </a:r>
            <a:endParaRPr lang="en-US" dirty="0"/>
          </a:p>
          <a:p>
            <a:pPr lvl="1"/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6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Doğrudan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Posta kutusu aracılığıyla iletişim sağlanır.</a:t>
            </a:r>
          </a:p>
          <a:p>
            <a:pPr lvl="1"/>
            <a:r>
              <a:rPr lang="tr-TR" dirty="0"/>
              <a:t>Her posta kutusu tekil tanımlayıcıya sahiptir.</a:t>
            </a:r>
          </a:p>
          <a:p>
            <a:pPr lvl="1"/>
            <a:r>
              <a:rPr lang="tr-TR" dirty="0"/>
              <a:t>Süreçler aynı posta kutusunu paylaşıyorsa haberleşebilir.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</a:rPr>
              <a:t>end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(A, message)</a:t>
            </a:r>
            <a:r>
              <a:rPr lang="tr-TR" dirty="0">
                <a:latin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tr-TR" dirty="0"/>
              <a:t> </a:t>
            </a:r>
            <a:r>
              <a:rPr lang="en-US" dirty="0"/>
              <a:t>A</a:t>
            </a:r>
            <a:r>
              <a:rPr lang="tr-TR" dirty="0"/>
              <a:t> posta kutusuna mesaj gönder.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r</a:t>
            </a:r>
            <a:r>
              <a:rPr lang="en-US" dirty="0" err="1">
                <a:latin typeface="Consolas" panose="020B0609020204030204" pitchFamily="49" charset="0"/>
              </a:rPr>
              <a:t>eceive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(A, message)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/>
              <a:t> </a:t>
            </a:r>
            <a:r>
              <a:rPr lang="en-US" dirty="0"/>
              <a:t>A</a:t>
            </a:r>
            <a:r>
              <a:rPr lang="tr-TR" dirty="0"/>
              <a:t> posta kutusundan mesaj al.</a:t>
            </a:r>
          </a:p>
          <a:p>
            <a:r>
              <a:rPr lang="tr-TR" dirty="0"/>
              <a:t>Bir bağlantı bir çok süreç ile ilişkilendirilebilir.</a:t>
            </a:r>
          </a:p>
          <a:p>
            <a:r>
              <a:rPr lang="tr-TR" dirty="0"/>
              <a:t>Her bir süreç çifti bir çok bağlantı paylaşabilir.</a:t>
            </a:r>
          </a:p>
          <a:p>
            <a:r>
              <a:rPr lang="tr-TR" dirty="0"/>
              <a:t>Bağlantılar tek yönlü ve çift yönlü olabilir.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3219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Boru Hattı (</a:t>
            </a:r>
            <a:r>
              <a:rPr lang="tr-TR" dirty="0" err="1"/>
              <a:t>pipe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sürecin iletişim kurmasını sağlayan bir kanal.</a:t>
            </a:r>
          </a:p>
          <a:p>
            <a:r>
              <a:rPr lang="tr-TR" dirty="0"/>
              <a:t>Sorunlar:</a:t>
            </a:r>
          </a:p>
          <a:p>
            <a:pPr lvl="1"/>
            <a:r>
              <a:rPr lang="tr-TR" dirty="0"/>
              <a:t>İletişim tek yönlü mü, çift yönlü mü? (</a:t>
            </a:r>
            <a:r>
              <a:rPr lang="tr-TR" i="1" dirty="0" err="1"/>
              <a:t>simplex</a:t>
            </a:r>
            <a:r>
              <a:rPr lang="tr-TR" i="1" dirty="0"/>
              <a:t>, </a:t>
            </a:r>
            <a:r>
              <a:rPr lang="tr-TR" i="1" dirty="0" err="1"/>
              <a:t>duplex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Çift yönlü iletişim durumunda, yarı mı, tam mı? (</a:t>
            </a:r>
            <a:r>
              <a:rPr lang="tr-TR" i="1" dirty="0" err="1"/>
              <a:t>half</a:t>
            </a:r>
            <a:r>
              <a:rPr lang="tr-TR" i="1" dirty="0"/>
              <a:t>, </a:t>
            </a:r>
            <a:r>
              <a:rPr lang="tr-TR" i="1" dirty="0" err="1"/>
              <a:t>full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Süreçler arasında bir ilişki (ata-çocuk) var mı?</a:t>
            </a:r>
          </a:p>
          <a:p>
            <a:pPr lvl="1"/>
            <a:r>
              <a:rPr lang="tr-TR" dirty="0"/>
              <a:t>Bir ağ üzerinden kullanılabilir mi?</a:t>
            </a:r>
          </a:p>
          <a:p>
            <a:r>
              <a:rPr lang="tr-TR" dirty="0"/>
              <a:t>Türleri;</a:t>
            </a:r>
          </a:p>
          <a:p>
            <a:pPr lvl="1"/>
            <a:r>
              <a:rPr lang="tr-TR" b="1" dirty="0"/>
              <a:t>Sıradan</a:t>
            </a:r>
            <a:r>
              <a:rPr lang="tr-TR" dirty="0"/>
              <a:t>, Süreç dışından erişilemez. Ata süreç tarafından çocuk süreç ile haberleşmek için oluşturulur.</a:t>
            </a:r>
          </a:p>
          <a:p>
            <a:pPr lvl="1"/>
            <a:r>
              <a:rPr lang="tr-TR" b="1" dirty="0"/>
              <a:t>Adlandırılmış</a:t>
            </a:r>
            <a:r>
              <a:rPr lang="tr-TR" dirty="0"/>
              <a:t>, Tüm süreçler tarafından erişilebilir.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78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Boru Hattı (</a:t>
            </a:r>
            <a:r>
              <a:rPr lang="tr-TR" dirty="0" err="1"/>
              <a:t>pipe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Sıradan boru hattı</a:t>
            </a:r>
          </a:p>
          <a:p>
            <a:pPr lvl="1"/>
            <a:r>
              <a:rPr lang="tr-TR" dirty="0"/>
              <a:t>Üretici bir uca yazar.</a:t>
            </a:r>
          </a:p>
          <a:p>
            <a:pPr lvl="1"/>
            <a:r>
              <a:rPr lang="tr-TR" dirty="0"/>
              <a:t>Tüketici diğer uçtan okur. </a:t>
            </a:r>
          </a:p>
          <a:p>
            <a:pPr lvl="1"/>
            <a:r>
              <a:rPr lang="tr-TR" dirty="0"/>
              <a:t>Tek yönlü. </a:t>
            </a:r>
          </a:p>
          <a:p>
            <a:pPr lvl="1"/>
            <a:r>
              <a:rPr lang="tr-TR" dirty="0"/>
              <a:t>Ata-çocuk ilişkisi.</a:t>
            </a:r>
          </a:p>
          <a:p>
            <a:pPr lvl="1"/>
            <a:r>
              <a:rPr lang="tr-TR" dirty="0"/>
              <a:t>Adsız boru hattı olarak da geçer.</a:t>
            </a:r>
          </a:p>
          <a:p>
            <a:r>
              <a:rPr lang="tr-TR" b="1" dirty="0"/>
              <a:t>Adlandırılmış boru hattı</a:t>
            </a:r>
          </a:p>
          <a:p>
            <a:pPr lvl="1"/>
            <a:r>
              <a:rPr lang="tr-TR" dirty="0"/>
              <a:t>Çift yönlü iletişim.</a:t>
            </a:r>
          </a:p>
          <a:p>
            <a:pPr lvl="1"/>
            <a:r>
              <a:rPr lang="tr-TR" dirty="0"/>
              <a:t>Ata-çocuk ilişkisi gerektirmez.</a:t>
            </a:r>
          </a:p>
          <a:p>
            <a:pPr lvl="1"/>
            <a:r>
              <a:rPr lang="tr-TR" dirty="0"/>
              <a:t>Windows, UNIX destekler.</a:t>
            </a:r>
          </a:p>
          <a:p>
            <a:pPr lvl="1"/>
            <a:endParaRPr lang="tr-TR" sz="2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497" y="1995442"/>
            <a:ext cx="5228206" cy="17797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117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Pipe</a:t>
            </a:r>
            <a:r>
              <a:rPr lang="tr-TR" dirty="0"/>
              <a:t> Örneği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r>
              <a:rPr lang="tr-TR" dirty="0">
                <a:latin typeface="Consolas" panose="020B0609020204030204" pitchFamily="49" charset="0"/>
              </a:rPr>
              <a:t>];    // </a:t>
            </a:r>
            <a:r>
              <a:rPr lang="tr-TR" dirty="0" err="1">
                <a:latin typeface="Consolas" panose="020B0609020204030204" pitchFamily="49" charset="0"/>
              </a:rPr>
              <a:t>Pipe</a:t>
            </a:r>
            <a:r>
              <a:rPr lang="tr-TR" dirty="0">
                <a:latin typeface="Consolas" panose="020B0609020204030204" pitchFamily="49" charset="0"/>
              </a:rPr>
              <a:t> için file </a:t>
            </a:r>
            <a:r>
              <a:rPr lang="tr-TR" dirty="0" err="1">
                <a:latin typeface="Consolas" panose="020B0609020204030204" pitchFamily="49" charset="0"/>
              </a:rPr>
              <a:t>descriptor'lar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pipe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) == 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-1</a:t>
            </a:r>
            <a:r>
              <a:rPr lang="tr-TR" dirty="0">
                <a:latin typeface="Consolas" panose="020B0609020204030204" pitchFamily="49" charset="0"/>
              </a:rPr>
              <a:t>) // </a:t>
            </a:r>
            <a:r>
              <a:rPr lang="tr-TR" dirty="0" err="1">
                <a:latin typeface="Consolas" panose="020B0609020204030204" pitchFamily="49" charset="0"/>
              </a:rPr>
              <a:t>Pipe</a:t>
            </a:r>
            <a:r>
              <a:rPr lang="tr-TR" dirty="0">
                <a:latin typeface="Consolas" panose="020B0609020204030204" pitchFamily="49" charset="0"/>
              </a:rPr>
              <a:t> oluştur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exit</a:t>
            </a:r>
            <a:r>
              <a:rPr lang="tr-TR" dirty="0">
                <a:latin typeface="Consolas" panose="020B0609020204030204" pitchFamily="49" charset="0"/>
              </a:rPr>
              <a:t>(EXIT_FAILURE);</a:t>
            </a: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pid_t</a:t>
            </a:r>
            <a:r>
              <a:rPr lang="tr-TR" dirty="0">
                <a:latin typeface="Consolas" panose="020B0609020204030204" pitchFamily="49" charset="0"/>
              </a:rPr>
              <a:t> pid = </a:t>
            </a:r>
            <a:r>
              <a:rPr lang="tr-TR" b="1" dirty="0" err="1">
                <a:latin typeface="Consolas" panose="020B0609020204030204" pitchFamily="49" charset="0"/>
              </a:rPr>
              <a:t>fork</a:t>
            </a:r>
            <a:r>
              <a:rPr lang="tr-TR" dirty="0">
                <a:latin typeface="Consolas" panose="020B0609020204030204" pitchFamily="49" charset="0"/>
              </a:rPr>
              <a:t>(); // Yeni bir süreç oluştur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(pid == 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-1</a:t>
            </a:r>
            <a:r>
              <a:rPr lang="tr-TR" dirty="0">
                <a:latin typeface="Consolas" panose="020B0609020204030204" pitchFamily="49" charset="0"/>
              </a:rPr>
              <a:t>)  </a:t>
            </a:r>
            <a:r>
              <a:rPr lang="tr-TR" b="1" dirty="0" err="1">
                <a:latin typeface="Consolas" panose="020B0609020204030204" pitchFamily="49" charset="0"/>
              </a:rPr>
              <a:t>exit</a:t>
            </a:r>
            <a:r>
              <a:rPr lang="tr-TR" dirty="0">
                <a:latin typeface="Consolas" panose="020B0609020204030204" pitchFamily="49" charset="0"/>
              </a:rPr>
              <a:t>(EXIT_FAILURE);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(pid == 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tr-TR" dirty="0">
                <a:latin typeface="Consolas" panose="020B0609020204030204" pitchFamily="49" charset="0"/>
              </a:rPr>
              <a:t>) {  // Çocuk süreç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read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tr-TR" dirty="0">
                <a:latin typeface="Consolas" panose="020B0609020204030204" pitchFamily="49" charset="0"/>
              </a:rPr>
              <a:t>], 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b="1" dirty="0" err="1">
                <a:latin typeface="Consolas" panose="020B0609020204030204" pitchFamily="49" charset="0"/>
              </a:rPr>
              <a:t>sizeof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buffer</a:t>
            </a:r>
            <a:r>
              <a:rPr lang="tr-TR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close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tr-TR" dirty="0">
                <a:latin typeface="Consolas" panose="020B0609020204030204" pitchFamily="49" charset="0"/>
              </a:rPr>
              <a:t>]);  // Okuma tarafını kapat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 </a:t>
            </a:r>
            <a:r>
              <a:rPr lang="tr-TR" b="1" dirty="0">
                <a:latin typeface="Consolas" panose="020B0609020204030204" pitchFamily="49" charset="0"/>
              </a:rPr>
              <a:t>else</a:t>
            </a:r>
            <a:r>
              <a:rPr lang="tr-TR" dirty="0">
                <a:latin typeface="Consolas" panose="020B0609020204030204" pitchFamily="49" charset="0"/>
              </a:rPr>
              <a:t> {         // Ata süreç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write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tr-TR" dirty="0">
                <a:latin typeface="Consolas" panose="020B0609020204030204" pitchFamily="49" charset="0"/>
              </a:rPr>
              <a:t>], </a:t>
            </a:r>
            <a:r>
              <a:rPr lang="tr-TR" dirty="0" err="1">
                <a:latin typeface="Consolas" panose="020B0609020204030204" pitchFamily="49" charset="0"/>
              </a:rPr>
              <a:t>message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b="1" dirty="0" err="1">
                <a:latin typeface="Consolas" panose="020B0609020204030204" pitchFamily="49" charset="0"/>
              </a:rPr>
              <a:t>sizeof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message</a:t>
            </a:r>
            <a:r>
              <a:rPr lang="tr-TR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tr-TR" b="1" dirty="0" err="1">
                <a:latin typeface="Consolas" panose="020B0609020204030204" pitchFamily="49" charset="0"/>
              </a:rPr>
              <a:t>close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pipefd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tr-TR" dirty="0">
                <a:latin typeface="Consolas" panose="020B0609020204030204" pitchFamily="49" charset="0"/>
              </a:rPr>
              <a:t>]);  // Yazma tarafını kapat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389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Soketler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Soket, iletişim için uç nokta (</a:t>
            </a:r>
            <a:r>
              <a:rPr lang="tr-TR" i="1" dirty="0" err="1"/>
              <a:t>end</a:t>
            </a:r>
            <a:r>
              <a:rPr lang="tr-TR" i="1" dirty="0"/>
              <a:t> </a:t>
            </a:r>
            <a:r>
              <a:rPr lang="tr-TR" i="1" dirty="0" err="1"/>
              <a:t>point</a:t>
            </a:r>
            <a:r>
              <a:rPr lang="tr-TR" dirty="0"/>
              <a:t>) olarak tanımlanır.</a:t>
            </a:r>
          </a:p>
          <a:p>
            <a:r>
              <a:rPr lang="tr-TR" dirty="0"/>
              <a:t>IP adresi ve bağlantı noktasının birleştirilmesi (</a:t>
            </a:r>
            <a:r>
              <a:rPr lang="tr-TR" i="1" dirty="0"/>
              <a:t>IP + port</a:t>
            </a:r>
            <a:r>
              <a:rPr lang="tr-TR" dirty="0"/>
              <a:t>).</a:t>
            </a:r>
          </a:p>
          <a:p>
            <a:r>
              <a:rPr lang="tr-TR" b="1" dirty="0"/>
              <a:t>Port</a:t>
            </a:r>
            <a:r>
              <a:rPr lang="tr-TR" dirty="0"/>
              <a:t>: ağ hizmetlerini ayırt etmek için kullanılır.</a:t>
            </a:r>
          </a:p>
          <a:p>
            <a:r>
              <a:rPr lang="tr-TR" i="1" dirty="0"/>
              <a:t>161.25.19.8:1625</a:t>
            </a:r>
            <a:r>
              <a:rPr lang="tr-TR" dirty="0"/>
              <a:t>, </a:t>
            </a:r>
            <a:r>
              <a:rPr lang="tr-TR" b="1" dirty="0"/>
              <a:t>IP</a:t>
            </a:r>
            <a:r>
              <a:rPr lang="tr-TR" dirty="0"/>
              <a:t>:161.25.19.8 </a:t>
            </a:r>
            <a:r>
              <a:rPr lang="tr-TR" b="1" dirty="0"/>
              <a:t>port</a:t>
            </a:r>
            <a:r>
              <a:rPr lang="tr-TR" dirty="0"/>
              <a:t>:1625 </a:t>
            </a:r>
          </a:p>
          <a:p>
            <a:r>
              <a:rPr lang="tr-TR" dirty="0"/>
              <a:t>İletişim bir çift soket arasında oluşur.</a:t>
            </a:r>
          </a:p>
          <a:p>
            <a:r>
              <a:rPr lang="tr-TR" dirty="0"/>
              <a:t>1024'ün altındaki tüm bağlantı noktaları standart hizmetler için kullanılır.</a:t>
            </a:r>
          </a:p>
          <a:p>
            <a:r>
              <a:rPr lang="tr-TR" dirty="0"/>
              <a:t>127.0.0.1 geri döngü (</a:t>
            </a:r>
            <a:r>
              <a:rPr lang="tr-TR" i="1" dirty="0" err="1"/>
              <a:t>loopback</a:t>
            </a:r>
            <a:r>
              <a:rPr lang="tr-TR" dirty="0"/>
              <a:t>) adresi.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14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Soketler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819" y="2238375"/>
            <a:ext cx="5440362" cy="37052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3956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Arası İletişim Problemleri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b="1" dirty="0"/>
              <a:t>Dining </a:t>
            </a:r>
            <a:r>
              <a:rPr lang="tr-TR" b="1" dirty="0"/>
              <a:t>P</a:t>
            </a:r>
            <a:r>
              <a:rPr lang="en-US" b="1" dirty="0" err="1"/>
              <a:t>hilosopher</a:t>
            </a:r>
            <a:endParaRPr lang="en-US" dirty="0"/>
          </a:p>
          <a:p>
            <a:pPr lvl="1"/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filozof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düşünür</a:t>
            </a:r>
            <a:r>
              <a:rPr lang="tr-TR" dirty="0"/>
              <a:t>.</a:t>
            </a:r>
          </a:p>
          <a:p>
            <a:pPr lvl="1"/>
            <a:r>
              <a:rPr lang="en-US" dirty="0" err="1"/>
              <a:t>Aç</a:t>
            </a:r>
            <a:r>
              <a:rPr lang="en-US" dirty="0"/>
              <a:t> </a:t>
            </a:r>
            <a:r>
              <a:rPr lang="en-US" dirty="0" err="1"/>
              <a:t>kalırsa</a:t>
            </a:r>
            <a:r>
              <a:rPr lang="en-US" dirty="0"/>
              <a:t>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çatal</a:t>
            </a:r>
            <a:r>
              <a:rPr lang="en-US" dirty="0"/>
              <a:t> </a:t>
            </a:r>
            <a:r>
              <a:rPr lang="en-US" dirty="0" err="1"/>
              <a:t>alıp</a:t>
            </a:r>
            <a:r>
              <a:rPr lang="en-US" dirty="0"/>
              <a:t> </a:t>
            </a:r>
            <a:r>
              <a:rPr lang="en-US" dirty="0" err="1"/>
              <a:t>yemeye</a:t>
            </a:r>
            <a:r>
              <a:rPr lang="en-US" dirty="0"/>
              <a:t> </a:t>
            </a:r>
            <a:r>
              <a:rPr lang="en-US" dirty="0" err="1"/>
              <a:t>çalış</a:t>
            </a:r>
            <a:r>
              <a:rPr lang="tr-TR" dirty="0" err="1"/>
              <a:t>ır</a:t>
            </a:r>
            <a:r>
              <a:rPr lang="tr-TR" dirty="0"/>
              <a:t>.</a:t>
            </a:r>
            <a:endParaRPr lang="en-US" dirty="0"/>
          </a:p>
          <a:p>
            <a:r>
              <a:rPr lang="tr-TR" b="1" dirty="0"/>
              <a:t>Okur-Yazar</a:t>
            </a:r>
          </a:p>
          <a:p>
            <a:pPr lvl="1"/>
            <a:r>
              <a:rPr lang="tr-TR" dirty="0" err="1"/>
              <a:t>Veritabanına</a:t>
            </a:r>
            <a:r>
              <a:rPr lang="tr-TR" dirty="0"/>
              <a:t> erişimi modeller.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2703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4" name="Picture 6" descr="02-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1825625"/>
            <a:ext cx="4286250" cy="405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342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think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Initially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thinking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// Take a break from thinking, hungry now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pick_up_left_fork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pick_up_right_fork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eat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put_down_right_fork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put_down_left_fork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// Not hungry anymore. Back to thinking!</a:t>
            </a: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374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- </a:t>
            </a:r>
            <a:r>
              <a:rPr lang="tr-TR" dirty="0" err="1"/>
              <a:t>loop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LEFT (i+N-1) % N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i's left neighbor */ 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#define </a:t>
            </a:r>
            <a:r>
              <a:rPr lang="tr-TR" dirty="0">
                <a:latin typeface="Consolas" panose="020B0609020204030204" pitchFamily="49" charset="0"/>
              </a:rPr>
              <a:t>RIGHT (i+1) % N 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i's right neighbor */ 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tr-TR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philosopher(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while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) {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repeat forever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</a:rPr>
              <a:t>think();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is thinking */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take_forks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acquire two forks or block */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</a:rPr>
              <a:t>eat();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is eating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put_forks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put both forks back on table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1/15/2023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602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</a:t>
            </a:r>
            <a:r>
              <a:rPr lang="tr-TR" dirty="0" err="1"/>
              <a:t>take</a:t>
            </a:r>
            <a:r>
              <a:rPr lang="tr-TR" dirty="0"/>
              <a:t> </a:t>
            </a:r>
            <a:r>
              <a:rPr lang="tr-TR" dirty="0" err="1"/>
              <a:t>forks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take_forks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enter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HUNGRY;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is hungry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try to acquire 2 forks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exit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block if forks were not acquired */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961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put </a:t>
            </a:r>
            <a:r>
              <a:rPr lang="tr-TR" dirty="0" err="1"/>
              <a:t>forks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put_forks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enter critical region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]= THINKING;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philosopher has finished eating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test(LEFT);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see if left neighbor can now eat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test(RIGHT);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see if right neighbor can now eat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exit critical region */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9252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Dining</a:t>
            </a:r>
            <a:r>
              <a:rPr lang="tr-TR" dirty="0"/>
              <a:t> </a:t>
            </a:r>
            <a:r>
              <a:rPr lang="tr-TR" dirty="0" err="1"/>
              <a:t>Philosophers</a:t>
            </a:r>
            <a:r>
              <a:rPr lang="tr-TR" dirty="0"/>
              <a:t> – test </a:t>
            </a:r>
            <a:r>
              <a:rPr lang="tr-TR" dirty="0" err="1"/>
              <a:t>state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test(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(state[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== HUNGRY &amp;&amp;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state[LEFT] != EATING &amp;&amp;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state[RIGHT] != EATING)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</a:rPr>
              <a:t>state[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]= EATING;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dirty="0">
                <a:latin typeface="Consolas" panose="020B0609020204030204" pitchFamily="49" charset="0"/>
              </a:rPr>
              <a:t>(&amp;s[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}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1353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Okur-Yazar Problemi - </a:t>
            </a:r>
            <a:r>
              <a:rPr lang="tr-TR" dirty="0" err="1"/>
              <a:t>writer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mutex</a:t>
            </a:r>
            <a:r>
              <a:rPr lang="en-US" dirty="0">
                <a:latin typeface="Consolas" panose="020B0609020204030204" pitchFamily="49" charset="0"/>
              </a:rPr>
              <a:t> = 1;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controls access to '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' */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</a:t>
            </a:r>
            <a:r>
              <a:rPr lang="en-US" dirty="0">
                <a:latin typeface="Consolas" panose="020B0609020204030204" pitchFamily="49" charset="0"/>
              </a:rPr>
              <a:t> = 1;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controls access to the database */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rc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 # of processes reading or wanting to */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writer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dirty="0">
                <a:latin typeface="Consolas" panose="020B0609020204030204" pitchFamily="49" charset="0"/>
              </a:rPr>
              <a:t>) {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repeat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forever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tr-TR" dirty="0" err="1">
                <a:latin typeface="Consolas" panose="020B0609020204030204" pitchFamily="49" charset="0"/>
              </a:rPr>
              <a:t>think_up_data</a:t>
            </a:r>
            <a:r>
              <a:rPr lang="tr-TR" dirty="0">
                <a:latin typeface="Consolas" panose="020B0609020204030204" pitchFamily="49" charset="0"/>
              </a:rPr>
              <a:t>();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noncritical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region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latin typeface="Consolas" panose="020B0609020204030204" pitchFamily="49" charset="0"/>
              </a:rPr>
              <a:t>(&amp;</a:t>
            </a:r>
            <a:r>
              <a:rPr lang="tr-TR" dirty="0" err="1">
                <a:latin typeface="Consolas" panose="020B0609020204030204" pitchFamily="49" charset="0"/>
              </a:rPr>
              <a:t>db</a:t>
            </a:r>
            <a:r>
              <a:rPr lang="tr-TR" dirty="0"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get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tr-TR" dirty="0" err="1">
                <a:latin typeface="Consolas" panose="020B0609020204030204" pitchFamily="49" charset="0"/>
              </a:rPr>
              <a:t>write_data_base</a:t>
            </a:r>
            <a:r>
              <a:rPr lang="tr-TR" dirty="0">
                <a:latin typeface="Consolas" panose="020B0609020204030204" pitchFamily="49" charset="0"/>
              </a:rPr>
              <a:t>();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update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the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data */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latin typeface="Consolas" panose="020B0609020204030204" pitchFamily="49" charset="0"/>
              </a:rPr>
              <a:t>(&amp;</a:t>
            </a:r>
            <a:r>
              <a:rPr lang="tr-TR" dirty="0" err="1">
                <a:latin typeface="Consolas" panose="020B0609020204030204" pitchFamily="49" charset="0"/>
              </a:rPr>
              <a:t>db</a:t>
            </a:r>
            <a:r>
              <a:rPr lang="tr-TR" dirty="0"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release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364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Okur-Yazar Problemi - </a:t>
            </a:r>
            <a:r>
              <a:rPr lang="tr-TR" dirty="0" err="1"/>
              <a:t>reader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>
                <a:latin typeface="Consolas" panose="020B0609020204030204" pitchFamily="49" charset="0"/>
              </a:rPr>
              <a:t>reader(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</a:rPr>
              <a:t>) {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repeat forever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mutex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'</a:t>
            </a:r>
            <a:r>
              <a:rPr lang="en-US" sz="16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+ 1;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one reader more now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</a:rPr>
              <a:t> (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== 1)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db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if this is the first reader ... */ 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mutex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release exclusive access to '</a:t>
            </a:r>
            <a:r>
              <a:rPr lang="en-US" sz="16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read_data_base</a:t>
            </a:r>
            <a:r>
              <a:rPr lang="en-US" sz="1600" dirty="0">
                <a:latin typeface="Consolas" panose="020B0609020204030204" pitchFamily="49" charset="0"/>
              </a:rPr>
              <a:t>();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access the data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mutex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'</a:t>
            </a:r>
            <a:r>
              <a:rPr lang="en-US" sz="16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' */ 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tr-TR" sz="1600" dirty="0">
                <a:latin typeface="Consolas" panose="020B0609020204030204" pitchFamily="49" charset="0"/>
              </a:rPr>
              <a:t>= 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- 1;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one reader fewer now */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rc</a:t>
            </a:r>
            <a:r>
              <a:rPr lang="en-US" sz="1600" dirty="0">
                <a:latin typeface="Consolas" panose="020B0609020204030204" pitchFamily="49" charset="0"/>
              </a:rPr>
              <a:t> == 0)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db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if this is the last reader ...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mutex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release exclusive access to '</a:t>
            </a:r>
            <a:r>
              <a:rPr lang="en-US" sz="1600" dirty="0" err="1">
                <a:solidFill>
                  <a:srgbClr val="3F7F5F"/>
                </a:solidFill>
                <a:latin typeface="Consolas" panose="020B0609020204030204" pitchFamily="49" charset="0"/>
              </a:rPr>
              <a:t>rc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' */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use_data_read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noncritical region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022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Okur-Yazar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Çözümün dezavantajı nedir?</a:t>
            </a:r>
          </a:p>
          <a:p>
            <a:pPr lvl="1"/>
            <a:r>
              <a:rPr lang="tr-TR" dirty="0"/>
              <a:t>Yazar süreci açlık (</a:t>
            </a:r>
            <a:r>
              <a:rPr lang="tr-TR" i="1" dirty="0" err="1"/>
              <a:t>starvation</a:t>
            </a:r>
            <a:r>
              <a:rPr lang="tr-TR" dirty="0"/>
              <a:t>) tehlikesiyle karşı karşıya.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881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Sistemlerde Çoklu Görev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versiyonlarda tek süreç çalışabiliyordu.</a:t>
            </a:r>
          </a:p>
          <a:p>
            <a:r>
              <a:rPr lang="tr-TR" dirty="0"/>
              <a:t>Kullanıcı </a:t>
            </a:r>
            <a:r>
              <a:rPr lang="tr-TR" dirty="0" err="1"/>
              <a:t>arayüzü</a:t>
            </a:r>
            <a:r>
              <a:rPr lang="tr-TR" dirty="0"/>
              <a:t> kısıtlarından dolayı</a:t>
            </a:r>
          </a:p>
          <a:p>
            <a:pPr lvl="1"/>
            <a:r>
              <a:rPr lang="tr-TR" dirty="0"/>
              <a:t>Ön planda tek bir süreç çalışabilir.</a:t>
            </a:r>
          </a:p>
          <a:p>
            <a:pPr lvl="1"/>
            <a:r>
              <a:rPr lang="tr-TR" dirty="0"/>
              <a:t>Arka planda bir çok süreç çalışabilir.</a:t>
            </a:r>
          </a:p>
          <a:p>
            <a:pPr lvl="1"/>
            <a:r>
              <a:rPr lang="tr-TR" dirty="0"/>
              <a:t>Ses oynatma gibi özelliklerde kısıtlamalar olabilir.</a:t>
            </a:r>
          </a:p>
          <a:p>
            <a:r>
              <a:rPr lang="tr-TR" dirty="0" err="1"/>
              <a:t>Android</a:t>
            </a:r>
            <a:r>
              <a:rPr lang="tr-TR" dirty="0"/>
              <a:t> süreçlerin kullanımı için hizmet (</a:t>
            </a:r>
            <a:r>
              <a:rPr lang="tr-TR" i="1" dirty="0"/>
              <a:t>service</a:t>
            </a:r>
            <a:r>
              <a:rPr lang="tr-TR" dirty="0"/>
              <a:t>) </a:t>
            </a:r>
            <a:r>
              <a:rPr lang="tr-TR" dirty="0" err="1"/>
              <a:t>arayüzüne</a:t>
            </a:r>
            <a:r>
              <a:rPr lang="tr-TR" dirty="0"/>
              <a:t> sahiptir.</a:t>
            </a:r>
          </a:p>
          <a:p>
            <a:pPr lvl="1"/>
            <a:r>
              <a:rPr lang="tr-TR" dirty="0"/>
              <a:t>Hizmet, süreç askıda (</a:t>
            </a:r>
            <a:r>
              <a:rPr lang="tr-TR" i="1" dirty="0" err="1"/>
              <a:t>suspend</a:t>
            </a:r>
            <a:r>
              <a:rPr lang="tr-TR" dirty="0"/>
              <a:t>) olsa bile çalışmaya devam edebilir.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615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Android</a:t>
            </a:r>
            <a:r>
              <a:rPr lang="tr-TR" dirty="0"/>
              <a:t> Süreç Öncelikleri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Yüksekten düşüğe göre;</a:t>
            </a:r>
          </a:p>
          <a:p>
            <a:pPr lvl="1"/>
            <a:r>
              <a:rPr lang="tr-TR" dirty="0"/>
              <a:t>Ön planda çalışan süreç (</a:t>
            </a:r>
            <a:r>
              <a:rPr lang="tr-TR" i="1" dirty="0" err="1"/>
              <a:t>foreground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Görünür süreç (</a:t>
            </a:r>
            <a:r>
              <a:rPr lang="tr-TR" i="1" dirty="0" err="1"/>
              <a:t>visible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Hizmet süreci (</a:t>
            </a:r>
            <a:r>
              <a:rPr lang="tr-TR" i="1" dirty="0"/>
              <a:t>service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Arka planda çalışan süreçler (</a:t>
            </a:r>
            <a:r>
              <a:rPr lang="tr-TR" i="1" dirty="0"/>
              <a:t>background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Boş süreçler (</a:t>
            </a:r>
            <a:r>
              <a:rPr lang="tr-TR" i="1" dirty="0" err="1"/>
              <a:t>empty</a:t>
            </a:r>
            <a:r>
              <a:rPr lang="tr-TR" dirty="0"/>
              <a:t>).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60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4898</TotalTime>
  <Words>5013</Words>
  <Application>Microsoft Office PowerPoint</Application>
  <PresentationFormat>Widescreen</PresentationFormat>
  <Paragraphs>665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Calibri Light</vt:lpstr>
      <vt:lpstr>Consolas</vt:lpstr>
      <vt:lpstr>Wingdings</vt:lpstr>
      <vt:lpstr>Office Theme</vt:lpstr>
      <vt:lpstr>Bölüm 3: Süreçler</vt:lpstr>
      <vt:lpstr>Süreç</vt:lpstr>
      <vt:lpstr>Süreç ve Program Arasındaki Farklar</vt:lpstr>
      <vt:lpstr>Bellekte Süreç Yerleşimi</vt:lpstr>
      <vt:lpstr>Bellekte Süreç Yerleşimi</vt:lpstr>
      <vt:lpstr>Sözde Paralellik</vt:lpstr>
      <vt:lpstr>Çoklu Programlama Süreç Modeli</vt:lpstr>
      <vt:lpstr>Chrome</vt:lpstr>
      <vt:lpstr>Süreç Başlatma</vt:lpstr>
      <vt:lpstr>Süreç Başlatma</vt:lpstr>
      <vt:lpstr>Süreç Başlatma</vt:lpstr>
      <vt:lpstr>Süreç Sonlandırma</vt:lpstr>
      <vt:lpstr>Ölümcül Hatalar (Fatal Errors)</vt:lpstr>
      <vt:lpstr>Süreç Sonlandırma (Kill Process)</vt:lpstr>
      <vt:lpstr>Süreç Sonlandırma</vt:lpstr>
      <vt:lpstr>Zombi Süreç (Zombie Process)</vt:lpstr>
      <vt:lpstr>Yetim Süreç (Orphan Process)</vt:lpstr>
      <vt:lpstr>Süreç Durumları</vt:lpstr>
      <vt:lpstr>Süreç Durumları</vt:lpstr>
      <vt:lpstr>Süreç Tablosu</vt:lpstr>
      <vt:lpstr>Süreç Tablosu</vt:lpstr>
      <vt:lpstr>Süreç Tablosu</vt:lpstr>
      <vt:lpstr>Süreç Tablosu</vt:lpstr>
      <vt:lpstr>Süreç Tablosu</vt:lpstr>
      <vt:lpstr>Süreçlerin Çizelgelenmesi</vt:lpstr>
      <vt:lpstr>Süreçlerin Çizelgelenmesi</vt:lpstr>
      <vt:lpstr>Hazır ve Bekleme Kuyrukları</vt:lpstr>
      <vt:lpstr>Süreçlerin Çizelgelenmesi</vt:lpstr>
      <vt:lpstr>Bağlam Anahtarlama (Context Switch)</vt:lpstr>
      <vt:lpstr>Bağlam Anahtarlama (Context Switch)</vt:lpstr>
      <vt:lpstr>Kesmenin Ele Alınması</vt:lpstr>
      <vt:lpstr>İşlemci Kullanımı</vt:lpstr>
      <vt:lpstr>Çoklu Programlama Modellemesi</vt:lpstr>
      <vt:lpstr>İşlemci Kullanımı</vt:lpstr>
      <vt:lpstr>Süreçler Arası İletişim Problemleri</vt:lpstr>
      <vt:lpstr>Süreçler Arası İletişim</vt:lpstr>
      <vt:lpstr>Tekrarlanamaz Yürütme</vt:lpstr>
      <vt:lpstr>Süreçler Arası İletişim</vt:lpstr>
      <vt:lpstr>Yarış Durumu</vt:lpstr>
      <vt:lpstr>Karşılıklı Dışlama</vt:lpstr>
      <vt:lpstr>Kritik Bölge</vt:lpstr>
      <vt:lpstr>Kritik Bölge Kullanarak Karşılıklı Dışlama</vt:lpstr>
      <vt:lpstr>Peterson’un Çözümü</vt:lpstr>
      <vt:lpstr>Peterson’un Çözümü</vt:lpstr>
      <vt:lpstr>Uyuma ve Uyanma</vt:lpstr>
      <vt:lpstr>Üretici Tüketici Problemi</vt:lpstr>
      <vt:lpstr>Ölümcül Yarış Durumu - Producer</vt:lpstr>
      <vt:lpstr>Ölümcül Yarış Durumu - Consumer</vt:lpstr>
      <vt:lpstr>Mesaj Gönderme/Alma</vt:lpstr>
      <vt:lpstr>Doğrudan İletişim</vt:lpstr>
      <vt:lpstr>Doğrudan İletişim</vt:lpstr>
      <vt:lpstr>Boru Hattı (pipe)</vt:lpstr>
      <vt:lpstr>Boru Hattı (pipe)</vt:lpstr>
      <vt:lpstr>Pipe Örneği</vt:lpstr>
      <vt:lpstr>Soketler</vt:lpstr>
      <vt:lpstr>Soketler</vt:lpstr>
      <vt:lpstr>Süreçler Arası İletişim Problemleri</vt:lpstr>
      <vt:lpstr>Dining Philosophers Problemi</vt:lpstr>
      <vt:lpstr>Dining Philosophers</vt:lpstr>
      <vt:lpstr>Dining Philosophers - loop</vt:lpstr>
      <vt:lpstr>Dining Philosophers – take forks</vt:lpstr>
      <vt:lpstr>Dining Philosophers – put forks</vt:lpstr>
      <vt:lpstr>Dining Philosophers – test state</vt:lpstr>
      <vt:lpstr>Okur-Yazar Problemi - writer</vt:lpstr>
      <vt:lpstr>Okur-Yazar Problemi - reader</vt:lpstr>
      <vt:lpstr>Okur-Yazar Problemi</vt:lpstr>
      <vt:lpstr>Mobil Sistemlerde Çoklu Görev</vt:lpstr>
      <vt:lpstr>Android Süreç Öncelikleri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Surecler</dc:title>
  <dc:creator>sercan</dc:creator>
  <cp:lastModifiedBy>Sercan Kulcu</cp:lastModifiedBy>
  <cp:revision>436</cp:revision>
  <dcterms:created xsi:type="dcterms:W3CDTF">2023-01-12T09:23:55Z</dcterms:created>
  <dcterms:modified xsi:type="dcterms:W3CDTF">2025-01-23T12:25:30Z</dcterms:modified>
</cp:coreProperties>
</file>