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notesMasterIdLst>
    <p:notesMasterId r:id="rId56"/>
  </p:notesMasterIdLst>
  <p:sldIdLst>
    <p:sldId id="256" r:id="rId2"/>
    <p:sldId id="257" r:id="rId3"/>
    <p:sldId id="356" r:id="rId4"/>
    <p:sldId id="357" r:id="rId5"/>
    <p:sldId id="349" r:id="rId6"/>
    <p:sldId id="348" r:id="rId7"/>
    <p:sldId id="313" r:id="rId8"/>
    <p:sldId id="358" r:id="rId9"/>
    <p:sldId id="359" r:id="rId10"/>
    <p:sldId id="314" r:id="rId11"/>
    <p:sldId id="350" r:id="rId12"/>
    <p:sldId id="315" r:id="rId13"/>
    <p:sldId id="361" r:id="rId14"/>
    <p:sldId id="316" r:id="rId15"/>
    <p:sldId id="362" r:id="rId16"/>
    <p:sldId id="317" r:id="rId17"/>
    <p:sldId id="318" r:id="rId18"/>
    <p:sldId id="319" r:id="rId19"/>
    <p:sldId id="351" r:id="rId20"/>
    <p:sldId id="352" r:id="rId21"/>
    <p:sldId id="320" r:id="rId22"/>
    <p:sldId id="321" r:id="rId23"/>
    <p:sldId id="322" r:id="rId24"/>
    <p:sldId id="323" r:id="rId25"/>
    <p:sldId id="324" r:id="rId26"/>
    <p:sldId id="354" r:id="rId27"/>
    <p:sldId id="325" r:id="rId28"/>
    <p:sldId id="353" r:id="rId29"/>
    <p:sldId id="326" r:id="rId30"/>
    <p:sldId id="363" r:id="rId31"/>
    <p:sldId id="327" r:id="rId32"/>
    <p:sldId id="328" r:id="rId33"/>
    <p:sldId id="329" r:id="rId34"/>
    <p:sldId id="364" r:id="rId35"/>
    <p:sldId id="330" r:id="rId36"/>
    <p:sldId id="331" r:id="rId37"/>
    <p:sldId id="332" r:id="rId38"/>
    <p:sldId id="355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46" r:id="rId53"/>
    <p:sldId id="347" r:id="rId54"/>
    <p:sldId id="312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6.02.2024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8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8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72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827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93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490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387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21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17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537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62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smtClean="0"/>
              <a:t>Bölüm 16: </a:t>
            </a:r>
            <a:r>
              <a:rPr lang="tr-TR" b="1" dirty="0" smtClean="0"/>
              <a:t>Linux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İşletim Sistemleri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Unix </a:t>
            </a:r>
            <a:r>
              <a:rPr lang="tr-TR" dirty="0" smtClean="0"/>
              <a:t>Tabanlı </a:t>
            </a:r>
            <a:r>
              <a:rPr lang="tr-TR" dirty="0"/>
              <a:t>İşletim </a:t>
            </a:r>
            <a:r>
              <a:rPr lang="tr-TR" dirty="0" smtClean="0"/>
              <a:t>Sistemleri Evrimi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Unics</a:t>
            </a:r>
            <a:r>
              <a:rPr lang="tr-TR" dirty="0"/>
              <a:t>: </a:t>
            </a:r>
            <a:r>
              <a:rPr lang="tr-TR" dirty="0" smtClean="0"/>
              <a:t>1960 başları, </a:t>
            </a:r>
            <a:r>
              <a:rPr lang="tr-TR" i="1" dirty="0" err="1" smtClean="0"/>
              <a:t>Bell</a:t>
            </a:r>
            <a:r>
              <a:rPr lang="tr-TR" i="1" dirty="0" smtClean="0"/>
              <a:t> </a:t>
            </a:r>
            <a:r>
              <a:rPr lang="tr-TR" i="1" dirty="0" err="1" smtClean="0"/>
              <a:t>Laboratuarı</a:t>
            </a:r>
            <a:r>
              <a:rPr lang="tr-TR" dirty="0" smtClean="0"/>
              <a:t>, </a:t>
            </a:r>
            <a:r>
              <a:rPr lang="tr-TR" dirty="0"/>
              <a:t>çok </a:t>
            </a:r>
            <a:r>
              <a:rPr lang="tr-TR" dirty="0" smtClean="0"/>
              <a:t>kullanıcılı, zaman paylaşımlı.</a:t>
            </a:r>
          </a:p>
          <a:p>
            <a:r>
              <a:rPr lang="tr-TR" b="1" dirty="0" smtClean="0"/>
              <a:t>Unix</a:t>
            </a:r>
            <a:r>
              <a:rPr lang="tr-TR" dirty="0"/>
              <a:t>: </a:t>
            </a:r>
            <a:r>
              <a:rPr lang="tr-TR" dirty="0" smtClean="0"/>
              <a:t>1960 sonları, çok görevli, </a:t>
            </a:r>
            <a:r>
              <a:rPr lang="tr-TR" dirty="0"/>
              <a:t>çok </a:t>
            </a:r>
            <a:r>
              <a:rPr lang="tr-TR" dirty="0" smtClean="0"/>
              <a:t>kullanıcılı.</a:t>
            </a:r>
          </a:p>
          <a:p>
            <a:r>
              <a:rPr lang="tr-TR" b="1" dirty="0" smtClean="0"/>
              <a:t>PDP-11</a:t>
            </a:r>
            <a:r>
              <a:rPr lang="tr-TR" dirty="0"/>
              <a:t>: </a:t>
            </a:r>
            <a:r>
              <a:rPr lang="tr-TR" dirty="0" smtClean="0"/>
              <a:t>1970, </a:t>
            </a:r>
            <a:r>
              <a:rPr lang="tr-TR" i="1" dirty="0" smtClean="0"/>
              <a:t>DEC</a:t>
            </a:r>
            <a:r>
              <a:rPr lang="tr-TR" dirty="0" smtClean="0"/>
              <a:t> </a:t>
            </a:r>
            <a:r>
              <a:rPr lang="tr-TR" dirty="0"/>
              <a:t>tarafından </a:t>
            </a:r>
            <a:r>
              <a:rPr lang="tr-TR" dirty="0" smtClean="0"/>
              <a:t>geliştirilen mini </a:t>
            </a:r>
            <a:r>
              <a:rPr lang="tr-TR" dirty="0"/>
              <a:t>bilgisayar. </a:t>
            </a:r>
            <a:endParaRPr lang="tr-TR" dirty="0" smtClean="0"/>
          </a:p>
          <a:p>
            <a:r>
              <a:rPr lang="tr-TR" b="1" dirty="0" smtClean="0"/>
              <a:t>BSD</a:t>
            </a:r>
            <a:r>
              <a:rPr lang="tr-TR" dirty="0" smtClean="0"/>
              <a:t>: 1970 sonları, </a:t>
            </a:r>
            <a:r>
              <a:rPr lang="tr-TR" i="1" dirty="0" smtClean="0"/>
              <a:t>Berkeley </a:t>
            </a:r>
            <a:r>
              <a:rPr lang="tr-TR" i="1" dirty="0"/>
              <a:t>California </a:t>
            </a:r>
            <a:r>
              <a:rPr lang="tr-TR" i="1" dirty="0" smtClean="0"/>
              <a:t>Üniversitesi</a:t>
            </a:r>
            <a:r>
              <a:rPr lang="tr-TR" dirty="0" smtClean="0"/>
              <a:t>, </a:t>
            </a:r>
            <a:r>
              <a:rPr lang="tr-TR" dirty="0"/>
              <a:t>geliştirilen </a:t>
            </a:r>
            <a:r>
              <a:rPr lang="tr-TR" dirty="0" smtClean="0"/>
              <a:t>Unix </a:t>
            </a:r>
            <a:r>
              <a:rPr lang="tr-TR" dirty="0"/>
              <a:t>türevi. </a:t>
            </a:r>
            <a:endParaRPr lang="tr-TR" dirty="0" smtClean="0"/>
          </a:p>
          <a:p>
            <a:r>
              <a:rPr lang="tr-TR" b="1" dirty="0" err="1" smtClean="0"/>
              <a:t>Minix</a:t>
            </a:r>
            <a:r>
              <a:rPr lang="tr-TR" dirty="0" smtClean="0"/>
              <a:t>: 1987, </a:t>
            </a:r>
            <a:r>
              <a:rPr lang="tr-TR" i="1" dirty="0" err="1" smtClean="0"/>
              <a:t>Tanenbaum</a:t>
            </a:r>
            <a:r>
              <a:rPr lang="tr-TR" dirty="0" smtClean="0"/>
              <a:t>, Unix </a:t>
            </a:r>
            <a:r>
              <a:rPr lang="tr-TR" dirty="0"/>
              <a:t>benzeri eğitimsel </a:t>
            </a:r>
            <a:r>
              <a:rPr lang="tr-TR" dirty="0" smtClean="0"/>
              <a:t>işletim sistemi.</a:t>
            </a:r>
          </a:p>
          <a:p>
            <a:r>
              <a:rPr lang="tr-TR" b="1" dirty="0" smtClean="0"/>
              <a:t>Linux</a:t>
            </a:r>
            <a:r>
              <a:rPr lang="tr-TR" dirty="0"/>
              <a:t>: </a:t>
            </a:r>
            <a:r>
              <a:rPr lang="tr-TR" dirty="0" smtClean="0"/>
              <a:t>1991, </a:t>
            </a:r>
            <a:r>
              <a:rPr lang="tr-TR" i="1" dirty="0" err="1" smtClean="0"/>
              <a:t>Linus</a:t>
            </a:r>
            <a:r>
              <a:rPr lang="tr-TR" i="1" dirty="0" smtClean="0"/>
              <a:t> </a:t>
            </a:r>
            <a:r>
              <a:rPr lang="tr-TR" i="1" dirty="0" err="1" smtClean="0"/>
              <a:t>Torvalds</a:t>
            </a:r>
            <a:r>
              <a:rPr lang="tr-TR" dirty="0" smtClean="0"/>
              <a:t>, ücretsiz </a:t>
            </a:r>
            <a:r>
              <a:rPr lang="tr-TR" dirty="0"/>
              <a:t>ve açık </a:t>
            </a:r>
            <a:r>
              <a:rPr lang="tr-TR" dirty="0" smtClean="0"/>
              <a:t>kaynaklı. 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Unix </a:t>
            </a:r>
            <a:r>
              <a:rPr lang="tr-TR" dirty="0" smtClean="0"/>
              <a:t>Tarihçe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1969'da </a:t>
            </a:r>
            <a:r>
              <a:rPr lang="tr-TR" i="1" dirty="0" err="1"/>
              <a:t>Bell</a:t>
            </a:r>
            <a:r>
              <a:rPr lang="tr-TR" i="1" dirty="0"/>
              <a:t> </a:t>
            </a:r>
            <a:r>
              <a:rPr lang="tr-TR" dirty="0" smtClean="0"/>
              <a:t>Laboratuvarında </a:t>
            </a:r>
            <a:r>
              <a:rPr lang="tr-TR" i="1" dirty="0" err="1"/>
              <a:t>Ken</a:t>
            </a:r>
            <a:r>
              <a:rPr lang="tr-TR" i="1" dirty="0"/>
              <a:t> </a:t>
            </a:r>
            <a:r>
              <a:rPr lang="tr-TR" i="1" dirty="0" err="1"/>
              <a:t>Thompson</a:t>
            </a:r>
            <a:r>
              <a:rPr lang="tr-TR" dirty="0"/>
              <a:t> ve </a:t>
            </a:r>
            <a:r>
              <a:rPr lang="tr-TR" i="1" dirty="0" err="1"/>
              <a:t>Dennis</a:t>
            </a:r>
            <a:r>
              <a:rPr lang="tr-TR" i="1" dirty="0"/>
              <a:t> </a:t>
            </a:r>
            <a:r>
              <a:rPr lang="tr-TR" i="1" dirty="0" err="1"/>
              <a:t>Ritchie</a:t>
            </a:r>
            <a:r>
              <a:rPr lang="tr-TR" dirty="0"/>
              <a:t> </a:t>
            </a:r>
            <a:r>
              <a:rPr lang="tr-TR" dirty="0" smtClean="0"/>
              <a:t>geliştirdi.</a:t>
            </a:r>
          </a:p>
          <a:p>
            <a:r>
              <a:rPr lang="tr-TR" dirty="0" smtClean="0"/>
              <a:t>Mini </a:t>
            </a:r>
            <a:r>
              <a:rPr lang="tr-TR" dirty="0"/>
              <a:t>bilgisayarlar için çok kullanıcılı, çok görevli bir işletim </a:t>
            </a:r>
            <a:r>
              <a:rPr lang="tr-TR" dirty="0" smtClean="0"/>
              <a:t>sistemi.</a:t>
            </a:r>
          </a:p>
          <a:p>
            <a:r>
              <a:rPr lang="tr-TR" dirty="0" smtClean="0"/>
              <a:t>Orijinal </a:t>
            </a:r>
            <a:r>
              <a:rPr lang="tr-TR" i="1" dirty="0"/>
              <a:t>UNIX </a:t>
            </a:r>
            <a:r>
              <a:rPr lang="tr-TR" dirty="0"/>
              <a:t>işletim sistemi, Assembly dilinde yazılmıştır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1972'de </a:t>
            </a:r>
            <a:r>
              <a:rPr lang="tr-TR" i="1" dirty="0"/>
              <a:t>UNIX</a:t>
            </a:r>
            <a:r>
              <a:rPr lang="tr-TR" dirty="0"/>
              <a:t>, taşınabilirlik için </a:t>
            </a:r>
            <a:r>
              <a:rPr lang="tr-TR" i="1" dirty="0" smtClean="0"/>
              <a:t>C</a:t>
            </a:r>
            <a:r>
              <a:rPr lang="tr-TR" dirty="0" smtClean="0"/>
              <a:t> dilinde </a:t>
            </a:r>
            <a:r>
              <a:rPr lang="tr-TR" dirty="0"/>
              <a:t>yeniden yazıldı</a:t>
            </a:r>
            <a:r>
              <a:rPr lang="tr-TR" dirty="0" smtClean="0"/>
              <a:t>.</a:t>
            </a:r>
          </a:p>
          <a:p>
            <a:r>
              <a:rPr lang="tr-TR" dirty="0" smtClean="0"/>
              <a:t>1984'te </a:t>
            </a:r>
            <a:r>
              <a:rPr lang="tr-TR" i="1" dirty="0" smtClean="0"/>
              <a:t>AT&amp;T</a:t>
            </a:r>
            <a:r>
              <a:rPr lang="tr-TR" dirty="0"/>
              <a:t>, ticari </a:t>
            </a:r>
            <a:r>
              <a:rPr lang="tr-TR" i="1" dirty="0"/>
              <a:t>UNIX</a:t>
            </a:r>
            <a:r>
              <a:rPr lang="tr-TR" dirty="0"/>
              <a:t> sistemleri için </a:t>
            </a:r>
            <a:r>
              <a:rPr lang="tr-TR" i="1" dirty="0" err="1" smtClean="0"/>
              <a:t>System</a:t>
            </a:r>
            <a:r>
              <a:rPr lang="tr-TR" i="1" dirty="0" smtClean="0"/>
              <a:t> </a:t>
            </a:r>
            <a:r>
              <a:rPr lang="tr-TR" i="1" dirty="0" err="1"/>
              <a:t>V</a:t>
            </a:r>
            <a:r>
              <a:rPr lang="tr-TR" dirty="0" err="1"/>
              <a:t>'i</a:t>
            </a:r>
            <a:r>
              <a:rPr lang="tr-TR" dirty="0"/>
              <a:t> piyasaya sürdü</a:t>
            </a:r>
            <a:r>
              <a:rPr lang="tr-TR" dirty="0" smtClean="0"/>
              <a:t>.</a:t>
            </a:r>
          </a:p>
          <a:p>
            <a:r>
              <a:rPr lang="tr-TR" dirty="0" smtClean="0"/>
              <a:t>1990 başlarında</a:t>
            </a:r>
            <a:r>
              <a:rPr lang="tr-TR" dirty="0"/>
              <a:t>, açık kaynak </a:t>
            </a:r>
            <a:r>
              <a:rPr lang="tr-TR" dirty="0" smtClean="0"/>
              <a:t>hareketi sonucu, </a:t>
            </a:r>
          </a:p>
          <a:p>
            <a:pPr lvl="1"/>
            <a:r>
              <a:rPr lang="tr-TR" i="1" dirty="0" smtClean="0"/>
              <a:t>Linux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i="1" dirty="0"/>
              <a:t>BSD</a:t>
            </a:r>
            <a:r>
              <a:rPr lang="tr-TR" dirty="0"/>
              <a:t> gibi </a:t>
            </a:r>
            <a:r>
              <a:rPr lang="tr-TR" i="1" dirty="0" smtClean="0"/>
              <a:t>UNIX</a:t>
            </a:r>
            <a:r>
              <a:rPr lang="tr-TR" dirty="0" smtClean="0"/>
              <a:t> </a:t>
            </a:r>
            <a:r>
              <a:rPr lang="tr-TR" dirty="0"/>
              <a:t>tabanlı işletim </a:t>
            </a:r>
            <a:r>
              <a:rPr lang="tr-TR" dirty="0" smtClean="0"/>
              <a:t>sistemleri geliştirildi.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9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Linux Tarihçe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1991</a:t>
            </a:r>
            <a:r>
              <a:rPr lang="tr-TR" dirty="0" smtClean="0"/>
              <a:t>: </a:t>
            </a:r>
            <a:r>
              <a:rPr lang="tr-TR" dirty="0" err="1"/>
              <a:t>Linus</a:t>
            </a:r>
            <a:r>
              <a:rPr lang="tr-TR" dirty="0"/>
              <a:t> </a:t>
            </a:r>
            <a:r>
              <a:rPr lang="tr-TR" dirty="0" err="1"/>
              <a:t>Torvalds</a:t>
            </a:r>
            <a:r>
              <a:rPr lang="tr-TR" dirty="0"/>
              <a:t> tarafından bir hobi projesi olarak oluşturuldu</a:t>
            </a:r>
            <a:r>
              <a:rPr lang="tr-TR" dirty="0" smtClean="0"/>
              <a:t>.</a:t>
            </a:r>
          </a:p>
          <a:p>
            <a:r>
              <a:rPr lang="tr-TR" dirty="0" smtClean="0"/>
              <a:t>1992</a:t>
            </a:r>
            <a:r>
              <a:rPr lang="tr-TR" dirty="0"/>
              <a:t>: Linux sürüm 0.12 </a:t>
            </a:r>
            <a:r>
              <a:rPr lang="tr-TR" dirty="0" smtClean="0"/>
              <a:t>yayınlandı.</a:t>
            </a:r>
          </a:p>
          <a:p>
            <a:r>
              <a:rPr lang="tr-TR" dirty="0" smtClean="0"/>
              <a:t>1994</a:t>
            </a:r>
            <a:r>
              <a:rPr lang="tr-TR" dirty="0"/>
              <a:t>: Linux'un ilk ticari sürümü (</a:t>
            </a:r>
            <a:r>
              <a:rPr lang="tr-TR" i="1" dirty="0"/>
              <a:t>SLS Linux</a:t>
            </a:r>
            <a:r>
              <a:rPr lang="tr-TR" dirty="0" smtClean="0"/>
              <a:t>).</a:t>
            </a:r>
          </a:p>
          <a:p>
            <a:r>
              <a:rPr lang="tr-TR" dirty="0" smtClean="0"/>
              <a:t>1998</a:t>
            </a:r>
            <a:r>
              <a:rPr lang="tr-TR" dirty="0"/>
              <a:t>: </a:t>
            </a:r>
            <a:r>
              <a:rPr lang="tr-TR" i="1" dirty="0" err="1"/>
              <a:t>Red</a:t>
            </a:r>
            <a:r>
              <a:rPr lang="tr-TR" i="1" dirty="0"/>
              <a:t> Hat </a:t>
            </a:r>
            <a:r>
              <a:rPr lang="tr-TR" dirty="0"/>
              <a:t>tarafından ilk Linux </a:t>
            </a:r>
            <a:r>
              <a:rPr lang="tr-TR" dirty="0" smtClean="0"/>
              <a:t>dağıtımı.</a:t>
            </a:r>
          </a:p>
          <a:p>
            <a:r>
              <a:rPr lang="tr-TR" dirty="0" smtClean="0"/>
              <a:t>2000</a:t>
            </a:r>
            <a:r>
              <a:rPr lang="tr-TR" dirty="0"/>
              <a:t>: Linux halka açık bir şirket haline geldi (</a:t>
            </a:r>
            <a:r>
              <a:rPr lang="tr-TR" i="1" dirty="0" err="1"/>
              <a:t>Red</a:t>
            </a:r>
            <a:r>
              <a:rPr lang="tr-TR" i="1" dirty="0"/>
              <a:t> Hat</a:t>
            </a:r>
            <a:r>
              <a:rPr lang="tr-TR" dirty="0" smtClean="0"/>
              <a:t>).</a:t>
            </a:r>
          </a:p>
          <a:p>
            <a:r>
              <a:rPr lang="tr-TR" dirty="0" smtClean="0"/>
              <a:t>2002</a:t>
            </a:r>
            <a:r>
              <a:rPr lang="tr-TR" dirty="0"/>
              <a:t>: İlk yerleşik Linux </a:t>
            </a:r>
            <a:r>
              <a:rPr lang="tr-TR" dirty="0" smtClean="0"/>
              <a:t>cihazı </a:t>
            </a:r>
            <a:r>
              <a:rPr lang="tr-TR" dirty="0"/>
              <a:t>piyasaya </a:t>
            </a:r>
            <a:r>
              <a:rPr lang="tr-TR" dirty="0" smtClean="0"/>
              <a:t>sürüldü </a:t>
            </a:r>
            <a:r>
              <a:rPr lang="tr-TR" dirty="0"/>
              <a:t>(</a:t>
            </a:r>
            <a:r>
              <a:rPr lang="tr-TR" i="1" dirty="0" err="1"/>
              <a:t>Sharp</a:t>
            </a:r>
            <a:r>
              <a:rPr lang="tr-TR" i="1" dirty="0"/>
              <a:t> </a:t>
            </a:r>
            <a:r>
              <a:rPr lang="tr-TR" i="1" dirty="0" err="1"/>
              <a:t>Zaurus</a:t>
            </a:r>
            <a:r>
              <a:rPr lang="tr-TR" i="1" dirty="0"/>
              <a:t> PDA</a:t>
            </a:r>
            <a:r>
              <a:rPr lang="tr-TR" dirty="0" smtClean="0"/>
              <a:t>).</a:t>
            </a:r>
          </a:p>
          <a:p>
            <a:r>
              <a:rPr lang="tr-TR" dirty="0" smtClean="0"/>
              <a:t>2005</a:t>
            </a:r>
            <a:r>
              <a:rPr lang="tr-TR" dirty="0"/>
              <a:t>: Linux çalıştıran ilk </a:t>
            </a:r>
            <a:r>
              <a:rPr lang="tr-TR" i="1" dirty="0" err="1"/>
              <a:t>Android</a:t>
            </a:r>
            <a:r>
              <a:rPr lang="tr-TR" dirty="0"/>
              <a:t> cihazının </a:t>
            </a:r>
            <a:r>
              <a:rPr lang="tr-TR" dirty="0" err="1"/>
              <a:t>lansmanı</a:t>
            </a:r>
            <a:r>
              <a:rPr lang="tr-TR" dirty="0"/>
              <a:t> (</a:t>
            </a:r>
            <a:r>
              <a:rPr lang="tr-TR" i="1" dirty="0"/>
              <a:t>HTC </a:t>
            </a:r>
            <a:r>
              <a:rPr lang="tr-TR" i="1" dirty="0" err="1"/>
              <a:t>Dream</a:t>
            </a:r>
            <a:r>
              <a:rPr lang="tr-TR" dirty="0" smtClean="0"/>
              <a:t>).</a:t>
            </a:r>
          </a:p>
          <a:p>
            <a:r>
              <a:rPr lang="tr-TR" dirty="0" smtClean="0"/>
              <a:t>2008</a:t>
            </a:r>
            <a:r>
              <a:rPr lang="tr-TR" dirty="0"/>
              <a:t>: Linux, sunuculardaki en popüler işletim sistemi </a:t>
            </a:r>
            <a:r>
              <a:rPr lang="tr-TR" dirty="0" smtClean="0"/>
              <a:t>oldu.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820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Hedefler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Programcılar tarafından programcılar için </a:t>
            </a:r>
            <a:r>
              <a:rPr lang="tr-TR" dirty="0" smtClean="0"/>
              <a:t>tasarlandı. </a:t>
            </a:r>
            <a:r>
              <a:rPr lang="tr-TR" dirty="0" smtClean="0">
                <a:sym typeface="Wingdings" panose="05000000000000000000" pitchFamily="2" charset="2"/>
              </a:rPr>
              <a:t></a:t>
            </a:r>
            <a:endParaRPr lang="tr-TR" dirty="0" smtClean="0"/>
          </a:p>
          <a:p>
            <a:pPr lvl="1"/>
            <a:r>
              <a:rPr lang="tr-TR" dirty="0" smtClean="0"/>
              <a:t>Basit (</a:t>
            </a:r>
            <a:r>
              <a:rPr lang="tr-TR" i="1" dirty="0" err="1" smtClean="0"/>
              <a:t>simple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Şık (</a:t>
            </a:r>
            <a:r>
              <a:rPr lang="tr-TR" i="1" dirty="0" err="1" smtClean="0"/>
              <a:t>elegant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Tutarlı (</a:t>
            </a:r>
            <a:r>
              <a:rPr lang="tr-TR" i="1" dirty="0" err="1" smtClean="0"/>
              <a:t>consistent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Güçlü (</a:t>
            </a:r>
            <a:r>
              <a:rPr lang="tr-TR" i="1" dirty="0" err="1" smtClean="0"/>
              <a:t>powerful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Esnek (</a:t>
            </a:r>
            <a:r>
              <a:rPr lang="tr-TR" i="1" dirty="0" err="1" smtClean="0"/>
              <a:t>flexible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48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UNIX Katmanlar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6" descr="10-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0" y="1975575"/>
            <a:ext cx="7391400" cy="3736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58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UNIX </a:t>
            </a:r>
            <a:r>
              <a:rPr lang="tr-TR" dirty="0" smtClean="0"/>
              <a:t>Komutlar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ls</a:t>
            </a:r>
            <a:r>
              <a:rPr lang="tr-TR" dirty="0"/>
              <a:t> - dosya ve dizinleri </a:t>
            </a:r>
            <a:r>
              <a:rPr lang="tr-TR" dirty="0" smtClean="0"/>
              <a:t>listeler.</a:t>
            </a:r>
          </a:p>
          <a:p>
            <a:r>
              <a:rPr lang="tr-TR" b="1" dirty="0" smtClean="0"/>
              <a:t>cd</a:t>
            </a:r>
            <a:r>
              <a:rPr lang="tr-TR" dirty="0" smtClean="0"/>
              <a:t> </a:t>
            </a:r>
            <a:r>
              <a:rPr lang="tr-TR" dirty="0"/>
              <a:t>- mevcut dizini </a:t>
            </a:r>
            <a:r>
              <a:rPr lang="tr-TR" dirty="0" smtClean="0"/>
              <a:t>değiştirir.</a:t>
            </a:r>
          </a:p>
          <a:p>
            <a:r>
              <a:rPr lang="tr-TR" b="1" dirty="0" err="1" smtClean="0"/>
              <a:t>mkdir</a:t>
            </a:r>
            <a:r>
              <a:rPr lang="tr-TR" dirty="0" smtClean="0"/>
              <a:t> </a:t>
            </a:r>
            <a:r>
              <a:rPr lang="tr-TR" dirty="0"/>
              <a:t>- yeni bir dizin </a:t>
            </a:r>
            <a:r>
              <a:rPr lang="tr-TR" dirty="0" smtClean="0"/>
              <a:t>oluşturur.</a:t>
            </a:r>
          </a:p>
          <a:p>
            <a:r>
              <a:rPr lang="tr-TR" b="1" dirty="0" err="1" smtClean="0"/>
              <a:t>rm</a:t>
            </a:r>
            <a:r>
              <a:rPr lang="tr-TR" dirty="0" smtClean="0"/>
              <a:t> </a:t>
            </a:r>
            <a:r>
              <a:rPr lang="tr-TR" dirty="0"/>
              <a:t>- dosyaları veya dizinleri </a:t>
            </a:r>
            <a:r>
              <a:rPr lang="tr-TR" dirty="0" smtClean="0"/>
              <a:t>kaldırır.</a:t>
            </a:r>
          </a:p>
          <a:p>
            <a:r>
              <a:rPr lang="tr-TR" b="1" dirty="0" err="1" smtClean="0"/>
              <a:t>touch</a:t>
            </a:r>
            <a:r>
              <a:rPr lang="tr-TR" dirty="0" smtClean="0"/>
              <a:t> </a:t>
            </a:r>
            <a:r>
              <a:rPr lang="tr-TR" dirty="0"/>
              <a:t>- yeni bir dosya </a:t>
            </a:r>
            <a:r>
              <a:rPr lang="tr-TR" dirty="0" smtClean="0"/>
              <a:t>oluşturur.</a:t>
            </a:r>
          </a:p>
          <a:p>
            <a:r>
              <a:rPr lang="tr-TR" b="1" dirty="0" err="1" smtClean="0"/>
              <a:t>cp</a:t>
            </a:r>
            <a:r>
              <a:rPr lang="tr-TR" dirty="0" smtClean="0"/>
              <a:t> </a:t>
            </a:r>
            <a:r>
              <a:rPr lang="tr-TR" dirty="0"/>
              <a:t>- dosyaları veya dizinleri </a:t>
            </a:r>
            <a:r>
              <a:rPr lang="tr-TR" dirty="0" smtClean="0"/>
              <a:t>kopyalar.</a:t>
            </a:r>
          </a:p>
          <a:p>
            <a:r>
              <a:rPr lang="tr-TR" b="1" dirty="0" smtClean="0"/>
              <a:t>mv</a:t>
            </a:r>
            <a:r>
              <a:rPr lang="tr-TR" dirty="0" smtClean="0"/>
              <a:t> </a:t>
            </a:r>
            <a:r>
              <a:rPr lang="tr-TR" dirty="0"/>
              <a:t>- dosyaları veya dizinleri </a:t>
            </a:r>
            <a:r>
              <a:rPr lang="tr-TR" dirty="0" smtClean="0"/>
              <a:t>taşır </a:t>
            </a:r>
            <a:r>
              <a:rPr lang="tr-TR" dirty="0"/>
              <a:t>veya yeniden </a:t>
            </a:r>
            <a:r>
              <a:rPr lang="tr-TR" dirty="0" smtClean="0"/>
              <a:t>adlandırır.</a:t>
            </a:r>
          </a:p>
          <a:p>
            <a:r>
              <a:rPr lang="tr-TR" b="1" dirty="0" err="1" smtClean="0"/>
              <a:t>cat</a:t>
            </a:r>
            <a:r>
              <a:rPr lang="tr-TR" dirty="0" smtClean="0"/>
              <a:t> </a:t>
            </a:r>
            <a:r>
              <a:rPr lang="tr-TR" dirty="0"/>
              <a:t>- bir dosyanın içeriğini </a:t>
            </a:r>
            <a:r>
              <a:rPr lang="tr-TR" dirty="0" smtClean="0"/>
              <a:t>gösterir.</a:t>
            </a:r>
          </a:p>
          <a:p>
            <a:r>
              <a:rPr lang="tr-TR" b="1" dirty="0" err="1"/>
              <a:t>e</a:t>
            </a:r>
            <a:r>
              <a:rPr lang="tr-TR" b="1" dirty="0" err="1" smtClean="0"/>
              <a:t>cho</a:t>
            </a:r>
            <a:r>
              <a:rPr lang="tr-TR" dirty="0" smtClean="0"/>
              <a:t> - verilen metni </a:t>
            </a:r>
            <a:r>
              <a:rPr lang="tr-TR" dirty="0"/>
              <a:t>ekranda </a:t>
            </a:r>
            <a:r>
              <a:rPr lang="tr-TR" dirty="0" smtClean="0"/>
              <a:t>gösterir.</a:t>
            </a:r>
          </a:p>
          <a:p>
            <a:r>
              <a:rPr lang="tr-TR" b="1" dirty="0" err="1" smtClean="0"/>
              <a:t>less</a:t>
            </a:r>
            <a:r>
              <a:rPr lang="tr-TR" dirty="0" smtClean="0"/>
              <a:t> </a:t>
            </a:r>
            <a:r>
              <a:rPr lang="tr-TR" dirty="0"/>
              <a:t>- bir dosyanın içeriğini </a:t>
            </a:r>
            <a:r>
              <a:rPr lang="tr-TR" dirty="0" smtClean="0"/>
              <a:t>sayfa sayfa görüntüler.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69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UNIX </a:t>
            </a:r>
            <a:r>
              <a:rPr lang="tr-TR" dirty="0" smtClean="0"/>
              <a:t>Komutlar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head</a:t>
            </a:r>
            <a:r>
              <a:rPr lang="tr-TR" dirty="0"/>
              <a:t> - bir dosyanın ilk birkaç satırını </a:t>
            </a:r>
            <a:r>
              <a:rPr lang="tr-TR" dirty="0" smtClean="0"/>
              <a:t>görüntüler.</a:t>
            </a:r>
          </a:p>
          <a:p>
            <a:r>
              <a:rPr lang="tr-TR" b="1" dirty="0" err="1" smtClean="0"/>
              <a:t>tail</a:t>
            </a:r>
            <a:r>
              <a:rPr lang="tr-TR" dirty="0" smtClean="0"/>
              <a:t> </a:t>
            </a:r>
            <a:r>
              <a:rPr lang="tr-TR" dirty="0"/>
              <a:t>- bir dosyanın son birkaç satırını </a:t>
            </a:r>
            <a:r>
              <a:rPr lang="tr-TR" dirty="0" smtClean="0"/>
              <a:t>görüntüler.</a:t>
            </a:r>
          </a:p>
          <a:p>
            <a:r>
              <a:rPr lang="tr-TR" b="1" dirty="0" err="1" smtClean="0"/>
              <a:t>grep</a:t>
            </a:r>
            <a:r>
              <a:rPr lang="tr-TR" dirty="0" smtClean="0"/>
              <a:t> </a:t>
            </a:r>
            <a:r>
              <a:rPr lang="tr-TR" dirty="0"/>
              <a:t>- bir dosyada </a:t>
            </a:r>
            <a:r>
              <a:rPr lang="tr-TR" dirty="0" smtClean="0"/>
              <a:t>verilen metni arar.</a:t>
            </a:r>
          </a:p>
          <a:p>
            <a:r>
              <a:rPr lang="tr-TR" b="1" dirty="0" err="1" smtClean="0"/>
              <a:t>find</a:t>
            </a:r>
            <a:r>
              <a:rPr lang="tr-TR" dirty="0" smtClean="0"/>
              <a:t> </a:t>
            </a:r>
            <a:r>
              <a:rPr lang="tr-TR" dirty="0"/>
              <a:t>- dosyaları veya dizinleri </a:t>
            </a:r>
            <a:r>
              <a:rPr lang="tr-TR" dirty="0" smtClean="0"/>
              <a:t>arar.</a:t>
            </a:r>
          </a:p>
          <a:p>
            <a:r>
              <a:rPr lang="tr-TR" b="1" dirty="0" smtClean="0"/>
              <a:t>tar</a:t>
            </a:r>
            <a:r>
              <a:rPr lang="tr-TR" dirty="0" smtClean="0"/>
              <a:t> </a:t>
            </a:r>
            <a:r>
              <a:rPr lang="tr-TR" dirty="0"/>
              <a:t>- bir tar arşivi </a:t>
            </a:r>
            <a:r>
              <a:rPr lang="tr-TR" dirty="0" smtClean="0"/>
              <a:t>oluşturur </a:t>
            </a:r>
            <a:r>
              <a:rPr lang="tr-TR" dirty="0"/>
              <a:t>veya </a:t>
            </a:r>
            <a:r>
              <a:rPr lang="tr-TR" dirty="0" smtClean="0"/>
              <a:t>arşivden çıkartır.</a:t>
            </a:r>
          </a:p>
          <a:p>
            <a:r>
              <a:rPr lang="tr-TR" b="1" dirty="0" err="1" smtClean="0"/>
              <a:t>ps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süreç bilgilerini gösterir.</a:t>
            </a:r>
          </a:p>
          <a:p>
            <a:r>
              <a:rPr lang="tr-TR" b="1" dirty="0" err="1" smtClean="0"/>
              <a:t>proc</a:t>
            </a:r>
            <a:r>
              <a:rPr lang="tr-TR" dirty="0" smtClean="0"/>
              <a:t> </a:t>
            </a:r>
            <a:r>
              <a:rPr lang="tr-TR" dirty="0"/>
              <a:t>- sistem bilgilerini ve kaynak kullanımını </a:t>
            </a:r>
            <a:r>
              <a:rPr lang="tr-TR" dirty="0" smtClean="0"/>
              <a:t>görüntüler.</a:t>
            </a:r>
          </a:p>
          <a:p>
            <a:r>
              <a:rPr lang="tr-TR" b="1" dirty="0" err="1" smtClean="0"/>
              <a:t>chmod</a:t>
            </a:r>
            <a:r>
              <a:rPr lang="tr-TR" dirty="0" smtClean="0"/>
              <a:t> </a:t>
            </a:r>
            <a:r>
              <a:rPr lang="tr-TR" dirty="0"/>
              <a:t>- dosya veya dizin izinlerini </a:t>
            </a:r>
            <a:r>
              <a:rPr lang="tr-TR" dirty="0" smtClean="0"/>
              <a:t>değiştirir.</a:t>
            </a:r>
          </a:p>
          <a:p>
            <a:r>
              <a:rPr lang="tr-TR" b="1" dirty="0" err="1" smtClean="0"/>
              <a:t>chown</a:t>
            </a:r>
            <a:r>
              <a:rPr lang="tr-TR" dirty="0" smtClean="0"/>
              <a:t> </a:t>
            </a:r>
            <a:r>
              <a:rPr lang="tr-TR" dirty="0"/>
              <a:t>- bir dosyanın veya dizinin sahibini veya grubunu </a:t>
            </a:r>
            <a:r>
              <a:rPr lang="tr-TR" dirty="0" smtClean="0"/>
              <a:t>değiştirir.</a:t>
            </a:r>
          </a:p>
          <a:p>
            <a:r>
              <a:rPr lang="tr-TR" b="1" dirty="0" err="1" smtClean="0"/>
              <a:t>ssh</a:t>
            </a:r>
            <a:r>
              <a:rPr lang="tr-TR" dirty="0" smtClean="0"/>
              <a:t> </a:t>
            </a:r>
            <a:r>
              <a:rPr lang="tr-TR" dirty="0"/>
              <a:t>- uzak bir makineye </a:t>
            </a:r>
            <a:r>
              <a:rPr lang="tr-TR" dirty="0" smtClean="0"/>
              <a:t>terminal üzerinden güvenli bağlanır.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86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UNIX </a:t>
            </a:r>
            <a:r>
              <a:rPr lang="tr-TR" dirty="0" smtClean="0"/>
              <a:t>Komutlar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scp</a:t>
            </a:r>
            <a:r>
              <a:rPr lang="tr-TR" dirty="0"/>
              <a:t> - makineler arasında </a:t>
            </a:r>
            <a:r>
              <a:rPr lang="tr-TR" dirty="0" smtClean="0"/>
              <a:t>güvenli dosya kopyalar.</a:t>
            </a:r>
          </a:p>
          <a:p>
            <a:r>
              <a:rPr lang="tr-TR" b="1" dirty="0" err="1" smtClean="0"/>
              <a:t>sync</a:t>
            </a:r>
            <a:r>
              <a:rPr lang="tr-TR" dirty="0" smtClean="0"/>
              <a:t> </a:t>
            </a:r>
            <a:r>
              <a:rPr lang="tr-TR" dirty="0"/>
              <a:t>- dosyaları makineler arasında senkronize </a:t>
            </a:r>
            <a:r>
              <a:rPr lang="tr-TR" dirty="0" smtClean="0"/>
              <a:t>eder.</a:t>
            </a:r>
          </a:p>
          <a:p>
            <a:r>
              <a:rPr lang="tr-TR" b="1" dirty="0" err="1" smtClean="0"/>
              <a:t>ping</a:t>
            </a:r>
            <a:r>
              <a:rPr lang="tr-TR" dirty="0" smtClean="0"/>
              <a:t> </a:t>
            </a:r>
            <a:r>
              <a:rPr lang="tr-TR" dirty="0"/>
              <a:t>- ağ bağlantısını test </a:t>
            </a:r>
            <a:r>
              <a:rPr lang="tr-TR" dirty="0" smtClean="0"/>
              <a:t>eder.</a:t>
            </a:r>
          </a:p>
          <a:p>
            <a:r>
              <a:rPr lang="tr-TR" b="1" dirty="0" err="1" smtClean="0"/>
              <a:t>ifconfig</a:t>
            </a:r>
            <a:r>
              <a:rPr lang="tr-TR" dirty="0" smtClean="0"/>
              <a:t> </a:t>
            </a:r>
            <a:r>
              <a:rPr lang="tr-TR" dirty="0"/>
              <a:t>- ağ yapılandırma bilgilerini </a:t>
            </a:r>
            <a:r>
              <a:rPr lang="tr-TR" dirty="0" smtClean="0"/>
              <a:t>görüntüler.</a:t>
            </a:r>
          </a:p>
          <a:p>
            <a:r>
              <a:rPr lang="tr-TR" b="1" dirty="0" err="1" smtClean="0"/>
              <a:t>route</a:t>
            </a:r>
            <a:r>
              <a:rPr lang="tr-TR" dirty="0" smtClean="0"/>
              <a:t> </a:t>
            </a:r>
            <a:r>
              <a:rPr lang="tr-TR" dirty="0"/>
              <a:t>- yönlendirme bilgilerini </a:t>
            </a:r>
            <a:r>
              <a:rPr lang="tr-TR" dirty="0" smtClean="0"/>
              <a:t>görüntüler </a:t>
            </a:r>
            <a:r>
              <a:rPr lang="tr-TR" dirty="0"/>
              <a:t>veya </a:t>
            </a:r>
            <a:r>
              <a:rPr lang="tr-TR" dirty="0" smtClean="0"/>
              <a:t>ayarlar.</a:t>
            </a:r>
          </a:p>
          <a:p>
            <a:r>
              <a:rPr lang="tr-TR" b="1" dirty="0" err="1" smtClean="0"/>
              <a:t>traceroute</a:t>
            </a:r>
            <a:r>
              <a:rPr lang="tr-TR" dirty="0" smtClean="0"/>
              <a:t> </a:t>
            </a:r>
            <a:r>
              <a:rPr lang="tr-TR" dirty="0"/>
              <a:t>- bir ana bilgisayara giden ağ yolunu </a:t>
            </a:r>
            <a:r>
              <a:rPr lang="tr-TR" dirty="0" smtClean="0"/>
              <a:t>görüntüler.</a:t>
            </a:r>
          </a:p>
          <a:p>
            <a:r>
              <a:rPr lang="tr-TR" b="1" dirty="0" err="1" smtClean="0"/>
              <a:t>netstat</a:t>
            </a:r>
            <a:r>
              <a:rPr lang="tr-TR" dirty="0" smtClean="0"/>
              <a:t> </a:t>
            </a:r>
            <a:r>
              <a:rPr lang="tr-TR" dirty="0"/>
              <a:t>- ağ durumu bilgilerini </a:t>
            </a:r>
            <a:r>
              <a:rPr lang="tr-TR" dirty="0" smtClean="0"/>
              <a:t>görüntüler.</a:t>
            </a:r>
          </a:p>
          <a:p>
            <a:r>
              <a:rPr lang="tr-TR" b="1" dirty="0" err="1" smtClean="0"/>
              <a:t>iptables</a:t>
            </a:r>
            <a:r>
              <a:rPr lang="tr-TR" dirty="0" smtClean="0"/>
              <a:t> </a:t>
            </a:r>
            <a:r>
              <a:rPr lang="tr-TR" dirty="0"/>
              <a:t>- güvenlik duvarı kurallarını </a:t>
            </a:r>
            <a:r>
              <a:rPr lang="tr-TR" dirty="0" smtClean="0"/>
              <a:t>yapılandırır.</a:t>
            </a:r>
          </a:p>
          <a:p>
            <a:r>
              <a:rPr lang="tr-TR" b="1" dirty="0" err="1" smtClean="0"/>
              <a:t>curl</a:t>
            </a:r>
            <a:r>
              <a:rPr lang="tr-TR" dirty="0" smtClean="0"/>
              <a:t> </a:t>
            </a:r>
            <a:r>
              <a:rPr lang="tr-TR" dirty="0"/>
              <a:t>- bir URL'den veri </a:t>
            </a:r>
            <a:r>
              <a:rPr lang="tr-TR" dirty="0" smtClean="0"/>
              <a:t>aktarır.</a:t>
            </a:r>
          </a:p>
          <a:p>
            <a:r>
              <a:rPr lang="tr-TR" b="1" dirty="0" err="1" smtClean="0"/>
              <a:t>wget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err="1"/>
              <a:t>web'den</a:t>
            </a:r>
            <a:r>
              <a:rPr lang="tr-TR" dirty="0"/>
              <a:t> dosya </a:t>
            </a:r>
            <a:r>
              <a:rPr lang="tr-TR" dirty="0" smtClean="0"/>
              <a:t>indirir.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59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UNIX Çekirdek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10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2295072"/>
            <a:ext cx="8096250" cy="3298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028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UNIX Çekirdek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6" descr="10-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7" y="1609775"/>
            <a:ext cx="6550025" cy="4530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45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POSIX Sinyaller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Süreçler </a:t>
            </a:r>
            <a:r>
              <a:rPr lang="tr-TR" dirty="0"/>
              <a:t>arası iletişim (</a:t>
            </a:r>
            <a:r>
              <a:rPr lang="tr-TR" i="1" dirty="0"/>
              <a:t>IPC</a:t>
            </a:r>
            <a:r>
              <a:rPr lang="tr-TR" dirty="0"/>
              <a:t>) yöntemidir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Bir </a:t>
            </a:r>
            <a:r>
              <a:rPr lang="tr-TR" dirty="0"/>
              <a:t>olay sürecini bildirmek veya </a:t>
            </a:r>
            <a:r>
              <a:rPr lang="tr-TR" dirty="0" smtClean="0"/>
              <a:t>yürütme </a:t>
            </a:r>
            <a:r>
              <a:rPr lang="tr-TR" dirty="0"/>
              <a:t>akışını kesmek için </a:t>
            </a:r>
            <a:r>
              <a:rPr lang="tr-TR" dirty="0" smtClean="0"/>
              <a:t>kullanılır.</a:t>
            </a:r>
          </a:p>
          <a:p>
            <a:r>
              <a:rPr lang="tr-TR" dirty="0" smtClean="0"/>
              <a:t>Senkron </a:t>
            </a:r>
            <a:r>
              <a:rPr lang="tr-TR" dirty="0"/>
              <a:t>veya asenkron </a:t>
            </a:r>
            <a:r>
              <a:rPr lang="tr-TR" dirty="0" smtClean="0"/>
              <a:t>olabilir.</a:t>
            </a:r>
          </a:p>
          <a:p>
            <a:r>
              <a:rPr lang="tr-TR" dirty="0" smtClean="0"/>
              <a:t>Sürecin sonlandırılması gibi önceden </a:t>
            </a:r>
            <a:r>
              <a:rPr lang="tr-TR" dirty="0"/>
              <a:t>tanımlanmış </a:t>
            </a:r>
            <a:r>
              <a:rPr lang="tr-TR" dirty="0" smtClean="0"/>
              <a:t>değerler kümesi var.</a:t>
            </a:r>
          </a:p>
          <a:p>
            <a:r>
              <a:rPr lang="tr-TR" dirty="0" smtClean="0"/>
              <a:t>Sinyal işleyici</a:t>
            </a:r>
            <a:r>
              <a:rPr lang="tr-TR" dirty="0"/>
              <a:t>, </a:t>
            </a:r>
            <a:endParaRPr lang="tr-TR" dirty="0" smtClean="0"/>
          </a:p>
          <a:p>
            <a:pPr lvl="1"/>
            <a:r>
              <a:rPr lang="tr-TR" dirty="0" smtClean="0"/>
              <a:t>kaynakları </a:t>
            </a:r>
            <a:r>
              <a:rPr lang="tr-TR" dirty="0"/>
              <a:t>serbest </a:t>
            </a:r>
            <a:r>
              <a:rPr lang="tr-TR" dirty="0" smtClean="0"/>
              <a:t>bırakmak, </a:t>
            </a:r>
            <a:r>
              <a:rPr lang="tr-TR" dirty="0"/>
              <a:t>veya </a:t>
            </a:r>
            <a:endParaRPr lang="tr-TR" dirty="0" smtClean="0"/>
          </a:p>
          <a:p>
            <a:pPr lvl="1"/>
            <a:r>
              <a:rPr lang="tr-TR" dirty="0" smtClean="0"/>
              <a:t>bilgileri günlüğe (</a:t>
            </a:r>
            <a:r>
              <a:rPr lang="tr-TR" dirty="0" err="1" smtClean="0"/>
              <a:t>log</a:t>
            </a:r>
            <a:r>
              <a:rPr lang="tr-TR" dirty="0" smtClean="0"/>
              <a:t>) </a:t>
            </a:r>
            <a:r>
              <a:rPr lang="tr-TR" dirty="0"/>
              <a:t>kaydetmek gibi gerekli </a:t>
            </a:r>
            <a:r>
              <a:rPr lang="tr-TR" dirty="0" smtClean="0"/>
              <a:t>işlemleri gerçekleştirir.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84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POSIX Sinyaller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r>
              <a:rPr lang="tr-TR" b="1" dirty="0"/>
              <a:t>SIGABRT</a:t>
            </a:r>
            <a:r>
              <a:rPr lang="tr-TR" dirty="0"/>
              <a:t>: </a:t>
            </a:r>
            <a:r>
              <a:rPr lang="tr-TR" dirty="0" smtClean="0"/>
              <a:t>Sürecin hata sonucu anormal </a:t>
            </a:r>
            <a:r>
              <a:rPr lang="tr-TR" dirty="0"/>
              <a:t>şekilde </a:t>
            </a:r>
            <a:r>
              <a:rPr lang="tr-TR" dirty="0" smtClean="0"/>
              <a:t>sonlandırılması için üretilir. </a:t>
            </a:r>
          </a:p>
          <a:p>
            <a:r>
              <a:rPr lang="tr-TR" b="1" dirty="0" smtClean="0"/>
              <a:t>SIGALRM</a:t>
            </a:r>
            <a:r>
              <a:rPr lang="tr-TR" dirty="0"/>
              <a:t>: </a:t>
            </a:r>
            <a:r>
              <a:rPr lang="tr-TR" i="1" dirty="0"/>
              <a:t>alarm()</a:t>
            </a:r>
            <a:r>
              <a:rPr lang="tr-TR" dirty="0"/>
              <a:t> </a:t>
            </a:r>
            <a:r>
              <a:rPr lang="tr-TR" dirty="0" smtClean="0"/>
              <a:t>ile ayarlanan süre dolunca üretilir. </a:t>
            </a:r>
          </a:p>
          <a:p>
            <a:r>
              <a:rPr lang="tr-TR" b="1" dirty="0" smtClean="0"/>
              <a:t>SIGFPE</a:t>
            </a:r>
            <a:r>
              <a:rPr lang="tr-TR" dirty="0"/>
              <a:t>: </a:t>
            </a:r>
            <a:r>
              <a:rPr lang="tr-TR" dirty="0" smtClean="0"/>
              <a:t>Sıfıra bölme </a:t>
            </a:r>
            <a:r>
              <a:rPr lang="tr-TR" dirty="0"/>
              <a:t>gibi geçersiz </a:t>
            </a:r>
            <a:r>
              <a:rPr lang="tr-TR" dirty="0" smtClean="0"/>
              <a:t>işlem gerçekleştiğinde oluşturulur.</a:t>
            </a:r>
          </a:p>
          <a:p>
            <a:r>
              <a:rPr lang="tr-TR" b="1" dirty="0" smtClean="0"/>
              <a:t>SIGHUP</a:t>
            </a:r>
            <a:r>
              <a:rPr lang="tr-TR" dirty="0"/>
              <a:t>: </a:t>
            </a:r>
            <a:r>
              <a:rPr lang="tr-TR" dirty="0" smtClean="0"/>
              <a:t>Sistem </a:t>
            </a:r>
            <a:r>
              <a:rPr lang="tr-TR" dirty="0"/>
              <a:t>bir bağlantı kaybı algıladığında </a:t>
            </a:r>
            <a:r>
              <a:rPr lang="tr-TR" dirty="0" smtClean="0"/>
              <a:t>üretir. </a:t>
            </a:r>
          </a:p>
          <a:p>
            <a:r>
              <a:rPr lang="tr-TR" b="1" dirty="0" smtClean="0"/>
              <a:t>SIGILL</a:t>
            </a:r>
            <a:r>
              <a:rPr lang="tr-TR" dirty="0"/>
              <a:t>: </a:t>
            </a:r>
            <a:r>
              <a:rPr lang="tr-TR" dirty="0" smtClean="0"/>
              <a:t>Geçersiz </a:t>
            </a:r>
            <a:r>
              <a:rPr lang="tr-TR" dirty="0"/>
              <a:t>bir makine talimatıyla karşılaştığında </a:t>
            </a:r>
            <a:r>
              <a:rPr lang="tr-TR" dirty="0" smtClean="0"/>
              <a:t>oluşturulur.</a:t>
            </a:r>
          </a:p>
          <a:p>
            <a:r>
              <a:rPr lang="tr-TR" b="1" dirty="0" smtClean="0"/>
              <a:t>SIGQUIT</a:t>
            </a:r>
            <a:r>
              <a:rPr lang="tr-TR" dirty="0"/>
              <a:t>: Çıkış tuşu (CTRL-) tarafından </a:t>
            </a:r>
            <a:r>
              <a:rPr lang="tr-TR" dirty="0" smtClean="0"/>
              <a:t>üretilir. </a:t>
            </a:r>
          </a:p>
          <a:p>
            <a:r>
              <a:rPr lang="tr-TR" b="1" dirty="0" smtClean="0"/>
              <a:t>SIGKILL</a:t>
            </a:r>
            <a:r>
              <a:rPr lang="tr-TR" dirty="0"/>
              <a:t>: </a:t>
            </a:r>
            <a:r>
              <a:rPr lang="tr-TR" i="1" dirty="0" err="1"/>
              <a:t>k</a:t>
            </a:r>
            <a:r>
              <a:rPr lang="tr-TR" i="1" dirty="0" err="1" smtClean="0"/>
              <a:t>ill</a:t>
            </a:r>
            <a:r>
              <a:rPr lang="tr-TR" i="1" dirty="0" smtClean="0"/>
              <a:t> </a:t>
            </a:r>
            <a:r>
              <a:rPr lang="tr-TR" dirty="0"/>
              <a:t>komutu tarafından </a:t>
            </a:r>
            <a:r>
              <a:rPr lang="tr-TR" dirty="0" smtClean="0"/>
              <a:t>üretilir.</a:t>
            </a:r>
          </a:p>
          <a:p>
            <a:r>
              <a:rPr lang="tr-TR" b="1" dirty="0" smtClean="0"/>
              <a:t>SIGPIPE</a:t>
            </a:r>
            <a:r>
              <a:rPr lang="tr-TR" dirty="0"/>
              <a:t>: </a:t>
            </a:r>
            <a:r>
              <a:rPr lang="tr-TR" dirty="0" smtClean="0"/>
              <a:t>Kapatılmış </a:t>
            </a:r>
            <a:r>
              <a:rPr lang="tr-TR" dirty="0"/>
              <a:t>bir boruya </a:t>
            </a:r>
            <a:r>
              <a:rPr lang="tr-TR" dirty="0" smtClean="0"/>
              <a:t>yazmaya çalışıldığında üretilir.</a:t>
            </a:r>
          </a:p>
          <a:p>
            <a:r>
              <a:rPr lang="tr-TR" b="1" dirty="0" smtClean="0"/>
              <a:t>SIGSEGV</a:t>
            </a:r>
            <a:r>
              <a:rPr lang="tr-TR" dirty="0"/>
              <a:t>: </a:t>
            </a:r>
            <a:r>
              <a:rPr lang="tr-TR" dirty="0" smtClean="0"/>
              <a:t>Geçersiz </a:t>
            </a:r>
            <a:r>
              <a:rPr lang="tr-TR" dirty="0"/>
              <a:t>bir bellek adresine </a:t>
            </a:r>
            <a:r>
              <a:rPr lang="tr-TR" dirty="0" smtClean="0"/>
              <a:t>erişildiğinde oluşturulur.</a:t>
            </a:r>
          </a:p>
          <a:p>
            <a:r>
              <a:rPr lang="tr-TR" b="1" dirty="0" smtClean="0"/>
              <a:t>SIGTERM</a:t>
            </a:r>
            <a:r>
              <a:rPr lang="tr-TR" dirty="0"/>
              <a:t>: </a:t>
            </a:r>
            <a:r>
              <a:rPr lang="tr-TR" i="1" dirty="0" err="1" smtClean="0"/>
              <a:t>kill</a:t>
            </a:r>
            <a:r>
              <a:rPr lang="tr-TR" dirty="0" smtClean="0"/>
              <a:t> </a:t>
            </a:r>
            <a:r>
              <a:rPr lang="tr-TR" dirty="0"/>
              <a:t>komutu tarafından </a:t>
            </a:r>
            <a:r>
              <a:rPr lang="tr-TR" dirty="0" smtClean="0"/>
              <a:t>üretilir.</a:t>
            </a:r>
          </a:p>
          <a:p>
            <a:r>
              <a:rPr lang="tr-TR" b="1" dirty="0" smtClean="0"/>
              <a:t>SIGUSR1</a:t>
            </a:r>
            <a:r>
              <a:rPr lang="tr-TR" dirty="0"/>
              <a:t>: Kullanıcı tanımlı </a:t>
            </a:r>
            <a:r>
              <a:rPr lang="tr-TR" dirty="0" smtClean="0"/>
              <a:t>sinyal.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56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Süreç Yönetimi için Sistem Çağrıları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Linux </a:t>
            </a:r>
            <a:r>
              <a:rPr lang="tr-TR" dirty="0"/>
              <a:t>çekirdeği tarafından </a:t>
            </a:r>
            <a:r>
              <a:rPr lang="tr-TR" dirty="0" smtClean="0"/>
              <a:t>sağlanır.</a:t>
            </a:r>
          </a:p>
          <a:p>
            <a:r>
              <a:rPr lang="tr-TR" dirty="0" smtClean="0"/>
              <a:t>Kullanıcı </a:t>
            </a:r>
            <a:r>
              <a:rPr lang="tr-TR" dirty="0"/>
              <a:t>düzeyinde </a:t>
            </a:r>
            <a:r>
              <a:rPr lang="tr-TR" dirty="0" smtClean="0"/>
              <a:t>programın </a:t>
            </a:r>
            <a:r>
              <a:rPr lang="tr-TR" dirty="0"/>
              <a:t>çekirdekle etkileşim </a:t>
            </a:r>
            <a:r>
              <a:rPr lang="tr-TR" dirty="0" smtClean="0"/>
              <a:t>kurmasını sağlar.</a:t>
            </a:r>
          </a:p>
          <a:p>
            <a:r>
              <a:rPr lang="tr-TR" dirty="0" smtClean="0"/>
              <a:t>Programın işletim </a:t>
            </a:r>
            <a:r>
              <a:rPr lang="tr-TR" dirty="0"/>
              <a:t>sisteminden hizmet </a:t>
            </a:r>
            <a:r>
              <a:rPr lang="tr-TR" dirty="0" smtClean="0"/>
              <a:t>istemesi için </a:t>
            </a:r>
            <a:r>
              <a:rPr lang="tr-TR" dirty="0"/>
              <a:t>birincil mekanizmadır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Örnekler</a:t>
            </a:r>
            <a:r>
              <a:rPr lang="tr-TR" dirty="0"/>
              <a:t>: </a:t>
            </a:r>
            <a:r>
              <a:rPr lang="tr-TR" i="1" dirty="0" err="1"/>
              <a:t>open</a:t>
            </a:r>
            <a:r>
              <a:rPr lang="tr-TR" i="1" dirty="0"/>
              <a:t>(), </a:t>
            </a:r>
            <a:r>
              <a:rPr lang="tr-TR" i="1" dirty="0" err="1"/>
              <a:t>read</a:t>
            </a:r>
            <a:r>
              <a:rPr lang="tr-TR" i="1" dirty="0"/>
              <a:t>(), </a:t>
            </a:r>
            <a:r>
              <a:rPr lang="tr-TR" i="1" dirty="0" err="1"/>
              <a:t>write</a:t>
            </a:r>
            <a:r>
              <a:rPr lang="tr-TR" i="1" dirty="0"/>
              <a:t>(), </a:t>
            </a:r>
            <a:r>
              <a:rPr lang="tr-TR" i="1" dirty="0" err="1"/>
              <a:t>close</a:t>
            </a:r>
            <a:r>
              <a:rPr lang="tr-TR" i="1" dirty="0"/>
              <a:t>(), </a:t>
            </a:r>
            <a:r>
              <a:rPr lang="tr-TR" i="1" dirty="0" err="1"/>
              <a:t>fork</a:t>
            </a:r>
            <a:r>
              <a:rPr lang="tr-TR" i="1" dirty="0"/>
              <a:t>(), </a:t>
            </a:r>
            <a:r>
              <a:rPr lang="tr-TR" i="1" dirty="0" err="1"/>
              <a:t>exec</a:t>
            </a:r>
            <a:r>
              <a:rPr lang="tr-TR" i="1" dirty="0"/>
              <a:t>(), </a:t>
            </a:r>
            <a:r>
              <a:rPr lang="tr-TR" i="1" dirty="0" err="1"/>
              <a:t>wait</a:t>
            </a:r>
            <a:r>
              <a:rPr lang="tr-TR" i="1" dirty="0" smtClean="0"/>
              <a:t>().</a:t>
            </a:r>
          </a:p>
          <a:p>
            <a:r>
              <a:rPr lang="tr-TR" dirty="0" smtClean="0"/>
              <a:t>Linux'ta </a:t>
            </a:r>
            <a:r>
              <a:rPr lang="tr-TR" dirty="0"/>
              <a:t>dosya ve </a:t>
            </a:r>
            <a:r>
              <a:rPr lang="tr-TR" dirty="0" smtClean="0"/>
              <a:t>aygıt G/Ç</a:t>
            </a:r>
            <a:r>
              <a:rPr lang="tr-TR" dirty="0"/>
              <a:t>, süreç yönetimi ve süreçler arası iletişim (</a:t>
            </a:r>
            <a:r>
              <a:rPr lang="tr-TR" i="1" dirty="0"/>
              <a:t>IPC</a:t>
            </a:r>
            <a:r>
              <a:rPr lang="tr-TR" dirty="0"/>
              <a:t>) dahil olmak üzere birçok sistem çağrısı türü vardır</a:t>
            </a:r>
            <a:r>
              <a:rPr lang="tr-TR" dirty="0" smtClean="0"/>
              <a:t>. </a:t>
            </a:r>
          </a:p>
          <a:p>
            <a:r>
              <a:rPr lang="tr-TR" dirty="0" smtClean="0"/>
              <a:t>Sistem </a:t>
            </a:r>
            <a:r>
              <a:rPr lang="tr-TR" dirty="0"/>
              <a:t>çağrıları, Linux işletim sisteminin kritik bir </a:t>
            </a:r>
            <a:r>
              <a:rPr lang="tr-TR" dirty="0" smtClean="0"/>
              <a:t>bileşenidir.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9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Süreç Yönetimi için Sistem Çağrıları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r>
              <a:rPr lang="tr-TR" b="1" dirty="0" err="1"/>
              <a:t>fork</a:t>
            </a:r>
            <a:r>
              <a:rPr lang="tr-TR" dirty="0"/>
              <a:t>(): </a:t>
            </a:r>
            <a:r>
              <a:rPr lang="tr-TR" dirty="0" smtClean="0"/>
              <a:t>süreci çoğaltarak </a:t>
            </a:r>
            <a:r>
              <a:rPr lang="tr-TR" dirty="0"/>
              <a:t>yeni bir süreç oluşturur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waitpid</a:t>
            </a:r>
            <a:r>
              <a:rPr lang="tr-TR" dirty="0"/>
              <a:t>(): </a:t>
            </a:r>
            <a:r>
              <a:rPr lang="tr-TR" dirty="0" smtClean="0"/>
              <a:t>çocuk </a:t>
            </a:r>
            <a:r>
              <a:rPr lang="tr-TR" dirty="0"/>
              <a:t>sürecin </a:t>
            </a:r>
            <a:r>
              <a:rPr lang="tr-TR" dirty="0" smtClean="0"/>
              <a:t>sonlanmasını bekler.</a:t>
            </a:r>
          </a:p>
          <a:p>
            <a:r>
              <a:rPr lang="tr-TR" b="1" dirty="0" err="1" smtClean="0"/>
              <a:t>execve</a:t>
            </a:r>
            <a:r>
              <a:rPr lang="tr-TR" dirty="0"/>
              <a:t>(): </a:t>
            </a:r>
            <a:r>
              <a:rPr lang="tr-TR" dirty="0" smtClean="0"/>
              <a:t>mevcut süreç görüntüsünü yenisiyle değiştirir.</a:t>
            </a:r>
          </a:p>
          <a:p>
            <a:r>
              <a:rPr lang="tr-TR" b="1" dirty="0" err="1" smtClean="0"/>
              <a:t>exit</a:t>
            </a:r>
            <a:r>
              <a:rPr lang="tr-TR" dirty="0" smtClean="0"/>
              <a:t> </a:t>
            </a:r>
            <a:r>
              <a:rPr lang="tr-TR" dirty="0"/>
              <a:t>(): </a:t>
            </a:r>
            <a:r>
              <a:rPr lang="tr-TR" dirty="0" smtClean="0"/>
              <a:t>çağıran süreci sonlandırır.</a:t>
            </a:r>
          </a:p>
          <a:p>
            <a:r>
              <a:rPr lang="tr-TR" b="1" dirty="0" err="1" smtClean="0"/>
              <a:t>sigaction</a:t>
            </a:r>
            <a:r>
              <a:rPr lang="tr-TR" dirty="0"/>
              <a:t>(): belirtilen </a:t>
            </a:r>
            <a:r>
              <a:rPr lang="tr-TR" dirty="0" smtClean="0"/>
              <a:t>sinyal </a:t>
            </a:r>
            <a:r>
              <a:rPr lang="tr-TR" dirty="0"/>
              <a:t>için </a:t>
            </a:r>
            <a:r>
              <a:rPr lang="tr-TR" dirty="0" smtClean="0"/>
              <a:t>yürütülecek işlevi atar.</a:t>
            </a:r>
          </a:p>
          <a:p>
            <a:r>
              <a:rPr lang="tr-TR" b="1" dirty="0" err="1" smtClean="0"/>
              <a:t>sigreturn</a:t>
            </a:r>
            <a:r>
              <a:rPr lang="tr-TR" dirty="0"/>
              <a:t>(): kontrolü sinyal işleyiciye </a:t>
            </a:r>
            <a:r>
              <a:rPr lang="tr-TR" dirty="0" smtClean="0"/>
              <a:t>bırakır.</a:t>
            </a:r>
          </a:p>
          <a:p>
            <a:r>
              <a:rPr lang="tr-TR" b="1" dirty="0" err="1" smtClean="0"/>
              <a:t>sigprocmask</a:t>
            </a:r>
            <a:r>
              <a:rPr lang="tr-TR" dirty="0"/>
              <a:t>(): </a:t>
            </a:r>
            <a:r>
              <a:rPr lang="tr-TR" dirty="0" smtClean="0"/>
              <a:t>sürecin </a:t>
            </a:r>
            <a:r>
              <a:rPr lang="tr-TR" dirty="0"/>
              <a:t>sinyal maskesini </a:t>
            </a:r>
            <a:r>
              <a:rPr lang="tr-TR" dirty="0" smtClean="0"/>
              <a:t>atar.</a:t>
            </a:r>
          </a:p>
          <a:p>
            <a:r>
              <a:rPr lang="tr-TR" b="1" dirty="0" err="1" smtClean="0"/>
              <a:t>sigpending</a:t>
            </a:r>
            <a:r>
              <a:rPr lang="tr-TR" dirty="0"/>
              <a:t>(): </a:t>
            </a:r>
            <a:r>
              <a:rPr lang="tr-TR" dirty="0" smtClean="0"/>
              <a:t>sürecin bloke olan sinyallerini döndürür.</a:t>
            </a:r>
          </a:p>
          <a:p>
            <a:r>
              <a:rPr lang="tr-TR" b="1" dirty="0" err="1" smtClean="0"/>
              <a:t>sigsuspend</a:t>
            </a:r>
            <a:r>
              <a:rPr lang="tr-TR" dirty="0"/>
              <a:t>(): </a:t>
            </a:r>
            <a:r>
              <a:rPr lang="tr-TR" dirty="0" smtClean="0"/>
              <a:t>sürecin </a:t>
            </a:r>
            <a:r>
              <a:rPr lang="tr-TR" dirty="0"/>
              <a:t>sinyal maskesini geçici olarak </a:t>
            </a:r>
            <a:r>
              <a:rPr lang="tr-TR" dirty="0" smtClean="0"/>
              <a:t>değiştirir.</a:t>
            </a:r>
          </a:p>
          <a:p>
            <a:r>
              <a:rPr lang="tr-TR" b="1" dirty="0" err="1" smtClean="0"/>
              <a:t>kill</a:t>
            </a:r>
            <a:r>
              <a:rPr lang="tr-TR" dirty="0" smtClean="0"/>
              <a:t> </a:t>
            </a:r>
            <a:r>
              <a:rPr lang="tr-TR" dirty="0"/>
              <a:t>(): </a:t>
            </a:r>
            <a:r>
              <a:rPr lang="tr-TR" dirty="0" smtClean="0"/>
              <a:t>sürecin sonlanması için </a:t>
            </a:r>
            <a:r>
              <a:rPr lang="tr-TR" dirty="0"/>
              <a:t>bir sinyal </a:t>
            </a:r>
            <a:r>
              <a:rPr lang="tr-TR" dirty="0" smtClean="0"/>
              <a:t>gönderir.</a:t>
            </a:r>
          </a:p>
          <a:p>
            <a:r>
              <a:rPr lang="tr-TR" b="1" dirty="0" smtClean="0"/>
              <a:t>alarm</a:t>
            </a:r>
            <a:r>
              <a:rPr lang="tr-TR" dirty="0"/>
              <a:t>(): </a:t>
            </a:r>
            <a:r>
              <a:rPr lang="tr-TR" dirty="0" smtClean="0"/>
              <a:t>verilen saniye değeri </a:t>
            </a:r>
            <a:r>
              <a:rPr lang="tr-TR" dirty="0"/>
              <a:t>için bir çalar saat </a:t>
            </a:r>
            <a:r>
              <a:rPr lang="tr-TR" dirty="0" smtClean="0"/>
              <a:t>ayarlar.</a:t>
            </a:r>
          </a:p>
          <a:p>
            <a:r>
              <a:rPr lang="tr-TR" b="1" dirty="0" err="1" smtClean="0"/>
              <a:t>pause</a:t>
            </a:r>
            <a:r>
              <a:rPr lang="tr-TR" dirty="0" smtClean="0"/>
              <a:t>(): süreci </a:t>
            </a:r>
            <a:r>
              <a:rPr lang="tr-TR" dirty="0"/>
              <a:t>bir sinyal alınana kadar </a:t>
            </a:r>
            <a:r>
              <a:rPr lang="tr-TR" dirty="0" smtClean="0"/>
              <a:t>uyutur.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85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</a:t>
            </a:r>
            <a:r>
              <a:rPr lang="tr-TR" dirty="0" err="1" smtClean="0"/>
              <a:t>thread</a:t>
            </a:r>
            <a:r>
              <a:rPr lang="tr-TR" dirty="0" smtClean="0"/>
              <a:t> İşlevleri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r>
              <a:rPr lang="tr-TR" b="1" dirty="0" err="1"/>
              <a:t>pthread_create</a:t>
            </a:r>
            <a:r>
              <a:rPr lang="tr-TR" dirty="0"/>
              <a:t>: </a:t>
            </a:r>
            <a:r>
              <a:rPr lang="tr-TR" dirty="0" smtClean="0"/>
              <a:t>yeni iş </a:t>
            </a:r>
            <a:r>
              <a:rPr lang="tr-TR" dirty="0"/>
              <a:t>parçacığı oluşturur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pthread_exit</a:t>
            </a:r>
            <a:r>
              <a:rPr lang="tr-TR" dirty="0"/>
              <a:t>: </a:t>
            </a:r>
            <a:r>
              <a:rPr lang="tr-TR" dirty="0" smtClean="0"/>
              <a:t>iş </a:t>
            </a:r>
            <a:r>
              <a:rPr lang="tr-TR" dirty="0"/>
              <a:t>parçacığını sonlandırır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pthread_join</a:t>
            </a:r>
            <a:r>
              <a:rPr lang="tr-TR" dirty="0"/>
              <a:t>: </a:t>
            </a:r>
            <a:r>
              <a:rPr lang="tr-TR" dirty="0" smtClean="0"/>
              <a:t>bir </a:t>
            </a:r>
            <a:r>
              <a:rPr lang="tr-TR" dirty="0"/>
              <a:t>iş parçacığının sonlanmasını </a:t>
            </a:r>
            <a:r>
              <a:rPr lang="tr-TR" dirty="0" smtClean="0"/>
              <a:t>bekler.</a:t>
            </a:r>
          </a:p>
          <a:p>
            <a:r>
              <a:rPr lang="tr-TR" b="1" dirty="0" err="1" smtClean="0"/>
              <a:t>pthread_mutex_init</a:t>
            </a:r>
            <a:r>
              <a:rPr lang="tr-TR" dirty="0"/>
              <a:t>: </a:t>
            </a:r>
            <a:r>
              <a:rPr lang="tr-TR" i="1" dirty="0" err="1" smtClean="0"/>
              <a:t>muteks</a:t>
            </a:r>
            <a:r>
              <a:rPr lang="tr-TR" dirty="0" smtClean="0"/>
              <a:t> nesnesi başlatır.</a:t>
            </a:r>
          </a:p>
          <a:p>
            <a:r>
              <a:rPr lang="tr-TR" b="1" dirty="0" err="1" smtClean="0"/>
              <a:t>pthread_mutex_destroy</a:t>
            </a:r>
            <a:r>
              <a:rPr lang="tr-TR" dirty="0"/>
              <a:t>: </a:t>
            </a:r>
            <a:r>
              <a:rPr lang="tr-TR" i="1" dirty="0" err="1" smtClean="0"/>
              <a:t>muteks</a:t>
            </a:r>
            <a:r>
              <a:rPr lang="tr-TR" i="1" dirty="0" smtClean="0"/>
              <a:t> </a:t>
            </a:r>
            <a:r>
              <a:rPr lang="tr-TR" dirty="0"/>
              <a:t>nesnesini yok eder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pthread_mutex_lock</a:t>
            </a:r>
            <a:r>
              <a:rPr lang="tr-TR" dirty="0" smtClean="0"/>
              <a:t>: </a:t>
            </a:r>
            <a:r>
              <a:rPr lang="tr-TR" i="1" dirty="0" err="1" smtClean="0"/>
              <a:t>muteks</a:t>
            </a:r>
            <a:r>
              <a:rPr lang="tr-TR" i="1" dirty="0" smtClean="0"/>
              <a:t> </a:t>
            </a:r>
            <a:r>
              <a:rPr lang="tr-TR" dirty="0"/>
              <a:t>nesnesinin sahipliğini alır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pthread_mutex_unlock</a:t>
            </a:r>
            <a:r>
              <a:rPr lang="tr-TR" dirty="0"/>
              <a:t>: </a:t>
            </a:r>
            <a:r>
              <a:rPr lang="tr-TR" i="1" dirty="0" err="1" smtClean="0"/>
              <a:t>muteks</a:t>
            </a:r>
            <a:r>
              <a:rPr lang="tr-TR" dirty="0" smtClean="0"/>
              <a:t> </a:t>
            </a:r>
            <a:r>
              <a:rPr lang="tr-TR" dirty="0"/>
              <a:t>nesnesinin sahipliğini </a:t>
            </a:r>
            <a:r>
              <a:rPr lang="tr-TR" dirty="0" smtClean="0"/>
              <a:t>bırakır.</a:t>
            </a:r>
          </a:p>
          <a:p>
            <a:r>
              <a:rPr lang="tr-TR" b="1" dirty="0" err="1" smtClean="0"/>
              <a:t>pthread_cond_init</a:t>
            </a:r>
            <a:r>
              <a:rPr lang="tr-TR" dirty="0"/>
              <a:t>: </a:t>
            </a:r>
            <a:r>
              <a:rPr lang="tr-TR" dirty="0" smtClean="0"/>
              <a:t>koşul </a:t>
            </a:r>
            <a:r>
              <a:rPr lang="tr-TR" dirty="0"/>
              <a:t>değişkeni </a:t>
            </a:r>
            <a:r>
              <a:rPr lang="tr-TR" dirty="0" smtClean="0"/>
              <a:t>nesnesini başlatır.</a:t>
            </a:r>
          </a:p>
          <a:p>
            <a:r>
              <a:rPr lang="tr-TR" b="1" dirty="0" err="1" smtClean="0"/>
              <a:t>pthread_cond_destroy</a:t>
            </a:r>
            <a:r>
              <a:rPr lang="tr-TR" dirty="0"/>
              <a:t>: </a:t>
            </a:r>
            <a:r>
              <a:rPr lang="tr-TR" dirty="0" smtClean="0"/>
              <a:t>koşul </a:t>
            </a:r>
            <a:r>
              <a:rPr lang="tr-TR" dirty="0"/>
              <a:t>değişkeni nesnesini yok eder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pthread_cond_wait</a:t>
            </a:r>
            <a:r>
              <a:rPr lang="tr-TR" dirty="0"/>
              <a:t>: </a:t>
            </a:r>
            <a:r>
              <a:rPr lang="tr-TR" dirty="0" smtClean="0"/>
              <a:t>koşul değişkenine bağlı iş parçacığını bloke eder.</a:t>
            </a:r>
          </a:p>
          <a:p>
            <a:r>
              <a:rPr lang="tr-TR" b="1" dirty="0" err="1" smtClean="0"/>
              <a:t>pthread_cond_signal</a:t>
            </a:r>
            <a:r>
              <a:rPr lang="tr-TR" dirty="0"/>
              <a:t>: </a:t>
            </a:r>
            <a:r>
              <a:rPr lang="tr-TR" dirty="0" smtClean="0"/>
              <a:t>iş </a:t>
            </a:r>
            <a:r>
              <a:rPr lang="tr-TR" dirty="0"/>
              <a:t>parçacığının </a:t>
            </a:r>
            <a:r>
              <a:rPr lang="tr-TR" dirty="0" smtClean="0"/>
              <a:t>blokesini kaldırır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15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ls</a:t>
            </a:r>
            <a:r>
              <a:rPr lang="tr-TR" dirty="0" smtClean="0"/>
              <a:t> (</a:t>
            </a:r>
            <a:r>
              <a:rPr lang="tr-TR" dirty="0" err="1" smtClean="0"/>
              <a:t>list</a:t>
            </a:r>
            <a:r>
              <a:rPr lang="tr-TR" dirty="0" smtClean="0"/>
              <a:t>) Komutu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762" y="1690688"/>
            <a:ext cx="6848475" cy="43005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692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Linux Çizelgeleme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Gerçek zamanlı ilk-giren ilk-çıkar (</a:t>
            </a:r>
            <a:r>
              <a:rPr lang="tr-TR" i="1" dirty="0"/>
              <a:t>r</a:t>
            </a:r>
            <a:r>
              <a:rPr lang="en-US" i="1" dirty="0" err="1" smtClean="0"/>
              <a:t>ealtime</a:t>
            </a:r>
            <a:r>
              <a:rPr lang="en-US" i="1" dirty="0" smtClean="0"/>
              <a:t> FIFO</a:t>
            </a:r>
            <a:r>
              <a:rPr lang="tr-TR" dirty="0" smtClean="0"/>
              <a:t>)</a:t>
            </a:r>
            <a:r>
              <a:rPr lang="en-US" dirty="0" smtClean="0"/>
              <a:t>.</a:t>
            </a:r>
            <a:endParaRPr lang="en-US" dirty="0"/>
          </a:p>
          <a:p>
            <a:r>
              <a:rPr lang="tr-TR" dirty="0" smtClean="0"/>
              <a:t>Gerçek zamanlı sıralı (</a:t>
            </a:r>
            <a:r>
              <a:rPr lang="tr-TR" i="1" dirty="0" smtClean="0"/>
              <a:t>r</a:t>
            </a:r>
            <a:r>
              <a:rPr lang="en-US" i="1" dirty="0" err="1" smtClean="0"/>
              <a:t>ealtime</a:t>
            </a:r>
            <a:r>
              <a:rPr lang="en-US" i="1" dirty="0" smtClean="0"/>
              <a:t> </a:t>
            </a:r>
            <a:r>
              <a:rPr lang="en-US" i="1" dirty="0"/>
              <a:t>round </a:t>
            </a:r>
            <a:r>
              <a:rPr lang="en-US" i="1" dirty="0" smtClean="0"/>
              <a:t>robin</a:t>
            </a:r>
            <a:r>
              <a:rPr lang="tr-TR" dirty="0" smtClean="0"/>
              <a:t>)</a:t>
            </a:r>
            <a:r>
              <a:rPr lang="en-US" dirty="0" smtClean="0"/>
              <a:t>.</a:t>
            </a:r>
            <a:endParaRPr lang="en-US" dirty="0"/>
          </a:p>
          <a:p>
            <a:r>
              <a:rPr lang="tr-TR" dirty="0" smtClean="0"/>
              <a:t>Zaman paylaşımlı (t</a:t>
            </a:r>
            <a:r>
              <a:rPr lang="en-US" i="1" dirty="0" err="1" smtClean="0"/>
              <a:t>imesharing</a:t>
            </a:r>
            <a:r>
              <a:rPr lang="tr-TR" dirty="0" smtClean="0"/>
              <a:t>)</a:t>
            </a:r>
            <a:r>
              <a:rPr lang="en-US" dirty="0" smtClean="0"/>
              <a:t>.</a:t>
            </a:r>
            <a:endParaRPr lang="en-US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73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Linux </a:t>
            </a:r>
            <a:r>
              <a:rPr lang="tr-TR" dirty="0" smtClean="0"/>
              <a:t>Çizelgeleme – Öncelik Kuyrukları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6" descr="10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937" y="1825625"/>
            <a:ext cx="4810125" cy="4117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3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Linux Çizelgeleyici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25" y="1690688"/>
            <a:ext cx="5365750" cy="4416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16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Önyükleme (</a:t>
            </a:r>
            <a:r>
              <a:rPr lang="tr-TR" dirty="0" err="1" smtClean="0"/>
              <a:t>boot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7" y="1825625"/>
            <a:ext cx="7515225" cy="40719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258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Bellek Yönetimi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Süreç </a:t>
            </a:r>
            <a:r>
              <a:rPr lang="tr-TR" i="1" dirty="0" smtClean="0"/>
              <a:t>A</a:t>
            </a:r>
            <a:r>
              <a:rPr lang="tr-TR" dirty="0" smtClean="0"/>
              <a:t> ve </a:t>
            </a:r>
            <a:r>
              <a:rPr lang="tr-TR" i="1" dirty="0" smtClean="0"/>
              <a:t>B</a:t>
            </a:r>
            <a:r>
              <a:rPr lang="tr-TR" dirty="0" smtClean="0"/>
              <a:t>’nin </a:t>
            </a:r>
            <a:r>
              <a:rPr lang="tr-TR" dirty="0"/>
              <a:t>sanal adres </a:t>
            </a:r>
            <a:r>
              <a:rPr lang="tr-TR" dirty="0" smtClean="0"/>
              <a:t>alanı ve fiziksel bellek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1"/>
          <a:stretch>
            <a:fillRect/>
          </a:stretch>
        </p:blipFill>
        <p:spPr bwMode="auto">
          <a:xfrm>
            <a:off x="2571750" y="2585291"/>
            <a:ext cx="7048500" cy="3448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755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Paylaşımlı Dosya (</a:t>
            </a:r>
            <a:r>
              <a:rPr lang="tr-TR" dirty="0" err="1" smtClean="0"/>
              <a:t>Mapped</a:t>
            </a:r>
            <a:r>
              <a:rPr lang="tr-TR" dirty="0" smtClean="0"/>
              <a:t> File)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8"/>
          <a:stretch>
            <a:fillRect/>
          </a:stretch>
        </p:blipFill>
        <p:spPr bwMode="auto">
          <a:xfrm>
            <a:off x="2209800" y="1943190"/>
            <a:ext cx="7751762" cy="40274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060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Bellek Yönetimi Sistem Çağrıları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brk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veri (</a:t>
            </a:r>
            <a:r>
              <a:rPr lang="tr-TR" i="1" dirty="0" smtClean="0"/>
              <a:t>data</a:t>
            </a:r>
            <a:r>
              <a:rPr lang="tr-TR" dirty="0" smtClean="0"/>
              <a:t>) kesiminin </a:t>
            </a:r>
            <a:r>
              <a:rPr lang="tr-TR" dirty="0"/>
              <a:t>boyutunu artırmak veya azaltmak için kullanılır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mmap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smtClean="0"/>
              <a:t>bir </a:t>
            </a:r>
            <a:r>
              <a:rPr lang="tr-TR" dirty="0"/>
              <a:t>dosyayı veya aygıtı belleğe eşler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doğrudan </a:t>
            </a:r>
            <a:r>
              <a:rPr lang="tr-TR" dirty="0"/>
              <a:t>erişim için bir dosyayı belleğe eşlemek için kullanılır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unmap</a:t>
            </a:r>
            <a:r>
              <a:rPr lang="tr-TR" dirty="0"/>
              <a:t>: </a:t>
            </a:r>
            <a:endParaRPr lang="tr-TR" dirty="0" smtClean="0"/>
          </a:p>
          <a:p>
            <a:pPr lvl="1"/>
            <a:r>
              <a:rPr lang="tr-TR" dirty="0" err="1" smtClean="0"/>
              <a:t>mmap</a:t>
            </a:r>
            <a:r>
              <a:rPr lang="tr-TR" dirty="0" smtClean="0"/>
              <a:t> </a:t>
            </a:r>
            <a:r>
              <a:rPr lang="tr-TR" dirty="0"/>
              <a:t>kullanılarak ayrılan belleği serbest bırakır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artık </a:t>
            </a:r>
            <a:r>
              <a:rPr lang="tr-TR" dirty="0"/>
              <a:t>ihtiyaç </a:t>
            </a:r>
            <a:r>
              <a:rPr lang="tr-TR" dirty="0" smtClean="0"/>
              <a:t>duyulmayan belleği </a:t>
            </a:r>
            <a:r>
              <a:rPr lang="tr-TR" dirty="0"/>
              <a:t>sisteme geri </a:t>
            </a:r>
            <a:r>
              <a:rPr lang="tr-TR" dirty="0" smtClean="0"/>
              <a:t>döndürür.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50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Linux Ana Bellek Gösterimi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8" name="Picture 6" descr="10-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268" y="1490803"/>
            <a:ext cx="5757966" cy="46627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9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Sayfalama (</a:t>
            </a:r>
            <a:r>
              <a:rPr lang="tr-TR" dirty="0" err="1" smtClean="0"/>
              <a:t>Paging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7" y="1972492"/>
            <a:ext cx="6334125" cy="39766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669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Üç Düzeyli Sayfa Tablosu (</a:t>
            </a:r>
            <a:r>
              <a:rPr lang="tr-TR" dirty="0" err="1" smtClean="0"/>
              <a:t>Page</a:t>
            </a:r>
            <a:r>
              <a:rPr lang="tr-TR" dirty="0" smtClean="0"/>
              <a:t> </a:t>
            </a:r>
            <a:r>
              <a:rPr lang="tr-TR" dirty="0" err="1" smtClean="0"/>
              <a:t>Table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824" t="42395" r="18648" b="38000"/>
          <a:stretch>
            <a:fillRect/>
          </a:stretch>
        </p:blipFill>
        <p:spPr bwMode="auto">
          <a:xfrm>
            <a:off x="1991519" y="1825625"/>
            <a:ext cx="8208962" cy="39957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243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Dört Düzeyli Sayfa </a:t>
            </a:r>
            <a:r>
              <a:rPr lang="tr-TR" dirty="0"/>
              <a:t>Tablosu (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Table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8" name="Picture 6" descr="10-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425" y="1825625"/>
            <a:ext cx="7423150" cy="41751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73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Buddy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Belleği </a:t>
            </a:r>
            <a:r>
              <a:rPr lang="tr-TR" dirty="0"/>
              <a:t>verimli </a:t>
            </a:r>
            <a:r>
              <a:rPr lang="tr-TR" dirty="0" smtClean="0"/>
              <a:t>yönetebilmek </a:t>
            </a:r>
            <a:r>
              <a:rPr lang="tr-TR" dirty="0"/>
              <a:t>için </a:t>
            </a:r>
            <a:r>
              <a:rPr lang="tr-TR" dirty="0" smtClean="0"/>
              <a:t>dinamik bellek tahsis stratejisi.</a:t>
            </a:r>
          </a:p>
          <a:p>
            <a:r>
              <a:rPr lang="tr-TR" dirty="0" smtClean="0"/>
              <a:t>Belleği </a:t>
            </a:r>
            <a:r>
              <a:rPr lang="tr-TR" dirty="0"/>
              <a:t>eşit boyutlu bloklara </a:t>
            </a:r>
            <a:r>
              <a:rPr lang="tr-TR" dirty="0" smtClean="0"/>
              <a:t>böler, </a:t>
            </a:r>
          </a:p>
          <a:p>
            <a:pPr lvl="1"/>
            <a:r>
              <a:rPr lang="tr-TR" dirty="0"/>
              <a:t>ikili ağaç yapısında her </a:t>
            </a:r>
            <a:r>
              <a:rPr lang="tr-TR" dirty="0" smtClean="0"/>
              <a:t>düğüm, </a:t>
            </a:r>
            <a:r>
              <a:rPr lang="tr-TR" dirty="0"/>
              <a:t>bir bellek bloğunu temsil </a:t>
            </a:r>
            <a:r>
              <a:rPr lang="tr-TR" dirty="0" smtClean="0"/>
              <a:t>eder.</a:t>
            </a:r>
          </a:p>
          <a:p>
            <a:r>
              <a:rPr lang="tr-TR" dirty="0" smtClean="0"/>
              <a:t>Bellek tahsis edileceğinde, en </a:t>
            </a:r>
            <a:r>
              <a:rPr lang="tr-TR" dirty="0"/>
              <a:t>küçük </a:t>
            </a:r>
            <a:r>
              <a:rPr lang="tr-TR" dirty="0" smtClean="0"/>
              <a:t>blok aranır </a:t>
            </a:r>
            <a:r>
              <a:rPr lang="tr-TR" dirty="0"/>
              <a:t>ve </a:t>
            </a:r>
            <a:r>
              <a:rPr lang="tr-TR" dirty="0" smtClean="0"/>
              <a:t>iki parçaya bölünür.</a:t>
            </a:r>
          </a:p>
          <a:p>
            <a:r>
              <a:rPr lang="tr-TR" dirty="0" smtClean="0"/>
              <a:t>Bellek </a:t>
            </a:r>
            <a:r>
              <a:rPr lang="tr-TR" dirty="0"/>
              <a:t>serbest </a:t>
            </a:r>
            <a:r>
              <a:rPr lang="tr-TR" dirty="0" smtClean="0"/>
              <a:t>bırakıldığında, </a:t>
            </a:r>
          </a:p>
          <a:p>
            <a:pPr lvl="1"/>
            <a:r>
              <a:rPr lang="tr-TR" dirty="0" smtClean="0"/>
              <a:t>bitişik bloklar kontrol edilir, daha </a:t>
            </a:r>
            <a:r>
              <a:rPr lang="tr-TR" dirty="0"/>
              <a:t>büyük bir blok </a:t>
            </a:r>
            <a:r>
              <a:rPr lang="tr-TR" dirty="0" smtClean="0"/>
              <a:t>oluşturulur.</a:t>
            </a:r>
          </a:p>
          <a:p>
            <a:r>
              <a:rPr lang="tr-TR" dirty="0" smtClean="0"/>
              <a:t>Bloklar birleştirilerek, </a:t>
            </a:r>
            <a:r>
              <a:rPr lang="tr-TR" dirty="0"/>
              <a:t>harici </a:t>
            </a:r>
            <a:r>
              <a:rPr lang="tr-TR" dirty="0" smtClean="0"/>
              <a:t>parçalanma azaltılır.</a:t>
            </a:r>
          </a:p>
          <a:p>
            <a:r>
              <a:rPr lang="tr-TR" dirty="0" smtClean="0"/>
              <a:t>İkili </a:t>
            </a:r>
            <a:r>
              <a:rPr lang="tr-TR" dirty="0"/>
              <a:t>ağaç </a:t>
            </a:r>
            <a:r>
              <a:rPr lang="tr-TR" dirty="0" smtClean="0"/>
              <a:t>yapısı kullanılır, en </a:t>
            </a:r>
            <a:r>
              <a:rPr lang="tr-TR" dirty="0"/>
              <a:t>küçük bellek </a:t>
            </a:r>
            <a:r>
              <a:rPr lang="tr-TR" dirty="0" smtClean="0"/>
              <a:t>bloğu hızlıca bulunur.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92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Buddy</a:t>
            </a:r>
            <a:r>
              <a:rPr lang="tr-TR" dirty="0" smtClean="0"/>
              <a:t> Algoritması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29"/>
          <a:stretch>
            <a:fillRect/>
          </a:stretch>
        </p:blipFill>
        <p:spPr bwMode="auto">
          <a:xfrm>
            <a:off x="2507400" y="2460583"/>
            <a:ext cx="7177200" cy="30409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961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Ağ Haberleşmesi – </a:t>
            </a:r>
            <a:r>
              <a:rPr lang="tr-TR" dirty="0" err="1" smtClean="0"/>
              <a:t>Socket</a:t>
            </a:r>
            <a:r>
              <a:rPr lang="tr-TR" dirty="0" smtClean="0"/>
              <a:t> Kullanımı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218" y="1966278"/>
            <a:ext cx="8691563" cy="38306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216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Terminal </a:t>
            </a:r>
            <a:r>
              <a:rPr lang="tr-TR" dirty="0" smtClean="0"/>
              <a:t>G/Ç Yönetimi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cfsetospeed</a:t>
            </a:r>
            <a:r>
              <a:rPr lang="tr-TR" dirty="0"/>
              <a:t>: </a:t>
            </a:r>
            <a:r>
              <a:rPr lang="tr-TR" dirty="0" smtClean="0"/>
              <a:t>çıkış </a:t>
            </a:r>
            <a:r>
              <a:rPr lang="tr-TR" dirty="0"/>
              <a:t>baud hızını ayarlar</a:t>
            </a:r>
            <a:r>
              <a:rPr lang="tr-TR" dirty="0" smtClean="0"/>
              <a:t>. (</a:t>
            </a:r>
            <a:r>
              <a:rPr lang="tr-TR" i="1" dirty="0" err="1" smtClean="0"/>
              <a:t>output</a:t>
            </a:r>
            <a:r>
              <a:rPr lang="tr-TR" i="1" dirty="0" smtClean="0"/>
              <a:t> baud rate</a:t>
            </a:r>
            <a:r>
              <a:rPr lang="tr-TR" dirty="0" smtClean="0"/>
              <a:t>)</a:t>
            </a:r>
          </a:p>
          <a:p>
            <a:r>
              <a:rPr lang="tr-TR" b="1" dirty="0" err="1" smtClean="0"/>
              <a:t>cfsetispeed</a:t>
            </a:r>
            <a:r>
              <a:rPr lang="tr-TR" dirty="0"/>
              <a:t>: </a:t>
            </a:r>
            <a:r>
              <a:rPr lang="tr-TR" dirty="0" smtClean="0"/>
              <a:t>giriş </a:t>
            </a:r>
            <a:r>
              <a:rPr lang="tr-TR" dirty="0"/>
              <a:t>baud hızını ayarlar</a:t>
            </a:r>
            <a:r>
              <a:rPr lang="tr-TR" dirty="0" smtClean="0"/>
              <a:t>. (</a:t>
            </a:r>
            <a:r>
              <a:rPr lang="tr-TR" i="1" dirty="0" err="1" smtClean="0"/>
              <a:t>input</a:t>
            </a:r>
            <a:r>
              <a:rPr lang="tr-TR" i="1" dirty="0" smtClean="0"/>
              <a:t> baud rate</a:t>
            </a:r>
            <a:r>
              <a:rPr lang="tr-TR" dirty="0" smtClean="0"/>
              <a:t>)</a:t>
            </a:r>
          </a:p>
          <a:p>
            <a:r>
              <a:rPr lang="tr-TR" b="1" dirty="0" err="1" smtClean="0"/>
              <a:t>cfgetospeed</a:t>
            </a:r>
            <a:r>
              <a:rPr lang="tr-TR" dirty="0"/>
              <a:t>: </a:t>
            </a:r>
            <a:r>
              <a:rPr lang="tr-TR" dirty="0" smtClean="0"/>
              <a:t>çıkış </a:t>
            </a:r>
            <a:r>
              <a:rPr lang="tr-TR" dirty="0"/>
              <a:t>baud hızını alır</a:t>
            </a:r>
            <a:r>
              <a:rPr lang="tr-TR" dirty="0" smtClean="0"/>
              <a:t>. </a:t>
            </a:r>
          </a:p>
          <a:p>
            <a:r>
              <a:rPr lang="tr-TR" b="1" dirty="0" err="1" smtClean="0"/>
              <a:t>cfgetispeed</a:t>
            </a:r>
            <a:r>
              <a:rPr lang="tr-TR" dirty="0"/>
              <a:t>: </a:t>
            </a:r>
            <a:r>
              <a:rPr lang="tr-TR" dirty="0" smtClean="0"/>
              <a:t>giriş </a:t>
            </a:r>
            <a:r>
              <a:rPr lang="tr-TR" dirty="0"/>
              <a:t>baud hızını alır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tcsetattr</a:t>
            </a:r>
            <a:r>
              <a:rPr lang="tr-TR" dirty="0"/>
              <a:t>: Bir terminal ile ilişkili parametreleri değiştirir</a:t>
            </a:r>
            <a:r>
              <a:rPr lang="tr-TR" dirty="0" smtClean="0"/>
              <a:t>. </a:t>
            </a:r>
          </a:p>
          <a:p>
            <a:r>
              <a:rPr lang="tr-TR" b="1" dirty="0" err="1" smtClean="0"/>
              <a:t>tcgetattr</a:t>
            </a:r>
            <a:r>
              <a:rPr lang="tr-TR" dirty="0"/>
              <a:t>: Bir terminal ile ilişkili parametreleri alır.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1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UNIX G/Ç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 smtClean="0"/>
              <a:t>mem_read</a:t>
            </a:r>
            <a:r>
              <a:rPr lang="tr-TR" b="1" dirty="0"/>
              <a:t>,</a:t>
            </a:r>
            <a:r>
              <a:rPr lang="tr-TR" b="1" dirty="0" smtClean="0"/>
              <a:t> </a:t>
            </a:r>
            <a:r>
              <a:rPr lang="tr-TR" b="1" dirty="0" err="1"/>
              <a:t>mem_write</a:t>
            </a:r>
            <a:r>
              <a:rPr lang="tr-TR" b="1" dirty="0"/>
              <a:t> </a:t>
            </a:r>
            <a:r>
              <a:rPr lang="tr-TR" dirty="0"/>
              <a:t>- </a:t>
            </a:r>
            <a:r>
              <a:rPr lang="tr-TR" dirty="0" smtClean="0"/>
              <a:t>bellekten okur, </a:t>
            </a:r>
            <a:r>
              <a:rPr lang="tr-TR" dirty="0"/>
              <a:t>belleğe </a:t>
            </a:r>
            <a:r>
              <a:rPr lang="tr-TR" dirty="0" smtClean="0"/>
              <a:t>yazar.</a:t>
            </a:r>
          </a:p>
          <a:p>
            <a:r>
              <a:rPr lang="tr-TR" b="1" dirty="0" err="1" smtClean="0"/>
              <a:t>k_open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klavye aygıtını açar.</a:t>
            </a:r>
          </a:p>
          <a:p>
            <a:r>
              <a:rPr lang="tr-TR" b="1" dirty="0" err="1" smtClean="0"/>
              <a:t>k_close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klavye aygıtını kapatır.</a:t>
            </a:r>
          </a:p>
          <a:p>
            <a:r>
              <a:rPr lang="tr-TR" b="1" dirty="0" err="1" smtClean="0"/>
              <a:t>k_read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klavyeden </a:t>
            </a:r>
            <a:r>
              <a:rPr lang="tr-TR" dirty="0"/>
              <a:t>veri </a:t>
            </a:r>
            <a:r>
              <a:rPr lang="tr-TR" dirty="0" smtClean="0"/>
              <a:t>okur.</a:t>
            </a:r>
          </a:p>
          <a:p>
            <a:r>
              <a:rPr lang="tr-TR" b="1" dirty="0" err="1" smtClean="0"/>
              <a:t>k_ioctl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klavyenin </a:t>
            </a:r>
            <a:r>
              <a:rPr lang="tr-TR" dirty="0"/>
              <a:t>davranışını kontrol </a:t>
            </a:r>
            <a:r>
              <a:rPr lang="tr-TR" dirty="0" smtClean="0"/>
              <a:t>eder.</a:t>
            </a:r>
          </a:p>
          <a:p>
            <a:r>
              <a:rPr lang="tr-TR" b="1" dirty="0" err="1" smtClean="0"/>
              <a:t>tty_open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i="1" dirty="0" err="1"/>
              <a:t>t</a:t>
            </a:r>
            <a:r>
              <a:rPr lang="tr-TR" i="1" dirty="0" err="1" smtClean="0"/>
              <a:t>ty</a:t>
            </a:r>
            <a:r>
              <a:rPr lang="tr-TR" i="1" dirty="0" smtClean="0"/>
              <a:t> </a:t>
            </a:r>
            <a:r>
              <a:rPr lang="tr-TR" dirty="0" smtClean="0"/>
              <a:t>aygıtı açar.</a:t>
            </a:r>
          </a:p>
          <a:p>
            <a:r>
              <a:rPr lang="tr-TR" b="1" dirty="0" err="1" smtClean="0"/>
              <a:t>tty_close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i="1" dirty="0" err="1" smtClean="0"/>
              <a:t>tty</a:t>
            </a:r>
            <a:r>
              <a:rPr lang="tr-TR" i="1" dirty="0" smtClean="0"/>
              <a:t> </a:t>
            </a:r>
            <a:r>
              <a:rPr lang="tr-TR" dirty="0" smtClean="0"/>
              <a:t>aygıtını kapatır.</a:t>
            </a:r>
          </a:p>
          <a:p>
            <a:r>
              <a:rPr lang="tr-TR" b="1" dirty="0" err="1" smtClean="0"/>
              <a:t>tty_read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i="1" dirty="0" err="1" smtClean="0"/>
              <a:t>tty</a:t>
            </a:r>
            <a:r>
              <a:rPr lang="tr-TR" dirty="0" smtClean="0"/>
              <a:t> aygıtından </a:t>
            </a:r>
            <a:r>
              <a:rPr lang="tr-TR" dirty="0"/>
              <a:t>veri </a:t>
            </a:r>
            <a:r>
              <a:rPr lang="tr-TR" dirty="0" smtClean="0"/>
              <a:t>okur.</a:t>
            </a:r>
          </a:p>
          <a:p>
            <a:r>
              <a:rPr lang="tr-TR" b="1" dirty="0" err="1" smtClean="0"/>
              <a:t>tty_write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i="1" dirty="0" err="1" smtClean="0"/>
              <a:t>tty</a:t>
            </a:r>
            <a:r>
              <a:rPr lang="tr-TR" dirty="0" smtClean="0"/>
              <a:t> aygıtına </a:t>
            </a:r>
            <a:r>
              <a:rPr lang="tr-TR" dirty="0"/>
              <a:t>veri </a:t>
            </a:r>
            <a:r>
              <a:rPr lang="tr-TR" dirty="0" smtClean="0"/>
              <a:t>yazar. </a:t>
            </a:r>
          </a:p>
          <a:p>
            <a:r>
              <a:rPr lang="tr-TR" b="1" dirty="0" err="1" smtClean="0"/>
              <a:t>tty_ioctl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err="1" smtClean="0"/>
              <a:t>tty</a:t>
            </a:r>
            <a:r>
              <a:rPr lang="tr-TR" dirty="0" smtClean="0"/>
              <a:t> aygıtının davranışını </a:t>
            </a:r>
            <a:r>
              <a:rPr lang="tr-TR" dirty="0"/>
              <a:t>kontrol </a:t>
            </a:r>
            <a:r>
              <a:rPr lang="tr-TR" dirty="0" smtClean="0"/>
              <a:t>eder.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03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UNIX G/Ç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 smtClean="0"/>
              <a:t>pr_open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yazıcı aygıtını açar.</a:t>
            </a:r>
          </a:p>
          <a:p>
            <a:r>
              <a:rPr lang="tr-TR" b="1" dirty="0" err="1" smtClean="0"/>
              <a:t>pr_close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yazıcı </a:t>
            </a:r>
            <a:r>
              <a:rPr lang="tr-TR" dirty="0"/>
              <a:t>aygıtını </a:t>
            </a:r>
            <a:r>
              <a:rPr lang="tr-TR" dirty="0" smtClean="0"/>
              <a:t>kapatır.</a:t>
            </a:r>
          </a:p>
          <a:p>
            <a:r>
              <a:rPr lang="tr-TR" b="1" dirty="0" err="1" smtClean="0"/>
              <a:t>pr_write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yazıcı aygıtına </a:t>
            </a:r>
            <a:r>
              <a:rPr lang="tr-TR" dirty="0"/>
              <a:t>veri </a:t>
            </a:r>
            <a:r>
              <a:rPr lang="tr-TR" dirty="0" smtClean="0"/>
              <a:t>yazar.</a:t>
            </a:r>
          </a:p>
          <a:p>
            <a:r>
              <a:rPr lang="tr-TR" b="1" dirty="0" err="1" smtClean="0"/>
              <a:t>pr_ioctl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yazıcı aygıtının </a:t>
            </a:r>
            <a:r>
              <a:rPr lang="tr-TR" dirty="0"/>
              <a:t>davranışını kontrol </a:t>
            </a:r>
            <a:r>
              <a:rPr lang="tr-TR" dirty="0" smtClean="0"/>
              <a:t>eder.</a:t>
            </a:r>
          </a:p>
          <a:p>
            <a:r>
              <a:rPr lang="tr-TR" b="1" dirty="0" err="1" smtClean="0"/>
              <a:t>ip_open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IP aygıtı açar.</a:t>
            </a:r>
          </a:p>
          <a:p>
            <a:r>
              <a:rPr lang="tr-TR" b="1" dirty="0" err="1" smtClean="0"/>
              <a:t>ip_close</a:t>
            </a:r>
            <a:r>
              <a:rPr lang="tr-TR" dirty="0" smtClean="0"/>
              <a:t> </a:t>
            </a:r>
            <a:r>
              <a:rPr lang="tr-TR" dirty="0"/>
              <a:t>- </a:t>
            </a:r>
            <a:r>
              <a:rPr lang="tr-TR" dirty="0" smtClean="0"/>
              <a:t>IP aygıtını kapatır.</a:t>
            </a:r>
          </a:p>
          <a:p>
            <a:r>
              <a:rPr lang="tr-TR" b="1" dirty="0" err="1" smtClean="0"/>
              <a:t>ip_write</a:t>
            </a:r>
            <a:r>
              <a:rPr lang="tr-TR" dirty="0" smtClean="0"/>
              <a:t> </a:t>
            </a:r>
            <a:r>
              <a:rPr lang="tr-TR" dirty="0"/>
              <a:t>- IP </a:t>
            </a:r>
            <a:r>
              <a:rPr lang="tr-TR" dirty="0" smtClean="0"/>
              <a:t>aygıtına veri yazar.</a:t>
            </a:r>
          </a:p>
          <a:p>
            <a:r>
              <a:rPr lang="tr-TR" b="1" dirty="0" err="1" smtClean="0"/>
              <a:t>ip_ioctl</a:t>
            </a:r>
            <a:r>
              <a:rPr lang="tr-TR" dirty="0" smtClean="0"/>
              <a:t> </a:t>
            </a:r>
            <a:r>
              <a:rPr lang="tr-TR" dirty="0"/>
              <a:t>- IP </a:t>
            </a:r>
            <a:r>
              <a:rPr lang="tr-TR" dirty="0" smtClean="0"/>
              <a:t>aygıtının davranışını </a:t>
            </a:r>
            <a:r>
              <a:rPr lang="tr-TR" dirty="0"/>
              <a:t>kontrol </a:t>
            </a:r>
            <a:r>
              <a:rPr lang="tr-TR" dirty="0" smtClean="0"/>
              <a:t>eder.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11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UNIX G/Ç Sistemi – BSD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25" y="1609775"/>
            <a:ext cx="5594350" cy="45704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538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Akışlar (</a:t>
            </a:r>
            <a:r>
              <a:rPr lang="tr-TR" dirty="0" err="1"/>
              <a:t>S</a:t>
            </a:r>
            <a:r>
              <a:rPr lang="tr-TR" dirty="0" err="1" smtClean="0"/>
              <a:t>treams</a:t>
            </a:r>
            <a:r>
              <a:rPr lang="tr-TR" dirty="0" smtClean="0"/>
              <a:t>) – </a:t>
            </a:r>
            <a:r>
              <a:rPr lang="tr-TR" dirty="0" err="1" smtClean="0"/>
              <a:t>System</a:t>
            </a:r>
            <a:r>
              <a:rPr lang="tr-TR" dirty="0" smtClean="0"/>
              <a:t> V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512" y="1524050"/>
            <a:ext cx="6530975" cy="46164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637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Linux G/Ç Sistemi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8" name="Picture 6" descr="10-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237" y="1825625"/>
            <a:ext cx="4835525" cy="40767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41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Önemli Dizinler (Klasör)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smtClean="0"/>
              <a:t>bin</a:t>
            </a:r>
            <a:r>
              <a:rPr lang="tr-TR" dirty="0" smtClean="0"/>
              <a:t>: </a:t>
            </a:r>
            <a:r>
              <a:rPr lang="tr-TR" dirty="0" smtClean="0"/>
              <a:t>temel </a:t>
            </a:r>
            <a:r>
              <a:rPr lang="tr-TR" dirty="0"/>
              <a:t>görevleri </a:t>
            </a:r>
            <a:r>
              <a:rPr lang="tr-TR" dirty="0" smtClean="0"/>
              <a:t>gerçekleştiren yürütülebilir </a:t>
            </a:r>
            <a:r>
              <a:rPr lang="tr-TR" dirty="0"/>
              <a:t>dosyaları </a:t>
            </a:r>
            <a:r>
              <a:rPr lang="tr-TR" dirty="0" smtClean="0"/>
              <a:t>içerir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dev</a:t>
            </a:r>
            <a:r>
              <a:rPr lang="tr-TR" dirty="0" smtClean="0"/>
              <a:t>: </a:t>
            </a:r>
            <a:r>
              <a:rPr lang="tr-TR" dirty="0" smtClean="0"/>
              <a:t>donanım </a:t>
            </a:r>
            <a:r>
              <a:rPr lang="tr-TR" dirty="0"/>
              <a:t>aygıtlarını temsil eden aygıt dosyalarını içerir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etc</a:t>
            </a:r>
            <a:r>
              <a:rPr lang="tr-TR" dirty="0"/>
              <a:t>: </a:t>
            </a:r>
            <a:r>
              <a:rPr lang="tr-TR" dirty="0" smtClean="0"/>
              <a:t>uygulamalar </a:t>
            </a:r>
            <a:r>
              <a:rPr lang="tr-TR" dirty="0"/>
              <a:t>için yapılandırma dosyalarını içerir</a:t>
            </a:r>
            <a:r>
              <a:rPr lang="tr-TR" dirty="0" smtClean="0"/>
              <a:t>.</a:t>
            </a:r>
          </a:p>
          <a:p>
            <a:r>
              <a:rPr lang="tr-TR" b="1" dirty="0" err="1" smtClean="0"/>
              <a:t>lib</a:t>
            </a:r>
            <a:r>
              <a:rPr lang="tr-TR" dirty="0"/>
              <a:t>: </a:t>
            </a:r>
            <a:r>
              <a:rPr lang="tr-TR" dirty="0" smtClean="0"/>
              <a:t>yürütülebilir dosyaların kullandığı </a:t>
            </a:r>
            <a:r>
              <a:rPr lang="tr-TR" dirty="0" smtClean="0"/>
              <a:t>kütüphane dosyalarını içerir.</a:t>
            </a:r>
          </a:p>
          <a:p>
            <a:r>
              <a:rPr lang="tr-TR" b="1" dirty="0" err="1" smtClean="0"/>
              <a:t>usr</a:t>
            </a:r>
            <a:r>
              <a:rPr lang="tr-TR" dirty="0"/>
              <a:t>: </a:t>
            </a:r>
            <a:r>
              <a:rPr lang="tr-TR" dirty="0" smtClean="0"/>
              <a:t>kullanıcı ile ilgili yürütülebilir </a:t>
            </a:r>
            <a:r>
              <a:rPr lang="tr-TR" dirty="0"/>
              <a:t>dosyaları, </a:t>
            </a:r>
            <a:r>
              <a:rPr lang="tr-TR" dirty="0" smtClean="0"/>
              <a:t>kütüphane dosyalarını ve </a:t>
            </a:r>
            <a:r>
              <a:rPr lang="tr-TR" dirty="0"/>
              <a:t>paylaşılan dosyaları içeren </a:t>
            </a:r>
            <a:r>
              <a:rPr lang="tr-TR" i="1" dirty="0" smtClean="0"/>
              <a:t>bin</a:t>
            </a:r>
            <a:r>
              <a:rPr lang="tr-TR" dirty="0"/>
              <a:t>, </a:t>
            </a:r>
            <a:r>
              <a:rPr lang="tr-TR" i="1" dirty="0" err="1" smtClean="0"/>
              <a:t>lib</a:t>
            </a:r>
            <a:r>
              <a:rPr lang="tr-TR" i="1" dirty="0" smtClean="0"/>
              <a:t> </a:t>
            </a:r>
            <a:r>
              <a:rPr lang="tr-TR" dirty="0"/>
              <a:t>ve </a:t>
            </a:r>
            <a:r>
              <a:rPr lang="tr-TR" i="1" dirty="0" err="1" smtClean="0"/>
              <a:t>share</a:t>
            </a:r>
            <a:r>
              <a:rPr lang="tr-TR" i="1" dirty="0" smtClean="0"/>
              <a:t> </a:t>
            </a:r>
            <a:r>
              <a:rPr lang="tr-TR" dirty="0" smtClean="0"/>
              <a:t>dizinleri </a:t>
            </a:r>
            <a:r>
              <a:rPr lang="tr-TR" dirty="0"/>
              <a:t>içerir.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91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 Sistemi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2" y="1609775"/>
            <a:ext cx="7191375" cy="4181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468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 Sistemi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0" y="1949409"/>
            <a:ext cx="8331200" cy="40433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626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Dosyaların Kitlenmesi (</a:t>
            </a:r>
            <a:r>
              <a:rPr lang="tr-TR" dirty="0" err="1" smtClean="0"/>
              <a:t>lock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075" y="2139950"/>
            <a:ext cx="6419850" cy="39020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935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 Yönetimi Sistem Çağrıları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3" y="1953124"/>
            <a:ext cx="7748587" cy="333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986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</a:t>
            </a:r>
            <a:r>
              <a:rPr lang="tr-TR" dirty="0" err="1" smtClean="0"/>
              <a:t>stat</a:t>
            </a:r>
            <a:r>
              <a:rPr lang="tr-TR" dirty="0" smtClean="0"/>
              <a:t> Sistem Çağrısı Dönüş Değerleri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875" y="2230573"/>
            <a:ext cx="5017725" cy="3401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325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Dizin Yönetimi Sistem Çağrıları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1965869"/>
            <a:ext cx="7886700" cy="349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517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UNIX'te </a:t>
            </a:r>
            <a:r>
              <a:rPr lang="tr-TR" dirty="0" smtClean="0"/>
              <a:t>Disk Düzeni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2788966"/>
            <a:ext cx="8667750" cy="14779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426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I-</a:t>
            </a:r>
            <a:r>
              <a:rPr lang="tr-TR" dirty="0" err="1" smtClean="0"/>
              <a:t>node</a:t>
            </a:r>
            <a:r>
              <a:rPr lang="tr-TR" dirty="0" smtClean="0"/>
              <a:t> Yapısı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808" y="2034495"/>
            <a:ext cx="9018384" cy="3865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51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Dosya Tanımlayıcı </a:t>
            </a:r>
            <a:r>
              <a:rPr lang="tr-TR" dirty="0" smtClean="0"/>
              <a:t>ve Açık Dosyalar Tablosu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931" y="1590676"/>
            <a:ext cx="5672138" cy="46307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553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Üç </a:t>
            </a:r>
            <a:r>
              <a:rPr lang="tr-TR" dirty="0" smtClean="0"/>
              <a:t>Dosya İçeren </a:t>
            </a:r>
            <a:r>
              <a:rPr lang="tr-TR" dirty="0" smtClean="0"/>
              <a:t>BSD Dizini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2159000"/>
            <a:ext cx="7753350" cy="3863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493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Linux Ext2 Dosya Sistemi Düzeni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2" y="2503895"/>
            <a:ext cx="8677275" cy="23352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052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 Dosya </a:t>
            </a:r>
            <a:r>
              <a:rPr lang="tr-TR" dirty="0" smtClean="0"/>
              <a:t>Sistemi (NFS)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019" y="1469669"/>
            <a:ext cx="6811962" cy="4827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698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Ağ Dosya Sistemi (NFS) Katman </a:t>
            </a:r>
            <a:r>
              <a:rPr lang="tr-TR" dirty="0" smtClean="0"/>
              <a:t>Yapısı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757" y="1771601"/>
            <a:ext cx="6848486" cy="44498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02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 Koruma </a:t>
            </a:r>
            <a:r>
              <a:rPr lang="tr-TR" dirty="0" smtClean="0"/>
              <a:t>İzinleri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2" y="2343196"/>
            <a:ext cx="8689975" cy="248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148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 </a:t>
            </a:r>
            <a:r>
              <a:rPr lang="tr-TR" dirty="0" smtClean="0"/>
              <a:t>Koruma </a:t>
            </a:r>
            <a:r>
              <a:rPr lang="tr-TR" dirty="0" smtClean="0"/>
              <a:t>Sistem Çağrıları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62" y="2135052"/>
            <a:ext cx="8143875" cy="321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792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6167</TotalTime>
  <Words>2495</Words>
  <Application>Microsoft Office PowerPoint</Application>
  <PresentationFormat>Widescreen</PresentationFormat>
  <Paragraphs>407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Wingdings</vt:lpstr>
      <vt:lpstr>1_Office Theme</vt:lpstr>
      <vt:lpstr>Bölüm 16: Linux</vt:lpstr>
      <vt:lpstr>Unix Tabanlı İşletim Sistemleri Evrimi</vt:lpstr>
      <vt:lpstr>Unix Tarihçe</vt:lpstr>
      <vt:lpstr>Linux Tarihçe</vt:lpstr>
      <vt:lpstr>Hedefler</vt:lpstr>
      <vt:lpstr>UNIX Katmanlar</vt:lpstr>
      <vt:lpstr>UNIX Komutlar</vt:lpstr>
      <vt:lpstr>UNIX Komutlar</vt:lpstr>
      <vt:lpstr>UNIX Komutlar</vt:lpstr>
      <vt:lpstr>UNIX Çekirdek</vt:lpstr>
      <vt:lpstr>UNIX Çekirdek</vt:lpstr>
      <vt:lpstr>POSIX Sinyaller</vt:lpstr>
      <vt:lpstr>POSIX Sinyaller</vt:lpstr>
      <vt:lpstr>Süreç Yönetimi için Sistem Çağrıları</vt:lpstr>
      <vt:lpstr>Süreç Yönetimi için Sistem Çağrıları</vt:lpstr>
      <vt:lpstr>pthread İşlevleri</vt:lpstr>
      <vt:lpstr>ls (list) Komutu</vt:lpstr>
      <vt:lpstr>Linux Çizelgeleme</vt:lpstr>
      <vt:lpstr>Linux Çizelgeleme – Öncelik Kuyrukları</vt:lpstr>
      <vt:lpstr>Linux Çizelgeleyici</vt:lpstr>
      <vt:lpstr>Önyükleme (boot)</vt:lpstr>
      <vt:lpstr>Bellek Yönetimi</vt:lpstr>
      <vt:lpstr>Paylaşımlı Dosya (Mapped File)</vt:lpstr>
      <vt:lpstr>Bellek Yönetimi Sistem Çağrıları</vt:lpstr>
      <vt:lpstr>Linux Ana Bellek Gösterimi</vt:lpstr>
      <vt:lpstr>Sayfalama (Paging)</vt:lpstr>
      <vt:lpstr>Üç Düzeyli Sayfa Tablosu (Page Table)</vt:lpstr>
      <vt:lpstr>Dört Düzeyli Sayfa Tablosu (Page Table)</vt:lpstr>
      <vt:lpstr>Buddy Algoritması</vt:lpstr>
      <vt:lpstr>Buddy Algoritması</vt:lpstr>
      <vt:lpstr>Ağ Haberleşmesi – Socket Kullanımı</vt:lpstr>
      <vt:lpstr>Terminal G/Ç Yönetimi</vt:lpstr>
      <vt:lpstr>UNIX G/Ç</vt:lpstr>
      <vt:lpstr>UNIX G/Ç</vt:lpstr>
      <vt:lpstr>UNIX G/Ç Sistemi – BSD </vt:lpstr>
      <vt:lpstr>Akışlar (Streams) – System V</vt:lpstr>
      <vt:lpstr>Linux G/Ç Sistemi</vt:lpstr>
      <vt:lpstr>Önemli Dizinler (Klasör)</vt:lpstr>
      <vt:lpstr>Dosya Sistemi</vt:lpstr>
      <vt:lpstr>Dosya Sistemi</vt:lpstr>
      <vt:lpstr>Dosyaların Kitlenmesi (lock)</vt:lpstr>
      <vt:lpstr>Dosya Yönetimi Sistem Çağrıları</vt:lpstr>
      <vt:lpstr>lstat Sistem Çağrısı Dönüş Değerleri</vt:lpstr>
      <vt:lpstr>Dizin Yönetimi Sistem Çağrıları</vt:lpstr>
      <vt:lpstr>UNIX'te Disk Düzeni</vt:lpstr>
      <vt:lpstr>I-node Yapısı</vt:lpstr>
      <vt:lpstr>Dosya Tanımlayıcı ve Açık Dosyalar Tablosu</vt:lpstr>
      <vt:lpstr>Üç Dosya İçeren BSD Dizini</vt:lpstr>
      <vt:lpstr>Linux Ext2 Dosya Sistemi Düzeni</vt:lpstr>
      <vt:lpstr>Ağ Dosya Sistemi (NFS)</vt:lpstr>
      <vt:lpstr>Ağ Dosya Sistemi (NFS) Katman Yapısı</vt:lpstr>
      <vt:lpstr>Dosya Koruma İzinleri</vt:lpstr>
      <vt:lpstr>Dosya Koruma Sistem Çağrıları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</dc:title>
  <dc:creator>sercan</dc:creator>
  <cp:lastModifiedBy>sercan</cp:lastModifiedBy>
  <cp:revision>482</cp:revision>
  <dcterms:created xsi:type="dcterms:W3CDTF">2023-01-12T09:23:55Z</dcterms:created>
  <dcterms:modified xsi:type="dcterms:W3CDTF">2024-02-06T11:26:50Z</dcterms:modified>
</cp:coreProperties>
</file>