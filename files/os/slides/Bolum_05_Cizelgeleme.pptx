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9" r:id="rId1"/>
  </p:sldMasterIdLst>
  <p:notesMasterIdLst>
    <p:notesMasterId r:id="rId59"/>
  </p:notesMasterIdLst>
  <p:sldIdLst>
    <p:sldId id="256" r:id="rId2"/>
    <p:sldId id="475" r:id="rId3"/>
    <p:sldId id="456" r:id="rId4"/>
    <p:sldId id="367" r:id="rId5"/>
    <p:sldId id="457" r:id="rId6"/>
    <p:sldId id="458" r:id="rId7"/>
    <p:sldId id="363" r:id="rId8"/>
    <p:sldId id="459" r:id="rId9"/>
    <p:sldId id="404" r:id="rId10"/>
    <p:sldId id="480" r:id="rId11"/>
    <p:sldId id="481" r:id="rId12"/>
    <p:sldId id="370" r:id="rId13"/>
    <p:sldId id="371" r:id="rId14"/>
    <p:sldId id="372" r:id="rId15"/>
    <p:sldId id="373" r:id="rId16"/>
    <p:sldId id="476" r:id="rId17"/>
    <p:sldId id="460" r:id="rId18"/>
    <p:sldId id="461" r:id="rId19"/>
    <p:sldId id="374" r:id="rId20"/>
    <p:sldId id="477" r:id="rId21"/>
    <p:sldId id="463" r:id="rId22"/>
    <p:sldId id="462" r:id="rId23"/>
    <p:sldId id="376" r:id="rId24"/>
    <p:sldId id="430" r:id="rId25"/>
    <p:sldId id="464" r:id="rId26"/>
    <p:sldId id="478" r:id="rId27"/>
    <p:sldId id="465" r:id="rId28"/>
    <p:sldId id="450" r:id="rId29"/>
    <p:sldId id="377" r:id="rId30"/>
    <p:sldId id="378" r:id="rId31"/>
    <p:sldId id="451" r:id="rId32"/>
    <p:sldId id="379" r:id="rId33"/>
    <p:sldId id="466" r:id="rId34"/>
    <p:sldId id="380" r:id="rId35"/>
    <p:sldId id="381" r:id="rId36"/>
    <p:sldId id="467" r:id="rId37"/>
    <p:sldId id="382" r:id="rId38"/>
    <p:sldId id="383" r:id="rId39"/>
    <p:sldId id="452" r:id="rId40"/>
    <p:sldId id="468" r:id="rId41"/>
    <p:sldId id="469" r:id="rId42"/>
    <p:sldId id="385" r:id="rId43"/>
    <p:sldId id="386" r:id="rId44"/>
    <p:sldId id="387" r:id="rId45"/>
    <p:sldId id="470" r:id="rId46"/>
    <p:sldId id="388" r:id="rId47"/>
    <p:sldId id="389" r:id="rId48"/>
    <p:sldId id="390" r:id="rId49"/>
    <p:sldId id="391" r:id="rId50"/>
    <p:sldId id="453" r:id="rId51"/>
    <p:sldId id="454" r:id="rId52"/>
    <p:sldId id="455" r:id="rId53"/>
    <p:sldId id="471" r:id="rId54"/>
    <p:sldId id="473" r:id="rId55"/>
    <p:sldId id="472" r:id="rId56"/>
    <p:sldId id="474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CFAA6-72E2-46AA-A31F-7256698B51A5}" type="datetimeFigureOut">
              <a:rPr lang="tr-TR" smtClean="0"/>
              <a:t>23.01.2025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6C4D3-4FDC-45D7-AD9A-F86E8060999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553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6C4D3-4FDC-45D7-AD9A-F86E80609996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7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4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Sercan KÜLCÜ,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Tanenbaum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, Modern Operating Systems 3e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kitabından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faydalanılmıştır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Tüm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hakları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saklıdır</a:t>
            </a: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2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29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81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46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59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27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70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12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65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6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  <p:sldLayoutId id="2147483962" r:id="rId3"/>
    <p:sldLayoutId id="2147483963" r:id="rId4"/>
    <p:sldLayoutId id="2147483964" r:id="rId5"/>
    <p:sldLayoutId id="2147483965" r:id="rId6"/>
    <p:sldLayoutId id="2147483966" r:id="rId7"/>
    <p:sldLayoutId id="2147483967" r:id="rId8"/>
    <p:sldLayoutId id="2147483968" r:id="rId9"/>
    <p:sldLayoutId id="2147483969" r:id="rId10"/>
    <p:sldLayoutId id="214748397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5</a:t>
            </a:r>
            <a:r>
              <a:rPr lang="tr-TR" b="1"/>
              <a:t>: Çizelgeleme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Çizelgeleme (</a:t>
            </a:r>
            <a:r>
              <a:rPr lang="tr-TR" dirty="0" err="1"/>
              <a:t>Scheduling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İşletim sisteminin etkin bir şekilde kaynakları yönetmesini sağlar.</a:t>
            </a:r>
          </a:p>
          <a:p>
            <a:r>
              <a:rPr lang="tr-TR" dirty="0"/>
              <a:t>Belirlenen bir algoritma ile işlemciye işlemlerin sırayla atanması sürecidir.</a:t>
            </a:r>
          </a:p>
          <a:p>
            <a:r>
              <a:rPr lang="tr-TR" dirty="0"/>
              <a:t>Hazır Kuyruğu (</a:t>
            </a:r>
            <a:r>
              <a:rPr lang="tr-TR" i="1" dirty="0"/>
              <a:t>Ready Queue</a:t>
            </a:r>
            <a:r>
              <a:rPr lang="tr-TR" dirty="0"/>
              <a:t>): Atanmayı bekleyen süreçler.</a:t>
            </a:r>
          </a:p>
          <a:p>
            <a:r>
              <a:rPr lang="tr-TR" dirty="0"/>
              <a:t>Bekleme (</a:t>
            </a:r>
            <a:r>
              <a:rPr lang="tr-TR" i="1" dirty="0" err="1"/>
              <a:t>Waiting</a:t>
            </a:r>
            <a:r>
              <a:rPr lang="tr-TR" dirty="0"/>
              <a:t>): Giriş/Çıkış işlemleri tamamlanmayı bekleyen süreçler.</a:t>
            </a:r>
          </a:p>
          <a:p>
            <a:r>
              <a:rPr lang="tr-TR" dirty="0"/>
              <a:t>Çalışan (</a:t>
            </a:r>
            <a:r>
              <a:rPr lang="tr-TR" i="1" dirty="0" err="1"/>
              <a:t>Running</a:t>
            </a:r>
            <a:r>
              <a:rPr lang="tr-TR" dirty="0"/>
              <a:t>): CPU üzerinde yürütülen aktif süreç.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70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Çoklu programlama ile </a:t>
            </a:r>
          </a:p>
          <a:p>
            <a:pPr lvl="1"/>
            <a:r>
              <a:rPr lang="tr-TR" dirty="0"/>
              <a:t>İşlemci maksimum düzeyde kullanılır.</a:t>
            </a:r>
          </a:p>
          <a:p>
            <a:r>
              <a:rPr lang="tr-TR" dirty="0"/>
              <a:t>CPU yürütme döngüsünü, </a:t>
            </a:r>
          </a:p>
          <a:p>
            <a:pPr lvl="1"/>
            <a:r>
              <a:rPr lang="tr-TR" dirty="0"/>
              <a:t>G/Ç beklemesi takip eder.</a:t>
            </a:r>
          </a:p>
          <a:p>
            <a:r>
              <a:rPr lang="tr-TR" dirty="0"/>
              <a:t>CPU kaynak dağıtımı önemli!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42D4194B-20FB-49DE-95E2-D3F1F7D61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951" y="324815"/>
            <a:ext cx="3240000" cy="60315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787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İşlemci Kullanımı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514350" indent="-514350">
              <a:buAutoNum type="alphaLcParenBoth"/>
            </a:pPr>
            <a:r>
              <a:rPr lang="tr-TR" dirty="0"/>
              <a:t>CPU'ya bağlı (</a:t>
            </a:r>
            <a:r>
              <a:rPr lang="tr-TR" i="1" dirty="0" err="1"/>
              <a:t>bound</a:t>
            </a:r>
            <a:r>
              <a:rPr lang="tr-TR" dirty="0"/>
              <a:t>) bir işlem. (b) G/Ç'ye bağlı bir işlem.</a:t>
            </a:r>
          </a:p>
          <a:p>
            <a:pPr marL="514350" indent="-514350">
              <a:buAutoNum type="alphaLcParenBoth"/>
            </a:pPr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6" descr="02-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77" y="2443323"/>
            <a:ext cx="8572445" cy="34446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833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İşlemci Çizelgeleyici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Hazır kuyruğunda bekleyen süreçler arasından seçim yapar.</a:t>
            </a:r>
          </a:p>
          <a:p>
            <a:pPr lvl="1"/>
            <a:r>
              <a:rPr lang="tr-TR" dirty="0"/>
              <a:t>Öğeler kuyrukta çeşitli şekillerde sıralanmış olabilir.</a:t>
            </a:r>
          </a:p>
          <a:p>
            <a:r>
              <a:rPr lang="tr-TR" dirty="0"/>
              <a:t>Çizelgeleme kararları; bir süreç,</a:t>
            </a:r>
          </a:p>
          <a:p>
            <a:pPr lvl="1"/>
            <a:r>
              <a:rPr lang="tr-TR" dirty="0"/>
              <a:t>Çalışır durumundan bekleme durumuna geçtiğinde,</a:t>
            </a:r>
          </a:p>
          <a:p>
            <a:pPr lvl="1"/>
            <a:r>
              <a:rPr lang="tr-TR" dirty="0"/>
              <a:t>Çalışır durumundan hazır durumuna geçtiğinde,</a:t>
            </a:r>
          </a:p>
          <a:p>
            <a:pPr lvl="1"/>
            <a:r>
              <a:rPr lang="tr-TR" dirty="0"/>
              <a:t>Bekleme durumundan hazır durumuna geçtiğinde, ve</a:t>
            </a:r>
          </a:p>
          <a:p>
            <a:pPr lvl="1"/>
            <a:r>
              <a:rPr lang="tr-TR" dirty="0"/>
              <a:t>Sonlandığında, alınır.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49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Görev Dağıtıcı (</a:t>
            </a:r>
            <a:r>
              <a:rPr lang="tr-TR" dirty="0" err="1"/>
              <a:t>Dispatcher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Çizelgeleyici tarafından seçilen sürece, işlemcinin kontrolünü verir.</a:t>
            </a:r>
          </a:p>
          <a:p>
            <a:pPr lvl="1"/>
            <a:r>
              <a:rPr lang="tr-TR" dirty="0"/>
              <a:t>Bağlam anahtarlama,</a:t>
            </a:r>
          </a:p>
          <a:p>
            <a:pPr lvl="1"/>
            <a:r>
              <a:rPr lang="tr-TR" dirty="0"/>
              <a:t>Kullanıcı </a:t>
            </a:r>
            <a:r>
              <a:rPr lang="tr-TR" dirty="0" err="1"/>
              <a:t>moduna</a:t>
            </a:r>
            <a:r>
              <a:rPr lang="tr-TR" dirty="0"/>
              <a:t> geçiş,</a:t>
            </a:r>
          </a:p>
          <a:p>
            <a:pPr lvl="1"/>
            <a:r>
              <a:rPr lang="tr-TR" dirty="0"/>
              <a:t>Kullanıcı programında uygun konuma atlama.</a:t>
            </a:r>
          </a:p>
          <a:p>
            <a:r>
              <a:rPr lang="tr-TR" b="1" dirty="0"/>
              <a:t>Görev dağıtıcı gecikmesi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Bir sürecin durdurulup başka sürecin başlatılmasına kadar geçen süre.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42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Kriterler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CPU kullanımı </a:t>
            </a:r>
            <a:r>
              <a:rPr lang="tr-TR" dirty="0"/>
              <a:t>– CPU mümkün olduğunca meşgul tutulmalı.</a:t>
            </a:r>
          </a:p>
          <a:p>
            <a:r>
              <a:rPr lang="tr-TR" b="1" dirty="0"/>
              <a:t>Verim</a:t>
            </a:r>
            <a:r>
              <a:rPr lang="tr-TR" dirty="0"/>
              <a:t> – birim zamanda yürütülmesi tamamlanan süreç sayısı.</a:t>
            </a:r>
          </a:p>
          <a:p>
            <a:r>
              <a:rPr lang="tr-TR" b="1" dirty="0"/>
              <a:t>Geri dönüş süresi </a:t>
            </a:r>
            <a:r>
              <a:rPr lang="tr-TR" dirty="0"/>
              <a:t>- bir süreci sonlandırmak için geçen süre.</a:t>
            </a:r>
          </a:p>
          <a:p>
            <a:r>
              <a:rPr lang="tr-TR" b="1" dirty="0"/>
              <a:t>Bekleme süresi </a:t>
            </a:r>
            <a:r>
              <a:rPr lang="tr-TR" dirty="0"/>
              <a:t>- bir sürecin hazır kuyruğunda bekleme süresi.</a:t>
            </a:r>
          </a:p>
          <a:p>
            <a:r>
              <a:rPr lang="tr-TR" b="1" dirty="0"/>
              <a:t>Yanıt süresi </a:t>
            </a:r>
            <a:r>
              <a:rPr lang="tr-TR" dirty="0"/>
              <a:t>– verilen bir komuta, ilk yanıtın üretilme süresi.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247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Çizelgelemenin Hedefleri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Tüm sistemler</a:t>
            </a:r>
          </a:p>
          <a:p>
            <a:pPr lvl="1"/>
            <a:r>
              <a:rPr lang="tr-TR" b="1" dirty="0"/>
              <a:t>Adalet</a:t>
            </a:r>
            <a:r>
              <a:rPr lang="tr-TR" dirty="0"/>
              <a:t> - her sürece CPU'dan adil bir pay vermek.</a:t>
            </a:r>
          </a:p>
          <a:p>
            <a:pPr lvl="1"/>
            <a:r>
              <a:rPr lang="tr-TR" b="1" dirty="0"/>
              <a:t>Politika </a:t>
            </a:r>
            <a:r>
              <a:rPr lang="tr-TR" dirty="0"/>
              <a:t>- belirtilen politikanın yürütüldüğünü görmek.</a:t>
            </a:r>
          </a:p>
          <a:p>
            <a:pPr lvl="1"/>
            <a:r>
              <a:rPr lang="tr-TR" b="1" dirty="0"/>
              <a:t>Denge</a:t>
            </a:r>
            <a:r>
              <a:rPr lang="tr-TR" dirty="0"/>
              <a:t> - sistemin tüm parçalarını meşgul tutmak.</a:t>
            </a:r>
          </a:p>
          <a:p>
            <a:r>
              <a:rPr lang="tr-TR" dirty="0"/>
              <a:t>Toplu sistemler</a:t>
            </a:r>
          </a:p>
          <a:p>
            <a:pPr lvl="1"/>
            <a:r>
              <a:rPr lang="tr-TR" b="1" dirty="0"/>
              <a:t>Verim</a:t>
            </a:r>
            <a:r>
              <a:rPr lang="tr-TR" dirty="0"/>
              <a:t> – birim zamanda yapılan işi maksimize etmek.</a:t>
            </a:r>
          </a:p>
          <a:p>
            <a:pPr lvl="1"/>
            <a:r>
              <a:rPr lang="tr-TR" b="1" dirty="0"/>
              <a:t>Geri dönüş süresi </a:t>
            </a:r>
            <a:r>
              <a:rPr lang="tr-TR" dirty="0"/>
              <a:t>– başlatma ve sonlanma arası süreyi azaltmak.</a:t>
            </a:r>
          </a:p>
          <a:p>
            <a:pPr lvl="1"/>
            <a:r>
              <a:rPr lang="tr-TR" b="1" dirty="0"/>
              <a:t>CPU kullanımı </a:t>
            </a:r>
            <a:r>
              <a:rPr lang="tr-TR" dirty="0"/>
              <a:t>- CPU'yu olabildiğince meşgul tutmak.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0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Çizelgelemenin Hedefleri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Etkileşimli sistemler	</a:t>
            </a:r>
          </a:p>
          <a:p>
            <a:pPr lvl="1"/>
            <a:r>
              <a:rPr lang="tr-TR" b="1" dirty="0"/>
              <a:t>Yanıt süresi </a:t>
            </a:r>
            <a:r>
              <a:rPr lang="tr-TR" dirty="0"/>
              <a:t>- isteklere hızlı yanıt vermeli.</a:t>
            </a:r>
          </a:p>
          <a:p>
            <a:pPr lvl="1"/>
            <a:r>
              <a:rPr lang="tr-TR" b="1" dirty="0"/>
              <a:t>Orantılılık</a:t>
            </a:r>
            <a:r>
              <a:rPr lang="tr-TR" dirty="0"/>
              <a:t> - kullanıcıların beklentilerini karşılamalı.</a:t>
            </a:r>
          </a:p>
          <a:p>
            <a:r>
              <a:rPr lang="tr-TR" dirty="0"/>
              <a:t>Gerçek zamanlı sistemler</a:t>
            </a:r>
          </a:p>
          <a:p>
            <a:pPr lvl="1"/>
            <a:r>
              <a:rPr lang="tr-TR" b="1" dirty="0"/>
              <a:t>Son teslim zamanı </a:t>
            </a:r>
            <a:r>
              <a:rPr lang="tr-TR" dirty="0"/>
              <a:t>(</a:t>
            </a:r>
            <a:r>
              <a:rPr lang="tr-TR" i="1" dirty="0" err="1"/>
              <a:t>deadline</a:t>
            </a:r>
            <a:r>
              <a:rPr lang="tr-TR" dirty="0"/>
              <a:t>) - veri kaybı olmamalı.</a:t>
            </a:r>
          </a:p>
          <a:p>
            <a:pPr lvl="1"/>
            <a:r>
              <a:rPr lang="tr-TR" b="1" dirty="0"/>
              <a:t>Öngörülebilirlik</a:t>
            </a:r>
            <a:r>
              <a:rPr lang="tr-TR" dirty="0"/>
              <a:t> - multimedya sistemlerinde kalite düşmemeli.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64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sonraki adımda hangi süreç çalıştırılacak?</a:t>
            </a:r>
          </a:p>
          <a:p>
            <a:r>
              <a:rPr lang="tr-TR" dirty="0"/>
              <a:t>Bir süreç çalışırken işlemci, </a:t>
            </a:r>
          </a:p>
          <a:p>
            <a:pPr lvl="1"/>
            <a:r>
              <a:rPr lang="tr-TR" dirty="0"/>
              <a:t>süreç sonlanana kadar çalıştırmalı mı? </a:t>
            </a:r>
          </a:p>
          <a:p>
            <a:pPr lvl="1"/>
            <a:r>
              <a:rPr lang="tr-TR" dirty="0"/>
              <a:t>farklı süreçler arasında geçiş yapmalı mı?</a:t>
            </a:r>
          </a:p>
          <a:p>
            <a:r>
              <a:rPr lang="tr-TR" dirty="0"/>
              <a:t>Süreç değiştirme pahalı</a:t>
            </a:r>
          </a:p>
          <a:p>
            <a:pPr lvl="1"/>
            <a:r>
              <a:rPr lang="tr-TR" dirty="0"/>
              <a:t>Kullanıcı modu ve çekirdek modu arasında geçiş.</a:t>
            </a:r>
          </a:p>
          <a:p>
            <a:pPr lvl="1"/>
            <a:r>
              <a:rPr lang="tr-TR" dirty="0"/>
              <a:t>Geçerli süreç bilgileri kaydedilir.</a:t>
            </a:r>
          </a:p>
          <a:p>
            <a:pPr lvl="1"/>
            <a:r>
              <a:rPr lang="tr-TR" dirty="0"/>
              <a:t>Bellek haritası (</a:t>
            </a:r>
            <a:r>
              <a:rPr lang="tr-TR" i="1" dirty="0" err="1"/>
              <a:t>memory</a:t>
            </a:r>
            <a:r>
              <a:rPr lang="tr-TR" i="1" dirty="0"/>
              <a:t> </a:t>
            </a:r>
            <a:r>
              <a:rPr lang="tr-TR" i="1" dirty="0" err="1"/>
              <a:t>map</a:t>
            </a:r>
            <a:r>
              <a:rPr lang="tr-TR" dirty="0"/>
              <a:t>) kaydedilir.</a:t>
            </a:r>
          </a:p>
          <a:p>
            <a:pPr lvl="1"/>
            <a:r>
              <a:rPr lang="tr-TR" dirty="0"/>
              <a:t>Önbellek temizlenir ve yeniden yüklenir.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137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Kavramlar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Önleyici</a:t>
            </a:r>
            <a:r>
              <a:rPr lang="tr-TR" dirty="0"/>
              <a:t> (</a:t>
            </a:r>
            <a:r>
              <a:rPr lang="tr-TR" i="1" dirty="0" err="1"/>
              <a:t>preemptive</a:t>
            </a:r>
            <a:r>
              <a:rPr lang="tr-TR" dirty="0"/>
              <a:t>) algoritma</a:t>
            </a:r>
          </a:p>
          <a:p>
            <a:pPr lvl="1"/>
            <a:r>
              <a:rPr lang="tr-TR" dirty="0"/>
              <a:t>Bir süreç, belirli bir zaman aralığının sonunda hala çalışıyor ise, askıya alınır ve başka bir süreç çalıştırılır.</a:t>
            </a:r>
          </a:p>
          <a:p>
            <a:r>
              <a:rPr lang="tr-TR" b="1" dirty="0"/>
              <a:t>Önleyici olmayan </a:t>
            </a:r>
            <a:r>
              <a:rPr lang="tr-TR" dirty="0"/>
              <a:t>(</a:t>
            </a:r>
            <a:r>
              <a:rPr lang="tr-TR" i="1" dirty="0" err="1"/>
              <a:t>non-preemptive</a:t>
            </a:r>
            <a:r>
              <a:rPr lang="tr-TR" dirty="0"/>
              <a:t>) algoritma</a:t>
            </a:r>
          </a:p>
          <a:p>
            <a:pPr lvl="1"/>
            <a:r>
              <a:rPr lang="tr-TR" dirty="0"/>
              <a:t>Çalıştırmak için bir süreç seçilir ve bloke olana kadar veya gönüllü olarak işlemciyi serbest bırakana kadar çalışmasına izin verilir.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843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Çizelgeleme Kategorileri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Farklı ortamlar farklı çizelgeleme algoritmalarına ihtiyaç duyar.</a:t>
            </a:r>
          </a:p>
          <a:p>
            <a:r>
              <a:rPr lang="tr-TR" b="1" dirty="0"/>
              <a:t>Toplu</a:t>
            </a:r>
            <a:r>
              <a:rPr lang="tr-TR" dirty="0"/>
              <a:t> (</a:t>
            </a:r>
            <a:r>
              <a:rPr lang="tr-TR" i="1" dirty="0" err="1"/>
              <a:t>batch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Hala yaygın olarak kullanılıyor.</a:t>
            </a:r>
          </a:p>
          <a:p>
            <a:pPr lvl="1"/>
            <a:r>
              <a:rPr lang="tr-TR" dirty="0"/>
              <a:t>Önleyici olmayan algoritmalar süreç geçişlerini azaltır.</a:t>
            </a:r>
          </a:p>
          <a:p>
            <a:r>
              <a:rPr lang="tr-TR" b="1" dirty="0"/>
              <a:t>Etkileşimli</a:t>
            </a:r>
          </a:p>
          <a:p>
            <a:pPr lvl="1"/>
            <a:r>
              <a:rPr lang="tr-TR" dirty="0"/>
              <a:t>Önleyici (</a:t>
            </a:r>
            <a:r>
              <a:rPr lang="tr-TR" i="1" dirty="0" err="1"/>
              <a:t>preemptive</a:t>
            </a:r>
            <a:r>
              <a:rPr lang="tr-TR" dirty="0"/>
              <a:t>) algoritmalar gerekli.</a:t>
            </a:r>
          </a:p>
          <a:p>
            <a:r>
              <a:rPr lang="tr-TR" b="1" dirty="0"/>
              <a:t>Gerçek zamanlı</a:t>
            </a:r>
          </a:p>
          <a:p>
            <a:pPr lvl="1"/>
            <a:r>
              <a:rPr lang="tr-TR" dirty="0"/>
              <a:t>Süreçler hızlı çalışır ve bloke olur.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027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Toplu Sistemlerde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nl-NL" b="1" dirty="0"/>
              <a:t>İlk gelen </a:t>
            </a:r>
            <a:r>
              <a:rPr lang="tr-TR" b="1" dirty="0"/>
              <a:t>ilk hizmet </a:t>
            </a:r>
            <a:r>
              <a:rPr lang="nl-NL" b="1" dirty="0"/>
              <a:t>alır</a:t>
            </a:r>
            <a:r>
              <a:rPr lang="tr-TR" b="1" dirty="0"/>
              <a:t> </a:t>
            </a:r>
            <a:r>
              <a:rPr lang="tr-TR" dirty="0"/>
              <a:t>(</a:t>
            </a:r>
            <a:r>
              <a:rPr lang="tr-TR" i="1" dirty="0"/>
              <a:t>f</a:t>
            </a:r>
            <a:r>
              <a:rPr lang="en-US" altLang="zh-CN" i="1" dirty="0" err="1"/>
              <a:t>irst</a:t>
            </a:r>
            <a:r>
              <a:rPr lang="en-US" altLang="zh-CN" i="1" dirty="0"/>
              <a:t>-come first-served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Süreçler, kuyruğa girdikleri sırada yürütülür. Uzun süren süreçlerde düşük performansa, kısa işler için uzun bekleme süresine neden olur.</a:t>
            </a:r>
          </a:p>
          <a:p>
            <a:r>
              <a:rPr lang="nl-NL" b="1" dirty="0"/>
              <a:t>Önce en kısa iş</a:t>
            </a:r>
            <a:r>
              <a:rPr lang="tr-TR" b="1" dirty="0"/>
              <a:t> </a:t>
            </a:r>
            <a:r>
              <a:rPr lang="tr-TR" dirty="0"/>
              <a:t>(</a:t>
            </a:r>
            <a:r>
              <a:rPr lang="tr-TR" i="1" dirty="0"/>
              <a:t>s</a:t>
            </a:r>
            <a:r>
              <a:rPr lang="en-US" altLang="zh-CN" i="1" dirty="0" err="1"/>
              <a:t>hortest</a:t>
            </a:r>
            <a:r>
              <a:rPr lang="en-US" altLang="zh-CN" i="1" dirty="0"/>
              <a:t> job first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Kısa süren süreçler, uzun olanlara göre önceliklidir. CPU kullanımını üst düzeye çıkarır. Süreçlerin yürütme süresini tahmin etmek </a:t>
            </a:r>
            <a:r>
              <a:rPr lang="tr-TR" i="1" dirty="0"/>
              <a:t>zor</a:t>
            </a:r>
            <a:r>
              <a:rPr lang="tr-TR" dirty="0"/>
              <a:t>.</a:t>
            </a:r>
          </a:p>
          <a:p>
            <a:r>
              <a:rPr lang="tr-TR" b="1" dirty="0"/>
              <a:t>Önce en kısa süresi kalan </a:t>
            </a:r>
            <a:r>
              <a:rPr lang="tr-TR" dirty="0"/>
              <a:t>(</a:t>
            </a:r>
            <a:r>
              <a:rPr lang="tr-TR" i="1" dirty="0" err="1"/>
              <a:t>shortest</a:t>
            </a:r>
            <a:r>
              <a:rPr lang="tr-TR" i="1" dirty="0"/>
              <a:t> </a:t>
            </a:r>
            <a:r>
              <a:rPr lang="tr-TR" i="1" dirty="0" err="1"/>
              <a:t>remaining</a:t>
            </a:r>
            <a:r>
              <a:rPr lang="tr-TR" i="1" dirty="0"/>
              <a:t> time </a:t>
            </a:r>
            <a:r>
              <a:rPr lang="tr-TR" i="1" dirty="0" err="1"/>
              <a:t>next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Sonlanması için kısa süre gereken süreçler önce yürütülür. Dinamik bir yaklaşım, yürütme süresi değiştikçe kendini ayarlar. Her süreç için kalan süreyi takip etme ve kuyrukta sık değişiklik yapma maliyeti var.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40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642134"/>
              </p:ext>
            </p:extLst>
          </p:nvPr>
        </p:nvGraphicFramePr>
        <p:xfrm>
          <a:off x="929640" y="2766151"/>
          <a:ext cx="10515603" cy="2123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Süreç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Gelme</a:t>
                      </a:r>
                      <a:r>
                        <a:rPr lang="tr-TR" baseline="0" dirty="0"/>
                        <a:t> zamanı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Servis süresi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Başlama zamanı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Sonlanma</a:t>
                      </a:r>
                      <a:r>
                        <a:rPr lang="tr-TR" baseline="0" dirty="0"/>
                        <a:t> zamanı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Geri dönüş süresi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Ağırlıklı geri dönüş süresi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FCFS Çizelgeleme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825625"/>
            <a:ext cx="10515600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Ağırlıklı geri dönüş süresi = geri dönüş süresi / servis süresi</a:t>
            </a:r>
          </a:p>
        </p:txBody>
      </p:sp>
    </p:spTree>
    <p:extLst>
      <p:ext uri="{BB962C8B-B14F-4D97-AF65-F5344CB8AC3E}">
        <p14:creationId xmlns:p14="http://schemas.microsoft.com/office/powerpoint/2010/main" val="1578469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FCFS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İlk gelen süreç, CPU'yu ilk kullanma hakkına sahiptir.</a:t>
            </a:r>
          </a:p>
          <a:p>
            <a:r>
              <a:rPr lang="tr-TR" dirty="0"/>
              <a:t>Süreçler arasında adil bir kaynak dağılımı sağlar.</a:t>
            </a:r>
          </a:p>
          <a:p>
            <a:r>
              <a:rPr lang="tr-TR" dirty="0"/>
              <a:t>Uzun süren süreçler kısa süren süreçlerin beklemesine neden olur.</a:t>
            </a:r>
          </a:p>
          <a:p>
            <a:pPr lvl="1"/>
            <a:r>
              <a:rPr lang="tr-TR" dirty="0"/>
              <a:t>Konvoy etkisi. (</a:t>
            </a:r>
            <a:r>
              <a:rPr lang="tr-TR" i="1" dirty="0" err="1"/>
              <a:t>convoy</a:t>
            </a:r>
            <a:r>
              <a:rPr lang="tr-TR" i="1" dirty="0"/>
              <a:t> </a:t>
            </a:r>
            <a:r>
              <a:rPr lang="tr-TR" i="1" dirty="0" err="1"/>
              <a:t>effect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Bekleme süreleri değişkenlik gösterebilir.</a:t>
            </a:r>
          </a:p>
          <a:p>
            <a:r>
              <a:rPr lang="tr-TR" dirty="0"/>
              <a:t>G/Ç bağlı süreçler az CPU ihtiyacına rağmen,</a:t>
            </a:r>
          </a:p>
          <a:p>
            <a:pPr lvl="1"/>
            <a:r>
              <a:rPr lang="tr-TR" dirty="0"/>
              <a:t>Sonlanana kadar diğer süreçlere şans vermezler.</a:t>
            </a:r>
          </a:p>
          <a:p>
            <a:r>
              <a:rPr lang="tr-TR" dirty="0"/>
              <a:t>Tahmin edilebilir (</a:t>
            </a:r>
            <a:r>
              <a:rPr lang="tr-TR" i="1" dirty="0" err="1"/>
              <a:t>deterministic</a:t>
            </a:r>
            <a:r>
              <a:rPr lang="tr-TR" dirty="0"/>
              <a:t>) değil.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521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FCFS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// FCFS Stratejisi</a:t>
            </a:r>
          </a:p>
          <a:p>
            <a:pPr marL="0" indent="0">
              <a:buNone/>
            </a:pPr>
            <a:r>
              <a:rPr lang="tr-TR" b="1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fcfs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b="1" dirty="0" err="1">
                <a:latin typeface="Consolas" panose="020B0609020204030204" pitchFamily="49" charset="0"/>
              </a:rPr>
              <a:t>struct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b="1" dirty="0" err="1">
                <a:latin typeface="Consolas" panose="020B0609020204030204" pitchFamily="49" charset="0"/>
              </a:rPr>
              <a:t>Process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processes</a:t>
            </a:r>
            <a:r>
              <a:rPr lang="tr-TR" dirty="0">
                <a:latin typeface="Consolas" panose="020B0609020204030204" pitchFamily="49" charset="0"/>
              </a:rPr>
              <a:t>[], 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n)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waitingTime</a:t>
            </a:r>
            <a:r>
              <a:rPr lang="tr-TR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// Süreçleri sırayla işle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for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i = 0; i &lt; n; i++) {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err="1">
                <a:latin typeface="Consolas" panose="020B0609020204030204" pitchFamily="49" charset="0"/>
              </a:rPr>
              <a:t>waitingTime</a:t>
            </a:r>
            <a:r>
              <a:rPr lang="tr-TR" dirty="0">
                <a:latin typeface="Consolas" panose="020B0609020204030204" pitchFamily="49" charset="0"/>
              </a:rPr>
              <a:t> += </a:t>
            </a:r>
            <a:r>
              <a:rPr lang="tr-TR" dirty="0" err="1">
                <a:latin typeface="Consolas" panose="020B0609020204030204" pitchFamily="49" charset="0"/>
              </a:rPr>
              <a:t>processes</a:t>
            </a:r>
            <a:r>
              <a:rPr lang="tr-TR" dirty="0">
                <a:latin typeface="Consolas" panose="020B0609020204030204" pitchFamily="49" charset="0"/>
              </a:rPr>
              <a:t>[i].</a:t>
            </a:r>
            <a:r>
              <a:rPr lang="tr-TR" dirty="0" err="1">
                <a:latin typeface="Consolas" panose="020B0609020204030204" pitchFamily="49" charset="0"/>
              </a:rPr>
              <a:t>burstTime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latin typeface="Consolas" panose="020B0609020204030204" pitchFamily="49" charset="0"/>
              </a:rPr>
              <a:t>printf</a:t>
            </a:r>
            <a:r>
              <a:rPr lang="tr-TR" dirty="0">
                <a:latin typeface="Consolas" panose="020B0609020204030204" pitchFamily="49" charset="0"/>
              </a:rPr>
              <a:t>("Süreç %d için Bekleme Süresi: %d\n", </a:t>
            </a:r>
          </a:p>
          <a:p>
            <a:pPr marL="0" indent="0" algn="r">
              <a:buNone/>
            </a:pPr>
            <a:r>
              <a:rPr lang="tr-TR" dirty="0" err="1">
                <a:latin typeface="Consolas" panose="020B0609020204030204" pitchFamily="49" charset="0"/>
              </a:rPr>
              <a:t>processes</a:t>
            </a:r>
            <a:r>
              <a:rPr lang="tr-TR" dirty="0">
                <a:latin typeface="Consolas" panose="020B0609020204030204" pitchFamily="49" charset="0"/>
              </a:rPr>
              <a:t>[i].</a:t>
            </a:r>
            <a:r>
              <a:rPr lang="tr-TR" dirty="0" err="1">
                <a:latin typeface="Consolas" panose="020B0609020204030204" pitchFamily="49" charset="0"/>
              </a:rPr>
              <a:t>processID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waitingTime</a:t>
            </a:r>
            <a:r>
              <a:rPr lang="tr-TR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274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FCFS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Süreç</a:t>
            </a:r>
            <a:r>
              <a:rPr lang="en-US" b="1" dirty="0"/>
              <a:t>	</a:t>
            </a:r>
            <a:r>
              <a:rPr lang="tr-TR" b="1" dirty="0"/>
              <a:t>	Servis süresi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P1</a:t>
            </a:r>
            <a:r>
              <a:rPr lang="tr-TR" dirty="0"/>
              <a:t>		</a:t>
            </a:r>
            <a:r>
              <a:rPr lang="en-US" dirty="0"/>
              <a:t>24</a:t>
            </a:r>
          </a:p>
          <a:p>
            <a:pPr marL="0" indent="0">
              <a:buNone/>
            </a:pPr>
            <a:r>
              <a:rPr lang="en-US" dirty="0"/>
              <a:t>P2</a:t>
            </a:r>
            <a:r>
              <a:rPr lang="tr-TR" dirty="0"/>
              <a:t>		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P3	</a:t>
            </a:r>
            <a:r>
              <a:rPr lang="tr-TR" dirty="0"/>
              <a:t>	</a:t>
            </a:r>
            <a:r>
              <a:rPr lang="en-US" dirty="0"/>
              <a:t>3 </a:t>
            </a:r>
            <a:endParaRPr lang="tr-TR" dirty="0"/>
          </a:p>
          <a:p>
            <a:r>
              <a:rPr lang="tr-TR" dirty="0"/>
              <a:t>Süreçlerin çalışma sırası: </a:t>
            </a:r>
            <a:r>
              <a:rPr lang="tr-TR" b="1" dirty="0"/>
              <a:t>P1 -&gt; P2 -&gt; P3</a:t>
            </a:r>
          </a:p>
          <a:p>
            <a:r>
              <a:rPr lang="tr-TR" dirty="0"/>
              <a:t>Bekleme süresi:</a:t>
            </a:r>
            <a:r>
              <a:rPr lang="en-US" dirty="0"/>
              <a:t> P1 = 0; P2 = 24; P3 = 27</a:t>
            </a:r>
          </a:p>
          <a:p>
            <a:r>
              <a:rPr lang="tr-TR" dirty="0"/>
              <a:t>Ortalama bekleme süresi</a:t>
            </a:r>
            <a:r>
              <a:rPr lang="en-US" dirty="0"/>
              <a:t>:  (0 + 24 + 27)</a:t>
            </a:r>
            <a:r>
              <a:rPr lang="tr-TR" dirty="0"/>
              <a:t> </a:t>
            </a:r>
            <a:r>
              <a:rPr lang="en-US" dirty="0"/>
              <a:t>/</a:t>
            </a:r>
            <a:r>
              <a:rPr lang="tr-TR" dirty="0"/>
              <a:t> </a:t>
            </a:r>
            <a:r>
              <a:rPr lang="en-US" dirty="0"/>
              <a:t>3 = 17</a:t>
            </a:r>
          </a:p>
          <a:p>
            <a:pPr marL="0" indent="0">
              <a:buNone/>
            </a:pPr>
            <a:endParaRPr lang="en-US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6693C49E-F1BF-40FA-ACEB-79D52B112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581" y="5230223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0935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FCFS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Süreç</a:t>
            </a:r>
            <a:r>
              <a:rPr lang="en-US" b="1" dirty="0"/>
              <a:t>	</a:t>
            </a:r>
            <a:r>
              <a:rPr lang="tr-TR" b="1" dirty="0"/>
              <a:t>	Servis süresi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P1</a:t>
            </a:r>
            <a:r>
              <a:rPr lang="tr-TR" dirty="0"/>
              <a:t>		</a:t>
            </a:r>
            <a:r>
              <a:rPr lang="en-US" dirty="0"/>
              <a:t>24</a:t>
            </a:r>
          </a:p>
          <a:p>
            <a:pPr marL="0" indent="0">
              <a:buNone/>
            </a:pPr>
            <a:r>
              <a:rPr lang="en-US" dirty="0"/>
              <a:t>P2</a:t>
            </a:r>
            <a:r>
              <a:rPr lang="tr-TR" dirty="0"/>
              <a:t>		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P3	</a:t>
            </a:r>
            <a:r>
              <a:rPr lang="tr-TR" dirty="0"/>
              <a:t>	</a:t>
            </a:r>
            <a:r>
              <a:rPr lang="en-US" dirty="0"/>
              <a:t>3 </a:t>
            </a:r>
            <a:endParaRPr lang="tr-TR" dirty="0"/>
          </a:p>
          <a:p>
            <a:r>
              <a:rPr lang="tr-TR" dirty="0"/>
              <a:t>Süreçlerin çalışma sırası: </a:t>
            </a:r>
            <a:r>
              <a:rPr lang="tr-TR" b="1" dirty="0"/>
              <a:t>P2 -&gt; P3 -&gt; P1</a:t>
            </a:r>
          </a:p>
          <a:p>
            <a:r>
              <a:rPr lang="tr-TR" dirty="0"/>
              <a:t>Bekleme süresi:</a:t>
            </a:r>
            <a:r>
              <a:rPr lang="en-US" dirty="0"/>
              <a:t> P1 = </a:t>
            </a:r>
            <a:r>
              <a:rPr lang="tr-TR" dirty="0"/>
              <a:t>6</a:t>
            </a:r>
            <a:r>
              <a:rPr lang="en-US" dirty="0"/>
              <a:t>; P2 = </a:t>
            </a:r>
            <a:r>
              <a:rPr lang="tr-TR" dirty="0"/>
              <a:t>0</a:t>
            </a:r>
            <a:r>
              <a:rPr lang="en-US" dirty="0"/>
              <a:t>; P3 = </a:t>
            </a:r>
            <a:r>
              <a:rPr lang="tr-TR" dirty="0"/>
              <a:t>3</a:t>
            </a:r>
            <a:endParaRPr lang="en-US" dirty="0"/>
          </a:p>
          <a:p>
            <a:r>
              <a:rPr lang="tr-TR" dirty="0"/>
              <a:t>Ortalama bekleme süresi</a:t>
            </a:r>
            <a:r>
              <a:rPr lang="en-US" dirty="0"/>
              <a:t>:  (</a:t>
            </a:r>
            <a:r>
              <a:rPr lang="tr-TR" dirty="0"/>
              <a:t>6</a:t>
            </a:r>
            <a:r>
              <a:rPr lang="en-US" dirty="0"/>
              <a:t> + </a:t>
            </a:r>
            <a:r>
              <a:rPr lang="tr-TR" dirty="0"/>
              <a:t>0</a:t>
            </a:r>
            <a:r>
              <a:rPr lang="en-US" dirty="0"/>
              <a:t> + </a:t>
            </a:r>
            <a:r>
              <a:rPr lang="tr-TR" dirty="0"/>
              <a:t>3</a:t>
            </a:r>
            <a:r>
              <a:rPr lang="en-US" dirty="0"/>
              <a:t>)</a:t>
            </a:r>
            <a:r>
              <a:rPr lang="tr-TR" dirty="0"/>
              <a:t> </a:t>
            </a:r>
            <a:r>
              <a:rPr lang="en-US" dirty="0"/>
              <a:t>/</a:t>
            </a:r>
            <a:r>
              <a:rPr lang="tr-TR" dirty="0"/>
              <a:t> </a:t>
            </a:r>
            <a:r>
              <a:rPr lang="en-US" dirty="0"/>
              <a:t>3 = </a:t>
            </a:r>
            <a:r>
              <a:rPr lang="tr-TR" dirty="0"/>
              <a:t>3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A51E2F7-6758-4662-8420-58D4F0890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443" y="5192395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7168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SJF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süreç, servis süresi ile ilişkilendirilir.</a:t>
            </a:r>
          </a:p>
          <a:p>
            <a:r>
              <a:rPr lang="tr-TR" dirty="0"/>
              <a:t>Çizelgeleme aşamasında servis süreleri göz önüne alınır.</a:t>
            </a:r>
          </a:p>
          <a:p>
            <a:r>
              <a:rPr lang="tr-TR" dirty="0"/>
              <a:t>En kısa süren süreç, diğer süreçlerden önce çalıştırılır.</a:t>
            </a:r>
          </a:p>
          <a:p>
            <a:r>
              <a:rPr lang="tr-TR" dirty="0"/>
              <a:t>Optimal bir algoritmadır.</a:t>
            </a:r>
          </a:p>
          <a:p>
            <a:pPr lvl="1"/>
            <a:r>
              <a:rPr lang="tr-TR" dirty="0"/>
              <a:t>Ortalama bekleme süresi minimumdur.</a:t>
            </a:r>
          </a:p>
          <a:p>
            <a:pPr lvl="1"/>
            <a:r>
              <a:rPr lang="tr-TR" dirty="0"/>
              <a:t>Kısa süren süreçler, diğerlerinin tamamlanmasını beklemez.</a:t>
            </a:r>
          </a:p>
          <a:p>
            <a:r>
              <a:rPr lang="tr-TR" dirty="0"/>
              <a:t>Servis süresi nasıl hesaplanacak?</a:t>
            </a:r>
          </a:p>
          <a:p>
            <a:pPr lvl="1"/>
            <a:r>
              <a:rPr lang="tr-TR" dirty="0"/>
              <a:t>Kullanıcıya sorulabilir.</a:t>
            </a:r>
          </a:p>
          <a:p>
            <a:pPr lvl="1"/>
            <a:r>
              <a:rPr lang="tr-TR" dirty="0"/>
              <a:t>Tahmin edilebilir.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77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SJF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tr-TR" b="1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sjf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b="1" dirty="0" err="1">
                <a:latin typeface="Consolas" panose="020B0609020204030204" pitchFamily="49" charset="0"/>
              </a:rPr>
              <a:t>struct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Process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proc</a:t>
            </a:r>
            <a:r>
              <a:rPr lang="tr-TR" dirty="0">
                <a:latin typeface="Consolas" panose="020B0609020204030204" pitchFamily="49" charset="0"/>
              </a:rPr>
              <a:t>[], 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n)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waitingTime</a:t>
            </a:r>
            <a:r>
              <a:rPr lang="tr-TR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for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i = 0; i &lt; n - 1; i++) {  // Süreçleri sırala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latin typeface="Consolas" panose="020B0609020204030204" pitchFamily="49" charset="0"/>
              </a:rPr>
              <a:t>for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j = 0; j &lt; n - i - 1; j++)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latin typeface="Consolas" panose="020B0609020204030204" pitchFamily="49" charset="0"/>
              </a:rPr>
              <a:t>if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proc</a:t>
            </a:r>
            <a:r>
              <a:rPr lang="tr-TR" dirty="0">
                <a:latin typeface="Consolas" panose="020B0609020204030204" pitchFamily="49" charset="0"/>
              </a:rPr>
              <a:t>[j].</a:t>
            </a:r>
            <a:r>
              <a:rPr lang="tr-TR" dirty="0" err="1">
                <a:latin typeface="Consolas" panose="020B0609020204030204" pitchFamily="49" charset="0"/>
              </a:rPr>
              <a:t>burstTime</a:t>
            </a:r>
            <a:r>
              <a:rPr lang="tr-TR" dirty="0">
                <a:latin typeface="Consolas" panose="020B0609020204030204" pitchFamily="49" charset="0"/>
              </a:rPr>
              <a:t> &gt; </a:t>
            </a:r>
            <a:r>
              <a:rPr lang="tr-TR" dirty="0" err="1">
                <a:latin typeface="Consolas" panose="020B0609020204030204" pitchFamily="49" charset="0"/>
              </a:rPr>
              <a:t>proc</a:t>
            </a:r>
            <a:r>
              <a:rPr lang="tr-TR" dirty="0">
                <a:latin typeface="Consolas" panose="020B0609020204030204" pitchFamily="49" charset="0"/>
              </a:rPr>
              <a:t>[j + 1].</a:t>
            </a:r>
            <a:r>
              <a:rPr lang="tr-TR" dirty="0" err="1">
                <a:latin typeface="Consolas" panose="020B0609020204030204" pitchFamily="49" charset="0"/>
              </a:rPr>
              <a:t>burstTime</a:t>
            </a:r>
            <a:r>
              <a:rPr lang="tr-TR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        // Swap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for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i = 0; i &lt; n; i++) {  // Süreçleri sırayla işle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err="1">
                <a:latin typeface="Consolas" panose="020B0609020204030204" pitchFamily="49" charset="0"/>
              </a:rPr>
              <a:t>waitingTime</a:t>
            </a:r>
            <a:r>
              <a:rPr lang="tr-TR" dirty="0">
                <a:latin typeface="Consolas" panose="020B0609020204030204" pitchFamily="49" charset="0"/>
              </a:rPr>
              <a:t> += </a:t>
            </a:r>
            <a:r>
              <a:rPr lang="tr-TR" dirty="0" err="1">
                <a:latin typeface="Consolas" panose="020B0609020204030204" pitchFamily="49" charset="0"/>
              </a:rPr>
              <a:t>proc</a:t>
            </a:r>
            <a:r>
              <a:rPr lang="tr-TR" dirty="0">
                <a:latin typeface="Consolas" panose="020B0609020204030204" pitchFamily="49" charset="0"/>
              </a:rPr>
              <a:t>[i].</a:t>
            </a:r>
            <a:r>
              <a:rPr lang="tr-TR" dirty="0" err="1">
                <a:latin typeface="Consolas" panose="020B0609020204030204" pitchFamily="49" charset="0"/>
              </a:rPr>
              <a:t>burstTime</a:t>
            </a:r>
            <a:r>
              <a:rPr lang="tr-TR" dirty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187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SJF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Süreç</a:t>
            </a:r>
            <a:r>
              <a:rPr lang="en-US" b="1" dirty="0"/>
              <a:t>	</a:t>
            </a:r>
            <a:r>
              <a:rPr lang="tr-TR" b="1" dirty="0"/>
              <a:t>	Servis süresi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P1</a:t>
            </a:r>
            <a:r>
              <a:rPr lang="tr-TR" dirty="0"/>
              <a:t>		6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P2</a:t>
            </a:r>
            <a:r>
              <a:rPr lang="tr-TR" dirty="0"/>
              <a:t>		8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P3	</a:t>
            </a:r>
            <a:r>
              <a:rPr lang="tr-TR" dirty="0"/>
              <a:t>	7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P4		3</a:t>
            </a:r>
          </a:p>
          <a:p>
            <a:r>
              <a:rPr lang="tr-TR" dirty="0"/>
              <a:t>Bekleme süresi:</a:t>
            </a:r>
            <a:r>
              <a:rPr lang="en-US" dirty="0"/>
              <a:t> P1 = </a:t>
            </a:r>
            <a:r>
              <a:rPr lang="tr-TR" dirty="0"/>
              <a:t>3</a:t>
            </a:r>
            <a:r>
              <a:rPr lang="en-US" dirty="0"/>
              <a:t>; P2 = </a:t>
            </a:r>
            <a:r>
              <a:rPr lang="tr-TR" dirty="0"/>
              <a:t>16</a:t>
            </a:r>
            <a:r>
              <a:rPr lang="en-US" dirty="0"/>
              <a:t>; P3 = </a:t>
            </a:r>
            <a:r>
              <a:rPr lang="tr-TR" dirty="0"/>
              <a:t>9; P4 = 0</a:t>
            </a:r>
            <a:endParaRPr lang="en-US" dirty="0"/>
          </a:p>
          <a:p>
            <a:r>
              <a:rPr lang="tr-TR" dirty="0"/>
              <a:t>Ortalama bekleme süresi</a:t>
            </a:r>
            <a:r>
              <a:rPr lang="en-US" dirty="0"/>
              <a:t>:  (</a:t>
            </a:r>
            <a:r>
              <a:rPr lang="tr-TR" dirty="0"/>
              <a:t>3</a:t>
            </a:r>
            <a:r>
              <a:rPr lang="en-US" dirty="0"/>
              <a:t> + </a:t>
            </a:r>
            <a:r>
              <a:rPr lang="tr-TR" dirty="0"/>
              <a:t>16</a:t>
            </a:r>
            <a:r>
              <a:rPr lang="en-US" dirty="0"/>
              <a:t> + </a:t>
            </a:r>
            <a:r>
              <a:rPr lang="tr-TR" dirty="0"/>
              <a:t>9 + 0</a:t>
            </a:r>
            <a:r>
              <a:rPr lang="en-US" dirty="0"/>
              <a:t>)</a:t>
            </a:r>
            <a:r>
              <a:rPr lang="tr-TR" dirty="0"/>
              <a:t> </a:t>
            </a:r>
            <a:r>
              <a:rPr lang="en-US" dirty="0"/>
              <a:t>/</a:t>
            </a:r>
            <a:r>
              <a:rPr lang="tr-TR" dirty="0"/>
              <a:t> 4</a:t>
            </a:r>
            <a:r>
              <a:rPr lang="en-US" dirty="0"/>
              <a:t> = </a:t>
            </a:r>
            <a:r>
              <a:rPr lang="tr-TR" dirty="0"/>
              <a:t>7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DADC6AF8-4597-4452-983E-FCBE4FEE1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120" y="5192488"/>
            <a:ext cx="6093760" cy="82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3146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SJF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457200" indent="-457200">
              <a:buAutoNum type="alphaLcParenBoth"/>
            </a:pPr>
            <a:r>
              <a:rPr lang="tr-TR" dirty="0"/>
              <a:t>Orijinal sıra. </a:t>
            </a:r>
          </a:p>
          <a:p>
            <a:pPr marL="457200" indent="-457200">
              <a:buAutoNum type="alphaLcParenBoth"/>
            </a:pPr>
            <a:endParaRPr lang="tr-TR" dirty="0"/>
          </a:p>
          <a:p>
            <a:pPr marL="457200" indent="-457200">
              <a:buAutoNum type="alphaLcParenBoth"/>
            </a:pPr>
            <a:endParaRPr lang="tr-TR" dirty="0"/>
          </a:p>
          <a:p>
            <a:pPr marL="457200" indent="-457200">
              <a:buAutoNum type="alphaLcParenBoth"/>
            </a:pPr>
            <a:endParaRPr lang="tr-TR" dirty="0"/>
          </a:p>
          <a:p>
            <a:pPr marL="457200" indent="-457200">
              <a:buAutoNum type="alphaLcParenBoth"/>
            </a:pPr>
            <a:r>
              <a:rPr lang="tr-TR" dirty="0"/>
              <a:t>En kısa süreci önce yürütme sırası.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600810"/>
              </p:ext>
            </p:extLst>
          </p:nvPr>
        </p:nvGraphicFramePr>
        <p:xfrm>
          <a:off x="981891" y="2573304"/>
          <a:ext cx="8128000" cy="74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093155"/>
              </p:ext>
            </p:extLst>
          </p:nvPr>
        </p:nvGraphicFramePr>
        <p:xfrm>
          <a:off x="986971" y="4455644"/>
          <a:ext cx="8128000" cy="74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243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FCFS ve SJF Karşılaştırma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010673"/>
              </p:ext>
            </p:extLst>
          </p:nvPr>
        </p:nvGraphicFramePr>
        <p:xfrm>
          <a:off x="838196" y="2322014"/>
          <a:ext cx="10753168" cy="35661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44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4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4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44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endParaRPr lang="tr-TR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dirty="0"/>
                        <a:t>Süreç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A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B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C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D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ortalama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Geliş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Servis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tr-TR" sz="2000" b="1" dirty="0"/>
                        <a:t>SJF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Bitiş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Dönüş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Ağırlıklı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2.67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3.1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1.5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2.25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2.1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tr-TR" sz="2000" b="1" dirty="0"/>
                        <a:t>FCFS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Bitiş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1" dirty="0"/>
                        <a:t>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r-TR" sz="2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Dönüş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2000" b="1" dirty="0"/>
                        <a:t>Ağırlıklı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5.5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3.5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2.8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826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SRTN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SJF algoritmasının kesmeli (</a:t>
            </a:r>
            <a:r>
              <a:rPr lang="tr-TR" i="1" dirty="0" err="1"/>
              <a:t>preemptive</a:t>
            </a:r>
            <a:r>
              <a:rPr lang="tr-TR" dirty="0"/>
              <a:t>) versiyonu.</a:t>
            </a:r>
          </a:p>
          <a:p>
            <a:r>
              <a:rPr lang="tr-TR" dirty="0"/>
              <a:t>Sıradaki yürütme için en kısa süreye sahip süreç seçilir.</a:t>
            </a:r>
          </a:p>
          <a:p>
            <a:r>
              <a:rPr lang="tr-TR" b="1" dirty="0"/>
              <a:t>Kesmeli (</a:t>
            </a:r>
            <a:r>
              <a:rPr lang="tr-TR" b="1" dirty="0" err="1"/>
              <a:t>preemptive</a:t>
            </a:r>
            <a:r>
              <a:rPr lang="tr-TR" b="1" dirty="0"/>
              <a:t>)</a:t>
            </a:r>
            <a:r>
              <a:rPr lang="tr-TR" dirty="0"/>
              <a:t>: yeni sürecin çalışma süresini, aktif sürecin sonlanmasına kalan süresiyle karşılaştırır.</a:t>
            </a:r>
          </a:p>
          <a:p>
            <a:pPr lvl="1"/>
            <a:r>
              <a:rPr lang="tr-TR" dirty="0"/>
              <a:t>Süreçlerin çalışma sürelerinin önceden bilinmesi gerekir.</a:t>
            </a:r>
          </a:p>
          <a:p>
            <a:pPr lvl="1"/>
            <a:r>
              <a:rPr lang="tr-TR" dirty="0"/>
              <a:t>Sürecin geçmişteki servis sürelerinden tahmin edilebilir.</a:t>
            </a:r>
          </a:p>
          <a:p>
            <a:pPr lvl="1"/>
            <a:r>
              <a:rPr lang="tr-TR" dirty="0"/>
              <a:t>Üstel ortalama (</a:t>
            </a:r>
            <a:r>
              <a:rPr lang="tr-TR" i="1" dirty="0" err="1"/>
              <a:t>Exponential</a:t>
            </a:r>
            <a:r>
              <a:rPr lang="tr-TR" i="1" dirty="0"/>
              <a:t> </a:t>
            </a:r>
            <a:r>
              <a:rPr lang="tr-TR" i="1" dirty="0" err="1"/>
              <a:t>averaging</a:t>
            </a:r>
            <a:r>
              <a:rPr lang="tr-TR" dirty="0"/>
              <a:t>) yöntemi kullanılabilir.</a:t>
            </a:r>
          </a:p>
          <a:p>
            <a:pPr lvl="2"/>
            <a:r>
              <a:rPr lang="tr-TR" dirty="0">
                <a:latin typeface="Consolas" panose="020B0609020204030204" pitchFamily="49" charset="0"/>
              </a:rPr>
              <a:t>s</a:t>
            </a:r>
            <a:r>
              <a:rPr lang="tr-TR" baseline="-25000" dirty="0">
                <a:latin typeface="Consolas" panose="020B0609020204030204" pitchFamily="49" charset="0"/>
              </a:rPr>
              <a:t>0</a:t>
            </a:r>
            <a:r>
              <a:rPr lang="tr-TR" dirty="0">
                <a:latin typeface="Consolas" panose="020B0609020204030204" pitchFamily="49" charset="0"/>
              </a:rPr>
              <a:t> = x</a:t>
            </a:r>
            <a:r>
              <a:rPr lang="tr-TR" baseline="-25000" dirty="0">
                <a:latin typeface="Consolas" panose="020B0609020204030204" pitchFamily="49" charset="0"/>
              </a:rPr>
              <a:t>0</a:t>
            </a:r>
          </a:p>
          <a:p>
            <a:pPr lvl="2"/>
            <a:r>
              <a:rPr lang="tr-TR" dirty="0" err="1">
                <a:latin typeface="Consolas" panose="020B0609020204030204" pitchFamily="49" charset="0"/>
              </a:rPr>
              <a:t>s</a:t>
            </a:r>
            <a:r>
              <a:rPr lang="tr-TR" baseline="-25000" dirty="0" err="1">
                <a:latin typeface="Consolas" panose="020B0609020204030204" pitchFamily="49" charset="0"/>
              </a:rPr>
              <a:t>t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dirty="0" err="1">
                <a:latin typeface="Consolas" panose="020B0609020204030204" pitchFamily="49" charset="0"/>
              </a:rPr>
              <a:t>ax</a:t>
            </a:r>
            <a:r>
              <a:rPr lang="tr-TR" baseline="-25000" dirty="0" err="1">
                <a:latin typeface="Consolas" panose="020B0609020204030204" pitchFamily="49" charset="0"/>
              </a:rPr>
              <a:t>t</a:t>
            </a:r>
            <a:r>
              <a:rPr lang="tr-TR" dirty="0">
                <a:latin typeface="Consolas" panose="020B0609020204030204" pitchFamily="49" charset="0"/>
              </a:rPr>
              <a:t> + (1 - a) s</a:t>
            </a:r>
            <a:r>
              <a:rPr lang="tr-TR" baseline="-25000" dirty="0">
                <a:latin typeface="Consolas" panose="020B0609020204030204" pitchFamily="49" charset="0"/>
              </a:rPr>
              <a:t>t-1</a:t>
            </a:r>
            <a:r>
              <a:rPr lang="tr-TR" dirty="0">
                <a:latin typeface="Consolas" panose="020B0609020204030204" pitchFamily="49" charset="0"/>
              </a:rPr>
              <a:t>, t &gt; 0</a:t>
            </a:r>
          </a:p>
          <a:p>
            <a:pPr lvl="2"/>
            <a:r>
              <a:rPr lang="tr-TR" dirty="0">
                <a:latin typeface="Consolas" panose="020B0609020204030204" pitchFamily="49" charset="0"/>
              </a:rPr>
              <a:t>0 &lt; a &lt; 1</a:t>
            </a:r>
          </a:p>
          <a:p>
            <a:pPr lvl="2"/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35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Üstel Ortalama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3C6E507-3240-4702-A49A-38E2AFA02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7" y="2018506"/>
            <a:ext cx="5470525" cy="3965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591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SRTN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tr-TR" b="1" dirty="0" err="1">
                <a:latin typeface="Consolas" panose="020B0609020204030204" pitchFamily="49" charset="0"/>
              </a:rPr>
              <a:t>void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srtn</a:t>
            </a:r>
            <a:r>
              <a:rPr lang="tr-TR" dirty="0">
                <a:latin typeface="Consolas" panose="020B0609020204030204" pitchFamily="49" charset="0"/>
              </a:rPr>
              <a:t>(</a:t>
            </a:r>
            <a:r>
              <a:rPr lang="tr-TR" b="1" dirty="0" err="1">
                <a:latin typeface="Consolas" panose="020B0609020204030204" pitchFamily="49" charset="0"/>
              </a:rPr>
              <a:t>struct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Process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processes</a:t>
            </a:r>
            <a:r>
              <a:rPr lang="tr-TR" dirty="0">
                <a:latin typeface="Consolas" panose="020B0609020204030204" pitchFamily="49" charset="0"/>
              </a:rPr>
              <a:t>[], </a:t>
            </a:r>
            <a:r>
              <a:rPr lang="tr-TR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n)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remain</a:t>
            </a:r>
            <a:r>
              <a:rPr lang="tr-TR" dirty="0">
                <a:latin typeface="Consolas" panose="020B0609020204030204" pitchFamily="49" charset="0"/>
              </a:rPr>
              <a:t>[n];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</a:t>
            </a:r>
            <a:r>
              <a:rPr lang="tr-TR" b="1" dirty="0" err="1">
                <a:latin typeface="Consolas" panose="020B0609020204030204" pitchFamily="49" charset="0"/>
              </a:rPr>
              <a:t>while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minIndex</a:t>
            </a:r>
            <a:r>
              <a:rPr lang="tr-TR" dirty="0">
                <a:latin typeface="Consolas" panose="020B0609020204030204" pitchFamily="49" charset="0"/>
              </a:rPr>
              <a:t> == -1) { // Süreçleri sırayla işle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err="1">
                <a:latin typeface="Consolas" panose="020B0609020204030204" pitchFamily="49" charset="0"/>
              </a:rPr>
              <a:t>minIndex</a:t>
            </a:r>
            <a:r>
              <a:rPr lang="tr-TR" dirty="0">
                <a:latin typeface="Consolas" panose="020B0609020204030204" pitchFamily="49" charset="0"/>
              </a:rPr>
              <a:t> = -1;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latin typeface="Consolas" panose="020B0609020204030204" pitchFamily="49" charset="0"/>
              </a:rPr>
              <a:t>for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b="1" dirty="0" err="1">
                <a:latin typeface="Consolas" panose="020B0609020204030204" pitchFamily="49" charset="0"/>
              </a:rPr>
              <a:t>int</a:t>
            </a:r>
            <a:r>
              <a:rPr lang="tr-TR" dirty="0">
                <a:latin typeface="Consolas" panose="020B0609020204030204" pitchFamily="49" charset="0"/>
              </a:rPr>
              <a:t> i = 0; i &lt; n; i++) { // En kısa süreci bul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latin typeface="Consolas" panose="020B0609020204030204" pitchFamily="49" charset="0"/>
              </a:rPr>
              <a:t>if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remain</a:t>
            </a:r>
            <a:r>
              <a:rPr lang="tr-TR" dirty="0">
                <a:latin typeface="Consolas" panose="020B0609020204030204" pitchFamily="49" charset="0"/>
              </a:rPr>
              <a:t>[i] &gt; 0 &amp;&amp; </a:t>
            </a:r>
            <a:r>
              <a:rPr lang="tr-TR" dirty="0" err="1">
                <a:latin typeface="Consolas" panose="020B0609020204030204" pitchFamily="49" charset="0"/>
              </a:rPr>
              <a:t>remain</a:t>
            </a:r>
            <a:r>
              <a:rPr lang="tr-TR" dirty="0">
                <a:latin typeface="Consolas" panose="020B0609020204030204" pitchFamily="49" charset="0"/>
              </a:rPr>
              <a:t>[i] &lt; </a:t>
            </a:r>
            <a:r>
              <a:rPr lang="tr-TR" dirty="0" err="1">
                <a:latin typeface="Consolas" panose="020B0609020204030204" pitchFamily="49" charset="0"/>
              </a:rPr>
              <a:t>minTime</a:t>
            </a:r>
            <a:r>
              <a:rPr lang="tr-TR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latin typeface="Consolas" panose="020B0609020204030204" pitchFamily="49" charset="0"/>
              </a:rPr>
              <a:t>minTime</a:t>
            </a:r>
            <a:r>
              <a:rPr lang="tr-TR" dirty="0">
                <a:latin typeface="Consolas" panose="020B0609020204030204" pitchFamily="49" charset="0"/>
              </a:rPr>
              <a:t> = </a:t>
            </a:r>
            <a:r>
              <a:rPr lang="tr-TR" dirty="0" err="1">
                <a:latin typeface="Consolas" panose="020B0609020204030204" pitchFamily="49" charset="0"/>
              </a:rPr>
              <a:t>remain</a:t>
            </a:r>
            <a:r>
              <a:rPr lang="tr-TR" dirty="0">
                <a:latin typeface="Consolas" panose="020B0609020204030204" pitchFamily="49" charset="0"/>
              </a:rPr>
              <a:t>[i];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        </a:t>
            </a:r>
            <a:r>
              <a:rPr lang="tr-TR" dirty="0" err="1">
                <a:latin typeface="Consolas" panose="020B0609020204030204" pitchFamily="49" charset="0"/>
              </a:rPr>
              <a:t>minIndex</a:t>
            </a:r>
            <a:r>
              <a:rPr lang="tr-TR" dirty="0">
                <a:latin typeface="Consolas" panose="020B0609020204030204" pitchFamily="49" charset="0"/>
              </a:rPr>
              <a:t> = i;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    </a:t>
            </a:r>
            <a:r>
              <a:rPr lang="tr-TR" dirty="0" err="1">
                <a:latin typeface="Consolas" panose="020B0609020204030204" pitchFamily="49" charset="0"/>
              </a:rPr>
              <a:t>remain</a:t>
            </a:r>
            <a:r>
              <a:rPr lang="tr-TR" dirty="0">
                <a:latin typeface="Consolas" panose="020B0609020204030204" pitchFamily="49" charset="0"/>
              </a:rPr>
              <a:t>[</a:t>
            </a:r>
            <a:r>
              <a:rPr lang="tr-TR" dirty="0" err="1">
                <a:latin typeface="Consolas" panose="020B0609020204030204" pitchFamily="49" charset="0"/>
              </a:rPr>
              <a:t>minIndex</a:t>
            </a:r>
            <a:r>
              <a:rPr lang="tr-TR" dirty="0">
                <a:latin typeface="Consolas" panose="020B0609020204030204" pitchFamily="49" charset="0"/>
              </a:rPr>
              <a:t>]--;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tr-TR" dirty="0"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1/20/2023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Sercan KÜLCÜ, Tanenbaum, Modern Operating Systems 3e kitabından faydalanılmıştır. Tüm hakları saklıdır.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624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SRTN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Süreç</a:t>
            </a:r>
            <a:r>
              <a:rPr lang="en-US" b="1" dirty="0"/>
              <a:t>	</a:t>
            </a:r>
            <a:r>
              <a:rPr lang="tr-TR" b="1" dirty="0"/>
              <a:t>	Geliş süresi 		Servis süresi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P1</a:t>
            </a:r>
            <a:r>
              <a:rPr lang="tr-TR" dirty="0"/>
              <a:t>		0			8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P2</a:t>
            </a:r>
            <a:r>
              <a:rPr lang="tr-TR" dirty="0"/>
              <a:t>		1			4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P3	</a:t>
            </a:r>
            <a:r>
              <a:rPr lang="tr-TR" dirty="0"/>
              <a:t>	2</a:t>
            </a:r>
            <a:r>
              <a:rPr lang="en-US" dirty="0"/>
              <a:t> </a:t>
            </a:r>
            <a:r>
              <a:rPr lang="tr-TR" dirty="0"/>
              <a:t>			9</a:t>
            </a:r>
          </a:p>
          <a:p>
            <a:pPr marL="0" indent="0">
              <a:buNone/>
            </a:pPr>
            <a:r>
              <a:rPr lang="tr-TR" dirty="0"/>
              <a:t>P4		3			5</a:t>
            </a:r>
          </a:p>
          <a:p>
            <a:r>
              <a:rPr lang="tr-TR" dirty="0"/>
              <a:t>Başlama süresi:</a:t>
            </a:r>
            <a:r>
              <a:rPr lang="en-US" dirty="0"/>
              <a:t> P1 = </a:t>
            </a:r>
            <a:r>
              <a:rPr lang="tr-TR" dirty="0"/>
              <a:t>10</a:t>
            </a:r>
            <a:r>
              <a:rPr lang="en-US" dirty="0"/>
              <a:t>; P2 = </a:t>
            </a:r>
            <a:r>
              <a:rPr lang="tr-TR" dirty="0"/>
              <a:t>1</a:t>
            </a:r>
            <a:r>
              <a:rPr lang="en-US" dirty="0"/>
              <a:t>; P3 = </a:t>
            </a:r>
            <a:r>
              <a:rPr lang="tr-TR" dirty="0"/>
              <a:t>17; P4 = 5</a:t>
            </a:r>
            <a:endParaRPr lang="en-US" dirty="0"/>
          </a:p>
          <a:p>
            <a:r>
              <a:rPr lang="tr-TR" dirty="0"/>
              <a:t>Ortalama bekleme süresi</a:t>
            </a:r>
            <a:r>
              <a:rPr lang="en-US" dirty="0"/>
              <a:t>:  </a:t>
            </a:r>
            <a:r>
              <a:rPr lang="tr-TR" dirty="0"/>
              <a:t>[</a:t>
            </a:r>
            <a:r>
              <a:rPr lang="en-US" dirty="0"/>
              <a:t>(</a:t>
            </a:r>
            <a:r>
              <a:rPr lang="tr-TR" dirty="0"/>
              <a:t>10-1</a:t>
            </a:r>
            <a:r>
              <a:rPr lang="en-US" dirty="0"/>
              <a:t>)</a:t>
            </a:r>
            <a:r>
              <a:rPr lang="tr-TR" dirty="0"/>
              <a:t>+(1-1)+(17-2)+(5-3)] </a:t>
            </a:r>
            <a:r>
              <a:rPr lang="en-US" dirty="0"/>
              <a:t>/</a:t>
            </a:r>
            <a:r>
              <a:rPr lang="tr-TR" dirty="0"/>
              <a:t> 4</a:t>
            </a:r>
            <a:r>
              <a:rPr lang="en-US" dirty="0"/>
              <a:t> = </a:t>
            </a:r>
            <a:r>
              <a:rPr lang="tr-TR" dirty="0"/>
              <a:t>6.5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100802A9-2833-4519-B21E-A1B2D0AF9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131" y="5199063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439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Her algoritmada, CPU tahsisi farklı kriterlere göre belirlenir.</a:t>
            </a:r>
          </a:p>
          <a:p>
            <a:r>
              <a:rPr lang="tr-TR" dirty="0"/>
              <a:t>FCFS ve SJF kesmeli değildir, (</a:t>
            </a:r>
            <a:r>
              <a:rPr lang="tr-TR" dirty="0" err="1"/>
              <a:t>non-</a:t>
            </a:r>
            <a:r>
              <a:rPr lang="tr-TR" i="1" dirty="0" err="1"/>
              <a:t>preemptive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Bir süreç başlatıldıktan sonra tamamlanıncaya kadar devam eder.</a:t>
            </a:r>
          </a:p>
          <a:p>
            <a:r>
              <a:rPr lang="tr-TR" dirty="0"/>
              <a:t>SRTN, kalan yürütme süreleri değiştikçe,</a:t>
            </a:r>
          </a:p>
          <a:p>
            <a:pPr lvl="1"/>
            <a:r>
              <a:rPr lang="tr-TR" dirty="0"/>
              <a:t>Süreçler arasında geçiş yapılmasına izin verir. (</a:t>
            </a:r>
            <a:r>
              <a:rPr lang="tr-TR" i="1" dirty="0" err="1"/>
              <a:t>preemptive</a:t>
            </a:r>
            <a:r>
              <a:rPr lang="tr-TR" dirty="0"/>
              <a:t>)</a:t>
            </a:r>
          </a:p>
          <a:p>
            <a:r>
              <a:rPr lang="tr-TR" dirty="0"/>
              <a:t>Algoritma seçimi, </a:t>
            </a:r>
          </a:p>
          <a:p>
            <a:pPr lvl="1"/>
            <a:r>
              <a:rPr lang="tr-TR" dirty="0"/>
              <a:t>İşletim sistemine ve </a:t>
            </a:r>
          </a:p>
          <a:p>
            <a:pPr lvl="1"/>
            <a:r>
              <a:rPr lang="tr-TR" dirty="0"/>
              <a:t>Üzerinde çalıştığı sistemin gereksinimlerine bağlıdır.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36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İnteraktif Sistemlerde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Sıralı (</a:t>
            </a:r>
            <a:r>
              <a:rPr lang="tr-TR" i="1" dirty="0" err="1"/>
              <a:t>Round-robin</a:t>
            </a:r>
            <a:r>
              <a:rPr lang="tr-TR" i="1" dirty="0"/>
              <a:t> </a:t>
            </a:r>
            <a:r>
              <a:rPr lang="tr-TR" i="1" dirty="0" err="1"/>
              <a:t>scheduling</a:t>
            </a:r>
            <a:r>
              <a:rPr lang="tr-TR" dirty="0"/>
              <a:t>)</a:t>
            </a:r>
          </a:p>
          <a:p>
            <a:r>
              <a:rPr lang="tr-TR" dirty="0"/>
              <a:t>Önceliğe göre (</a:t>
            </a:r>
            <a:r>
              <a:rPr lang="tr-TR" i="1" dirty="0" err="1"/>
              <a:t>Priority</a:t>
            </a:r>
            <a:r>
              <a:rPr lang="tr-TR" i="1" dirty="0"/>
              <a:t> </a:t>
            </a:r>
            <a:r>
              <a:rPr lang="tr-TR" i="1" dirty="0" err="1"/>
              <a:t>scheduling</a:t>
            </a:r>
            <a:r>
              <a:rPr lang="tr-TR" dirty="0"/>
              <a:t>)</a:t>
            </a:r>
          </a:p>
          <a:p>
            <a:r>
              <a:rPr lang="tr-TR" dirty="0"/>
              <a:t>Çoklu kuyruk (</a:t>
            </a:r>
            <a:r>
              <a:rPr lang="tr-TR" i="1" dirty="0" err="1"/>
              <a:t>Multiple</a:t>
            </a:r>
            <a:r>
              <a:rPr lang="tr-TR" i="1" dirty="0"/>
              <a:t> </a:t>
            </a:r>
            <a:r>
              <a:rPr lang="tr-TR" i="1" dirty="0" err="1"/>
              <a:t>queues</a:t>
            </a:r>
            <a:r>
              <a:rPr lang="tr-TR" dirty="0"/>
              <a:t>)</a:t>
            </a:r>
          </a:p>
          <a:p>
            <a:r>
              <a:rPr lang="tr-TR" dirty="0"/>
              <a:t>En kısa süreç önce (</a:t>
            </a:r>
            <a:r>
              <a:rPr lang="tr-TR" i="1" dirty="0" err="1"/>
              <a:t>Shortest</a:t>
            </a:r>
            <a:r>
              <a:rPr lang="tr-TR" i="1" dirty="0"/>
              <a:t> 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next</a:t>
            </a:r>
            <a:r>
              <a:rPr lang="tr-TR" dirty="0"/>
              <a:t>)</a:t>
            </a:r>
          </a:p>
          <a:p>
            <a:r>
              <a:rPr lang="tr-TR" dirty="0"/>
              <a:t>Garantili (</a:t>
            </a:r>
            <a:r>
              <a:rPr lang="tr-TR" i="1" dirty="0" err="1"/>
              <a:t>Guaranteed</a:t>
            </a:r>
            <a:r>
              <a:rPr lang="tr-TR" i="1" dirty="0"/>
              <a:t> </a:t>
            </a:r>
            <a:r>
              <a:rPr lang="tr-TR" i="1" dirty="0" err="1"/>
              <a:t>scheduling</a:t>
            </a:r>
            <a:r>
              <a:rPr lang="tr-TR" dirty="0"/>
              <a:t>)</a:t>
            </a:r>
          </a:p>
          <a:p>
            <a:r>
              <a:rPr lang="tr-TR" dirty="0"/>
              <a:t>Piyango (</a:t>
            </a:r>
            <a:r>
              <a:rPr lang="tr-TR" i="1" dirty="0" err="1"/>
              <a:t>Lottery</a:t>
            </a:r>
            <a:r>
              <a:rPr lang="tr-TR" i="1" dirty="0"/>
              <a:t> </a:t>
            </a:r>
            <a:r>
              <a:rPr lang="tr-TR" i="1" dirty="0" err="1"/>
              <a:t>scheduling</a:t>
            </a:r>
            <a:r>
              <a:rPr lang="tr-TR" dirty="0"/>
              <a:t>)</a:t>
            </a:r>
          </a:p>
          <a:p>
            <a:r>
              <a:rPr lang="tr-TR" dirty="0"/>
              <a:t>Adil paylaşım (</a:t>
            </a:r>
            <a:r>
              <a:rPr lang="tr-TR" i="1" dirty="0" err="1"/>
              <a:t>Fair-share</a:t>
            </a:r>
            <a:r>
              <a:rPr lang="tr-TR" i="1" dirty="0"/>
              <a:t> </a:t>
            </a:r>
            <a:r>
              <a:rPr lang="tr-TR" i="1" dirty="0" err="1"/>
              <a:t>scheduling</a:t>
            </a:r>
            <a:r>
              <a:rPr lang="tr-TR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883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Sıralı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 döngüsel bir sırada yürütülür.</a:t>
            </a:r>
          </a:p>
          <a:p>
            <a:r>
              <a:rPr lang="tr-TR" dirty="0"/>
              <a:t>Sırası gelen sabit bir zaman diliminde (</a:t>
            </a:r>
            <a:r>
              <a:rPr lang="tr-TR" i="1" dirty="0"/>
              <a:t>time </a:t>
            </a:r>
            <a:r>
              <a:rPr lang="tr-TR" i="1" dirty="0" err="1"/>
              <a:t>quantum</a:t>
            </a:r>
            <a:r>
              <a:rPr lang="tr-TR" dirty="0"/>
              <a:t>) işlemciyi kullanır.</a:t>
            </a:r>
          </a:p>
          <a:p>
            <a:r>
              <a:rPr lang="tr-TR" dirty="0"/>
              <a:t>Uygulaması basit.</a:t>
            </a:r>
          </a:p>
          <a:p>
            <a:r>
              <a:rPr lang="tr-TR" dirty="0"/>
              <a:t>Hem G/Ç'ye bağlı hem de CPU'ya bağlı süreçleri etkili bir şekilde yönetir.</a:t>
            </a:r>
          </a:p>
          <a:p>
            <a:r>
              <a:rPr lang="tr-TR" dirty="0"/>
              <a:t>Zaman diliminin, bağlam anahtarlama süresinden büyük olması gerekir.</a:t>
            </a:r>
          </a:p>
          <a:p>
            <a:r>
              <a:rPr lang="tr-TR" dirty="0"/>
              <a:t>Zaman diliminin çok küçük olması durumunda,</a:t>
            </a:r>
          </a:p>
          <a:p>
            <a:pPr lvl="1"/>
            <a:r>
              <a:rPr lang="tr-TR" dirty="0"/>
              <a:t>Yüksek ek maliyet ve uzun yanıt süresine neden olabilir.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602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Sıralı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457200" indent="-457200">
              <a:buAutoNum type="alphaLcParenBoth"/>
            </a:pPr>
            <a:r>
              <a:rPr lang="tr-TR" dirty="0"/>
              <a:t>Çalıştırılabilir süreçlerin listesi. </a:t>
            </a:r>
          </a:p>
          <a:p>
            <a:pPr marL="457200" indent="-457200">
              <a:buAutoNum type="alphaLcParenBoth"/>
            </a:pPr>
            <a:r>
              <a:rPr lang="tr-TR" dirty="0"/>
              <a:t>B süreci, zaman dilimini (</a:t>
            </a:r>
            <a:r>
              <a:rPr lang="tr-TR" i="1" dirty="0" err="1"/>
              <a:t>quantum</a:t>
            </a:r>
            <a:r>
              <a:rPr lang="tr-TR" dirty="0"/>
              <a:t>) kullandıktan sonra süreçlerin listesi.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" name="Picture 7" descr="02-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252" y="3442516"/>
            <a:ext cx="9701495" cy="18610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5770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Sıralı Çizelgeleme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Zaman dilimi = 20 </a:t>
            </a:r>
            <a:r>
              <a:rPr lang="tr-TR" i="1" dirty="0" err="1"/>
              <a:t>ms</a:t>
            </a:r>
            <a:endParaRPr lang="tr-TR" i="1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Gantt</a:t>
            </a:r>
            <a:r>
              <a:rPr lang="tr-TR" dirty="0"/>
              <a:t> çizelgesi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SJF’den</a:t>
            </a:r>
            <a:r>
              <a:rPr lang="tr-TR" dirty="0"/>
              <a:t> yüksek geri dönüş süresi, daha iyi yanıt (</a:t>
            </a:r>
            <a:r>
              <a:rPr lang="tr-TR" i="1" dirty="0" err="1"/>
              <a:t>response</a:t>
            </a:r>
            <a:r>
              <a:rPr lang="tr-TR" dirty="0"/>
              <a:t>) süresi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474834"/>
              </p:ext>
            </p:extLst>
          </p:nvPr>
        </p:nvGraphicFramePr>
        <p:xfrm>
          <a:off x="1387883" y="4394455"/>
          <a:ext cx="8128000" cy="74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652818"/>
              </p:ext>
            </p:extLst>
          </p:nvPr>
        </p:nvGraphicFramePr>
        <p:xfrm>
          <a:off x="1352731" y="2561529"/>
          <a:ext cx="8128000" cy="741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Süreç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b="0" dirty="0"/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b="1" dirty="0"/>
                        <a:t>Süre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687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Sıralı Çizelgeleme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Süreç	</a:t>
            </a:r>
            <a:r>
              <a:rPr lang="en-US" b="1" dirty="0"/>
              <a:t>	</a:t>
            </a:r>
            <a:r>
              <a:rPr lang="tr-TR" b="1" dirty="0"/>
              <a:t>Servis süresi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P1	</a:t>
            </a:r>
            <a:r>
              <a:rPr lang="tr-TR" dirty="0"/>
              <a:t>	</a:t>
            </a:r>
            <a:r>
              <a:rPr lang="en-US" dirty="0"/>
              <a:t>24</a:t>
            </a:r>
          </a:p>
          <a:p>
            <a:pPr marL="0" indent="0">
              <a:buNone/>
            </a:pPr>
            <a:r>
              <a:rPr lang="en-US" dirty="0"/>
              <a:t>P2	 </a:t>
            </a:r>
            <a:r>
              <a:rPr lang="tr-TR" dirty="0"/>
              <a:t>	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P3	</a:t>
            </a:r>
            <a:r>
              <a:rPr lang="tr-TR" dirty="0"/>
              <a:t>	</a:t>
            </a:r>
            <a:r>
              <a:rPr lang="en-US" dirty="0"/>
              <a:t>3</a:t>
            </a:r>
            <a:endParaRPr lang="tr-TR" dirty="0"/>
          </a:p>
          <a:p>
            <a:r>
              <a:rPr lang="tr-TR" dirty="0"/>
              <a:t>Zaman dilimi = 4 </a:t>
            </a:r>
            <a:r>
              <a:rPr lang="tr-TR" i="1" dirty="0" err="1"/>
              <a:t>ms</a:t>
            </a:r>
            <a:endParaRPr lang="tr-TR" i="1" dirty="0"/>
          </a:p>
          <a:p>
            <a:r>
              <a:rPr lang="tr-TR" dirty="0" err="1"/>
              <a:t>Gantt</a:t>
            </a:r>
            <a:r>
              <a:rPr lang="tr-TR" dirty="0"/>
              <a:t> çizelgesi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78" y="4694756"/>
            <a:ext cx="6773243" cy="7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64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Bağlam Anahtarlama (</a:t>
            </a:r>
            <a:r>
              <a:rPr lang="tr-TR" dirty="0" err="1"/>
              <a:t>context</a:t>
            </a:r>
            <a:r>
              <a:rPr lang="tr-TR" dirty="0"/>
              <a:t> </a:t>
            </a:r>
            <a:r>
              <a:rPr lang="tr-TR" dirty="0" err="1"/>
              <a:t>switch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Sıralı çizelgelemenin performansı seçilen zaman dilimine bağlıdır.</a:t>
            </a:r>
          </a:p>
          <a:p>
            <a:r>
              <a:rPr lang="tr-TR" dirty="0"/>
              <a:t>Zaman dilimi, çok büyük ise,</a:t>
            </a:r>
          </a:p>
          <a:p>
            <a:pPr lvl="1"/>
            <a:r>
              <a:rPr lang="tr-TR" dirty="0"/>
              <a:t>FCFS algoritmasına benzer.</a:t>
            </a:r>
          </a:p>
          <a:p>
            <a:r>
              <a:rPr lang="tr-TR" dirty="0"/>
              <a:t>Çok küçük ise</a:t>
            </a:r>
          </a:p>
          <a:p>
            <a:pPr lvl="1"/>
            <a:r>
              <a:rPr lang="tr-TR" dirty="0"/>
              <a:t>Bağlam anahtarlama sık olur, </a:t>
            </a:r>
          </a:p>
          <a:p>
            <a:pPr lvl="1"/>
            <a:r>
              <a:rPr lang="tr-TR" dirty="0"/>
              <a:t>Yüksek ek maliyet, </a:t>
            </a:r>
          </a:p>
          <a:p>
            <a:pPr lvl="1"/>
            <a:r>
              <a:rPr lang="tr-TR" dirty="0"/>
              <a:t>Verimsiz CPU kullanımı</a:t>
            </a:r>
          </a:p>
          <a:p>
            <a:r>
              <a:rPr lang="tr-TR" dirty="0"/>
              <a:t>Bağlam anahtarlama maliyetinden büyük olmalıdır.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857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Bağlam Anahtarlama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Zaman dilimi 4 </a:t>
            </a:r>
            <a:r>
              <a:rPr lang="tr-TR" i="1" dirty="0" err="1"/>
              <a:t>ms</a:t>
            </a:r>
            <a:r>
              <a:rPr lang="tr-TR" i="1" dirty="0"/>
              <a:t>,</a:t>
            </a:r>
            <a:r>
              <a:rPr lang="tr-TR" dirty="0"/>
              <a:t> bağlam anahtarlama 1 </a:t>
            </a:r>
            <a:r>
              <a:rPr lang="tr-TR" i="1" dirty="0" err="1"/>
              <a:t>ms</a:t>
            </a:r>
            <a:r>
              <a:rPr lang="tr-TR" dirty="0"/>
              <a:t> ise,</a:t>
            </a:r>
          </a:p>
          <a:p>
            <a:pPr lvl="1"/>
            <a:r>
              <a:rPr lang="tr-TR" dirty="0"/>
              <a:t>İşlemcinin %20 zamanı boşa gider.</a:t>
            </a:r>
          </a:p>
          <a:p>
            <a:r>
              <a:rPr lang="tr-TR" dirty="0"/>
              <a:t>Zaman dilimi 100 </a:t>
            </a:r>
            <a:r>
              <a:rPr lang="tr-TR" i="1" dirty="0" err="1"/>
              <a:t>ms</a:t>
            </a:r>
            <a:r>
              <a:rPr lang="tr-TR" dirty="0"/>
              <a:t> ise, boşa harcanan zaman %1'dir, </a:t>
            </a:r>
          </a:p>
          <a:p>
            <a:pPr lvl="1"/>
            <a:r>
              <a:rPr lang="tr-TR" dirty="0"/>
              <a:t>Ancak sistem daha az duyarlı olur.</a:t>
            </a:r>
          </a:p>
          <a:p>
            <a:r>
              <a:rPr lang="tr-TR" dirty="0"/>
              <a:t>Zaman dilimini 20-50 </a:t>
            </a:r>
            <a:r>
              <a:rPr lang="tr-TR" i="1" dirty="0" err="1"/>
              <a:t>ms</a:t>
            </a:r>
            <a:r>
              <a:rPr lang="tr-TR" dirty="0"/>
              <a:t> civarında seçmek uygundur.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861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Bağlam Anahtarlama ve Zaman Dilimi (</a:t>
            </a:r>
            <a:r>
              <a:rPr lang="tr-TR" dirty="0" err="1"/>
              <a:t>quantum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3018707B-932C-4506-B190-526E13C48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2286248"/>
            <a:ext cx="8640000" cy="3609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7760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Kuantuma Göre Dönüş Süreleri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q arttıkça dönüş süresi iyileşir mi?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743638"/>
              </p:ext>
            </p:extLst>
          </p:nvPr>
        </p:nvGraphicFramePr>
        <p:xfrm>
          <a:off x="2718058" y="3259138"/>
          <a:ext cx="3297238" cy="309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77479" imgH="2422665" progId="Visio.Drawing.11">
                  <p:embed/>
                </p:oleObj>
              </mc:Choice>
              <mc:Fallback>
                <p:oleObj name="Visio" r:id="rId2" imgW="2577479" imgH="242266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058" y="3259138"/>
                        <a:ext cx="3297238" cy="309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865162"/>
              </p:ext>
            </p:extLst>
          </p:nvPr>
        </p:nvGraphicFramePr>
        <p:xfrm>
          <a:off x="6155556" y="2037806"/>
          <a:ext cx="5821965" cy="4102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541926" imgH="3201031" progId="Visio.Drawing.11">
                  <p:embed/>
                </p:oleObj>
              </mc:Choice>
              <mc:Fallback>
                <p:oleObj name="Visio" r:id="rId4" imgW="4541926" imgH="320103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556" y="2037806"/>
                        <a:ext cx="5821965" cy="4102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41" y="4165625"/>
            <a:ext cx="1740557" cy="192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833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Önceliğe Göre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 önceliğine göre sayısal değerler ile ilişkilendirilir.</a:t>
            </a:r>
          </a:p>
          <a:p>
            <a:r>
              <a:rPr lang="tr-TR" dirty="0"/>
              <a:t>Süreçler önceliğe göre sırayla yürütülür, </a:t>
            </a:r>
          </a:p>
          <a:p>
            <a:pPr lvl="1"/>
            <a:r>
              <a:rPr lang="tr-TR" dirty="0"/>
              <a:t>Yüksek öncelikli süreç daha önce.</a:t>
            </a:r>
          </a:p>
          <a:p>
            <a:r>
              <a:rPr lang="tr-TR" dirty="0"/>
              <a:t>Önemli süreçlere öncelik sağlar, genel sistem yanıt verebilirliğini artırır.</a:t>
            </a:r>
          </a:p>
          <a:p>
            <a:r>
              <a:rPr lang="tr-TR" dirty="0"/>
              <a:t>Açlığa (</a:t>
            </a:r>
            <a:r>
              <a:rPr lang="tr-TR" i="1" dirty="0" err="1"/>
              <a:t>starvation</a:t>
            </a:r>
            <a:r>
              <a:rPr lang="tr-TR" dirty="0"/>
              <a:t>) neden olabilir.</a:t>
            </a:r>
          </a:p>
          <a:p>
            <a:pPr lvl="1"/>
            <a:r>
              <a:rPr lang="tr-TR" dirty="0"/>
              <a:t>Düşük öncelikli süreçlere hiç sıra gelmeyebilir.</a:t>
            </a:r>
          </a:p>
          <a:p>
            <a:r>
              <a:rPr lang="tr-TR" dirty="0"/>
              <a:t>Bunu önlemek için yaşlanma (</a:t>
            </a:r>
            <a:r>
              <a:rPr lang="tr-TR" i="1" dirty="0" err="1"/>
              <a:t>aging</a:t>
            </a:r>
            <a:r>
              <a:rPr lang="tr-TR" dirty="0"/>
              <a:t>) mekanizması.</a:t>
            </a:r>
          </a:p>
          <a:p>
            <a:pPr lvl="1"/>
            <a:r>
              <a:rPr lang="tr-TR" dirty="0"/>
              <a:t>Bekleyen süreçlerin önceliği zamanla arttırılır.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90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Önceliğe Göre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sürecin önceliğinin sayısal bir karşılığı vardır.</a:t>
            </a:r>
          </a:p>
          <a:p>
            <a:r>
              <a:rPr lang="tr-TR" dirty="0"/>
              <a:t>Tüm süreçlerin öncelikleri eşit ise, FCFS gibi davranır.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4" name="Picture 6" descr="D:\b\b4\IBM\02-4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2936334"/>
            <a:ext cx="7448550" cy="31686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787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Önceliğe Göre Çizelgeleme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Süreç</a:t>
            </a:r>
            <a:r>
              <a:rPr lang="en-US" b="1" dirty="0"/>
              <a:t>	</a:t>
            </a:r>
            <a:r>
              <a:rPr lang="tr-TR" b="1" dirty="0"/>
              <a:t>	Servis süresi	Öncelik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P1	</a:t>
            </a:r>
            <a:r>
              <a:rPr lang="tr-TR" dirty="0"/>
              <a:t>	</a:t>
            </a:r>
            <a:r>
              <a:rPr lang="en-US" dirty="0"/>
              <a:t>10	</a:t>
            </a:r>
            <a:r>
              <a:rPr lang="tr-TR" dirty="0"/>
              <a:t>		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P2 	</a:t>
            </a:r>
            <a:r>
              <a:rPr lang="tr-TR" dirty="0"/>
              <a:t>	</a:t>
            </a:r>
            <a:r>
              <a:rPr lang="en-US" dirty="0"/>
              <a:t>1	</a:t>
            </a:r>
            <a:r>
              <a:rPr lang="tr-TR" dirty="0"/>
              <a:t>		</a:t>
            </a:r>
            <a:r>
              <a:rPr lang="en-US" dirty="0"/>
              <a:t>1</a:t>
            </a:r>
          </a:p>
          <a:p>
            <a:pPr marL="0" indent="0">
              <a:buNone/>
            </a:pPr>
            <a:r>
              <a:rPr lang="en-US" dirty="0"/>
              <a:t>P3	</a:t>
            </a:r>
            <a:r>
              <a:rPr lang="tr-TR" dirty="0"/>
              <a:t>	</a:t>
            </a:r>
            <a:r>
              <a:rPr lang="en-US" dirty="0"/>
              <a:t>2	</a:t>
            </a:r>
            <a:r>
              <a:rPr lang="tr-TR" dirty="0"/>
              <a:t>		</a:t>
            </a:r>
            <a:r>
              <a:rPr lang="en-US" dirty="0"/>
              <a:t>4</a:t>
            </a:r>
          </a:p>
          <a:p>
            <a:pPr marL="0" indent="0">
              <a:buNone/>
            </a:pPr>
            <a:r>
              <a:rPr lang="en-US" dirty="0"/>
              <a:t>P4	</a:t>
            </a:r>
            <a:r>
              <a:rPr lang="tr-TR" dirty="0"/>
              <a:t>	</a:t>
            </a:r>
            <a:r>
              <a:rPr lang="en-US" dirty="0"/>
              <a:t>1	</a:t>
            </a:r>
            <a:r>
              <a:rPr lang="tr-TR" dirty="0"/>
              <a:t>		</a:t>
            </a: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P5	</a:t>
            </a:r>
            <a:r>
              <a:rPr lang="tr-TR" dirty="0"/>
              <a:t>	</a:t>
            </a:r>
            <a:r>
              <a:rPr lang="en-US" dirty="0"/>
              <a:t>5	</a:t>
            </a:r>
            <a:r>
              <a:rPr lang="tr-TR" dirty="0"/>
              <a:t>		</a:t>
            </a:r>
            <a:r>
              <a:rPr lang="en-US" dirty="0"/>
              <a:t>2</a:t>
            </a:r>
          </a:p>
          <a:p>
            <a:r>
              <a:rPr lang="tr-TR" dirty="0" err="1"/>
              <a:t>Gantt</a:t>
            </a:r>
            <a:r>
              <a:rPr lang="tr-TR" dirty="0"/>
              <a:t> çizelgesi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Ortalama bekleme süresi: 8.2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A77EE5E1-F152-4172-9935-567FC2AB9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2" y="5014504"/>
            <a:ext cx="6467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0478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Önceliğe Göre ve Sıralı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Süreç</a:t>
            </a:r>
            <a:r>
              <a:rPr lang="en-US" b="1" dirty="0"/>
              <a:t>	</a:t>
            </a:r>
            <a:r>
              <a:rPr lang="tr-TR" b="1" dirty="0"/>
              <a:t>	Servis süresi	Öncelik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P1	</a:t>
            </a:r>
            <a:r>
              <a:rPr lang="tr-TR" dirty="0"/>
              <a:t>	4</a:t>
            </a:r>
            <a:r>
              <a:rPr lang="en-US" dirty="0"/>
              <a:t>	</a:t>
            </a:r>
            <a:r>
              <a:rPr lang="tr-TR" dirty="0"/>
              <a:t>		</a:t>
            </a: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P2 	</a:t>
            </a:r>
            <a:r>
              <a:rPr lang="tr-TR" dirty="0"/>
              <a:t>	5</a:t>
            </a:r>
            <a:r>
              <a:rPr lang="en-US" dirty="0"/>
              <a:t>	</a:t>
            </a:r>
            <a:r>
              <a:rPr lang="tr-TR" dirty="0"/>
              <a:t>		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P3	</a:t>
            </a:r>
            <a:r>
              <a:rPr lang="tr-TR" dirty="0"/>
              <a:t>	8</a:t>
            </a:r>
            <a:r>
              <a:rPr lang="en-US" dirty="0"/>
              <a:t>	</a:t>
            </a:r>
            <a:r>
              <a:rPr lang="tr-TR" dirty="0"/>
              <a:t>		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P4	</a:t>
            </a:r>
            <a:r>
              <a:rPr lang="tr-TR" dirty="0"/>
              <a:t>	7</a:t>
            </a:r>
            <a:r>
              <a:rPr lang="en-US" dirty="0"/>
              <a:t>	</a:t>
            </a:r>
            <a:r>
              <a:rPr lang="tr-TR" dirty="0"/>
              <a:t>		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P5	</a:t>
            </a:r>
            <a:r>
              <a:rPr lang="tr-TR" dirty="0"/>
              <a:t>	3</a:t>
            </a:r>
            <a:r>
              <a:rPr lang="en-US" dirty="0"/>
              <a:t>	</a:t>
            </a:r>
            <a:r>
              <a:rPr lang="tr-TR" dirty="0"/>
              <a:t>		3</a:t>
            </a:r>
            <a:endParaRPr lang="en-US" dirty="0"/>
          </a:p>
          <a:p>
            <a:r>
              <a:rPr lang="tr-TR" dirty="0" err="1"/>
              <a:t>Gantt</a:t>
            </a:r>
            <a:r>
              <a:rPr lang="tr-TR" dirty="0"/>
              <a:t> çizelgesi (kuantum = 2)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776F08C-5E1F-44C8-AB6B-D21CDC72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537" y="5201929"/>
            <a:ext cx="6200925" cy="724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0175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Kuyrukta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 önceliklerine göre ayrı kuyruklara yerleştirilir.</a:t>
            </a:r>
          </a:p>
          <a:p>
            <a:r>
              <a:rPr lang="tr-TR" dirty="0"/>
              <a:t>Önceliği ve yaşlanmayı yönetir, </a:t>
            </a:r>
          </a:p>
          <a:p>
            <a:pPr lvl="1"/>
            <a:r>
              <a:rPr lang="tr-TR" dirty="0"/>
              <a:t>Ek yükü azaltarak sistem performansını artırır.</a:t>
            </a:r>
          </a:p>
          <a:p>
            <a:r>
              <a:rPr lang="tr-TR" dirty="0"/>
              <a:t>Uygulaması karmaşıktır, </a:t>
            </a:r>
          </a:p>
          <a:p>
            <a:pPr lvl="1"/>
            <a:r>
              <a:rPr lang="tr-TR" dirty="0"/>
              <a:t>Sıra değişiklikleri nedeniyle yüksek yanıt süresine neden olabilir.</a:t>
            </a:r>
          </a:p>
          <a:p>
            <a:r>
              <a:rPr lang="tr-TR" dirty="0"/>
              <a:t>CPU'ya bağlı sürece büyük zaman dilimi (</a:t>
            </a:r>
            <a:r>
              <a:rPr lang="tr-TR" i="1" dirty="0" err="1"/>
              <a:t>quantum</a:t>
            </a:r>
            <a:r>
              <a:rPr lang="tr-TR" dirty="0"/>
              <a:t>) verilir.</a:t>
            </a:r>
          </a:p>
          <a:p>
            <a:r>
              <a:rPr lang="tr-TR" dirty="0"/>
              <a:t>Etkileşimli sürece küçük zaman dilimi (</a:t>
            </a:r>
            <a:r>
              <a:rPr lang="tr-TR" i="1" dirty="0" err="1"/>
              <a:t>quantum</a:t>
            </a:r>
            <a:r>
              <a:rPr lang="tr-TR" dirty="0"/>
              <a:t>) verilir.</a:t>
            </a:r>
          </a:p>
          <a:p>
            <a:r>
              <a:rPr lang="tr-TR" dirty="0"/>
              <a:t>Yüksek öncelikli kuyruktakiler bir zaman dilimi koşar,</a:t>
            </a:r>
          </a:p>
          <a:p>
            <a:pPr lvl="1"/>
            <a:r>
              <a:rPr lang="tr-TR" dirty="0"/>
              <a:t>Bir sonraki kuyruktakiler iki zaman dilimi koşar... </a:t>
            </a:r>
          </a:p>
          <a:p>
            <a:pPr lvl="1"/>
            <a:r>
              <a:rPr lang="tr-TR" dirty="0"/>
              <a:t>Bir süreç koştuktan sonra, sonraki kuyruğa taşınır.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8464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Kuyrukta Çizelgeleme Örnek Senaryo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Üç kuyruk:</a:t>
            </a:r>
          </a:p>
          <a:p>
            <a:pPr lvl="1"/>
            <a:r>
              <a:rPr lang="tr-TR" b="1" dirty="0"/>
              <a:t>Queue0</a:t>
            </a:r>
            <a:r>
              <a:rPr lang="tr-TR" dirty="0"/>
              <a:t> – zaman dilimi 8 </a:t>
            </a:r>
            <a:r>
              <a:rPr lang="tr-TR" i="1" dirty="0" err="1"/>
              <a:t>ms</a:t>
            </a:r>
            <a:r>
              <a:rPr lang="tr-TR" dirty="0"/>
              <a:t>, FCFS</a:t>
            </a:r>
          </a:p>
          <a:p>
            <a:pPr lvl="1"/>
            <a:r>
              <a:rPr lang="tr-TR" b="1" dirty="0"/>
              <a:t>Queue1</a:t>
            </a:r>
            <a:r>
              <a:rPr lang="tr-TR" dirty="0"/>
              <a:t> – zaman dilimi 16 </a:t>
            </a:r>
            <a:r>
              <a:rPr lang="tr-TR" i="1" dirty="0" err="1"/>
              <a:t>ms</a:t>
            </a:r>
            <a:r>
              <a:rPr lang="tr-TR" dirty="0"/>
              <a:t>, FCFS</a:t>
            </a:r>
          </a:p>
          <a:p>
            <a:pPr lvl="1"/>
            <a:r>
              <a:rPr lang="tr-TR" b="1" dirty="0"/>
              <a:t>Queue2</a:t>
            </a:r>
            <a:r>
              <a:rPr lang="tr-TR" dirty="0"/>
              <a:t> – FCFS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" t="12209" r="537" b="12032"/>
          <a:stretch>
            <a:fillRect/>
          </a:stretch>
        </p:blipFill>
        <p:spPr bwMode="auto">
          <a:xfrm>
            <a:off x="4740812" y="3448050"/>
            <a:ext cx="6612988" cy="27733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90854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Kuyrukta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öncelik düzeyi için farklı kuyruklar var.</a:t>
            </a:r>
          </a:p>
          <a:p>
            <a:r>
              <a:rPr lang="tr-TR" dirty="0"/>
              <a:t>Süreç koştuktan sonra farklı kuyruğa atanabilir.</a:t>
            </a:r>
          </a:p>
          <a:p>
            <a:r>
              <a:rPr lang="tr-TR" dirty="0"/>
              <a:t>Her düzeyde kullanılan algoritma değişebilir.</a:t>
            </a:r>
          </a:p>
          <a:p>
            <a:r>
              <a:rPr lang="tr-TR" dirty="0"/>
              <a:t>Terminalde her </a:t>
            </a:r>
            <a:r>
              <a:rPr lang="tr-TR" i="1" dirty="0" err="1"/>
              <a:t>enter</a:t>
            </a:r>
            <a:r>
              <a:rPr lang="tr-TR" i="1" dirty="0"/>
              <a:t> tuşu</a:t>
            </a:r>
            <a:r>
              <a:rPr lang="tr-TR" dirty="0"/>
              <a:t>na basıldığında</a:t>
            </a:r>
          </a:p>
          <a:p>
            <a:pPr marL="0" indent="0">
              <a:buNone/>
            </a:pPr>
            <a:r>
              <a:rPr lang="tr-TR" dirty="0"/>
              <a:t>terminale ait süreç en yüksek öncelik kuyruğa taşınır.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B29FEE3D-3750-4508-92A3-9B9E46FEC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467000"/>
            <a:ext cx="3073400" cy="3889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6586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Kuyrukta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E45EDF43-47DE-4E7F-B77E-5ED79D91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994" y="2049863"/>
            <a:ext cx="7068012" cy="37600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213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 Kısa Süreç Önce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sonraki adımda yürütülecek süreç, kalan sürelerine göre çizelgelenir.</a:t>
            </a:r>
          </a:p>
          <a:p>
            <a:r>
              <a:rPr lang="tr-TR" dirty="0"/>
              <a:t>CPU kullanımını en üst düzeye çıkarır.</a:t>
            </a:r>
          </a:p>
          <a:p>
            <a:r>
              <a:rPr lang="tr-TR" dirty="0"/>
              <a:t>Ortalama bekleme süresini azaltır.</a:t>
            </a:r>
          </a:p>
          <a:p>
            <a:r>
              <a:rPr lang="tr-TR" dirty="0"/>
              <a:t>Etkileşimli sistemlerde bir sürecin kalan süresini tahmin etmek zordur.</a:t>
            </a:r>
          </a:p>
          <a:p>
            <a:pPr lvl="1"/>
            <a:r>
              <a:rPr lang="tr-TR" dirty="0"/>
              <a:t>Geçmiş davranışlara dayalı olarak tahminde bulunulabilir.</a:t>
            </a:r>
          </a:p>
          <a:p>
            <a:pPr lvl="2"/>
            <a:r>
              <a:rPr lang="tr-TR" dirty="0"/>
              <a:t>T0, T0 / 2 + T1 / 2, T0 / 4 + T1 / 4 + T2 / 2..</a:t>
            </a:r>
          </a:p>
          <a:p>
            <a:pPr lvl="1"/>
            <a:r>
              <a:rPr lang="tr-TR" dirty="0"/>
              <a:t>Mevcut ve önceki tahminin ağırlıklı ortalaması alınabilir.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4488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Öncelik Ters Çevirme (</a:t>
            </a:r>
            <a:r>
              <a:rPr lang="tr-TR" dirty="0" err="1"/>
              <a:t>Priority</a:t>
            </a:r>
            <a:r>
              <a:rPr lang="tr-TR" dirty="0"/>
              <a:t> </a:t>
            </a:r>
            <a:r>
              <a:rPr lang="tr-TR" dirty="0" err="1"/>
              <a:t>Inversion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Düşük öncelikli bir süreç, bir kaynağı işgal etmişse, yüksek öncelikli bir süreç o kaynağı kullanamaz.</a:t>
            </a:r>
          </a:p>
          <a:p>
            <a:r>
              <a:rPr lang="tr-TR" dirty="0"/>
              <a:t>Yüksek öncelikli süreç, düşük öncelikli sürecin sonlanmasını bekler.</a:t>
            </a:r>
          </a:p>
          <a:p>
            <a:pPr lvl="1"/>
            <a:r>
              <a:rPr lang="tr-TR" dirty="0"/>
              <a:t>Düşük öncelikli süreç sistem kaynağına erişmiş olabilir.</a:t>
            </a:r>
          </a:p>
          <a:p>
            <a:pPr lvl="1"/>
            <a:r>
              <a:rPr lang="tr-TR" dirty="0"/>
              <a:t>Kritik bölgede olabilir.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860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Öncelik Ters Çevirme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Öncelik sıralaması: P1 &lt; PRT3 &lt; PRT2</a:t>
            </a:r>
          </a:p>
          <a:p>
            <a:r>
              <a:rPr lang="tr-TR" dirty="0"/>
              <a:t>PRT3, P1’i önler, önceliği yüksek.</a:t>
            </a:r>
          </a:p>
          <a:p>
            <a:r>
              <a:rPr lang="tr-TR" dirty="0"/>
              <a:t>PRT2, P1'i bekler, kaynağı P1 ele geçirmiş.</a:t>
            </a:r>
          </a:p>
          <a:p>
            <a:r>
              <a:rPr lang="tr-TR" dirty="0"/>
              <a:t>PRT2, PRT3'ü bekler.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424283"/>
              </p:ext>
            </p:extLst>
          </p:nvPr>
        </p:nvGraphicFramePr>
        <p:xfrm>
          <a:off x="7337155" y="2757268"/>
          <a:ext cx="4016645" cy="3037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477851" imgH="1117820" progId="Visio.Drawing.11">
                  <p:embed/>
                </p:oleObj>
              </mc:Choice>
              <mc:Fallback>
                <p:oleObj name="Visio" r:id="rId2" imgW="1477851" imgH="111782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7155" y="2757268"/>
                        <a:ext cx="4016645" cy="3037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0832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Garantili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Önceden belirlenmiş bir programa göre çizelgeleme yapar.</a:t>
            </a:r>
          </a:p>
          <a:p>
            <a:r>
              <a:rPr lang="tr-TR" dirty="0"/>
              <a:t>Gerçek zamanlı sistemler için uygun, öngörülebilir bir davranış sağlar.</a:t>
            </a:r>
          </a:p>
          <a:p>
            <a:r>
              <a:rPr lang="tr-TR" dirty="0"/>
              <a:t>Sınırlı esneklik, öngörülemeyen durumlarda düşük performans.</a:t>
            </a:r>
          </a:p>
          <a:p>
            <a:r>
              <a:rPr lang="tr-TR" dirty="0"/>
              <a:t>Katı gerçek zamanlıya karşı yumuşak gerçek zamanlı.</a:t>
            </a:r>
          </a:p>
          <a:p>
            <a:pPr lvl="1"/>
            <a:r>
              <a:rPr lang="tr-TR" dirty="0"/>
              <a:t>Katı: Bir fabrikada robot kontrolü (</a:t>
            </a:r>
            <a:r>
              <a:rPr lang="tr-TR" i="1" dirty="0"/>
              <a:t>hard </a:t>
            </a:r>
            <a:r>
              <a:rPr lang="tr-TR" i="1" dirty="0" err="1"/>
              <a:t>real</a:t>
            </a:r>
            <a:r>
              <a:rPr lang="tr-TR" i="1" dirty="0"/>
              <a:t> time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Yumuşak: CD çalar (</a:t>
            </a:r>
            <a:r>
              <a:rPr lang="tr-TR" i="1" dirty="0" err="1"/>
              <a:t>soft</a:t>
            </a:r>
            <a:r>
              <a:rPr lang="tr-TR" i="1" dirty="0"/>
              <a:t> </a:t>
            </a:r>
            <a:r>
              <a:rPr lang="tr-TR" i="1" dirty="0" err="1"/>
              <a:t>real</a:t>
            </a:r>
            <a:r>
              <a:rPr lang="tr-TR" i="1" dirty="0"/>
              <a:t> time</a:t>
            </a:r>
            <a:r>
              <a:rPr lang="tr-TR" dirty="0"/>
              <a:t>)</a:t>
            </a:r>
          </a:p>
          <a:p>
            <a:r>
              <a:rPr lang="tr-TR" dirty="0"/>
              <a:t>Algoritmalar, </a:t>
            </a:r>
          </a:p>
          <a:p>
            <a:pPr lvl="1"/>
            <a:r>
              <a:rPr lang="tr-TR" dirty="0"/>
              <a:t>statik (çalışma süreleri önceden bilinen) veya </a:t>
            </a:r>
          </a:p>
          <a:p>
            <a:pPr lvl="1"/>
            <a:r>
              <a:rPr lang="tr-TR" dirty="0"/>
              <a:t>dinamik (çalışma zamanı kararları) olabilir.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22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Piyango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Süreçlere bilet atanır ve yürütme için rastgele bir bilet seçilir.</a:t>
            </a:r>
          </a:p>
          <a:p>
            <a:r>
              <a:rPr lang="tr-TR" dirty="0"/>
              <a:t>İşlemci ataması için periyodik olarak çekiliş yapılır.</a:t>
            </a:r>
          </a:p>
          <a:p>
            <a:r>
              <a:rPr lang="tr-TR" dirty="0"/>
              <a:t>Önceliği ve yaşlandırmayı yönetir.</a:t>
            </a:r>
          </a:p>
          <a:p>
            <a:r>
              <a:rPr lang="tr-TR" dirty="0"/>
              <a:t>Ek maliyeti azaltır ve sistem performansını artırır.</a:t>
            </a:r>
          </a:p>
          <a:p>
            <a:r>
              <a:rPr lang="tr-TR" dirty="0"/>
              <a:t>Uygulanması karmaşık.</a:t>
            </a:r>
          </a:p>
          <a:p>
            <a:r>
              <a:rPr lang="tr-TR" dirty="0"/>
              <a:t>Dengesiz bilet dağılımı durumunda öngörülemez davranır.</a:t>
            </a:r>
          </a:p>
          <a:p>
            <a:r>
              <a:rPr lang="tr-TR" i="1" dirty="0"/>
              <a:t>Önemli</a:t>
            </a:r>
            <a:r>
              <a:rPr lang="tr-TR" dirty="0"/>
              <a:t> süreçler için fazla çekiliş hakkı tanınır.</a:t>
            </a:r>
          </a:p>
          <a:p>
            <a:pPr lvl="1"/>
            <a:r>
              <a:rPr lang="tr-TR" dirty="0"/>
              <a:t>Öncelikler bu şekilde değiştirilebilir.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08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Adil Paylaşım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Süreçler son kullanım geçmişlerine göre çizelgelenir.</a:t>
            </a:r>
          </a:p>
          <a:p>
            <a:r>
              <a:rPr lang="tr-TR" dirty="0"/>
              <a:t>Süreçler arasında kaynakları dengeler.</a:t>
            </a:r>
          </a:p>
          <a:p>
            <a:r>
              <a:rPr lang="tr-TR" dirty="0"/>
              <a:t>Genel sistem yanıt verebilirliğini artırır.</a:t>
            </a:r>
          </a:p>
          <a:p>
            <a:r>
              <a:rPr lang="tr-TR" dirty="0"/>
              <a:t>Kullanım geçmişlerinin izlenmesi, ek yüke neden olabilir.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83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Değerlendirme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Her algoritmanın kendi güçlü ve zayıf yönleri vardır.</a:t>
            </a:r>
          </a:p>
          <a:p>
            <a:r>
              <a:rPr lang="tr-TR" i="1" dirty="0" err="1"/>
              <a:t>Round-Robin</a:t>
            </a:r>
            <a:r>
              <a:rPr lang="tr-TR" i="1" dirty="0"/>
              <a:t>, </a:t>
            </a:r>
            <a:r>
              <a:rPr lang="tr-TR" i="1" dirty="0" err="1"/>
              <a:t>Priority</a:t>
            </a:r>
            <a:r>
              <a:rPr lang="tr-TR" i="1" dirty="0"/>
              <a:t>, </a:t>
            </a:r>
            <a:r>
              <a:rPr lang="tr-TR" i="1" dirty="0" err="1"/>
              <a:t>Multiple</a:t>
            </a:r>
            <a:r>
              <a:rPr lang="tr-TR" i="1" dirty="0"/>
              <a:t> </a:t>
            </a:r>
            <a:r>
              <a:rPr lang="tr-TR" i="1" dirty="0" err="1"/>
              <a:t>Queues</a:t>
            </a:r>
            <a:r>
              <a:rPr lang="tr-TR" i="1" dirty="0"/>
              <a:t> </a:t>
            </a:r>
            <a:r>
              <a:rPr lang="tr-TR" dirty="0"/>
              <a:t>ve </a:t>
            </a:r>
            <a:r>
              <a:rPr lang="tr-TR" i="1" dirty="0" err="1"/>
              <a:t>Fair-Share</a:t>
            </a:r>
            <a:r>
              <a:rPr lang="tr-TR" i="1" dirty="0"/>
              <a:t> </a:t>
            </a:r>
            <a:r>
              <a:rPr lang="tr-TR" dirty="0"/>
              <a:t>kesmeli algoritmalardır (</a:t>
            </a:r>
            <a:r>
              <a:rPr lang="tr-TR" i="1" dirty="0" err="1"/>
              <a:t>preemptive</a:t>
            </a:r>
            <a:r>
              <a:rPr lang="tr-TR" dirty="0"/>
              <a:t>). </a:t>
            </a:r>
          </a:p>
          <a:p>
            <a:r>
              <a:rPr lang="tr-TR" i="1" dirty="0" err="1"/>
              <a:t>Shortest</a:t>
            </a:r>
            <a:r>
              <a:rPr lang="tr-TR" i="1" dirty="0"/>
              <a:t> </a:t>
            </a:r>
            <a:r>
              <a:rPr lang="tr-TR" i="1" dirty="0" err="1"/>
              <a:t>Process</a:t>
            </a:r>
            <a:r>
              <a:rPr lang="tr-TR" i="1" dirty="0"/>
              <a:t> </a:t>
            </a:r>
            <a:r>
              <a:rPr lang="tr-TR" i="1" dirty="0" err="1"/>
              <a:t>Next</a:t>
            </a:r>
            <a:r>
              <a:rPr lang="tr-TR" i="1" dirty="0"/>
              <a:t>, </a:t>
            </a:r>
            <a:r>
              <a:rPr lang="tr-TR" i="1" dirty="0" err="1"/>
              <a:t>Guaranteed</a:t>
            </a:r>
            <a:r>
              <a:rPr lang="tr-TR" i="1" dirty="0"/>
              <a:t>, </a:t>
            </a:r>
            <a:r>
              <a:rPr lang="tr-TR" i="1" dirty="0" err="1"/>
              <a:t>Lottery</a:t>
            </a:r>
            <a:r>
              <a:rPr lang="tr-TR" i="1" dirty="0"/>
              <a:t> </a:t>
            </a:r>
            <a:r>
              <a:rPr lang="tr-TR" dirty="0"/>
              <a:t>önceliği dikkate almaz ve CPU kullanımını üst düzeye çıkarmayı amaçlar.</a:t>
            </a:r>
          </a:p>
          <a:p>
            <a:r>
              <a:rPr lang="tr-TR" dirty="0"/>
              <a:t>Algoritma seçimi, işletim sisteminin </a:t>
            </a:r>
          </a:p>
          <a:p>
            <a:pPr lvl="1"/>
            <a:r>
              <a:rPr lang="tr-TR" dirty="0"/>
              <a:t>yanıt verebilirlik, </a:t>
            </a:r>
          </a:p>
          <a:p>
            <a:pPr lvl="1"/>
            <a:r>
              <a:rPr lang="tr-TR" dirty="0"/>
              <a:t>öngörülebilirlik, </a:t>
            </a:r>
          </a:p>
          <a:p>
            <a:pPr lvl="1"/>
            <a:r>
              <a:rPr lang="tr-TR" dirty="0"/>
              <a:t>kaynak tahsisi ve </a:t>
            </a:r>
          </a:p>
          <a:p>
            <a:pPr lvl="1"/>
            <a:r>
              <a:rPr lang="tr-TR" dirty="0"/>
              <a:t>adalet gibi hedeflerine bağlıdır.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5947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POSIX Gerçek Zamanlı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POSIX.1b standardı.</a:t>
            </a:r>
          </a:p>
          <a:p>
            <a:r>
              <a:rPr lang="tr-TR" dirty="0"/>
              <a:t>API, gerçek zamanlı iş parçacıklarını yönetmek için fonksiyonlar sağlar.</a:t>
            </a:r>
          </a:p>
          <a:p>
            <a:r>
              <a:rPr lang="tr-TR" dirty="0"/>
              <a:t>Gerçek zamanlı iş parçacıkları için iki seçenek tanımlar:</a:t>
            </a:r>
          </a:p>
          <a:p>
            <a:pPr lvl="1"/>
            <a:r>
              <a:rPr lang="tr-TR" dirty="0"/>
              <a:t>SCHED_FIFO - FIFO kuyruğuna sahip FCFS stratejisi kullanır. Eşit önceliğe sahip iş parçacıkları için zaman dilimleme yoktur.</a:t>
            </a:r>
          </a:p>
          <a:p>
            <a:pPr lvl="1"/>
            <a:r>
              <a:rPr lang="tr-TR" dirty="0"/>
              <a:t>SCHED_RR - Eşit önceliğe sahip iş parçacıkları için zaman dilimleme vardır.</a:t>
            </a:r>
          </a:p>
          <a:p>
            <a:r>
              <a:rPr lang="tr-TR" dirty="0"/>
              <a:t>Çizelgeleme kuralını öğrenmek ve atamak için:</a:t>
            </a:r>
          </a:p>
          <a:p>
            <a:r>
              <a:rPr lang="tr-TR" sz="2200" dirty="0" err="1">
                <a:latin typeface="Consolas" panose="020B0609020204030204" pitchFamily="49" charset="0"/>
              </a:rPr>
              <a:t>pthread_attr_getsched_policy</a:t>
            </a:r>
            <a:r>
              <a:rPr lang="tr-TR" sz="2200" dirty="0">
                <a:latin typeface="Consolas" panose="020B0609020204030204" pitchFamily="49" charset="0"/>
              </a:rPr>
              <a:t>(</a:t>
            </a:r>
            <a:r>
              <a:rPr lang="tr-TR" sz="2200" dirty="0" err="1">
                <a:latin typeface="Consolas" panose="020B0609020204030204" pitchFamily="49" charset="0"/>
              </a:rPr>
              <a:t>pthread_attr_t</a:t>
            </a:r>
            <a:r>
              <a:rPr lang="tr-TR" sz="2200" dirty="0">
                <a:latin typeface="Consolas" panose="020B0609020204030204" pitchFamily="49" charset="0"/>
              </a:rPr>
              <a:t> *</a:t>
            </a:r>
            <a:r>
              <a:rPr lang="tr-TR" sz="2200" dirty="0" err="1">
                <a:latin typeface="Consolas" panose="020B0609020204030204" pitchFamily="49" charset="0"/>
              </a:rPr>
              <a:t>attr</a:t>
            </a:r>
            <a:r>
              <a:rPr lang="tr-TR" sz="2200" dirty="0">
                <a:latin typeface="Consolas" panose="020B0609020204030204" pitchFamily="49" charset="0"/>
              </a:rPr>
              <a:t>, </a:t>
            </a:r>
            <a:r>
              <a:rPr lang="tr-TR" sz="2200" dirty="0" err="1">
                <a:latin typeface="Consolas" panose="020B0609020204030204" pitchFamily="49" charset="0"/>
              </a:rPr>
              <a:t>int</a:t>
            </a:r>
            <a:r>
              <a:rPr lang="tr-TR" sz="2200" dirty="0">
                <a:latin typeface="Consolas" panose="020B0609020204030204" pitchFamily="49" charset="0"/>
              </a:rPr>
              <a:t> *</a:t>
            </a:r>
            <a:r>
              <a:rPr lang="tr-TR" sz="2200" dirty="0" err="1">
                <a:latin typeface="Consolas" panose="020B0609020204030204" pitchFamily="49" charset="0"/>
              </a:rPr>
              <a:t>policy</a:t>
            </a:r>
            <a:r>
              <a:rPr lang="tr-TR" sz="2200" dirty="0">
                <a:latin typeface="Consolas" panose="020B0609020204030204" pitchFamily="49" charset="0"/>
              </a:rPr>
              <a:t>)</a:t>
            </a:r>
          </a:p>
          <a:p>
            <a:r>
              <a:rPr lang="tr-TR" sz="2200" dirty="0" err="1">
                <a:latin typeface="Consolas" panose="020B0609020204030204" pitchFamily="49" charset="0"/>
              </a:rPr>
              <a:t>pthread_attr_setsched_policy</a:t>
            </a:r>
            <a:r>
              <a:rPr lang="tr-TR" sz="2200" dirty="0">
                <a:latin typeface="Consolas" panose="020B0609020204030204" pitchFamily="49" charset="0"/>
              </a:rPr>
              <a:t>(</a:t>
            </a:r>
            <a:r>
              <a:rPr lang="tr-TR" sz="2200" dirty="0" err="1">
                <a:latin typeface="Consolas" panose="020B0609020204030204" pitchFamily="49" charset="0"/>
              </a:rPr>
              <a:t>pthread_attr_t</a:t>
            </a:r>
            <a:r>
              <a:rPr lang="tr-TR" sz="2200" dirty="0">
                <a:latin typeface="Consolas" panose="020B0609020204030204" pitchFamily="49" charset="0"/>
              </a:rPr>
              <a:t> *</a:t>
            </a:r>
            <a:r>
              <a:rPr lang="tr-TR" sz="2200" dirty="0" err="1">
                <a:latin typeface="Consolas" panose="020B0609020204030204" pitchFamily="49" charset="0"/>
              </a:rPr>
              <a:t>attr</a:t>
            </a:r>
            <a:r>
              <a:rPr lang="tr-TR" sz="2200" dirty="0">
                <a:latin typeface="Consolas" panose="020B0609020204030204" pitchFamily="49" charset="0"/>
              </a:rPr>
              <a:t>, </a:t>
            </a:r>
            <a:r>
              <a:rPr lang="tr-TR" sz="2200" dirty="0" err="1">
                <a:latin typeface="Consolas" panose="020B0609020204030204" pitchFamily="49" charset="0"/>
              </a:rPr>
              <a:t>int</a:t>
            </a:r>
            <a:r>
              <a:rPr lang="tr-TR" sz="2200" dirty="0">
                <a:latin typeface="Consolas" panose="020B0609020204030204" pitchFamily="49" charset="0"/>
              </a:rPr>
              <a:t> </a:t>
            </a:r>
            <a:r>
              <a:rPr lang="tr-TR" sz="2200" dirty="0" err="1">
                <a:latin typeface="Consolas" panose="020B0609020204030204" pitchFamily="49" charset="0"/>
              </a:rPr>
              <a:t>policy</a:t>
            </a:r>
            <a:r>
              <a:rPr lang="tr-TR" sz="22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9628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Linux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i="1" dirty="0" err="1">
                <a:cs typeface="Arial" panose="020B0604020202020204" pitchFamily="34" charset="0"/>
              </a:rPr>
              <a:t>Completely</a:t>
            </a:r>
            <a:r>
              <a:rPr lang="tr-TR" i="1" dirty="0">
                <a:cs typeface="Arial" panose="020B0604020202020204" pitchFamily="34" charset="0"/>
              </a:rPr>
              <a:t> </a:t>
            </a:r>
            <a:r>
              <a:rPr lang="tr-TR" i="1" dirty="0" err="1">
                <a:cs typeface="Arial" panose="020B0604020202020204" pitchFamily="34" charset="0"/>
              </a:rPr>
              <a:t>fair</a:t>
            </a:r>
            <a:r>
              <a:rPr lang="tr-TR" i="1" dirty="0">
                <a:cs typeface="Arial" panose="020B0604020202020204" pitchFamily="34" charset="0"/>
              </a:rPr>
              <a:t> </a:t>
            </a:r>
            <a:r>
              <a:rPr lang="tr-TR" i="1" dirty="0" err="1">
                <a:cs typeface="Arial" panose="020B0604020202020204" pitchFamily="34" charset="0"/>
              </a:rPr>
              <a:t>scheduler</a:t>
            </a:r>
            <a:r>
              <a:rPr lang="tr-TR" dirty="0">
                <a:cs typeface="Arial" panose="020B0604020202020204" pitchFamily="34" charset="0"/>
              </a:rPr>
              <a:t> (CFS) kullanır.</a:t>
            </a:r>
          </a:p>
          <a:p>
            <a:r>
              <a:rPr lang="tr-TR" dirty="0">
                <a:cs typeface="Arial" panose="020B0604020202020204" pitchFamily="34" charset="0"/>
              </a:rPr>
              <a:t>Her bir sürecin belirli bir önceliği vardır.</a:t>
            </a:r>
          </a:p>
          <a:p>
            <a:r>
              <a:rPr lang="tr-TR" dirty="0">
                <a:cs typeface="Arial" panose="020B0604020202020204" pitchFamily="34" charset="0"/>
              </a:rPr>
              <a:t>En yüksek çizelgeleme sınıfındaki en yüksek öncelikli görevi seçer.</a:t>
            </a:r>
          </a:p>
          <a:p>
            <a:r>
              <a:rPr lang="tr-TR" dirty="0">
                <a:cs typeface="Arial" panose="020B0604020202020204" pitchFamily="34" charset="0"/>
              </a:rPr>
              <a:t>Sabit zaman dilimleri atamak yerine CPU kullanım oranına dayalıdır.</a:t>
            </a:r>
          </a:p>
          <a:p>
            <a:r>
              <a:rPr lang="tr-TR" dirty="0">
                <a:cs typeface="Arial" panose="020B0604020202020204" pitchFamily="34" charset="0"/>
              </a:rPr>
              <a:t>İki çizelgeleme sınıfı vardır, genişletilebilir.</a:t>
            </a:r>
          </a:p>
          <a:p>
            <a:pPr lvl="1"/>
            <a:r>
              <a:rPr lang="tr-TR" dirty="0">
                <a:cs typeface="Arial" panose="020B0604020202020204" pitchFamily="34" charset="0"/>
              </a:rPr>
              <a:t>varsayılan, </a:t>
            </a:r>
          </a:p>
          <a:p>
            <a:pPr lvl="1"/>
            <a:r>
              <a:rPr lang="tr-TR" dirty="0">
                <a:cs typeface="Arial" panose="020B0604020202020204" pitchFamily="34" charset="0"/>
              </a:rPr>
              <a:t>gerçek zamanlı.</a:t>
            </a:r>
          </a:p>
          <a:p>
            <a:r>
              <a:rPr lang="tr-TR" dirty="0">
                <a:cs typeface="Arial" panose="020B0604020202020204" pitchFamily="34" charset="0"/>
              </a:rPr>
              <a:t>Gerçek zamanlı süreçlerin </a:t>
            </a:r>
          </a:p>
          <a:p>
            <a:pPr marL="0" indent="0">
              <a:buNone/>
            </a:pPr>
            <a:r>
              <a:rPr lang="tr-TR" dirty="0">
                <a:cs typeface="Arial" panose="020B0604020202020204" pitchFamily="34" charset="0"/>
              </a:rPr>
              <a:t>statik öncelikleri vardır.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Picture 1" descr="Screen Shot 2012-12-17 at 9.28.34 PM.png">
            <a:extLst>
              <a:ext uri="{FF2B5EF4-FFF2-40B4-BE49-F238E27FC236}">
                <a16:creationId xmlns:a16="http://schemas.microsoft.com/office/drawing/2014/main" id="{962147AC-858B-4382-8168-1FA988CFB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926" y="4229541"/>
            <a:ext cx="6822822" cy="19109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80248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Windows Çizelgeleme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cs typeface="Arial" panose="020B0604020202020204" pitchFamily="34" charset="0"/>
              </a:rPr>
              <a:t>Önceliğe dayalı kesmeli (</a:t>
            </a:r>
            <a:r>
              <a:rPr lang="tr-TR" i="1" dirty="0" err="1">
                <a:cs typeface="Arial" panose="020B0604020202020204" pitchFamily="34" charset="0"/>
              </a:rPr>
              <a:t>priority</a:t>
            </a:r>
            <a:r>
              <a:rPr lang="tr-TR" i="1" dirty="0">
                <a:cs typeface="Arial" panose="020B0604020202020204" pitchFamily="34" charset="0"/>
              </a:rPr>
              <a:t> </a:t>
            </a:r>
            <a:r>
              <a:rPr lang="tr-TR" i="1" dirty="0" err="1">
                <a:cs typeface="Arial" panose="020B0604020202020204" pitchFamily="34" charset="0"/>
              </a:rPr>
              <a:t>based</a:t>
            </a:r>
            <a:r>
              <a:rPr lang="tr-TR" i="1" dirty="0">
                <a:cs typeface="Arial" panose="020B0604020202020204" pitchFamily="34" charset="0"/>
              </a:rPr>
              <a:t> </a:t>
            </a:r>
            <a:r>
              <a:rPr lang="tr-TR" i="1" dirty="0" err="1">
                <a:cs typeface="Arial" panose="020B0604020202020204" pitchFamily="34" charset="0"/>
              </a:rPr>
              <a:t>preemptive</a:t>
            </a:r>
            <a:r>
              <a:rPr lang="tr-TR" dirty="0">
                <a:cs typeface="Arial" panose="020B0604020202020204" pitchFamily="34" charset="0"/>
              </a:rPr>
              <a:t>) çizelgeleme kullanır.</a:t>
            </a:r>
          </a:p>
          <a:p>
            <a:r>
              <a:rPr lang="tr-TR" dirty="0">
                <a:cs typeface="Arial" panose="020B0604020202020204" pitchFamily="34" charset="0"/>
              </a:rPr>
              <a:t>Sonraki adımda en yüksek öncelikli iş parçacığı çalışır.</a:t>
            </a:r>
          </a:p>
          <a:p>
            <a:r>
              <a:rPr lang="tr-TR" dirty="0">
                <a:cs typeface="Arial" panose="020B0604020202020204" pitchFamily="34" charset="0"/>
              </a:rPr>
              <a:t>İş parçacığı (1) bloke olana kadar, (2) zaman dilimi bitene kadar, (3) daha yüksek öncelikli bir iş parçacığı gelene kadar çalışır.</a:t>
            </a:r>
          </a:p>
          <a:p>
            <a:r>
              <a:rPr lang="tr-TR" dirty="0">
                <a:cs typeface="Arial" panose="020B0604020202020204" pitchFamily="34" charset="0"/>
              </a:rPr>
              <a:t>Gerçek zamanlı iş parçacıkları, diğerlerini bloke edebilir.</a:t>
            </a:r>
          </a:p>
          <a:p>
            <a:r>
              <a:rPr lang="tr-TR" dirty="0">
                <a:cs typeface="Arial" panose="020B0604020202020204" pitchFamily="34" charset="0"/>
              </a:rPr>
              <a:t>32 seviyeli öncelik şeması kullanır.</a:t>
            </a:r>
          </a:p>
          <a:p>
            <a:pPr lvl="1"/>
            <a:r>
              <a:rPr lang="tr-TR" dirty="0">
                <a:cs typeface="Arial" panose="020B0604020202020204" pitchFamily="34" charset="0"/>
              </a:rPr>
              <a:t>Değişken sınıf 1-15, gerçek zamanlı sınıf 16-31.</a:t>
            </a:r>
          </a:p>
          <a:p>
            <a:r>
              <a:rPr lang="tr-TR" dirty="0">
                <a:cs typeface="Arial" panose="020B0604020202020204" pitchFamily="34" charset="0"/>
              </a:rPr>
              <a:t>Öncelik 0, bellek yönetimi iş parçacığıdır.</a:t>
            </a:r>
          </a:p>
          <a:p>
            <a:r>
              <a:rPr lang="tr-TR" dirty="0">
                <a:cs typeface="Arial" panose="020B0604020202020204" pitchFamily="34" charset="0"/>
              </a:rPr>
              <a:t>Her öncelik için kuyruk tutulur.</a:t>
            </a:r>
          </a:p>
          <a:p>
            <a:r>
              <a:rPr lang="tr-TR" dirty="0">
                <a:cs typeface="Arial" panose="020B0604020202020204" pitchFamily="34" charset="0"/>
              </a:rPr>
              <a:t>Çalıştırılabilir iş parçacığı yoksa, boş (</a:t>
            </a:r>
            <a:r>
              <a:rPr lang="tr-TR" i="1" dirty="0" err="1">
                <a:cs typeface="Arial" panose="020B0604020202020204" pitchFamily="34" charset="0"/>
              </a:rPr>
              <a:t>idle</a:t>
            </a:r>
            <a:r>
              <a:rPr lang="tr-TR" dirty="0">
                <a:cs typeface="Arial" panose="020B0604020202020204" pitchFamily="34" charset="0"/>
              </a:rPr>
              <a:t>) iş parçacığı çalıştırılır.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6271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Windows Öncelikler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13B7C937-29C4-4257-9403-EC1858659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000" y="2181333"/>
            <a:ext cx="8640000" cy="3498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200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1/15/2023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4182</TotalTime>
  <Words>3926</Words>
  <Application>Microsoft Office PowerPoint</Application>
  <PresentationFormat>Widescreen</PresentationFormat>
  <Paragraphs>713</Paragraphs>
  <Slides>57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Calibri Light</vt:lpstr>
      <vt:lpstr>Consolas</vt:lpstr>
      <vt:lpstr>Wingdings</vt:lpstr>
      <vt:lpstr>Office Theme</vt:lpstr>
      <vt:lpstr>Visio</vt:lpstr>
      <vt:lpstr>Bölüm 5: Çizelgeleme</vt:lpstr>
      <vt:lpstr>Çizelgeleme (Scheduling)</vt:lpstr>
      <vt:lpstr>Çizelgeleme</vt:lpstr>
      <vt:lpstr>İşlemci Kullanımı</vt:lpstr>
      <vt:lpstr>İşlemci Çizelgeleyici</vt:lpstr>
      <vt:lpstr>Görev Dağıtıcı (Dispatcher)</vt:lpstr>
      <vt:lpstr>Kriterler</vt:lpstr>
      <vt:lpstr>Çizelgelemenin Hedefleri</vt:lpstr>
      <vt:lpstr>Çizelgelemenin Hedefleri</vt:lpstr>
      <vt:lpstr>Çizelgeleme</vt:lpstr>
      <vt:lpstr>Kavramlar</vt:lpstr>
      <vt:lpstr>Çizelgeleme Kategorileri</vt:lpstr>
      <vt:lpstr>Toplu Sistemlerde Çizelgeleme</vt:lpstr>
      <vt:lpstr>FCFS Çizelgeleme</vt:lpstr>
      <vt:lpstr>FCFS Çizelgeleme</vt:lpstr>
      <vt:lpstr>FCFS Çizelgeleme</vt:lpstr>
      <vt:lpstr>FCFS Örnek Senaryo</vt:lpstr>
      <vt:lpstr>FCFS Örnek Senaryo</vt:lpstr>
      <vt:lpstr>SJF Çizelgeleme</vt:lpstr>
      <vt:lpstr>SJF Çizelgeleme</vt:lpstr>
      <vt:lpstr>SJF Örnek Senaryo</vt:lpstr>
      <vt:lpstr>SJF Çizelgeleme</vt:lpstr>
      <vt:lpstr>FCFS ve SJF Karşılaştırma</vt:lpstr>
      <vt:lpstr>SRTN Çizelgeleme</vt:lpstr>
      <vt:lpstr>Üstel Ortalama</vt:lpstr>
      <vt:lpstr>SRTN Çizelgeleme</vt:lpstr>
      <vt:lpstr>SRTN Örnek Senaryo</vt:lpstr>
      <vt:lpstr>Sonuç</vt:lpstr>
      <vt:lpstr>İnteraktif Sistemlerde Çizelgeleme</vt:lpstr>
      <vt:lpstr>Sıralı Çizelgeleme</vt:lpstr>
      <vt:lpstr>Sıralı Çizelgeleme</vt:lpstr>
      <vt:lpstr>Sıralı Çizelgeleme Örnek Senaryo</vt:lpstr>
      <vt:lpstr>Sıralı Çizelgeleme Örnek Senaryo</vt:lpstr>
      <vt:lpstr>Bağlam Anahtarlama (context switch)</vt:lpstr>
      <vt:lpstr>Bağlam Anahtarlama</vt:lpstr>
      <vt:lpstr>Bağlam Anahtarlama ve Zaman Dilimi (quantum)</vt:lpstr>
      <vt:lpstr>Kuantuma Göre Dönüş Süreleri</vt:lpstr>
      <vt:lpstr>Önceliğe Göre Çizelgeleme</vt:lpstr>
      <vt:lpstr>Önceliğe Göre Çizelgeleme</vt:lpstr>
      <vt:lpstr>Önceliğe Göre Çizelgeleme Örnek Senaryo</vt:lpstr>
      <vt:lpstr>Önceliğe Göre ve Sıralı Çizelgeleme</vt:lpstr>
      <vt:lpstr>Çoklu Kuyrukta Çizelgeleme</vt:lpstr>
      <vt:lpstr>Çoklu Kuyrukta Çizelgeleme Örnek Senaryo</vt:lpstr>
      <vt:lpstr>Çoklu Kuyrukta Çizelgeleme</vt:lpstr>
      <vt:lpstr>Çoklu Kuyrukta Çizelgeleme</vt:lpstr>
      <vt:lpstr>En Kısa Süreç Önce Çizelgeleme</vt:lpstr>
      <vt:lpstr>Öncelik Ters Çevirme (Priority Inversion)</vt:lpstr>
      <vt:lpstr>Öncelik Ters Çevirme</vt:lpstr>
      <vt:lpstr>Garantili Çizelgeleme</vt:lpstr>
      <vt:lpstr>Piyango Çizelgeleme</vt:lpstr>
      <vt:lpstr>Adil Paylaşım Çizelgeleme</vt:lpstr>
      <vt:lpstr>Değerlendirme</vt:lpstr>
      <vt:lpstr>POSIX Gerçek Zamanlı Çizelgeleme</vt:lpstr>
      <vt:lpstr>Linux Çizelgeleme</vt:lpstr>
      <vt:lpstr>Windows Çizelgeleme</vt:lpstr>
      <vt:lpstr>Windows Öncelikler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Cizelgeleme</dc:title>
  <dc:creator>sercan</dc:creator>
  <cp:lastModifiedBy>Sercan Kulcu</cp:lastModifiedBy>
  <cp:revision>398</cp:revision>
  <dcterms:created xsi:type="dcterms:W3CDTF">2023-01-12T09:23:55Z</dcterms:created>
  <dcterms:modified xsi:type="dcterms:W3CDTF">2025-01-23T17:01:37Z</dcterms:modified>
</cp:coreProperties>
</file>