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89"/>
  </p:notesMasterIdLst>
  <p:sldIdLst>
    <p:sldId id="256" r:id="rId2"/>
    <p:sldId id="313" r:id="rId3"/>
    <p:sldId id="257" r:id="rId4"/>
    <p:sldId id="370" r:id="rId5"/>
    <p:sldId id="354" r:id="rId6"/>
    <p:sldId id="355" r:id="rId7"/>
    <p:sldId id="386" r:id="rId8"/>
    <p:sldId id="387" r:id="rId9"/>
    <p:sldId id="356" r:id="rId10"/>
    <p:sldId id="388" r:id="rId11"/>
    <p:sldId id="261" r:id="rId12"/>
    <p:sldId id="258" r:id="rId13"/>
    <p:sldId id="259" r:id="rId14"/>
    <p:sldId id="372" r:id="rId15"/>
    <p:sldId id="352" r:id="rId16"/>
    <p:sldId id="314" r:id="rId17"/>
    <p:sldId id="358" r:id="rId18"/>
    <p:sldId id="357" r:id="rId19"/>
    <p:sldId id="260" r:id="rId20"/>
    <p:sldId id="262" r:id="rId21"/>
    <p:sldId id="315" r:id="rId22"/>
    <p:sldId id="316" r:id="rId23"/>
    <p:sldId id="359" r:id="rId24"/>
    <p:sldId id="389" r:id="rId25"/>
    <p:sldId id="360" r:id="rId26"/>
    <p:sldId id="361" r:id="rId27"/>
    <p:sldId id="263" r:id="rId28"/>
    <p:sldId id="317" r:id="rId29"/>
    <p:sldId id="264" r:id="rId30"/>
    <p:sldId id="268" r:id="rId31"/>
    <p:sldId id="269" r:id="rId32"/>
    <p:sldId id="362" r:id="rId33"/>
    <p:sldId id="270" r:id="rId34"/>
    <p:sldId id="363" r:id="rId35"/>
    <p:sldId id="265" r:id="rId36"/>
    <p:sldId id="271" r:id="rId37"/>
    <p:sldId id="318" r:id="rId38"/>
    <p:sldId id="266" r:id="rId39"/>
    <p:sldId id="371" r:id="rId40"/>
    <p:sldId id="267" r:id="rId41"/>
    <p:sldId id="319" r:id="rId42"/>
    <p:sldId id="272" r:id="rId43"/>
    <p:sldId id="320" r:id="rId44"/>
    <p:sldId id="284" r:id="rId45"/>
    <p:sldId id="364" r:id="rId46"/>
    <p:sldId id="328" r:id="rId47"/>
    <p:sldId id="285" r:id="rId48"/>
    <p:sldId id="374" r:id="rId49"/>
    <p:sldId id="321" r:id="rId50"/>
    <p:sldId id="327" r:id="rId51"/>
    <p:sldId id="274" r:id="rId52"/>
    <p:sldId id="365" r:id="rId53"/>
    <p:sldId id="275" r:id="rId54"/>
    <p:sldId id="322" r:id="rId55"/>
    <p:sldId id="286" r:id="rId56"/>
    <p:sldId id="276" r:id="rId57"/>
    <p:sldId id="331" r:id="rId58"/>
    <p:sldId id="329" r:id="rId59"/>
    <p:sldId id="366" r:id="rId60"/>
    <p:sldId id="330" r:id="rId61"/>
    <p:sldId id="287" r:id="rId62"/>
    <p:sldId id="288" r:id="rId63"/>
    <p:sldId id="332" r:id="rId64"/>
    <p:sldId id="277" r:id="rId65"/>
    <p:sldId id="278" r:id="rId66"/>
    <p:sldId id="333" r:id="rId67"/>
    <p:sldId id="367" r:id="rId68"/>
    <p:sldId id="279" r:id="rId69"/>
    <p:sldId id="342" r:id="rId70"/>
    <p:sldId id="324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377" r:id="rId80"/>
    <p:sldId id="384" r:id="rId81"/>
    <p:sldId id="378" r:id="rId82"/>
    <p:sldId id="379" r:id="rId83"/>
    <p:sldId id="390" r:id="rId84"/>
    <p:sldId id="391" r:id="rId85"/>
    <p:sldId id="392" r:id="rId86"/>
    <p:sldId id="311" r:id="rId87"/>
    <p:sldId id="312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23.01.2025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Tanenbaum</a:t>
            </a:r>
            <a:r>
              <a:rPr lang="en-US" dirty="0"/>
              <a:t>, Modern Operating Systems 3e </a:t>
            </a:r>
            <a:r>
              <a:rPr lang="en-US" dirty="0" err="1"/>
              <a:t>kitabından</a:t>
            </a:r>
            <a:r>
              <a:rPr lang="en-US" dirty="0"/>
              <a:t> </a:t>
            </a:r>
            <a:r>
              <a:rPr lang="en-US" dirty="0" err="1"/>
              <a:t>faydalanılmıştır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1: Giriş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/>
              <a:t>İşletim Sistemleri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Modern bilgisayarlar çok karmaşık.</a:t>
            </a:r>
          </a:p>
          <a:p>
            <a:r>
              <a:rPr lang="tr-TR" dirty="0"/>
              <a:t>Uygulama geliştiricisinin her detayı bilmesi imkansız.</a:t>
            </a:r>
          </a:p>
          <a:p>
            <a:r>
              <a:rPr lang="tr-TR" dirty="0"/>
              <a:t>Kaynakları daha iyi ve basit bir şekilde yönetebilmek için bir katman. </a:t>
            </a:r>
          </a:p>
          <a:p>
            <a:r>
              <a:rPr lang="tr-TR" dirty="0"/>
              <a:t>Çeşitli işletim sistemleri; </a:t>
            </a:r>
          </a:p>
          <a:p>
            <a:pPr lvl="1"/>
            <a:r>
              <a:rPr lang="tr-TR" i="1" dirty="0"/>
              <a:t>Windows, Linux, </a:t>
            </a:r>
            <a:r>
              <a:rPr lang="tr-TR" i="1" dirty="0" err="1"/>
              <a:t>MacOS</a:t>
            </a:r>
            <a:r>
              <a:rPr lang="tr-TR" i="1" dirty="0"/>
              <a:t>, </a:t>
            </a:r>
            <a:r>
              <a:rPr lang="tr-TR" i="1" dirty="0" err="1"/>
              <a:t>Android</a:t>
            </a:r>
            <a:r>
              <a:rPr lang="tr-TR" i="1" dirty="0"/>
              <a:t>, IOS, </a:t>
            </a:r>
            <a:r>
              <a:rPr lang="tr-TR" i="1" dirty="0" err="1"/>
              <a:t>Contiki</a:t>
            </a:r>
            <a:r>
              <a:rPr lang="tr-TR" i="1" dirty="0"/>
              <a:t>, </a:t>
            </a:r>
            <a:r>
              <a:rPr lang="tr-TR" i="1" dirty="0" err="1"/>
              <a:t>VxWorks</a:t>
            </a:r>
            <a:endParaRPr lang="tr-TR" i="1" dirty="0"/>
          </a:p>
          <a:p>
            <a:r>
              <a:rPr lang="tr-TR" dirty="0"/>
              <a:t>Kullanıcılar, </a:t>
            </a:r>
          </a:p>
          <a:p>
            <a:pPr lvl="1"/>
            <a:r>
              <a:rPr lang="tr-TR" b="1" dirty="0"/>
              <a:t>Kabuk (Shell) </a:t>
            </a:r>
            <a:r>
              <a:rPr lang="tr-TR" dirty="0"/>
              <a:t>veya </a:t>
            </a:r>
          </a:p>
          <a:p>
            <a:pPr lvl="1"/>
            <a:r>
              <a:rPr lang="tr-TR" b="1" dirty="0"/>
              <a:t>GKA (GUI) </a:t>
            </a:r>
            <a:r>
              <a:rPr lang="tr-TR" dirty="0"/>
              <a:t>sayesinde bilgisayar ile etkileşime girer.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19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Modern Bilgisayarın Bileşenleri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1815D40-5D25-4B93-A397-C7A0DFC2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394" y="2315801"/>
            <a:ext cx="4621212" cy="3276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823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Modern Bilgisayarın Donanım Bileşenleri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İşlemci</a:t>
            </a:r>
          </a:p>
          <a:p>
            <a:r>
              <a:rPr lang="tr-TR" dirty="0"/>
              <a:t>Ana bellek</a:t>
            </a:r>
          </a:p>
          <a:p>
            <a:r>
              <a:rPr lang="tr-TR" dirty="0"/>
              <a:t>Disk</a:t>
            </a:r>
          </a:p>
          <a:p>
            <a:r>
              <a:rPr lang="tr-TR" dirty="0"/>
              <a:t>Yazıcı</a:t>
            </a:r>
          </a:p>
          <a:p>
            <a:r>
              <a:rPr lang="tr-TR" dirty="0"/>
              <a:t>Klavye</a:t>
            </a:r>
          </a:p>
          <a:p>
            <a:r>
              <a:rPr lang="tr-TR" dirty="0"/>
              <a:t>Fare</a:t>
            </a:r>
          </a:p>
          <a:p>
            <a:r>
              <a:rPr lang="tr-TR" dirty="0"/>
              <a:t>Ekran</a:t>
            </a:r>
          </a:p>
          <a:p>
            <a:r>
              <a:rPr lang="tr-TR" dirty="0"/>
              <a:t>Ağ arayüzleri</a:t>
            </a:r>
          </a:p>
          <a:p>
            <a:r>
              <a:rPr lang="tr-TR" dirty="0"/>
              <a:t>G/Ç cihazları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0CB787C-9399-460E-B386-5CC6E671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025" y="2281213"/>
            <a:ext cx="6216650" cy="30321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61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Kabuk (Shell) ve GKA (Grafik Kullanıcı </a:t>
            </a:r>
            <a:r>
              <a:rPr lang="tr-TR" dirty="0" err="1"/>
              <a:t>Arayüzü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Kabuk</a:t>
            </a:r>
            <a:r>
              <a:rPr lang="tr-TR" dirty="0"/>
              <a:t>: İşletim sistemiyle etkileşimini sağlayan komut satırı arayüzü (</a:t>
            </a:r>
            <a:r>
              <a:rPr lang="tr-TR" i="1" dirty="0"/>
              <a:t>CLI</a:t>
            </a:r>
            <a:r>
              <a:rPr lang="tr-TR" dirty="0"/>
              <a:t>).</a:t>
            </a:r>
          </a:p>
          <a:p>
            <a:r>
              <a:rPr lang="tr-TR" b="1" dirty="0"/>
              <a:t>GKA</a:t>
            </a:r>
            <a:r>
              <a:rPr lang="tr-TR" dirty="0"/>
              <a:t>: Simge, pencere, fare işaretçisi gibi grafik öğeleri sayesinde işletim sistemi ile etkileşimi sağlayan görsel arayüzü (</a:t>
            </a:r>
            <a:r>
              <a:rPr lang="tr-TR" i="1" dirty="0"/>
              <a:t>GUI</a:t>
            </a:r>
            <a:r>
              <a:rPr lang="tr-TR" dirty="0"/>
              <a:t>).</a:t>
            </a:r>
          </a:p>
          <a:p>
            <a:r>
              <a:rPr lang="tr-TR" dirty="0"/>
              <a:t>Kabuk ve GKA, </a:t>
            </a:r>
          </a:p>
          <a:p>
            <a:pPr lvl="1"/>
            <a:r>
              <a:rPr lang="tr-TR" dirty="0"/>
              <a:t>işletim sisteminin çekirdeği ile alakalı değil, </a:t>
            </a:r>
          </a:p>
          <a:p>
            <a:pPr lvl="1"/>
            <a:r>
              <a:rPr lang="tr-TR" dirty="0"/>
              <a:t>temel sistem işlevlerini veya hizmetlerini sağlamazlar.</a:t>
            </a:r>
          </a:p>
          <a:p>
            <a:pPr lvl="1"/>
            <a:r>
              <a:rPr lang="tr-TR" dirty="0"/>
              <a:t>kullanıcı arayüzünün bir parçası.</a:t>
            </a:r>
          </a:p>
          <a:p>
            <a:pPr lvl="1"/>
            <a:r>
              <a:rPr lang="tr-TR" dirty="0"/>
              <a:t>kullanıcının işletim sistemiyle etkileşime girmesi için bir araç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0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Kabuk (Shell) ve GKA (Grafik Kullanıcı </a:t>
            </a:r>
            <a:r>
              <a:rPr lang="tr-TR" dirty="0" err="1"/>
              <a:t>Arayüzü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sisteminde aynı anda birden çok </a:t>
            </a:r>
            <a:r>
              <a:rPr lang="tr-TR" i="1" dirty="0"/>
              <a:t>kabuk</a:t>
            </a:r>
            <a:r>
              <a:rPr lang="tr-TR" dirty="0"/>
              <a:t> ve </a:t>
            </a:r>
            <a:r>
              <a:rPr lang="tr-TR" i="1" dirty="0"/>
              <a:t>GKA</a:t>
            </a:r>
            <a:r>
              <a:rPr lang="tr-TR" dirty="0"/>
              <a:t> kullanılabilir.</a:t>
            </a:r>
          </a:p>
          <a:p>
            <a:r>
              <a:rPr lang="tr-TR" dirty="0"/>
              <a:t>Kişiselleştirme sağlar.</a:t>
            </a:r>
          </a:p>
          <a:p>
            <a:r>
              <a:rPr lang="tr-TR" dirty="0"/>
              <a:t>Özel ihtiyaçların daha verimli bir şekilde yerine getirilmesini sağlar.</a:t>
            </a:r>
          </a:p>
          <a:p>
            <a:r>
              <a:rPr lang="tr-TR" dirty="0"/>
              <a:t>Kabuk, belirli görevleri gerçekleştirmek için verimli ve etkili bir yol sağlar. </a:t>
            </a:r>
          </a:p>
          <a:p>
            <a:r>
              <a:rPr lang="tr-TR" dirty="0"/>
              <a:t>GKA, kullanıcı dostu ve sezgisel bir yol sağlar.</a:t>
            </a:r>
          </a:p>
          <a:p>
            <a:r>
              <a:rPr lang="tr-TR" dirty="0"/>
              <a:t>Geniş bir kullanıcı kitlesi tarafından kullanılabilir olmasını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8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Kabuk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880095"/>
            <a:ext cx="7621064" cy="4286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14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GKA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862633"/>
            <a:ext cx="7621064" cy="4277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Yöneticisi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Bilgisayara bağlı donanım aygıtlarını yönetir.</a:t>
            </a:r>
          </a:p>
          <a:p>
            <a:r>
              <a:rPr lang="tr-TR" dirty="0"/>
              <a:t>Cihazların yapılandırılmasına, güncellenmesine olanak tanır.</a:t>
            </a:r>
          </a:p>
          <a:p>
            <a:r>
              <a:rPr lang="tr-TR" dirty="0"/>
              <a:t>Donanım aygıtlarının işletim sistemi ile uyumlu çalışmasında kilit rol oynar.</a:t>
            </a:r>
          </a:p>
          <a:p>
            <a:r>
              <a:rPr lang="tr-TR" dirty="0"/>
              <a:t>Bilgisayarda çalışan ayrı bir uygulama veya program değildir.</a:t>
            </a:r>
          </a:p>
          <a:p>
            <a:r>
              <a:rPr lang="tr-TR" dirty="0"/>
              <a:t>Cihazın hakkında (</a:t>
            </a:r>
            <a:r>
              <a:rPr lang="tr-TR" i="1" dirty="0"/>
              <a:t>türü</a:t>
            </a:r>
            <a:r>
              <a:rPr lang="tr-TR" dirty="0"/>
              <a:t>, </a:t>
            </a:r>
            <a:r>
              <a:rPr lang="tr-TR" i="1" dirty="0"/>
              <a:t>üreticisi</a:t>
            </a:r>
            <a:r>
              <a:rPr lang="tr-TR" dirty="0"/>
              <a:t>, </a:t>
            </a:r>
            <a:r>
              <a:rPr lang="tr-TR" i="1" dirty="0"/>
              <a:t>sürümü</a:t>
            </a:r>
            <a:r>
              <a:rPr lang="tr-TR" dirty="0"/>
              <a:t>) bilgi sağlar.</a:t>
            </a:r>
          </a:p>
          <a:p>
            <a:r>
              <a:rPr lang="tr-TR" dirty="0"/>
              <a:t>Cihaz ile ilgili sorun ve problemler hakkında bilgi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490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Yöneticisi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63" y="1825625"/>
            <a:ext cx="6183074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71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Sisteminin Konumu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Donanım ile yazılım arasında bir arayüzdür.</a:t>
            </a:r>
          </a:p>
          <a:p>
            <a:r>
              <a:rPr lang="tr-TR" dirty="0"/>
              <a:t>Donanımın yazılım tarafından nasıl kullanılacağını yönetir.</a:t>
            </a:r>
          </a:p>
          <a:p>
            <a:r>
              <a:rPr lang="tr-TR" b="1" dirty="0"/>
              <a:t>Donanım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fiziksel olarak mevcut bileşenleri (</a:t>
            </a:r>
            <a:r>
              <a:rPr lang="tr-TR" i="1" dirty="0"/>
              <a:t>CPU, RAM, disk</a:t>
            </a:r>
            <a:r>
              <a:rPr lang="tr-TR" dirty="0"/>
              <a:t>) temsil eder.</a:t>
            </a:r>
          </a:p>
          <a:p>
            <a:r>
              <a:rPr lang="tr-TR" b="1" dirty="0"/>
              <a:t>Yazılım</a:t>
            </a:r>
            <a:r>
              <a:rPr lang="tr-TR" dirty="0"/>
              <a:t>,</a:t>
            </a:r>
          </a:p>
          <a:p>
            <a:pPr lvl="1"/>
            <a:r>
              <a:rPr lang="tr-TR" dirty="0"/>
              <a:t>bilgisayarın yapabileceği işlemleri yürütmek için yazılmış kodları içerir.</a:t>
            </a:r>
          </a:p>
          <a:p>
            <a:r>
              <a:rPr lang="tr-TR" b="1" dirty="0"/>
              <a:t>İşletim sistemi, </a:t>
            </a:r>
          </a:p>
          <a:p>
            <a:pPr lvl="1"/>
            <a:r>
              <a:rPr lang="tr-TR" dirty="0"/>
              <a:t>yazılımın donanımı kullanmasını kontrol eder, </a:t>
            </a:r>
          </a:p>
          <a:p>
            <a:pPr lvl="1"/>
            <a:r>
              <a:rPr lang="tr-TR" dirty="0"/>
              <a:t>donanımın kullanımını optimize eder ve </a:t>
            </a:r>
          </a:p>
          <a:p>
            <a:pPr lvl="1"/>
            <a:r>
              <a:rPr lang="tr-TR" dirty="0"/>
              <a:t>sistem güvenliğini sağlar.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6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Konumu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099" y="1831386"/>
            <a:ext cx="7083323" cy="4115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06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Çekirdek </a:t>
            </a:r>
            <a:r>
              <a:rPr lang="tr-TR" dirty="0" err="1"/>
              <a:t>Modu</a:t>
            </a:r>
            <a:r>
              <a:rPr lang="tr-TR" dirty="0"/>
              <a:t> ve Kullanıcı </a:t>
            </a:r>
            <a:r>
              <a:rPr lang="tr-TR" dirty="0" err="1"/>
              <a:t>Modu</a:t>
            </a:r>
            <a:r>
              <a:rPr lang="nn-NO" dirty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Çoğu bilgisayarın iki çalışma modu vardır:</a:t>
            </a:r>
          </a:p>
          <a:p>
            <a:pPr lvl="1"/>
            <a:r>
              <a:rPr lang="tr-TR" dirty="0"/>
              <a:t>Çekirdek modu, tüm donanıma tam erişime sahip olunur.</a:t>
            </a:r>
          </a:p>
          <a:p>
            <a:pPr lvl="1"/>
            <a:r>
              <a:rPr lang="tr-TR" dirty="0"/>
              <a:t>Kullanıcı modu, sınırlı erişim ve kapasiteye sahip olunur.</a:t>
            </a:r>
          </a:p>
          <a:p>
            <a:r>
              <a:rPr lang="tr-TR" dirty="0"/>
              <a:t>Kabuk ve GKA, kullanıcı modu yazılımının en düşük seviyesidir.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976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Çekirdek </a:t>
            </a:r>
            <a:r>
              <a:rPr lang="tr-TR" dirty="0" err="1"/>
              <a:t>Modu</a:t>
            </a:r>
            <a:r>
              <a:rPr lang="tr-TR" dirty="0"/>
              <a:t> ve Kullanıcı </a:t>
            </a:r>
            <a:r>
              <a:rPr lang="tr-TR" dirty="0" err="1"/>
              <a:t>Modu</a:t>
            </a:r>
            <a:r>
              <a:rPr lang="nn-NO" dirty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77B7B49-686A-43F8-AEBF-B723806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798" y="2651761"/>
            <a:ext cx="7887960" cy="23417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76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Konumu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/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67" y="2299065"/>
            <a:ext cx="5854465" cy="32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38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Fiziksel Aygıtlar, Mikro Mimari, Makine Dili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Fiziksel aygıtlar</a:t>
            </a:r>
            <a:r>
              <a:rPr lang="tr-TR" dirty="0"/>
              <a:t>, merkezi işlem birimi (CPU), bellek, depolama ve giriş/çıkış aygıtları gibi donanım bileşenleri.</a:t>
            </a:r>
          </a:p>
          <a:p>
            <a:r>
              <a:rPr lang="tr-TR" b="1" dirty="0"/>
              <a:t>Mikro mimari</a:t>
            </a:r>
            <a:r>
              <a:rPr lang="tr-TR" dirty="0"/>
              <a:t>, veri yolu, bellek hiyerarşisi ve kontrol birimi dahil olmak üzere bilgisayar işlemcisinin tasarımı.</a:t>
            </a:r>
          </a:p>
          <a:p>
            <a:r>
              <a:rPr lang="tr-TR" b="1" dirty="0"/>
              <a:t>Makine dili</a:t>
            </a:r>
            <a:r>
              <a:rPr lang="tr-TR" dirty="0"/>
              <a:t>, doğrudan donanım tarafından yürütülebilen ikili koddan oluşan en düşük seviyeli programlama dili.</a:t>
            </a:r>
          </a:p>
          <a:p>
            <a:r>
              <a:rPr lang="tr-TR" dirty="0"/>
              <a:t>İşletim sistemi, aygıt sürücüleri ile fiziksel aygıtlarla iletişim kurar, yönetir.</a:t>
            </a:r>
          </a:p>
          <a:p>
            <a:r>
              <a:rPr lang="tr-TR" dirty="0"/>
              <a:t>Aygıt sürücüleri, üst katmandan gelen istekleri fiziksel aygıtlar tarafından anlaşılacak ve yürütülebilecek düşük düzeyli komutlara çevirir.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780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Fiziksel Aygıtlar, Mikro Mimari, Makine Dili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sistemi, uygulamalar ile mikro mimari arasında arayüz sunar.</a:t>
            </a:r>
          </a:p>
          <a:p>
            <a:r>
              <a:rPr lang="tr-TR" dirty="0"/>
              <a:t>Uygulamaların kaynaklara verimli ve etkin bir şekilde erişmesine ve kullanmasına izin verir.</a:t>
            </a:r>
          </a:p>
          <a:p>
            <a:r>
              <a:rPr lang="tr-TR" dirty="0"/>
              <a:t>Üst düzey uygulamaları doğrudan donanım tarafından yürütülebilen makine diline çevirir. </a:t>
            </a:r>
          </a:p>
          <a:p>
            <a:r>
              <a:rPr lang="tr-TR" dirty="0"/>
              <a:t>Donanım yapılandırması veya mikro mimarisi ne olursa olsun uygulamaların bilgisayarda yürütülmesine izin verir.</a:t>
            </a:r>
          </a:p>
          <a:p>
            <a:r>
              <a:rPr lang="tr-TR" dirty="0"/>
              <a:t>İşletim sistemi tasarlanırken, bilgisayarın mikro mimarisi ve fiziksel aygıtları dikkate alınır.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82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Genişletilmiş </a:t>
            </a:r>
            <a:r>
              <a:rPr lang="nn-NO" dirty="0"/>
              <a:t>Makine Olarak</a:t>
            </a:r>
            <a:r>
              <a:rPr lang="tr-TR" dirty="0"/>
              <a:t> </a:t>
            </a:r>
            <a:r>
              <a:rPr lang="nn-NO" dirty="0"/>
              <a:t>İşletim Sistemi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Donanımın üstüne inşa edilmiş bir yazılım.</a:t>
            </a:r>
          </a:p>
          <a:p>
            <a:r>
              <a:rPr lang="tr-TR" dirty="0"/>
              <a:t>Bilgisayar donanımını kullanmayı kolaylaştırır.</a:t>
            </a:r>
          </a:p>
          <a:p>
            <a:r>
              <a:rPr lang="tr-TR" dirty="0"/>
              <a:t>Donanımın özelliklerini ve yeteneklerini kullanılabilir hale getirir.</a:t>
            </a:r>
          </a:p>
          <a:p>
            <a:r>
              <a:rPr lang="tr-TR" dirty="0"/>
              <a:t>Donanımın özelliklerini gizler ve direkt kullanılmasını engeller.</a:t>
            </a:r>
          </a:p>
          <a:p>
            <a:r>
              <a:rPr lang="tr-TR" dirty="0"/>
              <a:t>İşletim sistemi ara yüzünü kullanmak daha kolaydır.</a:t>
            </a:r>
          </a:p>
          <a:p>
            <a:r>
              <a:rPr lang="tr-TR" dirty="0"/>
              <a:t>İşletim sistemleri çirkin donanımları güzel soyutlamalara dönüştürür.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168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Genişletilmiş </a:t>
            </a:r>
            <a:r>
              <a:rPr lang="nn-NO" dirty="0"/>
              <a:t>Makine Olarak</a:t>
            </a:r>
            <a:r>
              <a:rPr lang="tr-TR" dirty="0"/>
              <a:t> </a:t>
            </a:r>
            <a:r>
              <a:rPr lang="nn-NO" dirty="0"/>
              <a:t>İşletim Sistemi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618" y="2098671"/>
            <a:ext cx="5856668" cy="3534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547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Genişletilmiş </a:t>
            </a:r>
            <a:r>
              <a:rPr lang="nn-NO" dirty="0"/>
              <a:t>Makine Olarak</a:t>
            </a:r>
            <a:r>
              <a:rPr lang="tr-TR" dirty="0"/>
              <a:t> </a:t>
            </a:r>
            <a:r>
              <a:rPr lang="nn-NO" dirty="0"/>
              <a:t>İşletim Sistemi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Soyutlama:</a:t>
            </a:r>
          </a:p>
          <a:p>
            <a:pPr lvl="1"/>
            <a:r>
              <a:rPr lang="tr-TR" dirty="0"/>
              <a:t>İşlemci – Süreç</a:t>
            </a:r>
          </a:p>
          <a:p>
            <a:pPr lvl="1"/>
            <a:r>
              <a:rPr lang="tr-TR" dirty="0"/>
              <a:t>Depolama – Dosya</a:t>
            </a:r>
          </a:p>
          <a:p>
            <a:pPr lvl="1"/>
            <a:r>
              <a:rPr lang="tr-TR" dirty="0"/>
              <a:t>Bellek – Adres uzayı</a:t>
            </a:r>
          </a:p>
          <a:p>
            <a:pPr lvl="1"/>
            <a:endParaRPr lang="tr-TR" dirty="0"/>
          </a:p>
          <a:p>
            <a:r>
              <a:rPr lang="tr-TR" dirty="0"/>
              <a:t>4 tip rol var:</a:t>
            </a:r>
          </a:p>
          <a:p>
            <a:pPr lvl="1"/>
            <a:r>
              <a:rPr lang="tr-TR" dirty="0"/>
              <a:t>Donanım tasarımcısı</a:t>
            </a:r>
          </a:p>
          <a:p>
            <a:pPr lvl="1"/>
            <a:r>
              <a:rPr lang="tr-TR" dirty="0"/>
              <a:t>Çekirdek tasarımcısı</a:t>
            </a:r>
          </a:p>
          <a:p>
            <a:pPr lvl="1"/>
            <a:r>
              <a:rPr lang="tr-TR" dirty="0"/>
              <a:t>Uygulama geliştirici</a:t>
            </a:r>
          </a:p>
          <a:p>
            <a:pPr lvl="1"/>
            <a:r>
              <a:rPr lang="tr-TR" dirty="0"/>
              <a:t>Son kullanıcı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11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Yöneticisi Olarak İşletim Sistemi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sistemi, donanım kaynaklarını etkili bir şekilde yönetir. </a:t>
            </a:r>
          </a:p>
          <a:p>
            <a:r>
              <a:rPr lang="tr-TR" dirty="0"/>
              <a:t>Kaynak kullanımını optimize eder. </a:t>
            </a:r>
          </a:p>
          <a:p>
            <a:r>
              <a:rPr lang="tr-TR" dirty="0"/>
              <a:t>Kaynakların uygulamalar arasında adil bir şekilde dağıtımını sağlar.</a:t>
            </a:r>
          </a:p>
          <a:p>
            <a:r>
              <a:rPr lang="tr-TR" dirty="0"/>
              <a:t>Üstten aşağıya bakış açısı:</a:t>
            </a:r>
          </a:p>
          <a:p>
            <a:pPr lvl="1"/>
            <a:r>
              <a:rPr lang="tr-TR" dirty="0"/>
              <a:t>Uygulama programları için </a:t>
            </a:r>
            <a:r>
              <a:rPr lang="tr-TR" i="1" dirty="0"/>
              <a:t>soyutlamalar</a:t>
            </a:r>
            <a:r>
              <a:rPr lang="tr-TR" dirty="0"/>
              <a:t> sağlar</a:t>
            </a:r>
          </a:p>
          <a:p>
            <a:r>
              <a:rPr lang="tr-TR" dirty="0"/>
              <a:t>Aşağıdan yukarıya bakış açısı:</a:t>
            </a:r>
          </a:p>
          <a:p>
            <a:pPr lvl="1"/>
            <a:r>
              <a:rPr lang="tr-TR" dirty="0"/>
              <a:t>Karmaşık sistemin parçalarını yönetir</a:t>
            </a:r>
          </a:p>
          <a:p>
            <a:r>
              <a:rPr lang="tr-TR" dirty="0"/>
              <a:t>Alternatif bakış açısı:</a:t>
            </a:r>
          </a:p>
          <a:p>
            <a:pPr lvl="1"/>
            <a:r>
              <a:rPr lang="tr-TR" dirty="0"/>
              <a:t>Kaynakların düzenli ve kontrollü dağıtımını sağlar.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9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 Yöneticisi Olarak İşletim Sistemi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Birden çok programın aynı anda çalışmasına izin verir.!</a:t>
            </a:r>
          </a:p>
          <a:p>
            <a:r>
              <a:rPr lang="tr-TR" dirty="0"/>
              <a:t>Bellek, G/Ç aygıtları ve diğer kaynakları yönetir ve korur.</a:t>
            </a:r>
          </a:p>
          <a:p>
            <a:r>
              <a:rPr lang="tr-TR" dirty="0"/>
              <a:t>Kaynakları iki farklı şekilde paylaştırır.</a:t>
            </a:r>
          </a:p>
          <a:p>
            <a:pPr lvl="1"/>
            <a:r>
              <a:rPr lang="tr-TR" i="1" dirty="0"/>
              <a:t>Zaman</a:t>
            </a:r>
            <a:r>
              <a:rPr lang="tr-TR" dirty="0"/>
              <a:t> (time)</a:t>
            </a:r>
          </a:p>
          <a:p>
            <a:pPr lvl="1"/>
            <a:r>
              <a:rPr lang="tr-TR" i="1" dirty="0"/>
              <a:t>Alan</a:t>
            </a:r>
            <a:r>
              <a:rPr lang="tr-TR" dirty="0"/>
              <a:t> (</a:t>
            </a:r>
            <a:r>
              <a:rPr lang="tr-TR" dirty="0" err="1"/>
              <a:t>space</a:t>
            </a:r>
            <a:r>
              <a:rPr lang="tr-TR" dirty="0"/>
              <a:t>)</a:t>
            </a:r>
          </a:p>
          <a:p>
            <a:r>
              <a:rPr lang="tr-TR" dirty="0"/>
              <a:t>Birçok program aynı anda belge yazdırmak isterse ne olur?</a:t>
            </a:r>
          </a:p>
          <a:p>
            <a:r>
              <a:rPr lang="tr-TR" dirty="0"/>
              <a:t>Her sürecin kaynak kullanımı/ihtiyacı nasıl hesaplanır?</a:t>
            </a:r>
          </a:p>
          <a:p>
            <a:r>
              <a:rPr lang="tr-TR" dirty="0"/>
              <a:t>Kaynaklar </a:t>
            </a:r>
            <a:r>
              <a:rPr lang="tr-TR" dirty="0" err="1"/>
              <a:t>çoklanırsa</a:t>
            </a:r>
            <a:r>
              <a:rPr lang="tr-TR" dirty="0"/>
              <a:t>, adalet ve verimlilik nasıl sağlanır?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82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Birçok Program Aynı Anda Yazdırmak İsterse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Programlar, yazdırma isteklerini işletim sistemine gönderir.</a:t>
            </a:r>
          </a:p>
          <a:p>
            <a:r>
              <a:rPr lang="tr-TR" dirty="0"/>
              <a:t>İşletim sistemi, yazdırma isteklerini koordine eder ve önceliklendirir.</a:t>
            </a:r>
          </a:p>
          <a:p>
            <a:r>
              <a:rPr lang="tr-TR" dirty="0"/>
              <a:t>İşletim sistemi, kaynakları tahsis etmekten ve isteklerin yürütülme sırasını belirlemekten sorumludur.</a:t>
            </a:r>
          </a:p>
          <a:p>
            <a:r>
              <a:rPr lang="tr-TR" dirty="0"/>
              <a:t>İşletim sistemi, eşzamanlı yazdırma isteklerini yönetmek için </a:t>
            </a:r>
            <a:r>
              <a:rPr lang="tr-TR" i="1" dirty="0"/>
              <a:t>İlk Gelen, İlk Hizmet Alır (FCFS), Önce En Kısa İş (SJF), </a:t>
            </a:r>
            <a:r>
              <a:rPr lang="tr-TR" i="1" dirty="0" err="1"/>
              <a:t>Round</a:t>
            </a:r>
            <a:r>
              <a:rPr lang="tr-TR" i="1" dirty="0"/>
              <a:t> </a:t>
            </a:r>
            <a:r>
              <a:rPr lang="tr-TR" i="1" dirty="0" err="1"/>
              <a:t>Robin</a:t>
            </a:r>
            <a:r>
              <a:rPr lang="tr-TR" i="1" dirty="0"/>
              <a:t> </a:t>
            </a:r>
            <a:r>
              <a:rPr lang="tr-TR" dirty="0"/>
              <a:t>ve </a:t>
            </a:r>
            <a:r>
              <a:rPr lang="tr-TR" i="1" dirty="0" err="1"/>
              <a:t>Priority</a:t>
            </a:r>
            <a:r>
              <a:rPr lang="tr-TR" i="1" dirty="0"/>
              <a:t> </a:t>
            </a:r>
            <a:r>
              <a:rPr lang="tr-TR" i="1" dirty="0" err="1"/>
              <a:t>Scheduling</a:t>
            </a:r>
            <a:r>
              <a:rPr lang="tr-TR" i="1" dirty="0"/>
              <a:t> </a:t>
            </a:r>
            <a:r>
              <a:rPr lang="tr-TR" dirty="0"/>
              <a:t>gibi çeşitli çizelgeleme (</a:t>
            </a:r>
            <a:r>
              <a:rPr lang="tr-TR" i="1" dirty="0" err="1"/>
              <a:t>scheduling</a:t>
            </a:r>
            <a:r>
              <a:rPr lang="tr-TR" dirty="0"/>
              <a:t>) algoritmaları kullanır.</a:t>
            </a:r>
          </a:p>
          <a:p>
            <a:r>
              <a:rPr lang="tr-TR" dirty="0"/>
              <a:t>Eşzamanlı yazdırma işlemini optimize etmek için, işletim sistemi </a:t>
            </a:r>
            <a:r>
              <a:rPr lang="tr-TR" i="1" dirty="0"/>
              <a:t>ara belleğe alma </a:t>
            </a:r>
            <a:r>
              <a:rPr lang="tr-TR" dirty="0"/>
              <a:t>ve </a:t>
            </a:r>
            <a:r>
              <a:rPr lang="tr-TR" i="1" dirty="0"/>
              <a:t>biriktirme (</a:t>
            </a:r>
            <a:r>
              <a:rPr lang="tr-TR" i="1" dirty="0" err="1"/>
              <a:t>spooling</a:t>
            </a:r>
            <a:r>
              <a:rPr lang="tr-TR" i="1" dirty="0"/>
              <a:t>)</a:t>
            </a:r>
            <a:r>
              <a:rPr lang="tr-TR" dirty="0"/>
              <a:t> tekniklerini kullanır.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00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Birçok Program Aynı Anda Yazdırmak İsterse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04" y="1848533"/>
            <a:ext cx="7620392" cy="4305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11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Süreçlerin Kaynak Kullanımının Hesaplanması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 sürecin kaynak kullanımı, görevi tamamlaması için ihtiyaç duyulan CPU zamanı, bellek miktarı ve G/Ç işlem sayısı üzerinden tanımlanır.</a:t>
            </a:r>
          </a:p>
          <a:p>
            <a:r>
              <a:rPr lang="tr-TR" dirty="0"/>
              <a:t>Windows'ta performans sayaçları, Linux'ta /</a:t>
            </a:r>
            <a:r>
              <a:rPr lang="tr-TR" dirty="0" err="1"/>
              <a:t>proc</a:t>
            </a:r>
            <a:r>
              <a:rPr lang="tr-TR" dirty="0"/>
              <a:t> dosya sistemi gibi performans izleme araçları ile süreçlerin </a:t>
            </a:r>
            <a:r>
              <a:rPr lang="tr-TR" b="1" dirty="0"/>
              <a:t>işlemci kullanımı </a:t>
            </a:r>
            <a:r>
              <a:rPr lang="tr-TR" dirty="0"/>
              <a:t>ölçülebilir.</a:t>
            </a:r>
          </a:p>
          <a:p>
            <a:r>
              <a:rPr lang="tr-TR" dirty="0"/>
              <a:t>Bellek tahsis etme ve serbest bırakma modelleri izlenerek ve sürecin </a:t>
            </a:r>
            <a:r>
              <a:rPr lang="tr-TR" i="1" dirty="0"/>
              <a:t>çalışma kümesinin</a:t>
            </a:r>
            <a:r>
              <a:rPr lang="tr-TR" dirty="0"/>
              <a:t> boyutu izlenerek </a:t>
            </a:r>
            <a:r>
              <a:rPr lang="tr-TR" b="1" dirty="0"/>
              <a:t>bellek kullanımı</a:t>
            </a:r>
            <a:r>
              <a:rPr lang="tr-TR" dirty="0"/>
              <a:t> ölçülebilir.</a:t>
            </a:r>
          </a:p>
          <a:p>
            <a:r>
              <a:rPr lang="tr-TR" dirty="0"/>
              <a:t>Sistem çağrıları ve G/Ç istekleri izlenerek gerçekleştirilen </a:t>
            </a:r>
            <a:r>
              <a:rPr lang="tr-TR" b="1" dirty="0"/>
              <a:t>G/Ç işlemlerinin sayısı </a:t>
            </a:r>
            <a:r>
              <a:rPr lang="tr-TR" dirty="0"/>
              <a:t>ölçülebilir.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86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Kaynaklar Çoklandığında Adalet ve Verimlilik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Kaynaklarda artış, </a:t>
            </a:r>
          </a:p>
          <a:p>
            <a:pPr lvl="1"/>
            <a:r>
              <a:rPr lang="tr-TR" dirty="0"/>
              <a:t>performans ve hızlı yanıt verebilirlik gibi </a:t>
            </a:r>
            <a:r>
              <a:rPr lang="tr-TR" b="1" dirty="0"/>
              <a:t>faydalar </a:t>
            </a:r>
            <a:r>
              <a:rPr lang="tr-TR" dirty="0"/>
              <a:t>sağlayabilir, </a:t>
            </a:r>
          </a:p>
          <a:p>
            <a:pPr lvl="1"/>
            <a:r>
              <a:rPr lang="tr-TR" dirty="0"/>
              <a:t>kaynakların adil ve verimli kullanımını sağlamak gibi </a:t>
            </a:r>
            <a:r>
              <a:rPr lang="tr-TR" b="1" dirty="0"/>
              <a:t>zorluklar </a:t>
            </a:r>
            <a:r>
              <a:rPr lang="tr-TR" dirty="0"/>
              <a:t>getirir.</a:t>
            </a:r>
          </a:p>
          <a:p>
            <a:r>
              <a:rPr lang="tr-TR" dirty="0"/>
              <a:t>Adalet ve verimliliği sağlamak için kaynak </a:t>
            </a:r>
            <a:r>
              <a:rPr lang="tr-TR" i="1" dirty="0"/>
              <a:t>çizelgeleme (</a:t>
            </a:r>
            <a:r>
              <a:rPr lang="tr-TR" i="1" dirty="0" err="1"/>
              <a:t>scheduling</a:t>
            </a:r>
            <a:r>
              <a:rPr lang="tr-TR" i="1" dirty="0"/>
              <a:t>)</a:t>
            </a:r>
            <a:r>
              <a:rPr lang="tr-TR" dirty="0"/>
              <a:t> algoritmaları, </a:t>
            </a:r>
            <a:r>
              <a:rPr lang="tr-TR" i="1" dirty="0" err="1"/>
              <a:t>önceliklendirme</a:t>
            </a:r>
            <a:r>
              <a:rPr lang="tr-TR" dirty="0"/>
              <a:t>, kaynak </a:t>
            </a:r>
            <a:r>
              <a:rPr lang="tr-TR" i="1" dirty="0"/>
              <a:t>kotaları </a:t>
            </a:r>
            <a:r>
              <a:rPr lang="tr-TR" dirty="0"/>
              <a:t>gibi yaklaşımlar kullanılır.</a:t>
            </a:r>
          </a:p>
          <a:p>
            <a:r>
              <a:rPr lang="tr-TR" dirty="0"/>
              <a:t>Kullanılacak yaklaşım, </a:t>
            </a:r>
          </a:p>
          <a:p>
            <a:pPr lvl="1"/>
            <a:r>
              <a:rPr lang="tr-TR" dirty="0"/>
              <a:t>sistemin ve kullanıcının özel gereksinimlerine ve hedeflerine,</a:t>
            </a:r>
          </a:p>
          <a:p>
            <a:pPr lvl="1"/>
            <a:r>
              <a:rPr lang="tr-TR" dirty="0"/>
              <a:t>çalışan süreçlerin doğasına ve davranışına bağlıdır.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776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Sistemlerinin Tarihi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İlk jenerasyon (</a:t>
            </a:r>
            <a:r>
              <a:rPr lang="tr-TR" i="1" dirty="0"/>
              <a:t>1945-55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Vakum tüplü sistemler</a:t>
            </a:r>
          </a:p>
          <a:p>
            <a:r>
              <a:rPr lang="tr-TR" dirty="0"/>
              <a:t>İkinci jenerasyon (</a:t>
            </a:r>
            <a:r>
              <a:rPr lang="tr-TR" i="1" dirty="0"/>
              <a:t>1955-65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Transistörlü ve toplu işlem (</a:t>
            </a:r>
            <a:r>
              <a:rPr lang="tr-TR" i="1" dirty="0" err="1"/>
              <a:t>batch</a:t>
            </a:r>
            <a:r>
              <a:rPr lang="tr-TR" dirty="0"/>
              <a:t>) sistemler</a:t>
            </a:r>
          </a:p>
          <a:p>
            <a:r>
              <a:rPr lang="tr-TR" dirty="0"/>
              <a:t>Üçüncü jenerasyon (</a:t>
            </a:r>
            <a:r>
              <a:rPr lang="tr-TR" i="1" dirty="0"/>
              <a:t>1965-1980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Entegre yongalar (</a:t>
            </a:r>
            <a:r>
              <a:rPr lang="tr-TR" i="1" dirty="0"/>
              <a:t>IC</a:t>
            </a:r>
            <a:r>
              <a:rPr lang="tr-TR" dirty="0"/>
              <a:t>) ve çoklu programlama (</a:t>
            </a:r>
            <a:r>
              <a:rPr lang="tr-TR" i="1" dirty="0" err="1"/>
              <a:t>multi-programming</a:t>
            </a:r>
            <a:r>
              <a:rPr lang="tr-TR" dirty="0"/>
              <a:t>)</a:t>
            </a:r>
          </a:p>
          <a:p>
            <a:r>
              <a:rPr lang="tr-TR" dirty="0"/>
              <a:t>Dördüncü jenerasyon (</a:t>
            </a:r>
            <a:r>
              <a:rPr lang="tr-TR" i="1" dirty="0"/>
              <a:t>1980-günümüz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Kişisel bilgisayarlar (</a:t>
            </a:r>
            <a:r>
              <a:rPr lang="tr-TR" i="1" dirty="0" err="1"/>
              <a:t>Personal</a:t>
            </a:r>
            <a:r>
              <a:rPr lang="tr-TR" i="1" dirty="0"/>
              <a:t> </a:t>
            </a:r>
            <a:r>
              <a:rPr lang="tr-TR" i="1" dirty="0" err="1"/>
              <a:t>Computer</a:t>
            </a:r>
            <a:r>
              <a:rPr lang="tr-TR" dirty="0"/>
              <a:t>)</a:t>
            </a:r>
          </a:p>
          <a:p>
            <a:r>
              <a:rPr lang="tr-TR" dirty="0"/>
              <a:t>Beşinci jenerasyon (</a:t>
            </a:r>
            <a:r>
              <a:rPr lang="tr-TR" i="1" dirty="0"/>
              <a:t>1990-günümüz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Mobil bilgisayarlar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53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Vakum Tüplü Sistemler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Büyük ve yavaş.</a:t>
            </a:r>
          </a:p>
          <a:p>
            <a:r>
              <a:rPr lang="tr-TR" dirty="0"/>
              <a:t>Mühendisler tasarlar, inşa eder, çalıştırır ve bakımını yapar.</a:t>
            </a:r>
          </a:p>
          <a:p>
            <a:r>
              <a:rPr lang="tr-TR" dirty="0"/>
              <a:t>Makine diliyle veya kablolar kullanılarak programlanır.</a:t>
            </a:r>
          </a:p>
          <a:p>
            <a:r>
              <a:rPr lang="tr-TR" dirty="0"/>
              <a:t>Takılabilir kartlar ile çalışır.</a:t>
            </a:r>
          </a:p>
          <a:p>
            <a:r>
              <a:rPr lang="tr-TR" dirty="0"/>
              <a:t>Ağırlıklı olarak sayısal hesaplamalar yapar.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09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Transistörlü ve Toplu İşlem (</a:t>
            </a:r>
            <a:r>
              <a:rPr lang="tr-TR" dirty="0" err="1"/>
              <a:t>batch</a:t>
            </a:r>
            <a:r>
              <a:rPr lang="tr-TR" dirty="0"/>
              <a:t>) Sistemler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Transistörler</a:t>
            </a:r>
            <a:r>
              <a:rPr lang="tr-TR" dirty="0"/>
              <a:t>, vakum tüplerin yerini aldılar.</a:t>
            </a:r>
          </a:p>
          <a:p>
            <a:pPr lvl="1"/>
            <a:r>
              <a:rPr lang="tr-TR" dirty="0"/>
              <a:t>daha küçük, daha güvenilir ve daha enerji verimli.</a:t>
            </a:r>
          </a:p>
          <a:p>
            <a:r>
              <a:rPr lang="tr-TR" dirty="0"/>
              <a:t>İşlemler işlem kuyruğuna eklenir ve işletim sistemi sırayla yürütür.</a:t>
            </a:r>
          </a:p>
          <a:p>
            <a:pPr lvl="1"/>
            <a:r>
              <a:rPr lang="tr-TR" dirty="0"/>
              <a:t>İşlemlerin paralel olarak yürütülmesine izin vermez.</a:t>
            </a:r>
          </a:p>
          <a:p>
            <a:pPr lvl="1"/>
            <a:r>
              <a:rPr lang="tr-TR" dirty="0"/>
              <a:t>İşlemlerin manuel olarak yürütülmesini gerektirir.</a:t>
            </a:r>
          </a:p>
          <a:p>
            <a:pPr lvl="1"/>
            <a:r>
              <a:rPr lang="tr-TR" dirty="0"/>
              <a:t>Veri işleme, hesaplama ve raporlama gibi işlemler için kullanılır.</a:t>
            </a:r>
          </a:p>
          <a:p>
            <a:pPr lvl="1"/>
            <a:r>
              <a:rPr lang="tr-TR" dirty="0"/>
              <a:t>Gerçek zamanlı işlemler için uygun değildir.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3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Transistörlü ve Toplu İşlem Sistemler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Eski bir toplu sistem. </a:t>
            </a:r>
          </a:p>
          <a:p>
            <a:pPr marL="514350" indent="-514350">
              <a:buAutoNum type="alphaLcParenBoth"/>
            </a:pPr>
            <a:r>
              <a:rPr lang="tr-TR" dirty="0"/>
              <a:t>Programcılar 1401'e kartlar getirir. </a:t>
            </a:r>
          </a:p>
          <a:p>
            <a:pPr marL="514350" indent="-514350">
              <a:buAutoNum type="alphaLcParenBoth"/>
            </a:pPr>
            <a:r>
              <a:rPr lang="tr-TR" dirty="0"/>
              <a:t>1401, iş kartlarını kasede (</a:t>
            </a:r>
            <a:r>
              <a:rPr lang="tr-TR" i="1" dirty="0"/>
              <a:t>teyp</a:t>
            </a:r>
            <a:r>
              <a:rPr lang="tr-TR" dirty="0"/>
              <a:t>) okur.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456" y="2237229"/>
            <a:ext cx="3967044" cy="370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94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Transistörler</a:t>
            </a:r>
            <a:r>
              <a:rPr lang="tr-TR" dirty="0"/>
              <a:t> ve Toplu Sistemler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(c) Girdi bandının 7094'e taşınması. </a:t>
            </a:r>
          </a:p>
          <a:p>
            <a:pPr marL="0" indent="0">
              <a:buNone/>
            </a:pPr>
            <a:r>
              <a:rPr lang="tr-TR" dirty="0"/>
              <a:t>(d) 7094 hesaplamaları yapar. </a:t>
            </a:r>
          </a:p>
          <a:p>
            <a:pPr marL="0" indent="0">
              <a:buNone/>
            </a:pPr>
            <a:r>
              <a:rPr lang="tr-TR" dirty="0"/>
              <a:t>(e) Çıktı bandının 1401'e taşınması. </a:t>
            </a:r>
          </a:p>
          <a:p>
            <a:pPr marL="0" indent="0">
              <a:buNone/>
            </a:pPr>
            <a:r>
              <a:rPr lang="tr-TR" dirty="0"/>
              <a:t>(f) 1401 çıktıyı yazdırır.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859" y="2870898"/>
            <a:ext cx="6875884" cy="3634727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517609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IBM 1401 ve 7094, </a:t>
            </a:r>
            <a:r>
              <a:rPr lang="tr-TR" dirty="0" err="1"/>
              <a:t>System</a:t>
            </a:r>
            <a:r>
              <a:rPr lang="tr-TR" dirty="0"/>
              <a:t>/360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IBM 1401, 1959'da tanıtılan ticari ve bilimsel uygulamalarda </a:t>
            </a:r>
            <a:r>
              <a:rPr lang="tr-TR" i="1" dirty="0"/>
              <a:t>yaygın olarak kullanılan </a:t>
            </a:r>
            <a:r>
              <a:rPr lang="tr-TR" dirty="0"/>
              <a:t>ilk bilgisayarlardan.</a:t>
            </a:r>
          </a:p>
          <a:p>
            <a:r>
              <a:rPr lang="tr-TR" dirty="0"/>
              <a:t>IBM 7094, 1962'de tanıtılan 1401'in daha güçlü versiyonu. Bilimsel ve teknik alanlarda kullanıldı. Zaman paylaşımını destekleyen ve </a:t>
            </a:r>
            <a:r>
              <a:rPr lang="tr-TR" i="1" dirty="0"/>
              <a:t>çok kullanıcının aynı anda sisteme erişebildiği </a:t>
            </a:r>
            <a:r>
              <a:rPr lang="tr-TR" dirty="0"/>
              <a:t>ilk bilgisayarlardan.</a:t>
            </a:r>
          </a:p>
          <a:p>
            <a:r>
              <a:rPr lang="tr-TR" dirty="0"/>
              <a:t>Hem 1401 hem de 7094, ilk büyük ölçekli işletim sistemlerinden biri olan </a:t>
            </a:r>
            <a:r>
              <a:rPr lang="tr-TR" i="1" dirty="0"/>
              <a:t>IBM </a:t>
            </a:r>
            <a:r>
              <a:rPr lang="tr-TR" i="1" dirty="0" err="1"/>
              <a:t>System</a:t>
            </a:r>
            <a:r>
              <a:rPr lang="tr-TR" i="1" dirty="0"/>
              <a:t>/360 </a:t>
            </a:r>
            <a:r>
              <a:rPr lang="tr-TR" dirty="0"/>
              <a:t>İşletim Sistemi (</a:t>
            </a:r>
            <a:r>
              <a:rPr lang="tr-TR" i="1" dirty="0"/>
              <a:t>OS/360</a:t>
            </a:r>
            <a:r>
              <a:rPr lang="tr-TR" dirty="0"/>
              <a:t>) altında çalışıyordu.</a:t>
            </a:r>
          </a:p>
          <a:p>
            <a:r>
              <a:rPr lang="tr-TR" dirty="0"/>
              <a:t>Birden çok uygulamayı aynı anda çalıştırmayı ve yazıcı, teyp ve disk sürücüsü gibi kaynakları birden çok kullanıcı arasında paylaşmayı mümkün kıldı.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22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Tipik bir FMS İşinin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FMS (</a:t>
            </a:r>
            <a:r>
              <a:rPr lang="tr-TR" i="1" dirty="0" err="1"/>
              <a:t>Flexible</a:t>
            </a:r>
            <a:r>
              <a:rPr lang="tr-TR" i="1" dirty="0"/>
              <a:t> </a:t>
            </a:r>
            <a:r>
              <a:rPr lang="tr-TR" i="1" dirty="0" err="1"/>
              <a:t>manufacturing</a:t>
            </a:r>
            <a:r>
              <a:rPr lang="tr-TR" i="1" dirty="0"/>
              <a:t> </a:t>
            </a:r>
            <a:r>
              <a:rPr lang="tr-TR" i="1" dirty="0" err="1"/>
              <a:t>system</a:t>
            </a:r>
            <a:r>
              <a:rPr lang="tr-TR" dirty="0"/>
              <a:t>)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296" y="2242880"/>
            <a:ext cx="6125430" cy="3696216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928110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FMS Esnek Üretim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Fabrikada üretim sürecini otomatikleştiren bilgisayar kontrollü bir sistemdir.</a:t>
            </a:r>
          </a:p>
          <a:p>
            <a:r>
              <a:rPr lang="tr-TR" dirty="0"/>
              <a:t>Malzeme taşıma, işleme ve montaj gibi bir dizi üretim sürecini tek bir otomatik sistemde birleştirir.</a:t>
            </a:r>
          </a:p>
          <a:p>
            <a:r>
              <a:rPr lang="tr-TR" dirty="0"/>
              <a:t>İşletim sistemleri, </a:t>
            </a:r>
            <a:r>
              <a:rPr lang="tr-TR" dirty="0" err="1"/>
              <a:t>FMS'nin</a:t>
            </a:r>
            <a:r>
              <a:rPr lang="tr-TR" dirty="0"/>
              <a:t> çalışmasında çok önemli bir rol oynamaktadır.</a:t>
            </a:r>
          </a:p>
          <a:p>
            <a:r>
              <a:rPr lang="tr-TR" dirty="0"/>
              <a:t>FMS ortamında işletim sistemi, güvenilir, verimli, ve ölçeklenebilir olmalıdır.</a:t>
            </a:r>
          </a:p>
          <a:p>
            <a:r>
              <a:rPr lang="tr-TR" dirty="0"/>
              <a:t>FMS ortamlarında özel işletim sistemlerinin kullanılması, </a:t>
            </a:r>
          </a:p>
          <a:p>
            <a:pPr lvl="1"/>
            <a:r>
              <a:rPr lang="tr-TR" dirty="0"/>
              <a:t>üretim verimliliği,</a:t>
            </a:r>
          </a:p>
          <a:p>
            <a:pPr lvl="1"/>
            <a:r>
              <a:rPr lang="tr-TR" dirty="0"/>
              <a:t>gerçek zamanlı kontrol, </a:t>
            </a:r>
          </a:p>
          <a:p>
            <a:pPr lvl="1"/>
            <a:r>
              <a:rPr lang="tr-TR" dirty="0"/>
              <a:t>geliştirilmiş veri yönetimi sağlar.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26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Tümleşik Devreler ve Çoklu Programlama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Tümleşik devreler (</a:t>
            </a:r>
            <a:r>
              <a:rPr lang="tr-TR" i="1" dirty="0" err="1"/>
              <a:t>integrated</a:t>
            </a:r>
            <a:r>
              <a:rPr lang="tr-TR" i="1" dirty="0"/>
              <a:t> </a:t>
            </a:r>
            <a:r>
              <a:rPr lang="tr-TR" i="1" dirty="0" err="1"/>
              <a:t>circuit</a:t>
            </a:r>
            <a:r>
              <a:rPr lang="tr-TR" dirty="0"/>
              <a:t>) </a:t>
            </a:r>
            <a:r>
              <a:rPr lang="tr-TR" dirty="0" err="1"/>
              <a:t>transistörlerin</a:t>
            </a:r>
            <a:r>
              <a:rPr lang="tr-TR" dirty="0"/>
              <a:t> yerini aldı.</a:t>
            </a:r>
          </a:p>
          <a:p>
            <a:pPr lvl="1"/>
            <a:r>
              <a:rPr lang="tr-TR" dirty="0"/>
              <a:t>Daha küçük, daha güvenilir ve daha enerji verimli.</a:t>
            </a:r>
          </a:p>
          <a:p>
            <a:r>
              <a:rPr lang="tr-TR" dirty="0"/>
              <a:t>Çoklu programlama, birden fazla işlemi aynı anda yürütmek için kullanılır. </a:t>
            </a:r>
          </a:p>
          <a:p>
            <a:pPr lvl="1"/>
            <a:r>
              <a:rPr lang="tr-TR" dirty="0"/>
              <a:t>Dinamik olarak işlemlerin ağırlıklarının ayarlanmasını sağlar.</a:t>
            </a:r>
          </a:p>
          <a:p>
            <a:pPr lvl="1"/>
            <a:r>
              <a:rPr lang="tr-TR" dirty="0"/>
              <a:t>İşlemler arasında eşitliği (</a:t>
            </a:r>
            <a:r>
              <a:rPr lang="tr-TR" i="1" dirty="0" err="1"/>
              <a:t>fairness</a:t>
            </a:r>
            <a:r>
              <a:rPr lang="tr-TR" dirty="0"/>
              <a:t>) sağlar.</a:t>
            </a:r>
          </a:p>
          <a:p>
            <a:pPr lvl="1"/>
            <a:r>
              <a:rPr lang="tr-TR" dirty="0"/>
              <a:t>İşlemlerin paralel olarak yürütülmesini sağlar.</a:t>
            </a:r>
          </a:p>
          <a:p>
            <a:pPr lvl="1"/>
            <a:r>
              <a:rPr lang="tr-TR" dirty="0"/>
              <a:t>Gerçek zamanlı işlemler için uygun.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55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Tümleşik Devreler ve Çoklu Programlama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Bellekte üç işi olan bir çoklu programlama sistemi.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181" y="2628696"/>
            <a:ext cx="4029637" cy="2924583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30870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Kişisel Bilgisayarlar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Bilgisayarların fiyatları büyük ölçüde düşmüştür.</a:t>
            </a:r>
          </a:p>
          <a:p>
            <a:r>
              <a:rPr lang="tr-TR" i="1" dirty="0"/>
              <a:t>CP/M</a:t>
            </a:r>
            <a:r>
              <a:rPr lang="tr-TR" dirty="0"/>
              <a:t>: İlk disk tabanlı işletim sistemi.</a:t>
            </a:r>
          </a:p>
          <a:p>
            <a:r>
              <a:rPr lang="tr-TR" dirty="0"/>
              <a:t>1980: </a:t>
            </a:r>
            <a:r>
              <a:rPr lang="tr-TR" i="1" dirty="0"/>
              <a:t>IBM PC</a:t>
            </a:r>
            <a:r>
              <a:rPr lang="tr-TR" dirty="0"/>
              <a:t>, </a:t>
            </a:r>
            <a:r>
              <a:rPr lang="tr-TR" i="1" dirty="0"/>
              <a:t>Basic </a:t>
            </a:r>
            <a:r>
              <a:rPr lang="tr-TR" dirty="0"/>
              <a:t>dili yorumlayıcı, </a:t>
            </a:r>
            <a:r>
              <a:rPr lang="tr-TR" i="1" dirty="0"/>
              <a:t>DOS</a:t>
            </a:r>
            <a:r>
              <a:rPr lang="tr-TR" dirty="0"/>
              <a:t>, </a:t>
            </a:r>
            <a:r>
              <a:rPr lang="tr-TR" i="1" dirty="0"/>
              <a:t>MS-DOS</a:t>
            </a:r>
          </a:p>
          <a:p>
            <a:r>
              <a:rPr lang="tr-TR" dirty="0"/>
              <a:t>GUI, </a:t>
            </a:r>
            <a:r>
              <a:rPr lang="tr-TR" i="1" dirty="0"/>
              <a:t>Lisa</a:t>
            </a:r>
            <a:r>
              <a:rPr lang="tr-TR" dirty="0"/>
              <a:t>, </a:t>
            </a:r>
            <a:r>
              <a:rPr lang="tr-TR" i="1" dirty="0"/>
              <a:t>Apple</a:t>
            </a:r>
            <a:r>
              <a:rPr lang="tr-TR" dirty="0"/>
              <a:t>: kullanıcı dostu arayüz.</a:t>
            </a:r>
          </a:p>
          <a:p>
            <a:r>
              <a:rPr lang="tr-TR" dirty="0"/>
              <a:t>Grafik </a:t>
            </a:r>
            <a:r>
              <a:rPr lang="tr-TR" dirty="0" err="1"/>
              <a:t>arayüzlü</a:t>
            </a:r>
            <a:r>
              <a:rPr lang="tr-TR" dirty="0"/>
              <a:t> </a:t>
            </a:r>
            <a:r>
              <a:rPr lang="tr-TR" i="1" dirty="0"/>
              <a:t>MS-DOS</a:t>
            </a:r>
            <a:r>
              <a:rPr lang="tr-TR" dirty="0"/>
              <a:t>, </a:t>
            </a:r>
            <a:r>
              <a:rPr lang="tr-TR" i="1" dirty="0"/>
              <a:t>Win95/98/ME</a:t>
            </a:r>
            <a:r>
              <a:rPr lang="tr-TR" dirty="0"/>
              <a:t>, </a:t>
            </a:r>
            <a:r>
              <a:rPr lang="tr-TR" i="1" dirty="0" err="1"/>
              <a:t>winNT</a:t>
            </a:r>
            <a:r>
              <a:rPr lang="tr-TR" i="1" dirty="0"/>
              <a:t>/XP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08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Kişisel Bilgisayarın Bileşenleri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192" y="1825625"/>
            <a:ext cx="8821615" cy="39582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009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Von</a:t>
            </a:r>
            <a:r>
              <a:rPr lang="tr-TR" dirty="0"/>
              <a:t> </a:t>
            </a:r>
            <a:r>
              <a:rPr lang="tr-TR" dirty="0" err="1"/>
              <a:t>Neumann</a:t>
            </a:r>
            <a:r>
              <a:rPr lang="tr-TR" dirty="0"/>
              <a:t> Mimarisi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DD5B21A-1DF1-4FBF-8A3A-8CDE974C3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825625"/>
            <a:ext cx="5387363" cy="42972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802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Tüm işlemler işlemci (</a:t>
            </a:r>
            <a:r>
              <a:rPr lang="tr-TR" i="1" dirty="0" err="1"/>
              <a:t>central</a:t>
            </a:r>
            <a:r>
              <a:rPr lang="tr-TR" i="1" dirty="0"/>
              <a:t> </a:t>
            </a:r>
            <a:r>
              <a:rPr lang="tr-TR" i="1" dirty="0" err="1"/>
              <a:t>processing</a:t>
            </a:r>
            <a:r>
              <a:rPr lang="tr-TR" i="1" dirty="0"/>
              <a:t> </a:t>
            </a:r>
            <a:r>
              <a:rPr lang="tr-TR" i="1" dirty="0" err="1"/>
              <a:t>unit</a:t>
            </a:r>
            <a:r>
              <a:rPr lang="tr-TR" dirty="0"/>
              <a:t>) tarafından yürütülür.</a:t>
            </a:r>
          </a:p>
          <a:p>
            <a:r>
              <a:rPr lang="tr-TR" dirty="0"/>
              <a:t>İşlemci, </a:t>
            </a:r>
          </a:p>
          <a:p>
            <a:pPr lvl="1"/>
            <a:r>
              <a:rPr lang="tr-TR" dirty="0"/>
              <a:t>Komutu alır, ve çözer. (</a:t>
            </a:r>
            <a:r>
              <a:rPr lang="tr-TR" i="1" dirty="0" err="1"/>
              <a:t>fetch</a:t>
            </a:r>
            <a:r>
              <a:rPr lang="tr-TR" i="1" dirty="0"/>
              <a:t>, </a:t>
            </a:r>
            <a:r>
              <a:rPr lang="tr-TR" i="1" dirty="0" err="1"/>
              <a:t>decode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Komutu yürütmek için gerekli olan işlemleri gerçekleştirir.</a:t>
            </a:r>
          </a:p>
          <a:p>
            <a:pPr lvl="1"/>
            <a:r>
              <a:rPr lang="tr-TR" dirty="0"/>
              <a:t>Çok çekirdekli yapıda olabilir.</a:t>
            </a:r>
          </a:p>
          <a:p>
            <a:pPr lvl="1"/>
            <a:r>
              <a:rPr lang="tr-TR" dirty="0"/>
              <a:t>Birden fazla işlemi aynı anda yürütebilir.</a:t>
            </a:r>
          </a:p>
          <a:p>
            <a:pPr lvl="1"/>
            <a:r>
              <a:rPr lang="tr-TR" dirty="0"/>
              <a:t>Hız, çekirdek sayısı, önbellek boyutu, veri yolu genişliği gibi özelliklere göre farklı performans sergiler.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91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Bilgisayarın beyni olarak anılır.</a:t>
            </a:r>
          </a:p>
          <a:p>
            <a:r>
              <a:rPr lang="tr-TR" dirty="0"/>
              <a:t>Komutu bellekten alır, çözer ve yürütür.</a:t>
            </a:r>
          </a:p>
          <a:p>
            <a:r>
              <a:rPr lang="tr-TR" b="1" dirty="0"/>
              <a:t>CPU Döngüsü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Getir (</a:t>
            </a:r>
            <a:r>
              <a:rPr lang="tr-TR" i="1" dirty="0" err="1"/>
              <a:t>fetch</a:t>
            </a:r>
            <a:r>
              <a:rPr lang="tr-TR" dirty="0"/>
              <a:t>), kodu çöz (</a:t>
            </a:r>
            <a:r>
              <a:rPr lang="tr-TR" i="1" dirty="0" err="1"/>
              <a:t>decode</a:t>
            </a:r>
            <a:r>
              <a:rPr lang="tr-TR" dirty="0"/>
              <a:t>), yürüt (</a:t>
            </a:r>
            <a:r>
              <a:rPr lang="tr-TR" i="1" dirty="0" err="1"/>
              <a:t>execute</a:t>
            </a:r>
            <a:r>
              <a:rPr lang="tr-TR" dirty="0"/>
              <a:t>).</a:t>
            </a:r>
          </a:p>
          <a:p>
            <a:r>
              <a:rPr lang="tr-TR" dirty="0"/>
              <a:t>Değişkenleri ve geçici sonuçları saklamak için yazmaçlara sahiptir:</a:t>
            </a:r>
          </a:p>
          <a:p>
            <a:pPr lvl="1"/>
            <a:r>
              <a:rPr lang="tr-TR" dirty="0"/>
              <a:t>Bellekten yazmaca (</a:t>
            </a:r>
            <a:r>
              <a:rPr lang="tr-TR" i="1" dirty="0" err="1"/>
              <a:t>register</a:t>
            </a:r>
            <a:r>
              <a:rPr lang="tr-TR" dirty="0"/>
              <a:t>) </a:t>
            </a:r>
            <a:r>
              <a:rPr lang="tr-TR" i="1" dirty="0"/>
              <a:t>yükler.</a:t>
            </a:r>
          </a:p>
          <a:p>
            <a:pPr lvl="1"/>
            <a:r>
              <a:rPr lang="tr-TR" dirty="0"/>
              <a:t>Yazmaçtan belleğe (</a:t>
            </a:r>
            <a:r>
              <a:rPr lang="tr-TR" i="1" dirty="0" err="1"/>
              <a:t>memory</a:t>
            </a:r>
            <a:r>
              <a:rPr lang="tr-TR" dirty="0"/>
              <a:t>) </a:t>
            </a:r>
            <a:r>
              <a:rPr lang="tr-TR" i="1" dirty="0"/>
              <a:t>saklar.</a:t>
            </a:r>
          </a:p>
          <a:p>
            <a:r>
              <a:rPr lang="tr-TR" i="1" dirty="0"/>
              <a:t>Program sayacı</a:t>
            </a:r>
            <a:r>
              <a:rPr lang="tr-TR" dirty="0"/>
              <a:t>: işletilecek bir sonraki komutu gösterir.</a:t>
            </a:r>
          </a:p>
          <a:p>
            <a:r>
              <a:rPr lang="tr-TR" i="1" dirty="0" err="1"/>
              <a:t>Yığıt</a:t>
            </a:r>
            <a:r>
              <a:rPr lang="tr-TR" i="1" dirty="0"/>
              <a:t> işaretçisi</a:t>
            </a:r>
            <a:r>
              <a:rPr lang="tr-TR" dirty="0"/>
              <a:t>: </a:t>
            </a:r>
            <a:r>
              <a:rPr lang="tr-TR" dirty="0" err="1"/>
              <a:t>yığıtın</a:t>
            </a:r>
            <a:r>
              <a:rPr lang="tr-TR" dirty="0"/>
              <a:t> geçerli (</a:t>
            </a:r>
            <a:r>
              <a:rPr lang="tr-TR" i="1" dirty="0" err="1"/>
              <a:t>valid</a:t>
            </a:r>
            <a:r>
              <a:rPr lang="tr-TR" dirty="0"/>
              <a:t>) üst konumunu gösterir.</a:t>
            </a:r>
          </a:p>
          <a:p>
            <a:r>
              <a:rPr lang="tr-TR" i="1" dirty="0"/>
              <a:t>PSW</a:t>
            </a:r>
            <a:r>
              <a:rPr lang="tr-TR" dirty="0"/>
              <a:t>: program durum sözcüğü, öncelik, </a:t>
            </a:r>
            <a:r>
              <a:rPr lang="tr-TR" dirty="0" err="1"/>
              <a:t>mod</a:t>
            </a:r>
            <a:r>
              <a:rPr lang="tr-TR" dirty="0"/>
              <a:t>, …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69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İşlemciler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Üç aşamalı bir boru hattı (</a:t>
            </a:r>
            <a:r>
              <a:rPr lang="tr-TR" i="1" dirty="0" err="1"/>
              <a:t>pipeline</a:t>
            </a:r>
            <a:r>
              <a:rPr lang="tr-TR" dirty="0"/>
              <a:t>). </a:t>
            </a:r>
          </a:p>
          <a:p>
            <a:pPr marL="0" indent="0">
              <a:buNone/>
            </a:pPr>
            <a:r>
              <a:rPr lang="tr-TR" dirty="0"/>
              <a:t>(b) Bir </a:t>
            </a:r>
            <a:r>
              <a:rPr lang="tr-TR" i="1" dirty="0" err="1"/>
              <a:t>superscalar</a:t>
            </a:r>
            <a:r>
              <a:rPr lang="tr-TR" i="1" dirty="0"/>
              <a:t> </a:t>
            </a:r>
            <a:r>
              <a:rPr lang="tr-TR" dirty="0"/>
              <a:t>işlemci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3000350"/>
            <a:ext cx="8096250" cy="2552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207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RAM (</a:t>
            </a:r>
            <a:r>
              <a:rPr lang="tr-TR" i="1" dirty="0" err="1"/>
              <a:t>Random</a:t>
            </a:r>
            <a:r>
              <a:rPr lang="tr-TR" i="1" dirty="0"/>
              <a:t> Access Memory - Rastgele erişimli bellek</a:t>
            </a:r>
            <a:r>
              <a:rPr lang="tr-TR" dirty="0"/>
              <a:t>)</a:t>
            </a:r>
          </a:p>
          <a:p>
            <a:r>
              <a:rPr lang="tr-TR" dirty="0"/>
              <a:t>Verileri geçici olarak saklar.</a:t>
            </a:r>
          </a:p>
          <a:p>
            <a:r>
              <a:rPr lang="tr-TR" dirty="0"/>
              <a:t>Verilere işlemci tarafından erişilir.</a:t>
            </a:r>
          </a:p>
          <a:p>
            <a:r>
              <a:rPr lang="tr-TR" dirty="0"/>
              <a:t>İşlemler arasında veri paylaşmayı ve hızlı erişimi sağlar.</a:t>
            </a:r>
          </a:p>
          <a:p>
            <a:r>
              <a:rPr lang="tr-TR" dirty="0"/>
              <a:t>Bellek boyutu, bilgisayarın performans ve kullanılabilirliğini etkiler.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970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(a) Paylaşımlı L2 </a:t>
            </a:r>
            <a:r>
              <a:rPr lang="tr-TR" dirty="0" err="1"/>
              <a:t>önbellekli</a:t>
            </a:r>
            <a:r>
              <a:rPr lang="tr-TR" dirty="0"/>
              <a:t> dört çekirdekli bir yonga (</a:t>
            </a:r>
            <a:r>
              <a:rPr lang="tr-TR" i="1" dirty="0" err="1"/>
              <a:t>chip</a:t>
            </a:r>
            <a:r>
              <a:rPr lang="tr-TR" dirty="0"/>
              <a:t>).</a:t>
            </a:r>
          </a:p>
          <a:p>
            <a:pPr marL="0" indent="0">
              <a:buNone/>
            </a:pPr>
            <a:r>
              <a:rPr lang="tr-TR" dirty="0"/>
              <a:t>(b) Ayrı L2 </a:t>
            </a:r>
            <a:r>
              <a:rPr lang="tr-TR" dirty="0" err="1"/>
              <a:t>önbellekli</a:t>
            </a:r>
            <a:r>
              <a:rPr lang="tr-TR" dirty="0"/>
              <a:t> dört çekirdekli bir yonga (</a:t>
            </a:r>
            <a:r>
              <a:rPr lang="tr-TR" i="1" dirty="0" err="1"/>
              <a:t>chip</a:t>
            </a:r>
            <a:r>
              <a:rPr lang="tr-TR" dirty="0"/>
              <a:t>).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727" y="2746793"/>
            <a:ext cx="6162822" cy="3973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889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Önbellek (</a:t>
            </a:r>
            <a:r>
              <a:rPr lang="tr-TR" dirty="0" err="1"/>
              <a:t>cache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İşlemci tarafından sıklıkla erişilen verileri geçici olarak depolar.</a:t>
            </a:r>
          </a:p>
          <a:p>
            <a:r>
              <a:rPr lang="tr-TR" dirty="0"/>
              <a:t>Yüksek hızlı bellek birimleridir.</a:t>
            </a:r>
          </a:p>
          <a:p>
            <a:r>
              <a:rPr lang="tr-TR" dirty="0"/>
              <a:t>Verilere erişmek için hızlı, düşük gecikmeli (</a:t>
            </a:r>
            <a:r>
              <a:rPr lang="tr-TR" i="1" dirty="0" err="1"/>
              <a:t>latency</a:t>
            </a:r>
            <a:r>
              <a:rPr lang="tr-TR" dirty="0"/>
              <a:t>) bir yol sağlar.</a:t>
            </a:r>
          </a:p>
          <a:p>
            <a:r>
              <a:rPr lang="tr-TR" b="1" dirty="0"/>
              <a:t>L1 önbellek</a:t>
            </a:r>
            <a:r>
              <a:rPr lang="tr-TR" dirty="0"/>
              <a:t>: En küçük ve en hızlı önbellek türüdür, işlemci ile tümleşik.</a:t>
            </a:r>
          </a:p>
          <a:p>
            <a:r>
              <a:rPr lang="tr-TR" b="1" dirty="0"/>
              <a:t>L2 önbellek</a:t>
            </a:r>
            <a:r>
              <a:rPr lang="tr-TR" dirty="0"/>
              <a:t>: İşlemci ile aynı yongadadır, daha büyük, daha yavaştır.</a:t>
            </a:r>
          </a:p>
          <a:p>
            <a:r>
              <a:rPr lang="tr-TR" b="1" dirty="0"/>
              <a:t>L3 önbellek</a:t>
            </a:r>
            <a:r>
              <a:rPr lang="tr-TR" dirty="0"/>
              <a:t>: En büyük ve en yavaş önbellek türü, yonga dışında bulunur.</a:t>
            </a:r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622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 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RAM</a:t>
            </a:r>
            <a:r>
              <a:rPr lang="tr-TR" dirty="0"/>
              <a:t>, (</a:t>
            </a:r>
            <a:r>
              <a:rPr lang="tr-TR" i="1" dirty="0" err="1"/>
              <a:t>Random</a:t>
            </a:r>
            <a:r>
              <a:rPr lang="tr-TR" i="1" dirty="0"/>
              <a:t> </a:t>
            </a:r>
            <a:r>
              <a:rPr lang="tr-TR" i="1" dirty="0" err="1"/>
              <a:t>access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Rastgele erişimli bellek.</a:t>
            </a:r>
          </a:p>
          <a:p>
            <a:pPr lvl="1"/>
            <a:r>
              <a:rPr lang="tr-TR" dirty="0"/>
              <a:t>Değiştirilebilir, hızlı, pahalı.</a:t>
            </a:r>
          </a:p>
          <a:p>
            <a:r>
              <a:rPr lang="tr-TR" b="1" dirty="0"/>
              <a:t>ROM</a:t>
            </a:r>
            <a:r>
              <a:rPr lang="tr-TR" dirty="0"/>
              <a:t>, (</a:t>
            </a:r>
            <a:r>
              <a:rPr lang="tr-TR" i="1" dirty="0"/>
              <a:t>Read </a:t>
            </a:r>
            <a:r>
              <a:rPr lang="tr-TR" i="1" dirty="0" err="1"/>
              <a:t>only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Salt okunur bellek.</a:t>
            </a:r>
          </a:p>
          <a:p>
            <a:pPr lvl="1"/>
            <a:r>
              <a:rPr lang="tr-TR" dirty="0"/>
              <a:t>Değiştirilemez, hızlı, ucuz.</a:t>
            </a:r>
          </a:p>
          <a:p>
            <a:pPr lvl="1"/>
            <a:r>
              <a:rPr lang="tr-TR" dirty="0"/>
              <a:t>BIOS, İşletim sistemi yükleyici (</a:t>
            </a:r>
            <a:r>
              <a:rPr lang="tr-TR" i="1" dirty="0" err="1"/>
              <a:t>bootloader</a:t>
            </a:r>
            <a:r>
              <a:rPr lang="tr-TR" dirty="0"/>
              <a:t>) ..</a:t>
            </a:r>
          </a:p>
          <a:p>
            <a:r>
              <a:rPr lang="tr-TR" b="1" dirty="0"/>
              <a:t>EEPROM,</a:t>
            </a:r>
            <a:r>
              <a:rPr lang="tr-TR" dirty="0"/>
              <a:t> (</a:t>
            </a:r>
            <a:r>
              <a:rPr lang="tr-TR" i="1" dirty="0" err="1"/>
              <a:t>Electrically</a:t>
            </a:r>
            <a:r>
              <a:rPr lang="tr-TR" i="1" dirty="0"/>
              <a:t> </a:t>
            </a:r>
            <a:r>
              <a:rPr lang="tr-TR" i="1" dirty="0" err="1"/>
              <a:t>Erasable</a:t>
            </a:r>
            <a:r>
              <a:rPr lang="tr-TR" i="1" dirty="0"/>
              <a:t> </a:t>
            </a:r>
            <a:r>
              <a:rPr lang="tr-TR" i="1" dirty="0" err="1"/>
              <a:t>Programmable</a:t>
            </a:r>
            <a:r>
              <a:rPr lang="tr-TR" i="1" dirty="0"/>
              <a:t> ROM</a:t>
            </a:r>
            <a:r>
              <a:rPr lang="tr-TR" dirty="0"/>
              <a:t>) </a:t>
            </a:r>
          </a:p>
          <a:p>
            <a:pPr lvl="1"/>
            <a:r>
              <a:rPr lang="tr-TR" dirty="0"/>
              <a:t>Elektriksel olarak silinebilir ve yeniden programlanabilir.</a:t>
            </a:r>
          </a:p>
          <a:p>
            <a:pPr lvl="1"/>
            <a:r>
              <a:rPr lang="tr-TR" dirty="0"/>
              <a:t>Yeniden yazılabilir, yavaş.</a:t>
            </a:r>
          </a:p>
          <a:p>
            <a:pPr lvl="1"/>
            <a:r>
              <a:rPr lang="tr-TR" dirty="0"/>
              <a:t>Taşınabilir müzik oynatıcılarındaki diskler 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22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Hiyerarşisi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725" y="1795513"/>
            <a:ext cx="7483475" cy="43449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449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 Hiyerarşisi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7E6D134-C41F-4C06-AAAF-DB2716C6C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2" y="2474937"/>
            <a:ext cx="8054975" cy="3381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2869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Bilgisayarın verileri alıp depoladığı/sakladığı yer.</a:t>
            </a:r>
          </a:p>
          <a:p>
            <a:r>
              <a:rPr lang="tr-TR" dirty="0"/>
              <a:t>İdeal olarak, yonga şeklinde ve büyük olmalıdır.</a:t>
            </a:r>
          </a:p>
          <a:p>
            <a:r>
              <a:rPr lang="tr-TR" dirty="0"/>
              <a:t>Bellek hiyerarşisi göz önünde bulundurulmalıdır.</a:t>
            </a:r>
          </a:p>
          <a:p>
            <a:r>
              <a:rPr lang="tr-TR" b="1" dirty="0"/>
              <a:t>Önbellek satırları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Bellek, önbellek satırlarına bölünür, sık kullanılanlar önbellekte saklanır.</a:t>
            </a:r>
          </a:p>
          <a:p>
            <a:pPr lvl="1"/>
            <a:r>
              <a:rPr lang="tr-TR" i="1" dirty="0" err="1"/>
              <a:t>Cache</a:t>
            </a:r>
            <a:r>
              <a:rPr lang="tr-TR" i="1" dirty="0"/>
              <a:t> hit/</a:t>
            </a:r>
            <a:r>
              <a:rPr lang="tr-TR" i="1" dirty="0" err="1"/>
              <a:t>miss</a:t>
            </a:r>
            <a:r>
              <a:rPr lang="tr-TR" dirty="0"/>
              <a:t>, aranan verinin önbellekte bulunup/bulunamaması.</a:t>
            </a:r>
          </a:p>
          <a:p>
            <a:pPr lvl="1"/>
            <a:r>
              <a:rPr lang="tr-TR" dirty="0"/>
              <a:t>Performansı artırmak için kullanılır.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2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Ana bellek, önbellek satırlarına bölünmüştür (</a:t>
            </a:r>
            <a:r>
              <a:rPr lang="tr-TR" i="1" dirty="0"/>
              <a:t>64 bayt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1. satırda 0-63, 2. satırda 64-127</a:t>
            </a:r>
          </a:p>
          <a:p>
            <a:r>
              <a:rPr lang="tr-TR" dirty="0"/>
              <a:t>Program bir sözcük (</a:t>
            </a:r>
            <a:r>
              <a:rPr lang="tr-TR" i="1" dirty="0" err="1"/>
              <a:t>word</a:t>
            </a:r>
            <a:r>
              <a:rPr lang="tr-TR" dirty="0"/>
              <a:t>) okuyacağında, donanım verinin önbellekte olup olmadığını kontrol eder.</a:t>
            </a:r>
          </a:p>
          <a:p>
            <a:pPr lvl="1"/>
            <a:r>
              <a:rPr lang="tr-TR" dirty="0"/>
              <a:t>Önbellekte bulunursa, </a:t>
            </a:r>
            <a:r>
              <a:rPr lang="tr-TR" i="1" dirty="0" err="1"/>
              <a:t>cache</a:t>
            </a:r>
            <a:r>
              <a:rPr lang="tr-TR" i="1" dirty="0"/>
              <a:t> hit</a:t>
            </a:r>
            <a:r>
              <a:rPr lang="tr-TR" dirty="0"/>
              <a:t> olur (2 döngü (</a:t>
            </a:r>
            <a:r>
              <a:rPr lang="tr-TR" i="1" dirty="0" err="1"/>
              <a:t>cycle</a:t>
            </a:r>
            <a:r>
              <a:rPr lang="tr-TR" i="1" dirty="0"/>
              <a:t>)</a:t>
            </a:r>
            <a:r>
              <a:rPr lang="tr-TR" dirty="0"/>
              <a:t>).</a:t>
            </a:r>
          </a:p>
          <a:p>
            <a:pPr lvl="1"/>
            <a:r>
              <a:rPr lang="tr-TR" dirty="0"/>
              <a:t>Bulunamazsa, veri yolu üzerinden ana bellekten talep edilir (maliyetli).</a:t>
            </a:r>
          </a:p>
          <a:p>
            <a:r>
              <a:rPr lang="tr-TR" dirty="0"/>
              <a:t>Önbellek pahalı olduğu için boyutu sınırlıdır.</a:t>
            </a:r>
          </a:p>
          <a:p>
            <a:r>
              <a:rPr lang="tr-TR" dirty="0"/>
              <a:t>Önbellek hiyerarşilere sahip olabilir.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1973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Önbellek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Yeni bir öğe, önbelleğe ne zaman yerleştirilmeli?</a:t>
            </a:r>
          </a:p>
          <a:p>
            <a:r>
              <a:rPr lang="tr-TR" dirty="0"/>
              <a:t>Yeni öğe, hangi önbellek satırına konulmalı?</a:t>
            </a:r>
          </a:p>
          <a:p>
            <a:r>
              <a:rPr lang="tr-TR" dirty="0"/>
              <a:t>Yer açmak gerektiğinde, önbellekten hangi öğe çıkarılmalı?</a:t>
            </a:r>
          </a:p>
          <a:p>
            <a:r>
              <a:rPr lang="tr-TR" dirty="0"/>
              <a:t>Çıkarılan öğe, bellekte nereye yerleştirilmeli?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47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Önbellek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Önbelleği yönetirken çeşitli faktörler göz önünde bulundurulur:</a:t>
            </a:r>
          </a:p>
          <a:p>
            <a:r>
              <a:rPr lang="tr-TR" b="1" dirty="0"/>
              <a:t>Boyutu</a:t>
            </a:r>
            <a:r>
              <a:rPr lang="tr-TR" dirty="0"/>
              <a:t>: ne kadar veri depolanabileceğini, dolayısıyla performansın ne kadar iyileştirilebileceğini etkiler.</a:t>
            </a:r>
          </a:p>
          <a:p>
            <a:r>
              <a:rPr lang="tr-TR" b="1" dirty="0"/>
              <a:t>Değiştirme ilkesi</a:t>
            </a:r>
            <a:r>
              <a:rPr lang="tr-TR" dirty="0"/>
              <a:t>: önbellek dolduğunda hangi verilerin yer değiştireceğine karar verilmeli, performans ile verimliliği dengeleyen bir ilke seçilmelidir.</a:t>
            </a:r>
          </a:p>
          <a:p>
            <a:r>
              <a:rPr lang="tr-TR" b="1" dirty="0"/>
              <a:t>Tutarlılık</a:t>
            </a:r>
            <a:r>
              <a:rPr lang="tr-TR" dirty="0"/>
              <a:t>: birden çok işlemcinin, eşzamanlı erişimlerinde önbellek tutarlı ve güncel kalmalıdır.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484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Verileri uzun süreli, kalıcı olarak saklar.</a:t>
            </a:r>
          </a:p>
          <a:p>
            <a:r>
              <a:rPr lang="tr-TR" dirty="0"/>
              <a:t>Okuma ve yazma işlemleri için veriler disk plakaları üzerinde saklanır.</a:t>
            </a:r>
          </a:p>
          <a:p>
            <a:r>
              <a:rPr lang="tr-TR" dirty="0"/>
              <a:t>Disk sürücüleri, farklı boyutlarda ve kapasitelerde olabilir.</a:t>
            </a:r>
          </a:p>
          <a:p>
            <a:r>
              <a:rPr lang="tr-TR" dirty="0"/>
              <a:t>Disk plakası, okuyucu/yazıcı kafa, motor ve kontrol elemanlarından oluşur.</a:t>
            </a:r>
          </a:p>
          <a:p>
            <a:pPr lvl="1"/>
            <a:r>
              <a:rPr lang="tr-TR" b="1" dirty="0"/>
              <a:t>Disk plakası</a:t>
            </a:r>
            <a:r>
              <a:rPr lang="tr-TR" dirty="0"/>
              <a:t>, verileri saklamak için kullanılan alandır.</a:t>
            </a:r>
          </a:p>
          <a:p>
            <a:pPr lvl="1"/>
            <a:r>
              <a:rPr lang="tr-TR" b="1" dirty="0"/>
              <a:t>Okuyucu/yazıcı kafası</a:t>
            </a:r>
            <a:r>
              <a:rPr lang="tr-TR" dirty="0"/>
              <a:t>, veri okuma ve yazma işlemleri için kullanılır.</a:t>
            </a:r>
          </a:p>
          <a:p>
            <a:pPr lvl="1"/>
            <a:r>
              <a:rPr lang="tr-TR" b="1" dirty="0"/>
              <a:t>Motor</a:t>
            </a:r>
            <a:r>
              <a:rPr lang="tr-TR" dirty="0"/>
              <a:t>, disk plakasını döndürür ve yazıcı kafasını hareket ettirir.</a:t>
            </a:r>
          </a:p>
          <a:p>
            <a:pPr lvl="1"/>
            <a:r>
              <a:rPr lang="tr-TR" b="1" dirty="0"/>
              <a:t>Kontrol elemanları</a:t>
            </a:r>
            <a:r>
              <a:rPr lang="tr-TR" dirty="0"/>
              <a:t>, disk sürücüsünün işlemlerini yönetir.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25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Ucuz, yüksek kapasiteli, ancak yavaş. </a:t>
            </a:r>
          </a:p>
          <a:p>
            <a:r>
              <a:rPr lang="tr-TR" dirty="0"/>
              <a:t>Mekanik hareketlere ihtiyaç duyar.</a:t>
            </a:r>
          </a:p>
          <a:p>
            <a:r>
              <a:rPr lang="tr-TR" i="1" dirty="0" err="1"/>
              <a:t>Arm</a:t>
            </a:r>
            <a:r>
              <a:rPr lang="tr-TR" i="1" dirty="0"/>
              <a:t>, </a:t>
            </a:r>
            <a:r>
              <a:rPr lang="tr-TR" i="1" dirty="0" err="1"/>
              <a:t>track</a:t>
            </a:r>
            <a:r>
              <a:rPr lang="tr-TR" i="1" dirty="0"/>
              <a:t>, </a:t>
            </a:r>
            <a:r>
              <a:rPr lang="tr-TR" i="1" dirty="0" err="1"/>
              <a:t>cylinder</a:t>
            </a:r>
            <a:r>
              <a:rPr lang="tr-TR" i="1" dirty="0"/>
              <a:t>, </a:t>
            </a:r>
            <a:r>
              <a:rPr lang="tr-TR" i="1" dirty="0" err="1"/>
              <a:t>sector</a:t>
            </a:r>
            <a:r>
              <a:rPr lang="tr-TR" i="1" dirty="0"/>
              <a:t>, </a:t>
            </a:r>
            <a:r>
              <a:rPr lang="tr-TR" i="1" dirty="0" err="1"/>
              <a:t>head</a:t>
            </a:r>
            <a:r>
              <a:rPr lang="tr-TR" i="1" dirty="0"/>
              <a:t>, </a:t>
            </a:r>
            <a:r>
              <a:rPr lang="tr-TR" i="1" dirty="0" err="1"/>
              <a:t>checksum</a:t>
            </a:r>
            <a:endParaRPr lang="tr-TR" i="1" dirty="0"/>
          </a:p>
          <a:p>
            <a:pPr lvl="1"/>
            <a:r>
              <a:rPr lang="tr-TR" i="1" dirty="0"/>
              <a:t>x diskinde y sektörünü oku </a:t>
            </a:r>
            <a:r>
              <a:rPr lang="tr-TR" dirty="0"/>
              <a:t>komutunu alır. </a:t>
            </a:r>
          </a:p>
          <a:p>
            <a:pPr lvl="1"/>
            <a:r>
              <a:rPr lang="tr-TR" dirty="0"/>
              <a:t>x ve y bilgisini [</a:t>
            </a:r>
            <a:r>
              <a:rPr lang="en-US" dirty="0"/>
              <a:t>cylinder, sector, head</a:t>
            </a:r>
            <a:r>
              <a:rPr lang="tr-TR" dirty="0"/>
              <a:t>]</a:t>
            </a:r>
            <a:r>
              <a:rPr lang="en-US" dirty="0"/>
              <a:t> </a:t>
            </a:r>
            <a:r>
              <a:rPr lang="tr-TR" i="1" dirty="0"/>
              <a:t>adres </a:t>
            </a:r>
            <a:r>
              <a:rPr lang="tr-TR" dirty="0"/>
              <a:t>şekline çevirir. </a:t>
            </a:r>
          </a:p>
          <a:p>
            <a:pPr lvl="1"/>
            <a:r>
              <a:rPr lang="tr-TR" dirty="0"/>
              <a:t>Kolu </a:t>
            </a:r>
            <a:r>
              <a:rPr lang="tr-TR" i="1" dirty="0"/>
              <a:t>doğru silindire </a:t>
            </a:r>
            <a:r>
              <a:rPr lang="tr-TR" dirty="0"/>
              <a:t>hareket ettirir. </a:t>
            </a:r>
          </a:p>
          <a:p>
            <a:pPr lvl="1"/>
            <a:r>
              <a:rPr lang="tr-TR" dirty="0"/>
              <a:t>Kafanın </a:t>
            </a:r>
            <a:r>
              <a:rPr lang="tr-TR" i="1" dirty="0"/>
              <a:t>doğru sektör </a:t>
            </a:r>
            <a:r>
              <a:rPr lang="tr-TR" dirty="0"/>
              <a:t>üzerine gelmesini bekler. </a:t>
            </a:r>
          </a:p>
          <a:p>
            <a:pPr lvl="1"/>
            <a:r>
              <a:rPr lang="tr-TR" dirty="0"/>
              <a:t>Sürücüden gelen </a:t>
            </a:r>
            <a:r>
              <a:rPr lang="tr-TR" i="1" dirty="0"/>
              <a:t>bitleri </a:t>
            </a:r>
            <a:r>
              <a:rPr lang="tr-TR" dirty="0"/>
              <a:t>okur ve saklar. </a:t>
            </a:r>
          </a:p>
          <a:p>
            <a:pPr lvl="1"/>
            <a:r>
              <a:rPr lang="tr-TR" dirty="0"/>
              <a:t>Sağlama yapar. Okunan bitleri </a:t>
            </a:r>
            <a:r>
              <a:rPr lang="tr-TR" i="1" dirty="0"/>
              <a:t>sözcük </a:t>
            </a:r>
            <a:r>
              <a:rPr lang="tr-TR" dirty="0"/>
              <a:t>olarak bellekte saklar. </a:t>
            </a:r>
          </a:p>
          <a:p>
            <a:r>
              <a:rPr lang="tr-TR" dirty="0"/>
              <a:t>Disk, </a:t>
            </a:r>
            <a:r>
              <a:rPr lang="tr-TR" i="1" dirty="0"/>
              <a:t>Sanal belleğin </a:t>
            </a:r>
            <a:r>
              <a:rPr lang="tr-TR" dirty="0"/>
              <a:t>uygulanmasına yardımcı olur.</a:t>
            </a:r>
          </a:p>
          <a:p>
            <a:pPr lvl="1"/>
            <a:r>
              <a:rPr lang="tr-TR" dirty="0"/>
              <a:t>Bellek yetersiz kaldığında, depolama alanı olarak diskler kullanılır.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1348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Disk Sürücüsünün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85" y="1965630"/>
            <a:ext cx="6785229" cy="39456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57896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Veri alma/gönderme işlemlerini gerçekleştirir.</a:t>
            </a:r>
          </a:p>
          <a:p>
            <a:r>
              <a:rPr lang="tr-TR" dirty="0"/>
              <a:t>Dış dünya ile bilgisayar arasındaki veri transferini sağlar.</a:t>
            </a:r>
          </a:p>
          <a:p>
            <a:pPr lvl="1"/>
            <a:r>
              <a:rPr lang="tr-TR" dirty="0"/>
              <a:t>Klavye, fare, ekran, yazıcı, tarayıcı, ses kartı, kameralar, vb.</a:t>
            </a:r>
          </a:p>
          <a:p>
            <a:r>
              <a:rPr lang="tr-TR" dirty="0"/>
              <a:t>İşletim sistemi tarafından yönetilir.</a:t>
            </a:r>
          </a:p>
          <a:p>
            <a:r>
              <a:rPr lang="tr-TR" dirty="0"/>
              <a:t>Kullanıcının aygıtları kullanmasına izin verilir.</a:t>
            </a:r>
          </a:p>
          <a:p>
            <a:r>
              <a:rPr lang="tr-TR" dirty="0"/>
              <a:t>Bilgisayarın performansını ve kullanılabilirliğini etkiler.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2254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İki parçadan oluşur: </a:t>
            </a:r>
            <a:r>
              <a:rPr lang="tr-TR" i="1" dirty="0"/>
              <a:t>denetleyici</a:t>
            </a:r>
            <a:r>
              <a:rPr lang="tr-TR" dirty="0"/>
              <a:t> ve </a:t>
            </a:r>
            <a:r>
              <a:rPr lang="tr-TR" i="1" dirty="0"/>
              <a:t>aygıt</a:t>
            </a:r>
          </a:p>
          <a:p>
            <a:r>
              <a:rPr lang="tr-TR" b="1" dirty="0"/>
              <a:t>Denetleyici</a:t>
            </a:r>
            <a:r>
              <a:rPr lang="tr-TR" dirty="0"/>
              <a:t>: işletim sistemine basit bir arayüz sağlar.</a:t>
            </a:r>
          </a:p>
          <a:p>
            <a:r>
              <a:rPr lang="tr-TR" b="1" dirty="0"/>
              <a:t>Aygıt sürücüsü</a:t>
            </a:r>
            <a:r>
              <a:rPr lang="tr-TR" dirty="0"/>
              <a:t>: denetleyiciyle konuşur, komut verir ve yanıt alır.</a:t>
            </a:r>
          </a:p>
          <a:p>
            <a:r>
              <a:rPr lang="tr-TR" dirty="0"/>
              <a:t>İletişim </a:t>
            </a:r>
            <a:r>
              <a:rPr lang="tr-TR" dirty="0" err="1"/>
              <a:t>modları</a:t>
            </a:r>
            <a:r>
              <a:rPr lang="tr-TR" dirty="0"/>
              <a:t>:</a:t>
            </a:r>
          </a:p>
          <a:p>
            <a:pPr lvl="1"/>
            <a:r>
              <a:rPr lang="tr-TR" i="1" dirty="0"/>
              <a:t>Meşgul bekleme (</a:t>
            </a:r>
            <a:r>
              <a:rPr lang="tr-TR" i="1" dirty="0" err="1"/>
              <a:t>busy</a:t>
            </a:r>
            <a:r>
              <a:rPr lang="tr-TR" i="1" dirty="0"/>
              <a:t> </a:t>
            </a:r>
            <a:r>
              <a:rPr lang="tr-TR" i="1" dirty="0" err="1"/>
              <a:t>waiting</a:t>
            </a:r>
            <a:r>
              <a:rPr lang="tr-TR" i="1" dirty="0"/>
              <a:t>)</a:t>
            </a:r>
          </a:p>
          <a:p>
            <a:pPr lvl="1"/>
            <a:r>
              <a:rPr lang="tr-TR" i="1" dirty="0"/>
              <a:t>Kesme (</a:t>
            </a:r>
            <a:r>
              <a:rPr lang="tr-TR" i="1" dirty="0" err="1"/>
              <a:t>interrupt</a:t>
            </a:r>
            <a:r>
              <a:rPr lang="tr-TR" i="1" dirty="0"/>
              <a:t>)</a:t>
            </a:r>
          </a:p>
          <a:p>
            <a:pPr lvl="1"/>
            <a:r>
              <a:rPr lang="tr-TR" i="1" dirty="0"/>
              <a:t>DMA (</a:t>
            </a:r>
            <a:r>
              <a:rPr lang="tr-TR" i="1" dirty="0" err="1"/>
              <a:t>direct</a:t>
            </a:r>
            <a:r>
              <a:rPr lang="tr-TR" i="1" dirty="0"/>
              <a:t> </a:t>
            </a:r>
            <a:r>
              <a:rPr lang="tr-TR" i="1" dirty="0" err="1"/>
              <a:t>memory</a:t>
            </a:r>
            <a:r>
              <a:rPr lang="tr-TR" i="1" dirty="0"/>
              <a:t> </a:t>
            </a:r>
            <a:r>
              <a:rPr lang="tr-TR" i="1" dirty="0" err="1"/>
              <a:t>access</a:t>
            </a:r>
            <a:r>
              <a:rPr lang="tr-TR" i="1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92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Aygıt Sürücüsü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İşletim sistemi denetleyiciyle konuşur. (komut verir, yanıt alır)</a:t>
            </a:r>
          </a:p>
          <a:p>
            <a:r>
              <a:rPr lang="tr-TR" dirty="0"/>
              <a:t>Denetleyici üreticileri, her işletim sistemi için bir </a:t>
            </a:r>
            <a:r>
              <a:rPr lang="tr-TR" i="1" dirty="0"/>
              <a:t>sürücü</a:t>
            </a:r>
            <a:r>
              <a:rPr lang="tr-TR" dirty="0"/>
              <a:t> sağlar.</a:t>
            </a:r>
          </a:p>
          <a:p>
            <a:r>
              <a:rPr lang="tr-TR" dirty="0"/>
              <a:t>Sürücü, </a:t>
            </a:r>
            <a:r>
              <a:rPr lang="tr-TR" i="1" dirty="0"/>
              <a:t>çekirdek </a:t>
            </a:r>
            <a:r>
              <a:rPr lang="tr-TR" i="1" dirty="0" err="1"/>
              <a:t>modunda</a:t>
            </a:r>
            <a:r>
              <a:rPr lang="tr-TR" i="1" dirty="0"/>
              <a:t> </a:t>
            </a:r>
            <a:r>
              <a:rPr lang="tr-TR" dirty="0"/>
              <a:t>çalışır.</a:t>
            </a:r>
          </a:p>
          <a:p>
            <a:r>
              <a:rPr lang="tr-TR" dirty="0"/>
              <a:t>Denetleyici, sürücüyle iletişim kurmak için </a:t>
            </a:r>
            <a:r>
              <a:rPr lang="tr-TR" i="1" dirty="0"/>
              <a:t>yazmaçları (</a:t>
            </a:r>
            <a:r>
              <a:rPr lang="tr-TR" i="1" dirty="0" err="1"/>
              <a:t>register</a:t>
            </a:r>
            <a:r>
              <a:rPr lang="tr-TR" i="1" dirty="0"/>
              <a:t>) </a:t>
            </a:r>
            <a:r>
              <a:rPr lang="tr-TR" dirty="0"/>
              <a:t>kullanır.</a:t>
            </a:r>
          </a:p>
          <a:p>
            <a:r>
              <a:rPr lang="tr-TR" dirty="0"/>
              <a:t>Üç iletişim </a:t>
            </a:r>
            <a:r>
              <a:rPr lang="tr-TR" dirty="0" err="1"/>
              <a:t>modu</a:t>
            </a:r>
            <a:endParaRPr lang="tr-TR" dirty="0"/>
          </a:p>
          <a:p>
            <a:pPr lvl="1"/>
            <a:r>
              <a:rPr lang="tr-TR" dirty="0"/>
              <a:t>Sorgulama (</a:t>
            </a:r>
            <a:r>
              <a:rPr lang="tr-TR" i="1" dirty="0" err="1"/>
              <a:t>polling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Kesmeler (</a:t>
            </a:r>
            <a:r>
              <a:rPr lang="tr-TR" i="1" dirty="0" err="1"/>
              <a:t>interrupt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DMA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013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Sorgulama, Kesilme ve Doğrudan Bellek Erişimi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Sorgulama</a:t>
            </a:r>
            <a:r>
              <a:rPr lang="tr-TR" dirty="0"/>
              <a:t> (</a:t>
            </a:r>
            <a:r>
              <a:rPr lang="tr-TR" i="1" dirty="0" err="1"/>
              <a:t>polling</a:t>
            </a:r>
            <a:r>
              <a:rPr lang="tr-TR" dirty="0"/>
              <a:t>), aygıtın hazır olup olmadığını anlamak için aygıtın durumu kontrol edilir. </a:t>
            </a:r>
          </a:p>
          <a:p>
            <a:pPr lvl="1"/>
            <a:r>
              <a:rPr lang="tr-TR" dirty="0"/>
              <a:t>Döngü veya zamanlayıcı (</a:t>
            </a:r>
            <a:r>
              <a:rPr lang="tr-TR" i="1" dirty="0" err="1"/>
              <a:t>timer</a:t>
            </a:r>
            <a:r>
              <a:rPr lang="tr-TR" dirty="0"/>
              <a:t>) kullanılarak aygıt sürekli sorgulanır.</a:t>
            </a:r>
          </a:p>
          <a:p>
            <a:r>
              <a:rPr lang="tr-TR" b="1" dirty="0"/>
              <a:t>Kesmeler</a:t>
            </a:r>
            <a:r>
              <a:rPr lang="tr-TR" dirty="0"/>
              <a:t> (</a:t>
            </a:r>
            <a:r>
              <a:rPr lang="tr-TR" i="1" dirty="0" err="1"/>
              <a:t>interrupt</a:t>
            </a:r>
            <a:r>
              <a:rPr lang="tr-TR" dirty="0"/>
              <a:t>), aygıtın ilgilenilmesi gerektiğini bildirme yöntemidir. </a:t>
            </a:r>
          </a:p>
          <a:p>
            <a:pPr lvl="1"/>
            <a:r>
              <a:rPr lang="tr-TR" dirty="0"/>
              <a:t>Aygıt kesme oluşturduğunda, işletim sistemine bir sinyal gönderir, işletim sistemi mevcut görevini durdurur ve kesmeyi işler. </a:t>
            </a:r>
          </a:p>
          <a:p>
            <a:pPr lvl="1"/>
            <a:r>
              <a:rPr lang="tr-TR" dirty="0"/>
              <a:t>Sorgulamadan daha verimli ve duyarlı bir yöntemdir.</a:t>
            </a:r>
          </a:p>
          <a:p>
            <a:r>
              <a:rPr lang="tr-TR" b="1" dirty="0"/>
              <a:t>DMA</a:t>
            </a:r>
            <a:r>
              <a:rPr lang="tr-TR" dirty="0"/>
              <a:t>, işlemciyi dahil etmeden doğrudan aygıt ile ana bellek arasında veri aktarma yöntemidir. </a:t>
            </a:r>
          </a:p>
          <a:p>
            <a:pPr lvl="1"/>
            <a:r>
              <a:rPr lang="tr-TR" dirty="0"/>
              <a:t>Büyük miktarda veri aktarımı için hızlı ve verimli bir yöntemdir.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60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 - Sorgulama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Sürücü, denetleyiciye komut verir.</a:t>
            </a:r>
          </a:p>
          <a:p>
            <a:r>
              <a:rPr lang="tr-TR" dirty="0"/>
              <a:t>Sürücü, aygıt hazır olana kadar sorgular. Örneğin, </a:t>
            </a:r>
          </a:p>
          <a:p>
            <a:pPr lvl="1"/>
            <a:r>
              <a:rPr lang="tr-TR" dirty="0"/>
              <a:t>hazır olana kadar yazıcı denetleyicisini sorgula, </a:t>
            </a:r>
          </a:p>
          <a:p>
            <a:pPr lvl="1"/>
            <a:r>
              <a:rPr lang="tr-TR" dirty="0"/>
              <a:t>bir karakter gönder.</a:t>
            </a:r>
          </a:p>
          <a:p>
            <a:r>
              <a:rPr lang="tr-TR" dirty="0"/>
              <a:t>Yüksek işlemci kullanımına neden olur.</a:t>
            </a:r>
          </a:p>
          <a:p>
            <a:r>
              <a:rPr lang="tr-TR" dirty="0"/>
              <a:t>Programlanmış G/Ç olarak adlandırılır, artık kullanılmıyor.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337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 - Kesme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G/Ç aygıtını başlatma ve kesme alma adımları.</a:t>
            </a:r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169" y="2385351"/>
            <a:ext cx="6042265" cy="3755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123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 - Kesme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Kesme işleme, </a:t>
            </a:r>
          </a:p>
          <a:p>
            <a:pPr lvl="1"/>
            <a:r>
              <a:rPr lang="tr-TR" dirty="0"/>
              <a:t>kesmeyi alma,</a:t>
            </a:r>
          </a:p>
          <a:p>
            <a:pPr lvl="1"/>
            <a:r>
              <a:rPr lang="tr-TR" dirty="0"/>
              <a:t>kesme işleyicisini çalıştırma,</a:t>
            </a:r>
          </a:p>
          <a:p>
            <a:pPr lvl="1"/>
            <a:r>
              <a:rPr lang="tr-TR" dirty="0"/>
              <a:t>kullanıcı programına geri dönme.</a:t>
            </a:r>
          </a:p>
          <a:p>
            <a:r>
              <a:rPr lang="tr-TR" dirty="0"/>
              <a:t>G/Ç işlemi bittiğinde kesme üretilir.</a:t>
            </a:r>
          </a:p>
          <a:p>
            <a:r>
              <a:rPr lang="tr-TR" dirty="0"/>
              <a:t>Bir işlem yapılırken işlemcinin başka </a:t>
            </a:r>
          </a:p>
          <a:p>
            <a:pPr marL="0" indent="0">
              <a:buNone/>
            </a:pPr>
            <a:r>
              <a:rPr lang="tr-TR" dirty="0"/>
              <a:t>işler yapmasına olanak tanır.</a:t>
            </a:r>
          </a:p>
          <a:p>
            <a:endParaRPr lang="tr-T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63"/>
          <a:stretch>
            <a:fillRect/>
          </a:stretch>
        </p:blipFill>
        <p:spPr bwMode="auto">
          <a:xfrm>
            <a:off x="6696222" y="1187638"/>
            <a:ext cx="3935560" cy="49881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159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G/Ç Aygıtları - DMA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Özel (</a:t>
            </a:r>
            <a:r>
              <a:rPr lang="tr-TR" i="1" dirty="0"/>
              <a:t>denetleyici</a:t>
            </a:r>
            <a:r>
              <a:rPr lang="tr-TR" dirty="0"/>
              <a:t>) yonga gereklidir.</a:t>
            </a:r>
          </a:p>
          <a:p>
            <a:r>
              <a:rPr lang="tr-TR" dirty="0"/>
              <a:t>Bellek ile veri transferinde işlemci kullanmaktan kaçınır.</a:t>
            </a:r>
          </a:p>
          <a:p>
            <a:r>
              <a:rPr lang="tr-TR" dirty="0"/>
              <a:t>İşlemci, DMA yongasına aktarım hakkında gerekli bilgileri verir.</a:t>
            </a:r>
          </a:p>
          <a:p>
            <a:r>
              <a:rPr lang="tr-TR" dirty="0"/>
              <a:t>Yonga tarafından işlem bittiğinde kesme üretilir.</a:t>
            </a:r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502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Veriyolları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Bilgisayar bileşenleri arasında veri ve sinyallerin taşınması için kullanılır. </a:t>
            </a:r>
          </a:p>
          <a:p>
            <a:pPr lvl="1"/>
            <a:r>
              <a:rPr lang="tr-TR" dirty="0"/>
              <a:t>Örneğin, işlemci, bellek, G/Ç aygıtları arasında veri taşır.</a:t>
            </a:r>
          </a:p>
          <a:p>
            <a:r>
              <a:rPr lang="tr-TR" dirty="0"/>
              <a:t>Farklı bant genişliği ve hız değerlerine sahip olabilir. </a:t>
            </a:r>
          </a:p>
          <a:p>
            <a:pPr lvl="1"/>
            <a:r>
              <a:rPr lang="tr-TR" dirty="0"/>
              <a:t>Örneğin, PCI, PCI-Express, USB gibi.</a:t>
            </a:r>
          </a:p>
          <a:p>
            <a:r>
              <a:rPr lang="tr-TR" dirty="0"/>
              <a:t>Veri taşıma yönetiminden işletim sistemi sorumludur.</a:t>
            </a:r>
          </a:p>
          <a:p>
            <a:r>
              <a:rPr lang="tr-TR" dirty="0"/>
              <a:t>Bilgisayarın performansını ve kullanılabilirliğini etkiler.</a:t>
            </a:r>
          </a:p>
          <a:p>
            <a:r>
              <a:rPr lang="tr-TR" dirty="0"/>
              <a:t>Zamanla, daha hızlı (PCI), özelleştirilmiş (SCSI, USB) veri yolları çıktı.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55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X86 Sistem 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050" y="1825625"/>
            <a:ext cx="6117900" cy="41830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4196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Pentium Sistem Veriyolları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1029" descr="D:\b\b4\IBM\01-12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262" y="1690688"/>
            <a:ext cx="5959475" cy="4298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2948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Veriyolları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PCI</a:t>
            </a:r>
            <a:r>
              <a:rPr lang="tr-TR" dirty="0"/>
              <a:t>, ağ kartı, ses kartı, grafik kartı gibi çevre birimleri ana karta bağlar. Yüksek hızlı bir yerel veri yoludur. Sisteme yeni çevre birimleri eklemek için esnek ve ölçeklenebilir bir çözüm sunar.</a:t>
            </a:r>
          </a:p>
          <a:p>
            <a:r>
              <a:rPr lang="tr-TR" b="1" dirty="0"/>
              <a:t>ISA</a:t>
            </a:r>
            <a:r>
              <a:rPr lang="tr-TR" dirty="0"/>
              <a:t>, eskiden yaygın olarak kullanılan, </a:t>
            </a:r>
            <a:r>
              <a:rPr lang="tr-TR" dirty="0" err="1"/>
              <a:t>PCI'ya</a:t>
            </a:r>
            <a:r>
              <a:rPr lang="tr-TR" dirty="0"/>
              <a:t> kıyasla daha yavaş ve kısıtlı bir veri yolu standardıdır. </a:t>
            </a:r>
          </a:p>
          <a:p>
            <a:r>
              <a:rPr lang="tr-TR" b="1" dirty="0"/>
              <a:t>SCSI</a:t>
            </a:r>
            <a:r>
              <a:rPr lang="tr-TR" dirty="0"/>
              <a:t>, sabit sürücüler ve teyp gibi depolama aygıtlarını bağlamak için kullanılır. Tek bir veri yolunda birden çok depolama aygıtı bağlanabilen hızlı ve esnek bir çözüm sunar.</a:t>
            </a:r>
          </a:p>
          <a:p>
            <a:r>
              <a:rPr lang="tr-TR" b="1" dirty="0"/>
              <a:t>USB</a:t>
            </a:r>
            <a:r>
              <a:rPr lang="tr-TR" dirty="0"/>
              <a:t>, klavye, fare, </a:t>
            </a:r>
            <a:r>
              <a:rPr lang="tr-TR" dirty="0" err="1"/>
              <a:t>flash</a:t>
            </a:r>
            <a:r>
              <a:rPr lang="tr-TR" dirty="0"/>
              <a:t> sürücüler gibi çevre birimlerini bağlamak için kullanılan yüksek hızlı bir veri yoludur.</a:t>
            </a:r>
          </a:p>
          <a:p>
            <a:r>
              <a:rPr lang="tr-TR" b="1" dirty="0"/>
              <a:t>IDE</a:t>
            </a:r>
            <a:r>
              <a:rPr lang="tr-TR" dirty="0"/>
              <a:t>, sabit sürücüler ve CD-ROM gibi depolama aygıtlarını bağlamak için kullanılır. Basit ve uygun maliyetli bir çözüm sunar.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76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Bilgisayarın Ayağa Kalkması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b="1" dirty="0"/>
              <a:t>BIOS</a:t>
            </a:r>
            <a:r>
              <a:rPr lang="tr-TR" dirty="0"/>
              <a:t> (</a:t>
            </a:r>
            <a:r>
              <a:rPr lang="tr-TR" i="1" dirty="0" err="1"/>
              <a:t>basic</a:t>
            </a:r>
            <a:r>
              <a:rPr lang="tr-TR" i="1" dirty="0"/>
              <a:t> </a:t>
            </a:r>
            <a:r>
              <a:rPr lang="tr-TR" i="1" dirty="0" err="1"/>
              <a:t>input</a:t>
            </a:r>
            <a:r>
              <a:rPr lang="tr-TR" i="1" dirty="0"/>
              <a:t> </a:t>
            </a:r>
            <a:r>
              <a:rPr lang="tr-TR" i="1" dirty="0" err="1"/>
              <a:t>output</a:t>
            </a:r>
            <a:r>
              <a:rPr lang="tr-TR" i="1" dirty="0"/>
              <a:t> </a:t>
            </a:r>
            <a:r>
              <a:rPr lang="tr-TR" i="1" dirty="0" err="1"/>
              <a:t>system</a:t>
            </a:r>
            <a:r>
              <a:rPr lang="tr-TR" dirty="0"/>
              <a:t>): temel giriş/çıkış sistemi.</a:t>
            </a:r>
          </a:p>
          <a:p>
            <a:r>
              <a:rPr lang="tr-TR" dirty="0"/>
              <a:t>Ana kartta yer alır, düşük seviye G/Ç yazılımı.</a:t>
            </a:r>
          </a:p>
          <a:p>
            <a:pPr marL="0" indent="0">
              <a:buNone/>
            </a:pPr>
            <a:r>
              <a:rPr lang="tr-TR" dirty="0"/>
              <a:t>1. Bellek, klavye ve diğer temel aygıtları kontrol eder.</a:t>
            </a:r>
          </a:p>
          <a:p>
            <a:pPr marL="0" indent="0">
              <a:buNone/>
            </a:pPr>
            <a:r>
              <a:rPr lang="tr-TR" dirty="0"/>
              <a:t>2. Önyükleme aygıtını belirler (disket, CD-ROM, disk).</a:t>
            </a:r>
          </a:p>
          <a:p>
            <a:pPr marL="0" indent="0">
              <a:buNone/>
            </a:pPr>
            <a:r>
              <a:rPr lang="tr-TR" dirty="0"/>
              <a:t>3. Önyükleme aygıtının ilk sektörünü belleğe okur.</a:t>
            </a:r>
          </a:p>
          <a:p>
            <a:pPr lvl="1"/>
            <a:r>
              <a:rPr lang="tr-TR" dirty="0"/>
              <a:t>Sektör, hangi bölümün aktif olduğunu kontrol eden bir program içerir.</a:t>
            </a:r>
          </a:p>
          <a:p>
            <a:pPr marL="0" indent="0">
              <a:buNone/>
            </a:pPr>
            <a:r>
              <a:rPr lang="tr-TR" dirty="0"/>
              <a:t>4. Ardından, ikincil bir önyükleyici yazılımını belleğe okur.</a:t>
            </a:r>
          </a:p>
          <a:p>
            <a:pPr marL="0" indent="0">
              <a:buNone/>
            </a:pPr>
            <a:r>
              <a:rPr lang="tr-TR" dirty="0"/>
              <a:t>5. İşletim sistemini aktif bölümden okur.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4997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Çeşitleri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Anabilgisayar (</a:t>
            </a:r>
            <a:r>
              <a:rPr lang="tr-TR" i="1" dirty="0" err="1"/>
              <a:t>mainframe</a:t>
            </a:r>
            <a:r>
              <a:rPr lang="tr-TR" dirty="0"/>
              <a:t>)</a:t>
            </a:r>
          </a:p>
          <a:p>
            <a:r>
              <a:rPr lang="tr-TR" dirty="0"/>
              <a:t>Sunucu (</a:t>
            </a:r>
            <a:r>
              <a:rPr lang="tr-TR" i="1" dirty="0"/>
              <a:t>server</a:t>
            </a:r>
            <a:r>
              <a:rPr lang="tr-TR" dirty="0"/>
              <a:t>)</a:t>
            </a:r>
          </a:p>
          <a:p>
            <a:r>
              <a:rPr lang="tr-TR" dirty="0"/>
              <a:t>Çok işlemcili (</a:t>
            </a:r>
            <a:r>
              <a:rPr lang="tr-TR" i="1" dirty="0" err="1"/>
              <a:t>multiprocessor</a:t>
            </a:r>
            <a:r>
              <a:rPr lang="tr-TR" dirty="0"/>
              <a:t>)</a:t>
            </a:r>
          </a:p>
          <a:p>
            <a:r>
              <a:rPr lang="tr-TR" dirty="0"/>
              <a:t>Kişisel (</a:t>
            </a:r>
            <a:r>
              <a:rPr lang="tr-TR" i="1" dirty="0" err="1"/>
              <a:t>personal</a:t>
            </a:r>
            <a:r>
              <a:rPr lang="tr-TR" dirty="0"/>
              <a:t>)</a:t>
            </a:r>
          </a:p>
          <a:p>
            <a:r>
              <a:rPr lang="tr-TR" dirty="0"/>
              <a:t>Mobil (</a:t>
            </a:r>
            <a:r>
              <a:rPr lang="tr-TR" i="1" dirty="0" err="1"/>
              <a:t>handheld</a:t>
            </a:r>
            <a:r>
              <a:rPr lang="tr-TR" i="1" dirty="0"/>
              <a:t>, mobile</a:t>
            </a:r>
            <a:r>
              <a:rPr lang="tr-TR" dirty="0"/>
              <a:t>)</a:t>
            </a:r>
          </a:p>
          <a:p>
            <a:r>
              <a:rPr lang="tr-TR" dirty="0"/>
              <a:t>Gömülü (</a:t>
            </a:r>
            <a:r>
              <a:rPr lang="tr-TR" i="1" dirty="0" err="1"/>
              <a:t>embedded</a:t>
            </a:r>
            <a:r>
              <a:rPr lang="tr-TR" dirty="0"/>
              <a:t>)</a:t>
            </a:r>
          </a:p>
          <a:p>
            <a:r>
              <a:rPr lang="tr-TR" dirty="0"/>
              <a:t>Algılayıcı düğüm (</a:t>
            </a:r>
            <a:r>
              <a:rPr lang="tr-TR" i="1" dirty="0"/>
              <a:t>sensor </a:t>
            </a:r>
            <a:r>
              <a:rPr lang="tr-TR" i="1" dirty="0" err="1"/>
              <a:t>node</a:t>
            </a:r>
            <a:r>
              <a:rPr lang="tr-TR" dirty="0"/>
              <a:t>)</a:t>
            </a:r>
          </a:p>
          <a:p>
            <a:r>
              <a:rPr lang="tr-TR" dirty="0"/>
              <a:t>Gerçek zamanlı (</a:t>
            </a:r>
            <a:r>
              <a:rPr lang="tr-TR" i="1" dirty="0" err="1"/>
              <a:t>real</a:t>
            </a:r>
            <a:r>
              <a:rPr lang="tr-TR" i="1" dirty="0"/>
              <a:t>-time</a:t>
            </a:r>
            <a:r>
              <a:rPr lang="tr-TR" dirty="0"/>
              <a:t>)</a:t>
            </a:r>
          </a:p>
          <a:p>
            <a:r>
              <a:rPr lang="tr-TR" dirty="0"/>
              <a:t>Akıllı kart (</a:t>
            </a:r>
            <a:r>
              <a:rPr lang="tr-TR" i="1" dirty="0" err="1"/>
              <a:t>smart</a:t>
            </a:r>
            <a:r>
              <a:rPr lang="tr-TR" i="1" dirty="0"/>
              <a:t> </a:t>
            </a:r>
            <a:r>
              <a:rPr lang="tr-TR" i="1" dirty="0" err="1"/>
              <a:t>card</a:t>
            </a:r>
            <a:r>
              <a:rPr lang="tr-TR" dirty="0"/>
              <a:t>)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7706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Anabilgisayar (</a:t>
            </a:r>
            <a:r>
              <a:rPr lang="tr-TR" dirty="0" err="1"/>
              <a:t>mainframe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Büyük ve karmaşık bilgisayar sistemleri için tasarlanmıştır.</a:t>
            </a:r>
          </a:p>
          <a:p>
            <a:r>
              <a:rPr lang="tr-TR" dirty="0"/>
              <a:t>Çoklu kullanıcı (</a:t>
            </a:r>
            <a:r>
              <a:rPr lang="tr-TR" i="1" dirty="0" err="1"/>
              <a:t>multi-user</a:t>
            </a:r>
            <a:r>
              <a:rPr lang="tr-TR" dirty="0"/>
              <a:t>) ve çoklu işlem (</a:t>
            </a:r>
            <a:r>
              <a:rPr lang="tr-TR" i="1" dirty="0" err="1"/>
              <a:t>multi-process</a:t>
            </a:r>
            <a:r>
              <a:rPr lang="tr-TR" dirty="0"/>
              <a:t>) desteği sunar.</a:t>
            </a:r>
          </a:p>
          <a:p>
            <a:r>
              <a:rPr lang="tr-TR" dirty="0"/>
              <a:t>Yüksek performans, yüksek güvenilirlik ve yüksek kullanılabilirlik sunar.</a:t>
            </a:r>
          </a:p>
          <a:p>
            <a:r>
              <a:rPr lang="tr-TR" dirty="0"/>
              <a:t>Büyük veri setleri ve yüksek trafik gerektiren işlemler için kullanılır.</a:t>
            </a:r>
          </a:p>
          <a:p>
            <a:r>
              <a:rPr lang="tr-TR" dirty="0"/>
              <a:t>Endüstriyel ve kurumsal uygulamalar için kullanılır.</a:t>
            </a:r>
          </a:p>
          <a:p>
            <a:r>
              <a:rPr lang="tr-TR" dirty="0"/>
              <a:t>IBM z/OS, </a:t>
            </a:r>
            <a:r>
              <a:rPr lang="tr-TR" dirty="0" err="1"/>
              <a:t>Unisys</a:t>
            </a:r>
            <a:r>
              <a:rPr lang="tr-TR" dirty="0"/>
              <a:t> MCP, </a:t>
            </a:r>
            <a:r>
              <a:rPr lang="tr-TR" dirty="0" err="1"/>
              <a:t>Fujitsu</a:t>
            </a:r>
            <a:r>
              <a:rPr lang="tr-TR" dirty="0"/>
              <a:t> BS2000/OSD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8125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Sunucu (server)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Çoklu kullanıcı, çoklu işlem, yüksek kullanılabilirlik için optimize edilmiştir.</a:t>
            </a:r>
          </a:p>
          <a:p>
            <a:r>
              <a:rPr lang="tr-TR" dirty="0"/>
              <a:t>Kurumsal ve endüstriyel ortamlarda yaygın olarak kullanılır.</a:t>
            </a:r>
          </a:p>
          <a:p>
            <a:r>
              <a:rPr lang="tr-TR" dirty="0"/>
              <a:t>Kuruluşların veri merkezi, bulut bilişim gibi servisleri sağlar.</a:t>
            </a:r>
          </a:p>
          <a:p>
            <a:r>
              <a:rPr lang="tr-TR" dirty="0"/>
              <a:t>Sunucu cihazlarında veri depolama, dosya paylaşımı, veritabanı işlemleri, web sunucusu hizmetleri gibi hizmetleri sağlar.</a:t>
            </a:r>
          </a:p>
          <a:p>
            <a:r>
              <a:rPr lang="tr-TR" dirty="0"/>
              <a:t>Windows Server, Linux, UNIX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710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Çoklu İşlemci (</a:t>
            </a:r>
            <a:r>
              <a:rPr lang="tr-TR" dirty="0" err="1"/>
              <a:t>multiprocessor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Birden fazla işlemciye sahip bilgisayarlarda kullanılır.</a:t>
            </a:r>
          </a:p>
          <a:p>
            <a:r>
              <a:rPr lang="tr-TR" dirty="0"/>
              <a:t>İşlemlerin paralel olarak gerçekleştirilmesini destekler.</a:t>
            </a:r>
          </a:p>
          <a:p>
            <a:r>
              <a:rPr lang="tr-TR" dirty="0"/>
              <a:t>İşlemlerin işlemci üzerinde aynı anda çalışmasını sağlar.</a:t>
            </a:r>
          </a:p>
          <a:p>
            <a:r>
              <a:rPr lang="tr-TR" dirty="0"/>
              <a:t>İşlemlerin verimli bir şekilde yürütülmesini sağlar.</a:t>
            </a:r>
          </a:p>
          <a:p>
            <a:r>
              <a:rPr lang="tr-TR" dirty="0"/>
              <a:t>Linux, UNIX, Windows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77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Kişisel (</a:t>
            </a:r>
            <a:r>
              <a:rPr lang="tr-TR" dirty="0" err="1"/>
              <a:t>personal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Ev kullanıcıları ve küçük işletmeler için tasarlanmıştır.</a:t>
            </a:r>
          </a:p>
          <a:p>
            <a:r>
              <a:rPr lang="tr-TR" dirty="0"/>
              <a:t>Uygulama yüklemek, internette gezinmek, dosyaları yönetmek gibi basit işlemleri gerçekleştirir. </a:t>
            </a:r>
          </a:p>
          <a:p>
            <a:r>
              <a:rPr lang="tr-TR" dirty="0"/>
              <a:t>Kullanıcı dostu </a:t>
            </a:r>
            <a:r>
              <a:rPr lang="tr-TR" dirty="0" err="1"/>
              <a:t>arayüzler</a:t>
            </a:r>
            <a:r>
              <a:rPr lang="tr-TR" dirty="0"/>
              <a:t> ve kolay kullanım sunar.</a:t>
            </a:r>
          </a:p>
          <a:p>
            <a:r>
              <a:rPr lang="tr-TR" dirty="0"/>
              <a:t>Windows, </a:t>
            </a:r>
            <a:r>
              <a:rPr lang="tr-TR" dirty="0" err="1"/>
              <a:t>MacOS</a:t>
            </a:r>
            <a:r>
              <a:rPr lang="tr-TR" dirty="0"/>
              <a:t>, Linux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12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(</a:t>
            </a:r>
            <a:r>
              <a:rPr lang="tr-TR" dirty="0" err="1"/>
              <a:t>handheld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Taşınabilir cihazlar için tasarlanmıştır. (akıllı telefonlar, tabletler)</a:t>
            </a:r>
          </a:p>
          <a:p>
            <a:r>
              <a:rPr lang="tr-TR" dirty="0"/>
              <a:t>İnternet erişimi, e-posta, sosyal medya, navigasyon, müzik ve video oynatma gibi hizmetler sağlar.</a:t>
            </a:r>
          </a:p>
          <a:p>
            <a:r>
              <a:rPr lang="tr-TR" dirty="0" err="1"/>
              <a:t>iOS</a:t>
            </a:r>
            <a:r>
              <a:rPr lang="tr-TR" dirty="0"/>
              <a:t>, </a:t>
            </a:r>
            <a:r>
              <a:rPr lang="tr-TR" dirty="0" err="1"/>
              <a:t>Android</a:t>
            </a:r>
            <a:r>
              <a:rPr lang="tr-TR" dirty="0"/>
              <a:t>, Windows Phone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627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Gömülü (</a:t>
            </a:r>
            <a:r>
              <a:rPr lang="tr-TR" dirty="0" err="1"/>
              <a:t>embedded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Otomatikleştirilmiş sistemler, cep telefonları, ev otomasyonu, araba ve hava taşıtları gibi aygıtlar için tasarlanmıştır.</a:t>
            </a:r>
          </a:p>
          <a:p>
            <a:r>
              <a:rPr lang="tr-TR" dirty="0"/>
              <a:t>Sistem ve aygıtların özelliklerini optimize etmek için tasarlanmıştır.</a:t>
            </a:r>
          </a:p>
          <a:p>
            <a:r>
              <a:rPr lang="tr-TR" dirty="0"/>
              <a:t>Linux, </a:t>
            </a:r>
            <a:r>
              <a:rPr lang="tr-TR" dirty="0" err="1"/>
              <a:t>VxWorks</a:t>
            </a:r>
            <a:r>
              <a:rPr lang="tr-TR" dirty="0"/>
              <a:t>, QNX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36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Algılayıcı düğüm (sensor </a:t>
            </a:r>
            <a:r>
              <a:rPr lang="tr-TR" dirty="0" err="1"/>
              <a:t>node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Algılayıcı, </a:t>
            </a:r>
            <a:r>
              <a:rPr lang="tr-TR" dirty="0" err="1"/>
              <a:t>IoT</a:t>
            </a:r>
            <a:r>
              <a:rPr lang="tr-TR" dirty="0"/>
              <a:t>, M2M ağları için tasarlanmıştır. </a:t>
            </a:r>
          </a:p>
          <a:p>
            <a:r>
              <a:rPr lang="tr-TR" dirty="0"/>
              <a:t>Algılayıcı verilerini toplamak, işlemek ve iletmek için kullanılır.</a:t>
            </a:r>
          </a:p>
          <a:p>
            <a:r>
              <a:rPr lang="tr-TR" dirty="0"/>
              <a:t>Enerji verimliliği ve güç tüketimi için optimize edilmiştir.</a:t>
            </a:r>
          </a:p>
          <a:p>
            <a:r>
              <a:rPr lang="tr-TR" dirty="0" err="1"/>
              <a:t>TinyOS</a:t>
            </a:r>
            <a:r>
              <a:rPr lang="tr-TR" dirty="0"/>
              <a:t>, </a:t>
            </a:r>
            <a:r>
              <a:rPr lang="tr-TR" dirty="0" err="1"/>
              <a:t>ContikiOS</a:t>
            </a:r>
            <a:r>
              <a:rPr lang="tr-TR" dirty="0"/>
              <a:t>, RIOT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131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Zamanlı (</a:t>
            </a:r>
            <a:r>
              <a:rPr lang="tr-TR" dirty="0" err="1"/>
              <a:t>real</a:t>
            </a:r>
            <a:r>
              <a:rPr lang="tr-TR" dirty="0"/>
              <a:t>-time)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Zaman kritik işlemlerin yerine getirilmesi için gerçek zamanlı uygulamalar tarafından kullanılır.</a:t>
            </a:r>
          </a:p>
          <a:p>
            <a:r>
              <a:rPr lang="tr-TR" dirty="0"/>
              <a:t>Ses, video, hareket ve diğer algılayıcı verilerini işlemek için kullanılır.</a:t>
            </a:r>
          </a:p>
          <a:p>
            <a:r>
              <a:rPr lang="tr-TR" dirty="0"/>
              <a:t>Tahmin ve kontrol uygulamaları, otomatik sistemler, tren kontrol sistemleri, askeri araçlar gibi alanlarda kullanılır.</a:t>
            </a:r>
          </a:p>
          <a:p>
            <a:r>
              <a:rPr lang="tr-TR" dirty="0" err="1"/>
              <a:t>VxWorks</a:t>
            </a:r>
            <a:r>
              <a:rPr lang="tr-TR" dirty="0"/>
              <a:t>, QNX, </a:t>
            </a:r>
            <a:r>
              <a:rPr lang="tr-TR" dirty="0" err="1"/>
              <a:t>RTLinux</a:t>
            </a:r>
            <a:r>
              <a:rPr lang="tr-TR" dirty="0"/>
              <a:t> ...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779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Akıllı Kart (</a:t>
            </a:r>
            <a:r>
              <a:rPr lang="tr-TR" dirty="0" err="1"/>
              <a:t>smart</a:t>
            </a:r>
            <a:r>
              <a:rPr lang="tr-TR" dirty="0"/>
              <a:t> </a:t>
            </a:r>
            <a:r>
              <a:rPr lang="tr-TR" dirty="0" err="1"/>
              <a:t>card</a:t>
            </a:r>
            <a:r>
              <a:rPr lang="tr-TR" dirty="0"/>
              <a:t>) İşletim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Akıllı kartlar, küçük boyutlu ve güvenli aygıtlar için tasarlanmıştır.</a:t>
            </a:r>
          </a:p>
          <a:p>
            <a:r>
              <a:rPr lang="tr-TR" dirty="0"/>
              <a:t>Kimlik doğrulama, para transferi, elektronik para, </a:t>
            </a:r>
            <a:r>
              <a:rPr lang="tr-TR" dirty="0" err="1"/>
              <a:t>kriptografik</a:t>
            </a:r>
            <a:r>
              <a:rPr lang="tr-TR" dirty="0"/>
              <a:t> işlemler ve güvenli veri depolama için kullanılır.</a:t>
            </a:r>
          </a:p>
          <a:p>
            <a:r>
              <a:rPr lang="tr-TR" dirty="0"/>
              <a:t>Kredi kartları, banka kartları, yolcu uçuş kartları, kimlik kartları ve diğer kartlar için kullanılır.</a:t>
            </a:r>
          </a:p>
          <a:p>
            <a:r>
              <a:rPr lang="tr-TR" dirty="0" err="1"/>
              <a:t>JavaCard</a:t>
            </a:r>
            <a:r>
              <a:rPr lang="tr-TR" dirty="0"/>
              <a:t>, MULTOS …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58853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İşletim Sistemi Servisleri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79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81CA9B9-B059-4545-AFC1-C7813466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834" y="2011680"/>
            <a:ext cx="7786827" cy="38771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5738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Politika ve Mekanizma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Politika (</a:t>
            </a:r>
            <a:r>
              <a:rPr lang="tr-TR" i="1" dirty="0" err="1"/>
              <a:t>policy</a:t>
            </a:r>
            <a:r>
              <a:rPr lang="tr-TR" dirty="0"/>
              <a:t>): Ne yapılacak?</a:t>
            </a:r>
          </a:p>
          <a:p>
            <a:r>
              <a:rPr lang="tr-TR" dirty="0"/>
              <a:t>Mekanizma (</a:t>
            </a:r>
            <a:r>
              <a:rPr lang="tr-TR" i="1" dirty="0" err="1"/>
              <a:t>mechanism</a:t>
            </a:r>
            <a:r>
              <a:rPr lang="tr-TR" dirty="0"/>
              <a:t>): Nasıl yapılır?</a:t>
            </a:r>
          </a:p>
          <a:p>
            <a:r>
              <a:rPr lang="tr-TR" dirty="0"/>
              <a:t>Politikalar ne yapılacağını, mekanizma ise nasıl yapılacağını belirler.</a:t>
            </a:r>
          </a:p>
          <a:p>
            <a:r>
              <a:rPr lang="tr-TR" dirty="0"/>
              <a:t>Politikanın mekanizmadan </a:t>
            </a:r>
            <a:r>
              <a:rPr lang="tr-TR" b="1" dirty="0"/>
              <a:t>ayrılması </a:t>
            </a:r>
            <a:r>
              <a:rPr lang="tr-TR" dirty="0"/>
              <a:t>çok </a:t>
            </a:r>
            <a:r>
              <a:rPr lang="tr-TR" b="1" dirty="0"/>
              <a:t>önemli </a:t>
            </a:r>
            <a:r>
              <a:rPr lang="tr-TR" dirty="0"/>
              <a:t>bir ilkedir. </a:t>
            </a:r>
          </a:p>
          <a:p>
            <a:r>
              <a:rPr lang="tr-TR" dirty="0"/>
              <a:t>Bu ilke politika kararları daha sonra değiştirilecekse maksimum esneklik sağlar (örneğin, çizelgeleme, </a:t>
            </a:r>
            <a:r>
              <a:rPr lang="tr-TR" dirty="0" err="1"/>
              <a:t>önceliklendirme</a:t>
            </a:r>
            <a:r>
              <a:rPr lang="tr-TR" dirty="0"/>
              <a:t>)</a:t>
            </a:r>
          </a:p>
          <a:p>
            <a:r>
              <a:rPr lang="tr-TR" dirty="0"/>
              <a:t>İşletim sistemi tasarlamak, oldukça yaratıcılık gerektirir.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1761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MS-DOS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Tek görevli.</a:t>
            </a:r>
          </a:p>
          <a:p>
            <a:r>
              <a:rPr lang="tr-TR" dirty="0"/>
              <a:t>Sistem ayağa kalktığında kabuk çağrılır.</a:t>
            </a:r>
          </a:p>
          <a:p>
            <a:r>
              <a:rPr lang="tr-TR" dirty="0"/>
              <a:t>Süreç (</a:t>
            </a:r>
            <a:r>
              <a:rPr lang="tr-TR" i="1" dirty="0" err="1"/>
              <a:t>process</a:t>
            </a:r>
            <a:r>
              <a:rPr lang="tr-TR" dirty="0"/>
              <a:t>) yaratılmaz.</a:t>
            </a:r>
          </a:p>
          <a:p>
            <a:r>
              <a:rPr lang="tr-TR" dirty="0"/>
              <a:t>Tek bellek alanı.</a:t>
            </a:r>
          </a:p>
          <a:p>
            <a:r>
              <a:rPr lang="tr-TR" dirty="0"/>
              <a:t>Program belleğe üzerine yazılarak yüklenir.</a:t>
            </a:r>
          </a:p>
          <a:p>
            <a:r>
              <a:rPr lang="tr-TR" dirty="0"/>
              <a:t>Program sonlandığında kabuk yeniden</a:t>
            </a:r>
          </a:p>
          <a:p>
            <a:pPr marL="0" indent="0">
              <a:buNone/>
            </a:pPr>
            <a:r>
              <a:rPr lang="tr-TR" dirty="0"/>
              <a:t>yüklenir.</a:t>
            </a:r>
          </a:p>
          <a:p>
            <a:r>
              <a:rPr lang="tr-TR" dirty="0"/>
              <a:t>(a) Sistem ayağa kalkarken</a:t>
            </a:r>
          </a:p>
          <a:p>
            <a:r>
              <a:rPr lang="tr-TR" dirty="0"/>
              <a:t>(b) Program çalışırken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  <p:pic>
        <p:nvPicPr>
          <p:cNvPr id="8" name="Picture 9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918" y="2018484"/>
            <a:ext cx="4127500" cy="3490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7036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FreeBSD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UNIX türevi.</a:t>
            </a:r>
          </a:p>
          <a:p>
            <a:r>
              <a:rPr lang="tr-TR" dirty="0"/>
              <a:t>Çok görevli.</a:t>
            </a:r>
          </a:p>
          <a:p>
            <a:r>
              <a:rPr lang="tr-TR" dirty="0"/>
              <a:t>Kullanıcı giriş yapar ve seçilen kabuk yüklenir.</a:t>
            </a:r>
          </a:p>
          <a:p>
            <a:r>
              <a:rPr lang="tr-TR" dirty="0"/>
              <a:t>Kabuk </a:t>
            </a:r>
            <a:r>
              <a:rPr lang="tr-TR" i="1" dirty="0" err="1"/>
              <a:t>fork</a:t>
            </a:r>
            <a:r>
              <a:rPr lang="tr-TR" i="1" dirty="0"/>
              <a:t>()</a:t>
            </a:r>
            <a:r>
              <a:rPr lang="tr-TR" dirty="0"/>
              <a:t> komutu ile süreç yaratır.</a:t>
            </a:r>
          </a:p>
          <a:p>
            <a:r>
              <a:rPr lang="tr-TR" i="1" dirty="0" err="1"/>
              <a:t>exec</a:t>
            </a:r>
            <a:r>
              <a:rPr lang="tr-TR" i="1" dirty="0"/>
              <a:t>()</a:t>
            </a:r>
            <a:r>
              <a:rPr lang="tr-TR" dirty="0"/>
              <a:t> komutu ile program süreç içerisine yüklenir.</a:t>
            </a:r>
          </a:p>
          <a:p>
            <a:r>
              <a:rPr lang="tr-TR" dirty="0"/>
              <a:t>Kabuk programın sonlanmasını bekler veya kullanıcı</a:t>
            </a:r>
          </a:p>
          <a:p>
            <a:pPr marL="0" indent="0">
              <a:buNone/>
            </a:pPr>
            <a:r>
              <a:rPr lang="tr-TR" dirty="0"/>
              <a:t>komutları ile çalışmaya devam eder.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82</a:t>
            </a:fld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1" t="500" r="31691" b="500"/>
          <a:stretch>
            <a:fillRect/>
          </a:stretch>
        </p:blipFill>
        <p:spPr bwMode="auto">
          <a:xfrm>
            <a:off x="9375416" y="1825625"/>
            <a:ext cx="1978384" cy="40139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7280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Standart C Kütüphanesi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83</a:t>
            </a:fld>
            <a:endParaRPr lang="en-US" dirty="0"/>
          </a:p>
        </p:txBody>
      </p:sp>
      <p:pic>
        <p:nvPicPr>
          <p:cNvPr id="8" name="Picture 1" descr="Screen Shot 2012-12-01 at 1.1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2" y="1925688"/>
            <a:ext cx="4168775" cy="42148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3937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Yürütülebilir Dosya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162" y="1406476"/>
            <a:ext cx="4074177" cy="48149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4104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Yürütülebilir Dosya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err="1"/>
              <a:t>Önişlemci</a:t>
            </a:r>
            <a:r>
              <a:rPr lang="tr-TR" dirty="0"/>
              <a:t> (</a:t>
            </a:r>
            <a:r>
              <a:rPr lang="en-US" i="1" dirty="0"/>
              <a:t>preprocessor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 err="1"/>
              <a:t>Başlı</a:t>
            </a:r>
            <a:r>
              <a:rPr lang="tr-TR" dirty="0"/>
              <a:t>k dosyalarını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, </a:t>
            </a:r>
            <a:r>
              <a:rPr lang="en-US" dirty="0" err="1"/>
              <a:t>makroları</a:t>
            </a:r>
            <a:r>
              <a:rPr lang="en-US" dirty="0"/>
              <a:t> </a:t>
            </a:r>
            <a:r>
              <a:rPr lang="en-US" dirty="0" err="1"/>
              <a:t>genişletir</a:t>
            </a:r>
            <a:r>
              <a:rPr lang="en-US" dirty="0"/>
              <a:t>, </a:t>
            </a:r>
            <a:r>
              <a:rPr lang="en-US" dirty="0" err="1"/>
              <a:t>koşullu</a:t>
            </a:r>
            <a:r>
              <a:rPr lang="en-US" dirty="0"/>
              <a:t> </a:t>
            </a:r>
            <a:r>
              <a:rPr lang="en-US" dirty="0" err="1"/>
              <a:t>derlemeyi</a:t>
            </a:r>
            <a:r>
              <a:rPr lang="en-US" dirty="0"/>
              <a:t> </a:t>
            </a:r>
            <a:r>
              <a:rPr lang="tr-TR" dirty="0"/>
              <a:t>ele alır.</a:t>
            </a:r>
          </a:p>
          <a:p>
            <a:r>
              <a:rPr lang="tr-TR" dirty="0"/>
              <a:t>Derleyici (</a:t>
            </a:r>
            <a:r>
              <a:rPr lang="tr-TR" i="1" dirty="0"/>
              <a:t>c</a:t>
            </a:r>
            <a:r>
              <a:rPr lang="en-US" i="1" dirty="0" err="1"/>
              <a:t>ompiler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en-US" dirty="0"/>
              <a:t>.c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.o </a:t>
            </a:r>
            <a:r>
              <a:rPr lang="tr-TR" dirty="0"/>
              <a:t>, kaynak (</a:t>
            </a:r>
            <a:r>
              <a:rPr lang="tr-TR" i="1" dirty="0" err="1"/>
              <a:t>source</a:t>
            </a:r>
            <a:r>
              <a:rPr lang="tr-TR" dirty="0"/>
              <a:t>) koda göre nesne (</a:t>
            </a:r>
            <a:r>
              <a:rPr lang="tr-TR" i="1" dirty="0" err="1"/>
              <a:t>object</a:t>
            </a:r>
            <a:r>
              <a:rPr lang="tr-TR" dirty="0"/>
              <a:t>) dosyasını oluşturur.</a:t>
            </a:r>
            <a:endParaRPr lang="en-US" dirty="0"/>
          </a:p>
          <a:p>
            <a:r>
              <a:rPr lang="tr-TR" dirty="0"/>
              <a:t>Bağlayıcı (</a:t>
            </a:r>
            <a:r>
              <a:rPr lang="tr-TR" i="1" dirty="0" err="1"/>
              <a:t>linker</a:t>
            </a:r>
            <a:r>
              <a:rPr lang="tr-TR" dirty="0"/>
              <a:t>)</a:t>
            </a:r>
            <a:endParaRPr lang="en-US" dirty="0"/>
          </a:p>
          <a:p>
            <a:pPr lvl="1"/>
            <a:r>
              <a:rPr lang="tr-TR" dirty="0"/>
              <a:t>.o uzantılı dosyaları birleştirerek yürütülebilir (</a:t>
            </a:r>
            <a:r>
              <a:rPr lang="tr-TR" i="1" dirty="0" err="1"/>
              <a:t>exe</a:t>
            </a:r>
            <a:r>
              <a:rPr lang="tr-TR" dirty="0"/>
              <a:t>) dosyayı oluşturur.</a:t>
            </a:r>
            <a:endParaRPr lang="en-US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3930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Metrik ve Birimleri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0" y="2382028"/>
            <a:ext cx="10080000" cy="3178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18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Tanenbaum, Modern Operating Systems 3e kitabından faydalanılmıştır.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2840</TotalTime>
  <Words>5347</Words>
  <Application>Microsoft Office PowerPoint</Application>
  <PresentationFormat>Widescreen</PresentationFormat>
  <Paragraphs>806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2" baseType="lpstr">
      <vt:lpstr>Arial</vt:lpstr>
      <vt:lpstr>Calibri</vt:lpstr>
      <vt:lpstr>Calibri Light</vt:lpstr>
      <vt:lpstr>Wingdings</vt:lpstr>
      <vt:lpstr>Office Theme</vt:lpstr>
      <vt:lpstr>Bölüm 1: Giriş</vt:lpstr>
      <vt:lpstr>İşletim Sistemi</vt:lpstr>
      <vt:lpstr>Modern Bilgisayarın Bileşenleri</vt:lpstr>
      <vt:lpstr>Modern Bilgisayarın Donanım Bileşenleri</vt:lpstr>
      <vt:lpstr>Kabuk (Shell) ve GKA (Grafik Kullanıcı Arayüzü)</vt:lpstr>
      <vt:lpstr>Kabuk (Shell) ve GKA (Grafik Kullanıcı Arayüzü)</vt:lpstr>
      <vt:lpstr>Kabuk</vt:lpstr>
      <vt:lpstr>GKA</vt:lpstr>
      <vt:lpstr>Aygıt Yöneticisi</vt:lpstr>
      <vt:lpstr>Aygıt Yöneticisi</vt:lpstr>
      <vt:lpstr>İşletim Sisteminin Konumu</vt:lpstr>
      <vt:lpstr>İşletim Sistemi Konumu</vt:lpstr>
      <vt:lpstr>Çekirdek Modu ve Kullanıcı Modu </vt:lpstr>
      <vt:lpstr>Çekirdek Modu ve Kullanıcı Modu </vt:lpstr>
      <vt:lpstr>İşletim Sistemi Konumu</vt:lpstr>
      <vt:lpstr>Fiziksel Aygıtlar, Mikro Mimari, Makine Dili</vt:lpstr>
      <vt:lpstr>Fiziksel Aygıtlar, Mikro Mimari, Makine Dili</vt:lpstr>
      <vt:lpstr>Genişletilmiş Makine Olarak İşletim Sistemi </vt:lpstr>
      <vt:lpstr>Genişletilmiş Makine Olarak İşletim Sistemi </vt:lpstr>
      <vt:lpstr>Genişletilmiş Makine Olarak İşletim Sistemi </vt:lpstr>
      <vt:lpstr>Kaynak Yöneticisi Olarak İşletim Sistemi </vt:lpstr>
      <vt:lpstr>Kaynak Yöneticisi Olarak İşletim Sistemi </vt:lpstr>
      <vt:lpstr>Birçok Program Aynı Anda Yazdırmak İsterse</vt:lpstr>
      <vt:lpstr>Birçok Program Aynı Anda Yazdırmak İsterse</vt:lpstr>
      <vt:lpstr>Süreçlerin Kaynak Kullanımının Hesaplanması</vt:lpstr>
      <vt:lpstr>Kaynaklar Çoklandığında Adalet ve Verimlilik </vt:lpstr>
      <vt:lpstr>İşletim Sistemlerinin Tarihi</vt:lpstr>
      <vt:lpstr>Vakum Tüplü Sistemler</vt:lpstr>
      <vt:lpstr>Transistörlü ve Toplu İşlem (batch) Sistemler</vt:lpstr>
      <vt:lpstr>Transistörlü ve Toplu İşlem Sistemler</vt:lpstr>
      <vt:lpstr>Transistörler ve Toplu Sistemler</vt:lpstr>
      <vt:lpstr>IBM 1401 ve 7094, System/360</vt:lpstr>
      <vt:lpstr>Tipik bir FMS İşinin Yapısı</vt:lpstr>
      <vt:lpstr>FMS Esnek Üretim Sistemi</vt:lpstr>
      <vt:lpstr>Tümleşik Devreler ve Çoklu Programlama</vt:lpstr>
      <vt:lpstr>Tümleşik Devreler ve Çoklu Programlama</vt:lpstr>
      <vt:lpstr>Kişisel Bilgisayarlar</vt:lpstr>
      <vt:lpstr>Kişisel Bilgisayarın Bileşenleri</vt:lpstr>
      <vt:lpstr>Von Neumann Mimarisi</vt:lpstr>
      <vt:lpstr>İşlemciler</vt:lpstr>
      <vt:lpstr>İşlemciler</vt:lpstr>
      <vt:lpstr>İşlemciler</vt:lpstr>
      <vt:lpstr>Bellek</vt:lpstr>
      <vt:lpstr>Bellek</vt:lpstr>
      <vt:lpstr>Önbellek (cache)</vt:lpstr>
      <vt:lpstr>Ana Bellek</vt:lpstr>
      <vt:lpstr>Bellek Hiyerarşisi</vt:lpstr>
      <vt:lpstr>Bellek Hiyerarşisi</vt:lpstr>
      <vt:lpstr>Bellek</vt:lpstr>
      <vt:lpstr>Önbellek</vt:lpstr>
      <vt:lpstr>Önbellek Sorunları</vt:lpstr>
      <vt:lpstr>Önbellek Sorunları</vt:lpstr>
      <vt:lpstr>Disk</vt:lpstr>
      <vt:lpstr>Disk</vt:lpstr>
      <vt:lpstr>Disk Sürücüsünün Yapısı</vt:lpstr>
      <vt:lpstr>G/Ç Aygıtları</vt:lpstr>
      <vt:lpstr>G/Ç Aygıtları</vt:lpstr>
      <vt:lpstr>Aygıt Sürücüsü</vt:lpstr>
      <vt:lpstr>Sorgulama, Kesilme ve Doğrudan Bellek Erişimi</vt:lpstr>
      <vt:lpstr>G/Ç Aygıtları - Sorgulama</vt:lpstr>
      <vt:lpstr>G/Ç Aygıtları - Kesme</vt:lpstr>
      <vt:lpstr>G/Ç Aygıtları - Kesme</vt:lpstr>
      <vt:lpstr>G/Ç Aygıtları - DMA</vt:lpstr>
      <vt:lpstr>Veriyolları</vt:lpstr>
      <vt:lpstr>X86 Sistem Yapısı</vt:lpstr>
      <vt:lpstr>Pentium Sistem Veriyolları</vt:lpstr>
      <vt:lpstr>Veriyolları</vt:lpstr>
      <vt:lpstr>Bilgisayarın Ayağa Kalkması</vt:lpstr>
      <vt:lpstr>İşletim Sistemi Çeşitleri</vt:lpstr>
      <vt:lpstr>Anabilgisayar (mainframe) İşletim Sistemi</vt:lpstr>
      <vt:lpstr>Sunucu (server) İşletim Sistemi</vt:lpstr>
      <vt:lpstr>Çoklu İşlemci (multiprocessor) İşletim Sistemi</vt:lpstr>
      <vt:lpstr>Kişisel (personal) İşletim Sistemi</vt:lpstr>
      <vt:lpstr>Mobil (handheld) İşletim Sistemi</vt:lpstr>
      <vt:lpstr>Gömülü (embedded) İşletim Sistemi</vt:lpstr>
      <vt:lpstr>Algılayıcı düğüm (sensor node) İşletim Sistemi</vt:lpstr>
      <vt:lpstr>Gerçek Zamanlı (real-time) İşletim Sistemi</vt:lpstr>
      <vt:lpstr>Akıllı Kart (smart card) İşletim Sistemi</vt:lpstr>
      <vt:lpstr>İşletim Sistemi Servisleri</vt:lpstr>
      <vt:lpstr>Politika ve Mekanizma</vt:lpstr>
      <vt:lpstr>MS-DOS</vt:lpstr>
      <vt:lpstr>FreeBSD</vt:lpstr>
      <vt:lpstr>Standart C Kütüphanesi</vt:lpstr>
      <vt:lpstr>Yürütülebilir Dosya Oluşturma</vt:lpstr>
      <vt:lpstr>Yürütülebilir Dosya Oluşturma</vt:lpstr>
      <vt:lpstr>Metrik ve Birimleri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Giris</dc:title>
  <dc:creator>sercan</dc:creator>
  <cp:lastModifiedBy>Sercan Kulcu</cp:lastModifiedBy>
  <cp:revision>266</cp:revision>
  <dcterms:created xsi:type="dcterms:W3CDTF">2023-01-12T09:23:55Z</dcterms:created>
  <dcterms:modified xsi:type="dcterms:W3CDTF">2025-01-23T10:47:28Z</dcterms:modified>
</cp:coreProperties>
</file>