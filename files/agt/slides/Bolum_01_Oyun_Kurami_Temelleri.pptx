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35" r:id="rId1"/>
  </p:sldMasterIdLst>
  <p:notesMasterIdLst>
    <p:notesMasterId r:id="rId73"/>
  </p:notesMasterIdLst>
  <p:sldIdLst>
    <p:sldId id="256" r:id="rId2"/>
    <p:sldId id="314" r:id="rId3"/>
    <p:sldId id="313" r:id="rId4"/>
    <p:sldId id="316" r:id="rId5"/>
    <p:sldId id="317" r:id="rId6"/>
    <p:sldId id="318" r:id="rId7"/>
    <p:sldId id="351" r:id="rId8"/>
    <p:sldId id="373" r:id="rId9"/>
    <p:sldId id="374" r:id="rId10"/>
    <p:sldId id="375" r:id="rId11"/>
    <p:sldId id="376" r:id="rId12"/>
    <p:sldId id="321" r:id="rId13"/>
    <p:sldId id="377" r:id="rId14"/>
    <p:sldId id="378" r:id="rId15"/>
    <p:sldId id="379" r:id="rId16"/>
    <p:sldId id="380" r:id="rId17"/>
    <p:sldId id="381" r:id="rId18"/>
    <p:sldId id="324" r:id="rId19"/>
    <p:sldId id="382" r:id="rId20"/>
    <p:sldId id="383" r:id="rId21"/>
    <p:sldId id="384" r:id="rId22"/>
    <p:sldId id="327" r:id="rId23"/>
    <p:sldId id="385" r:id="rId24"/>
    <p:sldId id="386" r:id="rId25"/>
    <p:sldId id="387" r:id="rId26"/>
    <p:sldId id="330" r:id="rId27"/>
    <p:sldId id="388" r:id="rId28"/>
    <p:sldId id="389" r:id="rId29"/>
    <p:sldId id="390" r:id="rId30"/>
    <p:sldId id="333" r:id="rId31"/>
    <p:sldId id="397" r:id="rId32"/>
    <p:sldId id="398" r:id="rId33"/>
    <p:sldId id="391" r:id="rId34"/>
    <p:sldId id="392" r:id="rId35"/>
    <p:sldId id="393" r:id="rId36"/>
    <p:sldId id="336" r:id="rId37"/>
    <p:sldId id="394" r:id="rId38"/>
    <p:sldId id="395" r:id="rId39"/>
    <p:sldId id="406" r:id="rId40"/>
    <p:sldId id="396" r:id="rId41"/>
    <p:sldId id="339" r:id="rId42"/>
    <p:sldId id="342" r:id="rId43"/>
    <p:sldId id="345" r:id="rId44"/>
    <p:sldId id="348" r:id="rId45"/>
    <p:sldId id="352" r:id="rId46"/>
    <p:sldId id="353" r:id="rId47"/>
    <p:sldId id="354" r:id="rId48"/>
    <p:sldId id="355" r:id="rId49"/>
    <p:sldId id="356" r:id="rId50"/>
    <p:sldId id="357" r:id="rId51"/>
    <p:sldId id="358" r:id="rId52"/>
    <p:sldId id="359" r:id="rId53"/>
    <p:sldId id="361" r:id="rId54"/>
    <p:sldId id="363" r:id="rId55"/>
    <p:sldId id="364" r:id="rId56"/>
    <p:sldId id="365" r:id="rId57"/>
    <p:sldId id="366" r:id="rId58"/>
    <p:sldId id="367" r:id="rId59"/>
    <p:sldId id="368" r:id="rId60"/>
    <p:sldId id="369" r:id="rId61"/>
    <p:sldId id="370" r:id="rId62"/>
    <p:sldId id="371" r:id="rId63"/>
    <p:sldId id="372" r:id="rId64"/>
    <p:sldId id="399" r:id="rId65"/>
    <p:sldId id="400" r:id="rId66"/>
    <p:sldId id="401" r:id="rId67"/>
    <p:sldId id="402" r:id="rId68"/>
    <p:sldId id="403" r:id="rId69"/>
    <p:sldId id="404" r:id="rId70"/>
    <p:sldId id="405" r:id="rId71"/>
    <p:sldId id="312" r:id="rId7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tr-T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05BE1F-7669-4022-8D50-8115A32E15FC}" type="datetimeFigureOut">
              <a:rPr lang="tr-TR" smtClean="0"/>
              <a:t>23.09.2025</a:t>
            </a:fld>
            <a:endParaRPr lang="tr-T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tr-T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tr-T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tr-T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AC0638-78AE-41D6-9F5A-0F3CEA1F9952}" type="slidenum">
              <a:rPr lang="tr-TR" smtClean="0"/>
              <a:t>‹#›</a:t>
            </a:fld>
            <a:endParaRPr lang="tr-TR"/>
          </a:p>
        </p:txBody>
      </p:sp>
    </p:spTree>
    <p:extLst>
      <p:ext uri="{BB962C8B-B14F-4D97-AF65-F5344CB8AC3E}">
        <p14:creationId xmlns:p14="http://schemas.microsoft.com/office/powerpoint/2010/main" val="13881410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tr-TR"/>
          </a:p>
        </p:txBody>
      </p:sp>
      <p:sp>
        <p:nvSpPr>
          <p:cNvPr id="4" name="Slide Number Placeholder 3"/>
          <p:cNvSpPr>
            <a:spLocks noGrp="1"/>
          </p:cNvSpPr>
          <p:nvPr>
            <p:ph type="sldNum" sz="quarter" idx="10"/>
          </p:nvPr>
        </p:nvSpPr>
        <p:spPr/>
        <p:txBody>
          <a:bodyPr/>
          <a:lstStyle/>
          <a:p>
            <a:fld id="{09AC0638-78AE-41D6-9F5A-0F3CEA1F9952}" type="slidenum">
              <a:rPr lang="tr-TR" smtClean="0"/>
              <a:t>1</a:t>
            </a:fld>
            <a:endParaRPr lang="tr-TR"/>
          </a:p>
        </p:txBody>
      </p:sp>
    </p:spTree>
    <p:extLst>
      <p:ext uri="{BB962C8B-B14F-4D97-AF65-F5344CB8AC3E}">
        <p14:creationId xmlns:p14="http://schemas.microsoft.com/office/powerpoint/2010/main" val="427248621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normAutofit/>
          </a:bodyPr>
          <a:lstStyle>
            <a:lvl1pPr algn="ctr">
              <a:defRPr lang="en-US" sz="4000" b="1" i="0" kern="1200" baseline="0" dirty="0">
                <a:solidFill>
                  <a:srgbClr val="8C0000"/>
                </a:solidFill>
                <a:latin typeface="Arial" panose="020B0604020202020204" pitchFamily="34" charset="0"/>
                <a:ea typeface="+mj-ea"/>
                <a:cs typeface="+mj-cs"/>
              </a:defRPr>
            </a:lvl1pPr>
          </a:lstStyle>
          <a:p>
            <a:r>
              <a:rPr lang="en-US" dirty="0"/>
              <a:t>Click to edit Master title style</a:t>
            </a:r>
          </a:p>
        </p:txBody>
      </p:sp>
      <p:sp>
        <p:nvSpPr>
          <p:cNvPr id="3" name="Subtitle 2"/>
          <p:cNvSpPr>
            <a:spLocks noGrp="1"/>
          </p:cNvSpPr>
          <p:nvPr>
            <p:ph type="subTitle" idx="1"/>
          </p:nvPr>
        </p:nvSpPr>
        <p:spPr>
          <a:xfrm>
            <a:off x="1524000" y="3602038"/>
            <a:ext cx="9144000" cy="1655762"/>
          </a:xfrm>
        </p:spPr>
        <p:txBody>
          <a:bodyPr>
            <a:normAutofit/>
          </a:bodyPr>
          <a:lstStyle>
            <a:lvl1pPr marL="0" indent="0" algn="ctr">
              <a:buNone/>
              <a:defRPr lang="en-US" sz="2400" kern="1200" baseline="0" dirty="0">
                <a:solidFill>
                  <a:srgbClr val="002046"/>
                </a:solidFill>
                <a:latin typeface="Arial" panose="020B0604020202020204" pitchFamily="34" charset="0"/>
                <a:ea typeface="+mn-ea"/>
                <a:cs typeface="+mn-cs"/>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407963" cy="6858000"/>
          </a:xfrm>
          <a:prstGeom prst="rect">
            <a:avLst/>
          </a:prstGeom>
        </p:spPr>
      </p:pic>
    </p:spTree>
    <p:extLst>
      <p:ext uri="{BB962C8B-B14F-4D97-AF65-F5344CB8AC3E}">
        <p14:creationId xmlns:p14="http://schemas.microsoft.com/office/powerpoint/2010/main" val="7584462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Ref idx="1003">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lang="en-US" sz="3200" b="1" i="0" kern="1200" baseline="0" dirty="0">
                <a:solidFill>
                  <a:srgbClr val="8C0000"/>
                </a:solidFill>
                <a:latin typeface="Arial" panose="020B0604020202020204" pitchFamily="34" charset="0"/>
                <a:ea typeface="+mj-ea"/>
                <a:cs typeface="+mj-cs"/>
              </a:defRPr>
            </a:lvl1pPr>
          </a:lstStyle>
          <a:p>
            <a:r>
              <a:rPr lang="en-US" dirty="0"/>
              <a:t>Click to edit Master title style</a:t>
            </a:r>
          </a:p>
        </p:txBody>
      </p:sp>
      <p:sp>
        <p:nvSpPr>
          <p:cNvPr id="3" name="Content Placeholder 2"/>
          <p:cNvSpPr>
            <a:spLocks noGrp="1"/>
          </p:cNvSpPr>
          <p:nvPr>
            <p:ph idx="1"/>
          </p:nvPr>
        </p:nvSpPr>
        <p:spPr/>
        <p:txBody>
          <a:bodyPr/>
          <a:lstStyle>
            <a:lvl1pPr marL="228600" indent="-228600" algn="just">
              <a:buFont typeface="Wingdings" panose="05000000000000000000" pitchFamily="2" charset="2"/>
              <a:buChar char="§"/>
              <a:defRPr sz="2400" baseline="0">
                <a:solidFill>
                  <a:srgbClr val="002060"/>
                </a:solidFill>
                <a:latin typeface="Arial" panose="020B0604020202020204" pitchFamily="34" charset="0"/>
              </a:defRPr>
            </a:lvl1pPr>
            <a:lvl2pPr marL="685800" indent="-228600" algn="just">
              <a:buFont typeface="Wingdings" panose="05000000000000000000" pitchFamily="2" charset="2"/>
              <a:buChar char="§"/>
              <a:defRPr sz="2400" baseline="0">
                <a:solidFill>
                  <a:srgbClr val="002060"/>
                </a:solidFill>
                <a:latin typeface="Arial" panose="020B0604020202020204" pitchFamily="34" charset="0"/>
              </a:defRPr>
            </a:lvl2pPr>
            <a:lvl3pPr marL="1143000" indent="-228600">
              <a:buFont typeface="Wingdings" panose="05000000000000000000" pitchFamily="2" charset="2"/>
              <a:buChar char="§"/>
              <a:defRPr sz="2400" baseline="0">
                <a:solidFill>
                  <a:srgbClr val="002060"/>
                </a:solidFill>
                <a:latin typeface="Arial" panose="020B0604020202020204" pitchFamily="34" charset="0"/>
                <a:cs typeface="Arial" panose="020B0604020202020204" pitchFamily="34" charset="0"/>
              </a:defRPr>
            </a:lvl3pPr>
            <a:lvl4pPr marL="1600200" indent="-228600">
              <a:buFont typeface="Wingdings" panose="05000000000000000000" pitchFamily="2" charset="2"/>
              <a:buChar char="§"/>
              <a:defRPr sz="2000" baseline="0">
                <a:solidFill>
                  <a:srgbClr val="002060"/>
                </a:solidFill>
                <a:latin typeface="Arial" panose="020B0604020202020204" pitchFamily="34" charset="0"/>
                <a:cs typeface="Arial" panose="020B0604020202020204" pitchFamily="34" charset="0"/>
              </a:defRPr>
            </a:lvl4pPr>
            <a:lvl5pPr marL="2057400" indent="-228600">
              <a:buFont typeface="Wingdings" panose="05000000000000000000" pitchFamily="2" charset="2"/>
              <a:buChar char="§"/>
              <a:defRPr baseline="0">
                <a:solidFill>
                  <a:srgbClr val="002060"/>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r>
              <a:rPr lang="tr-TR" dirty="0"/>
              <a:t> </a:t>
            </a:r>
            <a:endParaRPr lang="en-US"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a:xfrm>
            <a:off x="2356834" y="6356350"/>
            <a:ext cx="6928834" cy="365125"/>
          </a:xfrm>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lvl1pPr>
              <a:defRPr sz="2000" baseline="0"/>
            </a:lvl1pPr>
          </a:lstStyle>
          <a:p>
            <a:fld id="{D57F1E4F-1CFF-5643-939E-217C01CDF565}" type="slidenum">
              <a:rPr lang="en-US" smtClean="0"/>
              <a:pPr/>
              <a:t>‹#›</a:t>
            </a:fld>
            <a:endParaRPr lang="en-US" dirty="0"/>
          </a:p>
        </p:txBody>
      </p: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407963" cy="6858000"/>
          </a:xfrm>
          <a:prstGeom prst="rect">
            <a:avLst/>
          </a:prstGeom>
        </p:spPr>
      </p:pic>
    </p:spTree>
    <p:extLst>
      <p:ext uri="{BB962C8B-B14F-4D97-AF65-F5344CB8AC3E}">
        <p14:creationId xmlns:p14="http://schemas.microsoft.com/office/powerpoint/2010/main" val="1587575026"/>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9205852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1/20/2023</a:t>
            </a:r>
            <a:endParaRPr lang="en-US" dirty="0"/>
          </a:p>
        </p:txBody>
      </p:sp>
      <p:sp>
        <p:nvSpPr>
          <p:cNvPr id="6" name="Footer Placeholder 5"/>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23247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1/20/2023</a:t>
            </a:r>
            <a:endParaRPr lang="en-US" dirty="0"/>
          </a:p>
        </p:txBody>
      </p:sp>
      <p:sp>
        <p:nvSpPr>
          <p:cNvPr id="8" name="Footer Placeholder 7"/>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414711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1/20/2023</a:t>
            </a:r>
            <a:endParaRPr lang="en-US" dirty="0"/>
          </a:p>
        </p:txBody>
      </p:sp>
      <p:sp>
        <p:nvSpPr>
          <p:cNvPr id="4" name="Footer Placeholder 3"/>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0580127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1/20/2023</a:t>
            </a:r>
            <a:endParaRPr lang="en-US" dirty="0"/>
          </a:p>
        </p:txBody>
      </p:sp>
      <p:sp>
        <p:nvSpPr>
          <p:cNvPr id="3" name="Footer Placeholder 2"/>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156865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1/20/2023</a:t>
            </a:r>
            <a:endParaRPr lang="en-US" dirty="0"/>
          </a:p>
        </p:txBody>
      </p:sp>
      <p:sp>
        <p:nvSpPr>
          <p:cNvPr id="6" name="Footer Placeholder 5"/>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597818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1/20/2023</a:t>
            </a:r>
            <a:endParaRPr lang="en-US" dirty="0"/>
          </a:p>
        </p:txBody>
      </p:sp>
      <p:sp>
        <p:nvSpPr>
          <p:cNvPr id="6" name="Footer Placeholder 5"/>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4360284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892601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50274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1/20/2023</a:t>
            </a:r>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pic>
        <p:nvPicPr>
          <p:cNvPr id="7" name="Picture 6"/>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0800000" y="288000"/>
            <a:ext cx="1080000" cy="1080000"/>
          </a:xfrm>
          <a:prstGeom prst="rect">
            <a:avLst/>
          </a:prstGeom>
        </p:spPr>
      </p:pic>
    </p:spTree>
    <p:extLst>
      <p:ext uri="{BB962C8B-B14F-4D97-AF65-F5344CB8AC3E}">
        <p14:creationId xmlns:p14="http://schemas.microsoft.com/office/powerpoint/2010/main" val="1318192656"/>
      </p:ext>
    </p:extLst>
  </p:cSld>
  <p:clrMap bg1="lt1" tx1="dk1" bg2="lt2" tx2="dk2" accent1="accent1" accent2="accent2" accent3="accent3" accent4="accent4" accent5="accent5" accent6="accent6" hlink="hlink" folHlink="folHlink"/>
  <p:sldLayoutIdLst>
    <p:sldLayoutId id="2147483936" r:id="rId1"/>
    <p:sldLayoutId id="2147483937" r:id="rId2"/>
    <p:sldLayoutId id="2147483938" r:id="rId3"/>
    <p:sldLayoutId id="2147483939" r:id="rId4"/>
    <p:sldLayoutId id="2147483940" r:id="rId5"/>
    <p:sldLayoutId id="2147483941" r:id="rId6"/>
    <p:sldLayoutId id="2147483942" r:id="rId7"/>
    <p:sldLayoutId id="2147483943" r:id="rId8"/>
    <p:sldLayoutId id="2147483944" r:id="rId9"/>
    <p:sldLayoutId id="2147483945" r:id="rId10"/>
    <p:sldLayoutId id="2147483946"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tr-TR" b="1" dirty="0"/>
              <a:t>Bölüm 1: Oyun Kuramı Temelleri</a:t>
            </a:r>
          </a:p>
        </p:txBody>
      </p:sp>
      <p:sp>
        <p:nvSpPr>
          <p:cNvPr id="3" name="Subtitle 2"/>
          <p:cNvSpPr>
            <a:spLocks noGrp="1"/>
          </p:cNvSpPr>
          <p:nvPr>
            <p:ph type="subTitle" idx="1"/>
          </p:nvPr>
        </p:nvSpPr>
        <p:spPr/>
        <p:txBody>
          <a:bodyPr>
            <a:normAutofit/>
          </a:bodyPr>
          <a:lstStyle/>
          <a:p>
            <a:r>
              <a:rPr lang="tr-TR" sz="2800" b="1" dirty="0" err="1"/>
              <a:t>Algoritmik</a:t>
            </a:r>
            <a:r>
              <a:rPr lang="tr-TR" sz="2800" b="1" dirty="0"/>
              <a:t> Oyun Kuramı</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a:t>
            </a:fld>
            <a:endParaRPr lang="en-US" dirty="0"/>
          </a:p>
        </p:txBody>
      </p:sp>
    </p:spTree>
    <p:extLst>
      <p:ext uri="{BB962C8B-B14F-4D97-AF65-F5344CB8AC3E}">
        <p14:creationId xmlns:p14="http://schemas.microsoft.com/office/powerpoint/2010/main" val="41511195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Oyun Teorisi Nedir?</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İnsanların mantıklı kararlar alarak stratejik etkileşimlerde bulunduğu durumları inceleyen matematiksel bir araçtır.</a:t>
            </a:r>
          </a:p>
          <a:p>
            <a:r>
              <a:rPr lang="tr-TR" dirty="0"/>
              <a:t>Ekonomi, psikoloji, siyaset, biyoloji gibi birçok alanda yaygın kullanılır.</a:t>
            </a:r>
          </a:p>
          <a:p>
            <a:r>
              <a:rPr lang="tr-TR" i="1" dirty="0"/>
              <a:t>Oyuncu</a:t>
            </a:r>
            <a:r>
              <a:rPr lang="tr-TR" dirty="0"/>
              <a:t> olarak adlandırılan karar vericilerin nasıl davrandığını ve oyunun sonuçlarının nasıl şekillendiğini açıklamaya çalışır.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6172684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Oyun Teorisi Nedir?</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Ajanların nasıl rasyonel ve kendi çıkarlarına odaklanmış bir şekilde hareket ettiklerini inceler.</a:t>
            </a:r>
          </a:p>
          <a:p>
            <a:r>
              <a:rPr lang="tr-TR" dirty="0"/>
              <a:t>Her bir ajan, mümkün olan eylemlerden oluşan bir küme ile temsil edilir.</a:t>
            </a:r>
          </a:p>
          <a:p>
            <a:r>
              <a:rPr lang="tr-TR" dirty="0"/>
              <a:t>Oyunun kuralları, ajanların aldığı eylemlere karşılık kazançlarını belirler.</a:t>
            </a:r>
          </a:p>
          <a:p>
            <a:r>
              <a:rPr lang="tr-TR" dirty="0"/>
              <a:t>Karmaşık sosyal, ekonomik ve politik durumları anlamamıza yardımcı olur.</a:t>
            </a:r>
          </a:p>
          <a:p>
            <a:r>
              <a:rPr lang="tr-TR" dirty="0"/>
              <a:t>Karmaşık kararlar verirken insanların ve kurumların stratejik düşünme biçimini anlamamıza yardımcı olur.</a:t>
            </a:r>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a:t>
            </a:fld>
            <a:endParaRPr lang="en-US" dirty="0"/>
          </a:p>
        </p:txBody>
      </p:sp>
    </p:spTree>
    <p:extLst>
      <p:ext uri="{BB962C8B-B14F-4D97-AF65-F5344CB8AC3E}">
        <p14:creationId xmlns:p14="http://schemas.microsoft.com/office/powerpoint/2010/main" val="3374191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Anahtar Terimler</a:t>
            </a:r>
          </a:p>
        </p:txBody>
      </p:sp>
      <p:sp>
        <p:nvSpPr>
          <p:cNvPr id="3" name="Content Placeholder 2"/>
          <p:cNvSpPr>
            <a:spLocks noGrp="1"/>
          </p:cNvSpPr>
          <p:nvPr>
            <p:ph idx="1"/>
          </p:nvPr>
        </p:nvSpPr>
        <p:spPr>
          <a:xfrm>
            <a:off x="838200" y="1825625"/>
            <a:ext cx="10515600" cy="4680000"/>
          </a:xfrm>
        </p:spPr>
        <p:txBody>
          <a:bodyPr>
            <a:normAutofit/>
          </a:bodyPr>
          <a:lstStyle/>
          <a:p>
            <a:r>
              <a:rPr lang="tr-TR" b="1" dirty="0"/>
              <a:t>Oyuncu</a:t>
            </a:r>
            <a:r>
              <a:rPr lang="tr-TR" dirty="0"/>
              <a:t>: Oyun içinde karar alan kişi veya kurumlar.</a:t>
            </a:r>
          </a:p>
          <a:p>
            <a:r>
              <a:rPr lang="tr-TR" b="1" dirty="0"/>
              <a:t>Strateji</a:t>
            </a:r>
            <a:r>
              <a:rPr lang="tr-TR" dirty="0"/>
              <a:t>: Bir oyuncunun seçebileceği eylem veya hareketlerin kümesi.</a:t>
            </a:r>
          </a:p>
          <a:p>
            <a:r>
              <a:rPr lang="tr-TR" b="1" dirty="0"/>
              <a:t>Oyunun Sonucu</a:t>
            </a:r>
            <a:r>
              <a:rPr lang="tr-TR" dirty="0"/>
              <a:t>: Tüm oyuncuların stratejilerinin bir araya gelmesiyle ortaya çıkan sonuç.</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37109782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Oyun</a:t>
            </a:r>
            <a:endParaRPr lang="tr-TR" dirty="0"/>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Oyuncuların bir araya geldiği, etkileşimde bulunduğu ve kararlar aldığı durumu ifade eder.</a:t>
            </a:r>
          </a:p>
          <a:p>
            <a:r>
              <a:rPr lang="tr-TR" dirty="0"/>
              <a:t>Her oyuncu, oyun içinde seçebileceği belirli stratejilere veya eylemlere sahiptir.</a:t>
            </a:r>
          </a:p>
          <a:p>
            <a:r>
              <a:rPr lang="tr-TR" dirty="0"/>
              <a:t>Oyunun sonucu, tüm oyuncuların yaptığı seçimlere dayalı olarak belirlenir.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2971721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Oyuncular</a:t>
            </a:r>
            <a:r>
              <a:rPr lang="tr-TR" dirty="0"/>
              <a:t> (</a:t>
            </a:r>
            <a:r>
              <a:rPr lang="fi-FI" dirty="0"/>
              <a:t>Karar Verenler</a:t>
            </a:r>
            <a:r>
              <a:rPr lang="tr-TR" dirty="0"/>
              <a:t>)</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 içinde karar alan kişileri veya kurumları ifade eder.</a:t>
            </a:r>
          </a:p>
          <a:p>
            <a:r>
              <a:rPr lang="tr-TR" dirty="0"/>
              <a:t>Her oyuncu, mantıklı ve kendi çıkarlarına uygun hareket eder.</a:t>
            </a:r>
          </a:p>
          <a:p>
            <a:r>
              <a:rPr lang="tr-TR" dirty="0"/>
              <a:t>Oyuncular, oyunun temel taşlarıdır ve oyunun sonucunu etkilerler.</a:t>
            </a:r>
          </a:p>
          <a:p>
            <a:r>
              <a:rPr lang="tr-TR" b="1" dirty="0"/>
              <a:t>Rasyonel</a:t>
            </a:r>
            <a:r>
              <a:rPr lang="tr-TR" dirty="0"/>
              <a:t>: Her oyuncu, kendi çıkarlarını en iyi şekilde koruma amacıyla mantıklı kararlar alır.</a:t>
            </a:r>
          </a:p>
          <a:p>
            <a:r>
              <a:rPr lang="tr-TR" b="1" dirty="0"/>
              <a:t>Kendi Çıkarları</a:t>
            </a:r>
            <a:r>
              <a:rPr lang="tr-TR" dirty="0"/>
              <a:t>: Her oyuncu, kendi çıkarları doğrultusunda hareket eder ve kârını maksimize etmeye çalışır.</a:t>
            </a:r>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a:t>
            </a:fld>
            <a:endParaRPr lang="en-US" dirty="0"/>
          </a:p>
        </p:txBody>
      </p:sp>
    </p:spTree>
    <p:extLst>
      <p:ext uri="{BB962C8B-B14F-4D97-AF65-F5344CB8AC3E}">
        <p14:creationId xmlns:p14="http://schemas.microsoft.com/office/powerpoint/2010/main" val="2734329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Oyunun Kuralları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Farklı ajanların aldığı eylemlere bağlı olarak ajanların kazançlarını nasıl belirlediğini içerir.</a:t>
            </a:r>
          </a:p>
          <a:p>
            <a:r>
              <a:rPr lang="tr-TR" dirty="0"/>
              <a:t>Oyunlarda kazançlar, farklı ajanların aldığı eylemlere bağlı olarak değişebilir.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7</a:t>
            </a:fld>
            <a:endParaRPr lang="en-US" dirty="0"/>
          </a:p>
        </p:txBody>
      </p:sp>
    </p:spTree>
    <p:extLst>
      <p:ext uri="{BB962C8B-B14F-4D97-AF65-F5344CB8AC3E}">
        <p14:creationId xmlns:p14="http://schemas.microsoft.com/office/powerpoint/2010/main" val="38936800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Online Reklam Müzayedeleri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Düşünün ki bir online reklam platformunuz var ve reklam verenler web sitenizde reklam yayınlamak istiyorlar. </a:t>
            </a:r>
          </a:p>
          <a:p>
            <a:r>
              <a:rPr lang="tr-TR" dirty="0"/>
              <a:t>Reklam verenler reklam alanları için rekabet ediyorlar ve gelirinizi en üst düzeye çıkarmak istiyorsunuz, ancak reklam alanlarının adil ve verimli bir şekilde tahsis edilmesini sağlamak da önemli.</a:t>
            </a:r>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8</a:t>
            </a:fld>
            <a:endParaRPr lang="en-US" dirty="0"/>
          </a:p>
        </p:txBody>
      </p:sp>
    </p:spTree>
    <p:extLst>
      <p:ext uri="{BB962C8B-B14F-4D97-AF65-F5344CB8AC3E}">
        <p14:creationId xmlns:p14="http://schemas.microsoft.com/office/powerpoint/2010/main" val="28734041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Online Reklam Müzayedeleri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Oyun Kurulumu:</a:t>
            </a:r>
          </a:p>
          <a:p>
            <a:endParaRPr lang="tr-TR" dirty="0"/>
          </a:p>
          <a:p>
            <a:r>
              <a:rPr lang="tr-TR" dirty="0"/>
              <a:t>Reklam verenler, teklif vermek için açık artırmaya katılırlar.</a:t>
            </a:r>
          </a:p>
          <a:p>
            <a:r>
              <a:rPr lang="tr-TR" dirty="0"/>
              <a:t>Her reklam verenin bütçe kısıtlaması vardır (bir reklam alanı için ödemeyi istedikleri maksimum miktar).</a:t>
            </a:r>
          </a:p>
          <a:p>
            <a:r>
              <a:rPr lang="tr-TR" dirty="0"/>
              <a:t>Reklam verenlerin farklı tercihleri vardır (bazıları premium pozisyonları tercih ederken, diğerleri daha düşük görünürlükle yetinir).</a:t>
            </a:r>
          </a:p>
          <a:p>
            <a:r>
              <a:rPr lang="tr-TR" dirty="0"/>
              <a:t>Reklam verenler, reklam alanları mevcut hale geldikçe gerçek zamanlı olarak tekliflerini sunmak zorundadır.</a:t>
            </a:r>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18800809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Online Reklam Müzayedeleri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Zorluklar:</a:t>
            </a:r>
          </a:p>
          <a:p>
            <a:endParaRPr lang="tr-TR" dirty="0"/>
          </a:p>
          <a:p>
            <a:r>
              <a:rPr lang="tr-TR" dirty="0"/>
              <a:t>Platform sahibi olarak amacınız gelirinizi en üst düzeye çıkaran bir açık artırma mekanizması tasarlamaktır.</a:t>
            </a:r>
          </a:p>
          <a:p>
            <a:r>
              <a:rPr lang="tr-TR" dirty="0"/>
              <a:t>Reklam verenler, bütçe kısıtlamaları içinde kalarak reklam yerleştirme stratejilerini optimize etmeyi hedeflerler.</a:t>
            </a:r>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10</a:t>
            </a:fld>
            <a:endParaRPr lang="en-US" dirty="0"/>
          </a:p>
        </p:txBody>
      </p:sp>
    </p:spTree>
    <p:extLst>
      <p:ext uri="{BB962C8B-B14F-4D97-AF65-F5344CB8AC3E}">
        <p14:creationId xmlns:p14="http://schemas.microsoft.com/office/powerpoint/2010/main" val="6408088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Online Reklam Müzayedeleri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Bu örnek, ekonomi, bilgisayar bilimi ve oyun teorisi unsurlarını birleştiriyor.</a:t>
            </a:r>
          </a:p>
          <a:p>
            <a:r>
              <a:rPr lang="tr-TR" dirty="0"/>
              <a:t>Algoritmik oyun teorisi prensipleri, verimli ve adil tahsis algoritmalarını tasarlarken kullanılır.</a:t>
            </a:r>
          </a:p>
          <a:p>
            <a:r>
              <a:rPr lang="tr-TR" dirty="0"/>
              <a:t>Reklam verenler, bütçe kısıtlamaları içinde rekabetçi teklifler sunmak ve reklam yerleştirme stratejilerini optimize etmek için strateji oluştururlar.</a:t>
            </a:r>
          </a:p>
          <a:p>
            <a:r>
              <a:rPr lang="tr-TR" dirty="0"/>
              <a:t>Online reklam müzayedelerinin gerçek zamanlı doğası, oyunu karmaşık ve heyecan verici hale getirir.</a:t>
            </a:r>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11</a:t>
            </a:fld>
            <a:endParaRPr lang="en-US" dirty="0"/>
          </a:p>
        </p:txBody>
      </p:sp>
    </p:spTree>
    <p:extLst>
      <p:ext uri="{BB962C8B-B14F-4D97-AF65-F5344CB8AC3E}">
        <p14:creationId xmlns:p14="http://schemas.microsoft.com/office/powerpoint/2010/main" val="32342779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Stratejiler</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Oyuncunun hedeflerine ulaşmak için seçtiği eylem planını ifade eder.</a:t>
            </a:r>
          </a:p>
          <a:p>
            <a:r>
              <a:rPr lang="tr-TR" dirty="0"/>
              <a:t>Her oyuncu, kendine özgü bir strateji belirler, bu da oyunu ilginç ve karmaşık kılar.</a:t>
            </a:r>
          </a:p>
          <a:p>
            <a:r>
              <a:rPr lang="tr-TR" dirty="0"/>
              <a:t>Stratejiler, oyuncuların oyunu anlama ve diğer oyuncuların davranışlarını tahmin etme sürecinin bir parçasıdır.</a:t>
            </a:r>
          </a:p>
          <a:p>
            <a:r>
              <a:rPr lang="tr-TR" b="1" dirty="0"/>
              <a:t>Oyuncu Beklentileri</a:t>
            </a:r>
            <a:r>
              <a:rPr lang="tr-TR" dirty="0"/>
              <a:t>: Stratejiler, oyuncuların oyunu anlama ve diğer oyuncuların davranışlarını tahmin etme beklentilerine dayalı olarak belirlenir.</a:t>
            </a:r>
          </a:p>
          <a:p>
            <a:r>
              <a:rPr lang="tr-TR" b="1" dirty="0"/>
              <a:t>Kişiselleştirilmiş</a:t>
            </a:r>
            <a:r>
              <a:rPr lang="tr-TR" dirty="0"/>
              <a:t>: Her oyuncu kendi oyun stratejilerini belirler, bu da her oyunun farklı ve heyecan verici olmasını sağlar.</a:t>
            </a:r>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451366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Taş-Kağıt-Makas Oyunu</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Taş-Kağıt-Makas, herkesin çocukluğunda oynadığı basit ama ilginç bir oyundur. </a:t>
            </a:r>
          </a:p>
          <a:p>
            <a:endParaRPr lang="tr-TR" dirty="0"/>
          </a:p>
          <a:p>
            <a:pPr marL="0" indent="0">
              <a:buNone/>
            </a:pPr>
            <a:r>
              <a:rPr lang="tr-TR" b="1" dirty="0"/>
              <a:t>Oyun Kurulumu:</a:t>
            </a:r>
          </a:p>
          <a:p>
            <a:endParaRPr lang="tr-TR" dirty="0"/>
          </a:p>
          <a:p>
            <a:r>
              <a:rPr lang="tr-TR" dirty="0"/>
              <a:t>Oyuncular sırayla taş, kağıt veya makas sembollerinden birini seçerler.</a:t>
            </a:r>
          </a:p>
          <a:p>
            <a:r>
              <a:rPr lang="tr-TR" dirty="0"/>
              <a:t>Taş kağıdı yener, kağıt makası yener, makas ise taşı yener.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13</a:t>
            </a:fld>
            <a:endParaRPr lang="en-US" dirty="0"/>
          </a:p>
        </p:txBody>
      </p:sp>
    </p:spTree>
    <p:extLst>
      <p:ext uri="{BB962C8B-B14F-4D97-AF65-F5344CB8AC3E}">
        <p14:creationId xmlns:p14="http://schemas.microsoft.com/office/powerpoint/2010/main" val="1747066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Taş-Kağıt-Makas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Strateji 1: Rastgele Seçim</a:t>
            </a:r>
          </a:p>
          <a:p>
            <a:endParaRPr lang="tr-TR" dirty="0"/>
          </a:p>
          <a:p>
            <a:r>
              <a:rPr lang="tr-TR" dirty="0"/>
              <a:t>Oyuncu her turda taş, kağıt, makas arasından rastgele bir sembol seçer.</a:t>
            </a:r>
          </a:p>
          <a:p>
            <a:r>
              <a:rPr lang="tr-TR" dirty="0"/>
              <a:t>Her sembolün eşit olasılıkla seçildiği bir seçim stratejisidir.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14</a:t>
            </a:fld>
            <a:endParaRPr lang="en-US" dirty="0"/>
          </a:p>
        </p:txBody>
      </p:sp>
    </p:spTree>
    <p:extLst>
      <p:ext uri="{BB962C8B-B14F-4D97-AF65-F5344CB8AC3E}">
        <p14:creationId xmlns:p14="http://schemas.microsoft.com/office/powerpoint/2010/main" val="10935690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Taş-Kağıt-Makas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Strateji 2: Rakibin Geçmişine Göre Seçim</a:t>
            </a:r>
          </a:p>
          <a:p>
            <a:endParaRPr lang="tr-TR" dirty="0"/>
          </a:p>
          <a:p>
            <a:r>
              <a:rPr lang="tr-TR" dirty="0"/>
              <a:t>Oyuncu, rakibinin önceki seçimlerine dayalı olarak stratejisini belirleyebilir.</a:t>
            </a:r>
          </a:p>
          <a:p>
            <a:r>
              <a:rPr lang="tr-TR" dirty="0"/>
              <a:t>Örneğin, rakip son turda taş seçtiyse, oyuncu bu turda kağıt seçebilir.</a:t>
            </a:r>
          </a:p>
          <a:p>
            <a:r>
              <a:rPr lang="tr-TR" dirty="0"/>
              <a:t>Bu strateji, rakibin eğilimlerini tahmin etmeye dayalıdır.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15</a:t>
            </a:fld>
            <a:endParaRPr lang="en-US" dirty="0"/>
          </a:p>
        </p:txBody>
      </p:sp>
    </p:spTree>
    <p:extLst>
      <p:ext uri="{BB962C8B-B14F-4D97-AF65-F5344CB8AC3E}">
        <p14:creationId xmlns:p14="http://schemas.microsoft.com/office/powerpoint/2010/main" val="285758376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Taş-Kağıt-Makas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Strateji 3: Karışık Strateji</a:t>
            </a:r>
          </a:p>
          <a:p>
            <a:endParaRPr lang="tr-TR" dirty="0"/>
          </a:p>
          <a:p>
            <a:r>
              <a:rPr lang="tr-TR" dirty="0"/>
              <a:t>Oyuncu, belirli bir olasılık dağılımı kullanarak farklı semboller seçebilir.</a:t>
            </a:r>
          </a:p>
          <a:p>
            <a:r>
              <a:rPr lang="tr-TR" dirty="0"/>
              <a:t>Örneğin, oyuncu yarı zamanında kağıt, yarı zamanında makas seçebilir.</a:t>
            </a:r>
          </a:p>
          <a:p>
            <a:r>
              <a:rPr lang="tr-TR" dirty="0"/>
              <a:t>Bu strateji, tahmin edilemeyen bir şekilde oynamak için kullanılır.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16</a:t>
            </a:fld>
            <a:endParaRPr lang="en-US" dirty="0"/>
          </a:p>
        </p:txBody>
      </p:sp>
    </p:spTree>
    <p:extLst>
      <p:ext uri="{BB962C8B-B14F-4D97-AF65-F5344CB8AC3E}">
        <p14:creationId xmlns:p14="http://schemas.microsoft.com/office/powerpoint/2010/main" val="18882461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Taş-Kağıt-Makas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Algoritmik</a:t>
            </a:r>
            <a:r>
              <a:rPr lang="tr-TR" b="1" dirty="0"/>
              <a:t> Oyun Teorisi Yaklaşımı:</a:t>
            </a:r>
          </a:p>
          <a:p>
            <a:pPr marL="0" indent="0">
              <a:buNone/>
            </a:pPr>
            <a:endParaRPr lang="tr-TR" b="1" dirty="0"/>
          </a:p>
          <a:p>
            <a:r>
              <a:rPr lang="tr-TR" dirty="0"/>
              <a:t>Algoritmik oyun teorisi, hangi stratejilerin en iyi sonuçları sağlayacağını veya hangi stratejilerin diğerlerine karşı avantajlı olduğunu inceleyebilir.</a:t>
            </a:r>
          </a:p>
          <a:p>
            <a:r>
              <a:rPr lang="tr-TR" dirty="0"/>
              <a:t>Basit bir oyunda bile strateji seçimleri önemlidir.</a:t>
            </a:r>
          </a:p>
          <a:p>
            <a:r>
              <a:rPr lang="tr-TR" dirty="0"/>
              <a:t>Stratejilerin rastgele seçimlerden, rakip davranışlarının analizine kadar farklı yaklaşımları vardır.</a:t>
            </a:r>
          </a:p>
          <a:p>
            <a:r>
              <a:rPr lang="tr-TR" dirty="0"/>
              <a:t>Oyuncuların strateji seçimleri, tahmin edilebilirlik ve rekabet açısından ilginç bir deneyim sunar.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17</a:t>
            </a:fld>
            <a:endParaRPr lang="en-US" dirty="0"/>
          </a:p>
        </p:txBody>
      </p:sp>
    </p:spTree>
    <p:extLst>
      <p:ext uri="{BB962C8B-B14F-4D97-AF65-F5344CB8AC3E}">
        <p14:creationId xmlns:p14="http://schemas.microsoft.com/office/powerpoint/2010/main" val="7534448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i-FI" dirty="0"/>
              <a:t>Kazanç</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Oyuncunun tüm oyuncuların seçtiği stratejilerin kombinasyonuna bağlı olarak aldığı sonucu veya faydayı ifade eder. </a:t>
            </a:r>
          </a:p>
          <a:p>
            <a:r>
              <a:rPr lang="tr-TR" dirty="0"/>
              <a:t>Oyuncular, seçtikleri stratejilere ve diğer oyuncuların seçimlerine bağlı olarak kazançlarını belirlerler.</a:t>
            </a:r>
          </a:p>
          <a:p>
            <a:r>
              <a:rPr lang="tr-TR" dirty="0"/>
              <a:t>Oyuncular, stratejilerini belirlerken kazançlarını maksimize etmeye çalışır.</a:t>
            </a:r>
          </a:p>
          <a:p>
            <a:r>
              <a:rPr lang="tr-TR" dirty="0"/>
              <a:t>Oyuncuların oyun stratejilerini seçmelerine ve davranışlarını belirlemelerine yardımcı olur.</a:t>
            </a:r>
          </a:p>
          <a:p>
            <a:r>
              <a:rPr lang="tr-TR" dirty="0"/>
              <a:t>Kazançlar, para değeri, puan veya memnuniyet seviyesi gibi farklı biçimlerde ifade edilebilir.</a:t>
            </a:r>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12693777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Farklı Taşınmaz Değerlerinde Monopol Oyunu</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Monopol oyunu oynanırken taşınmazların (</a:t>
            </a:r>
            <a:r>
              <a:rPr lang="tr-TR" dirty="0" err="1"/>
              <a:t>property</a:t>
            </a:r>
            <a:r>
              <a:rPr lang="tr-TR" dirty="0"/>
              <a:t>) farklı değerlerine odaklanılır. Monopol, mülkiyet ve iş yapma stratejilerinin öğrenilmesi açısından bir örnek sunar.</a:t>
            </a:r>
          </a:p>
          <a:p>
            <a:endParaRPr lang="tr-TR" dirty="0"/>
          </a:p>
          <a:p>
            <a:pPr marL="0" indent="0">
              <a:buNone/>
            </a:pPr>
            <a:r>
              <a:rPr lang="tr-TR" b="1" dirty="0"/>
              <a:t>Oyun Kurulumu:</a:t>
            </a:r>
          </a:p>
          <a:p>
            <a:endParaRPr lang="tr-TR" dirty="0"/>
          </a:p>
          <a:p>
            <a:r>
              <a:rPr lang="tr-TR" dirty="0"/>
              <a:t>Oyuncular, taşınmazları satın alır ve bu taşınmazları geliştirirler.</a:t>
            </a:r>
          </a:p>
          <a:p>
            <a:r>
              <a:rPr lang="tr-TR" dirty="0"/>
              <a:t>Her taşınmazın kira geliri farklıdır ve taşınmazın değeri bu gelire bağlıdır.</a:t>
            </a:r>
          </a:p>
          <a:p>
            <a:r>
              <a:rPr lang="tr-TR" dirty="0"/>
              <a:t>Oyuncuların amacı, yüksek kira geliri elde etmek ve diğer oyuncuların iflas etmesini sağlamaktır.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19</a:t>
            </a:fld>
            <a:endParaRPr lang="en-US" dirty="0"/>
          </a:p>
        </p:txBody>
      </p:sp>
    </p:spTree>
    <p:extLst>
      <p:ext uri="{BB962C8B-B14F-4D97-AF65-F5344CB8AC3E}">
        <p14:creationId xmlns:p14="http://schemas.microsoft.com/office/powerpoint/2010/main" val="3382308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Farklı Taşınmaz Değerlerinde Monopol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Payoff</a:t>
            </a:r>
            <a:r>
              <a:rPr lang="tr-TR" b="1" dirty="0"/>
              <a:t> (Ödül) Örneği:</a:t>
            </a:r>
          </a:p>
          <a:p>
            <a:endParaRPr lang="tr-TR" dirty="0"/>
          </a:p>
          <a:p>
            <a:r>
              <a:rPr lang="tr-TR" dirty="0"/>
              <a:t>Diyelim ki bir oyuncu, "</a:t>
            </a:r>
            <a:r>
              <a:rPr lang="tr-TR" dirty="0" err="1"/>
              <a:t>Broadway</a:t>
            </a:r>
            <a:r>
              <a:rPr lang="tr-TR" dirty="0"/>
              <a:t> Caddesi" adlı bir taşınmazı satın aldı.</a:t>
            </a:r>
          </a:p>
          <a:p>
            <a:r>
              <a:rPr lang="tr-TR" dirty="0"/>
              <a:t>Broadway Caddesi, yüksek bir kira geliri sunan değerli bir taşınmazdır. </a:t>
            </a:r>
          </a:p>
          <a:p>
            <a:r>
              <a:rPr lang="tr-TR" dirty="0"/>
              <a:t>Oyuncu, bu taşınmazı geliştirerek kira gelirini artırabilir.</a:t>
            </a:r>
          </a:p>
          <a:p>
            <a:r>
              <a:rPr lang="tr-TR" dirty="0"/>
              <a:t>Oyuncu, bu taşınmazı geliştirirse (örneğin otel inşa ederse), kira geliri daha da artar.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20</a:t>
            </a:fld>
            <a:endParaRPr lang="en-US" dirty="0"/>
          </a:p>
        </p:txBody>
      </p:sp>
    </p:spTree>
    <p:extLst>
      <p:ext uri="{BB962C8B-B14F-4D97-AF65-F5344CB8AC3E}">
        <p14:creationId xmlns:p14="http://schemas.microsoft.com/office/powerpoint/2010/main" val="2072057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Farklı Taşınmaz Değerlerinde Monopol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Algoritmik</a:t>
            </a:r>
            <a:r>
              <a:rPr lang="tr-TR" b="1" dirty="0"/>
              <a:t> Oyun Teorisi Yönü:</a:t>
            </a:r>
          </a:p>
          <a:p>
            <a:endParaRPr lang="tr-TR" dirty="0"/>
          </a:p>
          <a:p>
            <a:r>
              <a:rPr lang="tr-TR" dirty="0"/>
              <a:t>Monopol oyunu, oyuncuların taşınmazlarda stratejiler geliştirmesini ve hangi taşınmazların en karlı olduğunu belirlemesini gerektirir.</a:t>
            </a:r>
          </a:p>
          <a:p>
            <a:r>
              <a:rPr lang="tr-TR" dirty="0"/>
              <a:t>Algoritmik oyun teorisi, oyuncuların stratejileri nasıl optimize edebileceğini veya rakiplerinin stratejilerine nasıl karşı koyabileceğini inceleyebilir.</a:t>
            </a:r>
          </a:p>
          <a:p>
            <a:r>
              <a:rPr lang="tr-TR" dirty="0"/>
              <a:t>Oyuncular, her taşınmazın kira geliri ve değeri arasındaki dengeyi bulmaya çalışırken kararlar alır.</a:t>
            </a:r>
          </a:p>
          <a:p>
            <a:r>
              <a:rPr lang="tr-TR" dirty="0" err="1"/>
              <a:t>Payoff</a:t>
            </a:r>
            <a:r>
              <a:rPr lang="tr-TR" dirty="0"/>
              <a:t> (ödül), oyuncuların başarılarını ve yatırımlarının karlılığını gösterir.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21</a:t>
            </a:fld>
            <a:endParaRPr lang="en-US" dirty="0"/>
          </a:p>
        </p:txBody>
      </p:sp>
    </p:spTree>
    <p:extLst>
      <p:ext uri="{BB962C8B-B14F-4D97-AF65-F5344CB8AC3E}">
        <p14:creationId xmlns:p14="http://schemas.microsoft.com/office/powerpoint/2010/main" val="34995891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Bilgi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Her oyuncunun oyun ve seçilen stratejiler hakkında sahip olduğu bilgi.</a:t>
            </a:r>
          </a:p>
          <a:p>
            <a:r>
              <a:rPr lang="tr-TR" dirty="0"/>
              <a:t>Oyunlar, farklı bilgi seviyeleriyle oynanabilir.</a:t>
            </a:r>
          </a:p>
          <a:p>
            <a:r>
              <a:rPr lang="tr-TR" dirty="0"/>
              <a:t>Oyuncuların stratejilerini belirlemelerine yardımcı olur.</a:t>
            </a:r>
          </a:p>
          <a:p>
            <a:r>
              <a:rPr lang="tr-TR" dirty="0"/>
              <a:t>Oyuncular, sahip oldukları bilgiyi en iyi şekilde kullanarak rekabet ederler.</a:t>
            </a:r>
          </a:p>
          <a:p>
            <a:r>
              <a:rPr lang="tr-TR" b="1" dirty="0"/>
              <a:t>Farklı Seviyelerde</a:t>
            </a:r>
            <a:r>
              <a:rPr lang="tr-TR" dirty="0"/>
              <a:t>: Oyunlar, tam bilgi ile başlayarak eksik veya mükemmel olmayan bilgiye kadar farklı bilgi seviyelerinde oynanabilir.</a:t>
            </a:r>
          </a:p>
          <a:p>
            <a:r>
              <a:rPr lang="tr-TR" b="1" dirty="0"/>
              <a:t>Stratejileri Etkiler</a:t>
            </a:r>
            <a:r>
              <a:rPr lang="tr-TR" dirty="0"/>
              <a:t>: Bilgi seviyesi, oyuncuların stratejilerini belirlemelerine ve oyunun sonucunu etkilemelerine yardımcı olur.</a:t>
            </a:r>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22</a:t>
            </a:fld>
            <a:endParaRPr lang="en-US" dirty="0"/>
          </a:p>
        </p:txBody>
      </p:sp>
    </p:spTree>
    <p:extLst>
      <p:ext uri="{BB962C8B-B14F-4D97-AF65-F5344CB8AC3E}">
        <p14:creationId xmlns:p14="http://schemas.microsoft.com/office/powerpoint/2010/main" val="14299340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Poker Oyunu ve Blöf Stratejileri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Oyun Kurulumu:</a:t>
            </a:r>
          </a:p>
          <a:p>
            <a:endParaRPr lang="tr-TR" dirty="0"/>
          </a:p>
          <a:p>
            <a:r>
              <a:rPr lang="tr-TR" dirty="0"/>
              <a:t>Texas </a:t>
            </a:r>
            <a:r>
              <a:rPr lang="tr-TR" dirty="0" err="1"/>
              <a:t>Hold'em</a:t>
            </a:r>
            <a:r>
              <a:rPr lang="tr-TR" dirty="0"/>
              <a:t>, oyuncuların kartlarını kullanarak en iyi eli oluşturmayı amaçlayan bir kart oyunudur.</a:t>
            </a:r>
          </a:p>
          <a:p>
            <a:r>
              <a:rPr lang="tr-TR" dirty="0"/>
              <a:t>Her oyuncu, kapalı ve açık kartlardan oluşan bir el alır ve oyunda geriye kalan kartları kullanarak en iyi eli yapmaya çalışır.</a:t>
            </a:r>
          </a:p>
          <a:p>
            <a:r>
              <a:rPr lang="tr-TR" dirty="0"/>
              <a:t>Blöf, oyuncuların ellerini gizli tutarken rakipleri yanıltmak için strateji kullanmalarını içerir.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23</a:t>
            </a:fld>
            <a:endParaRPr lang="en-US" dirty="0"/>
          </a:p>
        </p:txBody>
      </p:sp>
    </p:spTree>
    <p:extLst>
      <p:ext uri="{BB962C8B-B14F-4D97-AF65-F5344CB8AC3E}">
        <p14:creationId xmlns:p14="http://schemas.microsoft.com/office/powerpoint/2010/main" val="163523421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Poker Oyunu ve Blöf Stratejileri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Bilgi Örneği:</a:t>
            </a:r>
          </a:p>
          <a:p>
            <a:endParaRPr lang="tr-TR" dirty="0"/>
          </a:p>
          <a:p>
            <a:r>
              <a:rPr lang="tr-TR" dirty="0"/>
              <a:t>Diyelim ki bir oyuncu, Texas </a:t>
            </a:r>
            <a:r>
              <a:rPr lang="tr-TR" dirty="0" err="1"/>
              <a:t>Hold'em</a:t>
            </a:r>
            <a:r>
              <a:rPr lang="tr-TR" dirty="0"/>
              <a:t> oyununda kapalı kartlarını görür ve elinin güçlü olduğunu düşünür.</a:t>
            </a:r>
          </a:p>
          <a:p>
            <a:r>
              <a:rPr lang="tr-TR" dirty="0"/>
              <a:t>Ancak, oyuncunun elindeki kartları rakiplerine göstermeden önce, rakiplerin ne tür elleri olduğunu anlamaya çalışır.</a:t>
            </a:r>
          </a:p>
          <a:p>
            <a:r>
              <a:rPr lang="tr-TR" dirty="0"/>
              <a:t>Rakiplerin davranışlarından veya bahislerinden elde edilen bilgi, oyuncunun nasıl bir strateji izleyeceğini belirler.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24</a:t>
            </a:fld>
            <a:endParaRPr lang="en-US" dirty="0"/>
          </a:p>
        </p:txBody>
      </p:sp>
    </p:spTree>
    <p:extLst>
      <p:ext uri="{BB962C8B-B14F-4D97-AF65-F5344CB8AC3E}">
        <p14:creationId xmlns:p14="http://schemas.microsoft.com/office/powerpoint/2010/main" val="2245550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Poker Oyunu ve Blöf Stratejileri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Algoritmik</a:t>
            </a:r>
            <a:r>
              <a:rPr lang="tr-TR" b="1" dirty="0"/>
              <a:t> Oyun Teorisi Yönü:</a:t>
            </a:r>
          </a:p>
          <a:p>
            <a:endParaRPr lang="tr-TR" dirty="0"/>
          </a:p>
          <a:p>
            <a:r>
              <a:rPr lang="tr-TR" dirty="0"/>
              <a:t>Algoritmik oyun teorisi, oyuncuların bilgiyi nasıl değerlendirebileceğini ve kararlarını optimize edebileceğini inceler.</a:t>
            </a:r>
          </a:p>
          <a:p>
            <a:r>
              <a:rPr lang="tr-TR" dirty="0"/>
              <a:t>Poker gibi oyunlar, bilgi toplama, analiz etme ve rakipleri yanıltma becerilerini gerektirir.</a:t>
            </a:r>
          </a:p>
          <a:p>
            <a:r>
              <a:rPr lang="tr-TR" dirty="0"/>
              <a:t>Oyuncular, ellerinin gücünü gizli tutarak veya rakiplerine yanıltıcı sinyaller göndererek stratejilerini belirler.</a:t>
            </a:r>
          </a:p>
          <a:p>
            <a:r>
              <a:rPr lang="tr-TR" dirty="0"/>
              <a:t>Bilgi, pokerde başarının kritik bileşenidir ve oyuncuların kararlarını etkiler.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25</a:t>
            </a:fld>
            <a:endParaRPr lang="en-US" dirty="0"/>
          </a:p>
        </p:txBody>
      </p:sp>
    </p:spTree>
    <p:extLst>
      <p:ext uri="{BB962C8B-B14F-4D97-AF65-F5344CB8AC3E}">
        <p14:creationId xmlns:p14="http://schemas.microsoft.com/office/powerpoint/2010/main" val="32893905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Denge</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 teorisinde, hiçbir oyuncunun stratejisini tek taraflı değiştirmeyi istemediği kararlı bir durumu ifade eder.</a:t>
            </a:r>
          </a:p>
          <a:p>
            <a:r>
              <a:rPr lang="tr-TR" dirty="0"/>
              <a:t>En yaygın denge türlerinden biri, John </a:t>
            </a:r>
            <a:r>
              <a:rPr lang="tr-TR" dirty="0" err="1"/>
              <a:t>Nash</a:t>
            </a:r>
            <a:r>
              <a:rPr lang="tr-TR" dirty="0"/>
              <a:t> tarafından adını alan "</a:t>
            </a:r>
            <a:r>
              <a:rPr lang="tr-TR" dirty="0" err="1"/>
              <a:t>Nash</a:t>
            </a:r>
            <a:r>
              <a:rPr lang="tr-TR" dirty="0"/>
              <a:t> </a:t>
            </a:r>
            <a:r>
              <a:rPr lang="tr-TR" dirty="0" err="1"/>
              <a:t>denge"dir</a:t>
            </a:r>
            <a:r>
              <a:rPr lang="tr-TR" dirty="0"/>
              <a:t>.</a:t>
            </a:r>
          </a:p>
          <a:p>
            <a:r>
              <a:rPr lang="tr-TR" b="1" dirty="0" err="1"/>
              <a:t>Nash</a:t>
            </a:r>
            <a:r>
              <a:rPr lang="tr-TR" b="1" dirty="0"/>
              <a:t> Denge</a:t>
            </a:r>
            <a:r>
              <a:rPr lang="tr-TR" dirty="0"/>
              <a:t>: En yaygın denge türlerinden biri olan </a:t>
            </a:r>
            <a:r>
              <a:rPr lang="tr-TR" dirty="0" err="1"/>
              <a:t>Nash</a:t>
            </a:r>
            <a:r>
              <a:rPr lang="tr-TR" dirty="0"/>
              <a:t> dengesi, diğer oyuncular stratejilerini sabit tutarken hiçbir oyuncunun fayda sağlayamayacağı bir strateji kümesidir.</a:t>
            </a:r>
          </a:p>
          <a:p>
            <a:r>
              <a:rPr lang="tr-TR" b="1" dirty="0"/>
              <a:t>Kararlılık</a:t>
            </a:r>
            <a:r>
              <a:rPr lang="tr-TR" dirty="0"/>
              <a:t>: Denge, oyuncuların kararlarını değiştirmeyi düşünmedikleri bir durumu temsil eder.</a:t>
            </a:r>
          </a:p>
          <a:p>
            <a:endParaRPr lang="tr-TR" dirty="0"/>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26</a:t>
            </a:fld>
            <a:endParaRPr lang="en-US" dirty="0"/>
          </a:p>
        </p:txBody>
      </p:sp>
    </p:spTree>
    <p:extLst>
      <p:ext uri="{BB962C8B-B14F-4D97-AF65-F5344CB8AC3E}">
        <p14:creationId xmlns:p14="http://schemas.microsoft.com/office/powerpoint/2010/main" val="40890191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Trafik Işıkları ve Oyun Teorisi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Oyun Kurulumu:</a:t>
            </a:r>
          </a:p>
          <a:p>
            <a:endParaRPr lang="tr-TR" dirty="0"/>
          </a:p>
          <a:p>
            <a:r>
              <a:rPr lang="tr-TR" dirty="0"/>
              <a:t>Trafik ışıkları kavşaklarda trafiği yönetir.</a:t>
            </a:r>
          </a:p>
          <a:p>
            <a:r>
              <a:rPr lang="tr-TR" dirty="0"/>
              <a:t>Sürücüler, yeşil ışıkta hareket etmeli veya durmalıdır.</a:t>
            </a:r>
          </a:p>
          <a:p>
            <a:r>
              <a:rPr lang="tr-TR" dirty="0"/>
              <a:t>Her sürücü, mümkün olan en kısa sürede hedefine ulaşmayı amaçlar.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27</a:t>
            </a:fld>
            <a:endParaRPr lang="en-US" dirty="0"/>
          </a:p>
        </p:txBody>
      </p:sp>
    </p:spTree>
    <p:extLst>
      <p:ext uri="{BB962C8B-B14F-4D97-AF65-F5344CB8AC3E}">
        <p14:creationId xmlns:p14="http://schemas.microsoft.com/office/powerpoint/2010/main" val="6890260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Trafik Işıkları ve Oyun Teorisi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Denge Örneği: Yeşil Işık Dengesi</a:t>
            </a:r>
          </a:p>
          <a:p>
            <a:endParaRPr lang="tr-TR" dirty="0"/>
          </a:p>
          <a:p>
            <a:r>
              <a:rPr lang="tr-TR" dirty="0"/>
              <a:t>Birçok trafik ışığı sistemi, kavşaklardaki trafik yoğunluğuna bağlı olarak ışıkların yeşil yanma sürelerini ayarlar.</a:t>
            </a:r>
          </a:p>
          <a:p>
            <a:r>
              <a:rPr lang="tr-TR" dirty="0"/>
              <a:t>Trafik ışığı sistemi, farklı yönlere yeşil ışık vererek dengeli bir trafik akışı sağlamaya çalışır.</a:t>
            </a:r>
          </a:p>
          <a:p>
            <a:r>
              <a:rPr lang="tr-TR" dirty="0"/>
              <a:t>Her yönde makul bir sürüş süresi elde etmek için bir denge sağlar.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28</a:t>
            </a:fld>
            <a:endParaRPr lang="en-US" dirty="0"/>
          </a:p>
        </p:txBody>
      </p:sp>
    </p:spTree>
    <p:extLst>
      <p:ext uri="{BB962C8B-B14F-4D97-AF65-F5344CB8AC3E}">
        <p14:creationId xmlns:p14="http://schemas.microsoft.com/office/powerpoint/2010/main" val="134291863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Trafik Işıkları ve Oyun Teorisi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Algoritmik</a:t>
            </a:r>
            <a:r>
              <a:rPr lang="tr-TR" b="1" dirty="0"/>
              <a:t> Oyun Teorisi Yönü:</a:t>
            </a:r>
          </a:p>
          <a:p>
            <a:endParaRPr lang="tr-TR" dirty="0"/>
          </a:p>
          <a:p>
            <a:r>
              <a:rPr lang="tr-TR" dirty="0" err="1"/>
              <a:t>Algoritmik</a:t>
            </a:r>
            <a:r>
              <a:rPr lang="tr-TR" dirty="0"/>
              <a:t> oyun teorisi, trafik ışıkları gibi sistemlerin nasıl düzenlendiğini ve sürücülerin bu sisteme nasıl tepki verdiğini inceler.</a:t>
            </a:r>
          </a:p>
          <a:p>
            <a:r>
              <a:rPr lang="tr-TR" dirty="0"/>
              <a:t>Sürücüler, trafik ışıkları ve diğer sürücülerin davranışlarına göre stratejilerini belirler.</a:t>
            </a:r>
          </a:p>
          <a:p>
            <a:r>
              <a:rPr lang="tr-TR" dirty="0"/>
              <a:t>Trafik ışıkları, trafik akışını optimize etmeye çalışırken, sürücüler de hızlarını ve rotalarını seçerler.</a:t>
            </a:r>
          </a:p>
          <a:p>
            <a:r>
              <a:rPr lang="tr-TR" dirty="0"/>
              <a:t>Dengeli bir trafik sistemi, her yönde adil ve etkili bir trafik akışı sağlar.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29</a:t>
            </a:fld>
            <a:endParaRPr lang="en-US" dirty="0"/>
          </a:p>
        </p:txBody>
      </p:sp>
    </p:spTree>
    <p:extLst>
      <p:ext uri="{BB962C8B-B14F-4D97-AF65-F5344CB8AC3E}">
        <p14:creationId xmlns:p14="http://schemas.microsoft.com/office/powerpoint/2010/main" val="13882316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Normal Form Oyunları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Oyuncular kararlarını eşzamanlı olarak veya diğer oyuncuların seçimlerini bilmeden aldığı rekabetçi durumları modellemek için kullanılır.</a:t>
            </a:r>
          </a:p>
          <a:p>
            <a:r>
              <a:rPr lang="tr-TR" dirty="0"/>
              <a:t>Oyun, bir matris formunda temsil edilir, her satır bir oyuncunun stratejisini ve her sütun başka bir oyuncunun stratejisini temsil eder.</a:t>
            </a:r>
          </a:p>
          <a:p>
            <a:r>
              <a:rPr lang="tr-TR" dirty="0"/>
              <a:t>Satır ve sütunların kesiştiği noktalar, karşılık gelen strateji kombinasyonlarının kazancını gösterir.</a:t>
            </a:r>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30</a:t>
            </a:fld>
            <a:endParaRPr lang="en-US" dirty="0"/>
          </a:p>
        </p:txBody>
      </p:sp>
    </p:spTree>
    <p:extLst>
      <p:ext uri="{BB962C8B-B14F-4D97-AF65-F5344CB8AC3E}">
        <p14:creationId xmlns:p14="http://schemas.microsoft.com/office/powerpoint/2010/main" val="15885261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Normal Form Oyunları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Oyuncuların ve stratejilerin tanımlandığı temel bir oyun teorisi modelidir.</a:t>
            </a:r>
          </a:p>
          <a:p>
            <a:r>
              <a:rPr lang="tr-TR" dirty="0"/>
              <a:t>Birden çok oyuncunun aynı anda stratejilerini seçtiği oyunları temsil etmek için kullanılır.</a:t>
            </a:r>
          </a:p>
          <a:p>
            <a:r>
              <a:rPr lang="tr-TR" dirty="0"/>
              <a:t>Her oyuncu, belirli bir strateji seçer ve bu strateji kombinasyonları sonuçları belirler.</a:t>
            </a:r>
          </a:p>
          <a:p>
            <a:r>
              <a:rPr lang="tr-TR" dirty="0"/>
              <a:t>Oyuncular kümesi 𝑁 = {1, ..., 𝑛} ile temsil edilir. </a:t>
            </a:r>
          </a:p>
          <a:p>
            <a:pPr lvl="1"/>
            <a:r>
              <a:rPr lang="tr-TR" dirty="0"/>
              <a:t>Burada 𝑛, oyuncu sayısını ifade eder.</a:t>
            </a:r>
          </a:p>
          <a:p>
            <a:r>
              <a:rPr lang="tr-TR" dirty="0"/>
              <a:t>𝑆, oyuncuların seçebileceği stratejilerin kümesini temsil eder. </a:t>
            </a:r>
          </a:p>
          <a:p>
            <a:pPr lvl="1"/>
            <a:r>
              <a:rPr lang="tr-TR" dirty="0"/>
              <a:t>Oyuncu 𝑖 için strateji 𝑠</a:t>
            </a:r>
            <a:r>
              <a:rPr lang="tr-TR" baseline="-25000" dirty="0"/>
              <a:t>𝑖</a:t>
            </a:r>
            <a:r>
              <a:rPr lang="tr-TR" dirty="0"/>
              <a:t>, oyuncunun seçebileceği bir hamledir.</a:t>
            </a:r>
          </a:p>
          <a:p>
            <a:r>
              <a:rPr lang="tr-TR" dirty="0"/>
              <a:t>Eylem profili (</a:t>
            </a:r>
            <a:r>
              <a:rPr lang="tr-TR" i="1" dirty="0"/>
              <a:t>Action profile</a:t>
            </a:r>
            <a:r>
              <a:rPr lang="tr-TR" dirty="0"/>
              <a:t>) (𝑠</a:t>
            </a:r>
            <a:r>
              <a:rPr lang="tr-TR" baseline="-25000" dirty="0"/>
              <a:t>1</a:t>
            </a:r>
            <a:r>
              <a:rPr lang="tr-TR" dirty="0"/>
              <a:t>, ..., 𝑠</a:t>
            </a:r>
            <a:r>
              <a:rPr lang="tr-TR" baseline="-25000" dirty="0"/>
              <a:t>𝑛</a:t>
            </a:r>
            <a:r>
              <a:rPr lang="tr-TR" dirty="0"/>
              <a:t>), her oyuncunun stratejisinin bir kombinasyonunu temsil eder.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31</a:t>
            </a:fld>
            <a:endParaRPr lang="en-US" dirty="0"/>
          </a:p>
        </p:txBody>
      </p:sp>
    </p:spTree>
    <p:extLst>
      <p:ext uri="{BB962C8B-B14F-4D97-AF65-F5344CB8AC3E}">
        <p14:creationId xmlns:p14="http://schemas.microsoft.com/office/powerpoint/2010/main" val="6641710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Normal Form Oyunları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Her oyuncu için, yardım veya kazanç fonksiyonu (</a:t>
            </a:r>
            <a:r>
              <a:rPr lang="tr-TR" i="1" dirty="0" err="1"/>
              <a:t>utility</a:t>
            </a:r>
            <a:r>
              <a:rPr lang="tr-TR" i="1" dirty="0"/>
              <a:t> </a:t>
            </a:r>
            <a:r>
              <a:rPr lang="tr-TR" i="1" dirty="0" err="1"/>
              <a:t>function</a:t>
            </a:r>
            <a:r>
              <a:rPr lang="tr-TR" dirty="0"/>
              <a:t>) </a:t>
            </a:r>
          </a:p>
          <a:p>
            <a:pPr lvl="1"/>
            <a:r>
              <a:rPr lang="tr-TR" dirty="0"/>
              <a:t>𝑢</a:t>
            </a:r>
            <a:r>
              <a:rPr lang="tr-TR" baseline="-25000" dirty="0"/>
              <a:t>𝑖</a:t>
            </a:r>
            <a:r>
              <a:rPr lang="tr-TR" dirty="0"/>
              <a:t>: 𝑆</a:t>
            </a:r>
            <a:r>
              <a:rPr lang="tr-TR" baseline="-25000" dirty="0"/>
              <a:t>1</a:t>
            </a:r>
            <a:r>
              <a:rPr lang="tr-TR" dirty="0"/>
              <a:t> x ... x 𝑆</a:t>
            </a:r>
            <a:r>
              <a:rPr lang="tr-TR" baseline="-25000" dirty="0"/>
              <a:t>𝑛</a:t>
            </a:r>
            <a:r>
              <a:rPr lang="tr-TR" dirty="0"/>
              <a:t> → ℝ şeklinde tanımlanır.</a:t>
            </a:r>
          </a:p>
          <a:p>
            <a:r>
              <a:rPr lang="tr-TR" dirty="0"/>
              <a:t>Belirli bir eylem profili (𝑠</a:t>
            </a:r>
            <a:r>
              <a:rPr lang="tr-TR" baseline="-25000" dirty="0"/>
              <a:t>1</a:t>
            </a:r>
            <a:r>
              <a:rPr lang="tr-TR" dirty="0"/>
              <a:t>, ..., 𝑠</a:t>
            </a:r>
            <a:r>
              <a:rPr lang="tr-TR" baseline="-25000" dirty="0"/>
              <a:t>𝑛</a:t>
            </a:r>
            <a:r>
              <a:rPr lang="tr-TR" dirty="0"/>
              <a:t>) için, her oyuncu 𝑖 kendi kazanç fonksiyonunu kullanarak bir ödül veya kazanç elde eder.</a:t>
            </a:r>
          </a:p>
          <a:p>
            <a:r>
              <a:rPr lang="tr-TR" dirty="0"/>
              <a:t>Kazanç fonksiyonları, oyuncuların tercihlerini ve hedeflerini yansıtır.</a:t>
            </a:r>
          </a:p>
          <a:p>
            <a:pPr marL="0" indent="0">
              <a:buNone/>
            </a:pPr>
            <a:r>
              <a:rPr lang="tr-TR" b="1" dirty="0"/>
              <a:t>Bir normal form oyunu örneği: Taş-Kağıt-Makas oyunu</a:t>
            </a:r>
          </a:p>
          <a:p>
            <a:r>
              <a:rPr lang="tr-TR" b="1" dirty="0"/>
              <a:t>Oyuncular</a:t>
            </a:r>
            <a:r>
              <a:rPr lang="tr-TR" dirty="0"/>
              <a:t>: İki oyuncu (𝑛 = 2)</a:t>
            </a:r>
          </a:p>
          <a:p>
            <a:r>
              <a:rPr lang="tr-TR" b="1" dirty="0"/>
              <a:t>Stratejiler</a:t>
            </a:r>
            <a:r>
              <a:rPr lang="tr-TR" dirty="0"/>
              <a:t>: Taş, Kağıt, Makas</a:t>
            </a:r>
          </a:p>
          <a:p>
            <a:r>
              <a:rPr lang="tr-TR" b="1" dirty="0" err="1"/>
              <a:t>Utility</a:t>
            </a:r>
            <a:r>
              <a:rPr lang="tr-TR" b="1" dirty="0"/>
              <a:t> fonksiyonları</a:t>
            </a:r>
            <a:r>
              <a:rPr lang="tr-TR" dirty="0"/>
              <a:t>: Kazanan oyuncu ödül alır (</a:t>
            </a:r>
            <a:r>
              <a:rPr lang="tr-TR" dirty="0" err="1"/>
              <a:t>Örn</a:t>
            </a:r>
            <a:r>
              <a:rPr lang="tr-TR" dirty="0"/>
              <a:t>: 1 puan)</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32</a:t>
            </a:fld>
            <a:endParaRPr lang="en-US" dirty="0"/>
          </a:p>
        </p:txBody>
      </p:sp>
    </p:spTree>
    <p:extLst>
      <p:ext uri="{BB962C8B-B14F-4D97-AF65-F5344CB8AC3E}">
        <p14:creationId xmlns:p14="http://schemas.microsoft.com/office/powerpoint/2010/main" val="97691071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Fiyat Rekabeti Oyunu</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Örnek; iki şirketin fiyat rekabeti yaparak kararlarını alacağı bir normal form oyunu.</a:t>
            </a:r>
          </a:p>
          <a:p>
            <a:endParaRPr lang="tr-TR" dirty="0"/>
          </a:p>
          <a:p>
            <a:pPr marL="0" indent="0">
              <a:buNone/>
            </a:pPr>
            <a:r>
              <a:rPr lang="tr-TR" b="1" dirty="0"/>
              <a:t>Oyun Kurulumu:</a:t>
            </a:r>
          </a:p>
          <a:p>
            <a:endParaRPr lang="tr-TR" dirty="0"/>
          </a:p>
          <a:p>
            <a:r>
              <a:rPr lang="tr-TR" dirty="0"/>
              <a:t>İki şirket, aynı pazarda benzer ürünleri satıyorlar ve rekabet ediyorlar.</a:t>
            </a:r>
          </a:p>
          <a:p>
            <a:r>
              <a:rPr lang="tr-TR" dirty="0"/>
              <a:t>Her iki şirket de ürünlerine fiyat belirlemelidir.</a:t>
            </a:r>
          </a:p>
          <a:p>
            <a:r>
              <a:rPr lang="tr-TR" dirty="0"/>
              <a:t>Fiyatlar, müşterilerin hangi ürünü satın alacaklarını ve dolayısıyla şirketlerin karlarını etkiler.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33</a:t>
            </a:fld>
            <a:endParaRPr lang="en-US" dirty="0"/>
          </a:p>
        </p:txBody>
      </p:sp>
    </p:spTree>
    <p:extLst>
      <p:ext uri="{BB962C8B-B14F-4D97-AF65-F5344CB8AC3E}">
        <p14:creationId xmlns:p14="http://schemas.microsoft.com/office/powerpoint/2010/main" val="327745905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Fiyat Rekabeti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Normal Form Oyunu Temsili:</a:t>
            </a:r>
          </a:p>
          <a:p>
            <a:r>
              <a:rPr lang="tr-TR" dirty="0"/>
              <a:t>İki oyunculu bir normal form oyunudur. </a:t>
            </a:r>
          </a:p>
          <a:p>
            <a:r>
              <a:rPr lang="tr-TR" dirty="0"/>
              <a:t>Her iki oyuncu da fiyatlarını belirlemelidir.</a:t>
            </a:r>
          </a:p>
          <a:p>
            <a:r>
              <a:rPr lang="tr-TR" dirty="0"/>
              <a:t>Oyuncuların karlarını temsil etmek için bir matris kullanılır.</a:t>
            </a:r>
          </a:p>
          <a:p>
            <a:r>
              <a:rPr lang="tr-TR" dirty="0"/>
              <a:t>Her hücre, iki şirketin fiyat kararlarının sonuçlarını gösterir.</a:t>
            </a:r>
          </a:p>
          <a:p>
            <a:r>
              <a:rPr lang="tr-TR" dirty="0"/>
              <a:t>Şirket1 ve Şirket2 100 TL fiyat belirlerse, iki şirket de 5 birim kar eder.</a:t>
            </a:r>
          </a:p>
          <a:p>
            <a:pPr marL="0" indent="0">
              <a:buNone/>
            </a:pPr>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34</a:t>
            </a:fld>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2961310259"/>
              </p:ext>
            </p:extLst>
          </p:nvPr>
        </p:nvGraphicFramePr>
        <p:xfrm>
          <a:off x="2032000" y="4952390"/>
          <a:ext cx="8127999" cy="1107440"/>
        </p:xfrm>
        <a:graphic>
          <a:graphicData uri="http://schemas.openxmlformats.org/drawingml/2006/table">
            <a:tbl>
              <a:tblPr firstRow="1" bandRow="1">
                <a:tableStyleId>{D7AC3CCA-C797-4891-BE02-D94E43425B78}</a:tableStyleId>
              </a:tblPr>
              <a:tblGrid>
                <a:gridCol w="2709333">
                  <a:extLst>
                    <a:ext uri="{9D8B030D-6E8A-4147-A177-3AD203B41FA5}">
                      <a16:colId xmlns:a16="http://schemas.microsoft.com/office/drawing/2014/main" val="20000"/>
                    </a:ext>
                  </a:extLst>
                </a:gridCol>
                <a:gridCol w="2709333">
                  <a:extLst>
                    <a:ext uri="{9D8B030D-6E8A-4147-A177-3AD203B41FA5}">
                      <a16:colId xmlns:a16="http://schemas.microsoft.com/office/drawing/2014/main" val="20001"/>
                    </a:ext>
                  </a:extLst>
                </a:gridCol>
                <a:gridCol w="2709333">
                  <a:extLst>
                    <a:ext uri="{9D8B030D-6E8A-4147-A177-3AD203B41FA5}">
                      <a16:colId xmlns:a16="http://schemas.microsoft.com/office/drawing/2014/main" val="20002"/>
                    </a:ext>
                  </a:extLst>
                </a:gridCol>
              </a:tblGrid>
              <a:tr h="260512">
                <a:tc>
                  <a:txBody>
                    <a:bodyPr/>
                    <a:lstStyle/>
                    <a:p>
                      <a:endParaRPr lang="tr-TR" dirty="0"/>
                    </a:p>
                  </a:txBody>
                  <a:tcPr/>
                </a:tc>
                <a:tc>
                  <a:txBody>
                    <a:bodyPr/>
                    <a:lstStyle/>
                    <a:p>
                      <a:r>
                        <a:rPr lang="tr-TR" dirty="0"/>
                        <a:t>Şirket2 (100 TL)</a:t>
                      </a:r>
                    </a:p>
                  </a:txBody>
                  <a:tcPr/>
                </a:tc>
                <a:tc>
                  <a:txBody>
                    <a:bodyPr/>
                    <a:lstStyle/>
                    <a:p>
                      <a:r>
                        <a:rPr lang="tr-TR" dirty="0"/>
                        <a:t>Şirket2 (120 TL)</a:t>
                      </a:r>
                    </a:p>
                  </a:txBody>
                  <a:tcPr/>
                </a:tc>
                <a:extLst>
                  <a:ext uri="{0D108BD9-81ED-4DB2-BD59-A6C34878D82A}">
                    <a16:rowId xmlns:a16="http://schemas.microsoft.com/office/drawing/2014/main" val="10000"/>
                  </a:ext>
                </a:extLst>
              </a:tr>
              <a:tr h="370840">
                <a:tc>
                  <a:txBody>
                    <a:bodyPr/>
                    <a:lstStyle/>
                    <a:p>
                      <a:r>
                        <a:rPr lang="tr-TR" b="1" dirty="0"/>
                        <a:t>Şirket1 (100 TL)</a:t>
                      </a:r>
                    </a:p>
                  </a:txBody>
                  <a:tcPr/>
                </a:tc>
                <a:tc>
                  <a:txBody>
                    <a:bodyPr/>
                    <a:lstStyle/>
                    <a:p>
                      <a:r>
                        <a:rPr lang="tr-TR" dirty="0"/>
                        <a:t>(5,5)</a:t>
                      </a:r>
                    </a:p>
                  </a:txBody>
                  <a:tcPr/>
                </a:tc>
                <a:tc>
                  <a:txBody>
                    <a:bodyPr/>
                    <a:lstStyle/>
                    <a:p>
                      <a:r>
                        <a:rPr lang="tr-TR" dirty="0"/>
                        <a:t>(1,8)</a:t>
                      </a:r>
                    </a:p>
                  </a:txBody>
                  <a:tcPr/>
                </a:tc>
                <a:extLst>
                  <a:ext uri="{0D108BD9-81ED-4DB2-BD59-A6C34878D82A}">
                    <a16:rowId xmlns:a16="http://schemas.microsoft.com/office/drawing/2014/main" val="100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tr-TR" b="1" dirty="0"/>
                        <a:t>Şirket1 (120 TL)</a:t>
                      </a:r>
                    </a:p>
                  </a:txBody>
                  <a:tcPr/>
                </a:tc>
                <a:tc>
                  <a:txBody>
                    <a:bodyPr/>
                    <a:lstStyle/>
                    <a:p>
                      <a:endParaRPr lang="tr-TR" dirty="0"/>
                    </a:p>
                  </a:txBody>
                  <a:tcPr/>
                </a:tc>
                <a:tc>
                  <a:txBody>
                    <a:bodyPr/>
                    <a:lstStyle/>
                    <a:p>
                      <a:endParaRPr lang="tr-TR"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93812405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Fiyat Rekabeti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Algoritmik</a:t>
            </a:r>
            <a:r>
              <a:rPr lang="tr-TR" b="1" dirty="0"/>
              <a:t> Oyun Teorisi Yönü:</a:t>
            </a:r>
          </a:p>
          <a:p>
            <a:endParaRPr lang="tr-TR" dirty="0"/>
          </a:p>
          <a:p>
            <a:r>
              <a:rPr lang="tr-TR" dirty="0"/>
              <a:t>Her iki şirketin kararları analiz edilerek hangi fiyatların en iyi sonucu sağlayacağı belirlenebilir.</a:t>
            </a:r>
          </a:p>
          <a:p>
            <a:r>
              <a:rPr lang="tr-TR" dirty="0"/>
              <a:t>Şirketlerin fiyat kararları, müşteri tercihleri ve rekabetle etkileşim içindedir.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35</a:t>
            </a:fld>
            <a:endParaRPr lang="en-US" dirty="0"/>
          </a:p>
        </p:txBody>
      </p:sp>
    </p:spTree>
    <p:extLst>
      <p:ext uri="{BB962C8B-B14F-4D97-AF65-F5344CB8AC3E}">
        <p14:creationId xmlns:p14="http://schemas.microsoft.com/office/powerpoint/2010/main" val="29370553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Genişletilmiş Form Oyunları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Karar sıralamasını anlamak için kullanılan bir oyun ağacıyla temsil edilir. </a:t>
            </a:r>
          </a:p>
          <a:p>
            <a:r>
              <a:rPr lang="tr-TR" dirty="0"/>
              <a:t>Bu ağaç, </a:t>
            </a:r>
          </a:p>
          <a:p>
            <a:pPr lvl="1"/>
            <a:r>
              <a:rPr lang="tr-TR" dirty="0"/>
              <a:t>oyunun oynama sırasını, </a:t>
            </a:r>
          </a:p>
          <a:p>
            <a:pPr lvl="1"/>
            <a:r>
              <a:rPr lang="tr-TR" dirty="0"/>
              <a:t>her karar noktasında mevcut olan eylemleri ve </a:t>
            </a:r>
          </a:p>
          <a:p>
            <a:pPr lvl="1"/>
            <a:r>
              <a:rPr lang="tr-TR" dirty="0"/>
              <a:t>farklı stratejilerle ilişkilendirilmiş olası sonuçları içerir.</a:t>
            </a:r>
          </a:p>
          <a:p>
            <a:r>
              <a:rPr lang="tr-TR" dirty="0"/>
              <a:t>Oyuncuların daha karmaşık ve gerçek dünya durumlarını modellemede kullanabileceği bir analiz aracı sunar.</a:t>
            </a:r>
          </a:p>
          <a:p>
            <a:r>
              <a:rPr lang="tr-TR" dirty="0"/>
              <a:t>Gerçek dünya durumlarını daha iyi modelleme yeteneği sunar.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36</a:t>
            </a:fld>
            <a:endParaRPr lang="en-US" dirty="0"/>
          </a:p>
        </p:txBody>
      </p:sp>
    </p:spTree>
    <p:extLst>
      <p:ext uri="{BB962C8B-B14F-4D97-AF65-F5344CB8AC3E}">
        <p14:creationId xmlns:p14="http://schemas.microsoft.com/office/powerpoint/2010/main" val="7836008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Satranç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Oyun Kurulumu:</a:t>
            </a:r>
          </a:p>
          <a:p>
            <a:endParaRPr lang="tr-TR" dirty="0"/>
          </a:p>
          <a:p>
            <a:r>
              <a:rPr lang="tr-TR" dirty="0"/>
              <a:t>İki oyuncu arasında oynanan stratejik bir masa oyunudur.</a:t>
            </a:r>
          </a:p>
          <a:p>
            <a:r>
              <a:rPr lang="tr-TR" dirty="0"/>
              <a:t>Oyuncular, farklı tipteki taşları (şah, vezir, kale, at, fil, piyon) kullanarak rakibin şahını tehdit eder ve mat etmeye çalışır.</a:t>
            </a:r>
          </a:p>
          <a:p>
            <a:r>
              <a:rPr lang="tr-TR" dirty="0"/>
              <a:t>Her oyuncunun sırayla hamle yapma hakkı vardır ve bu hamleler oyunun sonucunu etkiler.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37</a:t>
            </a:fld>
            <a:endParaRPr lang="en-US" dirty="0"/>
          </a:p>
        </p:txBody>
      </p:sp>
    </p:spTree>
    <p:extLst>
      <p:ext uri="{BB962C8B-B14F-4D97-AF65-F5344CB8AC3E}">
        <p14:creationId xmlns:p14="http://schemas.microsoft.com/office/powerpoint/2010/main" val="304604003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Satranç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Geniş Form Oyunu Temsili:</a:t>
            </a:r>
          </a:p>
          <a:p>
            <a:r>
              <a:rPr lang="tr-TR" dirty="0"/>
              <a:t>Oyuncular sırayla hamle yapar ve oyunun sonucu ağaç şeklinde gösterilir.</a:t>
            </a:r>
          </a:p>
          <a:p>
            <a:r>
              <a:rPr lang="tr-TR" dirty="0"/>
              <a:t>Her hamle, oyuncuların taşlarını hareket ettirmesini temsil eder.</a:t>
            </a:r>
          </a:p>
          <a:p>
            <a:r>
              <a:rPr lang="tr-TR" dirty="0"/>
              <a:t>Her hamle sonunda oyunun ilerleyişi değişir ve sonunda bir galip belirlenir.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38</a:t>
            </a:fld>
            <a:endParaRPr lang="en-US" dirty="0"/>
          </a:p>
        </p:txBody>
      </p:sp>
      <p:pic>
        <p:nvPicPr>
          <p:cNvPr id="8" name="Picture 7">
            <a:extLst>
              <a:ext uri="{FF2B5EF4-FFF2-40B4-BE49-F238E27FC236}">
                <a16:creationId xmlns:a16="http://schemas.microsoft.com/office/drawing/2014/main" id="{91A49341-0369-88E7-CBD0-CF7D8FCB33C2}"/>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Effect>
                      <a14:saturation sat="400000"/>
                    </a14:imgEffect>
                  </a14:imgLayer>
                </a14:imgProps>
              </a:ext>
            </a:extLst>
          </a:blip>
          <a:stretch>
            <a:fillRect/>
          </a:stretch>
        </p:blipFill>
        <p:spPr>
          <a:xfrm>
            <a:off x="3529012" y="4054525"/>
            <a:ext cx="5133975" cy="208597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9862863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Satranç Oyunu</a:t>
            </a:r>
          </a:p>
        </p:txBody>
      </p:sp>
      <p:pic>
        <p:nvPicPr>
          <p:cNvPr id="9" name="Content Placeholder 8">
            <a:extLst>
              <a:ext uri="{FF2B5EF4-FFF2-40B4-BE49-F238E27FC236}">
                <a16:creationId xmlns:a16="http://schemas.microsoft.com/office/drawing/2014/main" id="{05D9A167-4106-8CE4-E67E-B1FFEBB42323}"/>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1586765" y="1807695"/>
            <a:ext cx="9018469" cy="4679950"/>
          </a:xfrm>
          <a:prstGeom prst="rect">
            <a:avLst/>
          </a:prstGeom>
          <a:ln>
            <a:noFill/>
          </a:ln>
          <a:effectLst>
            <a:outerShdw blurRad="292100" dist="139700" dir="2700000" algn="tl" rotWithShape="0">
              <a:srgbClr val="333333">
                <a:alpha val="65000"/>
              </a:srgbClr>
            </a:outerShdw>
          </a:effectLst>
        </p:spPr>
      </p:pic>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39</a:t>
            </a:fld>
            <a:endParaRPr lang="en-US" dirty="0"/>
          </a:p>
        </p:txBody>
      </p:sp>
    </p:spTree>
    <p:extLst>
      <p:ext uri="{BB962C8B-B14F-4D97-AF65-F5344CB8AC3E}">
        <p14:creationId xmlns:p14="http://schemas.microsoft.com/office/powerpoint/2010/main" val="40775975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Satranç Oyunu</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Algoritmik</a:t>
            </a:r>
            <a:r>
              <a:rPr lang="tr-TR" b="1" dirty="0"/>
              <a:t> Oyun Teorisi Yönü:</a:t>
            </a:r>
          </a:p>
          <a:p>
            <a:endParaRPr lang="tr-TR" dirty="0"/>
          </a:p>
          <a:p>
            <a:r>
              <a:rPr lang="tr-TR" dirty="0"/>
              <a:t>Oyuncuların en iyi hamleleri nasıl seçeceğini inceler.</a:t>
            </a:r>
          </a:p>
          <a:p>
            <a:r>
              <a:rPr lang="tr-TR" dirty="0"/>
              <a:t>Her hamlenin sonucu ve karar ağacı, oyuncuların stratejilerini geliştirmelerine yardımcı olur.</a:t>
            </a:r>
          </a:p>
          <a:p>
            <a:r>
              <a:rPr lang="tr-TR" dirty="0"/>
              <a:t>Oyuncuların uzun vadeli strateji yapma yeteneklerini test eder.</a:t>
            </a:r>
          </a:p>
          <a:p>
            <a:r>
              <a:rPr lang="tr-TR" dirty="0"/>
              <a:t>Oyuncular, hamlelerinin sonuçlarını düşünerek ve rakiplerinin stratejilerini tahmin ederek kararlar alır.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40</a:t>
            </a:fld>
            <a:endParaRPr lang="en-US" dirty="0"/>
          </a:p>
        </p:txBody>
      </p:sp>
    </p:spTree>
    <p:extLst>
      <p:ext uri="{BB962C8B-B14F-4D97-AF65-F5344CB8AC3E}">
        <p14:creationId xmlns:p14="http://schemas.microsoft.com/office/powerpoint/2010/main" val="502798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Nash Denge</a:t>
            </a:r>
            <a:r>
              <a:rPr lang="tr-TR" dirty="0"/>
              <a:t>si</a:t>
            </a:r>
            <a:endParaRPr lang="fi-FI" dirty="0"/>
          </a:p>
        </p:txBody>
      </p:sp>
      <p:sp>
        <p:nvSpPr>
          <p:cNvPr id="3" name="Content Placeholder 2"/>
          <p:cNvSpPr>
            <a:spLocks noGrp="1"/>
          </p:cNvSpPr>
          <p:nvPr>
            <p:ph idx="1"/>
          </p:nvPr>
        </p:nvSpPr>
        <p:spPr>
          <a:xfrm>
            <a:off x="838200" y="1825625"/>
            <a:ext cx="10515600" cy="4680000"/>
          </a:xfrm>
        </p:spPr>
        <p:txBody>
          <a:bodyPr>
            <a:normAutofit/>
          </a:bodyPr>
          <a:lstStyle/>
          <a:p>
            <a:r>
              <a:rPr lang="tr-TR" dirty="0"/>
              <a:t>Hiçbir oyuncunun, diğer oyuncuların stratejilerini değiştirmedikleri sürece kendi stratejisinden saparak kazancını tek taraflı olarak artıramayacağı bir strateji kümesidir.</a:t>
            </a:r>
          </a:p>
          <a:p>
            <a:r>
              <a:rPr lang="tr-TR" dirty="0"/>
              <a:t>Oyunun kararlı bir durumunu temsil eder.</a:t>
            </a:r>
          </a:p>
          <a:p>
            <a:r>
              <a:rPr lang="tr-TR" dirty="0"/>
              <a:t>Oyuncuların stratejilerini değiştirmeye niyeti olmadığını gösterir.</a:t>
            </a:r>
          </a:p>
          <a:p>
            <a:r>
              <a:rPr lang="tr-TR" dirty="0"/>
              <a:t>Matematikçi John </a:t>
            </a:r>
            <a:r>
              <a:rPr lang="tr-TR" dirty="0" err="1"/>
              <a:t>Nash'in</a:t>
            </a:r>
            <a:r>
              <a:rPr lang="tr-TR" dirty="0"/>
              <a:t> adını taşır.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41</a:t>
            </a:fld>
            <a:endParaRPr lang="en-US" dirty="0"/>
          </a:p>
        </p:txBody>
      </p:sp>
    </p:spTree>
    <p:extLst>
      <p:ext uri="{BB962C8B-B14F-4D97-AF65-F5344CB8AC3E}">
        <p14:creationId xmlns:p14="http://schemas.microsoft.com/office/powerpoint/2010/main" val="57249326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Baskın Strateji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Bir oyuncunun, diğer oyuncuların seçtiği stratejilere bakmaksızın en yüksek kazancı sağlayan stratejisidir.</a:t>
            </a:r>
          </a:p>
          <a:p>
            <a:r>
              <a:rPr lang="tr-TR" dirty="0"/>
              <a:t>Baskın stratejisi olan oyuncu için, diğer oyuncuların seçimleri ne olursa olsun, her zaman bu stratejiyi seçmek mantıklıdır.</a:t>
            </a:r>
          </a:p>
          <a:p>
            <a:r>
              <a:rPr lang="tr-TR" dirty="0"/>
              <a:t>Eğer bir oyuncunun baskın bir stratejisi varsa, her zaman bu stratejiyi seçmek, kendi çıkarlarına uyar. </a:t>
            </a:r>
          </a:p>
          <a:p>
            <a:r>
              <a:rPr lang="tr-TR" dirty="0"/>
              <a:t>Oyuncuların oyunlarda en iyi kararlarını vermesine yardımcı olur ve stratejik düşünme için önemlidir.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42</a:t>
            </a:fld>
            <a:endParaRPr lang="en-US" dirty="0"/>
          </a:p>
        </p:txBody>
      </p:sp>
    </p:spTree>
    <p:extLst>
      <p:ext uri="{BB962C8B-B14F-4D97-AF65-F5344CB8AC3E}">
        <p14:creationId xmlns:p14="http://schemas.microsoft.com/office/powerpoint/2010/main" val="73191791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Karışık Strateji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Bir oyuncunun, belirli bir olasılık dağılımına göre strateji seçimini </a:t>
            </a:r>
            <a:r>
              <a:rPr lang="tr-TR" dirty="0" err="1"/>
              <a:t>rastgeleleştirdiği</a:t>
            </a:r>
            <a:r>
              <a:rPr lang="tr-TR" dirty="0"/>
              <a:t> durumu ifade eder.</a:t>
            </a:r>
          </a:p>
          <a:p>
            <a:r>
              <a:rPr lang="tr-TR" dirty="0"/>
              <a:t>Oyuncunun belirli bir olasılıkla farklı stratejileri seçerek en iyi sonucu elde etmesine olanak tanır.</a:t>
            </a:r>
          </a:p>
          <a:p>
            <a:r>
              <a:rPr lang="tr-TR" dirty="0"/>
              <a:t>Oyun teorisinde stratejik çeşitliliği modellemek için kullanılır.</a:t>
            </a:r>
          </a:p>
          <a:p>
            <a:r>
              <a:rPr lang="tr-TR" dirty="0"/>
              <a:t>Oyuncuların rakiplerini şaşırtmak ve en iyi sonuca ulaşmak için kullanabilecekleri bir araçtır. </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43</a:t>
            </a:fld>
            <a:endParaRPr lang="en-US" dirty="0"/>
          </a:p>
        </p:txBody>
      </p:sp>
    </p:spTree>
    <p:extLst>
      <p:ext uri="{BB962C8B-B14F-4D97-AF65-F5344CB8AC3E}">
        <p14:creationId xmlns:p14="http://schemas.microsoft.com/office/powerpoint/2010/main" val="9029231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İşbirlikçi Oyunlar</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Oyuncuların bir araya gelerek koalisyonlar oluşturabileceği, ortak stratejileri belirleyebileceği ve toplam kazancı nasıl paylaşabileceğini inceleyen oyunlardır. </a:t>
            </a:r>
          </a:p>
          <a:p>
            <a:r>
              <a:rPr lang="tr-TR" dirty="0"/>
              <a:t>İşbirliği yapmanın ve kaynakları etkili bir şekilde dağıtmanın stratejik avantajlarını anlamamıza yardımcı olur.</a:t>
            </a:r>
          </a:p>
          <a:p>
            <a:r>
              <a:rPr lang="tr-TR" dirty="0"/>
              <a:t>İşbirlikçi oyunlar, oyuncuların bir araya gelerek daha iyi sonuçlar elde etmelerini incelemek için kullanılır.</a:t>
            </a:r>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44</a:t>
            </a:fld>
            <a:endParaRPr lang="en-US" dirty="0"/>
          </a:p>
        </p:txBody>
      </p:sp>
    </p:spTree>
    <p:extLst>
      <p:ext uri="{BB962C8B-B14F-4D97-AF65-F5344CB8AC3E}">
        <p14:creationId xmlns:p14="http://schemas.microsoft.com/office/powerpoint/2010/main" val="17266464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İşbirliği Olmayan Oyunlar</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Harici bir güç veya koalisyonlar oluşturan ajanlar yer almaz. </a:t>
            </a:r>
          </a:p>
          <a:p>
            <a:r>
              <a:rPr lang="tr-TR" dirty="0"/>
              <a:t>Ajanlar kendi çıkarlarına odaklanır ve bağımsız stratejiler izler.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45</a:t>
            </a:fld>
            <a:endParaRPr lang="en-US" dirty="0"/>
          </a:p>
        </p:txBody>
      </p:sp>
    </p:spTree>
    <p:extLst>
      <p:ext uri="{BB962C8B-B14F-4D97-AF65-F5344CB8AC3E}">
        <p14:creationId xmlns:p14="http://schemas.microsoft.com/office/powerpoint/2010/main" val="348050478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Örnek: Mahkumun İkilemi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İki mahkumun kendi çıkarlarını düşünürken toplumun çıkarını en iyi nasıl gözetmeleri gerektiğini gösteren bir senaryoyu temsil eder. </a:t>
            </a:r>
          </a:p>
          <a:p>
            <a:r>
              <a:rPr lang="tr-TR" dirty="0"/>
              <a:t>İşbirliği ve rekabet arasındaki dengeyi anlamamıza yardımcı olur.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46</a:t>
            </a:fld>
            <a:endParaRPr lang="en-US" dirty="0"/>
          </a:p>
        </p:txBody>
      </p:sp>
    </p:spTree>
    <p:extLst>
      <p:ext uri="{BB962C8B-B14F-4D97-AF65-F5344CB8AC3E}">
        <p14:creationId xmlns:p14="http://schemas.microsoft.com/office/powerpoint/2010/main" val="27730589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Mahkumun İkilemi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İki mahkum suç işlediği iddiasıyla ayrı ayrı sorgulanırlar.</a:t>
            </a:r>
          </a:p>
          <a:p>
            <a:r>
              <a:rPr lang="tr-TR" dirty="0"/>
              <a:t>Her mahkum, iki seçenek arasında bir karar vermelidir: </a:t>
            </a:r>
          </a:p>
          <a:p>
            <a:pPr lvl="1"/>
            <a:r>
              <a:rPr lang="tr-TR" dirty="0"/>
              <a:t>susmak veya işbirliği yapmak.</a:t>
            </a:r>
          </a:p>
          <a:p>
            <a:r>
              <a:rPr lang="tr-TR" dirty="0"/>
              <a:t>Her iki mahkum sessiz kalırsa, her ikisi de daha hafif bir ceza alır.</a:t>
            </a:r>
          </a:p>
          <a:p>
            <a:r>
              <a:rPr lang="tr-TR" dirty="0"/>
              <a:t>Ancak, bir mahkum diğeri ile işbirliği yapmayı seçerse ve diğer mahkum sessiz kalırsa, işbirliği yapan mahkum serbest bırakılırken sessiz kalan mahkum daha ağır bir ceza alır.</a:t>
            </a:r>
          </a:p>
          <a:p>
            <a:r>
              <a:rPr lang="tr-TR" dirty="0"/>
              <a:t>İki mahkum da işbirliği yaparsa, her ikisi de orta düzey bir ceza alır.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47</a:t>
            </a:fld>
            <a:endParaRPr lang="en-US" dirty="0"/>
          </a:p>
        </p:txBody>
      </p:sp>
    </p:spTree>
    <p:extLst>
      <p:ext uri="{BB962C8B-B14F-4D97-AF65-F5344CB8AC3E}">
        <p14:creationId xmlns:p14="http://schemas.microsoft.com/office/powerpoint/2010/main" val="171702123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Mahkumun İkilemi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Mahkum A sessiz kalırsa ve Mahkum B de sessiz kalırsa, </a:t>
            </a:r>
          </a:p>
          <a:p>
            <a:pPr lvl="1"/>
            <a:r>
              <a:rPr lang="tr-TR" dirty="0"/>
              <a:t>her ikisi de </a:t>
            </a:r>
            <a:r>
              <a:rPr lang="tr-TR" b="1" dirty="0"/>
              <a:t>1 yıl </a:t>
            </a:r>
            <a:r>
              <a:rPr lang="tr-TR" dirty="0"/>
              <a:t>hapis cezası alır.</a:t>
            </a:r>
          </a:p>
          <a:p>
            <a:r>
              <a:rPr lang="tr-TR" dirty="0"/>
              <a:t>Mahkum A işbirliği yaparsa ve Mahkum B sessiz kalırsa, </a:t>
            </a:r>
          </a:p>
          <a:p>
            <a:pPr lvl="1"/>
            <a:r>
              <a:rPr lang="tr-TR" dirty="0"/>
              <a:t>Mahkum A </a:t>
            </a:r>
            <a:r>
              <a:rPr lang="tr-TR" b="1" dirty="0"/>
              <a:t>serbest</a:t>
            </a:r>
            <a:r>
              <a:rPr lang="tr-TR" dirty="0"/>
              <a:t> bırakılırken, Mahkum B </a:t>
            </a:r>
            <a:r>
              <a:rPr lang="tr-TR" b="1" dirty="0"/>
              <a:t>3 yıl </a:t>
            </a:r>
            <a:r>
              <a:rPr lang="tr-TR" dirty="0"/>
              <a:t>hapis cezası alır.</a:t>
            </a:r>
          </a:p>
          <a:p>
            <a:r>
              <a:rPr lang="tr-TR" dirty="0"/>
              <a:t>Mahkum A sessiz kalırsa ve Mahkum B işbirliği yaparsa, </a:t>
            </a:r>
          </a:p>
          <a:p>
            <a:pPr lvl="1"/>
            <a:r>
              <a:rPr lang="tr-TR" dirty="0"/>
              <a:t>Mahkum A </a:t>
            </a:r>
            <a:r>
              <a:rPr lang="tr-TR" b="1" dirty="0"/>
              <a:t>3 yıl </a:t>
            </a:r>
            <a:r>
              <a:rPr lang="tr-TR" dirty="0"/>
              <a:t>hapis cezası alırken, Mahkum B </a:t>
            </a:r>
            <a:r>
              <a:rPr lang="tr-TR" b="1" dirty="0"/>
              <a:t>serbest</a:t>
            </a:r>
            <a:r>
              <a:rPr lang="tr-TR" dirty="0"/>
              <a:t> bırakılır.</a:t>
            </a:r>
          </a:p>
          <a:p>
            <a:r>
              <a:rPr lang="tr-TR" dirty="0"/>
              <a:t>Her iki mahkum da işbirliği yaparsa, </a:t>
            </a:r>
          </a:p>
          <a:p>
            <a:pPr lvl="1"/>
            <a:r>
              <a:rPr lang="tr-TR" dirty="0"/>
              <a:t>her ikisi de </a:t>
            </a:r>
            <a:r>
              <a:rPr lang="tr-TR" b="1" dirty="0"/>
              <a:t>2 yıl </a:t>
            </a:r>
            <a:r>
              <a:rPr lang="tr-TR" dirty="0"/>
              <a:t>hapis cezası alır.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48</a:t>
            </a:fld>
            <a:endParaRPr lang="en-US" dirty="0"/>
          </a:p>
        </p:txBody>
      </p:sp>
    </p:spTree>
    <p:extLst>
      <p:ext uri="{BB962C8B-B14F-4D97-AF65-F5344CB8AC3E}">
        <p14:creationId xmlns:p14="http://schemas.microsoft.com/office/powerpoint/2010/main" val="36831383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fi-FI" dirty="0"/>
              <a:t>Sam ve John'un Eylemleri: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Sam ve John'un iki seçenekleri vardır: </a:t>
            </a:r>
          </a:p>
          <a:p>
            <a:pPr lvl="1"/>
            <a:r>
              <a:rPr lang="tr-TR" dirty="0"/>
              <a:t>sessiz kalmak veya ihanet etmek.</a:t>
            </a:r>
          </a:p>
          <a:p>
            <a:r>
              <a:rPr lang="tr-TR" dirty="0"/>
              <a:t>Aşağıda, Sam ve John'un her iki seçenek için sonuçlarını gösteren bir tablo bulunmaktadır:</a:t>
            </a:r>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49</a:t>
            </a:fld>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127112966"/>
              </p:ext>
            </p:extLst>
          </p:nvPr>
        </p:nvGraphicFramePr>
        <p:xfrm>
          <a:off x="2168435" y="4340928"/>
          <a:ext cx="7968342" cy="1371600"/>
        </p:xfrm>
        <a:graphic>
          <a:graphicData uri="http://schemas.openxmlformats.org/drawingml/2006/table">
            <a:tbl>
              <a:tblPr>
                <a:tableStyleId>{5940675A-B579-460E-94D1-54222C63F5DA}</a:tableStyleId>
              </a:tblPr>
              <a:tblGrid>
                <a:gridCol w="2656114">
                  <a:extLst>
                    <a:ext uri="{9D8B030D-6E8A-4147-A177-3AD203B41FA5}">
                      <a16:colId xmlns:a16="http://schemas.microsoft.com/office/drawing/2014/main" val="20000"/>
                    </a:ext>
                  </a:extLst>
                </a:gridCol>
                <a:gridCol w="2656114">
                  <a:extLst>
                    <a:ext uri="{9D8B030D-6E8A-4147-A177-3AD203B41FA5}">
                      <a16:colId xmlns:a16="http://schemas.microsoft.com/office/drawing/2014/main" val="20001"/>
                    </a:ext>
                  </a:extLst>
                </a:gridCol>
                <a:gridCol w="2656114">
                  <a:extLst>
                    <a:ext uri="{9D8B030D-6E8A-4147-A177-3AD203B41FA5}">
                      <a16:colId xmlns:a16="http://schemas.microsoft.com/office/drawing/2014/main" val="20002"/>
                    </a:ext>
                  </a:extLst>
                </a:gridCol>
              </a:tblGrid>
              <a:tr h="0">
                <a:tc>
                  <a:txBody>
                    <a:bodyPr/>
                    <a:lstStyle/>
                    <a:p>
                      <a:pPr fontAlgn="b"/>
                      <a:endParaRPr lang="tr-TR" sz="2400" kern="1200" baseline="0" dirty="0">
                        <a:solidFill>
                          <a:srgbClr val="002060"/>
                        </a:solidFill>
                        <a:latin typeface="Arial" panose="020B0604020202020204" pitchFamily="34" charset="0"/>
                        <a:ea typeface="+mn-ea"/>
                        <a:cs typeface="+mn-cs"/>
                      </a:endParaRPr>
                    </a:p>
                  </a:txBody>
                  <a:tcPr anchor="b"/>
                </a:tc>
                <a:tc>
                  <a:txBody>
                    <a:bodyPr/>
                    <a:lstStyle/>
                    <a:p>
                      <a:pPr fontAlgn="b"/>
                      <a:r>
                        <a:rPr lang="tr-TR" sz="2400" kern="1200" baseline="0" dirty="0">
                          <a:solidFill>
                            <a:srgbClr val="002060"/>
                          </a:solidFill>
                        </a:rPr>
                        <a:t>John Sessiz Kalır</a:t>
                      </a:r>
                      <a:endParaRPr lang="tr-TR" sz="2400" kern="1200" baseline="0" dirty="0">
                        <a:solidFill>
                          <a:srgbClr val="002060"/>
                        </a:solidFill>
                        <a:latin typeface="Arial" panose="020B0604020202020204" pitchFamily="34" charset="0"/>
                        <a:ea typeface="+mn-ea"/>
                        <a:cs typeface="+mn-cs"/>
                      </a:endParaRPr>
                    </a:p>
                  </a:txBody>
                  <a:tcPr anchor="b"/>
                </a:tc>
                <a:tc>
                  <a:txBody>
                    <a:bodyPr/>
                    <a:lstStyle/>
                    <a:p>
                      <a:pPr fontAlgn="b"/>
                      <a:r>
                        <a:rPr lang="tr-TR" sz="2400" kern="1200" baseline="0">
                          <a:solidFill>
                            <a:srgbClr val="002060"/>
                          </a:solidFill>
                        </a:rPr>
                        <a:t>John İhanet Eder</a:t>
                      </a:r>
                      <a:endParaRPr lang="tr-TR" sz="2400" kern="1200" baseline="0">
                        <a:solidFill>
                          <a:srgbClr val="002060"/>
                        </a:solidFill>
                        <a:latin typeface="Arial" panose="020B0604020202020204" pitchFamily="34" charset="0"/>
                        <a:ea typeface="+mn-ea"/>
                        <a:cs typeface="+mn-cs"/>
                      </a:endParaRPr>
                    </a:p>
                  </a:txBody>
                  <a:tcPr anchor="b"/>
                </a:tc>
                <a:extLst>
                  <a:ext uri="{0D108BD9-81ED-4DB2-BD59-A6C34878D82A}">
                    <a16:rowId xmlns:a16="http://schemas.microsoft.com/office/drawing/2014/main" val="10000"/>
                  </a:ext>
                </a:extLst>
              </a:tr>
              <a:tr h="0">
                <a:tc>
                  <a:txBody>
                    <a:bodyPr/>
                    <a:lstStyle/>
                    <a:p>
                      <a:pPr fontAlgn="base"/>
                      <a:r>
                        <a:rPr lang="tr-TR" sz="2400" kern="1200" baseline="0" dirty="0">
                          <a:solidFill>
                            <a:srgbClr val="002060"/>
                          </a:solidFill>
                        </a:rPr>
                        <a:t>Sam Sessiz Kalır</a:t>
                      </a:r>
                      <a:endParaRPr lang="tr-TR" sz="2400" kern="1200" baseline="0" dirty="0">
                        <a:solidFill>
                          <a:srgbClr val="002060"/>
                        </a:solidFill>
                        <a:latin typeface="Arial" panose="020B0604020202020204" pitchFamily="34" charset="0"/>
                        <a:ea typeface="+mn-ea"/>
                        <a:cs typeface="+mn-cs"/>
                      </a:endParaRPr>
                    </a:p>
                  </a:txBody>
                  <a:tcPr anchor="ctr"/>
                </a:tc>
                <a:tc>
                  <a:txBody>
                    <a:bodyPr/>
                    <a:lstStyle/>
                    <a:p>
                      <a:pPr fontAlgn="base"/>
                      <a:r>
                        <a:rPr lang="tr-TR" sz="2400" kern="1200" baseline="0" dirty="0">
                          <a:solidFill>
                            <a:srgbClr val="002060"/>
                          </a:solidFill>
                        </a:rPr>
                        <a:t>(-1, -1)</a:t>
                      </a:r>
                      <a:endParaRPr lang="tr-TR" sz="2400" kern="1200" baseline="0" dirty="0">
                        <a:solidFill>
                          <a:srgbClr val="002060"/>
                        </a:solidFill>
                        <a:latin typeface="Arial" panose="020B0604020202020204" pitchFamily="34" charset="0"/>
                        <a:ea typeface="+mn-ea"/>
                        <a:cs typeface="+mn-cs"/>
                      </a:endParaRPr>
                    </a:p>
                  </a:txBody>
                  <a:tcPr anchor="ctr"/>
                </a:tc>
                <a:tc>
                  <a:txBody>
                    <a:bodyPr/>
                    <a:lstStyle/>
                    <a:p>
                      <a:pPr fontAlgn="base"/>
                      <a:r>
                        <a:rPr lang="tr-TR" sz="2400" kern="1200" baseline="0">
                          <a:solidFill>
                            <a:srgbClr val="002060"/>
                          </a:solidFill>
                        </a:rPr>
                        <a:t>(-3, 0)</a:t>
                      </a:r>
                      <a:endParaRPr lang="tr-TR" sz="2400" kern="1200" baseline="0">
                        <a:solidFill>
                          <a:srgbClr val="002060"/>
                        </a:solidFill>
                        <a:latin typeface="Arial" panose="020B0604020202020204" pitchFamily="34" charset="0"/>
                        <a:ea typeface="+mn-ea"/>
                        <a:cs typeface="+mn-cs"/>
                      </a:endParaRPr>
                    </a:p>
                  </a:txBody>
                  <a:tcPr anchor="ctr"/>
                </a:tc>
                <a:extLst>
                  <a:ext uri="{0D108BD9-81ED-4DB2-BD59-A6C34878D82A}">
                    <a16:rowId xmlns:a16="http://schemas.microsoft.com/office/drawing/2014/main" val="10001"/>
                  </a:ext>
                </a:extLst>
              </a:tr>
              <a:tr h="0">
                <a:tc>
                  <a:txBody>
                    <a:bodyPr/>
                    <a:lstStyle/>
                    <a:p>
                      <a:pPr fontAlgn="base"/>
                      <a:r>
                        <a:rPr lang="tr-TR" sz="2400" kern="1200" baseline="0" dirty="0">
                          <a:solidFill>
                            <a:srgbClr val="002060"/>
                          </a:solidFill>
                        </a:rPr>
                        <a:t>Sam İhanet Eder</a:t>
                      </a:r>
                      <a:endParaRPr lang="tr-TR" sz="2400" kern="1200" baseline="0" dirty="0">
                        <a:solidFill>
                          <a:srgbClr val="002060"/>
                        </a:solidFill>
                        <a:latin typeface="Arial" panose="020B0604020202020204" pitchFamily="34" charset="0"/>
                        <a:ea typeface="+mn-ea"/>
                        <a:cs typeface="+mn-cs"/>
                      </a:endParaRPr>
                    </a:p>
                  </a:txBody>
                  <a:tcPr anchor="ctr"/>
                </a:tc>
                <a:tc>
                  <a:txBody>
                    <a:bodyPr/>
                    <a:lstStyle/>
                    <a:p>
                      <a:pPr fontAlgn="base"/>
                      <a:r>
                        <a:rPr lang="tr-TR" sz="2400" kern="1200" baseline="0" dirty="0">
                          <a:solidFill>
                            <a:srgbClr val="002060"/>
                          </a:solidFill>
                        </a:rPr>
                        <a:t>(0, -3)</a:t>
                      </a:r>
                      <a:endParaRPr lang="tr-TR" sz="2400" kern="1200" baseline="0" dirty="0">
                        <a:solidFill>
                          <a:srgbClr val="002060"/>
                        </a:solidFill>
                        <a:latin typeface="Arial" panose="020B0604020202020204" pitchFamily="34" charset="0"/>
                        <a:ea typeface="+mn-ea"/>
                        <a:cs typeface="+mn-cs"/>
                      </a:endParaRPr>
                    </a:p>
                  </a:txBody>
                  <a:tcPr anchor="ctr"/>
                </a:tc>
                <a:tc>
                  <a:txBody>
                    <a:bodyPr/>
                    <a:lstStyle/>
                    <a:p>
                      <a:pPr fontAlgn="base"/>
                      <a:r>
                        <a:rPr lang="tr-TR" sz="2400" kern="1200" baseline="0" dirty="0">
                          <a:solidFill>
                            <a:srgbClr val="002060"/>
                          </a:solidFill>
                        </a:rPr>
                        <a:t>(-2, -2)</a:t>
                      </a:r>
                      <a:endParaRPr lang="tr-TR" sz="2400" kern="1200" baseline="0" dirty="0">
                        <a:solidFill>
                          <a:srgbClr val="002060"/>
                        </a:solidFill>
                        <a:latin typeface="Arial" panose="020B0604020202020204" pitchFamily="34" charset="0"/>
                        <a:ea typeface="+mn-ea"/>
                        <a:cs typeface="+mn-cs"/>
                      </a:endParaRPr>
                    </a:p>
                  </a:txBody>
                  <a:tcPr anchor="ct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7233230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Sonuçlar</a:t>
            </a:r>
            <a:endParaRPr lang="fi-FI" dirty="0"/>
          </a:p>
        </p:txBody>
      </p:sp>
      <p:sp>
        <p:nvSpPr>
          <p:cNvPr id="3" name="Content Placeholder 2"/>
          <p:cNvSpPr>
            <a:spLocks noGrp="1"/>
          </p:cNvSpPr>
          <p:nvPr>
            <p:ph idx="1"/>
          </p:nvPr>
        </p:nvSpPr>
        <p:spPr>
          <a:xfrm>
            <a:off x="838200" y="1825625"/>
            <a:ext cx="10515600" cy="4680000"/>
          </a:xfrm>
        </p:spPr>
        <p:txBody>
          <a:bodyPr>
            <a:normAutofit/>
          </a:bodyPr>
          <a:lstStyle/>
          <a:p>
            <a:r>
              <a:rPr lang="tr-TR" dirty="0"/>
              <a:t>Her hücrede iki sayı var. </a:t>
            </a:r>
          </a:p>
          <a:p>
            <a:pPr lvl="1"/>
            <a:r>
              <a:rPr lang="tr-TR" dirty="0"/>
              <a:t>İlk sayı, Sam'ın kazancını ve </a:t>
            </a:r>
          </a:p>
          <a:p>
            <a:pPr lvl="1"/>
            <a:r>
              <a:rPr lang="tr-TR" dirty="0"/>
              <a:t>İkinci sayı John'un kazancını temsil eder.</a:t>
            </a:r>
          </a:p>
          <a:p>
            <a:r>
              <a:rPr lang="tr-TR" dirty="0"/>
              <a:t>Sam sessiz kalırken, John da sessiz kalırsa, ikisi de -1 kazanır. </a:t>
            </a:r>
          </a:p>
          <a:p>
            <a:r>
              <a:rPr lang="tr-TR" dirty="0"/>
              <a:t>Sam sessiz kalırken, John ihanet ederse, Sam -3 ve John 0 kazanır.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50</a:t>
            </a:fld>
            <a:endParaRPr lang="en-US" dirty="0"/>
          </a:p>
        </p:txBody>
      </p:sp>
    </p:spTree>
    <p:extLst>
      <p:ext uri="{BB962C8B-B14F-4D97-AF65-F5344CB8AC3E}">
        <p14:creationId xmlns:p14="http://schemas.microsoft.com/office/powerpoint/2010/main" val="29764871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Güvenlik Oyunları</a:t>
            </a:r>
            <a:endParaRPr lang="fi-FI" dirty="0"/>
          </a:p>
        </p:txBody>
      </p:sp>
      <p:sp>
        <p:nvSpPr>
          <p:cNvPr id="3" name="Content Placeholder 2"/>
          <p:cNvSpPr>
            <a:spLocks noGrp="1"/>
          </p:cNvSpPr>
          <p:nvPr>
            <p:ph idx="1"/>
          </p:nvPr>
        </p:nvSpPr>
        <p:spPr>
          <a:xfrm>
            <a:off x="838200" y="1825625"/>
            <a:ext cx="10515600" cy="4680000"/>
          </a:xfrm>
        </p:spPr>
        <p:txBody>
          <a:bodyPr>
            <a:normAutofit/>
          </a:bodyPr>
          <a:lstStyle/>
          <a:p>
            <a:r>
              <a:rPr lang="tr-TR" dirty="0"/>
              <a:t>Birçok hedefin korunması gereken güvenlik sistemlerini modellemek için kullanılan bir tür oyundur.</a:t>
            </a:r>
          </a:p>
          <a:p>
            <a:r>
              <a:rPr lang="tr-TR" dirty="0"/>
              <a:t>Bir güvenlik oyununda 𝑛 hedef bulunsun.</a:t>
            </a:r>
          </a:p>
          <a:p>
            <a:r>
              <a:rPr lang="tr-TR" dirty="0"/>
              <a:t>Oyuncu 1: Saldırgan</a:t>
            </a:r>
          </a:p>
          <a:p>
            <a:pPr lvl="1"/>
            <a:r>
              <a:rPr lang="tr-TR" dirty="0"/>
              <a:t>Eylemler: Bir hedefe saldırmak</a:t>
            </a:r>
          </a:p>
          <a:p>
            <a:r>
              <a:rPr lang="tr-TR" dirty="0"/>
              <a:t>Oyuncu 2: Savunucu</a:t>
            </a:r>
          </a:p>
          <a:p>
            <a:pPr lvl="1"/>
            <a:r>
              <a:rPr lang="tr-TR" dirty="0"/>
              <a:t>Eylemler: 𝑘 (&lt; 𝑛) hedefi aynı anda korumak</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51</a:t>
            </a:fld>
            <a:endParaRPr lang="en-US" dirty="0"/>
          </a:p>
        </p:txBody>
      </p:sp>
    </p:spTree>
    <p:extLst>
      <p:ext uri="{BB962C8B-B14F-4D97-AF65-F5344CB8AC3E}">
        <p14:creationId xmlns:p14="http://schemas.microsoft.com/office/powerpoint/2010/main" val="1559160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Oyuncuların Eylem Seçenekleri</a:t>
            </a:r>
            <a:endParaRPr lang="fi-FI" dirty="0"/>
          </a:p>
        </p:txBody>
      </p:sp>
      <p:sp>
        <p:nvSpPr>
          <p:cNvPr id="3" name="Content Placeholder 2"/>
          <p:cNvSpPr>
            <a:spLocks noGrp="1"/>
          </p:cNvSpPr>
          <p:nvPr>
            <p:ph idx="1"/>
          </p:nvPr>
        </p:nvSpPr>
        <p:spPr>
          <a:xfrm>
            <a:off x="838200" y="1825625"/>
            <a:ext cx="10515600" cy="4680000"/>
          </a:xfrm>
        </p:spPr>
        <p:txBody>
          <a:bodyPr>
            <a:normAutofit/>
          </a:bodyPr>
          <a:lstStyle/>
          <a:p>
            <a:r>
              <a:rPr lang="tr-TR" dirty="0"/>
              <a:t>Savunucu, birden fazla hedefi korumak için 𝑘'</a:t>
            </a:r>
            <a:r>
              <a:rPr lang="tr-TR" dirty="0" err="1"/>
              <a:t>yi</a:t>
            </a:r>
            <a:r>
              <a:rPr lang="tr-TR" dirty="0"/>
              <a:t> seçmelidir. Ancak, 𝑛 hedef ve 𝑘 seçenek olduğunda bu bir </a:t>
            </a:r>
            <a:r>
              <a:rPr lang="tr-TR" dirty="0" err="1"/>
              <a:t>kombinatorik</a:t>
            </a:r>
            <a:r>
              <a:rPr lang="tr-TR" dirty="0"/>
              <a:t> patlamaya yol açar.</a:t>
            </a:r>
          </a:p>
          <a:p>
            <a:r>
              <a:rPr lang="tr-TR" dirty="0"/>
              <a:t>Saldırgan, saldırıları için hedefleri gözlemleyebilir, bu nedenle savunucu stratejisini rastgele seçmelidir.</a:t>
            </a:r>
          </a:p>
          <a:p>
            <a:r>
              <a:rPr lang="tr-TR" dirty="0"/>
              <a:t>Güvenlik oyunları, </a:t>
            </a:r>
          </a:p>
          <a:p>
            <a:pPr lvl="1"/>
            <a:r>
              <a:rPr lang="tr-TR" dirty="0"/>
              <a:t>gerçek dünya güvenlik sistemlerinin modellemesinde kullanılır.</a:t>
            </a:r>
          </a:p>
          <a:p>
            <a:pPr lvl="1"/>
            <a:r>
              <a:rPr lang="tr-TR" dirty="0"/>
              <a:t>stratejik kararların nasıl alınacağını anlamamıza yardımcı olur ve</a:t>
            </a:r>
          </a:p>
          <a:p>
            <a:pPr lvl="1"/>
            <a:r>
              <a:rPr lang="tr-TR" dirty="0"/>
              <a:t>güvenlik açısından kritik kararları ele alır.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52</a:t>
            </a:fld>
            <a:endParaRPr lang="en-US" dirty="0"/>
          </a:p>
        </p:txBody>
      </p:sp>
    </p:spTree>
    <p:extLst>
      <p:ext uri="{BB962C8B-B14F-4D97-AF65-F5344CB8AC3E}">
        <p14:creationId xmlns:p14="http://schemas.microsoft.com/office/powerpoint/2010/main" val="144292915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Mekanizma Tasarımı</a:t>
            </a:r>
            <a:endParaRPr lang="fi-FI" dirty="0"/>
          </a:p>
        </p:txBody>
      </p:sp>
      <p:sp>
        <p:nvSpPr>
          <p:cNvPr id="3" name="Content Placeholder 2"/>
          <p:cNvSpPr>
            <a:spLocks noGrp="1"/>
          </p:cNvSpPr>
          <p:nvPr>
            <p:ph idx="1"/>
          </p:nvPr>
        </p:nvSpPr>
        <p:spPr>
          <a:xfrm>
            <a:off x="838200" y="1825625"/>
            <a:ext cx="10515600" cy="4680000"/>
          </a:xfrm>
        </p:spPr>
        <p:txBody>
          <a:bodyPr>
            <a:normAutofit/>
          </a:bodyPr>
          <a:lstStyle/>
          <a:p>
            <a:r>
              <a:rPr lang="tr-TR" dirty="0"/>
              <a:t>Bir oyunun kurallarını ve teşviklerini belirlemek için kullanılır. </a:t>
            </a:r>
          </a:p>
          <a:p>
            <a:r>
              <a:rPr lang="tr-TR" dirty="0"/>
              <a:t>Birincil aktör, rasyonel ajanların istenen davranışları sergilemesini sağlamak için ödülleri veya cezaları belirler. </a:t>
            </a:r>
          </a:p>
          <a:p>
            <a:r>
              <a:rPr lang="tr-TR" dirty="0"/>
              <a:t>Bu disiplin, istenen davranışın belirsiz olduğu durumlarda çok önemlidir.</a:t>
            </a:r>
          </a:p>
          <a:p>
            <a:r>
              <a:rPr lang="tr-TR" dirty="0"/>
              <a:t>Ajanların istenilen davranışı sergilemesini sağlamak için etkili bir yol sunar.</a:t>
            </a:r>
          </a:p>
          <a:p>
            <a:r>
              <a:rPr lang="tr-TR" dirty="0"/>
              <a:t>Para kullanarak veya kullanmadan, çeşitli uygulama alanları vardır.</a:t>
            </a:r>
          </a:p>
          <a:p>
            <a:r>
              <a:rPr lang="tr-TR" dirty="0"/>
              <a:t>Para kullanmadan mekanizma tasarımı, maddi ödüllerin kullanılamadığı veya kısıtlandığı durumlarda önemlidir.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53</a:t>
            </a:fld>
            <a:endParaRPr lang="en-US" dirty="0"/>
          </a:p>
        </p:txBody>
      </p:sp>
    </p:spTree>
    <p:extLst>
      <p:ext uri="{BB962C8B-B14F-4D97-AF65-F5344CB8AC3E}">
        <p14:creationId xmlns:p14="http://schemas.microsoft.com/office/powerpoint/2010/main" val="44051006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Para Kullanarak Mekanizma Tasarımı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Birincil aktörün ajanlardan ödeme talep edebilmesini içerir.</a:t>
            </a:r>
          </a:p>
          <a:p>
            <a:r>
              <a:rPr lang="tr-TR" dirty="0"/>
              <a:t>Bu, istenilen davranışı teşvik etmede önemli bir rol oynar.</a:t>
            </a:r>
          </a:p>
          <a:p>
            <a:r>
              <a:rPr lang="tr-TR" dirty="0"/>
              <a:t>Örnek: Müzayedeler, bu tür mekanizma tasarımının etkili bir şekilde kullanıldığı alanlardan biridir.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54</a:t>
            </a:fld>
            <a:endParaRPr lang="en-US" dirty="0"/>
          </a:p>
        </p:txBody>
      </p:sp>
    </p:spTree>
    <p:extLst>
      <p:ext uri="{BB962C8B-B14F-4D97-AF65-F5344CB8AC3E}">
        <p14:creationId xmlns:p14="http://schemas.microsoft.com/office/powerpoint/2010/main" val="172778842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Para Kullanmadan Mekanizma Tasarımı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Parasal transferlere izin verilmediği bir ortamda çalışmayı içerir.</a:t>
            </a:r>
          </a:p>
          <a:p>
            <a:r>
              <a:rPr lang="tr-TR" dirty="0"/>
              <a:t>Teşvikler dengeli olmalı, aksi takdirde amaç hedeflenemez.</a:t>
            </a:r>
          </a:p>
          <a:p>
            <a:r>
              <a:rPr lang="tr-TR" dirty="0"/>
              <a:t>Genellikle, hedefe küçük bir ödün verilmeden bu tür mekanizma tasarımı yapmak imkansızdır.</a:t>
            </a:r>
          </a:p>
          <a:p>
            <a:r>
              <a:rPr lang="tr-TR" dirty="0"/>
              <a:t>Örnek: Seçimler, böbrek değişim programları gibi alanlarda bu tür mekanizma tasarımı gereklidir.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55</a:t>
            </a:fld>
            <a:endParaRPr lang="en-US" dirty="0"/>
          </a:p>
        </p:txBody>
      </p:sp>
    </p:spTree>
    <p:extLst>
      <p:ext uri="{BB962C8B-B14F-4D97-AF65-F5344CB8AC3E}">
        <p14:creationId xmlns:p14="http://schemas.microsoft.com/office/powerpoint/2010/main" val="4578262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Örnek: Müzayede</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Müşteriler arasında bir nesnenin dağıtımını düzenlemek için kullanılır. </a:t>
            </a:r>
          </a:p>
          <a:p>
            <a:r>
              <a:rPr lang="tr-TR" dirty="0"/>
              <a:t>Herkesin gerçek değerini açıkça ifade etmesini sağlamak, daha adil bir sonuç elde etmeye yardımcı olur. </a:t>
            </a:r>
          </a:p>
          <a:p>
            <a:r>
              <a:rPr lang="tr-TR" dirty="0"/>
              <a:t>Gerçek hayatta uygulama alanlarına sahiptir.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56</a:t>
            </a:fld>
            <a:endParaRPr lang="en-US" dirty="0"/>
          </a:p>
        </p:txBody>
      </p:sp>
    </p:spTree>
    <p:extLst>
      <p:ext uri="{BB962C8B-B14F-4D97-AF65-F5344CB8AC3E}">
        <p14:creationId xmlns:p14="http://schemas.microsoft.com/office/powerpoint/2010/main" val="179902311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Müzayede</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Amaç: Gerçekten İhtiyacı Olanın Daha Fazla Değere Alması</a:t>
            </a:r>
          </a:p>
          <a:p>
            <a:endParaRPr lang="tr-TR" dirty="0"/>
          </a:p>
          <a:p>
            <a:r>
              <a:rPr lang="tr-TR" dirty="0"/>
              <a:t>Temel amaç, bir nesnenin gerçekten ihtiyacı olan kişiye gitmesini sağlamaktır.</a:t>
            </a:r>
          </a:p>
          <a:p>
            <a:r>
              <a:rPr lang="tr-TR" dirty="0"/>
              <a:t>Ancak, katılımcılar nesnenin değerini farklı şekillerde görebilir.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57</a:t>
            </a:fld>
            <a:endParaRPr lang="en-US" dirty="0"/>
          </a:p>
        </p:txBody>
      </p:sp>
    </p:spTree>
    <p:extLst>
      <p:ext uri="{BB962C8B-B14F-4D97-AF65-F5344CB8AC3E}">
        <p14:creationId xmlns:p14="http://schemas.microsoft.com/office/powerpoint/2010/main" val="10053815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Müzayede</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Kural 1: Herkes Değerini Söylesin</a:t>
            </a:r>
          </a:p>
          <a:p>
            <a:pPr marL="0" indent="0">
              <a:buNone/>
            </a:pPr>
            <a:endParaRPr lang="tr-TR" dirty="0"/>
          </a:p>
          <a:p>
            <a:r>
              <a:rPr lang="tr-TR" dirty="0"/>
              <a:t>Her katılımcı kendi teklifini açıklar.</a:t>
            </a:r>
          </a:p>
          <a:p>
            <a:r>
              <a:rPr lang="tr-TR" dirty="0"/>
              <a:t>Nesneyi en yüksek teklifi veren kişi alır.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58</a:t>
            </a:fld>
            <a:endParaRPr lang="en-US" dirty="0"/>
          </a:p>
        </p:txBody>
      </p:sp>
    </p:spTree>
    <p:extLst>
      <p:ext uri="{BB962C8B-B14F-4D97-AF65-F5344CB8AC3E}">
        <p14:creationId xmlns:p14="http://schemas.microsoft.com/office/powerpoint/2010/main" val="54350147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Müzayede</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Kural 2: Herkes Değerini Söylesin ve Ödesin</a:t>
            </a:r>
          </a:p>
          <a:p>
            <a:pPr marL="0" indent="0">
              <a:buNone/>
            </a:pPr>
            <a:endParaRPr lang="tr-TR" b="1" dirty="0"/>
          </a:p>
          <a:p>
            <a:r>
              <a:rPr lang="tr-TR" dirty="0"/>
              <a:t>Her katılımcı kendi teklifini açıklar ve bu değeri öder.</a:t>
            </a:r>
          </a:p>
          <a:p>
            <a:r>
              <a:rPr lang="tr-TR" dirty="0"/>
              <a:t>Nesneyi en yüksek değeri belirleyen kişi alır, </a:t>
            </a:r>
          </a:p>
          <a:p>
            <a:pPr lvl="1"/>
            <a:r>
              <a:rPr lang="tr-TR" dirty="0"/>
              <a:t>ancak bu değeri ödemesi gerekmektedir.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59</a:t>
            </a:fld>
            <a:endParaRPr lang="en-US" dirty="0"/>
          </a:p>
        </p:txBody>
      </p:sp>
    </p:spTree>
    <p:extLst>
      <p:ext uri="{BB962C8B-B14F-4D97-AF65-F5344CB8AC3E}">
        <p14:creationId xmlns:p14="http://schemas.microsoft.com/office/powerpoint/2010/main" val="399589606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Müzayede</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Daha Kolay Bir Yol: </a:t>
            </a:r>
            <a:r>
              <a:rPr lang="tr-TR" dirty="0"/>
              <a:t>Herkes doğru değerini söylese?</a:t>
            </a:r>
          </a:p>
          <a:p>
            <a:pPr marL="0" indent="0">
              <a:buNone/>
            </a:pPr>
            <a:endParaRPr lang="tr-TR" dirty="0"/>
          </a:p>
          <a:p>
            <a:r>
              <a:rPr lang="tr-TR" b="1" dirty="0"/>
              <a:t>Soru</a:t>
            </a:r>
            <a:r>
              <a:rPr lang="tr-TR" dirty="0"/>
              <a:t>: Herkesin sadece gerçek değerini doğru bir şekilde söylemesini nasıl sağlayabiliriz?</a:t>
            </a:r>
          </a:p>
          <a:p>
            <a:r>
              <a:rPr lang="tr-TR" dirty="0"/>
              <a:t>Doğru bir mekanizma ile, katılımcılar nesnenin gerçek değerini ifade edebilir ve nesne gerçekten ihtiyacı olan kişiye gidebilir.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60</a:t>
            </a:fld>
            <a:endParaRPr lang="en-US" dirty="0"/>
          </a:p>
        </p:txBody>
      </p:sp>
    </p:spTree>
    <p:extLst>
      <p:ext uri="{BB962C8B-B14F-4D97-AF65-F5344CB8AC3E}">
        <p14:creationId xmlns:p14="http://schemas.microsoft.com/office/powerpoint/2010/main" val="17670598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Örnek: Tesis Yerleşimi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Bir hastanenin konumu mekanizma tasarımı kullanılarak belirlenmeye çalışılıyor. Ajanların maliyetleri minimize etmeyi amaçladığı bu senaryoda, para kullanma veya ödeme yapma imkanı bulunmuyor. Bu tür problemlerde mekanizma tasarımı, adil ve etkili çözümler bulmaya yardımcı olur.</a:t>
            </a:r>
          </a:p>
          <a:p>
            <a:endParaRPr lang="tr-TR" dirty="0"/>
          </a:p>
          <a:p>
            <a:pPr marL="0" indent="0">
              <a:buNone/>
            </a:pPr>
            <a:r>
              <a:rPr lang="tr-TR" b="1" dirty="0"/>
              <a:t>Maliyet: Her Ajan İçin Hastaneye Uzaklık</a:t>
            </a:r>
          </a:p>
          <a:p>
            <a:endParaRPr lang="tr-TR" dirty="0"/>
          </a:p>
          <a:p>
            <a:r>
              <a:rPr lang="tr-TR" dirty="0"/>
              <a:t>Bu örnekte, bir hastanenin yerleştirilmesi gereken konumu belirlemek için mekanizma tasarımı kullanılacak.</a:t>
            </a:r>
          </a:p>
          <a:p>
            <a:r>
              <a:rPr lang="tr-TR" dirty="0"/>
              <a:t>Her ajanın hastaneye olan uzaklığı bir maliyet olarak düşünülebilir.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61</a:t>
            </a:fld>
            <a:endParaRPr lang="en-US" dirty="0"/>
          </a:p>
        </p:txBody>
      </p:sp>
    </p:spTree>
    <p:extLst>
      <p:ext uri="{BB962C8B-B14F-4D97-AF65-F5344CB8AC3E}">
        <p14:creationId xmlns:p14="http://schemas.microsoft.com/office/powerpoint/2010/main" val="30304262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Örnek: Tesis Yerleşimi</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Amaç: Maliyetlerin Toplamını Minimize Etmek</a:t>
            </a:r>
          </a:p>
          <a:p>
            <a:endParaRPr lang="tr-TR" dirty="0"/>
          </a:p>
          <a:p>
            <a:r>
              <a:rPr lang="tr-TR" dirty="0"/>
              <a:t>Temel amaç, hastanenin yerini seçerek toplam maliyeti minimize etmektir.</a:t>
            </a:r>
          </a:p>
          <a:p>
            <a:r>
              <a:rPr lang="tr-TR" dirty="0"/>
              <a:t>Maddi bir kısıtlama olmaksızın bu görevi gerçekleştirmemiz gerekiyor.</a:t>
            </a:r>
          </a:p>
          <a:p>
            <a:endParaRPr lang="tr-TR" dirty="0"/>
          </a:p>
          <a:p>
            <a:pPr marL="0" indent="0">
              <a:buNone/>
            </a:pPr>
            <a:r>
              <a:rPr lang="tr-TR" b="1" dirty="0"/>
              <a:t>Maddi Kısıtlama: Parasal İşlem Yok</a:t>
            </a:r>
          </a:p>
          <a:p>
            <a:endParaRPr lang="tr-TR" dirty="0"/>
          </a:p>
          <a:p>
            <a:r>
              <a:rPr lang="tr-TR" dirty="0"/>
              <a:t>Bu örnekte, herhangi bir maddi ödeme veya para transferi yapılamaz.</a:t>
            </a:r>
          </a:p>
          <a:p>
            <a:r>
              <a:rPr lang="tr-TR" dirty="0"/>
              <a:t>Yani, ajanlara para verme veya ödeme yapma imkanı yoktur.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62</a:t>
            </a:fld>
            <a:endParaRPr lang="en-US" dirty="0"/>
          </a:p>
        </p:txBody>
      </p:sp>
    </p:spTree>
    <p:extLst>
      <p:ext uri="{BB962C8B-B14F-4D97-AF65-F5344CB8AC3E}">
        <p14:creationId xmlns:p14="http://schemas.microsoft.com/office/powerpoint/2010/main" val="80103460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Para Olmadan Mekanizma Tasarımı</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Doğru söylemeyi sağlamanın ötesinde; adalet, istikrar, verimlilik için çalışılır.</a:t>
            </a:r>
          </a:p>
          <a:p>
            <a:r>
              <a:rPr lang="tr-TR" dirty="0"/>
              <a:t>Ekonomi, oy teorisi ve birçok alanda kullanılır.</a:t>
            </a:r>
          </a:p>
          <a:p>
            <a:r>
              <a:rPr lang="tr-TR" dirty="0"/>
              <a:t>Kaynakların adil bir şekilde dağıtılması veya istikrarlı eşleştirmeler gibi sorunlar için önemlidir.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63</a:t>
            </a:fld>
            <a:endParaRPr lang="en-US" dirty="0"/>
          </a:p>
        </p:txBody>
      </p:sp>
    </p:spTree>
    <p:extLst>
      <p:ext uri="{BB962C8B-B14F-4D97-AF65-F5344CB8AC3E}">
        <p14:creationId xmlns:p14="http://schemas.microsoft.com/office/powerpoint/2010/main" val="29259821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Baskın Strateji - Mahkumun İkilemi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Baskın strateji, bir oyuncunun diğer oyuncuların uyguladığı stratejilere bakılmaksızın o oyuncu için en iyi kazancı sağlayan stratejidir.</a:t>
            </a:r>
          </a:p>
          <a:p>
            <a:r>
              <a:rPr lang="tr-TR" dirty="0"/>
              <a:t>Mahkumun İkilemi, iki şüpheli arasındaki bir suç senaryosunu temsil eder.</a:t>
            </a:r>
          </a:p>
          <a:p>
            <a:r>
              <a:rPr lang="tr-TR" dirty="0"/>
              <a:t>Her iki oyuncu da işbirliği yapmak (sessiz kalmak) veya ihanet etmek (itiraf etmek) arasında bir seçim yapar.</a:t>
            </a:r>
          </a:p>
          <a:p>
            <a:r>
              <a:rPr lang="tr-TR" dirty="0"/>
              <a:t>İşbirliği yapmak, 1 yıl hapis cezası almayı, ihanet etmek ise ya serbest kalmayı ya da 2 yıl hapis cezası almayı temsil eder.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64</a:t>
            </a:fld>
            <a:endParaRPr lang="en-US" dirty="0"/>
          </a:p>
        </p:txBody>
      </p:sp>
    </p:spTree>
    <p:extLst>
      <p:ext uri="{BB962C8B-B14F-4D97-AF65-F5344CB8AC3E}">
        <p14:creationId xmlns:p14="http://schemas.microsoft.com/office/powerpoint/2010/main" val="375516936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Baskın Strateji - Mahkumun İkilemi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Her iki oyuncu için baskın strateji, diğer oyuncunun stratejisine bakılmaksızın, en iyi sonucu elde eden stratejidir.</a:t>
            </a:r>
          </a:p>
          <a:p>
            <a:r>
              <a:rPr lang="tr-TR" dirty="0"/>
              <a:t>Her iki oyuncu için de baskın strateji, ihanet etmek (itiraf etmek) olacaktır, çünkü ihanet etmek, ortalama hapis cezasını minimize eder.</a:t>
            </a:r>
          </a:p>
          <a:p>
            <a:r>
              <a:rPr lang="tr-TR" dirty="0"/>
              <a:t>Eğer A ve B sessiz kalırlarsa, ikisi de 1 yıl hapis cezası alır (hücre a).</a:t>
            </a:r>
          </a:p>
          <a:p>
            <a:r>
              <a:rPr lang="tr-TR" dirty="0"/>
              <a:t>Eğer A itiraf eder, ancak B etmezse, A serbest kalır ve B 3 yıl alır (hücre b).</a:t>
            </a:r>
          </a:p>
          <a:p>
            <a:r>
              <a:rPr lang="tr-TR" dirty="0"/>
              <a:t>Eğer A itiraf etmez, ancak B ederse, A 3 yıl alır ve B serbest kalır (hücre c).</a:t>
            </a:r>
          </a:p>
          <a:p>
            <a:r>
              <a:rPr lang="tr-TR" dirty="0"/>
              <a:t>Hem A hem de B itiraf ederse, her ikisi de 2 yıl hapis cezası alır (hücre d).</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65</a:t>
            </a:fld>
            <a:endParaRPr lang="en-US" dirty="0"/>
          </a:p>
        </p:txBody>
      </p:sp>
    </p:spTree>
    <p:extLst>
      <p:ext uri="{BB962C8B-B14F-4D97-AF65-F5344CB8AC3E}">
        <p14:creationId xmlns:p14="http://schemas.microsoft.com/office/powerpoint/2010/main" val="395053987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Baskın Strateji - Mahkumun İkilemi</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A itiraf ederse, ya serbest kalır ya da 2 yıl hapis cezası alır. </a:t>
            </a:r>
          </a:p>
          <a:p>
            <a:pPr lvl="1"/>
            <a:r>
              <a:rPr lang="tr-TR" dirty="0"/>
              <a:t>Ancak itiraf etmezse, ya 1 yıl alır ya da 3 yıl hapis cezası alır.</a:t>
            </a:r>
          </a:p>
          <a:p>
            <a:r>
              <a:rPr lang="tr-TR" dirty="0"/>
              <a:t>B, tam olarak aynı ikilemi yaşar.</a:t>
            </a:r>
          </a:p>
          <a:p>
            <a:r>
              <a:rPr lang="tr-TR" dirty="0"/>
              <a:t>Net olarak, en iyi strateji, diğer şüpheli ne yaparsa yapsın, itiraf etmektir. </a:t>
            </a:r>
          </a:p>
          <a:p>
            <a:pPr lvl="1"/>
            <a:r>
              <a:rPr lang="tr-TR" dirty="0"/>
              <a:t>Bu, her iki oyuncu için de en iyi sonuca yol açar.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66</a:t>
            </a:fld>
            <a:endParaRPr lang="en-US" dirty="0"/>
          </a:p>
        </p:txBody>
      </p:sp>
    </p:spTree>
    <p:extLst>
      <p:ext uri="{BB962C8B-B14F-4D97-AF65-F5344CB8AC3E}">
        <p14:creationId xmlns:p14="http://schemas.microsoft.com/office/powerpoint/2010/main" val="13994447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2/3 Ortalamasını Tahmin Et</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Oyun Kuralları:</a:t>
            </a:r>
          </a:p>
          <a:p>
            <a:endParaRPr lang="tr-TR" dirty="0"/>
          </a:p>
          <a:p>
            <a:r>
              <a:rPr lang="tr-TR" dirty="0"/>
              <a:t>Her katılımcı, 0 ile 90 arasında bir sayı tahmin eder (0 ve 90 dahil).</a:t>
            </a:r>
          </a:p>
          <a:p>
            <a:r>
              <a:rPr lang="tr-TR" dirty="0"/>
              <a:t>Tüm katılımcıların tahminleri toplanır.</a:t>
            </a:r>
          </a:p>
          <a:p>
            <a:r>
              <a:rPr lang="tr-TR" dirty="0"/>
              <a:t>Tüm tahminlerin ortalaması hesaplanır.</a:t>
            </a:r>
          </a:p>
          <a:p>
            <a:r>
              <a:rPr lang="tr-TR" dirty="0"/>
              <a:t>Ortalamanın 2/3'üne en yakın tahminde bulunan kişi oyunu kazanır.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67</a:t>
            </a:fld>
            <a:endParaRPr lang="en-US" dirty="0"/>
          </a:p>
        </p:txBody>
      </p:sp>
    </p:spTree>
    <p:extLst>
      <p:ext uri="{BB962C8B-B14F-4D97-AF65-F5344CB8AC3E}">
        <p14:creationId xmlns:p14="http://schemas.microsoft.com/office/powerpoint/2010/main" val="21571931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2/3 Ortalamasını Tahmin Et</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a:t>Analiz:</a:t>
            </a:r>
          </a:p>
          <a:p>
            <a:r>
              <a:rPr lang="tr-TR" dirty="0"/>
              <a:t>Bu oyunun en iyi stratejisini belirlemek için, bir oyuncunun nasıl davranması gerektiğini düşünelim:</a:t>
            </a:r>
          </a:p>
          <a:p>
            <a:endParaRPr lang="tr-TR" dirty="0"/>
          </a:p>
          <a:p>
            <a:r>
              <a:rPr lang="tr-TR" dirty="0"/>
              <a:t>Diğer katılımcılar, 0 ile 90 arasında rastgele tahminlerde bulunacağından, ortalama tahmin 45 olacaktır (aralığın ortası).</a:t>
            </a:r>
          </a:p>
          <a:p>
            <a:r>
              <a:rPr lang="tr-TR" dirty="0"/>
              <a:t>Bu ortalamanın 2/3’ü 30 olur.</a:t>
            </a:r>
          </a:p>
          <a:p>
            <a:r>
              <a:rPr lang="tr-TR" dirty="0"/>
              <a:t>Dolayısıyla, en iyi tahmin, 30 olacaktır.</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68</a:t>
            </a:fld>
            <a:endParaRPr lang="en-US" dirty="0"/>
          </a:p>
        </p:txBody>
      </p:sp>
    </p:spTree>
    <p:extLst>
      <p:ext uri="{BB962C8B-B14F-4D97-AF65-F5344CB8AC3E}">
        <p14:creationId xmlns:p14="http://schemas.microsoft.com/office/powerpoint/2010/main" val="256584541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2/3 Ortalamasını Tahmin Et</a:t>
            </a:r>
          </a:p>
        </p:txBody>
      </p:sp>
      <p:sp>
        <p:nvSpPr>
          <p:cNvPr id="3" name="Content Placeholder 2"/>
          <p:cNvSpPr>
            <a:spLocks noGrp="1"/>
          </p:cNvSpPr>
          <p:nvPr>
            <p:ph idx="1"/>
          </p:nvPr>
        </p:nvSpPr>
        <p:spPr>
          <a:xfrm>
            <a:off x="838200" y="1825625"/>
            <a:ext cx="10515600" cy="4680000"/>
          </a:xfrm>
        </p:spPr>
        <p:txBody>
          <a:bodyPr>
            <a:normAutofit/>
          </a:bodyPr>
          <a:lstStyle/>
          <a:p>
            <a:r>
              <a:rPr lang="tr-TR" dirty="0"/>
              <a:t>Ancak uygulamada, en iyi strateji, diğer katılımcıların nasıl oynayacağına dair tahmine bağlıdır. </a:t>
            </a:r>
          </a:p>
          <a:p>
            <a:r>
              <a:rPr lang="tr-TR" dirty="0"/>
              <a:t>Diğer katılımcıların da 30 hedeflediğini düşünüyorsanız, şansınızı artırmak için biraz daha düşük bir tahmin yapmayı seçebilirsiniz (örneğin, 28). </a:t>
            </a:r>
          </a:p>
          <a:p>
            <a:r>
              <a:rPr lang="tr-TR" dirty="0"/>
              <a:t>Diğer katılımcıların 30’un altında tahmin yapacaklarını düşünüyorsanız, bu yanlılığı dengelemek için daha yüksek tahmin yapabilirsiniz (örneğin, 32).</a:t>
            </a:r>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69</a:t>
            </a:fld>
            <a:endParaRPr lang="en-US" dirty="0"/>
          </a:p>
        </p:txBody>
      </p:sp>
    </p:spTree>
    <p:extLst>
      <p:ext uri="{BB962C8B-B14F-4D97-AF65-F5344CB8AC3E}">
        <p14:creationId xmlns:p14="http://schemas.microsoft.com/office/powerpoint/2010/main" val="38319546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dirty="0"/>
              <a:t>2/3 Ortalamasını Tahmin Et</a:t>
            </a:r>
          </a:p>
        </p:txBody>
      </p:sp>
      <p:sp>
        <p:nvSpPr>
          <p:cNvPr id="3" name="Content Placeholder 2"/>
          <p:cNvSpPr>
            <a:spLocks noGrp="1"/>
          </p:cNvSpPr>
          <p:nvPr>
            <p:ph idx="1"/>
          </p:nvPr>
        </p:nvSpPr>
        <p:spPr>
          <a:xfrm>
            <a:off x="838200" y="1825625"/>
            <a:ext cx="10515600" cy="4680000"/>
          </a:xfrm>
        </p:spPr>
        <p:txBody>
          <a:bodyPr>
            <a:normAutofit/>
          </a:bodyPr>
          <a:lstStyle/>
          <a:p>
            <a:pPr marL="0" indent="0">
              <a:buNone/>
            </a:pPr>
            <a:r>
              <a:rPr lang="tr-TR" b="1" dirty="0" err="1"/>
              <a:t>Nash</a:t>
            </a:r>
            <a:r>
              <a:rPr lang="tr-TR" b="1" dirty="0"/>
              <a:t> Dengelemesi:</a:t>
            </a:r>
          </a:p>
          <a:p>
            <a:pPr marL="0" indent="0">
              <a:buNone/>
            </a:pPr>
            <a:endParaRPr lang="tr-TR" b="1" dirty="0"/>
          </a:p>
          <a:p>
            <a:r>
              <a:rPr lang="tr-TR" dirty="0"/>
              <a:t>Bu oyunda tek bir </a:t>
            </a:r>
            <a:r>
              <a:rPr lang="tr-TR" dirty="0" err="1"/>
              <a:t>Nash</a:t>
            </a:r>
            <a:r>
              <a:rPr lang="tr-TR" dirty="0"/>
              <a:t> dengesi belirlemek zordur çünkü en iyi strateji, diğer katılımcıların stratejileri hakkındaki tahminlere bağlıdır. </a:t>
            </a:r>
          </a:p>
          <a:p>
            <a:r>
              <a:rPr lang="tr-TR" dirty="0"/>
              <a:t>Uygulamada, katılımcıların diğerlerinin stratejileri hakkında bilgiye sahip olmamaları nedeniyle, karmaşık ve dinamik bir stratejik oyundur. </a:t>
            </a:r>
          </a:p>
          <a:p>
            <a:r>
              <a:rPr lang="tr-TR" dirty="0"/>
              <a:t>En iyi strateji, katılımcıların psikolojisi ve davranışına bağlı değişebilir.</a:t>
            </a:r>
          </a:p>
          <a:p>
            <a:r>
              <a:rPr lang="tr-TR" dirty="0"/>
              <a:t>Farklı eylemlere farklı olasılıklar atanan karma stratejilerin oyun teorisi konsepti burada önemlidir.</a:t>
            </a:r>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70</a:t>
            </a:fld>
            <a:endParaRPr lang="en-US" dirty="0"/>
          </a:p>
        </p:txBody>
      </p:sp>
    </p:spTree>
    <p:extLst>
      <p:ext uri="{BB962C8B-B14F-4D97-AF65-F5344CB8AC3E}">
        <p14:creationId xmlns:p14="http://schemas.microsoft.com/office/powerpoint/2010/main" val="24071420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tr-TR" dirty="0"/>
          </a:p>
        </p:txBody>
      </p:sp>
      <p:sp>
        <p:nvSpPr>
          <p:cNvPr id="3" name="Content Placeholder 2"/>
          <p:cNvSpPr>
            <a:spLocks noGrp="1"/>
          </p:cNvSpPr>
          <p:nvPr>
            <p:ph idx="1"/>
          </p:nvPr>
        </p:nvSpPr>
        <p:spPr>
          <a:xfrm>
            <a:off x="838200" y="1825625"/>
            <a:ext cx="10515600" cy="4680000"/>
          </a:xfrm>
        </p:spPr>
        <p:txBody>
          <a:bodyPr>
            <a:normAutofit/>
          </a:bodyPr>
          <a:lstStyle/>
          <a:p>
            <a:endParaRPr lang="tr-TR" dirty="0"/>
          </a:p>
          <a:p>
            <a:endParaRPr lang="tr-TR" dirty="0"/>
          </a:p>
          <a:p>
            <a:endParaRPr lang="tr-TR" dirty="0"/>
          </a:p>
          <a:p>
            <a:pPr marL="0" indent="0" algn="ctr">
              <a:buNone/>
            </a:pPr>
            <a:r>
              <a:rPr lang="tr-TR" dirty="0"/>
              <a:t>SON</a:t>
            </a:r>
          </a:p>
          <a:p>
            <a:endParaRPr lang="tr-TR" dirty="0"/>
          </a:p>
          <a:p>
            <a:endParaRPr lang="tr-TR" dirty="0"/>
          </a:p>
          <a:p>
            <a:endParaRPr lang="tr-TR" dirty="0"/>
          </a:p>
        </p:txBody>
      </p:sp>
      <p:sp>
        <p:nvSpPr>
          <p:cNvPr id="4" name="Date Placeholder 3"/>
          <p:cNvSpPr>
            <a:spLocks noGrp="1"/>
          </p:cNvSpPr>
          <p:nvPr>
            <p:ph type="dt" sz="half" idx="10"/>
          </p:nvPr>
        </p:nvSpPr>
        <p:spPr/>
        <p:txBody>
          <a:bodyPr/>
          <a:lstStyle/>
          <a:p>
            <a:r>
              <a:rPr lang="en-US"/>
              <a:t>1/20/2023</a:t>
            </a:r>
            <a:endParaRPr lang="en-US" dirty="0"/>
          </a:p>
        </p:txBody>
      </p:sp>
      <p:sp>
        <p:nvSpPr>
          <p:cNvPr id="5" name="Footer Placeholder 4"/>
          <p:cNvSpPr>
            <a:spLocks noGrp="1"/>
          </p:cNvSpPr>
          <p:nvPr>
            <p:ph type="ftr" sz="quarter" idx="11"/>
          </p:nvPr>
        </p:nvSpPr>
        <p:spPr/>
        <p:txBody>
          <a:bodyPr/>
          <a:lstStyle/>
          <a:p>
            <a:r>
              <a:rPr lang="en-US" dirty="0"/>
              <a:t>Sercan KÜLCÜ, </a:t>
            </a:r>
            <a:r>
              <a:rPr lang="en-US" dirty="0" err="1"/>
              <a:t>Tüm</a:t>
            </a:r>
            <a:r>
              <a:rPr lang="en-US" dirty="0"/>
              <a:t> </a:t>
            </a:r>
            <a:r>
              <a:rPr lang="en-US" dirty="0" err="1"/>
              <a:t>hakları</a:t>
            </a:r>
            <a:r>
              <a:rPr lang="en-US" dirty="0"/>
              <a:t> </a:t>
            </a:r>
            <a:r>
              <a:rPr lang="en-US" dirty="0" err="1"/>
              <a:t>saklıdır</a:t>
            </a:r>
            <a:r>
              <a:rPr lang="en-US" dirty="0"/>
              <a:t>.</a:t>
            </a:r>
          </a:p>
        </p:txBody>
      </p:sp>
      <p:sp>
        <p:nvSpPr>
          <p:cNvPr id="6" name="Slide Number Placeholder 5"/>
          <p:cNvSpPr>
            <a:spLocks noGrp="1"/>
          </p:cNvSpPr>
          <p:nvPr>
            <p:ph type="sldNum" sz="quarter" idx="12"/>
          </p:nvPr>
        </p:nvSpPr>
        <p:spPr/>
        <p:txBody>
          <a:bodyPr/>
          <a:lstStyle/>
          <a:p>
            <a:fld id="{D57F1E4F-1CFF-5643-939E-217C01CDF565}" type="slidenum">
              <a:rPr lang="en-US" smtClean="0"/>
              <a:pPr/>
              <a:t>71</a:t>
            </a:fld>
            <a:endParaRPr lang="en-US" dirty="0"/>
          </a:p>
        </p:txBody>
      </p:sp>
    </p:spTree>
    <p:extLst>
      <p:ext uri="{BB962C8B-B14F-4D97-AF65-F5344CB8AC3E}">
        <p14:creationId xmlns:p14="http://schemas.microsoft.com/office/powerpoint/2010/main" val="282459277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4265</TotalTime>
  <Words>4548</Words>
  <Application>Microsoft Office PowerPoint</Application>
  <PresentationFormat>Widescreen</PresentationFormat>
  <Paragraphs>637</Paragraphs>
  <Slides>71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71</vt:i4>
      </vt:variant>
    </vt:vector>
  </HeadingPairs>
  <TitlesOfParts>
    <vt:vector size="76" baseType="lpstr">
      <vt:lpstr>Arial</vt:lpstr>
      <vt:lpstr>Calibri</vt:lpstr>
      <vt:lpstr>Calibri Light</vt:lpstr>
      <vt:lpstr>Wingdings</vt:lpstr>
      <vt:lpstr>Office Theme</vt:lpstr>
      <vt:lpstr>Bölüm 1: Oyun Kuramı Temelleri</vt:lpstr>
      <vt:lpstr>Oyun Teorisi Nedir?</vt:lpstr>
      <vt:lpstr>Oyun Teorisi Nedir?</vt:lpstr>
      <vt:lpstr>Anahtar Terimler</vt:lpstr>
      <vt:lpstr>Oyun</vt:lpstr>
      <vt:lpstr>Oyuncular (Karar Verenler)</vt:lpstr>
      <vt:lpstr>Oyunun Kuralları</vt:lpstr>
      <vt:lpstr>Örnek: Online Reklam Müzayedeleri</vt:lpstr>
      <vt:lpstr>Örnek: Online Reklam Müzayedeleri</vt:lpstr>
      <vt:lpstr>Örnek: Online Reklam Müzayedeleri</vt:lpstr>
      <vt:lpstr>Örnek: Online Reklam Müzayedeleri</vt:lpstr>
      <vt:lpstr>Stratejiler</vt:lpstr>
      <vt:lpstr>Örnek: Taş-Kağıt-Makas Oyunu</vt:lpstr>
      <vt:lpstr>Örnek: Taş-Kağıt-Makas Oyunu</vt:lpstr>
      <vt:lpstr>Örnek: Taş-Kağıt-Makas Oyunu</vt:lpstr>
      <vt:lpstr>Örnek: Taş-Kağıt-Makas Oyunu</vt:lpstr>
      <vt:lpstr>Örnek: Taş-Kağıt-Makas Oyunu</vt:lpstr>
      <vt:lpstr>Kazanç</vt:lpstr>
      <vt:lpstr>Örnek: Farklı Taşınmaz Değerlerinde Monopol Oyunu</vt:lpstr>
      <vt:lpstr>Örnek: Farklı Taşınmaz Değerlerinde Monopol Oyunu</vt:lpstr>
      <vt:lpstr>Örnek: Farklı Taşınmaz Değerlerinde Monopol Oyunu</vt:lpstr>
      <vt:lpstr>Bilgi</vt:lpstr>
      <vt:lpstr>Örnek: Poker Oyunu ve Blöf Stratejileri</vt:lpstr>
      <vt:lpstr>Örnek: Poker Oyunu ve Blöf Stratejileri</vt:lpstr>
      <vt:lpstr>Örnek: Poker Oyunu ve Blöf Stratejileri</vt:lpstr>
      <vt:lpstr>Denge</vt:lpstr>
      <vt:lpstr>Örnek: Trafik Işıkları ve Oyun Teorisi</vt:lpstr>
      <vt:lpstr>Örnek: Trafik Işıkları ve Oyun Teorisi</vt:lpstr>
      <vt:lpstr>Örnek: Trafik Işıkları ve Oyun Teorisi</vt:lpstr>
      <vt:lpstr>Normal Form Oyunları</vt:lpstr>
      <vt:lpstr>Normal Form Oyunları</vt:lpstr>
      <vt:lpstr>Normal Form Oyunları</vt:lpstr>
      <vt:lpstr>Örnek: Fiyat Rekabeti Oyunu</vt:lpstr>
      <vt:lpstr>Örnek: Fiyat Rekabeti Oyunu</vt:lpstr>
      <vt:lpstr>Örnek: Fiyat Rekabeti Oyunu</vt:lpstr>
      <vt:lpstr>Genişletilmiş Form Oyunları</vt:lpstr>
      <vt:lpstr>Örnek: Satranç Oyunu</vt:lpstr>
      <vt:lpstr>Örnek: Satranç Oyunu</vt:lpstr>
      <vt:lpstr>Örnek: Satranç Oyunu</vt:lpstr>
      <vt:lpstr>Örnek: Satranç Oyunu</vt:lpstr>
      <vt:lpstr>Nash Dengesi</vt:lpstr>
      <vt:lpstr>Baskın Strateji</vt:lpstr>
      <vt:lpstr>Karışık Strateji</vt:lpstr>
      <vt:lpstr>İşbirlikçi Oyunlar</vt:lpstr>
      <vt:lpstr>İşbirliği Olmayan Oyunlar</vt:lpstr>
      <vt:lpstr>Örnek: Mahkumun İkilemi</vt:lpstr>
      <vt:lpstr>Mahkumun İkilemi</vt:lpstr>
      <vt:lpstr>Mahkumun İkilemi</vt:lpstr>
      <vt:lpstr>Sam ve John'un Eylemleri:</vt:lpstr>
      <vt:lpstr>Sonuçlar</vt:lpstr>
      <vt:lpstr>Güvenlik Oyunları</vt:lpstr>
      <vt:lpstr>Oyuncuların Eylem Seçenekleri</vt:lpstr>
      <vt:lpstr>Mekanizma Tasarımı</vt:lpstr>
      <vt:lpstr>Para Kullanarak Mekanizma Tasarımı</vt:lpstr>
      <vt:lpstr>Para Kullanmadan Mekanizma Tasarımı</vt:lpstr>
      <vt:lpstr>Örnek: Müzayede</vt:lpstr>
      <vt:lpstr>Müzayede</vt:lpstr>
      <vt:lpstr>Müzayede</vt:lpstr>
      <vt:lpstr>Müzayede</vt:lpstr>
      <vt:lpstr>Müzayede</vt:lpstr>
      <vt:lpstr>Örnek: Tesis Yerleşimi</vt:lpstr>
      <vt:lpstr>Örnek: Tesis Yerleşimi</vt:lpstr>
      <vt:lpstr>Para Olmadan Mekanizma Tasarımı</vt:lpstr>
      <vt:lpstr>Baskın Strateji - Mahkumun İkilemi</vt:lpstr>
      <vt:lpstr>Baskın Strateji - Mahkumun İkilemi</vt:lpstr>
      <vt:lpstr>Baskın Strateji - Mahkumun İkilemi</vt:lpstr>
      <vt:lpstr>2/3 Ortalamasını Tahmin Et</vt:lpstr>
      <vt:lpstr>2/3 Ortalamasını Tahmin Et</vt:lpstr>
      <vt:lpstr>2/3 Ortalamasını Tahmin Et</vt:lpstr>
      <vt:lpstr>2/3 Ortalamasını Tahmin Et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Oyun Kuramı Temelleri</dc:title>
  <dc:creator>sercan</dc:creator>
  <cp:lastModifiedBy>Sercan Kulcu</cp:lastModifiedBy>
  <cp:revision>268</cp:revision>
  <dcterms:created xsi:type="dcterms:W3CDTF">2023-01-12T09:23:55Z</dcterms:created>
  <dcterms:modified xsi:type="dcterms:W3CDTF">2025-09-23T09:50:55Z</dcterms:modified>
</cp:coreProperties>
</file>