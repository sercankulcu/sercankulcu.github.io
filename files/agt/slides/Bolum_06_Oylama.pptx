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3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1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27.09.2025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6: Oylama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Social</a:t>
            </a:r>
            <a:r>
              <a:rPr lang="tr-TR" dirty="0"/>
              <a:t> </a:t>
            </a:r>
            <a:r>
              <a:rPr lang="tr-TR" dirty="0" err="1"/>
              <a:t>Choice</a:t>
            </a:r>
            <a:r>
              <a:rPr lang="tr-TR" dirty="0"/>
              <a:t> Nedir?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Bireysel tercihlerin toplu karara dönüştürülmesi</a:t>
            </a:r>
          </a:p>
          <a:p>
            <a:r>
              <a:rPr lang="tr-TR" dirty="0"/>
              <a:t>Amaç: adil ve rasyonel kolektif kararlar</a:t>
            </a:r>
          </a:p>
          <a:p>
            <a:r>
              <a:rPr lang="tr-TR" dirty="0"/>
              <a:t>Günlük örnekler:</a:t>
            </a:r>
          </a:p>
          <a:p>
            <a:pPr lvl="1"/>
            <a:r>
              <a:rPr lang="tr-TR" dirty="0"/>
              <a:t>Sınıf etkinliği seçimi</a:t>
            </a:r>
          </a:p>
          <a:p>
            <a:pPr lvl="1"/>
            <a:r>
              <a:rPr lang="tr-TR" dirty="0"/>
              <a:t>Kulüp veya parti seçimleri</a:t>
            </a:r>
          </a:p>
          <a:p>
            <a:pPr lvl="1"/>
            <a:r>
              <a:rPr lang="tr-TR" dirty="0"/>
              <a:t>Toplu karar gerektiren her grup faaliyeti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F6E4-04FA-B326-E570-AC8804AC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Oylama Sistemleri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F8FDB-53E0-32E8-9736-06938B686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Majority</a:t>
            </a:r>
            <a:r>
              <a:rPr lang="tr-TR" dirty="0"/>
              <a:t> </a:t>
            </a:r>
            <a:r>
              <a:rPr lang="tr-TR" dirty="0" err="1"/>
              <a:t>Rule</a:t>
            </a:r>
            <a:r>
              <a:rPr lang="tr-TR" dirty="0"/>
              <a:t> → en çok oy alan kazanır</a:t>
            </a:r>
          </a:p>
          <a:p>
            <a:r>
              <a:rPr lang="tr-TR" dirty="0" err="1"/>
              <a:t>Plurality</a:t>
            </a:r>
            <a:r>
              <a:rPr lang="tr-TR" dirty="0"/>
              <a:t> </a:t>
            </a:r>
            <a:r>
              <a:rPr lang="tr-TR" dirty="0" err="1"/>
              <a:t>Rule</a:t>
            </a:r>
            <a:r>
              <a:rPr lang="tr-TR" dirty="0"/>
              <a:t> → en yüksek oy alan seçilir</a:t>
            </a:r>
          </a:p>
          <a:p>
            <a:r>
              <a:rPr lang="tr-TR" dirty="0"/>
              <a:t>Borda </a:t>
            </a:r>
            <a:r>
              <a:rPr lang="tr-TR" dirty="0" err="1"/>
              <a:t>Count</a:t>
            </a:r>
            <a:r>
              <a:rPr lang="tr-TR" dirty="0"/>
              <a:t> → sıralama üzerinden puanlama</a:t>
            </a:r>
          </a:p>
          <a:p>
            <a:r>
              <a:rPr lang="tr-TR" dirty="0" err="1"/>
              <a:t>Approval</a:t>
            </a:r>
            <a:r>
              <a:rPr lang="tr-TR" dirty="0"/>
              <a:t> </a:t>
            </a:r>
            <a:r>
              <a:rPr lang="tr-TR" dirty="0" err="1"/>
              <a:t>Voting</a:t>
            </a:r>
            <a:r>
              <a:rPr lang="tr-TR" dirty="0"/>
              <a:t> → onaylanan seçenekler sayılır</a:t>
            </a:r>
          </a:p>
          <a:p>
            <a:r>
              <a:rPr lang="tr-TR" dirty="0" err="1"/>
              <a:t>Ranked</a:t>
            </a:r>
            <a:r>
              <a:rPr lang="tr-TR" dirty="0"/>
              <a:t> </a:t>
            </a:r>
            <a:r>
              <a:rPr lang="tr-TR" dirty="0" err="1"/>
              <a:t>Choice</a:t>
            </a:r>
            <a:r>
              <a:rPr lang="tr-TR" dirty="0"/>
              <a:t> / </a:t>
            </a:r>
            <a:r>
              <a:rPr lang="tr-TR" dirty="0" err="1"/>
              <a:t>Instant</a:t>
            </a:r>
            <a:r>
              <a:rPr lang="tr-TR" dirty="0"/>
              <a:t> </a:t>
            </a:r>
            <a:r>
              <a:rPr lang="tr-TR" dirty="0" err="1"/>
              <a:t>Runoff</a:t>
            </a:r>
            <a:r>
              <a:rPr lang="tr-TR" dirty="0"/>
              <a:t> → elenen seçeneklerin oyları yeniden dağıtılır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CFA88-1406-E3D6-DDCB-F4A07978E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7A43C-9578-2B5C-4D3F-BB9D8496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E3811-ABCA-BD8C-BBFC-0B52C543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4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833F-07D7-E2C4-BB8F-BFBE0BB28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Stratejik Oy Kullanımı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E103-B1CF-4422-9A15-C7EC6232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Oy verenler, tercihlerini stratejik değiştirebilir</a:t>
            </a:r>
          </a:p>
          <a:p>
            <a:r>
              <a:rPr lang="tr-TR" dirty="0"/>
              <a:t>Örnek: Taktiğe dayalı oy kullanımı</a:t>
            </a:r>
          </a:p>
          <a:p>
            <a:r>
              <a:rPr lang="tr-TR" dirty="0"/>
              <a:t>Sistem karşılaştırması:</a:t>
            </a:r>
          </a:p>
          <a:p>
            <a:pPr lvl="1"/>
            <a:r>
              <a:rPr lang="tr-TR" dirty="0"/>
              <a:t>Borda </a:t>
            </a:r>
            <a:r>
              <a:rPr lang="tr-TR" dirty="0" err="1"/>
              <a:t>Count</a:t>
            </a:r>
            <a:r>
              <a:rPr lang="tr-TR" dirty="0"/>
              <a:t> → stratejik oy etkisi yüksek</a:t>
            </a:r>
          </a:p>
          <a:p>
            <a:pPr lvl="1"/>
            <a:r>
              <a:rPr lang="tr-TR" dirty="0" err="1"/>
              <a:t>Plurality</a:t>
            </a:r>
            <a:r>
              <a:rPr lang="tr-TR" dirty="0"/>
              <a:t> → bazı durumlarda basit ama adalet tartışmalı</a:t>
            </a:r>
          </a:p>
          <a:p>
            <a:pPr lvl="1"/>
            <a:r>
              <a:rPr lang="tr-TR" dirty="0" err="1"/>
              <a:t>Instant</a:t>
            </a:r>
            <a:r>
              <a:rPr lang="tr-TR" dirty="0"/>
              <a:t> </a:t>
            </a:r>
            <a:r>
              <a:rPr lang="tr-TR" dirty="0" err="1"/>
              <a:t>Runoff</a:t>
            </a:r>
            <a:r>
              <a:rPr lang="tr-TR" dirty="0"/>
              <a:t> → stratejik oyun etkisi sınırlı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09773-200E-774B-54F6-69C2EF8F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A615A-1CCB-786D-DE32-F00F378CB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0E927-72EE-D12E-E431-AFBF66D5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888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643C-B853-555F-ACB9-42BC5D02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Arrow’un</a:t>
            </a:r>
            <a:r>
              <a:rPr lang="tr-TR" dirty="0"/>
              <a:t> İmkansızlık Teoremi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88281-0D91-CDE4-D171-A6298828C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Adil bir sosyal tercih sistemi için dört koşul:</a:t>
            </a:r>
          </a:p>
          <a:p>
            <a:pPr lvl="1"/>
            <a:r>
              <a:rPr lang="tr-TR" dirty="0" err="1"/>
              <a:t>Pareto</a:t>
            </a:r>
            <a:r>
              <a:rPr lang="tr-TR" dirty="0"/>
              <a:t> Etkinliği</a:t>
            </a:r>
          </a:p>
          <a:p>
            <a:pPr lvl="1"/>
            <a:r>
              <a:rPr lang="tr-TR" dirty="0"/>
              <a:t>Bağımsızlık  (</a:t>
            </a:r>
            <a:r>
              <a:rPr lang="tr-TR" dirty="0" err="1"/>
              <a:t>Independence</a:t>
            </a:r>
            <a:r>
              <a:rPr lang="tr-TR" dirty="0"/>
              <a:t> of </a:t>
            </a:r>
            <a:r>
              <a:rPr lang="tr-TR" dirty="0" err="1"/>
              <a:t>Irrelevant</a:t>
            </a:r>
            <a:r>
              <a:rPr lang="tr-TR" dirty="0"/>
              <a:t> </a:t>
            </a:r>
            <a:r>
              <a:rPr lang="tr-TR" dirty="0" err="1"/>
              <a:t>Alternatives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Non</a:t>
            </a:r>
            <a:r>
              <a:rPr lang="tr-TR" dirty="0"/>
              <a:t>-diktatörlük</a:t>
            </a:r>
          </a:p>
          <a:p>
            <a:pPr lvl="1"/>
            <a:r>
              <a:rPr lang="tr-TR" dirty="0"/>
              <a:t>Herkesin tercihleri hesaba katılır</a:t>
            </a:r>
          </a:p>
          <a:p>
            <a:r>
              <a:rPr lang="tr-TR" dirty="0"/>
              <a:t>Teorem: Hiçbir sistem bu dört koşulu tam olarak sağlayamaz</a:t>
            </a:r>
          </a:p>
          <a:p>
            <a:r>
              <a:rPr lang="tr-TR" dirty="0"/>
              <a:t>Günlük örnek: Politik seçim sistemleri ve tartışmalar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48F08-80BF-C9C7-7A56-9045D5BB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67943-B614-C042-8CA8-ABADABC9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593AC-AD83-4B42-3598-AC46915A3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18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B93A-DFBA-8B86-D691-F2E6B93D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Günlük Hayat Örnekleri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8C1E8-CCF6-BC72-6B51-C3D4E97A6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Parlamento seçimleri → çoğunluk / orantılı temsil</a:t>
            </a:r>
          </a:p>
          <a:p>
            <a:r>
              <a:rPr lang="tr-TR" dirty="0"/>
              <a:t>Öğrenci kulüpleri veya sınıf kararları → Borda veya </a:t>
            </a:r>
            <a:r>
              <a:rPr lang="tr-TR" dirty="0" err="1"/>
              <a:t>Instant</a:t>
            </a:r>
            <a:r>
              <a:rPr lang="tr-TR" dirty="0"/>
              <a:t> </a:t>
            </a:r>
            <a:r>
              <a:rPr lang="tr-TR" dirty="0" err="1"/>
              <a:t>Runoff</a:t>
            </a:r>
            <a:endParaRPr lang="tr-TR" dirty="0"/>
          </a:p>
          <a:p>
            <a:r>
              <a:rPr lang="tr-TR" dirty="0"/>
              <a:t>Online platformlar → </a:t>
            </a:r>
            <a:r>
              <a:rPr lang="tr-TR" dirty="0" err="1"/>
              <a:t>Reddit</a:t>
            </a:r>
            <a:r>
              <a:rPr lang="tr-TR" dirty="0"/>
              <a:t>, anketler, topluluk kararları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09C36-A6BA-F690-F722-6FD171127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B5640-1991-FE11-1BEE-6C4EA2E9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2C9E9-4E5D-67D8-FC46-66D31F8B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80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DBE9-F66A-F3B1-1124-060481DB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C40B2-477C-B950-DD0C-B33AC8C68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Hangi oylama sistemi adil kabul edilebilir?</a:t>
            </a:r>
          </a:p>
          <a:p>
            <a:r>
              <a:rPr lang="tr-TR" dirty="0"/>
              <a:t>Stratejik oy kullanımı sistemi ne kadar bozar?</a:t>
            </a:r>
          </a:p>
          <a:p>
            <a:r>
              <a:rPr lang="tr-TR" dirty="0" err="1"/>
              <a:t>Arrow’un</a:t>
            </a:r>
            <a:r>
              <a:rPr lang="tr-TR" dirty="0"/>
              <a:t> teoremi günlük hayat kararlarını nasıl etkiler?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3F299-CC66-7161-D0C1-83469E81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0A562-D250-0124-F176-4EAF2D4F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254CA-ACA5-A427-B035-3BFBA80D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0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CC10-6D8C-B016-854E-C75C792F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Hangi oylama sistemi adil kabul edilebilir?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E0EC-D21D-B04A-7F91-8A86C7ECE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Adil sistem = bağlam ve amaç ile ilgili</a:t>
            </a:r>
          </a:p>
          <a:p>
            <a:r>
              <a:rPr lang="tr-TR" dirty="0" err="1"/>
              <a:t>Majority</a:t>
            </a:r>
            <a:r>
              <a:rPr lang="tr-TR" dirty="0"/>
              <a:t> </a:t>
            </a:r>
            <a:r>
              <a:rPr lang="tr-TR" dirty="0" err="1"/>
              <a:t>Rule</a:t>
            </a:r>
            <a:r>
              <a:rPr lang="tr-TR" dirty="0"/>
              <a:t>: Basit ve anlaşılır → küçük gruplar için etkili</a:t>
            </a:r>
          </a:p>
          <a:p>
            <a:r>
              <a:rPr lang="tr-TR" dirty="0" err="1"/>
              <a:t>Ranked</a:t>
            </a:r>
            <a:r>
              <a:rPr lang="tr-TR" dirty="0"/>
              <a:t> </a:t>
            </a:r>
            <a:r>
              <a:rPr lang="tr-TR" dirty="0" err="1"/>
              <a:t>Choice</a:t>
            </a:r>
            <a:r>
              <a:rPr lang="tr-TR" dirty="0"/>
              <a:t> / </a:t>
            </a:r>
            <a:r>
              <a:rPr lang="tr-TR" dirty="0" err="1"/>
              <a:t>Instant</a:t>
            </a:r>
            <a:r>
              <a:rPr lang="tr-TR" dirty="0"/>
              <a:t> </a:t>
            </a:r>
            <a:r>
              <a:rPr lang="tr-TR" dirty="0" err="1"/>
              <a:t>Runoff</a:t>
            </a:r>
            <a:r>
              <a:rPr lang="tr-TR" dirty="0"/>
              <a:t>: Taktiksel oy etkisi az → daha adil sonuç</a:t>
            </a:r>
          </a:p>
          <a:p>
            <a:r>
              <a:rPr lang="tr-TR" dirty="0"/>
              <a:t>Borda </a:t>
            </a:r>
            <a:r>
              <a:rPr lang="tr-TR" dirty="0" err="1"/>
              <a:t>Count</a:t>
            </a:r>
            <a:r>
              <a:rPr lang="tr-TR" dirty="0"/>
              <a:t>: Sıralama avantajı → stratejik oy riski yüksek</a:t>
            </a:r>
          </a:p>
          <a:p>
            <a:r>
              <a:rPr lang="tr-TR" dirty="0"/>
              <a:t>Günlük örnekler:</a:t>
            </a:r>
          </a:p>
          <a:p>
            <a:pPr lvl="1"/>
            <a:r>
              <a:rPr lang="tr-TR" dirty="0"/>
              <a:t>Sınıf etkinliği seçimi → </a:t>
            </a:r>
            <a:r>
              <a:rPr lang="tr-TR" dirty="0" err="1"/>
              <a:t>Ranked</a:t>
            </a:r>
            <a:r>
              <a:rPr lang="tr-TR" dirty="0"/>
              <a:t> </a:t>
            </a:r>
            <a:r>
              <a:rPr lang="tr-TR" dirty="0" err="1"/>
              <a:t>Choice</a:t>
            </a:r>
            <a:r>
              <a:rPr lang="tr-TR" dirty="0"/>
              <a:t> daha dengeli</a:t>
            </a:r>
          </a:p>
          <a:p>
            <a:pPr lvl="1"/>
            <a:r>
              <a:rPr lang="tr-TR" dirty="0"/>
              <a:t>Kulüp başkanlığı → </a:t>
            </a:r>
            <a:r>
              <a:rPr lang="tr-TR" dirty="0" err="1"/>
              <a:t>Majority</a:t>
            </a:r>
            <a:r>
              <a:rPr lang="tr-TR" dirty="0"/>
              <a:t> </a:t>
            </a:r>
            <a:r>
              <a:rPr lang="tr-TR" dirty="0" err="1"/>
              <a:t>Rule</a:t>
            </a:r>
            <a:r>
              <a:rPr lang="tr-TR" dirty="0"/>
              <a:t> hızlı ve pratik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D86BE-1A4A-F2DE-8085-FD6BF224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D96A1-B80E-3352-C5BB-FC61518E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D7BC4-87FD-0C39-7FEF-41C814F0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89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0D64-1249-5A6E-ED54-D9D13AAB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Stratejik oy kullanımı sistemi ne kadar bozar?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41D7-A49B-7D79-1228-E7FC2A77C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Bazı sistemlerde stratejik oy sonucu ciddi etkiler</a:t>
            </a:r>
          </a:p>
          <a:p>
            <a:r>
              <a:rPr lang="tr-TR" dirty="0" err="1"/>
              <a:t>Plurality</a:t>
            </a:r>
            <a:r>
              <a:rPr lang="tr-TR" dirty="0"/>
              <a:t> → oy bölebilir</a:t>
            </a:r>
          </a:p>
          <a:p>
            <a:r>
              <a:rPr lang="tr-TR" dirty="0"/>
              <a:t>Borda </a:t>
            </a:r>
            <a:r>
              <a:rPr lang="tr-TR" dirty="0" err="1"/>
              <a:t>Count</a:t>
            </a:r>
            <a:r>
              <a:rPr lang="tr-TR" dirty="0"/>
              <a:t> → sıralama manipülasyonu mümkün</a:t>
            </a:r>
          </a:p>
          <a:p>
            <a:r>
              <a:rPr lang="tr-TR" dirty="0" err="1"/>
              <a:t>Instant</a:t>
            </a:r>
            <a:r>
              <a:rPr lang="tr-TR" dirty="0"/>
              <a:t> </a:t>
            </a:r>
            <a:r>
              <a:rPr lang="tr-TR" dirty="0" err="1"/>
              <a:t>Runoff</a:t>
            </a:r>
            <a:r>
              <a:rPr lang="tr-TR" dirty="0"/>
              <a:t> → stratejik etkisi sınırlı</a:t>
            </a:r>
          </a:p>
          <a:p>
            <a:r>
              <a:rPr lang="tr-TR" dirty="0"/>
              <a:t>Günlük örnekler:</a:t>
            </a:r>
          </a:p>
          <a:p>
            <a:pPr lvl="1"/>
            <a:r>
              <a:rPr lang="tr-TR" dirty="0"/>
              <a:t>Sınıfta pizza seçimi → öğrenciler favori yerine popüler seçeneğe oy verebilir</a:t>
            </a:r>
          </a:p>
          <a:p>
            <a:pPr lvl="1"/>
            <a:r>
              <a:rPr lang="tr-TR" dirty="0"/>
              <a:t>Politik seçim → seçmen taktiksel oy ile aday seçebilir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1F9B-E44F-14BF-EEFE-BD938813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AF240-4454-445E-E443-8DACCA2D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EDC32-DE0A-77AB-7935-3C4E9FC5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179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57ABC-DC94-1DB1-0A59-F71F434CE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Arrow’un</a:t>
            </a:r>
            <a:r>
              <a:rPr lang="tr-TR" dirty="0"/>
              <a:t> teoremi günlük kararlarını nasıl etkiler?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FB8C1-2F8A-E2A0-9DF4-5C559504C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Hiçbir sistem tüm adalet ve rasyonellik koşullarını sağlayamaz</a:t>
            </a:r>
          </a:p>
          <a:p>
            <a:r>
              <a:rPr lang="tr-TR" dirty="0"/>
              <a:t>Sonuçlar:</a:t>
            </a:r>
          </a:p>
          <a:p>
            <a:pPr lvl="1"/>
            <a:r>
              <a:rPr lang="tr-TR" dirty="0"/>
              <a:t>Her zaman “en ideal” çözüm yok</a:t>
            </a:r>
          </a:p>
          <a:p>
            <a:pPr lvl="1"/>
            <a:r>
              <a:rPr lang="tr-TR" dirty="0"/>
              <a:t>Sistem tasarımı → verimlilik ve adalet arasında denge kurmak zorunda</a:t>
            </a:r>
          </a:p>
          <a:p>
            <a:r>
              <a:rPr lang="tr-TR" dirty="0"/>
              <a:t>Günlük örnekler:</a:t>
            </a:r>
          </a:p>
          <a:p>
            <a:pPr lvl="1"/>
            <a:r>
              <a:rPr lang="tr-TR" dirty="0"/>
              <a:t>Okul yerleştirme algoritmaları → bazı öğrenciler memnun olmayabilir</a:t>
            </a:r>
          </a:p>
          <a:p>
            <a:pPr lvl="1"/>
            <a:r>
              <a:rPr lang="tr-TR" dirty="0"/>
              <a:t>Grup kararları → bazı seçenekler stratejik oy ile kaybedebilir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5C9C8-E74F-966E-7195-07797C9F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8BB9E-11FE-4ED4-8164-500B7E07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AA181-C26B-348A-1785-B55492A2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336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4859</TotalTime>
  <Words>498</Words>
  <Application>Microsoft Office PowerPoint</Application>
  <PresentationFormat>Widescreen</PresentationFormat>
  <Paragraphs>101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Bölüm 6: Oylama</vt:lpstr>
      <vt:lpstr>Social Choice Nedir?</vt:lpstr>
      <vt:lpstr>Temel Oylama Sistemleri</vt:lpstr>
      <vt:lpstr>Stratejik Oy Kullanımı</vt:lpstr>
      <vt:lpstr>Arrow’un İmkansızlık Teoremi</vt:lpstr>
      <vt:lpstr>Günlük Hayat Örnekleri</vt:lpstr>
      <vt:lpstr>Tartışma Soruları</vt:lpstr>
      <vt:lpstr>Hangi oylama sistemi adil kabul edilebilir?</vt:lpstr>
      <vt:lpstr>Stratejik oy kullanımı sistemi ne kadar bozar?</vt:lpstr>
      <vt:lpstr>Arrow’un teoremi günlük kararlarını nasıl etkiler?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Oylama</dc:title>
  <dc:creator>sercan</dc:creator>
  <cp:lastModifiedBy>Sercan Kulcu</cp:lastModifiedBy>
  <cp:revision>332</cp:revision>
  <dcterms:created xsi:type="dcterms:W3CDTF">2023-01-12T09:23:55Z</dcterms:created>
  <dcterms:modified xsi:type="dcterms:W3CDTF">2025-09-26T21:40:54Z</dcterms:modified>
</cp:coreProperties>
</file>