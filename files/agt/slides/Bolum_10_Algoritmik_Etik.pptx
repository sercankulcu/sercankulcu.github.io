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10: Algoritmik Etik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Algoritmik kararlar → kredi onayı, işe alım, sosyal medya önerileri</a:t>
            </a:r>
          </a:p>
          <a:p>
            <a:r>
              <a:rPr lang="tr-TR" dirty="0"/>
              <a:t>Neden önemlidir?</a:t>
            </a:r>
          </a:p>
          <a:p>
            <a:pPr lvl="1"/>
            <a:r>
              <a:rPr lang="tr-TR" dirty="0"/>
              <a:t>Adalet ve etik ihlalleri → toplumsal güven kaybı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Amazon işe alım algoritması</a:t>
            </a:r>
          </a:p>
          <a:p>
            <a:pPr lvl="1"/>
            <a:r>
              <a:rPr lang="tr-TR" dirty="0"/>
              <a:t>Kredi skorlama sistemleri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40F1-05DC-220B-2C67-EF89A66A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Algoritmik Adalet Kavramları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A52D-9D8A-32C4-00B0-5B4180D45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Demografik Parite: Gruplar eşit oranda olumlu karar almalı</a:t>
            </a:r>
          </a:p>
          <a:p>
            <a:r>
              <a:rPr lang="tr-TR" dirty="0"/>
              <a:t>Eşit Doğruluk (</a:t>
            </a:r>
            <a:r>
              <a:rPr lang="tr-TR" dirty="0" err="1"/>
              <a:t>Equalized</a:t>
            </a:r>
            <a:r>
              <a:rPr lang="tr-TR" dirty="0"/>
              <a:t> </a:t>
            </a:r>
            <a:r>
              <a:rPr lang="tr-TR" dirty="0" err="1"/>
              <a:t>Odds</a:t>
            </a:r>
            <a:r>
              <a:rPr lang="tr-TR" dirty="0"/>
              <a:t>): Yanlış pozitif / negatif oranları dengeli</a:t>
            </a:r>
          </a:p>
          <a:p>
            <a:r>
              <a:rPr lang="tr-TR" dirty="0" err="1"/>
              <a:t>Predictive</a:t>
            </a:r>
            <a:r>
              <a:rPr lang="tr-TR" dirty="0"/>
              <a:t> </a:t>
            </a:r>
            <a:r>
              <a:rPr lang="tr-TR" dirty="0" err="1"/>
              <a:t>Parity</a:t>
            </a:r>
            <a:r>
              <a:rPr lang="tr-TR" dirty="0"/>
              <a:t>: Tahmin doğruluğu gruplar arasında eşit</a:t>
            </a:r>
          </a:p>
          <a:p>
            <a:r>
              <a:rPr lang="tr-TR" dirty="0"/>
              <a:t>Örnek: Kredi skorlama → farklı etnik grupların adil değerlendirilmesi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85556-119B-AE0F-6748-F7BE38F9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42EF4-8A28-877B-D38A-3A2D0F32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9596D-38C6-493B-DC90-03585622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97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070B-51CC-6C47-0ED6-1F44493B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Önyargı ve Ayrımcılık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4645-13A0-E522-50B2-D55013994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kaynaklı önyargı: Tarihsel eşitsizlikler yansır</a:t>
            </a:r>
          </a:p>
          <a:p>
            <a:r>
              <a:rPr lang="tr-TR" dirty="0"/>
              <a:t>Algoritma tasarım hatası: Model adaletsizliği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Yüz tanıma sistemlerinde etnik ayrımcılık</a:t>
            </a:r>
          </a:p>
          <a:p>
            <a:pPr lvl="1"/>
            <a:r>
              <a:rPr lang="tr-TR" dirty="0"/>
              <a:t>İşe alım algoritmalarında cinsiyet önyargısı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5BB5B-B13A-1D3F-4812-14EA1C46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46E8E-C369-86FB-7F75-B40CBCC0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199B-093F-C827-36FE-025E05FB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6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CE8C-567F-8AD1-5EE3-5895345D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Etik İlkeler ve Standartlar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9E4B1-FC2F-217A-95C4-6A43F43CD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Şeffaflık: Karar süreçleri anlaşılır olmalı</a:t>
            </a:r>
          </a:p>
          <a:p>
            <a:r>
              <a:rPr lang="tr-TR" dirty="0"/>
              <a:t>Hesap verebilirlik: Hatalı karar sorumlusu net olmalı</a:t>
            </a:r>
          </a:p>
          <a:p>
            <a:r>
              <a:rPr lang="tr-TR" dirty="0"/>
              <a:t>Adalet ve eşitlik: Sosyal etkiler göz önünde olmalı</a:t>
            </a:r>
          </a:p>
          <a:p>
            <a:r>
              <a:rPr lang="tr-TR" dirty="0"/>
              <a:t>Örnekler: GDPR, AI </a:t>
            </a:r>
            <a:r>
              <a:rPr lang="tr-TR" dirty="0" err="1"/>
              <a:t>Ethics</a:t>
            </a:r>
            <a:r>
              <a:rPr lang="tr-TR" dirty="0"/>
              <a:t> </a:t>
            </a:r>
            <a:r>
              <a:rPr lang="tr-TR" dirty="0" err="1"/>
              <a:t>Guidelines</a:t>
            </a: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DF7F-5468-2A0E-D939-E4FBAAF9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0B81-0B3E-5213-8FC5-662F4841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CC3F8-6E3F-E6D8-5BD4-26B1B13F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5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E3E9-4C27-7853-117E-ACA74F51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Tasarım ve Teşvikler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EF51-C77F-1B4F-C1E6-7D401416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Kullanıcılara doğru teşvikler verilmesi</a:t>
            </a:r>
          </a:p>
          <a:p>
            <a:r>
              <a:rPr lang="tr-TR" dirty="0"/>
              <a:t>Kötü niyetli manipülasyonu önleme</a:t>
            </a:r>
          </a:p>
          <a:p>
            <a:r>
              <a:rPr lang="tr-TR" dirty="0"/>
              <a:t>Örnek: Sosyal medya → tıklama tuzağı yerine doğru öneri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81A3-737E-9E9A-14BD-412BFDCB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9BE9D-B4EB-DE8B-B71A-1F978DF7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57FFE-C306-0E63-C02B-7194C2AC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77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1A78-5618-6FAD-6739-F9A755EA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944E8-7C0C-06B3-10DC-30A67D0D4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Kredi skorlama ve bankacılık</a:t>
            </a:r>
          </a:p>
          <a:p>
            <a:r>
              <a:rPr lang="tr-TR" dirty="0"/>
              <a:t>İşe alım ve insan kaynakları</a:t>
            </a:r>
          </a:p>
          <a:p>
            <a:r>
              <a:rPr lang="tr-TR" dirty="0"/>
              <a:t>Sağlık sektörü → teşhis ve tedavi önerileri</a:t>
            </a:r>
          </a:p>
          <a:p>
            <a:r>
              <a:rPr lang="tr-TR" dirty="0"/>
              <a:t>Etkinlik: Etik bir algoritmanın tasarlanması ve test edilmesi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55ECD-1FE2-B03D-99D8-426FE8EE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8CA57-96C1-0884-B970-6FFF424E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A68E5-720D-D69B-C5E7-06868A87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09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F659-3EF2-9B0C-D791-4D81429D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B9B3-0B24-9BA3-1F20-250EDD421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Algoritmalar her zaman tarafsız olabilir mi?</a:t>
            </a:r>
          </a:p>
          <a:p>
            <a:r>
              <a:rPr lang="tr-TR" dirty="0"/>
              <a:t>Etik ve verimlilik arasındaki denge nasıl sağlanır?</a:t>
            </a:r>
          </a:p>
          <a:p>
            <a:r>
              <a:rPr lang="tr-TR" dirty="0"/>
              <a:t>Algoritmik adaletin sağlanmasında en büyük zorluk nedir?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F5F7F-6E8E-A23C-0B58-70B21856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1A5CA-AA6B-2151-D1B3-115316EA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BC3F2-F616-2BC4-4D4A-01B21986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49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A8A3-6062-4C04-16F4-3A2C4733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Algoritmalar her zaman tarafsız olabilir mi?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AABD4-A537-9424-2E8E-8034652C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Teorik olarak: </a:t>
            </a:r>
          </a:p>
          <a:p>
            <a:r>
              <a:rPr lang="tr-TR" dirty="0"/>
              <a:t>Mümkün, ama gerçek veriler ve tasarım kısıtları nedeniyle zordur</a:t>
            </a:r>
          </a:p>
          <a:p>
            <a:r>
              <a:rPr lang="tr-TR" dirty="0"/>
              <a:t>Neden zor:</a:t>
            </a:r>
          </a:p>
          <a:p>
            <a:pPr lvl="1"/>
            <a:r>
              <a:rPr lang="tr-TR" dirty="0"/>
              <a:t>Tarihsel eşitsizlikler ve önyargılar veriye yansır</a:t>
            </a:r>
          </a:p>
          <a:p>
            <a:pPr lvl="1"/>
            <a:r>
              <a:rPr lang="tr-TR" dirty="0"/>
              <a:t>Algoritma tasarımı hataları → model adaletsizliği</a:t>
            </a:r>
          </a:p>
          <a:p>
            <a:pPr lvl="1"/>
            <a:r>
              <a:rPr lang="tr-TR" dirty="0"/>
              <a:t>Stratejik manipülasyon ve bilinçsiz öncelikler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Yüz tanıma sistemlerinde etnik ayrımcılık</a:t>
            </a:r>
          </a:p>
          <a:p>
            <a:pPr lvl="1"/>
            <a:r>
              <a:rPr lang="tr-TR" dirty="0"/>
              <a:t>İşe alım algoritmalarında cinsiyet önyargısı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F45D-AC67-F215-D330-3D173D8E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BD11C-AEED-2CDE-1E7C-F18835BD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0225B-EDA5-712F-532E-4605CB43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0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1902-E75C-CFAD-CC6B-0524FAAD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Etik ve verimlilik arasındaki denge nasıl sağlanır?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18AF-9A3E-B515-54A4-AA326B8B7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Etik → adil karar, şeffaflık, hesap verebilirlik</a:t>
            </a:r>
          </a:p>
          <a:p>
            <a:r>
              <a:rPr lang="tr-TR" dirty="0"/>
              <a:t>Verimlilik → hızlı ve doğru sonuç, maliyet etkinliği</a:t>
            </a:r>
          </a:p>
          <a:p>
            <a:r>
              <a:rPr lang="tr-TR" dirty="0"/>
              <a:t>Denge yöntemleri:</a:t>
            </a:r>
          </a:p>
          <a:p>
            <a:pPr lvl="1"/>
            <a:r>
              <a:rPr lang="tr-TR" dirty="0"/>
              <a:t>Teşvik tasarımı → kullanıcıyı etik davranmaya yönlendirme</a:t>
            </a:r>
          </a:p>
          <a:p>
            <a:pPr lvl="1"/>
            <a:r>
              <a:rPr lang="tr-TR" dirty="0"/>
              <a:t>Adil algoritmik optimizasyon → bazı doğruluk kayıplarına razı olma</a:t>
            </a:r>
          </a:p>
          <a:p>
            <a:pPr lvl="1"/>
            <a:r>
              <a:rPr lang="tr-TR" dirty="0"/>
              <a:t>Regülasyon ve standartlar → etik sınırları belirleme</a:t>
            </a:r>
          </a:p>
          <a:p>
            <a:r>
              <a:rPr lang="tr-TR" dirty="0"/>
              <a:t>Örnek: Kredi skorlama algoritmasında düşük gelirli kullanıcıları adil değerlendirmek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9BA7-B38A-A10F-C586-3C38CFE4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4A3F8-C45E-C4C4-6AE7-68AB11090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AA6E7-1DC0-57C3-556D-F863A298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9222-38EE-6425-D36A-BC822C55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Algoritmik adaletin sağlanmasında en büyük zorluk?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5839-609A-BC95-6B19-6B37E1124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kaynaklı önyargı: Tarihsel eşitsizlikler ve eksik veri</a:t>
            </a:r>
          </a:p>
          <a:p>
            <a:r>
              <a:rPr lang="tr-TR" dirty="0"/>
              <a:t>Algoritma tasarım hatası: Model karmaşıklığı, yanlış optimizasyon</a:t>
            </a:r>
          </a:p>
          <a:p>
            <a:r>
              <a:rPr lang="tr-TR" dirty="0"/>
              <a:t>Stratejik davranış: Kullanıcı veya sistem manipülasyonu</a:t>
            </a:r>
          </a:p>
          <a:p>
            <a:r>
              <a:rPr lang="tr-TR" dirty="0"/>
              <a:t>Sosyal ve kültürel farklılıklar: Aynı algoritma farklı gruplarda farklı etkiler yaratabilir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Amazon işe alım algoritması → </a:t>
            </a:r>
            <a:r>
              <a:rPr lang="tr-TR"/>
              <a:t>cinsiyet önyargısı</a:t>
            </a:r>
          </a:p>
          <a:p>
            <a:pPr lvl="1"/>
            <a:r>
              <a:rPr lang="tr-TR" dirty="0"/>
              <a:t>Yüz tanıma sistemleri → etnik farklılıklar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F2EE2-9799-AA89-3D6F-B69F4C1E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20AC-C150-D459-C9BC-086A41AC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2BEEC-6824-CFFA-4791-73B05DCF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7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4916</TotalTime>
  <Words>503</Words>
  <Application>Microsoft Office PowerPoint</Application>
  <PresentationFormat>Widescreen</PresentationFormat>
  <Paragraphs>106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Bölüm 10: Algoritmik Etik</vt:lpstr>
      <vt:lpstr>Giriş</vt:lpstr>
      <vt:lpstr>Algoritmik Adalet Kavramları</vt:lpstr>
      <vt:lpstr>Önyargı ve Ayrımcılık</vt:lpstr>
      <vt:lpstr>Etik İlkeler ve Standartlar</vt:lpstr>
      <vt:lpstr>Stratejik Tasarım ve Teşvikler</vt:lpstr>
      <vt:lpstr>Gerçek Hayat Uygulamaları</vt:lpstr>
      <vt:lpstr>Tartışma Soruları</vt:lpstr>
      <vt:lpstr>Algoritmalar her zaman tarafsız olabilir mi?</vt:lpstr>
      <vt:lpstr>Etik ve verimlilik arasındaki denge nasıl sağlanır?</vt:lpstr>
      <vt:lpstr>Algoritmik adaletin sağlanmasında en büyük zorluk?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Etik</dc:title>
  <dc:creator>sercan</dc:creator>
  <cp:lastModifiedBy>Sercan Kulcu</cp:lastModifiedBy>
  <cp:revision>351</cp:revision>
  <dcterms:created xsi:type="dcterms:W3CDTF">2023-01-12T09:23:55Z</dcterms:created>
  <dcterms:modified xsi:type="dcterms:W3CDTF">2025-09-28T07:54:17Z</dcterms:modified>
</cp:coreProperties>
</file>