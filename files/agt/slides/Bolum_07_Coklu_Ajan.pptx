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35" r:id="rId1"/>
  </p:sldMasterIdLst>
  <p:notesMasterIdLst>
    <p:notesMasterId r:id="rId14"/>
  </p:notesMasterIdLst>
  <p:sldIdLst>
    <p:sldId id="256" r:id="rId2"/>
    <p:sldId id="315" r:id="rId3"/>
    <p:sldId id="316" r:id="rId4"/>
    <p:sldId id="317" r:id="rId5"/>
    <p:sldId id="318" r:id="rId6"/>
    <p:sldId id="319" r:id="rId7"/>
    <p:sldId id="320" r:id="rId8"/>
    <p:sldId id="321" r:id="rId9"/>
    <p:sldId id="322" r:id="rId10"/>
    <p:sldId id="323" r:id="rId11"/>
    <p:sldId id="324" r:id="rId12"/>
    <p:sldId id="31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05BE1F-7669-4022-8D50-8115A32E15FC}" type="datetimeFigureOut">
              <a:rPr lang="tr-TR" smtClean="0"/>
              <a:t>27.09.2025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AC0638-78AE-41D6-9F5A-0F3CEA1F995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8814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C0638-78AE-41D6-9F5A-0F3CEA1F9952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72486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lang="en-US" sz="40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baseline="0" dirty="0">
                <a:solidFill>
                  <a:srgbClr val="002046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446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lang="en-US" sz="32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1pPr>
            <a:lvl2pPr marL="6858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20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r>
              <a:rPr lang="tr-TR" dirty="0"/>
              <a:t>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6834" y="6356350"/>
            <a:ext cx="6928834" cy="365125"/>
          </a:xfrm>
        </p:spPr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aseline="0"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5750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585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324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471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8012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5686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781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02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60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274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000" y="288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192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6" r:id="rId1"/>
    <p:sldLayoutId id="2147483937" r:id="rId2"/>
    <p:sldLayoutId id="2147483938" r:id="rId3"/>
    <p:sldLayoutId id="2147483939" r:id="rId4"/>
    <p:sldLayoutId id="2147483940" r:id="rId5"/>
    <p:sldLayoutId id="2147483941" r:id="rId6"/>
    <p:sldLayoutId id="2147483942" r:id="rId7"/>
    <p:sldLayoutId id="2147483943" r:id="rId8"/>
    <p:sldLayoutId id="2147483944" r:id="rId9"/>
    <p:sldLayoutId id="2147483945" r:id="rId10"/>
    <p:sldLayoutId id="2147483946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b="1" dirty="0"/>
              <a:t>Bölüm 7: Çoklu Ajan Sistemler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tr-TR" sz="2800" b="1" dirty="0" err="1"/>
              <a:t>Algoritmik</a:t>
            </a:r>
            <a:r>
              <a:rPr lang="tr-TR" sz="2800" b="1" dirty="0"/>
              <a:t> Oyun Kuramı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11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9ACA8-E9D8-B472-8FF2-F00068AB6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MAS Nedir?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A5F97-DEDF-6A0D-0CD5-A7E3748BA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Birden fazla otonom ajanın birlikte veya rekabet halinde çalıştığı sistem</a:t>
            </a:r>
          </a:p>
          <a:p>
            <a:r>
              <a:rPr lang="tr-TR" dirty="0"/>
              <a:t>Amaç: Karmaşık problemlere çözüm üretmek</a:t>
            </a:r>
          </a:p>
          <a:p>
            <a:r>
              <a:rPr lang="tr-TR" dirty="0"/>
              <a:t>Günlük örnekler:</a:t>
            </a:r>
          </a:p>
          <a:p>
            <a:pPr lvl="1"/>
            <a:r>
              <a:rPr lang="tr-TR" dirty="0"/>
              <a:t>Robot takımları</a:t>
            </a:r>
          </a:p>
          <a:p>
            <a:pPr lvl="1"/>
            <a:r>
              <a:rPr lang="tr-TR" dirty="0"/>
              <a:t>Dağıtık sensör ağları</a:t>
            </a:r>
          </a:p>
          <a:p>
            <a:pPr lvl="1"/>
            <a:r>
              <a:rPr lang="tr-TR" dirty="0"/>
              <a:t>Simülasyonlar (trafik, ekonomi)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B04DC-CAA4-9339-5D46-17E37C128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D1886-FFFF-A840-CAE8-C3F666F32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419FC6-B333-38AC-8E0E-356BA103B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988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E639E-2136-5B7D-DD97-8D48A415F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Ajan Kavramı ve Özellikleri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47971-FDBD-0E4E-7544-701ECAD5C6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Otonomi: Kendi başına karar verebilme</a:t>
            </a:r>
          </a:p>
          <a:p>
            <a:r>
              <a:rPr lang="tr-TR" dirty="0"/>
              <a:t>Reaktivite: Çevreye tepki verme</a:t>
            </a:r>
          </a:p>
          <a:p>
            <a:r>
              <a:rPr lang="tr-TR" dirty="0" err="1"/>
              <a:t>Proaktivite</a:t>
            </a:r>
            <a:r>
              <a:rPr lang="tr-TR" dirty="0"/>
              <a:t>: Hedefe ulaşmak için plan yapma</a:t>
            </a:r>
          </a:p>
          <a:p>
            <a:r>
              <a:rPr lang="tr-TR" dirty="0"/>
              <a:t>Sosyal yetenek: Diğer ajanlarla iletişim kurabilme</a:t>
            </a:r>
          </a:p>
          <a:p>
            <a:r>
              <a:rPr lang="tr-TR" dirty="0"/>
              <a:t>Örnek: Otonom araçlar, </a:t>
            </a:r>
            <a:r>
              <a:rPr lang="tr-TR" dirty="0" err="1"/>
              <a:t>dronelar</a:t>
            </a:r>
            <a:endParaRPr lang="tr-T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DDF6F-6083-25B2-F026-FAD147970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8A4DAA-3AB5-889E-A4C7-0CD8C40A6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4F1214-2216-F8EE-3663-4A9B29BE3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5986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0CA60-D43D-34FF-FDE6-9CA81BE0B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İşbirliği ve Rekabet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14F13A-A12E-8E15-9D43-C4F6BDECE4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Kooperatif MAS: Ortak hedef → koordinasyon ve paylaşım</a:t>
            </a:r>
          </a:p>
          <a:p>
            <a:r>
              <a:rPr lang="tr-TR" dirty="0"/>
              <a:t>Rekabetçi MAS: Farklı hedefler → stratejik davranış ve çatışma</a:t>
            </a:r>
          </a:p>
          <a:p>
            <a:r>
              <a:rPr lang="tr-TR" dirty="0"/>
              <a:t>Oyun kuramı örnekleri:</a:t>
            </a:r>
          </a:p>
          <a:p>
            <a:pPr lvl="1"/>
            <a:r>
              <a:rPr lang="tr-TR" dirty="0" err="1"/>
              <a:t>Prisoner’s</a:t>
            </a:r>
            <a:r>
              <a:rPr lang="tr-TR" dirty="0"/>
              <a:t> Dilemma → işbirliği </a:t>
            </a:r>
            <a:r>
              <a:rPr lang="tr-TR" dirty="0" err="1"/>
              <a:t>vs</a:t>
            </a:r>
            <a:r>
              <a:rPr lang="tr-TR" dirty="0"/>
              <a:t> rekabet</a:t>
            </a:r>
          </a:p>
          <a:p>
            <a:pPr lvl="1"/>
            <a:r>
              <a:rPr lang="tr-TR" dirty="0" err="1"/>
              <a:t>Common-pool</a:t>
            </a:r>
            <a:r>
              <a:rPr lang="tr-TR" dirty="0"/>
              <a:t> </a:t>
            </a:r>
            <a:r>
              <a:rPr lang="tr-TR" dirty="0" err="1"/>
              <a:t>resource</a:t>
            </a:r>
            <a:r>
              <a:rPr lang="tr-TR" dirty="0"/>
              <a:t> → kaynak paylaşımı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7F2352-A420-EEEE-903A-1C9B573A2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62318-B5F1-D0C6-CE8E-8517A40AE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65DB7-BCE0-3FEA-2753-9B4DA0998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9106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AC9B7-EDB8-B922-C396-311ADEABA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Karar Alma ve Planlama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A1B10-43AE-C904-40B5-6FB3154B4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Ajanlar çevresel bilgiye göre plan yapar</a:t>
            </a:r>
          </a:p>
          <a:p>
            <a:r>
              <a:rPr lang="tr-TR" dirty="0"/>
              <a:t>Merkezi karar: Tek kontrol noktası → hızlı ama esneklik az</a:t>
            </a:r>
          </a:p>
          <a:p>
            <a:r>
              <a:rPr lang="tr-TR" dirty="0"/>
              <a:t>Dağıtık karar: Her ajan bağımsız → koordinasyon zorlu ama esnek</a:t>
            </a:r>
          </a:p>
          <a:p>
            <a:r>
              <a:rPr lang="tr-TR" dirty="0"/>
              <a:t>Örnek: Trafik ışıkları, robotik keşif görevleri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14E32-A7C2-F2FD-B172-3CE843715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99B817-ABB1-E284-701C-6C08FBD2F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8FF61E-8727-6448-B438-0B9632C56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7221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FBE4B-C35B-C248-D3CE-42A6E9747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MAS’te</a:t>
            </a:r>
            <a:r>
              <a:rPr lang="tr-TR" dirty="0"/>
              <a:t> Oyun Teorisi ve Teşvikler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53F77-2804-2808-C809-DAE59F9DD2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Stratejik kararlar → </a:t>
            </a:r>
            <a:r>
              <a:rPr lang="tr-TR" dirty="0" err="1"/>
              <a:t>Nash</a:t>
            </a:r>
            <a:r>
              <a:rPr lang="tr-TR" dirty="0"/>
              <a:t> dengesi analizi</a:t>
            </a:r>
          </a:p>
          <a:p>
            <a:r>
              <a:rPr lang="tr-TR" dirty="0"/>
              <a:t>İşbirliğini teşvik eden mekanizmalar</a:t>
            </a:r>
          </a:p>
          <a:p>
            <a:r>
              <a:rPr lang="tr-TR" dirty="0"/>
              <a:t>Örnekler:</a:t>
            </a:r>
          </a:p>
          <a:p>
            <a:pPr lvl="1"/>
            <a:r>
              <a:rPr lang="tr-TR" dirty="0"/>
              <a:t>Enerji paylaşımı</a:t>
            </a:r>
          </a:p>
          <a:p>
            <a:pPr lvl="1"/>
            <a:r>
              <a:rPr lang="tr-TR" dirty="0"/>
              <a:t>Dağıtık ağ kaynak kullanımı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CBE333-A4E4-2B39-C916-F441B335A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9AE4C1-9C13-686F-C36A-6CA664CA9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5AD9D-1B7F-7F51-5E82-0762B89B1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4465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02238-A132-A73F-FA0D-2DFE58433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Gerçek Hayat Uygulamaları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A6B56-E7C3-FC77-6EDF-2AFA0AF71A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Otonom araçlar → trafik koordinasyonu</a:t>
            </a:r>
          </a:p>
          <a:p>
            <a:r>
              <a:rPr lang="tr-TR" dirty="0" err="1"/>
              <a:t>Drone</a:t>
            </a:r>
            <a:r>
              <a:rPr lang="tr-TR" dirty="0"/>
              <a:t> takımları → arama-kurtarma görevleri</a:t>
            </a:r>
          </a:p>
          <a:p>
            <a:r>
              <a:rPr lang="tr-TR" dirty="0"/>
              <a:t>Online pazaryerleri → alıcı-satıcı etkileşimleri</a:t>
            </a:r>
          </a:p>
          <a:p>
            <a:r>
              <a:rPr lang="tr-TR" dirty="0"/>
              <a:t>Simülasyon: Katılımcı ajanlar ile karar alma deneyleri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B4E7C5-088C-8E8E-B25C-5F8C33DE8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72B8EC-6C7F-44D5-D9EA-D70FB07EF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5F6276-AF9D-0FDC-9880-E24AF6800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17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B1D38-9874-CDAA-C124-977F9FEFF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Tartışma Soruları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43D9F-7FCB-DC50-8F42-4871EB0C1E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Ajanlar tamamen otonom olmalı mı yoksa merkezi kontrol mü olmalı?</a:t>
            </a:r>
          </a:p>
          <a:p>
            <a:r>
              <a:rPr lang="tr-TR" dirty="0"/>
              <a:t>İşbirliği veya rekabet </a:t>
            </a:r>
            <a:r>
              <a:rPr lang="tr-TR" dirty="0" err="1"/>
              <a:t>MAS’te</a:t>
            </a:r>
            <a:r>
              <a:rPr lang="tr-TR" dirty="0"/>
              <a:t> hangi durumlarda daha verimli?</a:t>
            </a:r>
          </a:p>
          <a:p>
            <a:r>
              <a:rPr lang="tr-TR" dirty="0"/>
              <a:t>Teşvik tasarımı MAS performansını nasıl etkiler?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0DC25-7A3E-90F6-D8C0-1617CA16A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DB09FF-53C9-F2B5-D204-93B86AB64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2610C6-3923-B323-ACB1-869B8CB4D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0218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56604-7508-6A16-0121-CA23B2169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Ajanlar otonom mu olmalı mı, merkezi kontrol mü olmalı?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1A1DF-94CB-4F8D-F36C-5262005342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Tam otonomi:</a:t>
            </a:r>
          </a:p>
          <a:p>
            <a:pPr lvl="1"/>
            <a:r>
              <a:rPr lang="tr-TR" dirty="0"/>
              <a:t>Avantaj: Esnek, ölçeklenebilir, hızlı tepki</a:t>
            </a:r>
          </a:p>
          <a:p>
            <a:pPr lvl="1"/>
            <a:r>
              <a:rPr lang="tr-TR" dirty="0"/>
              <a:t>Dezavantaj: Koordinasyon zor, çatışma riski yüksek</a:t>
            </a:r>
          </a:p>
          <a:p>
            <a:pPr lvl="1"/>
            <a:r>
              <a:rPr lang="tr-TR" dirty="0"/>
              <a:t>Örnek: </a:t>
            </a:r>
            <a:r>
              <a:rPr lang="tr-TR" dirty="0" err="1"/>
              <a:t>Drone</a:t>
            </a:r>
            <a:r>
              <a:rPr lang="tr-TR" dirty="0"/>
              <a:t> takımları, otonom araçlar</a:t>
            </a:r>
          </a:p>
          <a:p>
            <a:r>
              <a:rPr lang="tr-TR" dirty="0"/>
              <a:t>Merkezi kontrol:</a:t>
            </a:r>
          </a:p>
          <a:p>
            <a:pPr lvl="1"/>
            <a:r>
              <a:rPr lang="tr-TR" dirty="0"/>
              <a:t>Avantaj: Daha kolay koordinasyon, çatışma riski düşük</a:t>
            </a:r>
          </a:p>
          <a:p>
            <a:pPr lvl="1"/>
            <a:r>
              <a:rPr lang="tr-TR" dirty="0"/>
              <a:t>Dezavantaj: Tek nokta hatası, esneklik az</a:t>
            </a:r>
          </a:p>
          <a:p>
            <a:pPr lvl="1"/>
            <a:r>
              <a:rPr lang="tr-TR" dirty="0"/>
              <a:t>Örnek: Trafik ışığı yönetim sistemi, dağıtık sensörlerde merkezî sunucu</a:t>
            </a:r>
          </a:p>
          <a:p>
            <a:r>
              <a:rPr lang="tr-TR" dirty="0"/>
              <a:t>Çoğu MAS hibrit yaklaşımı tercih eder → otonom + merkezi denetim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33106-A6EA-CDE6-79E8-065EEB778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FA38B-7B01-1FC9-B418-DA395AF4F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6E69FD-7F0B-4F9C-6D7F-D7980C43D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379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56E75-E5D1-3A67-7EE5-9BAA6D83F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İşbirliği veya rekabet hangi durumlarda daha verimli?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23C25-36D8-5787-78F3-563DE122F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İşbirliği:</a:t>
            </a:r>
          </a:p>
          <a:p>
            <a:pPr lvl="1"/>
            <a:r>
              <a:rPr lang="tr-TR" dirty="0"/>
              <a:t>Ortak hedef → kaynaklar daha verimli kullanılır</a:t>
            </a:r>
          </a:p>
          <a:p>
            <a:pPr lvl="1"/>
            <a:r>
              <a:rPr lang="tr-TR" dirty="0"/>
              <a:t>Örnek: Arama-kurtarma görevlerinde </a:t>
            </a:r>
            <a:r>
              <a:rPr lang="tr-TR" dirty="0" err="1"/>
              <a:t>drone</a:t>
            </a:r>
            <a:r>
              <a:rPr lang="tr-TR" dirty="0"/>
              <a:t> takımı</a:t>
            </a:r>
          </a:p>
          <a:p>
            <a:r>
              <a:rPr lang="tr-TR" dirty="0"/>
              <a:t>Rekabet:</a:t>
            </a:r>
          </a:p>
          <a:p>
            <a:pPr lvl="1"/>
            <a:r>
              <a:rPr lang="tr-TR" dirty="0"/>
              <a:t>Farklı hedefler → stratejik davranış ve optimizasyon</a:t>
            </a:r>
          </a:p>
          <a:p>
            <a:pPr lvl="1"/>
            <a:r>
              <a:rPr lang="tr-TR" dirty="0"/>
              <a:t>Örnek: Enerji paylaşımı veya dağıtık ağ kaynak kullanımı</a:t>
            </a:r>
          </a:p>
          <a:p>
            <a:r>
              <a:rPr lang="tr-TR" dirty="0"/>
              <a:t>Hangi yaklaşım daha verimli → sistemin amacı ve kaynak yapısına bağlıdır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1F7AC4-E3DA-4B3D-8DEA-601CAE516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32AF17-1C33-6F22-0986-8E71A8A0F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39680B-0F6D-A02C-A186-C92AC4930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4244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B7B84-39E0-F577-7463-E488415AB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Teşvik tasarımı MAS performansını nasıl etkiler?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9EB3C-B4A5-F85C-EACB-1E4C2947B7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Doğru teşvik → işbirliğini artırır ve çatışmayı azaltır</a:t>
            </a:r>
          </a:p>
          <a:p>
            <a:r>
              <a:rPr lang="tr-TR" dirty="0"/>
              <a:t>Yanlış teşvik → stratejik, bencil davranışa yol açar</a:t>
            </a:r>
          </a:p>
          <a:p>
            <a:r>
              <a:rPr lang="tr-TR" dirty="0"/>
              <a:t>Örnekler:</a:t>
            </a:r>
          </a:p>
          <a:p>
            <a:pPr lvl="1"/>
            <a:r>
              <a:rPr lang="tr-TR" dirty="0"/>
              <a:t>Enerji paylaşımı: Teşvikler dengeli → herkes yeterli </a:t>
            </a:r>
            <a:r>
              <a:rPr lang="tr-TR"/>
              <a:t>enerji alır</a:t>
            </a:r>
          </a:p>
          <a:p>
            <a:pPr lvl="1"/>
            <a:r>
              <a:rPr lang="tr-TR" dirty="0"/>
              <a:t>Online pazaryerleri: Yanlış teşvik → bazı satıcılar aşırı risk alır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53D6D0-DEAD-AFDC-3F1F-DBCDA9E22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ED10E-3FD3-E39A-1B18-C07FDF9BA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B979D2-44EB-1A64-8325-E4026841A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0398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pPr marL="0" indent="0" algn="ctr">
              <a:buNone/>
            </a:pPr>
            <a:r>
              <a:rPr lang="tr-TR" dirty="0"/>
              <a:t>SON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592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4884</TotalTime>
  <Words>520</Words>
  <Application>Microsoft Office PowerPoint</Application>
  <PresentationFormat>Widescreen</PresentationFormat>
  <Paragraphs>107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Wingdings</vt:lpstr>
      <vt:lpstr>Office Theme</vt:lpstr>
      <vt:lpstr>Bölüm 7: Çoklu Ajan Sistemler</vt:lpstr>
      <vt:lpstr>MAS Nedir?</vt:lpstr>
      <vt:lpstr>Ajan Kavramı ve Özellikleri</vt:lpstr>
      <vt:lpstr>İşbirliği ve Rekabet</vt:lpstr>
      <vt:lpstr>Karar Alma ve Planlama</vt:lpstr>
      <vt:lpstr>MAS’te Oyun Teorisi ve Teşvikler</vt:lpstr>
      <vt:lpstr>Gerçek Hayat Uygulamaları</vt:lpstr>
      <vt:lpstr>Tartışma Soruları</vt:lpstr>
      <vt:lpstr>Ajanlar otonom mu olmalı mı, merkezi kontrol mü olmalı?</vt:lpstr>
      <vt:lpstr>İşbirliği veya rekabet hangi durumlarda daha verimli?</vt:lpstr>
      <vt:lpstr>Teşvik tasarımı MAS performansını nasıl etkiler?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Coklu Ajan</dc:title>
  <dc:creator>sercan</dc:creator>
  <cp:lastModifiedBy>Sercan Kulcu</cp:lastModifiedBy>
  <cp:revision>339</cp:revision>
  <dcterms:created xsi:type="dcterms:W3CDTF">2023-01-12T09:23:55Z</dcterms:created>
  <dcterms:modified xsi:type="dcterms:W3CDTF">2025-09-26T22:17:24Z</dcterms:modified>
</cp:coreProperties>
</file>