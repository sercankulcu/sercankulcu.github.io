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56"/>
  </p:notesMasterIdLst>
  <p:sldIdLst>
    <p:sldId id="256" r:id="rId2"/>
    <p:sldId id="315" r:id="rId3"/>
    <p:sldId id="316" r:id="rId4"/>
    <p:sldId id="317" r:id="rId5"/>
    <p:sldId id="318" r:id="rId6"/>
    <p:sldId id="319" r:id="rId7"/>
    <p:sldId id="324" r:id="rId8"/>
    <p:sldId id="325" r:id="rId9"/>
    <p:sldId id="320" r:id="rId10"/>
    <p:sldId id="321" r:id="rId11"/>
    <p:sldId id="326" r:id="rId12"/>
    <p:sldId id="322" r:id="rId13"/>
    <p:sldId id="323" r:id="rId14"/>
    <p:sldId id="327" r:id="rId15"/>
    <p:sldId id="328" r:id="rId16"/>
    <p:sldId id="329" r:id="rId17"/>
    <p:sldId id="330" r:id="rId18"/>
    <p:sldId id="331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3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  <p:sldId id="356" r:id="rId44"/>
    <p:sldId id="357" r:id="rId45"/>
    <p:sldId id="358" r:id="rId46"/>
    <p:sldId id="359" r:id="rId47"/>
    <p:sldId id="360" r:id="rId48"/>
    <p:sldId id="361" r:id="rId49"/>
    <p:sldId id="362" r:id="rId50"/>
    <p:sldId id="363" r:id="rId51"/>
    <p:sldId id="375" r:id="rId52"/>
    <p:sldId id="364" r:id="rId53"/>
    <p:sldId id="365" r:id="rId54"/>
    <p:sldId id="312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2.10.2025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2: Oyun Kuramına Giriş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 Teorisi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Rasyonel karar vericiler arasındaki çatışma ve işbirliğini inceleyen matematiksel modeller.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İçindekiler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Oyun Temsilleri (</a:t>
            </a:r>
            <a:r>
              <a:rPr lang="tr-TR" i="1" dirty="0"/>
              <a:t>Game </a:t>
            </a:r>
            <a:r>
              <a:rPr lang="tr-TR" i="1" dirty="0" err="1"/>
              <a:t>Representations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Oyunların grafik ve matematiksel modelleri</a:t>
            </a:r>
          </a:p>
          <a:p>
            <a:r>
              <a:rPr lang="tr-TR" dirty="0"/>
              <a:t>Oyunların Sınıflandırılması </a:t>
            </a:r>
            <a:r>
              <a:rPr lang="tr-TR" b="1" dirty="0"/>
              <a:t>(</a:t>
            </a:r>
            <a:r>
              <a:rPr lang="tr-TR" i="1" dirty="0" err="1"/>
              <a:t>Classification</a:t>
            </a:r>
            <a:r>
              <a:rPr lang="tr-TR" i="1" dirty="0"/>
              <a:t> of Games</a:t>
            </a:r>
            <a:r>
              <a:rPr lang="tr-TR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İşbirlikçi ve işbirlikçi olmayan oyunlar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Simetrik ve asimetrik oyunlar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Sıfır toplamlı ve sıfır toplamlı olmayan oyunlar</a:t>
            </a:r>
          </a:p>
          <a:p>
            <a:r>
              <a:rPr lang="tr-TR" dirty="0"/>
              <a:t>Yaygın Oyunlar (</a:t>
            </a:r>
            <a:r>
              <a:rPr lang="tr-TR" i="1" dirty="0" err="1"/>
              <a:t>Commonly</a:t>
            </a:r>
            <a:r>
              <a:rPr lang="tr-TR" i="1" dirty="0"/>
              <a:t> </a:t>
            </a:r>
            <a:r>
              <a:rPr lang="tr-TR" i="1" dirty="0" err="1"/>
              <a:t>Known</a:t>
            </a:r>
            <a:r>
              <a:rPr lang="tr-TR" i="1" dirty="0"/>
              <a:t> Games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Esirlerin İkilemi, </a:t>
            </a:r>
          </a:p>
          <a:p>
            <a:pPr lvl="1"/>
            <a:r>
              <a:rPr lang="tr-TR" dirty="0"/>
              <a:t>Koordinasyon Oyunu, </a:t>
            </a:r>
          </a:p>
          <a:p>
            <a:pPr lvl="1"/>
            <a:r>
              <a:rPr lang="tr-TR" dirty="0"/>
              <a:t>Tavuk Oyunu vb.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20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İçindekiler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Nash</a:t>
            </a:r>
            <a:r>
              <a:rPr lang="tr-TR" dirty="0"/>
              <a:t> Dengesi (</a:t>
            </a:r>
            <a:r>
              <a:rPr lang="tr-TR" i="1" dirty="0" err="1"/>
              <a:t>Nash</a:t>
            </a:r>
            <a:r>
              <a:rPr lang="tr-TR" i="1" dirty="0"/>
              <a:t> </a:t>
            </a:r>
            <a:r>
              <a:rPr lang="tr-TR" i="1" dirty="0" err="1"/>
              <a:t>Equilibrium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Rasyonel stratejiler ve denge durumu</a:t>
            </a:r>
          </a:p>
          <a:p>
            <a:r>
              <a:rPr lang="tr-TR" dirty="0"/>
              <a:t>Genişletilmiş Form Oyunları (</a:t>
            </a:r>
            <a:r>
              <a:rPr lang="tr-TR" i="1" dirty="0" err="1"/>
              <a:t>Extensive</a:t>
            </a:r>
            <a:r>
              <a:rPr lang="tr-TR" i="1" dirty="0"/>
              <a:t>-Form Games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Ağaç yapısında karar alma süreçleri</a:t>
            </a:r>
          </a:p>
          <a:p>
            <a:r>
              <a:rPr lang="tr-TR" dirty="0"/>
              <a:t>Tekrarlanan Oyunlar (</a:t>
            </a:r>
            <a:r>
              <a:rPr lang="tr-TR" i="1" dirty="0" err="1"/>
              <a:t>Repeated</a:t>
            </a:r>
            <a:r>
              <a:rPr lang="tr-TR" i="1" dirty="0"/>
              <a:t> Games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Stratejik etkileşimlerin tekrarları</a:t>
            </a:r>
          </a:p>
          <a:p>
            <a:r>
              <a:rPr lang="tr-TR" dirty="0" err="1"/>
              <a:t>Bayes</a:t>
            </a:r>
            <a:r>
              <a:rPr lang="tr-TR" dirty="0"/>
              <a:t> Tabanlı Oyunlar (</a:t>
            </a:r>
            <a:r>
              <a:rPr lang="tr-TR" i="1" dirty="0" err="1"/>
              <a:t>Bayesian</a:t>
            </a:r>
            <a:r>
              <a:rPr lang="tr-TR" i="1" dirty="0"/>
              <a:t> Games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Bilgi asimetrisi altında karar verme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7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İçindekiler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Koalisyonel</a:t>
            </a:r>
            <a:r>
              <a:rPr lang="tr-TR" dirty="0"/>
              <a:t> Oyunlar (</a:t>
            </a:r>
            <a:r>
              <a:rPr lang="tr-TR" i="1" dirty="0" err="1"/>
              <a:t>Coalitional</a:t>
            </a:r>
            <a:r>
              <a:rPr lang="tr-TR" i="1" dirty="0"/>
              <a:t> Games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Koalisyonlar ve kolektif karar alma süreçleri</a:t>
            </a:r>
          </a:p>
          <a:p>
            <a:r>
              <a:rPr lang="tr-TR" dirty="0"/>
              <a:t>Sosyal Tercih (</a:t>
            </a:r>
            <a:r>
              <a:rPr lang="tr-TR" i="1" dirty="0" err="1"/>
              <a:t>Social</a:t>
            </a:r>
            <a:r>
              <a:rPr lang="tr-TR" i="1" dirty="0"/>
              <a:t> </a:t>
            </a:r>
            <a:r>
              <a:rPr lang="tr-TR" i="1" dirty="0" err="1"/>
              <a:t>Choice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Toplumsal karar alma mekanizmaları</a:t>
            </a:r>
          </a:p>
          <a:p>
            <a:r>
              <a:rPr lang="tr-TR" dirty="0"/>
              <a:t>Mekanizma Tasarımı (</a:t>
            </a:r>
            <a:r>
              <a:rPr lang="tr-TR" i="1" dirty="0" err="1"/>
              <a:t>Mechanism</a:t>
            </a:r>
            <a:r>
              <a:rPr lang="tr-TR" i="1" dirty="0"/>
              <a:t> Design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İstenen sonuçları elde etme süreci</a:t>
            </a:r>
          </a:p>
          <a:p>
            <a:r>
              <a:rPr lang="tr-TR" dirty="0"/>
              <a:t>VCG (</a:t>
            </a:r>
            <a:r>
              <a:rPr lang="tr-TR" i="1" dirty="0" err="1"/>
              <a:t>Vickrey</a:t>
            </a:r>
            <a:r>
              <a:rPr lang="tr-TR" i="1" dirty="0"/>
              <a:t>-Clarke-</a:t>
            </a:r>
            <a:r>
              <a:rPr lang="tr-TR" i="1" dirty="0" err="1"/>
              <a:t>Groves</a:t>
            </a:r>
            <a:r>
              <a:rPr lang="tr-TR" dirty="0"/>
              <a:t>) Mekanizması</a:t>
            </a:r>
          </a:p>
          <a:p>
            <a:pPr lvl="1"/>
            <a:r>
              <a:rPr lang="tr-TR" dirty="0"/>
              <a:t>Gerçek doğruluğu teşvik eden ödeme mekanizması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36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 Temsilleri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Oyuncular: karar vericiler kimlerdir?</a:t>
            </a:r>
            <a:endParaRPr lang="tr-T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İnsanlar mı?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Hükümetler mi?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Şirketler mi?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Bir şirket tarafından istihdam edilen biri mi?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52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 Temsilleri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Eylemler: oyuncular ne yapabilir?</a:t>
            </a:r>
            <a:endParaRPr lang="tr-T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Bir açık artırmada teklif mi verirler?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Grevi bitirip bitirmemeye mi karar verirler?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Bir hisse senedini ne zaman satacaklarına mı karar verirler?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Nasıl oy vereceklerine mi karar verirler?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1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 Temsilleri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Ödüller: oyuncuları ne motive eder?</a:t>
            </a:r>
            <a:endParaRPr lang="tr-T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Kâr mı?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Diğer oyuncular mı?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1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Oyuncuların eylemleri sonucunda kazançlarını listeleyen gösterim şeklidir.</a:t>
            </a:r>
          </a:p>
          <a:p>
            <a:r>
              <a:rPr lang="tr-TR" dirty="0"/>
              <a:t>Oyuncuların eylemlerinin sırası veya zamanlaması dikkate alınmaz.</a:t>
            </a:r>
          </a:p>
          <a:p>
            <a:r>
              <a:rPr lang="tr-TR" dirty="0"/>
              <a:t>Matris ile temsil edilir.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7F6A7D2-5CF5-E0C6-17A9-EC9B9E918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827685"/>
              </p:ext>
            </p:extLst>
          </p:nvPr>
        </p:nvGraphicFramePr>
        <p:xfrm>
          <a:off x="3396000" y="3747247"/>
          <a:ext cx="5400000" cy="18556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86868712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73025373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307888330"/>
                    </a:ext>
                  </a:extLst>
                </a:gridCol>
              </a:tblGrid>
              <a:tr h="618565">
                <a:tc>
                  <a:txBody>
                    <a:bodyPr/>
                    <a:lstStyle/>
                    <a:p>
                      <a:pPr algn="ctr"/>
                      <a:endParaRPr lang="tr-T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Sessiz Kal</a:t>
                      </a:r>
                      <a:endParaRPr lang="tr-T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İhanet Et</a:t>
                      </a:r>
                      <a:endParaRPr lang="tr-TR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305125"/>
                  </a:ext>
                </a:extLst>
              </a:tr>
              <a:tr h="618565">
                <a:tc>
                  <a:txBody>
                    <a:bodyPr/>
                    <a:lstStyle/>
                    <a:p>
                      <a:r>
                        <a:rPr lang="tr-TR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Sessiz Kal</a:t>
                      </a:r>
                      <a:endParaRPr lang="tr-T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 -1</a:t>
                      </a:r>
                      <a:endParaRPr lang="tr-T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-3, 0</a:t>
                      </a:r>
                      <a:endParaRPr lang="tr-TR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996072"/>
                  </a:ext>
                </a:extLst>
              </a:tr>
              <a:tr h="618565">
                <a:tc>
                  <a:txBody>
                    <a:bodyPr/>
                    <a:lstStyle/>
                    <a:p>
                      <a:r>
                        <a:rPr lang="tr-T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İhanet Et</a:t>
                      </a:r>
                      <a:endParaRPr lang="tr-TR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 -3</a:t>
                      </a:r>
                      <a:endParaRPr lang="tr-TR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 -2</a:t>
                      </a:r>
                      <a:endParaRPr lang="tr-T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390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359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Genişletilmiş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Hareketlerin zamanlamasını dikkate alır.</a:t>
            </a:r>
          </a:p>
          <a:p>
            <a:r>
              <a:rPr lang="tr-TR" dirty="0"/>
              <a:t>Ağaç yapısı ile temsil edilir.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3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0C89-F508-2815-27D6-DAD6BEDF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Oyunların Sınıflandırılması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6F974-377A-FA48-23EE-3271354E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7D83-9ECC-C15C-39B3-F7173838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1E8FC-9C1C-8D66-ED66-04900105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FCEA1-B50D-A29A-E64E-A548401D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77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Eşzamanlı Oyunlar (Strateji Oyunları)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Her iki oyuncunun aynı anda hamle yaptığı veya birinin diğerinin hamlesinden habersiz olduğu oyunlardır.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Genellikle </a:t>
            </a:r>
            <a:r>
              <a:rPr lang="tr-TR" i="1" dirty="0"/>
              <a:t>normal form</a:t>
            </a:r>
            <a:r>
              <a:rPr lang="tr-TR" dirty="0"/>
              <a:t> kullanılarak temsil edilir.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Esirlerin İkilemi.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Oyuncular, diğerlerinin kararlarını bilmeden kendi stratejilerini belirler.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Stratejik belirsizlik yüksektir.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073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Sıralı Oyunlar (Genişletilmiş Oyunlar)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Sonraki oyuncuların, önceki oyuncuların hamleleri hakkında bilgi sahibi olduğu oyunlardır.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Genellikle </a:t>
            </a:r>
            <a:r>
              <a:rPr lang="tr-TR" i="1" dirty="0"/>
              <a:t>genişletilmiş form</a:t>
            </a:r>
            <a:r>
              <a:rPr lang="tr-TR" dirty="0"/>
              <a:t> kullanılarak temsil edilir.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Satranç, rekabetçi piyasalarda fiyat belirleme.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Bilgi avantajı, oyuncuların stratejilerini etkiler.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Stratejik planlama daha karmaşıktır ve gelecekteki hamleler dikkate alınır.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706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Kooperatif İşbirlikçi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Oyuncuların, dışarıdan zorlayıcı bağlayıcı taahhütler oluşturabildiği oyunlardır (örneğin, sözleşme hukuku ile).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Oyuncular arasında koalisyonlar ve ittifaklar kurulur.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Paylaşılan kazanç veya faydalar üzerine müzakereler yapılır.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Adil bölüşüm ilkeleri önemlidir.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Ortaklık kurma, birleşme ve satın alma süreçleri.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Oyuncular, toplu olarak daha iyi sonuçlar elde etmek için yapabilirler.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Dış denetim veya hukuki araçlar, anlaşmaların uygulanmasını sağlar.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1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Kooperatif İşbirlikçi Olmayan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Oyuncuların ittifak kuramadığı veya tüm anlaşmaların kendi kendine uygulanabilir olması gerektiği oyunlardır.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oyuncu kendi çıkarını maksimize etmeye çalışır.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Anlaşmalar, diğer oyuncuların caydırıcı olabilecek tepkilerine dayanır.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Rekabet ve çatışma unsurları ön plandadır.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Rekabetçi pazarlar, esirlerin ikilemi.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 arasında işbirliği yoktur veya sınırlıdır.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Stratejik davranış, güven ve caydırıcılık mekanizmaları üzerine kuruludur.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06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Sıfır Toplamlı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Her bir katılımcının faydasındaki kazanç veya kaybın, diğer katılımcıların faydasındaki kayıp veya kazançlarla tam olarak dengelendiği oyunlardır.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Toplam fayda sıfırdır; bir oyuncunun kazancı, diğerinin kaybıdır.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Rekabetçi bir yapıdadır; tek taraflı kazanç ön plandadır.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Satranç, poker, spor müsabakaları.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 sonunda, tüm oyuncuların kazanç ve kayıplarının toplamı sıfırdır.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Stratejiler, rakibin kaybı üzerine odaklanır.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918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Sıfır Toplamlı Olmayan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Oyuncuların toplam kazanç ve kayıplarının sıfırdan farklı olabileceği oyunlardır; toplam kazanç veya kayıp sıfırdan büyük veya küçük olabilir.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İşbirliği ve rekabet bir arada olabilir.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Tüm tarafların kazançlı çıktığı durumlar mümkün olabilir.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İletişim ve müzakere, oyunun seyrini değiştirebilir.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Ticaret müzakereleri, pazarlık süreçleri, çevre anlaşmaları.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Taraflar arasında hem kazanç hem kayıplar olabilir, ancak toplam fayda sıfır değildir.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Stratejik işbirliği, tüm tarafların kazançlı çıkmasını sağlayabilir.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296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Tam Bilgili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Tüm oyuncuların, diğer oyuncular tarafından daha önce yapılan hamleleri bildiği oyunlardır.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 tamamen şeffaftır; hiçbir bilgi gizlenmez.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Oyuncular, tüm geçmiş hamleleri bilerek strateji geliştirir.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 genellikle sıra tabanlıdır.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Satranç, dama, </a:t>
            </a:r>
            <a:r>
              <a:rPr lang="tr-TR" dirty="0" err="1"/>
              <a:t>go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Stratejik analiz ve ileriye dönük düşünme kritik öneme sahiptir.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Her oyuncunun bilgisi, oyunun gelecekteki gidişatını etkiler.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01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Eksik Bilgili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Bazı oyuncuların, diğer oyuncular tarafından daha önce yapılan hamleleri bilmediği oyunlardır.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Bilgi eksikliği veya belirsizlik mevcuttur.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Oyuncular, eksik bilgiyle strateji geliştirmek zorundadır.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Belirsizlik, riski artırır ve stratejik tahminler önem kazanır.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Poker, savaş oyunları, gizli açık artırmalar.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Eksik bilgi, stratejik karar alma sürecini zorlaştırır.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Risk yönetimi ve olasılık hesapları stratejinin merkezinde yer alır.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97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Sonlu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Sınırlı sayıda hamle içerir.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Belirli sürede sona eren oyunlardır.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Oyun, belirli bir hamle sayısının ardından sona erer.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Stratejiler, oyunun sonuna doğru yoğunlaşabilir.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 süresi belirli olduğundan, stratejik planlama daha öngörülebilir olabilir.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Satranç, dama, futbol maçları.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Oyuncular, oyunun sona ereceğini bilerek strateji geliştirirler.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Son hamleler, oyunun sonucunu belirlemede kritik rol oynar.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894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Sonsuz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Sonsuz sayıda hamle içerir.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Teorik olarak sonsuza dek sürebilecek oyun.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Oyun, belirli bir sonla sınırlı değildir; devam edebilir.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Stratejiler, uzun vadeli düşünmeyi gerektirir.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İşbirliği ve sürdürülebilir stratejiler önem kazanır.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Örnek:</a:t>
            </a:r>
            <a:r>
              <a:rPr lang="tr-TR" dirty="0"/>
              <a:t> Sürekli fiyat rekabeti, tekrarlanan pazarlık süreçleri.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Oyuncular, sürekli bir stratejik döngü içinde hareket ederler.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Uzun vadeli denge ve işbirliği, sürdürülebilir kazançlar elde etmek için gereklidir.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70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Yaygın Bilinen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431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Esirlerin İkilemi (</a:t>
            </a:r>
            <a:r>
              <a:rPr lang="tr-TR" dirty="0" err="1"/>
              <a:t>Prisoner's</a:t>
            </a:r>
            <a:r>
              <a:rPr lang="tr-TR" dirty="0"/>
              <a:t> Dilemma)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		Sessiz Kal	İhanet Et</a:t>
            </a:r>
          </a:p>
          <a:p>
            <a:pPr marL="0" indent="0">
              <a:buNone/>
            </a:pPr>
            <a:r>
              <a:rPr lang="tr-TR" dirty="0"/>
              <a:t>Sessiz Kal	(-1, -1)	(-3, 0)</a:t>
            </a:r>
          </a:p>
          <a:p>
            <a:pPr marL="0" indent="0">
              <a:buNone/>
            </a:pPr>
            <a:r>
              <a:rPr lang="tr-TR" dirty="0"/>
              <a:t>İhanet Et	( 0, -3)		(-2, -2)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66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Esirlerin İkilemi (</a:t>
            </a:r>
            <a:r>
              <a:rPr lang="tr-TR" dirty="0" err="1"/>
              <a:t>Prisoner's</a:t>
            </a:r>
            <a:r>
              <a:rPr lang="tr-TR" dirty="0"/>
              <a:t> Dilemma)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Dengesi (NE): </a:t>
            </a:r>
            <a:r>
              <a:rPr lang="tr-TR" dirty="0"/>
              <a:t>Her iki oyuncunun da diğerinin stratejisini değiştirmediği durumda en iyi stratejiyi seçtiği noktadır.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1 adet NE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</a:t>
            </a:r>
            <a:r>
              <a:rPr lang="tr-TR" b="1" dirty="0"/>
              <a:t>ihanet eder</a:t>
            </a:r>
            <a:r>
              <a:rPr lang="tr-T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Oyuncu 1 için: İhanet Et, her iki sütunda da Sesiz </a:t>
            </a:r>
            <a:r>
              <a:rPr lang="tr-TR" dirty="0" err="1"/>
              <a:t>Kal'dan</a:t>
            </a:r>
            <a:r>
              <a:rPr lang="tr-TR" dirty="0"/>
              <a:t> daha </a:t>
            </a:r>
            <a:r>
              <a:rPr lang="tr-TR"/>
              <a:t>iyi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tr-TR"/>
              <a:t>(</a:t>
            </a:r>
            <a:r>
              <a:rPr lang="tr-TR" dirty="0"/>
              <a:t>0 &gt; -1 ve -2 &gt; -3).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Bu, </a:t>
            </a:r>
            <a:r>
              <a:rPr lang="tr-TR" b="1" dirty="0"/>
              <a:t>baskın stratejiler</a:t>
            </a:r>
            <a:r>
              <a:rPr lang="tr-TR" dirty="0"/>
              <a:t> </a:t>
            </a:r>
            <a:r>
              <a:rPr lang="tr-TR" dirty="0" err="1"/>
              <a:t>Nash</a:t>
            </a:r>
            <a:r>
              <a:rPr lang="tr-TR" dirty="0"/>
              <a:t> dengesidir.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Bu oyun sonucunda elde edilen denge, </a:t>
            </a:r>
            <a:r>
              <a:rPr lang="tr-TR" b="1" dirty="0" err="1"/>
              <a:t>Pareto</a:t>
            </a:r>
            <a:r>
              <a:rPr lang="tr-TR" b="1" dirty="0"/>
              <a:t> optimal</a:t>
            </a:r>
            <a:r>
              <a:rPr lang="tr-TR" dirty="0"/>
              <a:t> değildir.</a:t>
            </a:r>
          </a:p>
          <a:p>
            <a:r>
              <a:rPr lang="tr-TR" dirty="0"/>
              <a:t>İki mahkum kendi çıkarlarını düşündüklerinde ikisinin de kötü bir sonuç alacağı dengeye ulaşır, oysa ikisi de işbirliği yapsa çok daha iyi bir toplu sonuç elde edebilirlerdi.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121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Esirlerin İkilemi (</a:t>
            </a:r>
            <a:r>
              <a:rPr lang="tr-TR" dirty="0" err="1"/>
              <a:t>Prisoner's</a:t>
            </a:r>
            <a:r>
              <a:rPr lang="tr-TR" dirty="0"/>
              <a:t> Dilemma)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Baskın Strateji:</a:t>
            </a:r>
            <a:r>
              <a:rPr lang="tr-TR" dirty="0"/>
              <a:t> İhanet etmek, her iki oyuncu için de baskın stratejidir, çünkü bu durumda her iki oyuncu da diğerinin hamlesine bakılmaksızın en iyi sonucu elde eder.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Pareto</a:t>
            </a:r>
            <a:r>
              <a:rPr lang="tr-TR" b="1" dirty="0"/>
              <a:t> Optimum:</a:t>
            </a:r>
            <a:r>
              <a:rPr lang="tr-TR" dirty="0"/>
              <a:t> Bir oyuncunun durumunu iyileştirmeden diğerini daha kötü duruma getirmeyen bir durumdur. Bu oyunda, her iki oyuncunun da ihanet etmesi </a:t>
            </a:r>
            <a:r>
              <a:rPr lang="tr-TR" dirty="0" err="1"/>
              <a:t>Pareto</a:t>
            </a:r>
            <a:r>
              <a:rPr lang="tr-TR" dirty="0"/>
              <a:t> optimal değildir, çünkü her iki oyuncu da sessiz kalarak daha iyi bir sonuca ulaşabilir.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21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Matching</a:t>
            </a:r>
            <a:r>
              <a:rPr lang="tr-TR" dirty="0"/>
              <a:t> </a:t>
            </a:r>
            <a:r>
              <a:rPr lang="tr-TR" dirty="0" err="1"/>
              <a:t>Pennies</a:t>
            </a:r>
            <a:r>
              <a:rPr lang="tr-TR" dirty="0"/>
              <a:t> Oyunu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		Yazı Oyna	Tura Oyna</a:t>
            </a:r>
          </a:p>
          <a:p>
            <a:pPr marL="0" indent="0">
              <a:buNone/>
            </a:pPr>
            <a:r>
              <a:rPr lang="tr-TR" dirty="0"/>
              <a:t>Yazı Oyna	(1, -1)		(-1, 1)</a:t>
            </a:r>
          </a:p>
          <a:p>
            <a:pPr marL="0" indent="0">
              <a:buNone/>
            </a:pPr>
            <a:r>
              <a:rPr lang="tr-TR" dirty="0"/>
              <a:t>Tura Oyna	(-1, 1)		(1, -1)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59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Matching</a:t>
            </a:r>
            <a:r>
              <a:rPr lang="tr-TR" dirty="0"/>
              <a:t> </a:t>
            </a:r>
            <a:r>
              <a:rPr lang="tr-TR" dirty="0" err="1"/>
              <a:t>Pennies</a:t>
            </a:r>
            <a:r>
              <a:rPr lang="tr-TR" dirty="0"/>
              <a:t> Oyunu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Dengesi (NE):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1 adet </a:t>
            </a:r>
            <a:r>
              <a:rPr lang="tr-TR" dirty="0" err="1"/>
              <a:t>Nash</a:t>
            </a:r>
            <a:r>
              <a:rPr lang="tr-TR" dirty="0"/>
              <a:t> Dengesi (NE)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Karışık Stratejiler NE:</a:t>
            </a:r>
            <a:r>
              <a:rPr lang="tr-TR" dirty="0"/>
              <a:t> Her oyuncu yazı veya tura oynamayı %50 olasılıkla seçer.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Bu durumda her iki oyuncu da karışık stratejiler uygulayarak dengeye ulaşır.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905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Matching</a:t>
            </a:r>
            <a:r>
              <a:rPr lang="tr-TR" dirty="0"/>
              <a:t> </a:t>
            </a:r>
            <a:r>
              <a:rPr lang="tr-TR" dirty="0" err="1"/>
              <a:t>Pennies</a:t>
            </a:r>
            <a:r>
              <a:rPr lang="tr-TR" dirty="0"/>
              <a:t> Oyunu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Sıfır Toplamlı Oyun:</a:t>
            </a:r>
            <a:r>
              <a:rPr lang="tr-TR" dirty="0"/>
              <a:t> Bir oyuncunun kazancı, diğer oyuncunun kaybı ile tam olarak dengelenir.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Belirsizlik:</a:t>
            </a:r>
            <a:r>
              <a:rPr lang="tr-TR" dirty="0"/>
              <a:t> Oyuncular arasında stratejik belirsizlik mevcuttur, çünkü her oyuncu rakibinin ne seçeceğini tahmin edemez.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Olasılık ve Karışık Stratejiler:</a:t>
            </a:r>
            <a:r>
              <a:rPr lang="tr-TR" dirty="0"/>
              <a:t> Oyuncular, rakibinin hareketlerini tahmin edemedikleri için, yazı veya tura oynamayı %50 olasılıkla seçerler.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143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6BA9-08A1-04D3-DE10-D14EE0B4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Matching</a:t>
            </a:r>
            <a:r>
              <a:rPr lang="tr-TR" dirty="0"/>
              <a:t> </a:t>
            </a:r>
            <a:r>
              <a:rPr lang="tr-TR" dirty="0" err="1"/>
              <a:t>Pennies</a:t>
            </a:r>
            <a:r>
              <a:rPr lang="tr-TR" dirty="0"/>
              <a:t> Oyunu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3A2F-B772-C941-DA43-4FD0B55C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Rastgelelik:</a:t>
            </a:r>
            <a:r>
              <a:rPr lang="tr-TR" dirty="0"/>
              <a:t> Oyuncuların stratejik olarak rastgele seçim yapması, oyunun doğasında yer alan belirsizliği en iyi şekilde yönetmelerini sağlar.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Nihai Sonuç:</a:t>
            </a:r>
            <a:r>
              <a:rPr lang="tr-TR" dirty="0"/>
              <a:t> Her iki oyuncu da karışık stratejiler uygulayarak dengede kalır, bu da her iki tarafın da ne tam olarak kazanmasını ne de kaybetmesini sağlar.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0E50-7B1A-9835-4EE2-8B04BA1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6964-0A68-7818-2492-47D05149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3CA64-0AAC-5E32-D74B-B018933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7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Cinsiyetlerin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(Battle of the Sexes)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		Operaya Git	Futbola Git</a:t>
            </a:r>
          </a:p>
          <a:p>
            <a:pPr marL="0" indent="0">
              <a:buNone/>
            </a:pPr>
            <a:r>
              <a:rPr lang="tr-TR" dirty="0"/>
              <a:t>Operaya Git	(3, 2)		(0, 0)</a:t>
            </a:r>
          </a:p>
          <a:p>
            <a:pPr marL="0" indent="0">
              <a:buNone/>
            </a:pPr>
            <a:r>
              <a:rPr lang="tr-TR" dirty="0"/>
              <a:t>Futbola Git	(0, 0)		(2, 3)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468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Cinsiyetlerin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(Battle of the Sexes)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 Noktaları (NE):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3 farklı </a:t>
            </a:r>
            <a:r>
              <a:rPr lang="tr-TR" dirty="0" err="1"/>
              <a:t>Nash</a:t>
            </a:r>
            <a:r>
              <a:rPr lang="tr-TR" dirty="0"/>
              <a:t> Denge noktası (NE)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operaya gider.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futbola gider.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Karışık Stratejiler NE:</a:t>
            </a:r>
            <a:r>
              <a:rPr lang="tr-TR" dirty="0"/>
              <a:t> Erkek %60 olasılıkla operaya gider, kadın ise %40 olasılıkla operaya gider.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02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Cinsiyetlerin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(Battle of the Sexes)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Koordinasyon Sorunu:</a:t>
            </a:r>
            <a:r>
              <a:rPr lang="tr-TR" dirty="0"/>
              <a:t> Bu oyunda, iki oyuncunun da tercihlerinin farklı olması nedeniyle bir koordinasyon sorunu vardır.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Paylaşılan Kazançlar:</a:t>
            </a:r>
            <a:r>
              <a:rPr lang="tr-TR" dirty="0"/>
              <a:t> Oyuncuların ortak etkinlik seçmeleri durumunda, her iki taraf da kazanç sağlar, ancak her biri farklı tercihlere sahiptir.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Karışık Stratejiler:</a:t>
            </a:r>
            <a:r>
              <a:rPr lang="tr-TR" dirty="0"/>
              <a:t> Karışık strateji dengesi, her iki oyuncunun da farklı olasılıklarla kendi tercihlerini yapmasını sağlar, böylece oyun dengesine ulaşılır.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597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Cinsiyetlerin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(Battle of the Sexes)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Kararlar:</a:t>
            </a:r>
            <a:r>
              <a:rPr lang="tr-TR" dirty="0"/>
              <a:t> Oyuncular, kendi tercihlerine göre en iyi stratejiyi seçmeye çalışırken, diğer oyuncunun ne yapacağını tahmin etmek zorundadır.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İşbirliği ve Anlaşmazlık:</a:t>
            </a:r>
            <a:r>
              <a:rPr lang="tr-TR" dirty="0"/>
              <a:t> Bu oyun, oyuncuların birbirleriyle işbirliği yapma veya kendi tercihlerinde ısrar etme arasında bir denge kurmaları gerektiğini gösterir.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Çözüm:</a:t>
            </a:r>
            <a:r>
              <a:rPr lang="tr-TR" dirty="0"/>
              <a:t> Karışık stratejiler, her iki oyuncunun da tercih ettiği sonuca olasılıklar üzerinden ulaşmasını sağlar, bu da oyunun dengeye ulaşmasını mümkün kılar.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22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Geyik Avı (</a:t>
            </a:r>
            <a:r>
              <a:rPr lang="tr-TR" dirty="0" err="1"/>
              <a:t>Stag</a:t>
            </a:r>
            <a:r>
              <a:rPr lang="tr-TR" dirty="0"/>
              <a:t> </a:t>
            </a:r>
            <a:r>
              <a:rPr lang="tr-TR" dirty="0" err="1"/>
              <a:t>Hunt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		Geyik Avla	Tavşan Avla</a:t>
            </a:r>
          </a:p>
          <a:p>
            <a:pPr marL="0" indent="0">
              <a:buNone/>
            </a:pPr>
            <a:r>
              <a:rPr lang="tr-TR" dirty="0"/>
              <a:t>Geyik Avla	(2, 2)		(0, 1)</a:t>
            </a:r>
          </a:p>
          <a:p>
            <a:pPr marL="0" indent="0">
              <a:buNone/>
            </a:pPr>
            <a:r>
              <a:rPr lang="tr-TR" dirty="0"/>
              <a:t>Tavşan Avla	(1, 0)		(1, 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160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Geyik Avı (</a:t>
            </a:r>
            <a:r>
              <a:rPr lang="tr-TR" dirty="0" err="1"/>
              <a:t>Stag</a:t>
            </a:r>
            <a:r>
              <a:rPr lang="tr-TR" dirty="0"/>
              <a:t> </a:t>
            </a:r>
            <a:r>
              <a:rPr lang="tr-TR" dirty="0" err="1"/>
              <a:t>Hunt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 Noktaları (NE):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3 farklı </a:t>
            </a:r>
            <a:r>
              <a:rPr lang="tr-TR" dirty="0" err="1"/>
              <a:t>Nash</a:t>
            </a:r>
            <a:r>
              <a:rPr lang="tr-TR" dirty="0"/>
              <a:t> Denge noktası (NE)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geyik avlar.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tavşan avlar.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Karışık Stratejiler NE:</a:t>
            </a:r>
            <a:r>
              <a:rPr lang="tr-TR" dirty="0"/>
              <a:t> Erkek %50 olasılıkla geyik avlar, kadın ise %50 olasılıkla geyik avlar.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44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Geyik Avı (</a:t>
            </a:r>
            <a:r>
              <a:rPr lang="tr-TR" dirty="0" err="1"/>
              <a:t>Stag</a:t>
            </a:r>
            <a:r>
              <a:rPr lang="tr-TR" dirty="0"/>
              <a:t> </a:t>
            </a:r>
            <a:r>
              <a:rPr lang="tr-TR" dirty="0" err="1"/>
              <a:t>Hunt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Koordinasyon Sorunu:</a:t>
            </a:r>
            <a:r>
              <a:rPr lang="tr-TR" dirty="0"/>
              <a:t> Geyik avlamak her iki oyuncuya da en yüksek kazancı sağlarken, işbirliği yapılmazsa tavşan avlamak daha güvenli bir seçenek olabilir.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Risk ve İşbirliği:</a:t>
            </a:r>
            <a:r>
              <a:rPr lang="tr-TR" dirty="0"/>
              <a:t> Geyik avlama stratejisi, her iki oyuncunun da işbirliği yapmasını ve karşılıklı güven inşa etmesini gerektirir. Tavşan avlama stratejisi ise daha az kazançlı, ancak daha güvenlidir.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Karışık Stratejiler:</a:t>
            </a:r>
            <a:r>
              <a:rPr lang="tr-TR" dirty="0"/>
              <a:t> Karışık strateji dengesi, her iki oyuncunun da eşit olasılıkla geyik veya tavşan avlama kararını vermesi ile oluşur.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72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Geyik Avı (</a:t>
            </a:r>
            <a:r>
              <a:rPr lang="tr-TR" dirty="0" err="1"/>
              <a:t>Stag</a:t>
            </a:r>
            <a:r>
              <a:rPr lang="tr-TR" dirty="0"/>
              <a:t> </a:t>
            </a:r>
            <a:r>
              <a:rPr lang="tr-TR" dirty="0" err="1"/>
              <a:t>Hunt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Seçimler:</a:t>
            </a:r>
            <a:r>
              <a:rPr lang="tr-TR" dirty="0"/>
              <a:t> Oyuncular, yüksek riskli ama yüksek kazançlı işbirliği stratejisi ile düşük riskli ama düşük kazançlı bireysel strateji arasında seçim yapar.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Pareto</a:t>
            </a:r>
            <a:r>
              <a:rPr lang="tr-TR" b="1" dirty="0"/>
              <a:t> Optimum:</a:t>
            </a:r>
            <a:r>
              <a:rPr lang="tr-TR" dirty="0"/>
              <a:t> Geyik avlama, </a:t>
            </a:r>
            <a:r>
              <a:rPr lang="tr-TR" dirty="0" err="1"/>
              <a:t>Pareto</a:t>
            </a:r>
            <a:r>
              <a:rPr lang="tr-TR" dirty="0"/>
              <a:t> optimal bir stratejidir; her iki oyuncunun da kazancı maksimize edilir.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Güven Dilemma:</a:t>
            </a:r>
            <a:r>
              <a:rPr lang="tr-TR" dirty="0"/>
              <a:t> Oyuncuların güven inşa edip etmeyeceklerine karar vermesi, oyunun sonucunu doğrudan etkiler.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07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Saf Koordinasyon Oyunu (</a:t>
            </a:r>
            <a:r>
              <a:rPr lang="tr-TR" dirty="0" err="1"/>
              <a:t>Pure</a:t>
            </a:r>
            <a:r>
              <a:rPr lang="tr-TR" dirty="0"/>
              <a:t> </a:t>
            </a:r>
            <a:r>
              <a:rPr lang="tr-TR" dirty="0" err="1"/>
              <a:t>Coordination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		Partiye Git	Evde Kal</a:t>
            </a:r>
          </a:p>
          <a:p>
            <a:pPr marL="0" indent="0">
              <a:buNone/>
            </a:pPr>
            <a:r>
              <a:rPr lang="tr-TR" dirty="0"/>
              <a:t>Partiye Git	(10, 10)	(0, 0)</a:t>
            </a:r>
          </a:p>
          <a:p>
            <a:pPr marL="0" indent="0">
              <a:buNone/>
            </a:pPr>
            <a:r>
              <a:rPr lang="tr-TR" dirty="0"/>
              <a:t>Evde Kal	(  0,   0)	(5, 5)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34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Saf Koordinasyon Oyunu (</a:t>
            </a:r>
            <a:r>
              <a:rPr lang="tr-TR" dirty="0" err="1"/>
              <a:t>Pure</a:t>
            </a:r>
            <a:r>
              <a:rPr lang="tr-TR" dirty="0"/>
              <a:t> </a:t>
            </a:r>
            <a:r>
              <a:rPr lang="tr-TR" dirty="0" err="1"/>
              <a:t>Coordination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 Noktaları (NE):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3 farklı </a:t>
            </a:r>
            <a:r>
              <a:rPr lang="tr-TR" dirty="0" err="1"/>
              <a:t>Nash</a:t>
            </a:r>
            <a:r>
              <a:rPr lang="tr-TR" dirty="0"/>
              <a:t> Denge noktası (NE)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partiye gider.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evde kalır.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Karışık Stratejiler NE:</a:t>
            </a:r>
            <a:r>
              <a:rPr lang="tr-TR" dirty="0"/>
              <a:t> Erkek 1/3 olasılıkla partiye gider, kadın ise 1/3 olasılıkla partiye gider.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76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Saf Koordinasyon Oyunu (</a:t>
            </a:r>
            <a:r>
              <a:rPr lang="tr-TR" dirty="0" err="1"/>
              <a:t>Pure</a:t>
            </a:r>
            <a:r>
              <a:rPr lang="tr-TR" dirty="0"/>
              <a:t> </a:t>
            </a:r>
            <a:r>
              <a:rPr lang="tr-TR" dirty="0" err="1"/>
              <a:t>Coordination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Koordinasyon Gereksinimi:</a:t>
            </a:r>
            <a:r>
              <a:rPr lang="tr-TR" dirty="0"/>
              <a:t> Oyuncuların kazanç elde edebilmesi için uyumlu stratejiler geliştirmeleri gerekmektedir. Birlikte hareket ettiklerinde kazanç sağlarlar.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Denge Seçenekleri:</a:t>
            </a:r>
            <a:r>
              <a:rPr lang="tr-TR" dirty="0"/>
              <a:t> Hem partiye gitmek hem de evde kalmak </a:t>
            </a:r>
            <a:r>
              <a:rPr lang="tr-TR" dirty="0" err="1"/>
              <a:t>Nash</a:t>
            </a:r>
            <a:r>
              <a:rPr lang="tr-TR" dirty="0"/>
              <a:t> dengesidir, ancak bu dengeler farklı kazançlar sunar. Parti daha yüksek bir kazanç sağlar, ancak her iki oyuncunun da aynı kararı vermesi gerekir.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Karışık Stratejiler:</a:t>
            </a:r>
            <a:r>
              <a:rPr lang="tr-TR" dirty="0"/>
              <a:t> Karışık strateji dengesinde, her iki oyuncu da belirli bir olasılıkla farklı stratejiler dener, bu da belirsizlik yaratır.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25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Saf Koordinasyon Oyunu (</a:t>
            </a:r>
            <a:r>
              <a:rPr lang="tr-TR" dirty="0" err="1"/>
              <a:t>Pure</a:t>
            </a:r>
            <a:r>
              <a:rPr lang="tr-TR" dirty="0"/>
              <a:t> </a:t>
            </a:r>
            <a:r>
              <a:rPr lang="tr-TR" dirty="0" err="1"/>
              <a:t>Coordination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Koordinasyonun Önemi:</a:t>
            </a:r>
            <a:r>
              <a:rPr lang="tr-TR" dirty="0"/>
              <a:t> Başarılı koordinasyon, oyunun sonucunu doğrudan etkiler ve oyuncuların en yüksek kazancı elde etmelerini sağlar.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Eşitlik ve Risk:</a:t>
            </a:r>
            <a:r>
              <a:rPr lang="tr-TR" dirty="0"/>
              <a:t> Evde kalma stratejisi daha düşük, ancak garantili bir kazanç sunar, bu da riskten kaçınan oyuncular için uygun olabilir.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Karar:</a:t>
            </a:r>
            <a:r>
              <a:rPr lang="tr-TR" dirty="0"/>
              <a:t> Oyuncular, karşı tarafın ne yapacağını tahmin ederek en iyi stratejiyi seçmeye çalışır; bu, ortak bir kararın sağlanmasını gerektirir.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7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Bedava</a:t>
            </a:r>
            <a:r>
              <a:rPr lang="en-US" dirty="0"/>
              <a:t> Para </a:t>
            </a:r>
            <a:r>
              <a:rPr lang="en-US" dirty="0" err="1"/>
              <a:t>Oyunu</a:t>
            </a:r>
            <a:r>
              <a:rPr lang="en-US" dirty="0"/>
              <a:t> (Free Money)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		Yazı Oyna	Tura Oyna</a:t>
            </a:r>
          </a:p>
          <a:p>
            <a:pPr marL="0" indent="0">
              <a:buNone/>
            </a:pPr>
            <a:r>
              <a:rPr lang="tr-TR" dirty="0"/>
              <a:t>Yazı Oyna	(1, 1)		(0, 0)</a:t>
            </a:r>
          </a:p>
          <a:p>
            <a:pPr marL="0" indent="0">
              <a:buNone/>
            </a:pPr>
            <a:r>
              <a:rPr lang="tr-TR" dirty="0"/>
              <a:t>Tura Oyna	(0, 0)		(0, 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94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Bedava</a:t>
            </a:r>
            <a:r>
              <a:rPr lang="en-US" dirty="0"/>
              <a:t> Para </a:t>
            </a:r>
            <a:r>
              <a:rPr lang="en-US" dirty="0" err="1"/>
              <a:t>Oyunu</a:t>
            </a:r>
            <a:r>
              <a:rPr lang="en-US" dirty="0"/>
              <a:t> (Free Money)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 Noktaları (NE):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2 adet </a:t>
            </a:r>
            <a:r>
              <a:rPr lang="tr-TR" dirty="0" err="1"/>
              <a:t>Nash</a:t>
            </a:r>
            <a:r>
              <a:rPr lang="tr-TR" dirty="0"/>
              <a:t> Denge noktası (NE)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yazı oynar.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Her iki oyuncu da tura oynar.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Nadir Bir Durum:</a:t>
            </a:r>
            <a:r>
              <a:rPr lang="tr-TR" dirty="0"/>
              <a:t> </a:t>
            </a:r>
            <a:r>
              <a:rPr lang="tr-TR" dirty="0" err="1"/>
              <a:t>Nash</a:t>
            </a:r>
            <a:r>
              <a:rPr lang="tr-TR" dirty="0"/>
              <a:t> dengesinin çift sayıda olduğu nadir durumlardan biridir.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Teklik Teoremi</a:t>
            </a:r>
            <a:r>
              <a:rPr lang="tr-TR" dirty="0"/>
              <a:t> (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Oddness</a:t>
            </a:r>
            <a:r>
              <a:rPr lang="tr-TR" dirty="0"/>
              <a:t> </a:t>
            </a:r>
            <a:r>
              <a:rPr lang="tr-TR" dirty="0" err="1"/>
              <a:t>Theorem</a:t>
            </a:r>
            <a:r>
              <a:rPr lang="tr-TR" dirty="0"/>
              <a:t>) genellikle dengenin tek sayıda olduğunu söylese de, bu oyun istisnalar arasında yer alır.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971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Bedava</a:t>
            </a:r>
            <a:r>
              <a:rPr lang="en-US" dirty="0"/>
              <a:t> Para </a:t>
            </a:r>
            <a:r>
              <a:rPr lang="en-US" dirty="0" err="1"/>
              <a:t>Oyunu</a:t>
            </a:r>
            <a:r>
              <a:rPr lang="en-US" dirty="0"/>
              <a:t> (Free Money)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Koordinasyon ve Seçim:</a:t>
            </a:r>
            <a:r>
              <a:rPr lang="tr-TR" dirty="0"/>
              <a:t> Oyuncuların her ikisi de aynı stratejiyi seçerse (yazı veya tura), kazanç elde eder. Farklı strateji seçtiklerinde kazanç yoktur.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Risk Faktörü:</a:t>
            </a:r>
            <a:r>
              <a:rPr lang="tr-TR" dirty="0"/>
              <a:t> Tura oynamak, her iki oyuncunun da kazanç elde edememesine yol açar, yazı oynamak daha kazançlı bir stratejidir.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Garanti Kazanç:</a:t>
            </a:r>
            <a:r>
              <a:rPr lang="tr-TR" dirty="0"/>
              <a:t> Yazı oynamak, her iki oyuncunun da kazanç elde edebileceği tek stratejidir, ancak her iki oyuncunun da aynı stratejiyi seçmesi gerekir.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862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269B-F38F-23B6-43F0-3924F649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Bedava</a:t>
            </a:r>
            <a:r>
              <a:rPr lang="en-US" dirty="0"/>
              <a:t> Para </a:t>
            </a:r>
            <a:r>
              <a:rPr lang="en-US" dirty="0" err="1"/>
              <a:t>Oyunu</a:t>
            </a:r>
            <a:r>
              <a:rPr lang="en-US" dirty="0"/>
              <a:t> (Free Money)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F4F-E9F9-BC7C-99CA-4CBB243F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Teklik Teoremi İstisnası:</a:t>
            </a:r>
            <a:r>
              <a:rPr lang="tr-TR" dirty="0"/>
              <a:t> Bu oyunda, çift sayıda </a:t>
            </a:r>
            <a:r>
              <a:rPr lang="tr-TR" dirty="0" err="1"/>
              <a:t>Nash</a:t>
            </a:r>
            <a:r>
              <a:rPr lang="tr-TR" dirty="0"/>
              <a:t> dengesi olması, bir ilginçlik olarak dikkat çeker.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Basitlik:</a:t>
            </a:r>
            <a:r>
              <a:rPr lang="tr-TR" dirty="0"/>
              <a:t> Oyuncuların seçimlerinin oldukça basit olduğu bu oyun, stratejik koordinasyon gerektirir.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Garantili Kazanç:</a:t>
            </a:r>
            <a:r>
              <a:rPr lang="tr-TR" dirty="0"/>
              <a:t> Yazı oynamak, her iki oyuncu için de kazanç sağlar, bu nedenle koordinasyon önemlidir.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96DE-910C-AEAA-1803-8FB0E35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9D6-4347-27F8-E537-5C6E3DC5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E969A-E32A-94F8-DE06-C21C0F4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55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Tavuk Oyunu (</a:t>
            </a:r>
            <a:r>
              <a:rPr lang="tr-TR" dirty="0" err="1"/>
              <a:t>Chicken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Oyun Matrisi: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		Kırar (</a:t>
            </a:r>
            <a:r>
              <a:rPr lang="tr-TR" dirty="0" err="1"/>
              <a:t>Swerve</a:t>
            </a:r>
            <a:r>
              <a:rPr lang="tr-TR" dirty="0"/>
              <a:t>)	Düz Gider (</a:t>
            </a:r>
            <a:r>
              <a:rPr lang="tr-TR" dirty="0" err="1"/>
              <a:t>Straight</a:t>
            </a:r>
            <a:r>
              <a:rPr lang="tr-TR" dirty="0"/>
              <a:t>)</a:t>
            </a:r>
          </a:p>
          <a:p>
            <a:pPr marL="0" indent="0">
              <a:buNone/>
            </a:pPr>
            <a:r>
              <a:rPr lang="tr-TR" dirty="0"/>
              <a:t>Kırar		(0,  0)			( -1,    1)</a:t>
            </a:r>
          </a:p>
          <a:p>
            <a:pPr marL="0" indent="0">
              <a:buNone/>
            </a:pPr>
            <a:r>
              <a:rPr lang="tr-TR" dirty="0"/>
              <a:t>Düz Gider	(1, -1)			(-10, -10)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329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Tavuk Oyunu (</a:t>
            </a:r>
            <a:r>
              <a:rPr lang="tr-TR" dirty="0" err="1"/>
              <a:t>Chicken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Nash</a:t>
            </a:r>
            <a:r>
              <a:rPr lang="tr-TR" b="1" dirty="0"/>
              <a:t> Denge Noktaları (NE):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oyunda 3 farklı </a:t>
            </a:r>
            <a:r>
              <a:rPr lang="tr-TR" dirty="0" err="1"/>
              <a:t>Nash</a:t>
            </a:r>
            <a:r>
              <a:rPr lang="tr-TR" dirty="0"/>
              <a:t> Denge noktası (NE) vardır: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Erkek kırar, kadın düz gider.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Erkek düz gider, kadın kırar.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Karışık Strateji NE:</a:t>
            </a:r>
            <a:r>
              <a:rPr lang="tr-TR" dirty="0"/>
              <a:t> Erkek 9/10 olasılıkla kırar, kadın 9/10 olasılıkla kırar.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5429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Tavuk Oyunu (</a:t>
            </a:r>
            <a:r>
              <a:rPr lang="tr-TR" dirty="0" err="1"/>
              <a:t>Chicken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Anti-Koordinasyon Oyunu:</a:t>
            </a:r>
            <a:r>
              <a:rPr lang="tr-TR" dirty="0"/>
              <a:t> Oyuncuların farklı stratejiler oynaması, her iki taraf için de karşılıklı yarar sağlar. Aynı stratejiyi seçmek genellikle olumsuz sonuçlara yol açar.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Yüksek Risk:</a:t>
            </a:r>
            <a:r>
              <a:rPr lang="tr-TR" dirty="0"/>
              <a:t> Düz gitmek, her iki oyuncu için de büyük bir kayıp riski taşır, bu nedenle oyuncuların birbirlerinin stratejisini doğru tahmin etmeleri önemlidir.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Karışık Stratejiler:</a:t>
            </a:r>
            <a:r>
              <a:rPr lang="tr-TR" dirty="0"/>
              <a:t> Karışık strateji dengesi, her iki oyuncunun büyük bir olasılıkla kırma kararını verdiği durumdur. Riskten kaçınmayı teşvik eder.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6803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Tavuk Oyunu (</a:t>
            </a:r>
            <a:r>
              <a:rPr lang="tr-TR" dirty="0" err="1"/>
              <a:t>Chicken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Zıtlık:</a:t>
            </a:r>
            <a:r>
              <a:rPr lang="tr-TR" dirty="0"/>
              <a:t> Bu oyun, oyuncuların birbirinden farklı stratejilerle hareket etmesinin en iyi sonuçları getirdiği bir anti-koordinasyon oyunudur.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Güç Dilemma:</a:t>
            </a:r>
            <a:r>
              <a:rPr lang="tr-TR" dirty="0"/>
              <a:t> Oyuncular, düz gitme cesareti gösterip göstermemeyi veya kırarak riski azaltmayı seçerler. Güç ve güvenlik arasında denge gerektirir.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Karışık Strateji Kullanımı:</a:t>
            </a:r>
            <a:r>
              <a:rPr lang="tr-TR" dirty="0"/>
              <a:t> Karışık stratejiler, oyuncuların hem risk almaktan kaçınmalarına hem de potansiyel kayıpları minimize etmelerine yardımcı olur.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812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Kırkayak Oyunu (</a:t>
            </a:r>
            <a:r>
              <a:rPr lang="tr-TR" dirty="0" err="1"/>
              <a:t>Centipede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Oyuncuların sırayla bir havuzu büyütmek için işbirliği yapma veya o noktada oyunu bitirerek kazançları bölüşme seçenekleriyle karşı karşıya kaldıkları bir oyundur.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SPE (</a:t>
            </a:r>
            <a:r>
              <a:rPr lang="tr-TR" b="1" dirty="0" err="1"/>
              <a:t>Subgame</a:t>
            </a:r>
            <a:r>
              <a:rPr lang="tr-TR" b="1" dirty="0"/>
              <a:t> Perfect </a:t>
            </a:r>
            <a:r>
              <a:rPr lang="tr-TR" b="1" dirty="0" err="1"/>
              <a:t>Equilibrium</a:t>
            </a:r>
            <a:r>
              <a:rPr lang="tr-TR" b="1" dirty="0"/>
              <a:t>):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Alt Oyun Mükemmel Denge (SPE):</a:t>
            </a:r>
            <a:r>
              <a:rPr lang="tr-TR" dirty="0"/>
              <a:t> Her oyuncu, her fırsatta oyunu sonlandırmayı (</a:t>
            </a:r>
            <a:r>
              <a:rPr lang="tr-TR" dirty="0" err="1"/>
              <a:t>defect</a:t>
            </a:r>
            <a:r>
              <a:rPr lang="tr-TR" dirty="0"/>
              <a:t>) seçer.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/>
              <a:t>Stratejik Geriye Dönük Akıl Yürütme:</a:t>
            </a:r>
            <a:r>
              <a:rPr lang="tr-TR" dirty="0"/>
              <a:t> Oyuncular, oyun sonunda elde edecekleri kesin kazancı göz önünde bulundurarak, ilk fırsatta oyunu sonlandırmanın en mantıklı karar olduğunu düşünürler.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712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6F41-3C2C-2C0A-7184-E76BF365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Kırkayak Oyunu (</a:t>
            </a:r>
            <a:r>
              <a:rPr lang="tr-TR" dirty="0" err="1"/>
              <a:t>Centipede</a:t>
            </a:r>
            <a:r>
              <a:rPr lang="tr-TR" dirty="0"/>
              <a:t> Game)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D3FD5A-B089-F6C4-C06E-B8A37292D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9902" y="2954641"/>
            <a:ext cx="5992195" cy="2137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6897-37C7-296A-D3DD-901E5570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7C01-6C70-562E-C411-B96E5EF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4D8F3-A274-12A5-1A6E-F77BD050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652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Kırkayak Oyunu (</a:t>
            </a:r>
            <a:r>
              <a:rPr lang="tr-TR" dirty="0" err="1"/>
              <a:t>Centipede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Özellikler: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İşbirliği vs. Rekabet:</a:t>
            </a:r>
            <a:r>
              <a:rPr lang="tr-TR" dirty="0"/>
              <a:t> Oyuncular, işbirliği yaparak daha büyük bir havuz oluşturabilirler, ancak her oyuncunun diğer oyuncunun bir sonraki turda oyunu bitireceğinden korkması, erken sonlandırma kararlarını teşvik eder.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Stratejik Kararsızlık:</a:t>
            </a:r>
            <a:r>
              <a:rPr lang="tr-TR" dirty="0"/>
              <a:t> Oyuncular, birbirlerine güvenmedikleri için her fırsatta oyunu bitirmenin en iyi strateji olduğunu düşünürler. Bu, oyunun sonucunu belirler.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Geriye Dönük Mantık:</a:t>
            </a:r>
            <a:r>
              <a:rPr lang="tr-TR" dirty="0"/>
              <a:t> Oyunun sonundan başa doğru düşünerek, her oyuncu son hamlede oyunu bitireceğini varsayar ve bu varsayım oyun boyunca devam eder.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2494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A17B-5336-3ACF-4A8A-0EBDD6A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Kırkayak Oyunu (</a:t>
            </a:r>
            <a:r>
              <a:rPr lang="tr-TR" dirty="0" err="1"/>
              <a:t>Centipede</a:t>
            </a:r>
            <a:r>
              <a:rPr lang="tr-TR" dirty="0"/>
              <a:t>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7BD-C44E-D285-4167-495A01BE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Önemli Noktalar: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SPE’nin</a:t>
            </a:r>
            <a:r>
              <a:rPr lang="tr-TR" b="1" dirty="0"/>
              <a:t> Önemi:</a:t>
            </a:r>
            <a:r>
              <a:rPr lang="tr-TR" dirty="0"/>
              <a:t> </a:t>
            </a:r>
            <a:r>
              <a:rPr lang="tr-TR" dirty="0" err="1"/>
              <a:t>Subgame</a:t>
            </a:r>
            <a:r>
              <a:rPr lang="tr-TR" dirty="0"/>
              <a:t> Perfect </a:t>
            </a:r>
            <a:r>
              <a:rPr lang="tr-TR" dirty="0" err="1"/>
              <a:t>Equilibrium</a:t>
            </a:r>
            <a:r>
              <a:rPr lang="tr-TR" dirty="0"/>
              <a:t>, tüm alt oyunlar için en iyi stratejiyi temsil eder ve bu dengeye göre oyuncuların her fırsatta oyunu sonlandırmaları beklenir.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İşbirliği Dilemma:</a:t>
            </a:r>
            <a:r>
              <a:rPr lang="tr-TR" dirty="0"/>
              <a:t> Oyuncuların daha büyük bir kazanç için işbirliği yapma potansiyeli vardır, ancak stratejik olarak her biri diğerine güvenmediği için bu potansiyel genellikle gerçekleşmez.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Oyunun Yapısı:</a:t>
            </a:r>
            <a:r>
              <a:rPr lang="tr-TR" dirty="0"/>
              <a:t> Kırkayak Oyunu, stratejik kararların ve güvenin önemini vurgulayan klasik bir oyun teorisi problemidir.</a:t>
            </a:r>
          </a:p>
          <a:p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AEA-0DB4-29C1-14C6-441D7E0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99AA-95B7-74C0-D442-8B0114E8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9F04-9FA5-F1D7-BC5C-036D5C0F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0469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4801</TotalTime>
  <Words>3487</Words>
  <Application>Microsoft Office PowerPoint</Application>
  <PresentationFormat>Widescreen</PresentationFormat>
  <Paragraphs>476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Office Theme</vt:lpstr>
      <vt:lpstr>Bölüm 2: Oyun Kuramına Giriş</vt:lpstr>
      <vt:lpstr>Oyun Teorisi</vt:lpstr>
      <vt:lpstr>İçindekiler</vt:lpstr>
      <vt:lpstr>İçindekiler</vt:lpstr>
      <vt:lpstr>İçindekiler</vt:lpstr>
      <vt:lpstr>Oyun Temsilleri</vt:lpstr>
      <vt:lpstr>Oyun Temsilleri</vt:lpstr>
      <vt:lpstr>Oyun Temsilleri</vt:lpstr>
      <vt:lpstr>Normal Form</vt:lpstr>
      <vt:lpstr>Genişletilmiş Form</vt:lpstr>
      <vt:lpstr>Oyunların Sınıflandırılması</vt:lpstr>
      <vt:lpstr>Eşzamanlı Oyunlar (Strateji Oyunları)</vt:lpstr>
      <vt:lpstr>Sıralı Oyunlar (Genişletilmiş Oyunlar)</vt:lpstr>
      <vt:lpstr>Kooperatif İşbirlikçi Oyunlar</vt:lpstr>
      <vt:lpstr>Kooperatif İşbirlikçi Olmayan Oyunlar</vt:lpstr>
      <vt:lpstr>Sıfır Toplamlı Oyunlar</vt:lpstr>
      <vt:lpstr>Sıfır Toplamlı Olmayan Oyunlar</vt:lpstr>
      <vt:lpstr>Tam Bilgili Oyunlar</vt:lpstr>
      <vt:lpstr>Eksik Bilgili Oyunlar</vt:lpstr>
      <vt:lpstr>Sonlu Oyunlar</vt:lpstr>
      <vt:lpstr>Sonsuz Oyunlar</vt:lpstr>
      <vt:lpstr>Yaygın Bilinen Oyunlar</vt:lpstr>
      <vt:lpstr>Esirlerin İkilemi (Prisoner's Dilemma)</vt:lpstr>
      <vt:lpstr>Esirlerin İkilemi (Prisoner's Dilemma)</vt:lpstr>
      <vt:lpstr>Esirlerin İkilemi (Prisoner's Dilemma)</vt:lpstr>
      <vt:lpstr>Matching Pennies Oyunu</vt:lpstr>
      <vt:lpstr>Matching Pennies Oyunu</vt:lpstr>
      <vt:lpstr>Matching Pennies Oyunu</vt:lpstr>
      <vt:lpstr>Matching Pennies Oyunu</vt:lpstr>
      <vt:lpstr>Cinsiyetlerin Savaşı (Battle of the Sexes)</vt:lpstr>
      <vt:lpstr>Cinsiyetlerin Savaşı (Battle of the Sexes)</vt:lpstr>
      <vt:lpstr>Cinsiyetlerin Savaşı (Battle of the Sexes)</vt:lpstr>
      <vt:lpstr>Cinsiyetlerin Savaşı (Battle of the Sexes)</vt:lpstr>
      <vt:lpstr>Geyik Avı (Stag Hunt)</vt:lpstr>
      <vt:lpstr>Geyik Avı (Stag Hunt)</vt:lpstr>
      <vt:lpstr>Geyik Avı (Stag Hunt)</vt:lpstr>
      <vt:lpstr>Geyik Avı (Stag Hunt)</vt:lpstr>
      <vt:lpstr>Saf Koordinasyon Oyunu (Pure Coordination Game)</vt:lpstr>
      <vt:lpstr>Saf Koordinasyon Oyunu (Pure Coordination Game)</vt:lpstr>
      <vt:lpstr>Saf Koordinasyon Oyunu (Pure Coordination Game)</vt:lpstr>
      <vt:lpstr>Saf Koordinasyon Oyunu (Pure Coordination Game)</vt:lpstr>
      <vt:lpstr>Bedava Para Oyunu (Free Money)</vt:lpstr>
      <vt:lpstr>Bedava Para Oyunu (Free Money)</vt:lpstr>
      <vt:lpstr>Bedava Para Oyunu (Free Money)</vt:lpstr>
      <vt:lpstr>Bedava Para Oyunu (Free Money)</vt:lpstr>
      <vt:lpstr>Tavuk Oyunu (Chicken Game)</vt:lpstr>
      <vt:lpstr>Tavuk Oyunu (Chicken Game)</vt:lpstr>
      <vt:lpstr>Tavuk Oyunu (Chicken Game)</vt:lpstr>
      <vt:lpstr>Tavuk Oyunu (Chicken Game)</vt:lpstr>
      <vt:lpstr>Kırkayak Oyunu (Centipede Game)</vt:lpstr>
      <vt:lpstr>Kırkayak Oyunu (Centipede Game)</vt:lpstr>
      <vt:lpstr>Kırkayak Oyunu (Centipede Game)</vt:lpstr>
      <vt:lpstr>Kırkayak Oyunu (Centipede Game)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Giris</dc:title>
  <dc:creator>sercan</dc:creator>
  <cp:lastModifiedBy>Sercan Kulcu</cp:lastModifiedBy>
  <cp:revision>314</cp:revision>
  <dcterms:created xsi:type="dcterms:W3CDTF">2023-01-12T09:23:55Z</dcterms:created>
  <dcterms:modified xsi:type="dcterms:W3CDTF">2025-10-02T19:35:04Z</dcterms:modified>
</cp:coreProperties>
</file>