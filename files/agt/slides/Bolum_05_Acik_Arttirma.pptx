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3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26.09.2025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5: Açık Artırma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 Artırmaların Önemi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Kaynak tahsisi için verimli mekanizmalar</a:t>
            </a:r>
          </a:p>
          <a:p>
            <a:r>
              <a:rPr lang="tr-TR" dirty="0"/>
              <a:t>Fiyat keşfi ve piyasa şeffaflığı</a:t>
            </a:r>
          </a:p>
          <a:p>
            <a:r>
              <a:rPr lang="tr-TR" dirty="0"/>
              <a:t>Gerçek hayatta kullanım alanları:</a:t>
            </a:r>
          </a:p>
          <a:p>
            <a:pPr lvl="1"/>
            <a:r>
              <a:rPr lang="tr-TR" dirty="0"/>
              <a:t>Sanat eserleri</a:t>
            </a:r>
          </a:p>
          <a:p>
            <a:pPr lvl="1"/>
            <a:r>
              <a:rPr lang="tr-TR" dirty="0"/>
              <a:t>Google reklam açık artırmaları</a:t>
            </a:r>
          </a:p>
          <a:p>
            <a:pPr lvl="1"/>
            <a:r>
              <a:rPr lang="tr-TR" dirty="0"/>
              <a:t>Telekom lisans ihaleleri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B4BC-8B6F-F53C-B5B5-D5BFF11D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 Artırma Türleri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EBCCA-015C-7AF2-F1A8-49320BBD9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English </a:t>
            </a:r>
            <a:r>
              <a:rPr lang="tr-TR" dirty="0" err="1"/>
              <a:t>Auction</a:t>
            </a:r>
            <a:r>
              <a:rPr lang="tr-TR" dirty="0"/>
              <a:t> (Açık Artırma)</a:t>
            </a:r>
          </a:p>
          <a:p>
            <a:pPr lvl="1"/>
            <a:r>
              <a:rPr lang="tr-TR" dirty="0"/>
              <a:t>Fiyat yukarı çıkar, en yüksek teklif kazanır.</a:t>
            </a:r>
          </a:p>
          <a:p>
            <a:r>
              <a:rPr lang="tr-TR" dirty="0" err="1"/>
              <a:t>Dutch</a:t>
            </a:r>
            <a:r>
              <a:rPr lang="tr-TR" dirty="0"/>
              <a:t> </a:t>
            </a:r>
            <a:r>
              <a:rPr lang="tr-TR" dirty="0" err="1"/>
              <a:t>Auction</a:t>
            </a:r>
            <a:r>
              <a:rPr lang="tr-TR" dirty="0"/>
              <a:t> (Hollanda tipi)</a:t>
            </a:r>
          </a:p>
          <a:p>
            <a:pPr lvl="1"/>
            <a:r>
              <a:rPr lang="tr-TR" dirty="0"/>
              <a:t>Fiyat yüksekten başlar, aşağı düşer. İlk “kabul” eden kazanır.</a:t>
            </a:r>
          </a:p>
          <a:p>
            <a:r>
              <a:rPr lang="tr-TR" dirty="0"/>
              <a:t>First-</a:t>
            </a:r>
            <a:r>
              <a:rPr lang="tr-TR" dirty="0" err="1"/>
              <a:t>price</a:t>
            </a:r>
            <a:r>
              <a:rPr lang="tr-TR" dirty="0"/>
              <a:t> </a:t>
            </a:r>
            <a:r>
              <a:rPr lang="tr-TR" dirty="0" err="1"/>
              <a:t>sealed-bid</a:t>
            </a:r>
            <a:endParaRPr lang="tr-TR" dirty="0"/>
          </a:p>
          <a:p>
            <a:pPr lvl="1"/>
            <a:r>
              <a:rPr lang="tr-TR" dirty="0"/>
              <a:t>Teklifler gizli verilir, en yüksek teklif kazanır.</a:t>
            </a:r>
          </a:p>
          <a:p>
            <a:r>
              <a:rPr lang="tr-TR" dirty="0"/>
              <a:t>Second-</a:t>
            </a:r>
            <a:r>
              <a:rPr lang="tr-TR" dirty="0" err="1"/>
              <a:t>price</a:t>
            </a:r>
            <a:r>
              <a:rPr lang="tr-TR" dirty="0"/>
              <a:t> </a:t>
            </a:r>
            <a:r>
              <a:rPr lang="tr-TR" dirty="0" err="1"/>
              <a:t>sealed-bid</a:t>
            </a:r>
            <a:r>
              <a:rPr lang="tr-TR" dirty="0"/>
              <a:t> (</a:t>
            </a:r>
            <a:r>
              <a:rPr lang="tr-TR" dirty="0" err="1"/>
              <a:t>Vickrey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En yüksek teklif kazanır, ama ikinci en yüksek fiyatı öder.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4227-6A1B-C1E1-D1E4-D0BD83FE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B6E67-738D-C008-BB22-32156204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87C3-9ED6-3705-31B8-A7BE63BA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53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3EC8-A9A4-DF76-D715-3C3B3B36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Vickrey</a:t>
            </a:r>
            <a:r>
              <a:rPr lang="tr-TR" dirty="0"/>
              <a:t> </a:t>
            </a:r>
            <a:r>
              <a:rPr lang="tr-TR" dirty="0" err="1"/>
              <a:t>Auction</a:t>
            </a:r>
            <a:r>
              <a:rPr lang="tr-TR" dirty="0"/>
              <a:t> – Stratejik Özellik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B71C-A9F2-B49E-4FC6-B6E57667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Dominant </a:t>
            </a:r>
            <a:r>
              <a:rPr lang="tr-TR" dirty="0" err="1"/>
              <a:t>strategy</a:t>
            </a:r>
            <a:r>
              <a:rPr lang="tr-TR" dirty="0"/>
              <a:t>: Gerçek değerini teklif etmek</a:t>
            </a:r>
          </a:p>
          <a:p>
            <a:r>
              <a:rPr lang="tr-TR" dirty="0"/>
              <a:t>Neden?</a:t>
            </a:r>
          </a:p>
          <a:p>
            <a:pPr lvl="1"/>
            <a:r>
              <a:rPr lang="tr-TR" dirty="0"/>
              <a:t>Fazla teklif → kazanç düşer</a:t>
            </a:r>
          </a:p>
          <a:p>
            <a:pPr lvl="1"/>
            <a:r>
              <a:rPr lang="tr-TR" dirty="0"/>
              <a:t>Az teklif → kazanma şansı azalır</a:t>
            </a:r>
          </a:p>
          <a:p>
            <a:r>
              <a:rPr lang="tr-TR" dirty="0"/>
              <a:t>Dürüstlük → teşvik edilmiş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63EDB-9E0C-0A96-6E13-91B07F2C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0EC4C-F475-A3E5-E5B4-232D6D3E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E92DD-EC38-7CBD-06E4-678C608F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7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DE4E-14A1-0E5C-BFCA-50B7DDDC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Market Design Nedir?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0662-B0A1-95E9-091B-A3DE3E2FA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Piyasa kurallarının tasarlanması</a:t>
            </a:r>
          </a:p>
          <a:p>
            <a:r>
              <a:rPr lang="tr-TR" dirty="0"/>
              <a:t>Amaç:</a:t>
            </a:r>
          </a:p>
          <a:p>
            <a:pPr lvl="1"/>
            <a:r>
              <a:rPr lang="tr-TR" dirty="0"/>
              <a:t>Verimlilik</a:t>
            </a:r>
          </a:p>
          <a:p>
            <a:pPr lvl="1"/>
            <a:r>
              <a:rPr lang="tr-TR" dirty="0"/>
              <a:t>Adalet</a:t>
            </a:r>
          </a:p>
          <a:p>
            <a:pPr lvl="1"/>
            <a:r>
              <a:rPr lang="tr-TR" dirty="0"/>
              <a:t>Teşvik uyumluluğu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Organ bağışı sistemleri</a:t>
            </a:r>
          </a:p>
          <a:p>
            <a:pPr lvl="1"/>
            <a:r>
              <a:rPr lang="tr-TR" dirty="0"/>
              <a:t>Okul yerleştirme algoritmaları</a:t>
            </a:r>
          </a:p>
          <a:p>
            <a:pPr lvl="1"/>
            <a:r>
              <a:rPr lang="tr-TR" dirty="0"/>
              <a:t>Elektrik piyasaları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35ABE-A234-41E4-6FC1-C53A76F4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C08B-28B6-3123-4C6A-186EC301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4390-FB41-D901-0AC4-37E09297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94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CF7B-2B5F-2ED3-DD2E-3156D0C3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Auction</a:t>
            </a:r>
            <a:r>
              <a:rPr lang="tr-TR" dirty="0"/>
              <a:t> &amp; Market Design Bağlantısı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D71E-5AF7-E9DA-FB1A-7B4A1F9E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Açık artırmalar piyasa tasarımının bir parçasıdır</a:t>
            </a:r>
          </a:p>
          <a:p>
            <a:r>
              <a:rPr lang="tr-TR" dirty="0"/>
              <a:t>Tasarım hedefleri:</a:t>
            </a:r>
          </a:p>
          <a:p>
            <a:pPr lvl="1"/>
            <a:r>
              <a:rPr lang="tr-TR" dirty="0"/>
              <a:t>Manipülasyona karşı dirençli</a:t>
            </a:r>
          </a:p>
          <a:p>
            <a:pPr lvl="1"/>
            <a:r>
              <a:rPr lang="tr-TR" dirty="0"/>
              <a:t>Katılımcıları doğru bilgi vermeye teşvik eden</a:t>
            </a:r>
          </a:p>
          <a:p>
            <a:pPr lvl="1"/>
            <a:r>
              <a:rPr lang="tr-TR" dirty="0"/>
              <a:t>Toplumsal faydayı artıran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F969-5974-1E45-3F74-EFFC3D38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ACA9-BC88-E0C7-880B-F22CABD2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6AEC1-0F1F-CB53-80D7-544844B7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0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8101-56BD-81CE-4028-C7B62733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7EF4-1548-A717-194A-DF8A0C291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Siz olsanız hangi tür açık artırmaya katılmak isterdiniz?</a:t>
            </a:r>
          </a:p>
          <a:p>
            <a:r>
              <a:rPr lang="tr-TR" dirty="0" err="1"/>
              <a:t>Vickrey</a:t>
            </a:r>
            <a:r>
              <a:rPr lang="tr-TR" dirty="0"/>
              <a:t> açık artırmaları neden günlük hayatta az kullanılıyor olabilir?</a:t>
            </a:r>
          </a:p>
          <a:p>
            <a:r>
              <a:rPr lang="tr-TR" dirty="0"/>
              <a:t>Piyasa tasarımı gerçekten herkese adil sonuçlar sağlar mı?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8298-AF70-5AA2-A99D-CF9A705E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385F8-1FC8-B2A8-992F-BECE58F4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270B2-F44A-E373-5EAA-227481F4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5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A015-E5D6-35CB-443A-CAA2E423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Hangi tür açık artırmaya katılmak isterdiniz?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1A447-745F-DECC-1E10-06DB665A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English </a:t>
            </a:r>
            <a:r>
              <a:rPr lang="tr-TR" dirty="0" err="1"/>
              <a:t>Auction</a:t>
            </a:r>
            <a:r>
              <a:rPr lang="tr-TR" dirty="0"/>
              <a:t> (Açık artırma) </a:t>
            </a:r>
          </a:p>
          <a:p>
            <a:pPr lvl="1"/>
            <a:r>
              <a:rPr lang="tr-TR" dirty="0"/>
              <a:t>Şeffaf, heyecanlı, fiyatı adım adım görmek avantajlı olabilir.</a:t>
            </a:r>
          </a:p>
          <a:p>
            <a:r>
              <a:rPr lang="tr-TR" dirty="0" err="1"/>
              <a:t>Vickrey</a:t>
            </a:r>
            <a:r>
              <a:rPr lang="tr-TR" dirty="0"/>
              <a:t> </a:t>
            </a:r>
            <a:r>
              <a:rPr lang="tr-TR" dirty="0" err="1"/>
              <a:t>Auction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Dürüst teklif stratejisi teşvik edildiği için kafa rahatlığı sağlar.</a:t>
            </a:r>
          </a:p>
          <a:p>
            <a:r>
              <a:rPr lang="tr-TR" dirty="0" err="1"/>
              <a:t>Dutch</a:t>
            </a:r>
            <a:r>
              <a:rPr lang="tr-TR" dirty="0"/>
              <a:t> </a:t>
            </a:r>
            <a:r>
              <a:rPr lang="tr-TR" dirty="0" err="1"/>
              <a:t>Auction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Hızlı sonuç isteyenler için cazip.</a:t>
            </a:r>
          </a:p>
          <a:p>
            <a:r>
              <a:rPr lang="tr-TR" dirty="0"/>
              <a:t>👉 Tercih kişisel stratejiye ve risk iştahına bağlıdır.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EC98C-1979-60AA-E1F8-6DD53FBF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BEB01-C3B9-F008-F332-FE71C5D5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786E3-BD13-712C-57DE-2568C7ED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6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E731-CBC9-3CB9-B14F-32B549A0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Vickrey</a:t>
            </a:r>
            <a:r>
              <a:rPr lang="tr-TR" dirty="0"/>
              <a:t> açık artırmaları neden az kullanılıyor olabilir?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CA79-118E-0D4E-7E85-CDEEBE396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Güven sorunu</a:t>
            </a:r>
          </a:p>
          <a:p>
            <a:pPr lvl="1"/>
            <a:r>
              <a:rPr lang="tr-TR" dirty="0"/>
              <a:t>Katılımcılar, gerçekten ikinci en yüksek teklifin açıklanacağına inanmayabilir.</a:t>
            </a:r>
          </a:p>
          <a:p>
            <a:r>
              <a:rPr lang="tr-TR" dirty="0"/>
              <a:t>Anlaşılması zor </a:t>
            </a:r>
          </a:p>
          <a:p>
            <a:pPr lvl="1"/>
            <a:r>
              <a:rPr lang="tr-TR" dirty="0"/>
              <a:t>İnsanlar için “ikinci en yüksek fiyat” kuralı sezgisel değil.</a:t>
            </a:r>
          </a:p>
          <a:p>
            <a:r>
              <a:rPr lang="tr-TR" dirty="0"/>
              <a:t>Şeffaflık eksikliği </a:t>
            </a:r>
          </a:p>
          <a:p>
            <a:pPr lvl="1"/>
            <a:r>
              <a:rPr lang="tr-TR" dirty="0"/>
              <a:t>Açık artırmalar kadar heyecan vermez.</a:t>
            </a:r>
          </a:p>
          <a:p>
            <a:r>
              <a:rPr lang="tr-TR" dirty="0"/>
              <a:t>Pratiklik </a:t>
            </a:r>
          </a:p>
          <a:p>
            <a:pPr lvl="1"/>
            <a:r>
              <a:rPr lang="tr-TR" dirty="0"/>
              <a:t>Uygulaması daha karmaşık olabilir.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E5FA8-F897-27A3-0067-D74B14CC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1D887-7CDC-ED9C-93C9-21805C20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79D8-1537-0FBE-3367-614DFCA0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AF44-C652-6E1D-6331-72F6C090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Piyasa tasarımı herkese adil sonuçlar sağlar mı?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079C-AD9B-4B45-BEC4-C8DB072F0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Olumlu yönler:</a:t>
            </a:r>
          </a:p>
          <a:p>
            <a:pPr lvl="1"/>
            <a:r>
              <a:rPr lang="tr-TR" dirty="0"/>
              <a:t>Kurallar önceden belirlenir → öngörülebilirlik sağlar.</a:t>
            </a:r>
          </a:p>
          <a:p>
            <a:pPr lvl="1"/>
            <a:r>
              <a:rPr lang="tr-TR" dirty="0"/>
              <a:t>Manipülasyon azaltılabilir.</a:t>
            </a:r>
          </a:p>
          <a:p>
            <a:pPr lvl="1"/>
            <a:r>
              <a:rPr lang="tr-TR" dirty="0"/>
              <a:t>Daha verimli kaynak dağılımı mümkündür.</a:t>
            </a:r>
          </a:p>
          <a:p>
            <a:r>
              <a:rPr lang="tr-TR" dirty="0"/>
              <a:t>Olumsuz yönler:</a:t>
            </a:r>
          </a:p>
          <a:p>
            <a:pPr lvl="1"/>
            <a:r>
              <a:rPr lang="tr-TR" dirty="0"/>
              <a:t>Güçlü </a:t>
            </a:r>
            <a:r>
              <a:rPr lang="tr-TR"/>
              <a:t>oyuncular avantajlı </a:t>
            </a:r>
            <a:r>
              <a:rPr lang="tr-TR" dirty="0"/>
              <a:t>olabilir.</a:t>
            </a:r>
          </a:p>
          <a:p>
            <a:pPr lvl="1"/>
            <a:r>
              <a:rPr lang="tr-TR" dirty="0"/>
              <a:t>Adalet tanımı kişiden kişiye değişir.</a:t>
            </a:r>
          </a:p>
          <a:p>
            <a:pPr lvl="1"/>
            <a:r>
              <a:rPr lang="tr-TR" dirty="0"/>
              <a:t>Tasarımcıların niyetleri sonucu etkiler.</a:t>
            </a:r>
          </a:p>
          <a:p>
            <a:r>
              <a:rPr lang="tr-TR" dirty="0"/>
              <a:t>👉 Sonuç: Piyasa tasarımı adaleti artırabilir, ama “herkes için tam adalet” garanti değildir.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1FD47-B759-90E5-56F8-C55A3C27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7528-4716-723E-FE9A-B4200FF2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4B39-A2E8-5F77-AD08-2EC32AA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52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4832</TotalTime>
  <Words>475</Words>
  <Application>Microsoft Office PowerPoint</Application>
  <PresentationFormat>Widescreen</PresentationFormat>
  <Paragraphs>110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Bölüm 5: Açık Artırma</vt:lpstr>
      <vt:lpstr>Açık Artırmaların Önemi</vt:lpstr>
      <vt:lpstr>Açık Artırma Türleri</vt:lpstr>
      <vt:lpstr>Vickrey Auction – Stratejik Özellik</vt:lpstr>
      <vt:lpstr>Market Design Nedir?</vt:lpstr>
      <vt:lpstr>Auction &amp; Market Design Bağlantısı</vt:lpstr>
      <vt:lpstr>Tartışma Soruları</vt:lpstr>
      <vt:lpstr>Hangi tür açık artırmaya katılmak isterdiniz?</vt:lpstr>
      <vt:lpstr>Vickrey açık artırmaları neden az kullanılıyor olabilir?</vt:lpstr>
      <vt:lpstr>Piyasa tasarımı herkese adil sonuçlar sağlar mı?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Acik Artirma</dc:title>
  <dc:creator>sercan</dc:creator>
  <cp:lastModifiedBy>Sercan Kulcu</cp:lastModifiedBy>
  <cp:revision>329</cp:revision>
  <dcterms:created xsi:type="dcterms:W3CDTF">2023-01-12T09:23:55Z</dcterms:created>
  <dcterms:modified xsi:type="dcterms:W3CDTF">2025-09-26T21:10:43Z</dcterms:modified>
</cp:coreProperties>
</file>