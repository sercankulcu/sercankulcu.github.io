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7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1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26.09.2025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3: </a:t>
            </a:r>
            <a:r>
              <a:rPr lang="tr-TR" b="1" dirty="0" err="1"/>
              <a:t>Nash</a:t>
            </a:r>
            <a:r>
              <a:rPr lang="tr-TR" b="1" dirty="0"/>
              <a:t> Dengesi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/>
              <a:t>Algoritmik</a:t>
            </a:r>
            <a:r>
              <a:rPr lang="tr-TR" sz="2800" b="1" dirty="0"/>
              <a:t> Oyun Kuramı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John </a:t>
            </a:r>
            <a:r>
              <a:rPr lang="tr-TR" dirty="0" err="1"/>
              <a:t>Nash</a:t>
            </a:r>
            <a:r>
              <a:rPr lang="tr-TR" dirty="0"/>
              <a:t> Kimdir?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Amerikalı matematikçi (1928–2015)</a:t>
            </a:r>
          </a:p>
          <a:p>
            <a:r>
              <a:rPr lang="tr-TR" dirty="0"/>
              <a:t>1994 Ekonomi Nobel Ödülü sahibi</a:t>
            </a:r>
          </a:p>
          <a:p>
            <a:r>
              <a:rPr lang="tr-TR" dirty="0"/>
              <a:t>Oyun kuramına yaptığı katkılarla tanındı</a:t>
            </a:r>
          </a:p>
          <a:p>
            <a:r>
              <a:rPr lang="tr-TR" i="1" dirty="0"/>
              <a:t>A </a:t>
            </a:r>
            <a:r>
              <a:rPr lang="tr-TR" i="1" dirty="0" err="1"/>
              <a:t>Beautiful</a:t>
            </a:r>
            <a:r>
              <a:rPr lang="tr-TR" i="1" dirty="0"/>
              <a:t> </a:t>
            </a:r>
            <a:r>
              <a:rPr lang="tr-TR" i="1" dirty="0" err="1"/>
              <a:t>Mind</a:t>
            </a:r>
            <a:r>
              <a:rPr lang="tr-TR" i="1" dirty="0"/>
              <a:t> </a:t>
            </a:r>
            <a:r>
              <a:rPr lang="tr-TR" dirty="0"/>
              <a:t>filmi hayatını konu aldı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 descr="A person in a suit holding a phone to his ear&#10;&#10;AI-generated content may be incorrect.">
            <a:extLst>
              <a:ext uri="{FF2B5EF4-FFF2-40B4-BE49-F238E27FC236}">
                <a16:creationId xmlns:a16="http://schemas.microsoft.com/office/drawing/2014/main" id="{3219818D-037C-A08D-9658-8FBBE8DD8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804" y="2816832"/>
            <a:ext cx="4214686" cy="353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98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C928-54B3-2B15-4C94-A8BBDA33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Stratejik Davranış Nedir?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2B6DE-82F4-110B-C66F-F8E443B79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Oyuncular kendi çıkarlarını maksimize etmeye çalışır</a:t>
            </a:r>
          </a:p>
          <a:p>
            <a:r>
              <a:rPr lang="tr-TR" dirty="0"/>
              <a:t>Herkesin seçimi, diğerlerinin seçimlerine bağlıdır</a:t>
            </a:r>
          </a:p>
          <a:p>
            <a:r>
              <a:rPr lang="tr-TR" b="1" dirty="0"/>
              <a:t>Örnek</a:t>
            </a:r>
            <a:r>
              <a:rPr lang="tr-TR" dirty="0"/>
              <a:t>: Trafikte şerit seçimi, fiyat rekabeti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446A2-F043-BB24-D9DA-17DCB924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6826A-83FF-C98E-F5D9-8699CEC90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46C72-BBD5-B733-FE45-79A2A9F6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065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FC4E-94E1-1660-F129-BA794CEE3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Nash</a:t>
            </a:r>
            <a:r>
              <a:rPr lang="tr-TR" dirty="0"/>
              <a:t> Dengesi Tanımı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D870A-418C-870C-B3F0-2C844EC6E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Hiçbir oyuncunun, tek taraflı strateji değiştirerek daha iyi sonuç elde edemediği strateji</a:t>
            </a:r>
          </a:p>
          <a:p>
            <a:r>
              <a:rPr lang="tr-TR" dirty="0"/>
              <a:t>Kararlılık noktasıdır</a:t>
            </a:r>
          </a:p>
          <a:p>
            <a:r>
              <a:rPr lang="tr-TR" dirty="0"/>
              <a:t>Tüm oyuncular için </a:t>
            </a:r>
            <a:r>
              <a:rPr lang="tr-TR" i="1" dirty="0"/>
              <a:t>“karşılıklı en iyi cevap”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944BB-BCE4-2C2C-32F7-E84545AB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8303B-ED41-2E02-D517-A86F04C22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E8657-649A-8C43-440B-7215F2F2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746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DD7A7-BE72-7393-BDAE-B51085F5C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Basit Örnek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B606A-6F67-E84D-D7EB-3373D6A2D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2 Oyunculu Oyun Tablosu (</a:t>
            </a:r>
            <a:r>
              <a:rPr lang="tr-TR" dirty="0" err="1"/>
              <a:t>Payoff</a:t>
            </a:r>
            <a:r>
              <a:rPr lang="tr-TR" dirty="0"/>
              <a:t> </a:t>
            </a:r>
            <a:r>
              <a:rPr lang="tr-TR" dirty="0" err="1"/>
              <a:t>Matrix</a:t>
            </a:r>
            <a:r>
              <a:rPr lang="tr-TR" dirty="0"/>
              <a:t>)</a:t>
            </a:r>
          </a:p>
          <a:p>
            <a:r>
              <a:rPr lang="tr-TR" dirty="0"/>
              <a:t>Hücrelerde her oyuncunun kazancı</a:t>
            </a:r>
          </a:p>
          <a:p>
            <a:r>
              <a:rPr lang="tr-TR" dirty="0"/>
              <a:t>Dengeyi belirlemek için:</a:t>
            </a:r>
          </a:p>
          <a:p>
            <a:pPr lvl="1"/>
            <a:r>
              <a:rPr lang="tr-TR" dirty="0"/>
              <a:t>Her oyuncunun en iyi tepkisi işaretlenir</a:t>
            </a:r>
          </a:p>
          <a:p>
            <a:pPr lvl="1"/>
            <a:r>
              <a:rPr lang="tr-TR" dirty="0"/>
              <a:t>Çakışan hücre = </a:t>
            </a:r>
            <a:r>
              <a:rPr lang="tr-TR" dirty="0" err="1"/>
              <a:t>Nash</a:t>
            </a:r>
            <a:r>
              <a:rPr lang="tr-TR" dirty="0"/>
              <a:t> Dengesi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17950-62B7-E29F-B440-992DEC925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98FB0-0602-05C6-40CB-75E39A961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FAE44-AA11-53E4-F3C9-27330D7E4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052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BFF7B-3191-54CB-8927-5C603CE17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Prisoner’s</a:t>
            </a:r>
            <a:r>
              <a:rPr lang="tr-TR" dirty="0"/>
              <a:t> Dilemma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B9626-313F-DF38-9C2A-577CC8408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İki kişi suçtan tutuklanır</a:t>
            </a:r>
          </a:p>
          <a:p>
            <a:r>
              <a:rPr lang="tr-TR" dirty="0"/>
              <a:t>İtiraf / İnkâr seçenekleri</a:t>
            </a:r>
          </a:p>
          <a:p>
            <a:r>
              <a:rPr lang="tr-TR" dirty="0"/>
              <a:t>Sonuç:</a:t>
            </a:r>
          </a:p>
          <a:p>
            <a:pPr lvl="1"/>
            <a:r>
              <a:rPr lang="tr-TR" dirty="0"/>
              <a:t>Her iki oyuncu için en iyi toplumsal sonuç ≠ </a:t>
            </a:r>
            <a:r>
              <a:rPr lang="tr-TR" dirty="0" err="1"/>
              <a:t>Nash</a:t>
            </a:r>
            <a:r>
              <a:rPr lang="tr-TR" dirty="0"/>
              <a:t> dengesi</a:t>
            </a:r>
          </a:p>
          <a:p>
            <a:pPr lvl="1"/>
            <a:r>
              <a:rPr lang="tr-TR" dirty="0" err="1"/>
              <a:t>Nash</a:t>
            </a:r>
            <a:r>
              <a:rPr lang="tr-TR" dirty="0"/>
              <a:t> Dengesi = İtiraf / İtiraf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9C310-0E5C-E7BB-4820-7109F7791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4AF99-6D1F-40DA-6C62-1B7B10B59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EA11B-182D-63BD-026B-CE4DFB4F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016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12502-C1F8-AD30-5E41-23F61C2D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Battle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Sexes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6AA9E-0289-80E0-5ACC-0E31540EF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Koordinasyon problemi</a:t>
            </a:r>
          </a:p>
          <a:p>
            <a:r>
              <a:rPr lang="tr-TR" dirty="0"/>
              <a:t>Oyuncular birlikte vakit geçirmek ister, ama farklı tercihler</a:t>
            </a:r>
          </a:p>
          <a:p>
            <a:r>
              <a:rPr lang="tr-TR" dirty="0"/>
              <a:t>İki </a:t>
            </a:r>
            <a:r>
              <a:rPr lang="tr-TR" dirty="0" err="1"/>
              <a:t>Nash</a:t>
            </a:r>
            <a:r>
              <a:rPr lang="tr-TR" dirty="0"/>
              <a:t> dengesi vardır → Koordinasyon gerekli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E759A-82D4-E356-F02F-E3A366D5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73642-2F01-E8C5-1AB1-6860DA78B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E9F9B-7E5E-BC9B-A028-D2BC98B2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200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6B6D-7BB5-54D1-8ABE-E42685904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Matching</a:t>
            </a:r>
            <a:r>
              <a:rPr lang="tr-TR" dirty="0"/>
              <a:t> </a:t>
            </a:r>
            <a:r>
              <a:rPr lang="tr-TR" dirty="0" err="1"/>
              <a:t>Pennies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58239-EB9A-0E3E-290D-157BAE857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Oyuncu 1: Yazı / Tura seçer</a:t>
            </a:r>
          </a:p>
          <a:p>
            <a:r>
              <a:rPr lang="tr-TR" dirty="0"/>
              <a:t>Oyuncu 2: Aynısını mı, tersini mi seçecek?</a:t>
            </a:r>
          </a:p>
          <a:p>
            <a:r>
              <a:rPr lang="tr-TR" dirty="0"/>
              <a:t>Saf stratejilerde </a:t>
            </a:r>
            <a:r>
              <a:rPr lang="tr-TR" dirty="0" err="1"/>
              <a:t>Nash</a:t>
            </a:r>
            <a:r>
              <a:rPr lang="tr-TR" dirty="0"/>
              <a:t> dengesi yok</a:t>
            </a:r>
          </a:p>
          <a:p>
            <a:r>
              <a:rPr lang="tr-TR" dirty="0"/>
              <a:t>Karışık strateji gerekir (%50–%50)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05616-D3F2-ED4A-863C-80D4A639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A6ACA-3644-00BF-6633-EDDC6D2AE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D0582-0F14-EB40-62F1-4DBE8A8D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446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7F0E-2219-B8CF-E027-254DB91D8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Stratejik Davranışın Önemi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294CD-B5F3-D5CA-7EA4-4CAB10345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Oyunlar sadece bireysel değil, toplumsal sonuçlar doğurur</a:t>
            </a:r>
          </a:p>
          <a:p>
            <a:r>
              <a:rPr lang="tr-TR" dirty="0"/>
              <a:t>Tekrarlanan oyunlar → işbirliği mümkün</a:t>
            </a:r>
          </a:p>
          <a:p>
            <a:r>
              <a:rPr lang="tr-TR" dirty="0"/>
              <a:t>Stratejiler:</a:t>
            </a:r>
          </a:p>
          <a:p>
            <a:pPr lvl="1"/>
            <a:r>
              <a:rPr lang="tr-TR" dirty="0" err="1"/>
              <a:t>Tit</a:t>
            </a:r>
            <a:r>
              <a:rPr lang="tr-TR" dirty="0"/>
              <a:t>-</a:t>
            </a:r>
            <a:r>
              <a:rPr lang="tr-TR" dirty="0" err="1"/>
              <a:t>for</a:t>
            </a:r>
            <a:r>
              <a:rPr lang="tr-TR" dirty="0"/>
              <a:t>-Tat</a:t>
            </a:r>
          </a:p>
          <a:p>
            <a:pPr lvl="1"/>
            <a:r>
              <a:rPr lang="tr-TR" dirty="0"/>
              <a:t>Ceza / ödül mekanizmaları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27F86-4324-7A0F-4E17-3E5D9BFA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6FB5F-AF76-3A79-5DA2-1F33D569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F8C97-CDBC-57C8-08A5-19AB06D3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101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C9E85-4AD7-50BF-4AA0-3836097A0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Gerçek Hayat Uygulamaları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B13CF-9BA1-D678-6516-51880334A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Rekabetçi piyasalar</a:t>
            </a:r>
          </a:p>
          <a:p>
            <a:r>
              <a:rPr lang="tr-TR" dirty="0"/>
              <a:t>Reklam savaşları</a:t>
            </a:r>
          </a:p>
          <a:p>
            <a:r>
              <a:rPr lang="tr-TR" dirty="0"/>
              <a:t>Silahlanma yarışı</a:t>
            </a:r>
          </a:p>
          <a:p>
            <a:r>
              <a:rPr lang="tr-TR" dirty="0"/>
              <a:t>Futbol penaltı atışları</a:t>
            </a:r>
          </a:p>
          <a:p>
            <a:r>
              <a:rPr lang="tr-TR" dirty="0"/>
              <a:t>Trafikte şerit değiştirme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20485-7941-3E7C-8766-87DA2CAE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1E3C6-9743-1917-718B-BE42168A1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23039-350A-B216-DAA0-B6B53F99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256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58B7F-04B3-4E2A-76C8-DCEC42041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Tartışma Soruları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9CE83-D294-BBFF-0DC6-5D4B46D00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Nash</a:t>
            </a:r>
            <a:r>
              <a:rPr lang="tr-TR" dirty="0"/>
              <a:t> dengesi her zaman adil midir?</a:t>
            </a:r>
          </a:p>
          <a:p>
            <a:r>
              <a:rPr lang="tr-TR" dirty="0"/>
              <a:t>İnsanlar gerçekten rasyonel davranır mı?</a:t>
            </a:r>
          </a:p>
          <a:p>
            <a:r>
              <a:rPr lang="tr-TR" dirty="0"/>
              <a:t>Stratejik davranışın etik sınırları var mıdır?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71138-806D-19CE-96C5-EA6485E4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24844-77D7-175B-274B-86C980D27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B7CE6-36FD-192C-6EA0-6BAC8AD7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805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A93F-40DD-039F-1E52-3BA987BC7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Nash</a:t>
            </a:r>
            <a:r>
              <a:rPr lang="tr-TR" dirty="0"/>
              <a:t> Dengesi Her Zaman Adil midir?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764C5-064F-F70E-4318-953A663C0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Hayır, her zaman adil değildir.</a:t>
            </a:r>
          </a:p>
          <a:p>
            <a:r>
              <a:rPr lang="tr-TR" dirty="0"/>
              <a:t>Denge → oyuncuların birbirine en iyi cevabı</a:t>
            </a:r>
          </a:p>
          <a:p>
            <a:r>
              <a:rPr lang="tr-TR" dirty="0"/>
              <a:t>Ancak:</a:t>
            </a:r>
          </a:p>
          <a:p>
            <a:pPr lvl="1"/>
            <a:r>
              <a:rPr lang="tr-TR" dirty="0"/>
              <a:t>Kazançlar eşit olmayabilir (Battle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Sexes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Toplumsal açıdan daha iyi sonuçlar mümkün (</a:t>
            </a:r>
            <a:r>
              <a:rPr lang="tr-TR" dirty="0" err="1"/>
              <a:t>Prisoner’s</a:t>
            </a:r>
            <a:r>
              <a:rPr lang="tr-TR" dirty="0"/>
              <a:t> Dilemma)</a:t>
            </a:r>
          </a:p>
          <a:p>
            <a:r>
              <a:rPr lang="tr-TR" dirty="0"/>
              <a:t>Adalet ≠ Denge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835F8-9C3D-8D68-5548-6086418AF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8BC88-27AC-1E23-96E2-1A95213F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709CD-1F62-7A0B-5862-20CA03A62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752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60D3-A70C-9C45-E4DA-575C18E0F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İnsanlar Gerçekten Rasyonel Davranır mı?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FA8EF-C3C9-D9CB-2012-DE9F7B3CA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Teori: Oyuncular tam rasyonel kabul edilir</a:t>
            </a:r>
          </a:p>
          <a:p>
            <a:r>
              <a:rPr lang="tr-TR" dirty="0"/>
              <a:t>Gerçek hayatta:</a:t>
            </a:r>
          </a:p>
          <a:p>
            <a:pPr lvl="1"/>
            <a:r>
              <a:rPr lang="tr-TR" dirty="0"/>
              <a:t>Bilişsel sınırlamalar (sınırlı rasyonalite – Herbert Simon)</a:t>
            </a:r>
          </a:p>
          <a:p>
            <a:pPr lvl="1"/>
            <a:r>
              <a:rPr lang="tr-TR" dirty="0"/>
              <a:t>Duygular ve psikoloji etkisi</a:t>
            </a:r>
          </a:p>
          <a:p>
            <a:pPr lvl="1"/>
            <a:r>
              <a:rPr lang="tr-TR" dirty="0"/>
              <a:t>Hatalı tahminler ve önyargılar</a:t>
            </a:r>
          </a:p>
          <a:p>
            <a:r>
              <a:rPr lang="tr-TR" dirty="0"/>
              <a:t>Sonuç: İnsan davranışı çoğu zaman rasyonel değil, ama oyun kuramı için güçlü bir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BD878-0728-241D-4711-5BE47812D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A90B0-4D9D-6CCF-4B3D-D44A7059F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0E694-7971-BD0D-69BC-E2F8B578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734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EF64D-153D-2430-1307-87C063B2F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Stratejik Davranışın Etik Sınırları Var mıdır?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35B75-9F3D-0761-462F-41BED01B0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Stratejik davranış bazen etik sorunlar doğurur:</a:t>
            </a:r>
          </a:p>
          <a:p>
            <a:pPr lvl="1"/>
            <a:r>
              <a:rPr lang="tr-TR" dirty="0"/>
              <a:t>Aldatma / manipülasyon</a:t>
            </a:r>
          </a:p>
          <a:p>
            <a:pPr lvl="1"/>
            <a:r>
              <a:rPr lang="tr-TR" dirty="0"/>
              <a:t>Adil olmayan avantaj yaratma</a:t>
            </a:r>
          </a:p>
          <a:p>
            <a:pPr lvl="1"/>
            <a:r>
              <a:rPr lang="tr-TR" dirty="0"/>
              <a:t>“Kazanmak için her yol mubah mı?” sorusu</a:t>
            </a:r>
          </a:p>
          <a:p>
            <a:r>
              <a:rPr lang="tr-TR" dirty="0"/>
              <a:t>İş dünyası, politika, spor → etik kurallar dengeleyici rol oynar</a:t>
            </a:r>
          </a:p>
          <a:p>
            <a:r>
              <a:rPr lang="tr-TR" dirty="0"/>
              <a:t>Stratejik davranış var, ama etik sınırlar toplum tarafından çizilir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2C319-7D10-0C67-6CFC-E63B4987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C7B85-E90F-C24C-6832-900FBF604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02504-AEFF-4E18-4429-B2D28C8F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003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4806</TotalTime>
  <Words>540</Words>
  <Application>Microsoft Office PowerPoint</Application>
  <PresentationFormat>Widescreen</PresentationFormat>
  <Paragraphs>124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Bölüm 3: Nash Dengesi</vt:lpstr>
      <vt:lpstr>John Nash Kimdir?</vt:lpstr>
      <vt:lpstr>Stratejik Davranış Nedir?</vt:lpstr>
      <vt:lpstr>Nash Dengesi Tanımı</vt:lpstr>
      <vt:lpstr>Basit Örnek</vt:lpstr>
      <vt:lpstr>Prisoner’s Dilemma</vt:lpstr>
      <vt:lpstr>Battle of the Sexes</vt:lpstr>
      <vt:lpstr>Matching Pennies</vt:lpstr>
      <vt:lpstr>Stratejik Davranışın Önemi</vt:lpstr>
      <vt:lpstr>Gerçek Hayat Uygulamaları</vt:lpstr>
      <vt:lpstr>Tartışma Soruları</vt:lpstr>
      <vt:lpstr>Nash Dengesi Her Zaman Adil midir?</vt:lpstr>
      <vt:lpstr>İnsanlar Gerçekten Rasyonel Davranır mı?</vt:lpstr>
      <vt:lpstr>Stratejik Davranışın Etik Sınırları Var mıdır?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Nash</dc:title>
  <dc:creator>sercan</dc:creator>
  <cp:lastModifiedBy>Sercan Kulcu</cp:lastModifiedBy>
  <cp:revision>322</cp:revision>
  <dcterms:created xsi:type="dcterms:W3CDTF">2023-01-12T09:23:55Z</dcterms:created>
  <dcterms:modified xsi:type="dcterms:W3CDTF">2025-09-26T19:41:49Z</dcterms:modified>
</cp:coreProperties>
</file>