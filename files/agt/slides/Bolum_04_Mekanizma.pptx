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7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1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26.09.2025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4: Mekanizma Tasarımı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Mekanizma Tasarımı Nedir?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Oyun kuramının “ters” yaklaşımı</a:t>
            </a:r>
          </a:p>
          <a:p>
            <a:r>
              <a:rPr lang="tr-TR" dirty="0"/>
              <a:t>İstenen sonucu elde etmek için kurallar tasarlama</a:t>
            </a:r>
          </a:p>
          <a:p>
            <a:r>
              <a:rPr lang="tr-TR" dirty="0"/>
              <a:t>Amaç: Oyuncuların doğru stratejiyi seçmesini sağlamak</a:t>
            </a:r>
          </a:p>
          <a:p>
            <a:r>
              <a:rPr lang="tr-TR" dirty="0"/>
              <a:t>Gerçek hayatta: Vergiler, ihaleler, seçim sistemleri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E3D22-0792-E41B-5CBC-558126288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Oyun Kuramı </a:t>
            </a:r>
            <a:r>
              <a:rPr lang="tr-TR" dirty="0" err="1"/>
              <a:t>vs</a:t>
            </a:r>
            <a:r>
              <a:rPr lang="tr-TR" dirty="0"/>
              <a:t> Mekanizma Tasarımı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7A82E-AE7A-BB61-5950-458D12A23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Oyun kuramı: Kurallar → Sonuç</a:t>
            </a:r>
          </a:p>
          <a:p>
            <a:r>
              <a:rPr lang="tr-TR" dirty="0"/>
              <a:t>Mekanizma tasarımı: Sonuç → Kurallar</a:t>
            </a:r>
          </a:p>
          <a:p>
            <a:r>
              <a:rPr lang="tr-TR" dirty="0"/>
              <a:t>Sorulacak soru: </a:t>
            </a:r>
          </a:p>
          <a:p>
            <a:pPr lvl="1"/>
            <a:r>
              <a:rPr lang="tr-TR" dirty="0"/>
              <a:t>“Bu sonucu elde etmek için hangi mekanizma gerekir?”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317C9-30A0-2FCB-30E5-86DCC4F6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EBD1E-0969-1EA1-3116-3375894C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08DEF-6C67-3957-C397-B30A02A7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89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14B8-2C80-1986-319F-58600DB7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Teşvik (</a:t>
            </a:r>
            <a:r>
              <a:rPr lang="tr-TR" dirty="0" err="1"/>
              <a:t>Incentives</a:t>
            </a:r>
            <a:r>
              <a:rPr lang="tr-T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CDEC8-C69C-4777-1C18-323D08A53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İnsanlar teşviklere göre davranır</a:t>
            </a:r>
          </a:p>
          <a:p>
            <a:r>
              <a:rPr lang="tr-TR" dirty="0"/>
              <a:t>İyi bir mekanizma:</a:t>
            </a:r>
          </a:p>
          <a:p>
            <a:pPr lvl="1"/>
            <a:r>
              <a:rPr lang="tr-TR" dirty="0"/>
              <a:t>Dürüst davranışı ödüllendirir</a:t>
            </a:r>
          </a:p>
          <a:p>
            <a:pPr lvl="1"/>
            <a:r>
              <a:rPr lang="tr-TR" dirty="0"/>
              <a:t>Stratejik yalanı caydırır</a:t>
            </a:r>
          </a:p>
          <a:p>
            <a:r>
              <a:rPr lang="tr-TR" dirty="0"/>
              <a:t>“</a:t>
            </a:r>
            <a:r>
              <a:rPr lang="tr-TR" dirty="0" err="1"/>
              <a:t>Incentive</a:t>
            </a:r>
            <a:r>
              <a:rPr lang="tr-TR" dirty="0"/>
              <a:t> </a:t>
            </a:r>
            <a:r>
              <a:rPr lang="tr-TR" dirty="0" err="1"/>
              <a:t>compatibility</a:t>
            </a:r>
            <a:r>
              <a:rPr lang="tr-TR" dirty="0"/>
              <a:t>” = teşvik uyumluluğu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BEC9E-EF04-63C1-E81F-F139C877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26D30-26D6-CCA9-B4D3-AF57BE9E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C204D-5C1A-02E4-BCD1-8309214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275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8DB2-09ED-7085-DD69-DBFD20A3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Revelation</a:t>
            </a:r>
            <a:r>
              <a:rPr lang="tr-TR" dirty="0"/>
              <a:t> </a:t>
            </a:r>
            <a:r>
              <a:rPr lang="tr-TR" dirty="0" err="1"/>
              <a:t>Principle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9C91-B908-1419-55AE-D935654DA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Oyuncular gerçek bilgilerini açıklamaya motive edilebilir</a:t>
            </a:r>
          </a:p>
          <a:p>
            <a:r>
              <a:rPr lang="tr-TR" dirty="0"/>
              <a:t>Mekanizma tasarımı → dürüst bilgi ile de çalışabilir</a:t>
            </a:r>
          </a:p>
          <a:p>
            <a:r>
              <a:rPr lang="tr-TR" dirty="0"/>
              <a:t>Önemli: Tasarımda doğruluk teşvik edilmeli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B8CD4-4AE3-D3EF-4AE3-23E8A7C85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306C7-8F72-9E8B-740D-ECABE373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571DE-A9F3-2D8A-3940-5B79E608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786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CE509-D1CE-CFCF-615D-62B21BCE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Açık Artırmalar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59D03-1DBD-EE5B-FAEC-B5F607669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İngiliz artırması: Fiyat sürekli yükselir</a:t>
            </a:r>
          </a:p>
          <a:p>
            <a:r>
              <a:rPr lang="tr-TR" dirty="0"/>
              <a:t>Hollanda artırması: Fiyat düşer, ilk kabul eden kazanır</a:t>
            </a:r>
          </a:p>
          <a:p>
            <a:r>
              <a:rPr lang="tr-TR" dirty="0"/>
              <a:t>Kapalı zarf artırması:</a:t>
            </a:r>
          </a:p>
          <a:p>
            <a:pPr lvl="1"/>
            <a:r>
              <a:rPr lang="tr-TR" dirty="0"/>
              <a:t>First-</a:t>
            </a:r>
            <a:r>
              <a:rPr lang="tr-TR" dirty="0" err="1"/>
              <a:t>price</a:t>
            </a:r>
            <a:r>
              <a:rPr lang="tr-TR" dirty="0"/>
              <a:t>: En yüksek teklif → o fiyat öder</a:t>
            </a:r>
          </a:p>
          <a:p>
            <a:pPr lvl="1"/>
            <a:r>
              <a:rPr lang="tr-TR" dirty="0"/>
              <a:t>Second-</a:t>
            </a:r>
            <a:r>
              <a:rPr lang="tr-TR" dirty="0" err="1"/>
              <a:t>price</a:t>
            </a:r>
            <a:r>
              <a:rPr lang="tr-TR" dirty="0"/>
              <a:t> (</a:t>
            </a:r>
            <a:r>
              <a:rPr lang="tr-TR" dirty="0" err="1"/>
              <a:t>Vickrey</a:t>
            </a:r>
            <a:r>
              <a:rPr lang="tr-TR" dirty="0"/>
              <a:t>): En yüksek teklif → 2. fiyatı öder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268A8-BE7D-70CE-5AC8-56354D75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0E3A7-18D7-DEFF-CCBA-496696A9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FD8C3-9D35-26F9-1778-018AD79AA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25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6F3D-3EB9-A767-8694-DB7CDBD8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Vickrey</a:t>
            </a:r>
            <a:r>
              <a:rPr lang="tr-TR" dirty="0"/>
              <a:t> </a:t>
            </a:r>
            <a:r>
              <a:rPr lang="tr-TR" dirty="0" err="1"/>
              <a:t>Auction</a:t>
            </a:r>
            <a:r>
              <a:rPr lang="tr-TR" dirty="0"/>
              <a:t> (Second-</a:t>
            </a:r>
            <a:r>
              <a:rPr lang="tr-TR" dirty="0" err="1"/>
              <a:t>Price</a:t>
            </a:r>
            <a:r>
              <a:rPr lang="tr-T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EE698-AB86-C5D3-FFF9-6380643C5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Dürüst teklif = en iyi strateji</a:t>
            </a:r>
          </a:p>
          <a:p>
            <a:r>
              <a:rPr lang="tr-TR" dirty="0"/>
              <a:t>Teşvik uyumlu mekanizma örneği</a:t>
            </a:r>
          </a:p>
          <a:p>
            <a:r>
              <a:rPr lang="tr-TR" dirty="0"/>
              <a:t>Kullanım alanı: Google </a:t>
            </a:r>
            <a:r>
              <a:rPr lang="tr-TR" dirty="0" err="1"/>
              <a:t>Ads</a:t>
            </a:r>
            <a:r>
              <a:rPr lang="tr-TR" dirty="0"/>
              <a:t>, online reklam ihaleleri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756AD-B3AA-81DE-D0C1-C561F36DD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76B6F-3734-214E-E233-7F124AD60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0488-0F44-28CA-5416-1762A533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740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89A3-DDF1-53F2-D562-632A23DCB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Oylama Mekanizmaları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A8151-7559-99AE-7C75-8A01DBFA0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Tek seçimli oylama → stratejik oy riski</a:t>
            </a:r>
          </a:p>
          <a:p>
            <a:r>
              <a:rPr lang="tr-TR" dirty="0"/>
              <a:t>Çoğunluk kuralı</a:t>
            </a:r>
          </a:p>
          <a:p>
            <a:r>
              <a:rPr lang="tr-TR" dirty="0"/>
              <a:t>Borda sayımı</a:t>
            </a:r>
          </a:p>
          <a:p>
            <a:r>
              <a:rPr lang="tr-TR" dirty="0" err="1"/>
              <a:t>Arrow’un</a:t>
            </a:r>
            <a:r>
              <a:rPr lang="tr-TR" dirty="0"/>
              <a:t> İmkânsızlık Teoremi → “Mükemmel oylama sistemi yok”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7F7B4-2CAE-DB30-80F7-7491D411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12FC-D82C-1727-3FED-5F1AEF44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C8501-BE3F-E676-AAA4-068AE418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08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2652-E1BA-8468-6FA0-AA303F351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Teşvik Sorunları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A06E-4B47-7CFC-8F8E-AFA96B0F3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Oy kullanırken stratejik davranış</a:t>
            </a:r>
          </a:p>
          <a:p>
            <a:r>
              <a:rPr lang="tr-TR" dirty="0"/>
              <a:t>Kamu malları finansmanında “beleşçi” problemi</a:t>
            </a:r>
          </a:p>
          <a:p>
            <a:r>
              <a:rPr lang="tr-TR" dirty="0"/>
              <a:t>Teşvik uyumsuzluğu → adil olmayan sonuçlar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EFE6C-B08D-5602-B960-26094E155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FE32A-FC81-DDA0-15F9-55392797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75A7E-FBEC-7E58-8364-0CA43CCC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104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6D098-96A5-C3CD-5BE6-6A74D95E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Gerçek Hayat Uygulamaları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06DD-7E78-A360-0D98-4E941F2C8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Vergi sistemleri</a:t>
            </a:r>
          </a:p>
          <a:p>
            <a:r>
              <a:rPr lang="tr-TR" dirty="0"/>
              <a:t>Kamu malı finansmanı</a:t>
            </a:r>
          </a:p>
          <a:p>
            <a:r>
              <a:rPr lang="tr-TR" dirty="0"/>
              <a:t>İhale ve artırmalar</a:t>
            </a:r>
          </a:p>
          <a:p>
            <a:r>
              <a:rPr lang="tr-TR" dirty="0"/>
              <a:t>Online reklam açık artırmaları</a:t>
            </a:r>
          </a:p>
          <a:p>
            <a:r>
              <a:rPr lang="tr-TR" dirty="0"/>
              <a:t>Üniversite derslerinde grup proje notlama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C6D6E-81B8-C1A5-A6A1-4865B754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E8ECC-F695-CFCD-2570-1330A4446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14F7F-A42F-46F4-47D7-F34011F4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211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DBF5-8943-3A12-09FD-4391AED4D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8247C-155B-6A1E-A02B-95AEAE1BB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İnsanlar her zaman teşviklere göre mi hareket eder?</a:t>
            </a:r>
          </a:p>
          <a:p>
            <a:r>
              <a:rPr lang="tr-TR" dirty="0"/>
              <a:t>Hangi açık artırma en adilidir?</a:t>
            </a:r>
          </a:p>
          <a:p>
            <a:r>
              <a:rPr lang="tr-TR" dirty="0"/>
              <a:t>Mekanizma tasarımında etik sorunlar ortaya çıkabilir mi?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A2540-BB88-5808-AEEC-11BB475C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A060F-91AB-D89B-16B5-1FAFA286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505C4-BAE9-9B8E-BFDC-B7EF4272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285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C8EC-238B-789E-4986-486C03310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İnsanlar Her Zaman Teşviklere Göre mi Hareket Eder?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4A67B-6576-907C-48FA-347A1841F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Teoride: İnsanlar çıkarlarını maksimize eder</a:t>
            </a:r>
          </a:p>
          <a:p>
            <a:r>
              <a:rPr lang="tr-TR" dirty="0"/>
              <a:t>Gerçekte:</a:t>
            </a:r>
          </a:p>
          <a:p>
            <a:pPr lvl="1"/>
            <a:r>
              <a:rPr lang="tr-TR" dirty="0"/>
              <a:t>Duygular, ahlak, alışkanlıklar etkili olabilir</a:t>
            </a:r>
          </a:p>
          <a:p>
            <a:pPr lvl="1"/>
            <a:r>
              <a:rPr lang="tr-TR" dirty="0"/>
              <a:t>Bazen insanlar rasyonel olmayan seçimler yapar</a:t>
            </a:r>
          </a:p>
          <a:p>
            <a:r>
              <a:rPr lang="tr-TR" dirty="0"/>
              <a:t>👉 Teşvikler güçlüdür, ama her zaman tek belirleyici değildir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1787D-F0E8-9867-0C76-F1110907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A94DC-27A7-3D4A-EB4C-35CFB535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4A88-DDB6-2F56-959A-93945676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1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D397B-C43D-9CF0-5E71-02A305E6F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Hangi Açık Artırma En Adilidir?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F0BD4-50AE-B7D5-DE94-265A7D043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İngiliz artırması: Şeffaf ama stratejik olabilir</a:t>
            </a:r>
          </a:p>
          <a:p>
            <a:r>
              <a:rPr lang="tr-TR" dirty="0"/>
              <a:t>Hollanda artırması: Hızlı ama riskli</a:t>
            </a:r>
          </a:p>
          <a:p>
            <a:r>
              <a:rPr lang="tr-TR" dirty="0"/>
              <a:t>First-</a:t>
            </a:r>
            <a:r>
              <a:rPr lang="tr-TR" dirty="0" err="1"/>
              <a:t>price</a:t>
            </a:r>
            <a:r>
              <a:rPr lang="tr-TR" dirty="0"/>
              <a:t> </a:t>
            </a:r>
            <a:r>
              <a:rPr lang="tr-TR" dirty="0" err="1"/>
              <a:t>sealed</a:t>
            </a:r>
            <a:r>
              <a:rPr lang="tr-TR" dirty="0"/>
              <a:t> </a:t>
            </a:r>
            <a:r>
              <a:rPr lang="tr-TR" dirty="0" err="1"/>
              <a:t>bid</a:t>
            </a:r>
            <a:r>
              <a:rPr lang="tr-TR" dirty="0"/>
              <a:t>: Stratejik teklif vermek gerekir</a:t>
            </a:r>
          </a:p>
          <a:p>
            <a:r>
              <a:rPr lang="tr-TR" dirty="0"/>
              <a:t>Second-</a:t>
            </a:r>
            <a:r>
              <a:rPr lang="tr-TR" dirty="0" err="1"/>
              <a:t>price</a:t>
            </a:r>
            <a:r>
              <a:rPr lang="tr-TR" dirty="0"/>
              <a:t> (</a:t>
            </a:r>
            <a:r>
              <a:rPr lang="tr-TR" dirty="0" err="1"/>
              <a:t>Vickrey</a:t>
            </a:r>
            <a:r>
              <a:rPr lang="tr-TR" dirty="0"/>
              <a:t>): Dürüst teklif en iyi strateji → çoğu zaman en adil kabul edilir</a:t>
            </a:r>
          </a:p>
          <a:p>
            <a:r>
              <a:rPr lang="tr-TR" dirty="0"/>
              <a:t>👉 “Adalet” tanımı bağlama göre değişir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35B2C-BAD7-D592-D52E-2C5FE0DE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DF6EA-0A3C-B4E1-8C3F-E77EC0F1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B1E0A-3F5D-10A6-D4E0-D18A469A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3063-4F11-5257-3439-BD48F57AE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Mekanizma Tasarımında Etik Sorunlar Olabilir mi?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59A20-87D8-DB76-65C0-87C4362BF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⚠️ Evet, olabilir:</a:t>
            </a:r>
          </a:p>
          <a:p>
            <a:pPr lvl="1"/>
            <a:r>
              <a:rPr lang="tr-TR" dirty="0"/>
              <a:t>Manipülasyon ve bilgi saklama</a:t>
            </a:r>
          </a:p>
          <a:p>
            <a:pPr lvl="1"/>
            <a:r>
              <a:rPr lang="tr-TR" dirty="0"/>
              <a:t>Güçlü oyuncuların avantaj sağlaması</a:t>
            </a:r>
          </a:p>
          <a:p>
            <a:pPr lvl="1"/>
            <a:r>
              <a:rPr lang="tr-TR" dirty="0"/>
              <a:t>Adil olmayan gelir dağılımı</a:t>
            </a:r>
          </a:p>
          <a:p>
            <a:r>
              <a:rPr lang="tr-TR" dirty="0"/>
              <a:t>🌍 Etik sınırlar toplum/kurum tarafından belirlenmeli</a:t>
            </a:r>
          </a:p>
          <a:p>
            <a:r>
              <a:rPr lang="tr-TR" dirty="0"/>
              <a:t>👉 İyi mekanizma = sadece verimli değil, aynı zamanda adil ve etik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96469-4E03-6B06-AB59-F4A4226C2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3AD62-98C1-8CA4-A424-B4F43602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DAB9E-EF48-3B6B-046B-96EEEF93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4818</TotalTime>
  <Words>545</Words>
  <Application>Microsoft Office PowerPoint</Application>
  <PresentationFormat>Widescreen</PresentationFormat>
  <Paragraphs>121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Bölüm 4: Mekanizma Tasarımı</vt:lpstr>
      <vt:lpstr>Mekanizma Tasarımı Nedir?</vt:lpstr>
      <vt:lpstr>Oyun Kuramı vs Mekanizma Tasarımı</vt:lpstr>
      <vt:lpstr>Teşvik (Incentives)</vt:lpstr>
      <vt:lpstr>Revelation Principle</vt:lpstr>
      <vt:lpstr>Açık Artırmalar</vt:lpstr>
      <vt:lpstr>Vickrey Auction (Second-Price)</vt:lpstr>
      <vt:lpstr>Oylama Mekanizmaları</vt:lpstr>
      <vt:lpstr>Teşvik Sorunları</vt:lpstr>
      <vt:lpstr>Gerçek Hayat Uygulamaları</vt:lpstr>
      <vt:lpstr>Tartışma Soruları</vt:lpstr>
      <vt:lpstr>İnsanlar Her Zaman Teşviklere Göre mi Hareket Eder?</vt:lpstr>
      <vt:lpstr>Hangi Açık Artırma En Adilidir?</vt:lpstr>
      <vt:lpstr>Mekanizma Tasarımında Etik Sorunlar Olabilir mi?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Mekanizma</dc:title>
  <dc:creator>sercan</dc:creator>
  <cp:lastModifiedBy>Sercan Kulcu</cp:lastModifiedBy>
  <cp:revision>326</cp:revision>
  <dcterms:created xsi:type="dcterms:W3CDTF">2023-01-12T09:23:55Z</dcterms:created>
  <dcterms:modified xsi:type="dcterms:W3CDTF">2025-09-26T20:07:19Z</dcterms:modified>
</cp:coreProperties>
</file>