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4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1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28.09.2025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11: Anarşi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/>
              <a:t>Algoritmik</a:t>
            </a:r>
            <a:r>
              <a:rPr lang="tr-TR" sz="2800" b="1" dirty="0"/>
              <a:t> Oyun Kuramı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Giriş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Price</a:t>
            </a:r>
            <a:r>
              <a:rPr lang="tr-TR" dirty="0"/>
              <a:t> of </a:t>
            </a:r>
            <a:r>
              <a:rPr lang="tr-TR" dirty="0" err="1"/>
              <a:t>Anarchy</a:t>
            </a:r>
            <a:r>
              <a:rPr lang="tr-TR" dirty="0"/>
              <a:t> (</a:t>
            </a:r>
            <a:r>
              <a:rPr lang="tr-TR" dirty="0" err="1"/>
              <a:t>PoA</a:t>
            </a:r>
            <a:r>
              <a:rPr lang="tr-TR" dirty="0"/>
              <a:t>): Bireysel rasyonel davranış ile sosyal optimum arasındaki verimlilik farkı</a:t>
            </a:r>
          </a:p>
          <a:p>
            <a:r>
              <a:rPr lang="tr-TR" dirty="0"/>
              <a:t>Sosyal optimum → toplum için en yüksek toplam fayda</a:t>
            </a:r>
          </a:p>
          <a:p>
            <a:r>
              <a:rPr lang="tr-TR" dirty="0"/>
              <a:t>Örnek: Trafik ağı → bireyler kendi zamanlarını maksimize eder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8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97A06-80DD-642C-CEA6-EC485C133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Nash</a:t>
            </a:r>
            <a:r>
              <a:rPr lang="tr-TR" dirty="0"/>
              <a:t> Dengesi ve Sosyal Optimum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AB75F-DEE4-ECA8-AEC5-0CB68B5E7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Nash</a:t>
            </a:r>
            <a:r>
              <a:rPr lang="tr-TR" dirty="0"/>
              <a:t> dengesi: Her oyuncu stratejisini değiştiremiyor → bireysel denge</a:t>
            </a:r>
          </a:p>
          <a:p>
            <a:r>
              <a:rPr lang="tr-TR" dirty="0"/>
              <a:t>Sosyal optimum: Toplam faydanın maksimum olduğu durum</a:t>
            </a:r>
          </a:p>
          <a:p>
            <a:r>
              <a:rPr lang="tr-TR" dirty="0"/>
              <a:t>Fark → </a:t>
            </a:r>
            <a:r>
              <a:rPr lang="tr-TR" dirty="0" err="1"/>
              <a:t>PoA</a:t>
            </a:r>
            <a:r>
              <a:rPr lang="tr-TR" dirty="0"/>
              <a:t> ile ölçülür</a:t>
            </a:r>
          </a:p>
          <a:p>
            <a:r>
              <a:rPr lang="tr-TR" dirty="0"/>
              <a:t>Örnek: Trafik ağı → en kısa yol seçimi ile toplam tıkanıklık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ED57-003F-49E0-E974-5D9C9C5F9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7F05B-D40F-C9DB-BE1A-A562F8140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6A0D1-D5B8-3748-82D4-0B6ABF55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08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AF60E-D110-C032-2106-A58DC11A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Ağlar ve </a:t>
            </a:r>
            <a:r>
              <a:rPr lang="tr-TR" dirty="0" err="1"/>
              <a:t>PoA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16582-B281-E02D-9908-E7B4A1FF3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Selfish</a:t>
            </a:r>
            <a:r>
              <a:rPr lang="tr-TR" dirty="0"/>
              <a:t> routing: Kullanıcılar bireysel çıkarlarını maksimize eder</a:t>
            </a:r>
          </a:p>
          <a:p>
            <a:r>
              <a:rPr lang="tr-TR" dirty="0" err="1"/>
              <a:t>Braess</a:t>
            </a:r>
            <a:r>
              <a:rPr lang="tr-TR" dirty="0"/>
              <a:t> </a:t>
            </a:r>
            <a:r>
              <a:rPr lang="tr-TR" dirty="0" err="1"/>
              <a:t>Paradox</a:t>
            </a:r>
            <a:r>
              <a:rPr lang="tr-TR" dirty="0"/>
              <a:t>: Yeni yol eklemek toplam verimliliği düşürebilir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Trafik tıkanıklığı</a:t>
            </a:r>
          </a:p>
          <a:p>
            <a:pPr lvl="1"/>
            <a:r>
              <a:rPr lang="tr-TR" dirty="0"/>
              <a:t>İnternet veri yönlendirme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58567-75C5-C31B-66E1-C5C83018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B5484-DBCC-18B5-F9DD-383F45F39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E7EA9-23C9-069B-4D3B-D582F903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633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44AD3-AD57-185C-5338-E40ADD69B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Verimlilik ve Etkinlik Ölçütleri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CCF82-D431-981B-4D01-CE52442D8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Toplam maliyet: Toplam gecikme veya kaynak kullanımı</a:t>
            </a:r>
          </a:p>
          <a:p>
            <a:r>
              <a:rPr lang="tr-TR" dirty="0" err="1"/>
              <a:t>PoA</a:t>
            </a:r>
            <a:r>
              <a:rPr lang="tr-TR" dirty="0"/>
              <a:t> = </a:t>
            </a:r>
            <a:r>
              <a:rPr lang="tr-TR" dirty="0" err="1"/>
              <a:t>Nash</a:t>
            </a:r>
            <a:r>
              <a:rPr lang="tr-TR" dirty="0"/>
              <a:t> dengesi maliyeti / Sosyal optimum maliyeti</a:t>
            </a:r>
          </a:p>
          <a:p>
            <a:r>
              <a:rPr lang="tr-TR" dirty="0"/>
              <a:t>Düşük </a:t>
            </a:r>
            <a:r>
              <a:rPr lang="tr-TR" dirty="0" err="1"/>
              <a:t>PoA</a:t>
            </a:r>
            <a:r>
              <a:rPr lang="tr-TR" dirty="0"/>
              <a:t> → sistem verimli, </a:t>
            </a:r>
          </a:p>
          <a:p>
            <a:r>
              <a:rPr lang="tr-TR" dirty="0"/>
              <a:t>Yüksek </a:t>
            </a:r>
            <a:r>
              <a:rPr lang="tr-TR" dirty="0" err="1"/>
              <a:t>PoA</a:t>
            </a:r>
            <a:r>
              <a:rPr lang="tr-TR" dirty="0"/>
              <a:t> → bireysel çıkarlar sosyal faydayı azaltıyor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08E3E-7449-411E-6090-1C4E033F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E252F-5844-8242-C7C7-F2F7B871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5107C-D688-2F43-5EB5-A3B2F3C3F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53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828B0-FC1C-1277-0336-4FDF8566D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Stratejik Tasarım ve Teşvikler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B3E7D-ED65-3327-0C1E-29BD6FA84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Teşvik tasarımı → </a:t>
            </a:r>
            <a:r>
              <a:rPr lang="tr-TR" dirty="0" err="1"/>
              <a:t>PoA</a:t>
            </a:r>
            <a:r>
              <a:rPr lang="tr-TR" dirty="0"/>
              <a:t> azaltılabilir</a:t>
            </a:r>
          </a:p>
          <a:p>
            <a:r>
              <a:rPr lang="tr-TR" dirty="0"/>
              <a:t>Merkezi yönlendirme → sosyal optimuma yaklaşmak</a:t>
            </a:r>
          </a:p>
          <a:p>
            <a:r>
              <a:rPr lang="tr-TR" dirty="0"/>
              <a:t>Örnek: Trafik sinyalleri, internet paket yönlendirme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740EC-BE45-808D-0B59-8A8045C2D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44FF3-E577-1926-57DB-F59DB5DC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BDFFE-A087-366A-0405-9A467443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40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AD8E2-AB83-F1AC-DF87-552E89AE7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Gerçek Hayat Uygulamaları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F39EF-F5BB-D1B4-91F7-9BB2A5E07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Trafik ağları → yol kullanımı optimizasyonu</a:t>
            </a:r>
          </a:p>
          <a:p>
            <a:r>
              <a:rPr lang="tr-TR" dirty="0"/>
              <a:t>Internet → veri paketlerinin yönlendirilmesi</a:t>
            </a:r>
          </a:p>
          <a:p>
            <a:r>
              <a:rPr lang="tr-TR" dirty="0"/>
              <a:t>Enerji şebekeleri → yük dağılımı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0BB30-DEE5-4698-1DDF-A46CD9200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F9A32-CDBA-7B6F-2CA5-CB56411B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D0C74-C2DA-DB68-D051-76AB6D003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075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D540C-84AF-EFDD-89EB-E9B293770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Tartışma Soruları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8880D-3C89-7769-174C-5B3C19754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Bireysel çıkarlar neden her zaman sosyal optimuma ulaşmaz?</a:t>
            </a:r>
          </a:p>
          <a:p>
            <a:r>
              <a:rPr lang="tr-TR" dirty="0" err="1"/>
              <a:t>PoA’yi</a:t>
            </a:r>
            <a:r>
              <a:rPr lang="tr-TR" dirty="0"/>
              <a:t> azaltmak için hangi teşvikler uygulanabilir?</a:t>
            </a:r>
          </a:p>
          <a:p>
            <a:r>
              <a:rPr lang="tr-TR" dirty="0" err="1"/>
              <a:t>Braess</a:t>
            </a:r>
            <a:r>
              <a:rPr lang="tr-TR" dirty="0"/>
              <a:t> </a:t>
            </a:r>
            <a:r>
              <a:rPr lang="tr-TR" dirty="0" err="1"/>
              <a:t>paradox</a:t>
            </a:r>
            <a:r>
              <a:rPr lang="tr-TR" dirty="0"/>
              <a:t> günlük hayatta hangi durumlarda görülebilir?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44244-7826-A9EB-2814-50C6032D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52F4A-441F-BC2D-ECF8-165C18D32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EB52B-F365-DB0C-6A45-FAADD84A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019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33894-7341-575B-71BF-2FAFA78F7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Bireysel çıkarlar neden her zaman sosyal optimuma ulaşmaz?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4D2D8-EA96-EC87-9193-2730C1052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Bireysel rasyonellik: Her oyuncu kendi faydasını maksimize eder → sosyal optimum göz ardı edilebilir</a:t>
            </a:r>
          </a:p>
          <a:p>
            <a:r>
              <a:rPr lang="tr-TR" dirty="0"/>
              <a:t>Çakışan çıkarlar: Bir oyuncunun kazancı diğerlerinin kaybına yol açabilir</a:t>
            </a:r>
          </a:p>
          <a:p>
            <a:r>
              <a:rPr lang="tr-TR" dirty="0"/>
              <a:t>Bilgi eksikliği: Oyuncular tüm ağın durumunu bilmez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Trafik ağları → herkes en kısa yolu seçer, toplam tıkanıklık artar</a:t>
            </a:r>
          </a:p>
          <a:p>
            <a:pPr lvl="1"/>
            <a:r>
              <a:rPr lang="tr-TR" dirty="0"/>
              <a:t>İnternet paket yönlendirme → kullanıcılar kendi paketini hızlı göndermek ister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35CF7-6744-845E-0E9D-C636D390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D5728-FD91-F777-B35D-A63A7E530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C8943-3286-3A0A-DFCE-9C5CB0497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075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598C5-CDC3-739B-3CD5-E0274C735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PoA’yi</a:t>
            </a:r>
            <a:r>
              <a:rPr lang="tr-TR" dirty="0"/>
              <a:t> azaltmak için hangi teşvikler uygulanabilir?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71AFA-BA7B-609E-80AE-97769AD5E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Merkezi yönlendirme: Kritik yolların kullanımı optimize edilir</a:t>
            </a:r>
          </a:p>
          <a:p>
            <a:r>
              <a:rPr lang="tr-TR" dirty="0"/>
              <a:t>Fiyatlandırma veya ücretler: Yoğun yollar için ek ücret → yönlendirme dengelenir</a:t>
            </a:r>
          </a:p>
          <a:p>
            <a:r>
              <a:rPr lang="tr-TR" dirty="0"/>
              <a:t>Bonus veya ödüller: Düşük yoğunluklu yolların kullanımı teşvik edilir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Trafik sinyalleri ve yol tarifleri</a:t>
            </a:r>
          </a:p>
          <a:p>
            <a:pPr lvl="1"/>
            <a:r>
              <a:rPr lang="tr-TR" dirty="0"/>
              <a:t>İnternet servis sağlayıcıları → veri paket yönlendirme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70718-A4B4-7723-CCAE-281C6847D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51499-4E61-6304-BE69-6D2B8ABE3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C5FD-7DB8-F68F-79A6-FB48C3DCB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675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CA7F-7774-57ED-0BB5-B31334BB3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Braess</a:t>
            </a:r>
            <a:r>
              <a:rPr lang="tr-TR" dirty="0"/>
              <a:t> </a:t>
            </a:r>
            <a:r>
              <a:rPr lang="tr-TR" dirty="0" err="1"/>
              <a:t>paradox</a:t>
            </a:r>
            <a:r>
              <a:rPr lang="tr-TR" dirty="0"/>
              <a:t> günlük hayatta hangi durumlarda görülebilir?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2B1BB-FA8E-7D98-C933-07C4FE66E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Tanım: Yeni yol eklemek bazen toplam verimliliği azaltır</a:t>
            </a:r>
          </a:p>
          <a:p>
            <a:r>
              <a:rPr lang="tr-TR" dirty="0"/>
              <a:t>Sebep: Bireysel rasyonellik → yeni yolu herkes kullanır → tıkanıklık artar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Şehir içi trafik → yeni köprü veya yol açıldığında tıkanıklık artması</a:t>
            </a:r>
          </a:p>
          <a:p>
            <a:pPr lvl="1"/>
            <a:r>
              <a:rPr lang="tr-TR" dirty="0"/>
              <a:t>İnternet → yeni bağlantı eklenince paket gecikmeleri yükselmesi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1B8E2-DE3C-2373-EE93-0416ABB13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F74BC-61E8-026E-F8D3-98FAF3777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F8D1B-C4C3-D10C-FF7F-D703862C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053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4922</TotalTime>
  <Words>489</Words>
  <Application>Microsoft Office PowerPoint</Application>
  <PresentationFormat>Widescreen</PresentationFormat>
  <Paragraphs>96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Bölüm 11: Anarşi</vt:lpstr>
      <vt:lpstr>Giriş</vt:lpstr>
      <vt:lpstr>Nash Dengesi ve Sosyal Optimum</vt:lpstr>
      <vt:lpstr>Ağlar ve PoA</vt:lpstr>
      <vt:lpstr>Verimlilik ve Etkinlik Ölçütleri</vt:lpstr>
      <vt:lpstr>Stratejik Tasarım ve Teşvikler</vt:lpstr>
      <vt:lpstr>Gerçek Hayat Uygulamaları</vt:lpstr>
      <vt:lpstr>Tartışma Soruları</vt:lpstr>
      <vt:lpstr>Bireysel çıkarlar neden her zaman sosyal optimuma ulaşmaz?</vt:lpstr>
      <vt:lpstr>PoA’yi azaltmak için hangi teşvikler uygulanabilir?</vt:lpstr>
      <vt:lpstr>Braess paradox günlük hayatta hangi durumlarda görülebilir?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Anarsi</dc:title>
  <dc:creator>sercan</dc:creator>
  <cp:lastModifiedBy>Sercan Kulcu</cp:lastModifiedBy>
  <cp:revision>354</cp:revision>
  <dcterms:created xsi:type="dcterms:W3CDTF">2023-01-12T09:23:55Z</dcterms:created>
  <dcterms:modified xsi:type="dcterms:W3CDTF">2025-09-28T08:05:05Z</dcterms:modified>
</cp:coreProperties>
</file>