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935" r:id="rId1"/>
  </p:sldMasterIdLst>
  <p:notesMasterIdLst>
    <p:notesMasterId r:id="rId14"/>
  </p:notesMasterIdLst>
  <p:sldIdLst>
    <p:sldId id="256" r:id="rId2"/>
    <p:sldId id="315" r:id="rId3"/>
    <p:sldId id="316" r:id="rId4"/>
    <p:sldId id="317" r:id="rId5"/>
    <p:sldId id="318" r:id="rId6"/>
    <p:sldId id="319" r:id="rId7"/>
    <p:sldId id="320" r:id="rId8"/>
    <p:sldId id="321" r:id="rId9"/>
    <p:sldId id="322" r:id="rId10"/>
    <p:sldId id="323" r:id="rId11"/>
    <p:sldId id="324" r:id="rId12"/>
    <p:sldId id="31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05BE1F-7669-4022-8D50-8115A32E15FC}" type="datetimeFigureOut">
              <a:rPr lang="tr-TR" smtClean="0"/>
              <a:t>27.09.2025</a:t>
            </a:fld>
            <a:endParaRPr lang="tr-T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r-T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C0638-78AE-41D6-9F5A-0F3CEA1F995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88141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9AC0638-78AE-41D6-9F5A-0F3CEA1F9952}" type="slidenum">
              <a:rPr lang="tr-TR" smtClean="0"/>
              <a:t>1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272486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lang="en-US" sz="40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baseline="0" dirty="0">
                <a:solidFill>
                  <a:srgbClr val="002046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46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lang="en-US" sz="3200" b="1" i="0" kern="1200" baseline="0" dirty="0">
                <a:solidFill>
                  <a:srgbClr val="8C0000"/>
                </a:solidFill>
                <a:latin typeface="Arial" panose="020B060402020202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1pPr>
            <a:lvl2pPr marL="685800" indent="-228600" algn="just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24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2000"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Wingdings" panose="05000000000000000000" pitchFamily="2" charset="2"/>
              <a:buChar char="§"/>
              <a:defRPr baseline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r>
              <a:rPr lang="tr-TR" dirty="0"/>
              <a:t>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56834" y="6356350"/>
            <a:ext cx="6928834" cy="365125"/>
          </a:xfrm>
        </p:spPr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2000" baseline="0"/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40796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75750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585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324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1471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0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6865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9781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02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601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02741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0000" y="288000"/>
            <a:ext cx="1080000" cy="10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19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b="1" dirty="0"/>
              <a:t>Bölüm 8: Ağ Tasarımı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tr-TR" sz="2800" b="1" dirty="0" err="1"/>
              <a:t>Algoritmik</a:t>
            </a:r>
            <a:r>
              <a:rPr lang="tr-TR" sz="2800" b="1" dirty="0"/>
              <a:t> Oyun Kuramı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11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9ACA8-E9D8-B472-8FF2-F00068AB63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Giriş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A5F97-DEDF-6A0D-0CD5-A7E3748BA4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Ağ tasarımı = ağ topolojisinin belirlenmesi ve optimizasyonu</a:t>
            </a:r>
          </a:p>
          <a:p>
            <a:r>
              <a:rPr lang="tr-TR" dirty="0"/>
              <a:t>Routing = verinin ağ üzerinden verimli ve güvenli iletilmesi</a:t>
            </a:r>
          </a:p>
          <a:p>
            <a:r>
              <a:rPr lang="tr-TR" dirty="0"/>
              <a:t>Günlük örnekler:</a:t>
            </a:r>
          </a:p>
          <a:p>
            <a:pPr lvl="1"/>
            <a:r>
              <a:rPr lang="tr-TR" dirty="0"/>
              <a:t>Internet veri iletimi</a:t>
            </a:r>
          </a:p>
          <a:p>
            <a:pPr lvl="1"/>
            <a:r>
              <a:rPr lang="tr-TR" dirty="0"/>
              <a:t>Şehir içi trafik ağları</a:t>
            </a:r>
          </a:p>
          <a:p>
            <a:pPr lvl="1"/>
            <a:r>
              <a:rPr lang="tr-TR" dirty="0"/>
              <a:t>Enerji dağıtım şebekeleri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9B04DC-CAA4-9339-5D46-17E37C128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5D1886-FFFF-A840-CAE8-C3F666F32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419FC6-B333-38AC-8E0E-356BA103B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69880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07AC-A869-14A5-00CB-C6297C675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Temel Ağ Tasarım Kavramları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A1729-FEA5-7FD1-7020-7C469EF5CF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Düğümler (</a:t>
            </a:r>
            <a:r>
              <a:rPr lang="tr-TR" dirty="0" err="1"/>
              <a:t>nodes</a:t>
            </a:r>
            <a:r>
              <a:rPr lang="tr-TR" dirty="0"/>
              <a:t>) ve bağlantılar (</a:t>
            </a:r>
            <a:r>
              <a:rPr lang="tr-TR" dirty="0" err="1"/>
              <a:t>links</a:t>
            </a:r>
            <a:r>
              <a:rPr lang="tr-TR" dirty="0"/>
              <a:t>)</a:t>
            </a:r>
          </a:p>
          <a:p>
            <a:r>
              <a:rPr lang="tr-TR" dirty="0"/>
              <a:t>Topoloji türleri: Yıldız, halka, mesh, ağaç</a:t>
            </a:r>
          </a:p>
          <a:p>
            <a:r>
              <a:rPr lang="tr-TR" dirty="0"/>
              <a:t>Ağ kapasitesi ve bant genişliği</a:t>
            </a:r>
          </a:p>
          <a:p>
            <a:r>
              <a:rPr lang="tr-TR" dirty="0"/>
              <a:t>Örnek: Veri merkezleri, şehir trafiği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0D657-9B15-32E8-58FD-DB92CBB04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1DF18-56B5-C70B-3ADC-9CD0BBC55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B31F7D-7845-9539-B213-FCF10755C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7931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B07B6E-4B37-2886-3050-D320B4E17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Routing Algoritmaları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4F4AD-20C5-E73B-C6AF-1020162CA4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Shortest</a:t>
            </a:r>
            <a:r>
              <a:rPr lang="tr-TR" dirty="0"/>
              <a:t> </a:t>
            </a:r>
            <a:r>
              <a:rPr lang="tr-TR" dirty="0" err="1"/>
              <a:t>Path</a:t>
            </a:r>
            <a:r>
              <a:rPr lang="tr-TR" dirty="0"/>
              <a:t>: </a:t>
            </a:r>
            <a:r>
              <a:rPr lang="tr-TR" dirty="0" err="1"/>
              <a:t>Dijkstra</a:t>
            </a:r>
            <a:r>
              <a:rPr lang="tr-TR" dirty="0"/>
              <a:t>, </a:t>
            </a:r>
            <a:r>
              <a:rPr lang="tr-TR" dirty="0" err="1"/>
              <a:t>Bellman</a:t>
            </a:r>
            <a:r>
              <a:rPr lang="tr-TR" dirty="0"/>
              <a:t>-Ford</a:t>
            </a:r>
          </a:p>
          <a:p>
            <a:r>
              <a:rPr lang="tr-TR" dirty="0" err="1"/>
              <a:t>Dynamic</a:t>
            </a:r>
            <a:r>
              <a:rPr lang="tr-TR" dirty="0"/>
              <a:t> Routing: Trafik ve yük değişimine uyum sağlar</a:t>
            </a:r>
          </a:p>
          <a:p>
            <a:r>
              <a:rPr lang="tr-TR" dirty="0" err="1"/>
              <a:t>Load</a:t>
            </a:r>
            <a:r>
              <a:rPr lang="tr-TR" dirty="0"/>
              <a:t> </a:t>
            </a:r>
            <a:r>
              <a:rPr lang="tr-TR" dirty="0" err="1"/>
              <a:t>Balancing</a:t>
            </a:r>
            <a:r>
              <a:rPr lang="tr-TR" dirty="0"/>
              <a:t>: Ağ verimliliğini artırır</a:t>
            </a:r>
          </a:p>
          <a:p>
            <a:r>
              <a:rPr lang="tr-TR" dirty="0"/>
              <a:t>Oyun teorisi bağlantısı: Stratejik kullanıcı davranışı → ağ tıkanıklığı</a:t>
            </a:r>
          </a:p>
          <a:p>
            <a:r>
              <a:rPr lang="tr-TR" dirty="0"/>
              <a:t>Örnek: Google </a:t>
            </a:r>
            <a:r>
              <a:rPr lang="tr-TR" dirty="0" err="1"/>
              <a:t>Maps</a:t>
            </a:r>
            <a:r>
              <a:rPr lang="tr-TR" dirty="0"/>
              <a:t> rota optimizasyonu, ISP veri yönlendirme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FCADAA-41A2-EDCD-72AD-9C2698C4F3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E8210-569E-4505-1374-78778BFC8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ACA57-783E-F0BD-1D75-089E3908B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623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4B528-63B8-7664-56D2-D8465E711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Stratejik Davranış ve Oyun Teorisi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D0399-997C-28A9-B939-866A398692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Kullanıcılar kendi faydasını maksimize eder → “</a:t>
            </a:r>
            <a:r>
              <a:rPr lang="tr-TR" dirty="0" err="1"/>
              <a:t>selfish</a:t>
            </a:r>
            <a:r>
              <a:rPr lang="tr-TR" dirty="0"/>
              <a:t> routing”</a:t>
            </a:r>
          </a:p>
          <a:p>
            <a:r>
              <a:rPr lang="tr-TR" dirty="0" err="1"/>
              <a:t>Braess</a:t>
            </a:r>
            <a:r>
              <a:rPr lang="tr-TR" dirty="0"/>
              <a:t> </a:t>
            </a:r>
            <a:r>
              <a:rPr lang="tr-TR" dirty="0" err="1"/>
              <a:t>Paradox</a:t>
            </a:r>
            <a:r>
              <a:rPr lang="tr-TR" dirty="0"/>
              <a:t>: Yeni yol eklemek bazen toplam verimliliği düşürür</a:t>
            </a:r>
          </a:p>
          <a:p>
            <a:r>
              <a:rPr lang="tr-TR" dirty="0" err="1"/>
              <a:t>Nash</a:t>
            </a:r>
            <a:r>
              <a:rPr lang="tr-TR" dirty="0"/>
              <a:t> dengesi → ağdaki denge noktalarını analiz etmek için kullanılır</a:t>
            </a:r>
          </a:p>
          <a:p>
            <a:r>
              <a:rPr lang="tr-TR" dirty="0"/>
              <a:t>Örnek: Trafik sıkışıklığı, internet ağları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1F0497-2E36-3CA2-3331-D724C48B90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55C6E2-210C-B09F-A95D-65102AD550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DBC6C4-ADA3-9EA9-721A-5B9E0F80C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9516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2CC715-EB7A-5CA8-8B10-3F2D9D457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Ağ Teşvikleri ve Koordinasyon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41D51-1627-E1A1-2CB6-2B13B0EA9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Teşvikler → kullanıcıları ağ kaynaklarını verimli kullanmaya yönlendirir</a:t>
            </a:r>
          </a:p>
          <a:p>
            <a:r>
              <a:rPr lang="tr-TR" dirty="0"/>
              <a:t>İşbirliği → ağ performansını artırır</a:t>
            </a:r>
          </a:p>
          <a:p>
            <a:r>
              <a:rPr lang="tr-TR" dirty="0"/>
              <a:t>Örnek:</a:t>
            </a:r>
          </a:p>
          <a:p>
            <a:pPr lvl="1"/>
            <a:r>
              <a:rPr lang="tr-TR" dirty="0"/>
              <a:t>Trafik yönlendirme (akıllı sinyalizasyon)</a:t>
            </a:r>
          </a:p>
          <a:p>
            <a:pPr lvl="1"/>
            <a:r>
              <a:rPr lang="tr-TR" dirty="0"/>
              <a:t>İnternet veri paketleri</a:t>
            </a:r>
          </a:p>
          <a:p>
            <a:pPr lvl="1"/>
            <a:r>
              <a:rPr lang="tr-TR" dirty="0"/>
              <a:t>Akıllı elektrik şebekeleri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4B007B-F933-9401-F460-DE5B63BF0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8CCAE-38B1-E9B8-7C05-A1639F6F2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C7F9CD-598A-8ABD-F3CB-AEE9C3259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7368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820B90-5021-F4C5-6E5E-FBC864406B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Gerçek Hayat Uygulamaları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56C4F5-D123-58C1-5293-70B642AD5D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Internet servis sağlayıcıları → veri paket yönlendirme</a:t>
            </a:r>
          </a:p>
          <a:p>
            <a:r>
              <a:rPr lang="tr-TR" dirty="0"/>
              <a:t>Trafik yönetim sistemleri → rota optimizasyonu</a:t>
            </a:r>
          </a:p>
          <a:p>
            <a:r>
              <a:rPr lang="tr-TR" dirty="0"/>
              <a:t>Akıllı elektrik şebekeleri → enerji dağıtımı</a:t>
            </a:r>
          </a:p>
          <a:p>
            <a:r>
              <a:rPr lang="tr-TR" dirty="0"/>
              <a:t>Simülasyon: Öğrenciler farklı yönlendirme stratejilerini deneyebilir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AB7C0-573E-0167-E3D2-E8BFEAB63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126609-024D-070B-AD20-BA5B0EB39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BC4803-EB08-A1DE-56AE-07A44D2CD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1543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58904-3306-F695-0760-C2FBEBAF8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Tartışma Soruları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9FB03E-F97D-AF9F-1D08-8FAD6807EC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Ağ tasarımında merkezi kontrol mü yoksa dağıtık kontrol mü daha iyi?</a:t>
            </a:r>
          </a:p>
          <a:p>
            <a:r>
              <a:rPr lang="tr-TR" dirty="0" err="1"/>
              <a:t>Selfish</a:t>
            </a:r>
            <a:r>
              <a:rPr lang="tr-TR" dirty="0"/>
              <a:t> routing problemi nasıl çözülür?</a:t>
            </a:r>
          </a:p>
          <a:p>
            <a:r>
              <a:rPr lang="tr-TR" dirty="0"/>
              <a:t>Teşvikler ve yük dengeleme ağ verimliliğini ne kadar artırabilir?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A11EE2-1EFE-B587-4D44-4D18F8419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1821B5-CA20-DFF8-F202-EE26988456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76C2ED-46AA-59ED-0320-955EA4FD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8892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8711-A70D-9473-1902-82368E22B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Merkezi kontrol mü yoksa dağıtık kontrol mü iyi?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692A36-EE01-DCBF-C0E3-84F15E6E41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dirty="0"/>
              <a:t>Merkezi kontrol:</a:t>
            </a:r>
          </a:p>
          <a:p>
            <a:pPr lvl="1"/>
            <a:r>
              <a:rPr lang="tr-TR" dirty="0"/>
              <a:t>Avantaj: Kolay koordinasyon, çatışma riski düşük</a:t>
            </a:r>
          </a:p>
          <a:p>
            <a:pPr lvl="1"/>
            <a:r>
              <a:rPr lang="tr-TR" dirty="0"/>
              <a:t>Dezavantaj: Tek nokta hatası, esneklik sınırlı</a:t>
            </a:r>
          </a:p>
          <a:p>
            <a:pPr lvl="1"/>
            <a:r>
              <a:rPr lang="tr-TR" dirty="0"/>
              <a:t>Örnek: Trafik ışığı yönetim sistemleri, merkezi veri merkezleri</a:t>
            </a:r>
          </a:p>
          <a:p>
            <a:r>
              <a:rPr lang="tr-TR" dirty="0"/>
              <a:t>Dağıtık kontrol:</a:t>
            </a:r>
          </a:p>
          <a:p>
            <a:pPr lvl="1"/>
            <a:r>
              <a:rPr lang="tr-TR" dirty="0"/>
              <a:t>Avantaj: Esnek, ölçeklenebilir, hızlı tepki</a:t>
            </a:r>
          </a:p>
          <a:p>
            <a:pPr lvl="1"/>
            <a:r>
              <a:rPr lang="tr-TR" dirty="0"/>
              <a:t>Dezavantaj: Koordinasyon zor, çatışma riski yüksek</a:t>
            </a:r>
          </a:p>
          <a:p>
            <a:pPr lvl="1"/>
            <a:r>
              <a:rPr lang="tr-TR" dirty="0"/>
              <a:t>Örnek: Otonom araçlar, dağıtık sensör ağları</a:t>
            </a:r>
          </a:p>
          <a:p>
            <a:r>
              <a:rPr lang="tr-TR" dirty="0"/>
              <a:t>Sonuç: Çoğu gerçek sistem hibrit yaklaşımı tercih eder → merkezi + dağıtık kontrol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25A781-4296-2FFB-76F1-1B27561F3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C0DE0-934C-900D-326F-3DBF58151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3CFB1-C334-5326-0BAE-C622C107D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9050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AEC93-B7CE-9985-F681-A5377327C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err="1"/>
              <a:t>Selfish</a:t>
            </a:r>
            <a:r>
              <a:rPr lang="tr-TR" dirty="0"/>
              <a:t> routing problemi nasıl çözülür?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7488E-EC04-0B44-AC32-400401B6EC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 err="1"/>
              <a:t>Selfish</a:t>
            </a:r>
            <a:r>
              <a:rPr lang="tr-TR" dirty="0"/>
              <a:t> routing: </a:t>
            </a:r>
          </a:p>
          <a:p>
            <a:pPr lvl="1"/>
            <a:r>
              <a:rPr lang="tr-TR" dirty="0"/>
              <a:t>Kullanıcılar kendi faydasını maksimize eder → toplam verim düşebilir</a:t>
            </a:r>
          </a:p>
          <a:p>
            <a:r>
              <a:rPr lang="tr-TR" dirty="0"/>
              <a:t>Çözüm yöntemleri:</a:t>
            </a:r>
          </a:p>
          <a:p>
            <a:pPr lvl="1"/>
            <a:r>
              <a:rPr lang="tr-TR" dirty="0"/>
              <a:t>Teşvik tasarımı: Trafik veya ağ ücretlendirmesi ile davranış yönlendirilir</a:t>
            </a:r>
          </a:p>
          <a:p>
            <a:pPr lvl="1"/>
            <a:r>
              <a:rPr lang="tr-TR" dirty="0" err="1"/>
              <a:t>Load</a:t>
            </a:r>
            <a:r>
              <a:rPr lang="tr-TR" dirty="0"/>
              <a:t> </a:t>
            </a:r>
            <a:r>
              <a:rPr lang="tr-TR" dirty="0" err="1"/>
              <a:t>balancing</a:t>
            </a:r>
            <a:r>
              <a:rPr lang="tr-TR" dirty="0"/>
              <a:t> (yük dengeleme): Ağ kaynakları dengeli kullanılır</a:t>
            </a:r>
          </a:p>
          <a:p>
            <a:pPr lvl="1"/>
            <a:r>
              <a:rPr lang="tr-TR" dirty="0"/>
              <a:t>Merkezi yönlendirme: Kritik yolların kullanımını optimize eder</a:t>
            </a:r>
          </a:p>
          <a:p>
            <a:r>
              <a:rPr lang="tr-TR" dirty="0"/>
              <a:t>Günlük örnekler:</a:t>
            </a:r>
          </a:p>
          <a:p>
            <a:pPr lvl="1"/>
            <a:r>
              <a:rPr lang="tr-TR" dirty="0"/>
              <a:t>Trafik yönlendirme → Google </a:t>
            </a:r>
            <a:r>
              <a:rPr lang="tr-TR" dirty="0" err="1"/>
              <a:t>Maps</a:t>
            </a:r>
            <a:r>
              <a:rPr lang="tr-TR" dirty="0"/>
              <a:t>, </a:t>
            </a:r>
            <a:r>
              <a:rPr lang="tr-TR" dirty="0" err="1"/>
              <a:t>Waze</a:t>
            </a:r>
            <a:endParaRPr lang="tr-TR" dirty="0"/>
          </a:p>
          <a:p>
            <a:pPr lvl="1"/>
            <a:r>
              <a:rPr lang="tr-TR" dirty="0"/>
              <a:t>İnternet veri paketleri → ISP ağ yönetimi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0DFF7-464F-8E5A-87CF-F721DA278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BCF7C-D579-F94C-AC73-80541A984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C7928-64D0-95E9-404B-F3F1F1B7F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062550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AF355-46ED-18BA-F0CD-3668139D97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Teşvikler ve yük dengeleme verimliliği ne kadar artırabilir?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ABD9E-5D6D-5048-FDFC-9F6BC7A971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tr-TR" dirty="0"/>
              <a:t>Doğru teşvikler: </a:t>
            </a:r>
          </a:p>
          <a:p>
            <a:r>
              <a:rPr lang="tr-TR" dirty="0"/>
              <a:t>Kullanıcıları ağ kaynaklarını dengeli kullanmaya yönlendirir → verim artar</a:t>
            </a:r>
          </a:p>
          <a:p>
            <a:r>
              <a:rPr lang="tr-TR" dirty="0"/>
              <a:t>Yanlış teşvikler: </a:t>
            </a:r>
          </a:p>
          <a:p>
            <a:r>
              <a:rPr lang="tr-TR" dirty="0"/>
              <a:t>Stratejik, bencil davranış artar → tıkanıklık ve düşük verim</a:t>
            </a:r>
          </a:p>
          <a:p>
            <a:r>
              <a:rPr lang="tr-TR" dirty="0"/>
              <a:t>Örnekler:</a:t>
            </a:r>
          </a:p>
          <a:p>
            <a:pPr lvl="1"/>
            <a:r>
              <a:rPr lang="tr-TR" dirty="0"/>
              <a:t>Trafik yönlendirme: Ücret veya uyarılar → yoğunluğu azaltır</a:t>
            </a:r>
          </a:p>
          <a:p>
            <a:pPr lvl="1"/>
            <a:r>
              <a:rPr lang="tr-TR" dirty="0"/>
              <a:t>Akıllı elektrik şebekeleri: Teşvikler → pik saatlerde yükü dengeler</a:t>
            </a:r>
          </a:p>
          <a:p>
            <a:pPr lvl="1"/>
            <a:r>
              <a:rPr lang="tr-TR" dirty="0"/>
              <a:t>İnternet paket yönlendirme → verimli bant genişliği kullanımı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748D1-03CC-F93C-DF47-D770CAE0B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B5CCE5-161D-EDC8-7F46-DB6AD3F94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Sercan KÜLCÜ, Tüm hakları saklıdır.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46ECA-5203-BF92-B4C3-D3EDFA984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17746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80000"/>
          </a:xfrm>
        </p:spPr>
        <p:txBody>
          <a:bodyPr>
            <a:normAutofit/>
          </a:bodyPr>
          <a:lstStyle/>
          <a:p>
            <a:endParaRPr lang="tr-TR" dirty="0"/>
          </a:p>
          <a:p>
            <a:endParaRPr lang="tr-TR" dirty="0"/>
          </a:p>
          <a:p>
            <a:endParaRPr lang="tr-TR" dirty="0"/>
          </a:p>
          <a:p>
            <a:pPr marL="0" indent="0" algn="ctr">
              <a:buNone/>
            </a:pPr>
            <a:r>
              <a:rPr lang="tr-TR" dirty="0"/>
              <a:t>SON</a:t>
            </a:r>
          </a:p>
          <a:p>
            <a:endParaRPr lang="tr-TR" dirty="0"/>
          </a:p>
          <a:p>
            <a:endParaRPr lang="tr-TR" dirty="0"/>
          </a:p>
          <a:p>
            <a:endParaRPr lang="tr-T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1/20/2023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Sercan KÜLCÜ, </a:t>
            </a:r>
            <a:r>
              <a:rPr lang="en-US" dirty="0" err="1"/>
              <a:t>Tüm</a:t>
            </a:r>
            <a:r>
              <a:rPr lang="en-US" dirty="0"/>
              <a:t> </a:t>
            </a:r>
            <a:r>
              <a:rPr lang="en-US" dirty="0" err="1"/>
              <a:t>hakları</a:t>
            </a:r>
            <a:r>
              <a:rPr lang="en-US" dirty="0"/>
              <a:t> </a:t>
            </a:r>
            <a:r>
              <a:rPr lang="en-US" dirty="0" err="1"/>
              <a:t>saklıdır</a:t>
            </a:r>
            <a:r>
              <a:rPr lang="en-US" dirty="0"/>
              <a:t>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4592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4893</TotalTime>
  <Words>567</Words>
  <Application>Microsoft Office PowerPoint</Application>
  <PresentationFormat>Widescreen</PresentationFormat>
  <Paragraphs>112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Office Theme</vt:lpstr>
      <vt:lpstr>Bölüm 8: Ağ Tasarımı</vt:lpstr>
      <vt:lpstr>Giriş</vt:lpstr>
      <vt:lpstr>Temel Ağ Tasarım Kavramları</vt:lpstr>
      <vt:lpstr>Routing Algoritmaları</vt:lpstr>
      <vt:lpstr>Stratejik Davranış ve Oyun Teorisi</vt:lpstr>
      <vt:lpstr>Ağ Teşvikleri ve Koordinasyon</vt:lpstr>
      <vt:lpstr>Gerçek Hayat Uygulamaları</vt:lpstr>
      <vt:lpstr>Tartışma Soruları</vt:lpstr>
      <vt:lpstr>Merkezi kontrol mü yoksa dağıtık kontrol mü iyi?</vt:lpstr>
      <vt:lpstr>Selfish routing problemi nasıl çözülür?</vt:lpstr>
      <vt:lpstr>Teşvikler ve yük dengeleme verimliliği ne kadar artırabilir?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</dc:title>
  <dc:creator>sercan</dc:creator>
  <cp:lastModifiedBy>Sercan Kulcu</cp:lastModifiedBy>
  <cp:revision>343</cp:revision>
  <dcterms:created xsi:type="dcterms:W3CDTF">2023-01-12T09:23:55Z</dcterms:created>
  <dcterms:modified xsi:type="dcterms:W3CDTF">2025-09-27T20:30:41Z</dcterms:modified>
</cp:coreProperties>
</file>