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59"/>
  </p:notesMasterIdLst>
  <p:sldIdLst>
    <p:sldId id="256" r:id="rId2"/>
    <p:sldId id="314" r:id="rId3"/>
    <p:sldId id="423" r:id="rId4"/>
    <p:sldId id="424" r:id="rId5"/>
    <p:sldId id="425" r:id="rId6"/>
    <p:sldId id="426" r:id="rId7"/>
    <p:sldId id="428" r:id="rId8"/>
    <p:sldId id="429" r:id="rId9"/>
    <p:sldId id="430" r:id="rId10"/>
    <p:sldId id="431" r:id="rId11"/>
    <p:sldId id="432" r:id="rId12"/>
    <p:sldId id="435" r:id="rId13"/>
    <p:sldId id="436" r:id="rId14"/>
    <p:sldId id="439" r:id="rId15"/>
    <p:sldId id="437" r:id="rId16"/>
    <p:sldId id="440" r:id="rId17"/>
    <p:sldId id="438" r:id="rId18"/>
    <p:sldId id="445" r:id="rId19"/>
    <p:sldId id="441" r:id="rId20"/>
    <p:sldId id="446" r:id="rId21"/>
    <p:sldId id="447" r:id="rId22"/>
    <p:sldId id="443" r:id="rId23"/>
    <p:sldId id="444" r:id="rId24"/>
    <p:sldId id="454" r:id="rId25"/>
    <p:sldId id="455" r:id="rId26"/>
    <p:sldId id="448" r:id="rId27"/>
    <p:sldId id="449" r:id="rId28"/>
    <p:sldId id="456" r:id="rId29"/>
    <p:sldId id="479" r:id="rId30"/>
    <p:sldId id="480" r:id="rId31"/>
    <p:sldId id="450" r:id="rId32"/>
    <p:sldId id="451" r:id="rId33"/>
    <p:sldId id="452" r:id="rId34"/>
    <p:sldId id="453" r:id="rId35"/>
    <p:sldId id="457" r:id="rId36"/>
    <p:sldId id="458" r:id="rId37"/>
    <p:sldId id="460" r:id="rId38"/>
    <p:sldId id="459" r:id="rId39"/>
    <p:sldId id="461" r:id="rId40"/>
    <p:sldId id="462" r:id="rId41"/>
    <p:sldId id="463" r:id="rId42"/>
    <p:sldId id="464" r:id="rId43"/>
    <p:sldId id="465" r:id="rId44"/>
    <p:sldId id="405" r:id="rId45"/>
    <p:sldId id="467" r:id="rId46"/>
    <p:sldId id="468" r:id="rId47"/>
    <p:sldId id="469" r:id="rId48"/>
    <p:sldId id="470" r:id="rId49"/>
    <p:sldId id="471" r:id="rId50"/>
    <p:sldId id="472" r:id="rId51"/>
    <p:sldId id="473" r:id="rId52"/>
    <p:sldId id="474" r:id="rId53"/>
    <p:sldId id="475" r:id="rId54"/>
    <p:sldId id="476" r:id="rId55"/>
    <p:sldId id="477" r:id="rId56"/>
    <p:sldId id="478" r:id="rId57"/>
    <p:sldId id="312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19.12.2023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r>
              <a:rPr lang="tr-TR" dirty="0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 smtClean="0"/>
              <a:t>Bölüm 2: Diziler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Veri Yapıları</a:t>
            </a:r>
            <a:endParaRPr lang="tr-TR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Diziler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Aynı </a:t>
            </a:r>
            <a:r>
              <a:rPr lang="tr-TR" dirty="0"/>
              <a:t>türdeki verileri düzenli bir şekilde saklamak için </a:t>
            </a:r>
            <a:r>
              <a:rPr lang="tr-TR" dirty="0" smtClean="0"/>
              <a:t>kullanılır.</a:t>
            </a:r>
          </a:p>
          <a:p>
            <a:r>
              <a:rPr lang="tr-TR" dirty="0"/>
              <a:t>Aynı isimle tanımlanan ve birden çok veriyi saklayabilen değişkenlerdir</a:t>
            </a:r>
            <a:r>
              <a:rPr lang="tr-TR" dirty="0" smtClean="0"/>
              <a:t>.</a:t>
            </a:r>
            <a:endParaRPr lang="tr-TR" dirty="0" smtClean="0"/>
          </a:p>
          <a:p>
            <a:r>
              <a:rPr lang="tr-TR" dirty="0" smtClean="0"/>
              <a:t>Sabit </a:t>
            </a:r>
            <a:r>
              <a:rPr lang="tr-TR" dirty="0"/>
              <a:t>boyuta sahip, </a:t>
            </a:r>
            <a:r>
              <a:rPr lang="tr-TR" dirty="0" smtClean="0"/>
              <a:t>elemanları her </a:t>
            </a:r>
            <a:r>
              <a:rPr lang="tr-TR" dirty="0"/>
              <a:t>zaman değiştirilebilen </a:t>
            </a:r>
            <a:r>
              <a:rPr lang="tr-TR" dirty="0" smtClean="0"/>
              <a:t>yapılarıdır.</a:t>
            </a:r>
          </a:p>
          <a:p>
            <a:r>
              <a:rPr lang="tr-TR" dirty="0"/>
              <a:t>Dizilerin boyutu başlangıçta belirlenir ve daha sonra değiştirilemez.</a:t>
            </a:r>
            <a:endParaRPr lang="tr-TR" dirty="0"/>
          </a:p>
          <a:p>
            <a:r>
              <a:rPr lang="tr-TR" dirty="0" smtClean="0"/>
              <a:t>Öğeler</a:t>
            </a:r>
            <a:r>
              <a:rPr lang="tr-TR" dirty="0"/>
              <a:t>, bellekte </a:t>
            </a:r>
            <a:r>
              <a:rPr lang="tr-TR" dirty="0" smtClean="0"/>
              <a:t>her </a:t>
            </a:r>
            <a:r>
              <a:rPr lang="tr-TR" dirty="0"/>
              <a:t>zaman bir </a:t>
            </a:r>
            <a:r>
              <a:rPr lang="tr-TR" dirty="0" smtClean="0"/>
              <a:t>arada </a:t>
            </a:r>
            <a:r>
              <a:rPr lang="tr-TR" dirty="0"/>
              <a:t>paketlenir.</a:t>
            </a:r>
            <a:endParaRPr lang="tr-TR" dirty="0" smtClean="0"/>
          </a:p>
          <a:p>
            <a:r>
              <a:rPr lang="tr-TR" dirty="0"/>
              <a:t>Dizilerin içeriği değiştirilebilir</a:t>
            </a:r>
            <a:r>
              <a:rPr lang="tr-TR" dirty="0" smtClean="0"/>
              <a:t>; </a:t>
            </a:r>
            <a:r>
              <a:rPr lang="tr-TR" dirty="0"/>
              <a:t>öğeler eklenebilir, </a:t>
            </a:r>
            <a:r>
              <a:rPr lang="tr-TR" dirty="0" smtClean="0"/>
              <a:t>silinebilir, güncellenebilir.</a:t>
            </a:r>
          </a:p>
          <a:p>
            <a:r>
              <a:rPr lang="tr-TR" dirty="0" smtClean="0"/>
              <a:t>Düşük seviye, </a:t>
            </a:r>
            <a:r>
              <a:rPr lang="tr-TR" dirty="0"/>
              <a:t>arka planda çalışan ve sistem düzeyinde performansın kritik olduğu </a:t>
            </a:r>
            <a:r>
              <a:rPr lang="tr-TR" dirty="0" smtClean="0"/>
              <a:t>işlemler </a:t>
            </a:r>
            <a:r>
              <a:rPr lang="tr-TR" dirty="0"/>
              <a:t>için tasarlanmıştır.</a:t>
            </a:r>
            <a:endParaRPr lang="tr-TR" dirty="0" smtClean="0"/>
          </a:p>
          <a:p>
            <a:r>
              <a:rPr lang="tr-TR" dirty="0" smtClean="0"/>
              <a:t>Matris, resim </a:t>
            </a:r>
            <a:r>
              <a:rPr lang="tr-TR" dirty="0"/>
              <a:t>ve ses verileri gibi yapıları temsil etmek için kullanılır.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268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 Kullanımı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Dizi </a:t>
            </a:r>
            <a:r>
              <a:rPr lang="tr-TR" dirty="0" smtClean="0"/>
              <a:t>elemanlarına, </a:t>
            </a:r>
            <a:r>
              <a:rPr lang="tr-TR" dirty="0"/>
              <a:t>indeks numaraları ile </a:t>
            </a:r>
            <a:r>
              <a:rPr lang="tr-TR" dirty="0" smtClean="0"/>
              <a:t>erişilir</a:t>
            </a:r>
            <a:r>
              <a:rPr lang="tr-TR" dirty="0"/>
              <a:t>.</a:t>
            </a:r>
          </a:p>
          <a:p>
            <a:r>
              <a:rPr lang="tr-TR" dirty="0"/>
              <a:t>İlk elemanın indeksi </a:t>
            </a:r>
            <a:r>
              <a:rPr lang="tr-TR" dirty="0" smtClean="0"/>
              <a:t>0'dan </a:t>
            </a:r>
            <a:r>
              <a:rPr lang="tr-TR" dirty="0"/>
              <a:t>başlar.</a:t>
            </a:r>
          </a:p>
          <a:p>
            <a:r>
              <a:rPr lang="tr-TR" dirty="0"/>
              <a:t>Elemanlara erişmek için dizinin </a:t>
            </a:r>
            <a:r>
              <a:rPr lang="tr-TR" dirty="0" smtClean="0"/>
              <a:t>adı </a:t>
            </a:r>
            <a:r>
              <a:rPr lang="tr-TR" dirty="0"/>
              <a:t>ve indeksi </a:t>
            </a:r>
            <a:r>
              <a:rPr lang="tr-TR" dirty="0" smtClean="0"/>
              <a:t>kullanılır.</a:t>
            </a:r>
            <a:endParaRPr lang="tr-TR" dirty="0"/>
          </a:p>
          <a:p>
            <a:endParaRPr lang="tr-TR" dirty="0" smtClean="0"/>
          </a:p>
          <a:p>
            <a:r>
              <a:rPr lang="tr-TR" b="1" dirty="0" smtClean="0"/>
              <a:t>Örnek</a:t>
            </a:r>
            <a:r>
              <a:rPr lang="tr-TR" dirty="0"/>
              <a:t>:</a:t>
            </a:r>
          </a:p>
          <a:p>
            <a:r>
              <a:rPr lang="tr-TR" dirty="0" smtClean="0">
                <a:latin typeface="Consolas" panose="020B0609020204030204" pitchFamily="49" charset="0"/>
              </a:rPr>
              <a:t>Dizi </a:t>
            </a:r>
            <a:r>
              <a:rPr lang="tr-TR" dirty="0">
                <a:latin typeface="Consolas" panose="020B0609020204030204" pitchFamily="49" charset="0"/>
              </a:rPr>
              <a:t>= [10, 20, 30, 40, 50]</a:t>
            </a:r>
          </a:p>
          <a:p>
            <a:r>
              <a:rPr lang="tr-TR" dirty="0" err="1">
                <a:latin typeface="Consolas" panose="020B0609020204030204" pitchFamily="49" charset="0"/>
              </a:rPr>
              <a:t>İlkEleman</a:t>
            </a:r>
            <a:r>
              <a:rPr lang="tr-TR" dirty="0">
                <a:latin typeface="Consolas" panose="020B0609020204030204" pitchFamily="49" charset="0"/>
              </a:rPr>
              <a:t> = Dizi[0] # İlk eleman 10'dur.</a:t>
            </a:r>
            <a:endParaRPr lang="tr-TR" dirty="0" smtClean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42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 Avantajları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Verileri düzenli ve </a:t>
            </a:r>
            <a:r>
              <a:rPr lang="tr-TR" dirty="0" smtClean="0"/>
              <a:t>eklenme sırasına göre saklar</a:t>
            </a:r>
            <a:r>
              <a:rPr lang="tr-TR" dirty="0"/>
              <a:t>.</a:t>
            </a:r>
          </a:p>
          <a:p>
            <a:r>
              <a:rPr lang="tr-TR" dirty="0"/>
              <a:t>Elemanlara hızlı erişim sağlar (indeksleme).</a:t>
            </a:r>
          </a:p>
          <a:p>
            <a:r>
              <a:rPr lang="tr-TR" dirty="0"/>
              <a:t>Verileri gruplandırarak düzenler</a:t>
            </a:r>
            <a:r>
              <a:rPr lang="tr-TR" dirty="0" smtClean="0"/>
              <a:t>.</a:t>
            </a:r>
          </a:p>
          <a:p>
            <a:r>
              <a:rPr lang="tr-TR" dirty="0"/>
              <a:t>Dizi türleri, alt türlerine genişletilebilir, yani </a:t>
            </a:r>
            <a:r>
              <a:rPr lang="tr-TR" dirty="0" err="1"/>
              <a:t>kovaryans</a:t>
            </a:r>
            <a:r>
              <a:rPr lang="tr-TR" dirty="0"/>
              <a:t> özelliğine sahiptir</a:t>
            </a:r>
            <a:r>
              <a:rPr lang="tr-TR" dirty="0" smtClean="0"/>
              <a:t>.</a:t>
            </a:r>
          </a:p>
          <a:p>
            <a:r>
              <a:rPr lang="tr-TR" dirty="0"/>
              <a:t>Hem ilkel veri tiplerini (</a:t>
            </a:r>
            <a:r>
              <a:rPr lang="tr-TR" dirty="0" err="1"/>
              <a:t>int</a:t>
            </a:r>
            <a:r>
              <a:rPr lang="tr-TR" dirty="0"/>
              <a:t>, </a:t>
            </a:r>
            <a:r>
              <a:rPr lang="tr-TR" dirty="0" err="1"/>
              <a:t>char</a:t>
            </a:r>
            <a:r>
              <a:rPr lang="tr-TR" dirty="0"/>
              <a:t>, vb.) hem de nesne türlerini içerebilir.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38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 Dezavantajları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Sabit </a:t>
            </a:r>
            <a:r>
              <a:rPr lang="tr-TR" dirty="0" smtClean="0"/>
              <a:t>boyutludur, </a:t>
            </a:r>
            <a:r>
              <a:rPr lang="tr-TR" dirty="0"/>
              <a:t>boyutu değiştirilemez.</a:t>
            </a:r>
          </a:p>
          <a:p>
            <a:r>
              <a:rPr lang="tr-TR" dirty="0" smtClean="0"/>
              <a:t>Öğe ekleme ve </a:t>
            </a:r>
            <a:r>
              <a:rPr lang="tr-TR" dirty="0"/>
              <a:t>çıkarmalar zaman alabilir </a:t>
            </a:r>
            <a:r>
              <a:rPr lang="tr-TR" dirty="0" smtClean="0"/>
              <a:t>(tüm </a:t>
            </a:r>
            <a:r>
              <a:rPr lang="tr-TR" dirty="0"/>
              <a:t>diziyi kaydırma gerekebilir</a:t>
            </a:r>
            <a:r>
              <a:rPr lang="tr-TR" dirty="0" smtClean="0"/>
              <a:t>).</a:t>
            </a:r>
          </a:p>
          <a:p>
            <a:r>
              <a:rPr lang="tr-TR" dirty="0"/>
              <a:t>Statik tür kontrolü, tür hatalarını tespit edemez; tür kontrolü çalışma zamanında gerçekleşir</a:t>
            </a:r>
            <a:r>
              <a:rPr lang="tr-TR" dirty="0" smtClean="0"/>
              <a:t>.</a:t>
            </a:r>
          </a:p>
          <a:p>
            <a:r>
              <a:rPr lang="tr-TR" dirty="0"/>
              <a:t>Java dizileri için içsel </a:t>
            </a:r>
            <a:r>
              <a:rPr lang="tr-TR" dirty="0" smtClean="0"/>
              <a:t>işlemler çok sınırlıdır. (sıralama, arama, gibi)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97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smtClean="0"/>
              <a:t>Tek </a:t>
            </a:r>
            <a:r>
              <a:rPr lang="tr-TR" b="1" dirty="0"/>
              <a:t>boyutlu </a:t>
            </a:r>
            <a:r>
              <a:rPr lang="tr-TR" dirty="0" smtClean="0"/>
              <a:t>diziler: </a:t>
            </a:r>
            <a:r>
              <a:rPr lang="tr-TR" dirty="0"/>
              <a:t>Elemanlar </a:t>
            </a:r>
            <a:r>
              <a:rPr lang="tr-TR" dirty="0" smtClean="0"/>
              <a:t>bir </a:t>
            </a:r>
            <a:r>
              <a:rPr lang="tr-TR" dirty="0"/>
              <a:t>satırda saklanır.</a:t>
            </a:r>
          </a:p>
          <a:p>
            <a:r>
              <a:rPr lang="tr-TR" b="1" dirty="0"/>
              <a:t>İki boyutlu </a:t>
            </a:r>
            <a:r>
              <a:rPr lang="tr-TR" dirty="0" smtClean="0"/>
              <a:t>diziler: </a:t>
            </a:r>
            <a:r>
              <a:rPr lang="tr-TR" dirty="0"/>
              <a:t>Elemanlar satır ve sütunlarda saklanır.</a:t>
            </a:r>
          </a:p>
          <a:p>
            <a:r>
              <a:rPr lang="tr-TR" b="1" dirty="0" smtClean="0"/>
              <a:t>Çok </a:t>
            </a:r>
            <a:r>
              <a:rPr lang="tr-TR" b="1" dirty="0"/>
              <a:t>boyutlu </a:t>
            </a:r>
            <a:r>
              <a:rPr lang="tr-TR" dirty="0" smtClean="0"/>
              <a:t>diziler: </a:t>
            </a:r>
            <a:r>
              <a:rPr lang="tr-TR" dirty="0"/>
              <a:t>Daha karmaşık veri düzenlemelerini destekler.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46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Diziler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Görsel, </a:t>
            </a:r>
            <a:r>
              <a:rPr lang="tr-TR" dirty="0"/>
              <a:t>beş elemanlı bir diziyi temsil </a:t>
            </a:r>
            <a:r>
              <a:rPr lang="tr-TR" dirty="0" smtClean="0"/>
              <a:t>etmektedir. </a:t>
            </a:r>
          </a:p>
          <a:p>
            <a:r>
              <a:rPr lang="tr-TR" dirty="0" smtClean="0"/>
              <a:t>Dizideki </a:t>
            </a:r>
            <a:r>
              <a:rPr lang="tr-TR" dirty="0"/>
              <a:t>her </a:t>
            </a:r>
            <a:r>
              <a:rPr lang="tr-TR" dirty="0" smtClean="0"/>
              <a:t>bir eleman</a:t>
            </a:r>
            <a:r>
              <a:rPr lang="tr-TR" dirty="0"/>
              <a:t>, </a:t>
            </a:r>
            <a:r>
              <a:rPr lang="tr-TR" dirty="0" smtClean="0"/>
              <a:t>farklı bir </a:t>
            </a:r>
            <a:r>
              <a:rPr lang="tr-TR" dirty="0"/>
              <a:t>hücre içinde </a:t>
            </a:r>
            <a:r>
              <a:rPr lang="tr-TR" dirty="0" smtClean="0"/>
              <a:t>bulunur</a:t>
            </a:r>
            <a:r>
              <a:rPr lang="tr-TR" dirty="0"/>
              <a:t>. </a:t>
            </a:r>
            <a:endParaRPr lang="tr-TR" dirty="0" smtClean="0"/>
          </a:p>
          <a:p>
            <a:r>
              <a:rPr lang="tr-TR" dirty="0" smtClean="0"/>
              <a:t>Dizinin elemanları </a:t>
            </a:r>
            <a:r>
              <a:rPr lang="tr-TR" dirty="0"/>
              <a:t>bir arada ve düzenli bir şekilde </a:t>
            </a:r>
            <a:r>
              <a:rPr lang="tr-TR" dirty="0" smtClean="0"/>
              <a:t>saklanır</a:t>
            </a:r>
            <a:r>
              <a:rPr lang="tr-TR" dirty="0" smtClean="0"/>
              <a:t>.</a:t>
            </a:r>
            <a:endParaRPr lang="tr-TR" dirty="0" smtClean="0"/>
          </a:p>
          <a:p>
            <a:endParaRPr lang="tr-TR" dirty="0"/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261176"/>
              </p:ext>
            </p:extLst>
          </p:nvPr>
        </p:nvGraphicFramePr>
        <p:xfrm>
          <a:off x="1157666" y="3619621"/>
          <a:ext cx="8128002" cy="982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  <a:gridCol w="13546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indis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0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1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2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3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4</a:t>
                      </a:r>
                      <a:endParaRPr lang="tr-TR" b="1" dirty="0"/>
                    </a:p>
                  </a:txBody>
                  <a:tcPr anchor="ctr"/>
                </a:tc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/>
                        <a:t>eleman</a:t>
                      </a:r>
                      <a:endParaRPr lang="tr-T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13</a:t>
                      </a:r>
                      <a:endParaRPr lang="tr-TR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-1</a:t>
                      </a:r>
                      <a:endParaRPr lang="tr-TR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4</a:t>
                      </a:r>
                      <a:endParaRPr lang="tr-TR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2</a:t>
                      </a:r>
                      <a:endParaRPr lang="tr-TR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b="1" dirty="0" smtClean="0"/>
                        <a:t>7</a:t>
                      </a:r>
                      <a:endParaRPr lang="tr-TR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65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 Tanımlama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>
                <a:latin typeface="Consolas" panose="020B0609020204030204" pitchFamily="49" charset="0"/>
              </a:rPr>
              <a:t>VeriTipi</a:t>
            </a:r>
            <a:r>
              <a:rPr lang="tr-TR" dirty="0">
                <a:latin typeface="Consolas" panose="020B0609020204030204" pitchFamily="49" charset="0"/>
              </a:rPr>
              <a:t>[] </a:t>
            </a:r>
            <a:r>
              <a:rPr lang="tr-TR" dirty="0" err="1">
                <a:latin typeface="Consolas" panose="020B0609020204030204" pitchFamily="49" charset="0"/>
              </a:rPr>
              <a:t>diziAdi</a:t>
            </a:r>
            <a:r>
              <a:rPr lang="tr-TR" dirty="0">
                <a:latin typeface="Consolas" panose="020B0609020204030204" pitchFamily="49" charset="0"/>
              </a:rPr>
              <a:t> = </a:t>
            </a:r>
            <a:r>
              <a:rPr lang="tr-TR" dirty="0" err="1">
                <a:latin typeface="Consolas" panose="020B0609020204030204" pitchFamily="49" charset="0"/>
              </a:rPr>
              <a:t>new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VeriTipi</a:t>
            </a:r>
            <a:r>
              <a:rPr lang="tr-TR" dirty="0">
                <a:latin typeface="Consolas" panose="020B0609020204030204" pitchFamily="49" charset="0"/>
              </a:rPr>
              <a:t>[</a:t>
            </a:r>
            <a:r>
              <a:rPr lang="tr-TR" dirty="0" err="1">
                <a:latin typeface="Consolas" panose="020B0609020204030204" pitchFamily="49" charset="0"/>
              </a:rPr>
              <a:t>diziBoyutu</a:t>
            </a:r>
            <a:r>
              <a:rPr lang="tr-TR" dirty="0" smtClean="0">
                <a:latin typeface="Consolas" panose="020B0609020204030204" pitchFamily="49" charset="0"/>
              </a:rPr>
              <a:t>];</a:t>
            </a:r>
          </a:p>
          <a:p>
            <a:endParaRPr lang="tr-TR" dirty="0"/>
          </a:p>
          <a:p>
            <a:r>
              <a:rPr lang="tr-TR" b="1" dirty="0" err="1"/>
              <a:t>VeriTipi</a:t>
            </a:r>
            <a:r>
              <a:rPr lang="tr-TR" dirty="0"/>
              <a:t>: Dizide saklanacak verilerin türünü belirtir.</a:t>
            </a:r>
          </a:p>
          <a:p>
            <a:r>
              <a:rPr lang="tr-TR" b="1" dirty="0" err="1"/>
              <a:t>diziAdi</a:t>
            </a:r>
            <a:r>
              <a:rPr lang="tr-TR" dirty="0"/>
              <a:t>: Dizinin adını temsil eder.</a:t>
            </a:r>
          </a:p>
          <a:p>
            <a:r>
              <a:rPr lang="tr-TR" b="1" dirty="0" err="1"/>
              <a:t>diziBoyutu</a:t>
            </a:r>
            <a:r>
              <a:rPr lang="tr-TR" dirty="0"/>
              <a:t>: Dizinin kaç eleman içereceğini belirtir.</a:t>
            </a:r>
          </a:p>
          <a:p>
            <a:endParaRPr lang="tr-TR" dirty="0" smtClean="0"/>
          </a:p>
          <a:p>
            <a:r>
              <a:rPr lang="tr-TR" b="1" dirty="0" smtClean="0"/>
              <a:t>Örnek</a:t>
            </a:r>
            <a:r>
              <a:rPr lang="tr-TR" dirty="0" smtClean="0"/>
              <a:t>:</a:t>
            </a:r>
          </a:p>
          <a:p>
            <a:pPr mar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[5];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65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 Elemanlarına Erişim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Dizi </a:t>
            </a:r>
            <a:r>
              <a:rPr lang="tr-TR" dirty="0" smtClean="0"/>
              <a:t>elemanlarına, </a:t>
            </a:r>
            <a:r>
              <a:rPr lang="tr-TR" dirty="0"/>
              <a:t>indeks </a:t>
            </a:r>
            <a:r>
              <a:rPr lang="tr-TR" dirty="0" smtClean="0"/>
              <a:t>numaralarıyla </a:t>
            </a:r>
            <a:r>
              <a:rPr lang="tr-TR" dirty="0"/>
              <a:t>erişilir.</a:t>
            </a:r>
          </a:p>
          <a:p>
            <a:r>
              <a:rPr lang="tr-TR" dirty="0"/>
              <a:t>İndeksler 0'dan başlar.</a:t>
            </a:r>
          </a:p>
          <a:p>
            <a:endParaRPr lang="tr-TR" dirty="0" smtClean="0"/>
          </a:p>
          <a:p>
            <a:r>
              <a:rPr lang="tr-TR" b="1" dirty="0" smtClean="0"/>
              <a:t>Örnek</a:t>
            </a:r>
            <a:r>
              <a:rPr lang="tr-TR" dirty="0" smtClean="0"/>
              <a:t>:</a:t>
            </a:r>
          </a:p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ilkEleman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[0]; </a:t>
            </a:r>
            <a:r>
              <a:rPr lang="tr-TR" b="1" dirty="0">
                <a:solidFill>
                  <a:srgbClr val="3F7F5F"/>
                </a:solidFill>
                <a:latin typeface="Consolas" panose="020B0609020204030204" pitchFamily="49" charset="0"/>
              </a:rPr>
              <a:t>// İlk elemanı alır</a:t>
            </a:r>
          </a:p>
          <a:p>
            <a:pPr marL="0" indent="0" algn="l">
              <a:buNone/>
            </a:pP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ikinciEleman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[1]; </a:t>
            </a:r>
            <a:r>
              <a:rPr lang="tr-TR" b="1" dirty="0">
                <a:solidFill>
                  <a:srgbClr val="3F7F5F"/>
                </a:solidFill>
                <a:latin typeface="Consolas" panose="020B0609020204030204" pitchFamily="49" charset="0"/>
              </a:rPr>
              <a:t>// İkinci elemanı alır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579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Dizi İlklendirme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Dizi elemanlarına başlangıç değerleri atanabilir.</a:t>
            </a:r>
          </a:p>
          <a:p>
            <a:r>
              <a:rPr lang="tr-TR" dirty="0" smtClean="0"/>
              <a:t>İlklendirme sırasında </a:t>
            </a:r>
            <a:r>
              <a:rPr lang="tr-TR" dirty="0"/>
              <a:t>dizi boyutunu belirtmeye gerek yoktur</a:t>
            </a:r>
            <a:r>
              <a:rPr lang="tr-TR" dirty="0" smtClean="0"/>
              <a:t>.</a:t>
            </a:r>
          </a:p>
          <a:p>
            <a:r>
              <a:rPr lang="tr-TR" dirty="0" err="1" smtClean="0"/>
              <a:t>İnitializers</a:t>
            </a:r>
            <a:r>
              <a:rPr lang="tr-TR" dirty="0" smtClean="0"/>
              <a:t>, </a:t>
            </a:r>
            <a:r>
              <a:rPr lang="tr-TR" dirty="0"/>
              <a:t>bir dizinin ilk değerlerini atamak için kullanılır.</a:t>
            </a:r>
          </a:p>
          <a:p>
            <a:endParaRPr lang="tr-TR" dirty="0"/>
          </a:p>
          <a:p>
            <a:r>
              <a:rPr lang="tr-TR" b="1" dirty="0"/>
              <a:t>Örnek</a:t>
            </a:r>
            <a:r>
              <a:rPr lang="tr-TR" dirty="0" smtClean="0"/>
              <a:t>:</a:t>
            </a:r>
          </a:p>
          <a:p>
            <a:pPr mar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{10, 20, 30, 40, 50};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28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 Boyutunu Almak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>
                <a:latin typeface="Consolas" panose="020B0609020204030204" pitchFamily="49" charset="0"/>
              </a:rPr>
              <a:t>length</a:t>
            </a:r>
            <a:r>
              <a:rPr lang="tr-TR" dirty="0"/>
              <a:t> özelliği ile dizinin boyutu alınabilir.</a:t>
            </a:r>
          </a:p>
          <a:p>
            <a:r>
              <a:rPr lang="tr-TR" dirty="0"/>
              <a:t>Bu özellik dizinin kaç eleman içerdiğini verir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b="1" dirty="0"/>
              <a:t>Örnek</a:t>
            </a:r>
            <a:r>
              <a:rPr lang="tr-TR" dirty="0" smtClean="0"/>
              <a:t>:</a:t>
            </a:r>
          </a:p>
          <a:p>
            <a:pPr mar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diziBoyutu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b="1" dirty="0">
                <a:solidFill>
                  <a:srgbClr val="3F7F5F"/>
                </a:solidFill>
                <a:latin typeface="Consolas" panose="020B0609020204030204" pitchFamily="49" charset="0"/>
              </a:rPr>
              <a:t>// Dizi boyutu: 5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26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Boyut Belirtilmediğinde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Dizi boyutu belirtilmediğinde, </a:t>
            </a:r>
            <a:r>
              <a:rPr lang="tr-TR" dirty="0" err="1" smtClean="0"/>
              <a:t>ilklendiriciler</a:t>
            </a:r>
            <a:r>
              <a:rPr lang="tr-TR" dirty="0" smtClean="0"/>
              <a:t> boyutu </a:t>
            </a:r>
            <a:r>
              <a:rPr lang="tr-TR" dirty="0"/>
              <a:t>belirler.</a:t>
            </a:r>
          </a:p>
          <a:p>
            <a:r>
              <a:rPr lang="tr-TR" dirty="0" err="1" smtClean="0"/>
              <a:t>İlklendirici</a:t>
            </a:r>
            <a:r>
              <a:rPr lang="tr-TR" dirty="0" smtClean="0"/>
              <a:t> </a:t>
            </a:r>
            <a:r>
              <a:rPr lang="tr-TR" dirty="0"/>
              <a:t>sayısı, dizinin boyutunu belirler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b="1" dirty="0"/>
              <a:t>Örnek</a:t>
            </a:r>
            <a:r>
              <a:rPr lang="tr-TR" dirty="0" smtClean="0"/>
              <a:t>:</a:t>
            </a:r>
          </a:p>
          <a:p>
            <a:pPr marL="0" indent="0">
              <a:buNone/>
            </a:pPr>
            <a:r>
              <a:rPr lang="tr-TR" b="1" dirty="0">
                <a:solidFill>
                  <a:srgbClr val="3F7F5F"/>
                </a:solidFill>
                <a:latin typeface="Consolas" panose="020B0609020204030204" pitchFamily="49" charset="0"/>
              </a:rPr>
              <a:t>// 5 başlatıcı olduğu için </a:t>
            </a:r>
            <a:r>
              <a:rPr lang="tr-TR" b="1" dirty="0" smtClean="0">
                <a:solidFill>
                  <a:srgbClr val="3F7F5F"/>
                </a:solidFill>
                <a:latin typeface="Consolas" panose="020B0609020204030204" pitchFamily="49" charset="0"/>
              </a:rPr>
              <a:t>dizi </a:t>
            </a:r>
            <a:r>
              <a:rPr lang="tr-TR" b="1" dirty="0">
                <a:solidFill>
                  <a:srgbClr val="3F7F5F"/>
                </a:solidFill>
                <a:latin typeface="Consolas" panose="020B0609020204030204" pitchFamily="49" charset="0"/>
              </a:rPr>
              <a:t>5 elemanlı bir dizi olur. </a:t>
            </a:r>
            <a:endParaRPr lang="tr-TR" b="1" dirty="0" smtClean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= {1, 2, 3, 4, 5}; 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085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Örnek Kod Parçası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DiziOrnegi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// Bir diziyi </a:t>
            </a:r>
            <a:r>
              <a:rPr lang="tr-TR" sz="20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tanımlama</a:t>
            </a:r>
          </a:p>
          <a:p>
            <a:pPr marL="0" indent="0" algn="l">
              <a:buNone/>
            </a:pPr>
            <a:r>
              <a:rPr lang="tr-TR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2000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20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[5]; </a:t>
            </a:r>
            <a:r>
              <a:rPr lang="tr-TR" sz="2000" b="1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5 elemanlı bir dizi tanımlandı</a:t>
            </a:r>
          </a:p>
          <a:p>
            <a:pPr marL="0" indent="0" algn="l">
              <a:buNone/>
            </a:pPr>
            <a:r>
              <a:rPr lang="tr-TR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sz="20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Diziye ilk değerleri atama</a:t>
            </a:r>
            <a:endParaRPr lang="tr-TR" sz="20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[0] = 10;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[1] = 20;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[2] = 30;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[3] = 40;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[4] = 50;</a:t>
            </a:r>
            <a:endParaRPr lang="tr-TR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05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Örnek Kod Parçası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sz="20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      //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Dizinin elemanlarına erişme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"Dizinin birinci elemanı: "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[0]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"Dizinin üçüncü elemanı: "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[2]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endParaRPr lang="tr-TR" sz="2000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// Dizinin tüm elemanlarını döngü </a:t>
            </a:r>
            <a:r>
              <a:rPr lang="tr-TR" sz="20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içerisinde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yazdırma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"Dizi Elemanları: "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n-NO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2000" b="1" dirty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57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OrtalamaHesaplama</a:t>
            </a:r>
            <a:r>
              <a:rPr lang="tr-TR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OrtalamaHesaplama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Kullanıcıdan dizi boyutunu al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scanner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(System.</a:t>
            </a:r>
            <a:r>
              <a:rPr lang="tr-TR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"Dizi boyutunu girin: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scanner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Dizi oluştur ve elemanları al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algn="l">
              <a:buNone/>
            </a:pP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         System.</a:t>
            </a:r>
            <a:r>
              <a:rPr lang="nn-NO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nn-NO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.print((</a:t>
            </a:r>
            <a:r>
              <a:rPr lang="nn-NO" b="1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+ 1) + </a:t>
            </a:r>
            <a:r>
              <a:rPr lang="nn-NO" b="1" i="1" dirty="0">
                <a:solidFill>
                  <a:srgbClr val="2A00FF"/>
                </a:solidFill>
                <a:latin typeface="Consolas" panose="020B0609020204030204" pitchFamily="49" charset="0"/>
              </a:rPr>
              <a:t>". elemanı girin: "</a:t>
            </a:r>
            <a:r>
              <a:rPr lang="nn-NO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scanner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204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OrtalamaHesaplama</a:t>
            </a:r>
            <a:r>
              <a:rPr lang="tr-TR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      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Dizi elemanlarını topla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toplam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 algn="l">
              <a:buNone/>
            </a:pP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toplam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Ortalama hesapla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ortalama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toplam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Sonucu yazdır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"Dizi Elemanları: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</a:t>
            </a:r>
            <a:r>
              <a:rPr lang="tr-TR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nOrtalama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: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b="1" i="1" dirty="0">
                <a:solidFill>
                  <a:srgbClr val="6A3E3E"/>
                </a:solidFill>
                <a:latin typeface="Consolas" panose="020B0609020204030204" pitchFamily="49" charset="0"/>
              </a:rPr>
              <a:t>ortalama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05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OrtancaDegerHesaplama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OrtaDegerHesaplama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Kullanıcıdan dizi boyutunu al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scanner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(System.</a:t>
            </a:r>
            <a:r>
              <a:rPr lang="tr-TR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"Dizi boyutunu girin: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scanner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Kullanıcıdan elemanları al ve dizi oluştur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algn="l">
              <a:buNone/>
            </a:pP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         System.</a:t>
            </a:r>
            <a:r>
              <a:rPr lang="nn-NO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nn-NO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.print((</a:t>
            </a:r>
            <a:r>
              <a:rPr lang="nn-NO" b="1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+ 1) + </a:t>
            </a:r>
            <a:r>
              <a:rPr lang="nn-NO" b="1" i="1" dirty="0">
                <a:solidFill>
                  <a:srgbClr val="2A00FF"/>
                </a:solidFill>
                <a:latin typeface="Consolas" panose="020B0609020204030204" pitchFamily="49" charset="0"/>
              </a:rPr>
              <a:t>". elemanı girin: "</a:t>
            </a:r>
            <a:r>
              <a:rPr lang="nn-NO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scanner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Arrays.</a:t>
            </a:r>
            <a:r>
              <a:rPr lang="tr-TR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sort</a:t>
            </a:r>
            <a:r>
              <a:rPr lang="tr-TR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i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Diziyi sırala</a:t>
            </a:r>
          </a:p>
          <a:p>
            <a:pPr marL="0" indent="0" algn="l">
              <a:buNone/>
            </a:pP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044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OrtancaDegerHesaplama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% 2 == 0) 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 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Çift boyutlu dizi için ortanca hesabı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sv-SE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sv-SE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b="1" dirty="0">
                <a:solidFill>
                  <a:srgbClr val="6A3E3E"/>
                </a:solidFill>
                <a:latin typeface="Consolas" panose="020B0609020204030204" pitchFamily="49" charset="0"/>
              </a:rPr>
              <a:t>orta1</a:t>
            </a:r>
            <a:r>
              <a:rPr lang="sv-SE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v-SE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sv-SE" b="1" dirty="0">
                <a:solidFill>
                  <a:srgbClr val="000000"/>
                </a:solidFill>
                <a:latin typeface="Consolas" panose="020B0609020204030204" pitchFamily="49" charset="0"/>
              </a:rPr>
              <a:t> / 2 - 1;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orta2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ortanca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orta1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orta2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]) / 2;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 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Tek boyutlu dizi için ortanca hesabı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orta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ortanca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orta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Sonucu yazdır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"Dizi Elemanları (sıralı):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</a:t>
            </a:r>
            <a:r>
              <a:rPr lang="tr-TR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nOrtanca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 Değer: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b="1" i="1" dirty="0">
                <a:solidFill>
                  <a:srgbClr val="6A3E3E"/>
                </a:solidFill>
                <a:latin typeface="Consolas" panose="020B0609020204030204" pitchFamily="49" charset="0"/>
              </a:rPr>
              <a:t>ortanca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69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ModHesaplama</a:t>
            </a:r>
            <a:r>
              <a:rPr lang="tr-TR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ModHesaplama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Kullanıcıdan dizi boyutunu al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scanner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(System.</a:t>
            </a:r>
            <a:r>
              <a:rPr lang="tr-TR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"Dizi boyutunu girin: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scanner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Kullanıcıdan elemanları al ve dizi oluştur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algn="l">
              <a:buNone/>
            </a:pP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         System.</a:t>
            </a:r>
            <a:r>
              <a:rPr lang="nn-NO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nn-NO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.print((</a:t>
            </a:r>
            <a:r>
              <a:rPr lang="nn-NO" b="1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+ 1) + </a:t>
            </a:r>
            <a:r>
              <a:rPr lang="nn-NO" b="1" i="1" dirty="0">
                <a:solidFill>
                  <a:srgbClr val="2A00FF"/>
                </a:solidFill>
                <a:latin typeface="Consolas" panose="020B0609020204030204" pitchFamily="49" charset="0"/>
              </a:rPr>
              <a:t>". elemanı girin: "</a:t>
            </a:r>
            <a:r>
              <a:rPr lang="nn-NO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scanner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Arrays.</a:t>
            </a:r>
            <a:r>
              <a:rPr lang="tr-TR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sort</a:t>
            </a:r>
            <a:r>
              <a:rPr lang="tr-TR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i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Diziyi sırala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94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ModHesaplama</a:t>
            </a:r>
            <a:r>
              <a:rPr lang="tr-TR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267507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enCokTekrarEden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[0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tr-TR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enCokTekrarSayisi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mevcutTekrarEden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[0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tr-TR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mevcutTekrarSayisi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= 1;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boyut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 ==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- 1])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mevcutTekrarSayisi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mevcutTekrarSayisi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mevcutTekrarEden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mevcutTekrarSayisi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enCokTekrarSayisi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enCokTekrarSayisi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mevcutTekrarSayisi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enCokTekrarEden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mevcutTekrarEden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93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ModHesaplama</a:t>
            </a:r>
            <a:r>
              <a:rPr lang="tr-TR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3072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sz="20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      //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Sonucu yazdır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"Dizi Elemanları (sıralı): "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endParaRPr lang="tr-TR" sz="2000" b="1" i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r">
              <a:buNone/>
            </a:pPr>
            <a:r>
              <a:rPr lang="tr-TR" sz="20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Arrays.toString</a:t>
            </a:r>
            <a:r>
              <a:rPr lang="tr-TR" sz="20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i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20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Mod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 Değeri: "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20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enCokTekrarEden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endParaRPr lang="tr-TR" sz="2000" b="1" i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r">
              <a:buNone/>
            </a:pPr>
            <a:r>
              <a:rPr lang="tr-TR" sz="2000" b="1" i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(</a:t>
            </a:r>
            <a:r>
              <a:rPr lang="tr-TR" sz="2000" b="1" i="1" dirty="0" smtClean="0">
                <a:solidFill>
                  <a:srgbClr val="2A00FF"/>
                </a:solidFill>
                <a:latin typeface="Consolas" panose="020B0609020204030204" pitchFamily="49" charset="0"/>
              </a:rPr>
              <a:t>Tekrar Sayısı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: "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20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enCokTekrarSayisi</a:t>
            </a:r>
            <a:r>
              <a:rPr lang="tr-TR" sz="20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")"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scanner</a:t>
            </a:r>
            <a:r>
              <a:rPr lang="tr-T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33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 Boyutlu Diziler (Matrisler)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Satır </a:t>
            </a:r>
            <a:r>
              <a:rPr lang="tr-TR" dirty="0"/>
              <a:t>ve sütunlarla tanımlanan tablo benzeri yapılar oluşturur.</a:t>
            </a:r>
          </a:p>
          <a:p>
            <a:r>
              <a:rPr lang="tr-TR" dirty="0"/>
              <a:t>Matrisler, </a:t>
            </a:r>
            <a:r>
              <a:rPr lang="tr-TR" dirty="0" smtClean="0"/>
              <a:t>satranç </a:t>
            </a:r>
            <a:r>
              <a:rPr lang="tr-TR" dirty="0"/>
              <a:t>tahtası veya </a:t>
            </a:r>
            <a:r>
              <a:rPr lang="tr-TR" dirty="0" smtClean="0"/>
              <a:t>resim </a:t>
            </a:r>
            <a:r>
              <a:rPr lang="tr-TR" dirty="0"/>
              <a:t>gibi iki boyutlu verileri temsil etmek için kullanışlıdır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b="1" dirty="0"/>
              <a:t>Örnek</a:t>
            </a:r>
            <a:r>
              <a:rPr lang="tr-TR" dirty="0" smtClean="0"/>
              <a:t>:</a:t>
            </a:r>
          </a:p>
          <a:p>
            <a:pPr mar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[3][3]; </a:t>
            </a:r>
            <a:r>
              <a:rPr lang="tr-TR" b="1" dirty="0">
                <a:solidFill>
                  <a:srgbClr val="3F7F5F"/>
                </a:solidFill>
                <a:latin typeface="Consolas" panose="020B0609020204030204" pitchFamily="49" charset="0"/>
              </a:rPr>
              <a:t>// 3x3 boyutunda bir matris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577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 Boyutlu Dizilerin </a:t>
            </a:r>
            <a:r>
              <a:rPr lang="tr-TR" dirty="0" err="1" smtClean="0"/>
              <a:t>İlklendirilmesi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rmAutofit/>
          </a:bodyPr>
          <a:lstStyle/>
          <a:p>
            <a:r>
              <a:rPr lang="tr-TR" dirty="0"/>
              <a:t>İki boyutlu dizilere başlangıç değerleri atanabilir.</a:t>
            </a:r>
          </a:p>
          <a:p>
            <a:r>
              <a:rPr lang="tr-TR" dirty="0" smtClean="0"/>
              <a:t>İlklendirme sırasında </a:t>
            </a:r>
            <a:r>
              <a:rPr lang="tr-TR" dirty="0"/>
              <a:t>matrisin boyutu ve başlangıç değerleri belirtilmelidir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b="1" dirty="0"/>
              <a:t>Örnek</a:t>
            </a:r>
            <a:r>
              <a:rPr lang="tr-TR" dirty="0" smtClean="0"/>
              <a:t>:</a:t>
            </a:r>
          </a:p>
          <a:p>
            <a:pPr mar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{ {1, 2, 3}, {4, 5, 6}, {7, 8, 9} };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5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CokBoyutluDiziOrnegi</a:t>
            </a:r>
            <a:r>
              <a:rPr lang="tr-TR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CokBoyutluDiziOrnegi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sz="20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3x3 boyutunda iki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boyutlu bir dizi (matris) </a:t>
            </a:r>
            <a:r>
              <a:rPr lang="tr-TR" sz="20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tanımlama</a:t>
            </a:r>
            <a:endParaRPr lang="tr-TR" sz="20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[3][3</a:t>
            </a:r>
            <a:r>
              <a:rPr lang="tr-TR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tr-TR" sz="2000" b="1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endParaRPr lang="tr-TR" sz="2000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sz="20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Matris elemanlarına ilk değer atama</a:t>
            </a:r>
            <a:endParaRPr lang="tr-TR" sz="20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satir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satir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satir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fi-FI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fi-FI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fi-FI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fi-FI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fi-FI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sutun</a:t>
            </a:r>
            <a:r>
              <a:rPr lang="fi-FI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fi-FI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sutun</a:t>
            </a:r>
            <a:r>
              <a:rPr lang="fi-FI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fi-FI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sutun</a:t>
            </a:r>
            <a:r>
              <a:rPr lang="fi-FI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2000" dirty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2000" dirty="0">
                <a:solidFill>
                  <a:srgbClr val="6A3E3E"/>
                </a:solidFill>
                <a:latin typeface="Consolas" panose="020B0609020204030204" pitchFamily="49" charset="0"/>
              </a:rPr>
              <a:t>satir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sutun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2000" dirty="0">
                <a:solidFill>
                  <a:srgbClr val="6A3E3E"/>
                </a:solidFill>
                <a:latin typeface="Consolas" panose="020B0609020204030204" pitchFamily="49" charset="0"/>
              </a:rPr>
              <a:t>satir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* 3 + </a:t>
            </a:r>
            <a:r>
              <a:rPr lang="tr-TR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sutun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tr-TR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2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CokBoyutluDiziOrnegi</a:t>
            </a:r>
            <a:r>
              <a:rPr lang="tr-TR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tr-TR" sz="20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      //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Matrisi ekrana yazdırma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"Matrisin İçeriği:"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satir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satir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satir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fi-FI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fi-FI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fi-FI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fi-FI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fi-FI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sutun</a:t>
            </a:r>
            <a:r>
              <a:rPr lang="fi-FI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fi-FI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sutun</a:t>
            </a:r>
            <a:r>
              <a:rPr lang="fi-FI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fi-FI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sutun</a:t>
            </a:r>
            <a:r>
              <a:rPr lang="fi-FI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satir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sutun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sz="2000" b="1" i="1" dirty="0">
                <a:solidFill>
                  <a:srgbClr val="3F7F5F"/>
                </a:solidFill>
                <a:latin typeface="Consolas" panose="020B0609020204030204" pitchFamily="49" charset="0"/>
              </a:rPr>
              <a:t>// Yeni satıra </a:t>
            </a:r>
            <a:r>
              <a:rPr lang="tr-TR" sz="2000" b="1" i="1" dirty="0" smtClean="0">
                <a:solidFill>
                  <a:srgbClr val="3F7F5F"/>
                </a:solidFill>
                <a:latin typeface="Consolas" panose="020B0609020204030204" pitchFamily="49" charset="0"/>
              </a:rPr>
              <a:t>geç</a:t>
            </a:r>
            <a:endParaRPr lang="tr-TR" sz="2000" b="1" i="1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301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Üç Boyutlu </a:t>
            </a:r>
            <a:r>
              <a:rPr lang="tr-TR" dirty="0" smtClean="0"/>
              <a:t>Diziler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rmAutofit/>
          </a:bodyPr>
          <a:lstStyle/>
          <a:p>
            <a:r>
              <a:rPr lang="tr-TR" dirty="0"/>
              <a:t>Java'da üç boyutlu </a:t>
            </a:r>
            <a:r>
              <a:rPr lang="tr-TR" dirty="0" smtClean="0"/>
              <a:t>veya </a:t>
            </a:r>
            <a:r>
              <a:rPr lang="tr-TR" dirty="0"/>
              <a:t>daha fazla boyutlu diziler </a:t>
            </a:r>
            <a:r>
              <a:rPr lang="tr-TR" dirty="0" smtClean="0"/>
              <a:t>kullanılabilir</a:t>
            </a:r>
            <a:r>
              <a:rPr lang="tr-TR" dirty="0"/>
              <a:t>.</a:t>
            </a:r>
          </a:p>
          <a:p>
            <a:r>
              <a:rPr lang="tr-TR" dirty="0"/>
              <a:t>Daha fazla boyut, daha karmaşık veri yapılarına izin verir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b="1" dirty="0"/>
              <a:t>Örnek</a:t>
            </a:r>
            <a:r>
              <a:rPr lang="tr-TR" dirty="0" smtClean="0"/>
              <a:t>:</a:t>
            </a:r>
          </a:p>
          <a:p>
            <a:pPr marL="0" indent="0">
              <a:buNone/>
            </a:pPr>
            <a:r>
              <a:rPr lang="tr-TR" b="1" dirty="0">
                <a:solidFill>
                  <a:srgbClr val="3F7F5F"/>
                </a:solidFill>
                <a:latin typeface="Consolas" panose="020B0609020204030204" pitchFamily="49" charset="0"/>
              </a:rPr>
              <a:t>// 3x3x3 boyutunda üç boyutlu dizi</a:t>
            </a:r>
            <a:endParaRPr lang="tr-TR" dirty="0"/>
          </a:p>
          <a:p>
            <a:pPr marL="0" indent="0">
              <a:buNone/>
            </a:pP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[][][]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üçBoyutluDizi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[3][3][3]; 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19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UcBoyutluDiziOrnegi</a:t>
            </a:r>
            <a:r>
              <a:rPr lang="tr-TR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UcBoyutluDiziOrnegi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3x3x3 boyutunda üç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boyutlu bir dizi tanımlama ve başlatma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[][][]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ucBoyutluDizi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[3][3][3]; </a:t>
            </a:r>
            <a:endParaRPr lang="tr-TR" b="1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Üç boyutlu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dizi elemanlarına ilk değer atama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s-E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b="1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s-ES" b="1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es-ES" b="1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pl-PL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pl-PL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l-PL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l-PL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b="1" dirty="0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l-PL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pl-PL" b="1" dirty="0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l-PL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pl-PL" b="1" dirty="0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l-PL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ucBoyutluDizi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* 9 +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* 3 +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48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UcBoyutluDiziOrnegi</a:t>
            </a:r>
            <a:r>
              <a:rPr lang="tr-TR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      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Üç boyutlu diziyi ekrana yazdırma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"Üç Boyutlu Dizinin İçeriği:"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s-E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s-E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b="1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s-ES" b="1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es-ES" b="1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es-ES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pl-PL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pl-PL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l-PL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l-PL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b="1" dirty="0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l-PL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pl-PL" b="1" dirty="0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l-PL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pl-PL" b="1" dirty="0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l-PL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ucBoyutluDizi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b="1" i="1" dirty="0">
                <a:solidFill>
                  <a:srgbClr val="3F7F5F"/>
                </a:solidFill>
                <a:latin typeface="Consolas" panose="020B0609020204030204" pitchFamily="49" charset="0"/>
              </a:rPr>
              <a:t>// Yeni satıra geçme (y ekseni)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b="1" i="1" dirty="0">
                <a:solidFill>
                  <a:srgbClr val="3F7F5F"/>
                </a:solidFill>
                <a:latin typeface="Consolas" panose="020B0609020204030204" pitchFamily="49" charset="0"/>
              </a:rPr>
              <a:t>// Yeni satıra geçme (x ekseni)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712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Varargs </a:t>
            </a:r>
            <a:r>
              <a:rPr lang="tr-TR" dirty="0"/>
              <a:t>(Değişken Argümanlar)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smtClean="0"/>
              <a:t>Çok </a:t>
            </a:r>
            <a:r>
              <a:rPr lang="tr-TR" dirty="0"/>
              <a:t>sayıda </a:t>
            </a:r>
            <a:r>
              <a:rPr lang="tr-TR" dirty="0" smtClean="0"/>
              <a:t>parametreyi rahatça işlemeyi sağlar.</a:t>
            </a:r>
          </a:p>
          <a:p>
            <a:endParaRPr lang="tr-TR" dirty="0" smtClean="0"/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ortalama(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...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Metodun içinde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dizi,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bir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double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dizisidir.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0)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Double.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NaN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var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toplam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0.0;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var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eleman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toplam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eleman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toplam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72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Dizi Kopyalama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Java'da diziler </a:t>
            </a:r>
            <a:r>
              <a:rPr lang="tr-TR" dirty="0" smtClean="0"/>
              <a:t>de bir nesnedir.</a:t>
            </a:r>
          </a:p>
          <a:p>
            <a:r>
              <a:rPr lang="tr-TR" dirty="0" smtClean="0"/>
              <a:t>= işleci kullanıldığında</a:t>
            </a:r>
            <a:r>
              <a:rPr lang="tr-TR" dirty="0"/>
              <a:t>, yalnızca referanslar </a:t>
            </a:r>
            <a:r>
              <a:rPr lang="tr-TR" dirty="0" smtClean="0"/>
              <a:t>kopyalanır.</a:t>
            </a:r>
            <a:endParaRPr lang="tr-TR" dirty="0"/>
          </a:p>
          <a:p>
            <a:r>
              <a:rPr lang="tr-TR" dirty="0" smtClean="0"/>
              <a:t>Dizi </a:t>
            </a:r>
            <a:r>
              <a:rPr lang="tr-TR" dirty="0"/>
              <a:t>elemanlarını </a:t>
            </a:r>
            <a:r>
              <a:rPr lang="tr-TR" dirty="0" smtClean="0"/>
              <a:t>kopyalayarak yeni bir dizi oluşturmak </a:t>
            </a:r>
            <a:r>
              <a:rPr lang="tr-TR" dirty="0"/>
              <a:t>için, </a:t>
            </a:r>
            <a:r>
              <a:rPr lang="tr-TR" dirty="0" err="1"/>
              <a:t>Arrays.copyOf</a:t>
            </a:r>
            <a:r>
              <a:rPr lang="tr-TR" dirty="0"/>
              <a:t> </a:t>
            </a:r>
            <a:r>
              <a:rPr lang="tr-TR" dirty="0" smtClean="0"/>
              <a:t>metodu kullanılabilir.</a:t>
            </a:r>
          </a:p>
          <a:p>
            <a:endParaRPr lang="tr-TR" dirty="0"/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{1, 2, 3, 4, 5};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referans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Sadece referans kopyalanır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kopya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Arrays.</a:t>
            </a:r>
            <a:r>
              <a:rPr lang="tr-T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copyOf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20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Algoritma </a:t>
            </a:r>
            <a:r>
              <a:rPr lang="tr-TR" dirty="0" smtClean="0"/>
              <a:t>Karmaşıklığı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rmAutofit/>
          </a:bodyPr>
          <a:lstStyle/>
          <a:p>
            <a:r>
              <a:rPr lang="tr-TR" dirty="0" smtClean="0"/>
              <a:t>Algoritmanın </a:t>
            </a:r>
            <a:r>
              <a:rPr lang="tr-TR" dirty="0"/>
              <a:t>çalışma </a:t>
            </a:r>
            <a:r>
              <a:rPr lang="tr-TR" dirty="0" smtClean="0"/>
              <a:t>süresi / kaynak </a:t>
            </a:r>
            <a:r>
              <a:rPr lang="tr-TR" dirty="0"/>
              <a:t>kullanımını analiz eden bir ölçüdür.</a:t>
            </a:r>
          </a:p>
          <a:p>
            <a:r>
              <a:rPr lang="tr-TR" dirty="0"/>
              <a:t>Temel olarak, bir algoritmanın ne kadar hızlı veya verimli çalıştığını belirler</a:t>
            </a:r>
            <a:r>
              <a:rPr lang="tr-TR" dirty="0" smtClean="0"/>
              <a:t>.</a:t>
            </a:r>
          </a:p>
          <a:p>
            <a:r>
              <a:rPr lang="tr-TR" dirty="0" smtClean="0"/>
              <a:t>İşlem süresinin girdi </a:t>
            </a:r>
            <a:r>
              <a:rPr lang="tr-TR" dirty="0" smtClean="0"/>
              <a:t>boyutuna </a:t>
            </a:r>
            <a:r>
              <a:rPr lang="tr-TR" dirty="0" smtClean="0"/>
              <a:t>bağlı olarak değişimini gösterir</a:t>
            </a:r>
            <a:r>
              <a:rPr lang="tr-TR" dirty="0" smtClean="0"/>
              <a:t>.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4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Zaman Karmaşıklığı </a:t>
            </a:r>
            <a:r>
              <a:rPr lang="tr-TR" dirty="0" smtClean="0"/>
              <a:t>- Lineer Arama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rmAutofit/>
          </a:bodyPr>
          <a:lstStyle/>
          <a:p>
            <a:r>
              <a:rPr lang="tr-TR" b="1" dirty="0"/>
              <a:t>Örnek</a:t>
            </a:r>
            <a:r>
              <a:rPr lang="tr-TR" dirty="0"/>
              <a:t>: Bir dizinin içinde belirli bir elemanı arama.</a:t>
            </a:r>
          </a:p>
          <a:p>
            <a:r>
              <a:rPr lang="tr-TR" dirty="0"/>
              <a:t>Sıradan bir </a:t>
            </a:r>
            <a:r>
              <a:rPr lang="tr-TR" dirty="0" smtClean="0"/>
              <a:t>doğrusal </a:t>
            </a:r>
            <a:r>
              <a:rPr lang="tr-TR" dirty="0"/>
              <a:t>arama </a:t>
            </a:r>
            <a:r>
              <a:rPr lang="tr-TR" dirty="0" smtClean="0"/>
              <a:t>algoritması.</a:t>
            </a:r>
            <a:endParaRPr lang="tr-TR" dirty="0" smtClean="0"/>
          </a:p>
          <a:p>
            <a:endParaRPr lang="tr-TR" dirty="0" smtClean="0"/>
          </a:p>
          <a:p>
            <a:pPr marL="0" indent="0" algn="l">
              <a:buNone/>
            </a:pP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lineerArama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hedef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20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eleman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20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eleman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hedef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algn="l">
              <a:buNone/>
            </a:pPr>
            <a:r>
              <a:rPr lang="tr-TR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77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Zaman Karmaşıklığı - Lineer Arama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rmAutofit/>
          </a:bodyPr>
          <a:lstStyle/>
          <a:p>
            <a:r>
              <a:rPr lang="tr-TR" dirty="0" smtClean="0"/>
              <a:t>Algoritma, </a:t>
            </a:r>
            <a:r>
              <a:rPr lang="tr-TR" dirty="0"/>
              <a:t>en kötü durumda tüm diziyi dolaşır.</a:t>
            </a:r>
          </a:p>
          <a:p>
            <a:r>
              <a:rPr lang="tr-TR" dirty="0" smtClean="0"/>
              <a:t>Zaman </a:t>
            </a:r>
            <a:r>
              <a:rPr lang="tr-TR" dirty="0"/>
              <a:t>karmaşıklığı O(n) olur (n dizinin boyutunu temsil eder</a:t>
            </a:r>
            <a:r>
              <a:rPr lang="tr-TR" dirty="0" smtClean="0"/>
              <a:t>).</a:t>
            </a:r>
          </a:p>
          <a:p>
            <a:endParaRPr lang="tr-TR" dirty="0"/>
          </a:p>
          <a:p>
            <a:r>
              <a:rPr lang="tr-TR" b="1" dirty="0"/>
              <a:t>İyi Durum</a:t>
            </a:r>
            <a:r>
              <a:rPr lang="tr-TR" dirty="0"/>
              <a:t>: Hedef erken bulunur, arama hızlı biter.</a:t>
            </a:r>
          </a:p>
          <a:p>
            <a:r>
              <a:rPr lang="tr-TR" b="1" dirty="0"/>
              <a:t>Kötü Durum</a:t>
            </a:r>
            <a:r>
              <a:rPr lang="tr-TR" dirty="0"/>
              <a:t>: Hedef dizinin sonunda </a:t>
            </a:r>
            <a:r>
              <a:rPr lang="tr-TR" dirty="0" smtClean="0"/>
              <a:t>bulunur veya </a:t>
            </a:r>
            <a:r>
              <a:rPr lang="tr-TR" dirty="0"/>
              <a:t>hiç </a:t>
            </a:r>
            <a:r>
              <a:rPr lang="tr-TR" dirty="0" smtClean="0"/>
              <a:t>bulunmaz.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23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Zaman Karmaşıklığı - </a:t>
            </a:r>
            <a:r>
              <a:rPr lang="tr-TR" dirty="0" smtClean="0"/>
              <a:t>Eşleştir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rmAutofit fontScale="92500" lnSpcReduction="10000"/>
          </a:bodyPr>
          <a:lstStyle/>
          <a:p>
            <a:r>
              <a:rPr lang="tr-TR" b="1" dirty="0"/>
              <a:t>Örnek</a:t>
            </a:r>
            <a:r>
              <a:rPr lang="tr-TR" dirty="0"/>
              <a:t>: İki dizi arasında çift elemanları eşleştirme.</a:t>
            </a:r>
          </a:p>
          <a:p>
            <a:r>
              <a:rPr lang="tr-TR" dirty="0"/>
              <a:t>İç içe iki döngü kullanarak bir çift eleman arama </a:t>
            </a:r>
            <a:r>
              <a:rPr lang="tr-TR" dirty="0" smtClean="0"/>
              <a:t>algoritması.</a:t>
            </a:r>
            <a:endParaRPr lang="tr-TR" dirty="0" smtClean="0"/>
          </a:p>
          <a:p>
            <a:endParaRPr lang="tr-TR" dirty="0"/>
          </a:p>
          <a:p>
            <a:pPr marL="0" indent="0" algn="l">
              <a:buNone/>
            </a:pPr>
            <a:r>
              <a:rPr lang="fr-F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fr-F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fr-F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eslestir</a:t>
            </a:r>
            <a:r>
              <a:rPr lang="fr-F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fr-F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fr-FR" sz="2200" b="1" dirty="0">
                <a:solidFill>
                  <a:srgbClr val="6A3E3E"/>
                </a:solidFill>
                <a:latin typeface="Consolas" panose="020B0609020204030204" pitchFamily="49" charset="0"/>
              </a:rPr>
              <a:t>dizi1</a:t>
            </a:r>
            <a:r>
              <a:rPr lang="fr-F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fr-F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fr-FR" sz="2200" b="1" dirty="0">
                <a:solidFill>
                  <a:srgbClr val="6A3E3E"/>
                </a:solidFill>
                <a:latin typeface="Consolas" panose="020B0609020204030204" pitchFamily="49" charset="0"/>
              </a:rPr>
              <a:t>dizi2</a:t>
            </a:r>
            <a:r>
              <a:rPr lang="fr-F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22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22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200" b="1" dirty="0">
                <a:solidFill>
                  <a:srgbClr val="6A3E3E"/>
                </a:solidFill>
                <a:latin typeface="Consolas" panose="020B0609020204030204" pitchFamily="49" charset="0"/>
              </a:rPr>
              <a:t>eleman1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2200" b="1" dirty="0">
                <a:solidFill>
                  <a:srgbClr val="6A3E3E"/>
                </a:solidFill>
                <a:latin typeface="Consolas" panose="020B0609020204030204" pitchFamily="49" charset="0"/>
              </a:rPr>
              <a:t>dizi1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22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22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200" b="1" dirty="0">
                <a:solidFill>
                  <a:srgbClr val="6A3E3E"/>
                </a:solidFill>
                <a:latin typeface="Consolas" panose="020B0609020204030204" pitchFamily="49" charset="0"/>
              </a:rPr>
              <a:t>eleman2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sz="2200" b="1" dirty="0">
                <a:solidFill>
                  <a:srgbClr val="6A3E3E"/>
                </a:solidFill>
                <a:latin typeface="Consolas" panose="020B0609020204030204" pitchFamily="49" charset="0"/>
              </a:rPr>
              <a:t>dizi2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22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22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200" b="1" dirty="0">
                <a:solidFill>
                  <a:srgbClr val="6A3E3E"/>
                </a:solidFill>
                <a:latin typeface="Consolas" panose="020B0609020204030204" pitchFamily="49" charset="0"/>
              </a:rPr>
              <a:t>eleman1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2200" b="1" dirty="0">
                <a:solidFill>
                  <a:srgbClr val="6A3E3E"/>
                </a:solidFill>
                <a:latin typeface="Consolas" panose="020B0609020204030204" pitchFamily="49" charset="0"/>
              </a:rPr>
              <a:t>eleman2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2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2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2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sz="2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"Eşleşen Çift Eleman: "</a:t>
            </a:r>
            <a:r>
              <a:rPr lang="tr-TR" sz="2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22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eleman1</a:t>
            </a:r>
            <a:r>
              <a:rPr lang="tr-TR" sz="2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algn="l">
              <a:buNone/>
            </a:pP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algn="l">
              <a:buNone/>
            </a:pP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22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23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Zaman Karmaşıklığı - Eşleştir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rmAutofit/>
          </a:bodyPr>
          <a:lstStyle/>
          <a:p>
            <a:r>
              <a:rPr lang="tr-TR" dirty="0"/>
              <a:t>İç içe döngüler, her </a:t>
            </a:r>
            <a:r>
              <a:rPr lang="tr-TR" dirty="0" smtClean="0"/>
              <a:t>bir elemanı diğer dizide bulanan her bir eleman ile sırayla karşılaştırır</a:t>
            </a:r>
            <a:r>
              <a:rPr lang="tr-TR" dirty="0"/>
              <a:t>.</a:t>
            </a:r>
          </a:p>
          <a:p>
            <a:r>
              <a:rPr lang="tr-TR" dirty="0" smtClean="0"/>
              <a:t>Zaman </a:t>
            </a:r>
            <a:r>
              <a:rPr lang="tr-TR" dirty="0"/>
              <a:t>karmaşıklığı </a:t>
            </a:r>
            <a:r>
              <a:rPr lang="tr-TR" dirty="0" smtClean="0"/>
              <a:t>O(n</a:t>
            </a:r>
            <a:r>
              <a:rPr lang="tr-TR" baseline="30000" dirty="0" smtClean="0"/>
              <a:t>2</a:t>
            </a:r>
            <a:r>
              <a:rPr lang="tr-TR" dirty="0"/>
              <a:t>) olur (n dizilerin boyutunu temsil eder</a:t>
            </a:r>
            <a:r>
              <a:rPr lang="tr-TR" dirty="0" smtClean="0"/>
              <a:t>).</a:t>
            </a:r>
          </a:p>
          <a:p>
            <a:r>
              <a:rPr lang="tr-TR" dirty="0" smtClean="0"/>
              <a:t>O(n</a:t>
            </a:r>
            <a:r>
              <a:rPr lang="tr-TR" baseline="30000" dirty="0" smtClean="0"/>
              <a:t>2</a:t>
            </a:r>
            <a:r>
              <a:rPr lang="tr-TR" dirty="0"/>
              <a:t>) algoritmalar büyük veri setleri için verimsizdir.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65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Statik </a:t>
            </a:r>
            <a:r>
              <a:rPr lang="tr-TR" dirty="0" smtClean="0"/>
              <a:t>Diziler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rmAutofit/>
          </a:bodyPr>
          <a:lstStyle/>
          <a:p>
            <a:r>
              <a:rPr lang="tr-TR" dirty="0"/>
              <a:t>Statik diziler, </a:t>
            </a:r>
            <a:r>
              <a:rPr lang="tr-TR" dirty="0" smtClean="0"/>
              <a:t>yığında </a:t>
            </a:r>
            <a:r>
              <a:rPr lang="tr-TR" dirty="0"/>
              <a:t>(</a:t>
            </a:r>
            <a:r>
              <a:rPr lang="tr-TR" dirty="0" err="1"/>
              <a:t>stack</a:t>
            </a:r>
            <a:r>
              <a:rPr lang="tr-TR" dirty="0"/>
              <a:t>) oluşturulur ve otomatik </a:t>
            </a:r>
            <a:r>
              <a:rPr lang="tr-TR" dirty="0" smtClean="0"/>
              <a:t>yaşam/bellek </a:t>
            </a:r>
            <a:r>
              <a:rPr lang="tr-TR" dirty="0"/>
              <a:t>süresine sahiptir.</a:t>
            </a:r>
          </a:p>
          <a:p>
            <a:r>
              <a:rPr lang="tr-TR" dirty="0" smtClean="0"/>
              <a:t>İşlevleri </a:t>
            </a:r>
            <a:r>
              <a:rPr lang="tr-TR" dirty="0"/>
              <a:t>sona erdiğinde </a:t>
            </a:r>
            <a:r>
              <a:rPr lang="tr-TR" dirty="0" smtClean="0"/>
              <a:t>bellekten atılırlar.</a:t>
            </a:r>
            <a:endParaRPr lang="tr-TR" dirty="0"/>
          </a:p>
          <a:p>
            <a:r>
              <a:rPr lang="tr-TR" dirty="0"/>
              <a:t>Derleme </a:t>
            </a:r>
            <a:r>
              <a:rPr lang="tr-TR" dirty="0" smtClean="0"/>
              <a:t>zamanında belli olan </a:t>
            </a:r>
            <a:r>
              <a:rPr lang="tr-TR" dirty="0"/>
              <a:t>sabit bir boyuta sahiptirler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plaka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tr-TR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""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Adana"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Adıyaman"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Afyon</a:t>
            </a:r>
            <a:r>
              <a:rPr lang="tr-TR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 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plaka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[1]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69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Dinamik </a:t>
            </a:r>
            <a:r>
              <a:rPr lang="tr-TR" dirty="0"/>
              <a:t>Diziler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rmAutofit/>
          </a:bodyPr>
          <a:lstStyle/>
          <a:p>
            <a:r>
              <a:rPr lang="tr-TR" dirty="0" smtClean="0"/>
              <a:t>Dinamik </a:t>
            </a:r>
            <a:r>
              <a:rPr lang="tr-TR" dirty="0"/>
              <a:t>bellek süresine </a:t>
            </a:r>
            <a:r>
              <a:rPr lang="tr-TR" dirty="0" smtClean="0"/>
              <a:t>sahiptir.</a:t>
            </a:r>
          </a:p>
          <a:p>
            <a:r>
              <a:rPr lang="tr-TR" dirty="0" smtClean="0"/>
              <a:t>Yığın yerine, </a:t>
            </a:r>
            <a:r>
              <a:rPr lang="tr-TR" dirty="0" err="1"/>
              <a:t>heap</a:t>
            </a:r>
            <a:r>
              <a:rPr lang="tr-TR" dirty="0"/>
              <a:t> </a:t>
            </a:r>
            <a:r>
              <a:rPr lang="tr-TR" dirty="0" smtClean="0"/>
              <a:t>denilen serbest bellek </a:t>
            </a:r>
            <a:r>
              <a:rPr lang="tr-TR" dirty="0"/>
              <a:t>üzerinde depolanır.</a:t>
            </a:r>
          </a:p>
          <a:p>
            <a:r>
              <a:rPr lang="tr-TR" dirty="0"/>
              <a:t>Çalışma zamanında </a:t>
            </a:r>
            <a:r>
              <a:rPr lang="tr-TR" dirty="0" smtClean="0"/>
              <a:t>istenilen </a:t>
            </a:r>
            <a:r>
              <a:rPr lang="tr-TR" dirty="0"/>
              <a:t>boyuta sahip </a:t>
            </a:r>
            <a:r>
              <a:rPr lang="tr-TR" dirty="0" smtClean="0"/>
              <a:t>olabilirler</a:t>
            </a:r>
          </a:p>
          <a:p>
            <a:r>
              <a:rPr lang="tr-TR" dirty="0" smtClean="0"/>
              <a:t>Bellek </a:t>
            </a:r>
            <a:r>
              <a:rPr lang="tr-TR" dirty="0"/>
              <a:t>tahsisi ve serbest bırakma </a:t>
            </a:r>
            <a:r>
              <a:rPr lang="tr-TR" dirty="0" smtClean="0"/>
              <a:t>işlemi otomatik gerçekleşmez.</a:t>
            </a:r>
            <a:endParaRPr lang="tr-TR" dirty="0" smtClean="0"/>
          </a:p>
          <a:p>
            <a:endParaRPr lang="tr-TR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dinamikDizi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[10]; </a:t>
            </a:r>
            <a:r>
              <a:rPr lang="tr-TR" b="1" dirty="0">
                <a:solidFill>
                  <a:srgbClr val="3F7F5F"/>
                </a:solidFill>
                <a:latin typeface="Consolas" panose="020B0609020204030204" pitchFamily="49" charset="0"/>
              </a:rPr>
              <a:t>// Bellek tahsis edilir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...</a:t>
            </a:r>
          </a:p>
          <a:p>
            <a:pPr marL="0" indent="0" algn="l">
              <a:buNone/>
            </a:pP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dinamikDizi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b="1" dirty="0">
                <a:solidFill>
                  <a:srgbClr val="3F7F5F"/>
                </a:solidFill>
                <a:latin typeface="Consolas" panose="020B0609020204030204" pitchFamily="49" charset="0"/>
              </a:rPr>
              <a:t>// Bellek serbest bırakılır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22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Heap</a:t>
            </a:r>
            <a:r>
              <a:rPr lang="tr-TR" dirty="0"/>
              <a:t> ve Yığın Belleği Karşılaştırması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rmAutofit/>
          </a:bodyPr>
          <a:lstStyle/>
          <a:p>
            <a:r>
              <a:rPr lang="tr-TR" dirty="0" err="1"/>
              <a:t>Heap</a:t>
            </a:r>
            <a:r>
              <a:rPr lang="tr-TR" dirty="0"/>
              <a:t> </a:t>
            </a:r>
            <a:r>
              <a:rPr lang="tr-TR" dirty="0" smtClean="0"/>
              <a:t>belleği, </a:t>
            </a:r>
            <a:r>
              <a:rPr lang="tr-TR" dirty="0"/>
              <a:t>dinamik veri yapıları ve nesneler için kullanılır.</a:t>
            </a:r>
          </a:p>
          <a:p>
            <a:r>
              <a:rPr lang="tr-TR" dirty="0"/>
              <a:t>Yığın </a:t>
            </a:r>
            <a:r>
              <a:rPr lang="tr-TR" dirty="0" smtClean="0"/>
              <a:t>belleği, </a:t>
            </a:r>
            <a:r>
              <a:rPr lang="tr-TR" dirty="0"/>
              <a:t>yerel değişkenler ve işlev çağrıları için kullanılır.</a:t>
            </a:r>
          </a:p>
          <a:p>
            <a:r>
              <a:rPr lang="tr-TR" dirty="0"/>
              <a:t>Bellek yönetimi </a:t>
            </a:r>
            <a:r>
              <a:rPr lang="tr-TR" dirty="0" err="1"/>
              <a:t>heap</a:t>
            </a:r>
            <a:r>
              <a:rPr lang="tr-TR" dirty="0"/>
              <a:t> belleği için manuel, yığın belleği için otomatiktir</a:t>
            </a:r>
            <a:r>
              <a:rPr lang="tr-TR" dirty="0" smtClean="0"/>
              <a:t>.</a:t>
            </a:r>
          </a:p>
          <a:p>
            <a:r>
              <a:rPr lang="tr-TR" dirty="0"/>
              <a:t>Bellek serbest bırakma işlemi </a:t>
            </a:r>
            <a:r>
              <a:rPr lang="tr-TR" dirty="0" smtClean="0"/>
              <a:t>(</a:t>
            </a:r>
            <a:r>
              <a:rPr lang="tr-TR" dirty="0"/>
              <a:t>örneğin, </a:t>
            </a:r>
            <a:r>
              <a:rPr lang="tr-TR" dirty="0" err="1"/>
              <a:t>delete</a:t>
            </a:r>
            <a:r>
              <a:rPr lang="tr-TR" dirty="0"/>
              <a:t> veya </a:t>
            </a:r>
            <a:r>
              <a:rPr lang="tr-TR" dirty="0" err="1"/>
              <a:t>System.gc</a:t>
            </a:r>
            <a:r>
              <a:rPr lang="tr-TR" dirty="0"/>
              <a:t>() kullanarak</a:t>
            </a:r>
            <a:r>
              <a:rPr lang="tr-TR" dirty="0" smtClean="0"/>
              <a:t>) </a:t>
            </a:r>
            <a:r>
              <a:rPr lang="tr-TR" dirty="0"/>
              <a:t>manuel olarak </a:t>
            </a:r>
            <a:r>
              <a:rPr lang="tr-TR" dirty="0" smtClean="0"/>
              <a:t>yapılabilir.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95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İndis Sınır </a:t>
            </a:r>
            <a:r>
              <a:rPr lang="tr-TR" dirty="0"/>
              <a:t>Dışı Hatası (</a:t>
            </a:r>
            <a:r>
              <a:rPr lang="tr-TR" dirty="0" err="1"/>
              <a:t>IndexOutOfBoundsException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rmAutofit/>
          </a:bodyPr>
          <a:lstStyle/>
          <a:p>
            <a:r>
              <a:rPr lang="tr-TR" dirty="0" smtClean="0"/>
              <a:t>Dizinin </a:t>
            </a:r>
            <a:r>
              <a:rPr lang="tr-TR" dirty="0"/>
              <a:t>belirtilen sınırlarının dışına </a:t>
            </a:r>
            <a:r>
              <a:rPr lang="tr-TR" dirty="0" smtClean="0"/>
              <a:t>erişildiğinde </a:t>
            </a:r>
            <a:r>
              <a:rPr lang="tr-TR" dirty="0"/>
              <a:t>ortaya çıkar.</a:t>
            </a:r>
          </a:p>
          <a:p>
            <a:r>
              <a:rPr lang="tr-TR" dirty="0"/>
              <a:t>Bu hatalar </a:t>
            </a:r>
            <a:r>
              <a:rPr lang="tr-TR" dirty="0" smtClean="0"/>
              <a:t>programın </a:t>
            </a:r>
            <a:r>
              <a:rPr lang="tr-TR" dirty="0"/>
              <a:t>çökmesine neden olabilir.</a:t>
            </a:r>
          </a:p>
          <a:p>
            <a:pPr marL="0" indent="0" algn="l">
              <a:buNone/>
            </a:pPr>
            <a:endParaRPr lang="tr-TR" sz="2000" dirty="0" smtClean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Dizi uzunluğunu kontrol etme</a:t>
            </a:r>
          </a:p>
          <a:p>
            <a:pPr marL="0" indent="0" algn="l">
              <a:buNone/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index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&gt;= 0 &amp;&amp;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index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index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  // indis dışı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hatayı önler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  //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indis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dışı hatayı ele alma veya hata mesajı gösterme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11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 Elemanına Erişme Zaman Karmaşıklığı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rmAutofit/>
          </a:bodyPr>
          <a:lstStyle/>
          <a:p>
            <a:r>
              <a:rPr lang="tr-TR" dirty="0"/>
              <a:t>O(1), sabit zaman </a:t>
            </a:r>
            <a:r>
              <a:rPr lang="tr-TR" dirty="0" smtClean="0"/>
              <a:t>karmaşıklığıdır.</a:t>
            </a:r>
          </a:p>
          <a:p>
            <a:r>
              <a:rPr lang="tr-TR" dirty="0" smtClean="0"/>
              <a:t>İşlem </a:t>
            </a:r>
            <a:r>
              <a:rPr lang="tr-TR" dirty="0"/>
              <a:t>süresi </a:t>
            </a:r>
            <a:r>
              <a:rPr lang="tr-TR" dirty="0" smtClean="0"/>
              <a:t>girdi boyutundan </a:t>
            </a:r>
            <a:r>
              <a:rPr lang="tr-TR" dirty="0"/>
              <a:t>bağımsızdır.</a:t>
            </a:r>
          </a:p>
          <a:p>
            <a:r>
              <a:rPr lang="tr-TR" dirty="0" smtClean="0"/>
              <a:t>Dizi </a:t>
            </a:r>
            <a:r>
              <a:rPr lang="tr-TR" dirty="0"/>
              <a:t>elemanlarının adresi hesaplanabilir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pPr marL="0" indent="0" algn="l">
              <a:buNone/>
            </a:pP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{10, 20, 30, 40, 50</a:t>
            </a:r>
            <a:r>
              <a:rPr lang="tr-TR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tr-TR" sz="2000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// Bir dizinin belirli bir elemanına erişme</a:t>
            </a:r>
          </a:p>
          <a:p>
            <a:pPr marL="0" indent="0" algn="l">
              <a:buNone/>
            </a:pP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eleman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[2]; </a:t>
            </a:r>
            <a:r>
              <a:rPr lang="tr-TR" sz="2000" b="1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sz="2000" b="1" dirty="0" smtClean="0">
                <a:solidFill>
                  <a:srgbClr val="3F7F5F"/>
                </a:solidFill>
                <a:latin typeface="Consolas" panose="020B0609020204030204" pitchFamily="49" charset="0"/>
              </a:rPr>
              <a:t>30</a:t>
            </a:r>
            <a:endParaRPr lang="tr-TR" sz="2000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// Bu işlem O(1) karmaşıklığına sahiptir.</a:t>
            </a:r>
            <a:endParaRPr lang="tr-TR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00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 Elemanı Arama Zaman Karmaşıklığı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20000"/>
          </a:bodyPr>
          <a:lstStyle/>
          <a:p>
            <a:r>
              <a:rPr lang="tr-TR" sz="2800" dirty="0"/>
              <a:t>O(n), </a:t>
            </a:r>
            <a:r>
              <a:rPr lang="tr-TR" sz="2800" dirty="0" smtClean="0"/>
              <a:t>işlem </a:t>
            </a:r>
            <a:r>
              <a:rPr lang="tr-TR" sz="2800" dirty="0"/>
              <a:t>süresi </a:t>
            </a:r>
            <a:r>
              <a:rPr lang="tr-TR" sz="2800" dirty="0" smtClean="0"/>
              <a:t>girdi </a:t>
            </a:r>
            <a:r>
              <a:rPr lang="tr-TR" sz="2800" dirty="0" smtClean="0"/>
              <a:t>boyutu ile </a:t>
            </a:r>
            <a:r>
              <a:rPr lang="tr-TR" sz="2800" dirty="0"/>
              <a:t>doğru orantılıdır.</a:t>
            </a:r>
          </a:p>
          <a:p>
            <a:r>
              <a:rPr lang="tr-TR" sz="2800" dirty="0" smtClean="0"/>
              <a:t>Çünkü, dizideki </a:t>
            </a:r>
            <a:r>
              <a:rPr lang="tr-TR" sz="2800" dirty="0"/>
              <a:t>her elemanı kontrol </a:t>
            </a:r>
            <a:r>
              <a:rPr lang="tr-TR" sz="2800" dirty="0" smtClean="0"/>
              <a:t>etmek gerekebilir</a:t>
            </a:r>
            <a:r>
              <a:rPr lang="tr-TR" sz="2800" dirty="0" smtClean="0"/>
              <a:t>.</a:t>
            </a:r>
          </a:p>
          <a:p>
            <a:endParaRPr lang="tr-TR" dirty="0"/>
          </a:p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{10, 20, 30, 40, 50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Bir dizide belirli bir elemanı arama</a:t>
            </a:r>
          </a:p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aranan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30;</a:t>
            </a:r>
          </a:p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bulundu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eleman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eleman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aranan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  bulundu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  break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24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 Sıralama Zaman Karmaşıklığı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426"/>
          </a:xfrm>
        </p:spPr>
        <p:txBody>
          <a:bodyPr>
            <a:normAutofit/>
          </a:bodyPr>
          <a:lstStyle/>
          <a:p>
            <a:r>
              <a:rPr lang="tr-TR" dirty="0"/>
              <a:t>Sıralama işleminin zaman karmaşıklığı, kullanılan </a:t>
            </a:r>
            <a:r>
              <a:rPr lang="tr-TR" dirty="0" smtClean="0"/>
              <a:t>algoritmaya bağlıdır</a:t>
            </a:r>
            <a:r>
              <a:rPr lang="tr-TR" dirty="0" smtClean="0"/>
              <a:t>.</a:t>
            </a:r>
          </a:p>
          <a:p>
            <a:r>
              <a:rPr lang="tr-TR" dirty="0"/>
              <a:t>Kabarcık Sıralama (</a:t>
            </a:r>
            <a:r>
              <a:rPr lang="tr-TR" dirty="0" err="1"/>
              <a:t>Bubble</a:t>
            </a:r>
            <a:r>
              <a:rPr lang="tr-TR" dirty="0"/>
              <a:t> </a:t>
            </a:r>
            <a:r>
              <a:rPr lang="tr-TR" dirty="0" err="1"/>
              <a:t>Sort</a:t>
            </a:r>
            <a:r>
              <a:rPr lang="tr-TR" dirty="0"/>
              <a:t>): </a:t>
            </a:r>
            <a:r>
              <a:rPr lang="tr-TR" dirty="0" smtClean="0"/>
              <a:t>O(n</a:t>
            </a:r>
            <a:r>
              <a:rPr lang="tr-TR" baseline="30000" dirty="0" smtClean="0"/>
              <a:t>2</a:t>
            </a:r>
            <a:r>
              <a:rPr lang="tr-TR" dirty="0"/>
              <a:t>)</a:t>
            </a:r>
          </a:p>
          <a:p>
            <a:r>
              <a:rPr lang="tr-TR" dirty="0" smtClean="0"/>
              <a:t>Seçimli </a:t>
            </a:r>
            <a:r>
              <a:rPr lang="tr-TR" dirty="0"/>
              <a:t>Sıralama (</a:t>
            </a:r>
            <a:r>
              <a:rPr lang="tr-TR" dirty="0" err="1"/>
              <a:t>Selection</a:t>
            </a:r>
            <a:r>
              <a:rPr lang="tr-TR" dirty="0"/>
              <a:t> </a:t>
            </a:r>
            <a:r>
              <a:rPr lang="tr-TR" dirty="0" err="1"/>
              <a:t>Sort</a:t>
            </a:r>
            <a:r>
              <a:rPr lang="tr-TR" dirty="0"/>
              <a:t>): </a:t>
            </a:r>
            <a:r>
              <a:rPr lang="tr-TR" dirty="0"/>
              <a:t>O(n</a:t>
            </a:r>
            <a:r>
              <a:rPr lang="tr-TR" baseline="30000" dirty="0"/>
              <a:t>2</a:t>
            </a:r>
            <a:r>
              <a:rPr lang="tr-TR" dirty="0" smtClean="0"/>
              <a:t>)</a:t>
            </a:r>
            <a:endParaRPr lang="tr-TR" dirty="0"/>
          </a:p>
          <a:p>
            <a:r>
              <a:rPr lang="tr-TR" dirty="0" smtClean="0"/>
              <a:t>Eklemeli </a:t>
            </a:r>
            <a:r>
              <a:rPr lang="tr-TR" dirty="0"/>
              <a:t>Sıralama (</a:t>
            </a:r>
            <a:r>
              <a:rPr lang="tr-TR" dirty="0" err="1"/>
              <a:t>Insertion</a:t>
            </a:r>
            <a:r>
              <a:rPr lang="tr-TR" dirty="0"/>
              <a:t> </a:t>
            </a:r>
            <a:r>
              <a:rPr lang="tr-TR" dirty="0" err="1"/>
              <a:t>Sort</a:t>
            </a:r>
            <a:r>
              <a:rPr lang="tr-TR" dirty="0"/>
              <a:t>): </a:t>
            </a:r>
            <a:r>
              <a:rPr lang="tr-TR" dirty="0"/>
              <a:t>O(n</a:t>
            </a:r>
            <a:r>
              <a:rPr lang="tr-TR" baseline="30000" dirty="0"/>
              <a:t>2</a:t>
            </a:r>
            <a:r>
              <a:rPr lang="tr-TR" dirty="0" smtClean="0"/>
              <a:t>)</a:t>
            </a:r>
            <a:endParaRPr lang="tr-TR" dirty="0"/>
          </a:p>
          <a:p>
            <a:r>
              <a:rPr lang="tr-TR" dirty="0"/>
              <a:t>Hızlı Sıralama (</a:t>
            </a:r>
            <a:r>
              <a:rPr lang="tr-TR" dirty="0" err="1"/>
              <a:t>Quick</a:t>
            </a:r>
            <a:r>
              <a:rPr lang="tr-TR" dirty="0"/>
              <a:t> </a:t>
            </a:r>
            <a:r>
              <a:rPr lang="tr-TR" dirty="0" err="1"/>
              <a:t>Sort</a:t>
            </a:r>
            <a:r>
              <a:rPr lang="tr-TR" dirty="0"/>
              <a:t>): O(n </a:t>
            </a:r>
            <a:r>
              <a:rPr lang="tr-TR" dirty="0" err="1"/>
              <a:t>log</a:t>
            </a:r>
            <a:r>
              <a:rPr lang="tr-TR" dirty="0"/>
              <a:t> n)</a:t>
            </a:r>
          </a:p>
          <a:p>
            <a:r>
              <a:rPr lang="tr-TR" dirty="0" smtClean="0"/>
              <a:t>Birleştirmeli </a:t>
            </a:r>
            <a:r>
              <a:rPr lang="tr-TR" dirty="0"/>
              <a:t>Sıralama (</a:t>
            </a:r>
            <a:r>
              <a:rPr lang="tr-TR" dirty="0" err="1"/>
              <a:t>Merge</a:t>
            </a:r>
            <a:r>
              <a:rPr lang="tr-TR" dirty="0"/>
              <a:t> </a:t>
            </a:r>
            <a:r>
              <a:rPr lang="tr-TR" dirty="0" err="1"/>
              <a:t>Sort</a:t>
            </a:r>
            <a:r>
              <a:rPr lang="tr-TR" dirty="0"/>
              <a:t>): O(n </a:t>
            </a:r>
            <a:r>
              <a:rPr lang="tr-TR" dirty="0" err="1"/>
              <a:t>log</a:t>
            </a:r>
            <a:r>
              <a:rPr lang="tr-TR" dirty="0"/>
              <a:t> n)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05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Seçimli </a:t>
            </a:r>
            <a:r>
              <a:rPr lang="tr-TR" dirty="0"/>
              <a:t>Sıralama (</a:t>
            </a:r>
            <a:r>
              <a:rPr lang="tr-TR" dirty="0" err="1"/>
              <a:t>Selection</a:t>
            </a:r>
            <a:r>
              <a:rPr lang="tr-TR" dirty="0"/>
              <a:t> </a:t>
            </a:r>
            <a:r>
              <a:rPr lang="tr-TR" dirty="0" err="1"/>
              <a:t>Sort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92500" lnSpcReduction="20000"/>
          </a:bodyPr>
          <a:lstStyle/>
          <a:p>
            <a:r>
              <a:rPr lang="tr-TR" sz="2800" dirty="0" smtClean="0"/>
              <a:t>Her </a:t>
            </a:r>
            <a:r>
              <a:rPr lang="tr-TR" sz="2800" dirty="0"/>
              <a:t>adımda dizideki en küçük elemanı </a:t>
            </a:r>
            <a:r>
              <a:rPr lang="tr-TR" sz="2800" dirty="0" smtClean="0"/>
              <a:t>bul, </a:t>
            </a:r>
            <a:r>
              <a:rPr lang="tr-TR" sz="2800" dirty="0"/>
              <a:t>dizinin başına </a:t>
            </a:r>
            <a:r>
              <a:rPr lang="tr-TR" sz="2800" dirty="0" smtClean="0"/>
              <a:t>yerleştir.</a:t>
            </a:r>
            <a:endParaRPr lang="tr-TR" sz="2800" dirty="0" smtClean="0"/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{64, 25, 12, 22, 11};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- 1;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minIndex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+ 1;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minIndex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minIndex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Minimum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eleman bulundu, swap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işlemi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yap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yerDegistir</a:t>
            </a:r>
            <a:r>
              <a:rPr lang="tr-TR" dirty="0" smtClean="0">
                <a:solidFill>
                  <a:srgbClr val="7F0055"/>
                </a:solidFill>
                <a:latin typeface="Consolas" panose="020B0609020204030204" pitchFamily="49" charset="0"/>
              </a:rPr>
              <a:t>(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minIndex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]) 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643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Alan </a:t>
            </a:r>
            <a:r>
              <a:rPr lang="tr-TR" dirty="0" smtClean="0"/>
              <a:t>Karmaşıklığı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Bir algoritmanın/veri </a:t>
            </a:r>
            <a:r>
              <a:rPr lang="tr-TR" dirty="0"/>
              <a:t>yapısının </a:t>
            </a:r>
            <a:r>
              <a:rPr lang="tr-TR" dirty="0" smtClean="0"/>
              <a:t>bellek ihtiyacını ifade </a:t>
            </a:r>
            <a:r>
              <a:rPr lang="tr-TR" dirty="0"/>
              <a:t>eder.</a:t>
            </a:r>
          </a:p>
          <a:p>
            <a:r>
              <a:rPr lang="tr-TR" dirty="0" smtClean="0"/>
              <a:t>Bir </a:t>
            </a:r>
            <a:r>
              <a:rPr lang="tr-TR" dirty="0"/>
              <a:t>dizinin alan karmaşıklığı, dizinin boyutu ve eleman </a:t>
            </a:r>
            <a:r>
              <a:rPr lang="tr-TR" dirty="0" smtClean="0"/>
              <a:t>tipine </a:t>
            </a:r>
            <a:r>
              <a:rPr lang="tr-TR" dirty="0"/>
              <a:t>göre değişir.</a:t>
            </a:r>
          </a:p>
          <a:p>
            <a:r>
              <a:rPr lang="tr-TR" b="1" dirty="0"/>
              <a:t>Örnekler</a:t>
            </a:r>
            <a:r>
              <a:rPr lang="tr-TR" dirty="0"/>
              <a:t>:</a:t>
            </a:r>
          </a:p>
          <a:p>
            <a:pPr lvl="1"/>
            <a:r>
              <a:rPr lang="tr-TR" dirty="0" smtClean="0"/>
              <a:t>Tamsayı </a:t>
            </a:r>
            <a:r>
              <a:rPr lang="tr-TR" dirty="0"/>
              <a:t>dizisi (</a:t>
            </a:r>
            <a:r>
              <a:rPr lang="tr-TR" dirty="0" err="1" smtClean="0"/>
              <a:t>int</a:t>
            </a:r>
            <a:r>
              <a:rPr lang="tr-TR" dirty="0" smtClean="0"/>
              <a:t> [ ]) </a:t>
            </a:r>
            <a:r>
              <a:rPr lang="tr-TR" dirty="0"/>
              <a:t>için, her bir </a:t>
            </a:r>
            <a:r>
              <a:rPr lang="tr-TR" dirty="0" smtClean="0"/>
              <a:t>eleman </a:t>
            </a:r>
            <a:r>
              <a:rPr lang="tr-TR" dirty="0"/>
              <a:t>4 </a:t>
            </a:r>
            <a:r>
              <a:rPr lang="tr-TR" dirty="0" err="1"/>
              <a:t>byte</a:t>
            </a:r>
            <a:r>
              <a:rPr lang="tr-TR" dirty="0"/>
              <a:t> gerektirir </a:t>
            </a:r>
            <a:endParaRPr lang="tr-TR" dirty="0" smtClean="0"/>
          </a:p>
          <a:p>
            <a:pPr lvl="1"/>
            <a:r>
              <a:rPr lang="tr-TR" dirty="0" smtClean="0"/>
              <a:t>Karakter </a:t>
            </a:r>
            <a:r>
              <a:rPr lang="tr-TR" dirty="0"/>
              <a:t>dizisi (</a:t>
            </a:r>
            <a:r>
              <a:rPr lang="tr-TR" dirty="0" err="1" smtClean="0"/>
              <a:t>char</a:t>
            </a:r>
            <a:r>
              <a:rPr lang="tr-TR" dirty="0" smtClean="0"/>
              <a:t> [ ]) </a:t>
            </a:r>
            <a:r>
              <a:rPr lang="tr-TR" dirty="0"/>
              <a:t>için, her bir </a:t>
            </a:r>
            <a:r>
              <a:rPr lang="tr-TR" dirty="0" smtClean="0"/>
              <a:t>eleman 2 </a:t>
            </a:r>
            <a:r>
              <a:rPr lang="tr-TR" dirty="0" err="1"/>
              <a:t>byte</a:t>
            </a:r>
            <a:r>
              <a:rPr lang="tr-TR" dirty="0"/>
              <a:t> gerektirir (</a:t>
            </a:r>
            <a:r>
              <a:rPr lang="tr-TR" dirty="0" smtClean="0"/>
              <a:t>Unicode).</a:t>
            </a:r>
            <a:endParaRPr lang="tr-TR" dirty="0"/>
          </a:p>
          <a:p>
            <a:pPr lvl="1"/>
            <a:r>
              <a:rPr lang="tr-TR" dirty="0" smtClean="0"/>
              <a:t>Nesne </a:t>
            </a:r>
            <a:r>
              <a:rPr lang="tr-TR" dirty="0"/>
              <a:t>dizisi (</a:t>
            </a:r>
            <a:r>
              <a:rPr lang="tr-TR" dirty="0" smtClean="0"/>
              <a:t>Object [ ]) </a:t>
            </a:r>
            <a:r>
              <a:rPr lang="tr-TR" dirty="0"/>
              <a:t>için, her </a:t>
            </a:r>
            <a:r>
              <a:rPr lang="tr-TR" dirty="0" smtClean="0"/>
              <a:t>bir nesne </a:t>
            </a:r>
            <a:r>
              <a:rPr lang="tr-TR" dirty="0"/>
              <a:t>referansı </a:t>
            </a:r>
            <a:r>
              <a:rPr lang="tr-TR" dirty="0" smtClean="0"/>
              <a:t>4/8 </a:t>
            </a:r>
            <a:r>
              <a:rPr lang="tr-TR" dirty="0" err="1"/>
              <a:t>byte</a:t>
            </a:r>
            <a:r>
              <a:rPr lang="tr-TR" dirty="0"/>
              <a:t> (</a:t>
            </a:r>
            <a:r>
              <a:rPr lang="tr-TR" dirty="0" smtClean="0"/>
              <a:t>32/64 </a:t>
            </a:r>
            <a:r>
              <a:rPr lang="tr-TR" dirty="0"/>
              <a:t>bit sistemlerde) </a:t>
            </a:r>
            <a:r>
              <a:rPr lang="tr-TR" dirty="0" smtClean="0"/>
              <a:t>gerektirir</a:t>
            </a:r>
            <a:r>
              <a:rPr lang="tr-TR" dirty="0" smtClean="0"/>
              <a:t>.</a:t>
            </a:r>
          </a:p>
          <a:p>
            <a:r>
              <a:rPr lang="tr-TR" dirty="0"/>
              <a:t>Bir </a:t>
            </a:r>
            <a:r>
              <a:rPr lang="tr-TR" dirty="0" smtClean="0"/>
              <a:t>tamsayı </a:t>
            </a:r>
            <a:r>
              <a:rPr lang="tr-TR" dirty="0"/>
              <a:t>dizisi, 100 elemandan oluşuyorsa ve her </a:t>
            </a:r>
            <a:r>
              <a:rPr lang="tr-TR" dirty="0" smtClean="0"/>
              <a:t>tamsayı 4 </a:t>
            </a:r>
            <a:r>
              <a:rPr lang="tr-TR" dirty="0" err="1"/>
              <a:t>byte</a:t>
            </a:r>
            <a:r>
              <a:rPr lang="tr-TR" dirty="0"/>
              <a:t> bellek </a:t>
            </a:r>
            <a:r>
              <a:rPr lang="tr-TR" dirty="0" smtClean="0"/>
              <a:t>gerektiriyorsa, </a:t>
            </a:r>
            <a:endParaRPr lang="tr-TR" dirty="0" smtClean="0"/>
          </a:p>
          <a:p>
            <a:pPr lvl="1"/>
            <a:r>
              <a:rPr lang="tr-TR" dirty="0" smtClean="0"/>
              <a:t>Alan </a:t>
            </a:r>
            <a:r>
              <a:rPr lang="tr-TR" dirty="0"/>
              <a:t>karmaşıklığı = 100 (eleman sayısı) x </a:t>
            </a:r>
            <a:r>
              <a:rPr lang="tr-TR" dirty="0" smtClean="0"/>
              <a:t>4 </a:t>
            </a:r>
            <a:r>
              <a:rPr lang="tr-TR" dirty="0" err="1" smtClean="0"/>
              <a:t>byte</a:t>
            </a:r>
            <a:r>
              <a:rPr lang="tr-TR" dirty="0" smtClean="0"/>
              <a:t> = </a:t>
            </a:r>
            <a:r>
              <a:rPr lang="tr-TR" dirty="0"/>
              <a:t>400 </a:t>
            </a:r>
            <a:r>
              <a:rPr lang="tr-TR" dirty="0" err="1" smtClean="0"/>
              <a:t>byte’dır</a:t>
            </a:r>
            <a:r>
              <a:rPr lang="tr-TR" dirty="0" smtClean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34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Matris </a:t>
            </a:r>
            <a:r>
              <a:rPr lang="tr-TR" dirty="0" err="1" smtClean="0"/>
              <a:t>Transpozu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2600" dirty="0" smtClean="0"/>
              <a:t>Matrisin, satırlarının </a:t>
            </a:r>
            <a:r>
              <a:rPr lang="tr-TR" sz="2600" dirty="0"/>
              <a:t>sütunlara ve </a:t>
            </a:r>
            <a:r>
              <a:rPr lang="tr-TR" sz="2600" dirty="0" smtClean="0"/>
              <a:t>sütunlarının </a:t>
            </a:r>
            <a:r>
              <a:rPr lang="tr-TR" sz="2600" dirty="0"/>
              <a:t>satırlara </a:t>
            </a:r>
            <a:r>
              <a:rPr lang="tr-TR" sz="2600" dirty="0" smtClean="0"/>
              <a:t>dönüştürülmesi.</a:t>
            </a:r>
            <a:endParaRPr lang="tr-TR" sz="2600" dirty="0" smtClean="0"/>
          </a:p>
          <a:p>
            <a:pPr marL="0" indent="0">
              <a:buNone/>
            </a:pPr>
            <a:endParaRPr lang="tr-TR" dirty="0"/>
          </a:p>
          <a:p>
            <a:pPr marL="0" indent="0" algn="l">
              <a:buNone/>
            </a:pP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MatrixTranspose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22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tr-TR" sz="2200" b="1" dirty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tr-TR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= {</a:t>
            </a:r>
          </a:p>
          <a:p>
            <a:pPr marL="0" indent="0" algn="l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{1, 2, 3},</a:t>
            </a:r>
          </a:p>
          <a:p>
            <a:pPr marL="0" indent="0" algn="l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{4, 5, 6}</a:t>
            </a:r>
          </a:p>
          <a:p>
            <a:pPr marL="0" indent="0" algn="l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};</a:t>
            </a:r>
          </a:p>
          <a:p>
            <a:pPr marL="0" indent="0" algn="l">
              <a:buNone/>
            </a:pPr>
            <a:r>
              <a:rPr lang="tr-TR" sz="2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200" dirty="0">
                <a:solidFill>
                  <a:srgbClr val="3F7F5F"/>
                </a:solidFill>
                <a:latin typeface="Consolas" panose="020B0609020204030204" pitchFamily="49" charset="0"/>
              </a:rPr>
              <a:t>// Orijinal matrisi yazdır</a:t>
            </a:r>
          </a:p>
          <a:p>
            <a:pPr marL="0" indent="0" algn="l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2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sz="2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2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"Orijinal Matris:"</a:t>
            </a:r>
            <a:r>
              <a:rPr lang="tr-TR" sz="22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2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yazdirMatris</a:t>
            </a:r>
            <a:r>
              <a:rPr lang="tr-TR" sz="22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200" i="1" dirty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tr-TR" sz="22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22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8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Matris </a:t>
            </a:r>
            <a:r>
              <a:rPr lang="tr-TR" dirty="0" err="1"/>
              <a:t>Transpozu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sz="2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  </a:t>
            </a:r>
            <a:r>
              <a:rPr lang="tr-TR" sz="20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satirSayisi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tr-TR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20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sutunSayisi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[0].</a:t>
            </a:r>
            <a:r>
              <a:rPr lang="tr-TR" sz="20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Transpoz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matrisi oluştur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tr-TR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transpozMatris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sutunSayisi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sz="20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satirSayisi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pPr marL="0" indent="0" algn="l">
              <a:buNone/>
            </a:pP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n-NO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satirSayisi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nb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b-NO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b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b-NO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b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b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nb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b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nb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b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sutunSayisi</a:t>
            </a:r>
            <a:r>
              <a:rPr lang="nb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b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nb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transpozMatris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20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sz="20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2000" dirty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20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sz="20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tr-TR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6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Matris </a:t>
            </a:r>
            <a:r>
              <a:rPr lang="tr-TR" dirty="0" err="1"/>
              <a:t>Transpozu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 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  //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Transpoz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matrisi yazdır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Transpoz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 Matris:"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yazdirMatris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transpozMatris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Matrisi ekrana yazdırmak için yardımcı fonksiyon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yazdirMatris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nb-NO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b-NO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b-NO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b-NO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b-NO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b-NO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nb-NO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b-NO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nb-NO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b-NO" b="1" dirty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nb-NO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nb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b-NO" b="1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nb-NO" b="1" dirty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nb-NO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b-NO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nb-NO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32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Diziyi Tersine </a:t>
            </a:r>
            <a:r>
              <a:rPr lang="tr-TR" dirty="0"/>
              <a:t>Ç</a:t>
            </a:r>
            <a:r>
              <a:rPr lang="tr-TR" dirty="0" smtClean="0"/>
              <a:t>evirme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tersineCevir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baslangic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bitis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- 1;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baslangic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bitis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Baslangic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ve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bitis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elemanlarini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degistir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baslangic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baslangic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bitis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dizi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bitis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Baslangic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indeksi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arttir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bitis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 indeksi azalt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baslangic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bitis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20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Tic</a:t>
            </a:r>
            <a:r>
              <a:rPr lang="tr-TR" dirty="0"/>
              <a:t> </a:t>
            </a:r>
            <a:r>
              <a:rPr lang="tr-TR" dirty="0" err="1"/>
              <a:t>Tac</a:t>
            </a:r>
            <a:r>
              <a:rPr lang="tr-TR" dirty="0"/>
              <a:t> </a:t>
            </a:r>
            <a:r>
              <a:rPr lang="tr-TR" dirty="0" err="1"/>
              <a:t>Toe</a:t>
            </a:r>
            <a:r>
              <a:rPr lang="tr-TR" dirty="0"/>
              <a:t> (X-Oyunu)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3x3'lük bir oyun tahtası </a:t>
            </a:r>
            <a:r>
              <a:rPr lang="tr-TR" dirty="0" smtClean="0"/>
              <a:t>kullanılır. </a:t>
            </a:r>
            <a:endParaRPr lang="tr-TR" dirty="0" smtClean="0"/>
          </a:p>
          <a:p>
            <a:r>
              <a:rPr lang="tr-TR" dirty="0" smtClean="0"/>
              <a:t>İki oyuncuyla oynanır.</a:t>
            </a:r>
          </a:p>
          <a:p>
            <a:r>
              <a:rPr lang="tr-TR" dirty="0" smtClean="0"/>
              <a:t>Oyuncular </a:t>
            </a:r>
            <a:r>
              <a:rPr lang="tr-TR" dirty="0"/>
              <a:t>sırayla hamle </a:t>
            </a:r>
            <a:r>
              <a:rPr lang="tr-TR" dirty="0" smtClean="0"/>
              <a:t>yapar.</a:t>
            </a:r>
          </a:p>
          <a:p>
            <a:r>
              <a:rPr lang="tr-TR" dirty="0" smtClean="0"/>
              <a:t>3 </a:t>
            </a:r>
            <a:r>
              <a:rPr lang="tr-TR" dirty="0" smtClean="0"/>
              <a:t>elemanını yan </a:t>
            </a:r>
            <a:r>
              <a:rPr lang="tr-TR" dirty="0" smtClean="0"/>
              <a:t>yana ya da </a:t>
            </a:r>
            <a:r>
              <a:rPr lang="tr-TR" dirty="0" smtClean="0"/>
              <a:t>çapraz yerleştiren </a:t>
            </a:r>
          </a:p>
          <a:p>
            <a:pPr marL="0" indent="0">
              <a:buNone/>
            </a:pPr>
            <a:r>
              <a:rPr lang="tr-TR" dirty="0" smtClean="0"/>
              <a:t>oyunu </a:t>
            </a:r>
            <a:r>
              <a:rPr lang="tr-TR" dirty="0" smtClean="0"/>
              <a:t>kazanır. </a:t>
            </a:r>
          </a:p>
          <a:p>
            <a:r>
              <a:rPr lang="tr-TR" dirty="0" smtClean="0"/>
              <a:t>Tahtada yer kalmadığında beraberlik olur.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1026" name="Picture 2" descr="Tic-tac-toe | Board Games Wiki | Fand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6275" y="1659539"/>
            <a:ext cx="4127770" cy="4345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202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Tic</a:t>
            </a:r>
            <a:r>
              <a:rPr lang="tr-TR" dirty="0"/>
              <a:t> </a:t>
            </a:r>
            <a:r>
              <a:rPr lang="tr-TR" dirty="0" err="1"/>
              <a:t>Tac</a:t>
            </a:r>
            <a:r>
              <a:rPr lang="tr-TR" dirty="0"/>
              <a:t> </a:t>
            </a:r>
            <a:r>
              <a:rPr lang="tr-TR" dirty="0" err="1"/>
              <a:t>Toe</a:t>
            </a:r>
            <a:r>
              <a:rPr lang="tr-TR" dirty="0"/>
              <a:t> (X-Oyunu)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TicTacToe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[3][3]; </a:t>
            </a:r>
            <a:r>
              <a:rPr lang="en-US" b="1" dirty="0">
                <a:solidFill>
                  <a:srgbClr val="3F7F5F"/>
                </a:solidFill>
                <a:latin typeface="Consolas" panose="020B0609020204030204" pitchFamily="49" charset="0"/>
              </a:rPr>
              <a:t>// 3x3'lük </a:t>
            </a:r>
            <a:r>
              <a:rPr lang="en-US" b="1" dirty="0" err="1">
                <a:solidFill>
                  <a:srgbClr val="3F7F5F"/>
                </a:solidFill>
                <a:latin typeface="Consolas" panose="020B0609020204030204" pitchFamily="49" charset="0"/>
              </a:rPr>
              <a:t>oyun</a:t>
            </a:r>
            <a:r>
              <a:rPr lang="en-US" b="1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3F7F5F"/>
                </a:solidFill>
                <a:latin typeface="Consolas" panose="020B0609020204030204" pitchFamily="49" charset="0"/>
              </a:rPr>
              <a:t>tahtası</a:t>
            </a:r>
            <a:endParaRPr lang="en-US" b="1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>
                <a:solidFill>
                  <a:srgbClr val="2A00FF"/>
                </a:solidFill>
                <a:latin typeface="Consolas" panose="020B0609020204030204" pitchFamily="49" charset="0"/>
              </a:rPr>
              <a:t>'X'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b="1" dirty="0">
                <a:solidFill>
                  <a:srgbClr val="3F7F5F"/>
                </a:solidFill>
                <a:latin typeface="Consolas" panose="020B0609020204030204" pitchFamily="49" charset="0"/>
              </a:rPr>
              <a:t>// İlk oyuncu X ile başlar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oyunDevamEdiyor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tahtaDoldur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i="1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i="1" dirty="0">
                <a:solidFill>
                  <a:srgbClr val="3F7F5F"/>
                </a:solidFill>
                <a:latin typeface="Consolas" panose="020B0609020204030204" pitchFamily="49" charset="0"/>
              </a:rPr>
              <a:t>// Tahtayı başlangıç durumuyla </a:t>
            </a:r>
            <a:r>
              <a:rPr lang="tr-TR" i="1" dirty="0" smtClean="0">
                <a:solidFill>
                  <a:srgbClr val="3F7F5F"/>
                </a:solidFill>
                <a:latin typeface="Consolas" panose="020B0609020204030204" pitchFamily="49" charset="0"/>
              </a:rPr>
              <a:t>doldur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oyunDevamEdiyor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tahtayiGoster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i="1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hamleYap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i="1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i="1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oyunDevamEdiyor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oyunDevamEdiyorMu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i="1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i="1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'X'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?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'O'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'X'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Oyuncu değişimi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tahtayiGoster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i="1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03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Tic</a:t>
            </a:r>
            <a:r>
              <a:rPr lang="tr-TR" dirty="0"/>
              <a:t> </a:t>
            </a:r>
            <a:r>
              <a:rPr lang="tr-TR" dirty="0" err="1"/>
              <a:t>Tac</a:t>
            </a:r>
            <a:r>
              <a:rPr lang="tr-TR" dirty="0"/>
              <a:t> </a:t>
            </a:r>
            <a:r>
              <a:rPr lang="tr-TR" dirty="0" err="1"/>
              <a:t>Toe</a:t>
            </a:r>
            <a:r>
              <a:rPr lang="tr-TR" dirty="0"/>
              <a:t> (X-Oyunu)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sz="2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20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tahtaDoldur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n-NO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nn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20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20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sz="20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2000" dirty="0">
                <a:solidFill>
                  <a:srgbClr val="2A00FF"/>
                </a:solidFill>
                <a:latin typeface="Consolas" panose="020B0609020204030204" pitchFamily="49" charset="0"/>
              </a:rPr>
              <a:t>' '</a:t>
            </a: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38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Tic</a:t>
            </a:r>
            <a:r>
              <a:rPr lang="tr-TR" dirty="0"/>
              <a:t> </a:t>
            </a:r>
            <a:r>
              <a:rPr lang="tr-TR" dirty="0" err="1"/>
              <a:t>Tac</a:t>
            </a:r>
            <a:r>
              <a:rPr lang="tr-TR" dirty="0"/>
              <a:t> </a:t>
            </a:r>
            <a:r>
              <a:rPr lang="tr-TR" dirty="0" err="1"/>
              <a:t>Toe</a:t>
            </a:r>
            <a:r>
              <a:rPr lang="tr-TR" dirty="0"/>
              <a:t> (X-Oyunu)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sz="2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20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tahtayiGoster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"-------------"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n-NO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nn-NO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"| "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20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sz="20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| "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"\n-------------"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78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Tic</a:t>
            </a:r>
            <a:r>
              <a:rPr lang="tr-TR" dirty="0"/>
              <a:t> </a:t>
            </a:r>
            <a:r>
              <a:rPr lang="tr-TR" dirty="0" err="1"/>
              <a:t>Tac</a:t>
            </a:r>
            <a:r>
              <a:rPr lang="tr-TR" dirty="0"/>
              <a:t> </a:t>
            </a:r>
            <a:r>
              <a:rPr lang="tr-TR" dirty="0" err="1"/>
              <a:t>Toe</a:t>
            </a:r>
            <a:r>
              <a:rPr lang="tr-TR" dirty="0"/>
              <a:t> (X-Oyunu)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85000" lnSpcReduction="10000"/>
          </a:bodyPr>
          <a:lstStyle/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hamleYap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scanner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(System.</a:t>
            </a:r>
            <a:r>
              <a:rPr lang="tr-TR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satir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sutun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"Sıra "</a:t>
            </a:r>
            <a:r>
              <a:rPr lang="tr-T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tr-T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oyuncusunda. Satır ve sütun seçin (1-3): "</a:t>
            </a:r>
            <a:r>
              <a:rPr lang="tr-T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satir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scanner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 - 1;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sutun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scanner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 - 1;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0 ||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2 ||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sutun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0 ||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sutun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2 ||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sutun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!= </a:t>
            </a:r>
            <a:r>
              <a:rPr lang="tr-TR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' '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satir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sutun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Tic</a:t>
            </a:r>
            <a:r>
              <a:rPr lang="tr-TR" dirty="0"/>
              <a:t> </a:t>
            </a:r>
            <a:r>
              <a:rPr lang="tr-TR" dirty="0" err="1"/>
              <a:t>Tac</a:t>
            </a:r>
            <a:r>
              <a:rPr lang="tr-TR" dirty="0"/>
              <a:t> </a:t>
            </a:r>
            <a:r>
              <a:rPr lang="tr-TR" dirty="0" err="1"/>
              <a:t>Toe</a:t>
            </a:r>
            <a:r>
              <a:rPr lang="tr-TR" dirty="0"/>
              <a:t> (X-Oyunu)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oyunDevamEdiyorMu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Kazanan durumlarını kontrol et</a:t>
            </a:r>
          </a:p>
          <a:p>
            <a:pPr marL="0" indent="0" algn="l">
              <a:buNone/>
            </a:pP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i-FI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fi-FI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fi-FI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[0][0] == </a:t>
            </a:r>
            <a:r>
              <a:rPr lang="fi-FI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[0][1] == </a:t>
            </a:r>
            <a:r>
              <a:rPr lang="fi-FI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[0][2] == </a:t>
            </a:r>
            <a:r>
              <a:rPr lang="fi-FI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||</a:t>
            </a:r>
          </a:p>
          <a:p>
            <a:pPr marL="0" indent="0" algn="l">
              <a:buNone/>
            </a:pP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(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[1][0]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[1][1]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[1][2]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) ||</a:t>
            </a:r>
          </a:p>
          <a:p>
            <a:pPr marL="0" indent="0" algn="l">
              <a:buNone/>
            </a:pP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(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[2][0]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[2][1]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[2][2]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) ||</a:t>
            </a:r>
          </a:p>
          <a:p>
            <a:pPr marL="0" indent="0" algn="l">
              <a:buNone/>
            </a:pP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(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[0][0]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[1][0]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[2][0]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) ||</a:t>
            </a:r>
          </a:p>
          <a:p>
            <a:pPr marL="0" indent="0" algn="l">
              <a:buNone/>
            </a:pP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(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[0][1]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[1][1]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[2][1]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) ||</a:t>
            </a:r>
          </a:p>
          <a:p>
            <a:pPr marL="0" indent="0" algn="l">
              <a:buNone/>
            </a:pP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(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[0][2]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[1][2]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[2][2]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) ||</a:t>
            </a:r>
          </a:p>
          <a:p>
            <a:pPr marL="0" indent="0" algn="l">
              <a:buNone/>
            </a:pP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(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[0][0]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[1][1]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[2][2]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) ||</a:t>
            </a:r>
          </a:p>
          <a:p>
            <a:pPr marL="0" indent="0" algn="l">
              <a:buNone/>
            </a:pP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(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[0][2]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[1][1]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[2][0] == </a:t>
            </a:r>
            <a:r>
              <a:rPr lang="fi-FI" sz="1600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fi-FI" sz="1600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pPr marL="0" indent="0" algn="l">
              <a:buNone/>
            </a:pP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"Tebrikler,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oyuncu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oyuncusu kazandı!"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tr-TR" sz="16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99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Tic</a:t>
            </a:r>
            <a:r>
              <a:rPr lang="tr-TR" dirty="0"/>
              <a:t> </a:t>
            </a:r>
            <a:r>
              <a:rPr lang="tr-TR" dirty="0" err="1"/>
              <a:t>Tac</a:t>
            </a:r>
            <a:r>
              <a:rPr lang="tr-TR" dirty="0"/>
              <a:t> </a:t>
            </a:r>
            <a:r>
              <a:rPr lang="tr-TR" dirty="0" err="1"/>
              <a:t>Toe</a:t>
            </a:r>
            <a:r>
              <a:rPr lang="tr-TR" dirty="0"/>
              <a:t> (X-Oyunu)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tr-TR" sz="18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      // </a:t>
            </a:r>
            <a:r>
              <a:rPr lang="tr-TR" sz="1800" dirty="0">
                <a:solidFill>
                  <a:srgbClr val="3F7F5F"/>
                </a:solidFill>
                <a:latin typeface="Consolas" panose="020B0609020204030204" pitchFamily="49" charset="0"/>
              </a:rPr>
              <a:t>Berabere durumunu kontrol et</a:t>
            </a:r>
          </a:p>
          <a:p>
            <a:pPr marL="0" indent="0" algn="l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berabere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n-NO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nn-NO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3; </a:t>
            </a:r>
            <a:r>
              <a:rPr lang="tr-T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tahta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] == </a:t>
            </a:r>
            <a:r>
              <a:rPr lang="tr-TR" sz="1800" b="1" dirty="0">
                <a:solidFill>
                  <a:srgbClr val="2A00FF"/>
                </a:solidFill>
                <a:latin typeface="Consolas" panose="020B0609020204030204" pitchFamily="49" charset="0"/>
              </a:rPr>
              <a:t>' '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tr-TR" sz="1800" dirty="0">
                <a:solidFill>
                  <a:srgbClr val="6A3E3E"/>
                </a:solidFill>
                <a:latin typeface="Consolas" panose="020B0609020204030204" pitchFamily="49" charset="0"/>
              </a:rPr>
              <a:t>berabere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tr-T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break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pPr marL="0" indent="0" algn="l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 algn="l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tr-T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berabere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break</a:t>
            </a:r>
            <a:r>
              <a:rPr lang="tr-T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marL="0" indent="0" algn="l">
              <a:buNone/>
            </a:pP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tr-TR" sz="1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909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Tic</a:t>
            </a:r>
            <a:r>
              <a:rPr lang="tr-TR" dirty="0"/>
              <a:t> </a:t>
            </a:r>
            <a:r>
              <a:rPr lang="tr-TR" dirty="0" err="1"/>
              <a:t>Tac</a:t>
            </a:r>
            <a:r>
              <a:rPr lang="tr-TR" dirty="0"/>
              <a:t> </a:t>
            </a:r>
            <a:r>
              <a:rPr lang="tr-TR" dirty="0" err="1"/>
              <a:t>Toe</a:t>
            </a:r>
            <a:r>
              <a:rPr lang="tr-TR" dirty="0"/>
              <a:t> (X-Oyunu)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sz="20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  </a:t>
            </a:r>
            <a:r>
              <a:rPr lang="tr-TR" sz="20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berabere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"Oyun berabere bitti."</a:t>
            </a:r>
            <a:r>
              <a:rPr lang="tr-T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 algn="l">
              <a:buNone/>
            </a:pPr>
            <a:endParaRPr lang="tr-TR" sz="2000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 algn="l">
              <a:buNone/>
            </a:pPr>
            <a:r>
              <a:rPr lang="tr-TR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151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marL="0" indent="0" algn="ctr">
              <a:buNone/>
            </a:pPr>
            <a:r>
              <a:rPr lang="tr-TR" dirty="0" smtClean="0"/>
              <a:t>SON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4286</TotalTime>
  <Words>4375</Words>
  <Application>Microsoft Office PowerPoint</Application>
  <PresentationFormat>Widescreen</PresentationFormat>
  <Paragraphs>744</Paragraphs>
  <Slides>57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Calibri</vt:lpstr>
      <vt:lpstr>Calibri Light</vt:lpstr>
      <vt:lpstr>Consolas</vt:lpstr>
      <vt:lpstr>Wingdings</vt:lpstr>
      <vt:lpstr>Office Theme</vt:lpstr>
      <vt:lpstr>Bölüm 2: Diziler</vt:lpstr>
      <vt:lpstr>Diziler</vt:lpstr>
      <vt:lpstr>Dizi Kullanımı</vt:lpstr>
      <vt:lpstr>Dizi Avantajları</vt:lpstr>
      <vt:lpstr>Dizi Dezavantajları</vt:lpstr>
      <vt:lpstr>Dizi Türleri</vt:lpstr>
      <vt:lpstr>Diziler</vt:lpstr>
      <vt:lpstr>Dizi Tanımlama</vt:lpstr>
      <vt:lpstr>Dizi Elemanlarına Erişim</vt:lpstr>
      <vt:lpstr>Dizi İlklendirme</vt:lpstr>
      <vt:lpstr>Dizi Boyutunu Almak</vt:lpstr>
      <vt:lpstr>Boyut Belirtilmediğinde</vt:lpstr>
      <vt:lpstr>Örnek Kod Parçası</vt:lpstr>
      <vt:lpstr>Örnek Kod Parçası</vt:lpstr>
      <vt:lpstr>OrtalamaHesaplama </vt:lpstr>
      <vt:lpstr>OrtalamaHesaplama </vt:lpstr>
      <vt:lpstr>OrtancaDegerHesaplama </vt:lpstr>
      <vt:lpstr>OrtancaDegerHesaplama </vt:lpstr>
      <vt:lpstr>ModHesaplama </vt:lpstr>
      <vt:lpstr>ModHesaplama </vt:lpstr>
      <vt:lpstr>ModHesaplama </vt:lpstr>
      <vt:lpstr>İki Boyutlu Diziler (Matrisler)</vt:lpstr>
      <vt:lpstr>İki Boyutlu Dizilerin İlklendirilmesi</vt:lpstr>
      <vt:lpstr>CokBoyutluDiziOrnegi </vt:lpstr>
      <vt:lpstr>CokBoyutluDiziOrnegi </vt:lpstr>
      <vt:lpstr>Üç Boyutlu Diziler</vt:lpstr>
      <vt:lpstr>UcBoyutluDiziOrnegi </vt:lpstr>
      <vt:lpstr>UcBoyutluDiziOrnegi </vt:lpstr>
      <vt:lpstr>Varargs (Değişken Argümanlar)</vt:lpstr>
      <vt:lpstr>Dizi Kopyalama</vt:lpstr>
      <vt:lpstr>Algoritma Karmaşıklığı</vt:lpstr>
      <vt:lpstr>Zaman Karmaşıklığı - Lineer Arama</vt:lpstr>
      <vt:lpstr>Zaman Karmaşıklığı - Lineer Arama</vt:lpstr>
      <vt:lpstr>Zaman Karmaşıklığı - Eşleştir</vt:lpstr>
      <vt:lpstr>Zaman Karmaşıklığı - Eşleştir</vt:lpstr>
      <vt:lpstr>Statik Diziler</vt:lpstr>
      <vt:lpstr>Dinamik Diziler</vt:lpstr>
      <vt:lpstr>Heap ve Yığın Belleği Karşılaştırması</vt:lpstr>
      <vt:lpstr>İndis Sınır Dışı Hatası (IndexOutOfBoundsException)</vt:lpstr>
      <vt:lpstr>Dizi Elemanına Erişme Zaman Karmaşıklığı</vt:lpstr>
      <vt:lpstr>Dizi Elemanı Arama Zaman Karmaşıklığı</vt:lpstr>
      <vt:lpstr>Dizi Sıralama Zaman Karmaşıklığı</vt:lpstr>
      <vt:lpstr>Seçimli Sıralama (Selection Sort)</vt:lpstr>
      <vt:lpstr>Alan Karmaşıklığı</vt:lpstr>
      <vt:lpstr>Matris Transpozu</vt:lpstr>
      <vt:lpstr>Matris Transpozu</vt:lpstr>
      <vt:lpstr>Matris Transpozu</vt:lpstr>
      <vt:lpstr>Diziyi Tersine Çevirme </vt:lpstr>
      <vt:lpstr>Tic Tac Toe (X-Oyunu)</vt:lpstr>
      <vt:lpstr>Tic Tac Toe (X-Oyunu)</vt:lpstr>
      <vt:lpstr>Tic Tac Toe (X-Oyunu)</vt:lpstr>
      <vt:lpstr>Tic Tac Toe (X-Oyunu)</vt:lpstr>
      <vt:lpstr>Tic Tac Toe (X-Oyunu)</vt:lpstr>
      <vt:lpstr>Tic Tac Toe (X-Oyunu)</vt:lpstr>
      <vt:lpstr>Tic Tac Toe (X-Oyunu)</vt:lpstr>
      <vt:lpstr>Tic Tac Toe (X-Oyunu)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Diziler</dc:title>
  <dc:creator>sercan</dc:creator>
  <cp:lastModifiedBy>sercan</cp:lastModifiedBy>
  <cp:revision>428</cp:revision>
  <dcterms:created xsi:type="dcterms:W3CDTF">2023-01-12T09:23:55Z</dcterms:created>
  <dcterms:modified xsi:type="dcterms:W3CDTF">2023-12-19T11:37:01Z</dcterms:modified>
</cp:coreProperties>
</file>