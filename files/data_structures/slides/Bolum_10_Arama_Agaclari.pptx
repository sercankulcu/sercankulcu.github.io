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35"/>
  </p:notesMasterIdLst>
  <p:sldIdLst>
    <p:sldId id="256" r:id="rId2"/>
    <p:sldId id="330" r:id="rId3"/>
    <p:sldId id="331" r:id="rId4"/>
    <p:sldId id="332" r:id="rId5"/>
    <p:sldId id="457" r:id="rId6"/>
    <p:sldId id="344" r:id="rId7"/>
    <p:sldId id="336" r:id="rId8"/>
    <p:sldId id="337" r:id="rId9"/>
    <p:sldId id="349" r:id="rId10"/>
    <p:sldId id="455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66" r:id="rId28"/>
    <p:sldId id="367" r:id="rId29"/>
    <p:sldId id="368" r:id="rId30"/>
    <p:sldId id="369" r:id="rId31"/>
    <p:sldId id="370" r:id="rId32"/>
    <p:sldId id="371" r:id="rId33"/>
    <p:sldId id="372" r:id="rId34"/>
    <p:sldId id="373" r:id="rId35"/>
    <p:sldId id="374" r:id="rId36"/>
    <p:sldId id="375" r:id="rId37"/>
    <p:sldId id="376" r:id="rId38"/>
    <p:sldId id="377" r:id="rId39"/>
    <p:sldId id="378" r:id="rId40"/>
    <p:sldId id="379" r:id="rId41"/>
    <p:sldId id="380" r:id="rId42"/>
    <p:sldId id="381" r:id="rId43"/>
    <p:sldId id="382" r:id="rId44"/>
    <p:sldId id="383" r:id="rId45"/>
    <p:sldId id="384" r:id="rId46"/>
    <p:sldId id="385" r:id="rId47"/>
    <p:sldId id="386" r:id="rId48"/>
    <p:sldId id="387" r:id="rId49"/>
    <p:sldId id="388" r:id="rId50"/>
    <p:sldId id="389" r:id="rId51"/>
    <p:sldId id="390" r:id="rId52"/>
    <p:sldId id="391" r:id="rId53"/>
    <p:sldId id="392" r:id="rId54"/>
    <p:sldId id="393" r:id="rId55"/>
    <p:sldId id="394" r:id="rId56"/>
    <p:sldId id="395" r:id="rId57"/>
    <p:sldId id="396" r:id="rId58"/>
    <p:sldId id="397" r:id="rId59"/>
    <p:sldId id="398" r:id="rId60"/>
    <p:sldId id="399" r:id="rId61"/>
    <p:sldId id="400" r:id="rId62"/>
    <p:sldId id="401" r:id="rId63"/>
    <p:sldId id="402" r:id="rId64"/>
    <p:sldId id="403" r:id="rId65"/>
    <p:sldId id="456" r:id="rId66"/>
    <p:sldId id="408" r:id="rId67"/>
    <p:sldId id="409" r:id="rId68"/>
    <p:sldId id="410" r:id="rId69"/>
    <p:sldId id="411" r:id="rId70"/>
    <p:sldId id="412" r:id="rId71"/>
    <p:sldId id="413" r:id="rId72"/>
    <p:sldId id="414" r:id="rId73"/>
    <p:sldId id="415" r:id="rId74"/>
    <p:sldId id="416" r:id="rId75"/>
    <p:sldId id="417" r:id="rId76"/>
    <p:sldId id="418" r:id="rId77"/>
    <p:sldId id="419" r:id="rId78"/>
    <p:sldId id="420" r:id="rId79"/>
    <p:sldId id="421" r:id="rId80"/>
    <p:sldId id="422" r:id="rId81"/>
    <p:sldId id="423" r:id="rId82"/>
    <p:sldId id="424" r:id="rId83"/>
    <p:sldId id="425" r:id="rId84"/>
    <p:sldId id="426" r:id="rId85"/>
    <p:sldId id="427" r:id="rId86"/>
    <p:sldId id="428" r:id="rId87"/>
    <p:sldId id="429" r:id="rId88"/>
    <p:sldId id="430" r:id="rId89"/>
    <p:sldId id="431" r:id="rId90"/>
    <p:sldId id="432" r:id="rId91"/>
    <p:sldId id="433" r:id="rId92"/>
    <p:sldId id="434" r:id="rId93"/>
    <p:sldId id="435" r:id="rId94"/>
    <p:sldId id="436" r:id="rId95"/>
    <p:sldId id="437" r:id="rId96"/>
    <p:sldId id="438" r:id="rId97"/>
    <p:sldId id="439" r:id="rId98"/>
    <p:sldId id="440" r:id="rId99"/>
    <p:sldId id="441" r:id="rId100"/>
    <p:sldId id="442" r:id="rId101"/>
    <p:sldId id="443" r:id="rId102"/>
    <p:sldId id="444" r:id="rId103"/>
    <p:sldId id="445" r:id="rId104"/>
    <p:sldId id="446" r:id="rId105"/>
    <p:sldId id="447" r:id="rId106"/>
    <p:sldId id="448" r:id="rId107"/>
    <p:sldId id="449" r:id="rId108"/>
    <p:sldId id="450" r:id="rId109"/>
    <p:sldId id="451" r:id="rId110"/>
    <p:sldId id="452" r:id="rId111"/>
    <p:sldId id="453" r:id="rId112"/>
    <p:sldId id="454" r:id="rId113"/>
    <p:sldId id="348" r:id="rId114"/>
    <p:sldId id="460" r:id="rId115"/>
    <p:sldId id="458" r:id="rId116"/>
    <p:sldId id="459" r:id="rId117"/>
    <p:sldId id="461" r:id="rId118"/>
    <p:sldId id="467" r:id="rId119"/>
    <p:sldId id="468" r:id="rId120"/>
    <p:sldId id="469" r:id="rId121"/>
    <p:sldId id="470" r:id="rId122"/>
    <p:sldId id="471" r:id="rId123"/>
    <p:sldId id="472" r:id="rId124"/>
    <p:sldId id="473" r:id="rId125"/>
    <p:sldId id="474" r:id="rId126"/>
    <p:sldId id="462" r:id="rId127"/>
    <p:sldId id="463" r:id="rId128"/>
    <p:sldId id="464" r:id="rId129"/>
    <p:sldId id="465" r:id="rId130"/>
    <p:sldId id="475" r:id="rId131"/>
    <p:sldId id="476" r:id="rId132"/>
    <p:sldId id="477" r:id="rId133"/>
    <p:sldId id="312" r:id="rId1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28.12.2023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r>
              <a:rPr lang="tr-TR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 smtClean="0"/>
              <a:t>Bölüm 10: Arama Ağaçları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Veri Yapıları</a:t>
            </a:r>
            <a:endParaRPr lang="tr-TR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Arama Ağacı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Her </a:t>
            </a:r>
            <a:r>
              <a:rPr lang="tr-TR" dirty="0"/>
              <a:t>düğüm, belirli bir öğeyi </a:t>
            </a:r>
            <a:r>
              <a:rPr lang="tr-TR" dirty="0" smtClean="0"/>
              <a:t>temsil eder.</a:t>
            </a:r>
          </a:p>
          <a:p>
            <a:r>
              <a:rPr lang="tr-TR" dirty="0" smtClean="0"/>
              <a:t>Her öğenin bir anahtar değeri vardır.</a:t>
            </a:r>
          </a:p>
          <a:p>
            <a:r>
              <a:rPr lang="tr-TR" dirty="0" smtClean="0"/>
              <a:t>Öğeler bu anahtar değerlerine göre </a:t>
            </a:r>
            <a:r>
              <a:rPr lang="tr-TR" dirty="0"/>
              <a:t>bir düzen içinde </a:t>
            </a:r>
            <a:r>
              <a:rPr lang="tr-TR" dirty="0" smtClean="0"/>
              <a:t>saklanırlar.</a:t>
            </a:r>
          </a:p>
          <a:p>
            <a:r>
              <a:rPr lang="tr-TR" dirty="0" smtClean="0"/>
              <a:t>Arama işlemi O(</a:t>
            </a:r>
            <a:r>
              <a:rPr lang="tr-TR" dirty="0" err="1" smtClean="0"/>
              <a:t>log</a:t>
            </a:r>
            <a:r>
              <a:rPr lang="tr-TR" dirty="0" smtClean="0"/>
              <a:t> </a:t>
            </a:r>
            <a:r>
              <a:rPr lang="tr-TR" dirty="0"/>
              <a:t>n) veya O(h) zaman </a:t>
            </a:r>
            <a:r>
              <a:rPr lang="tr-TR" dirty="0" smtClean="0"/>
              <a:t>karmaşıklığına sahiptir.</a:t>
            </a:r>
          </a:p>
          <a:p>
            <a:r>
              <a:rPr lang="tr-TR" dirty="0" smtClean="0"/>
              <a:t>"</a:t>
            </a:r>
            <a:r>
              <a:rPr lang="tr-TR" dirty="0"/>
              <a:t>n" ağaçtaki düğüm sayısını, "h" ise ağacın yüksekliğini temsil eder.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242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Temel İşlemler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Ekleme (</a:t>
            </a:r>
            <a:r>
              <a:rPr lang="tr-TR" b="1" dirty="0" err="1"/>
              <a:t>Insertion</a:t>
            </a:r>
            <a:r>
              <a:rPr lang="tr-TR" b="1" dirty="0"/>
              <a:t>): </a:t>
            </a:r>
            <a:r>
              <a:rPr lang="tr-TR" dirty="0"/>
              <a:t>Bir öğeyi ağaca ekler.</a:t>
            </a:r>
          </a:p>
          <a:p>
            <a:r>
              <a:rPr lang="tr-TR" b="1" dirty="0"/>
              <a:t>Arama (</a:t>
            </a:r>
            <a:r>
              <a:rPr lang="tr-TR" b="1" dirty="0" err="1"/>
              <a:t>Search</a:t>
            </a:r>
            <a:r>
              <a:rPr lang="tr-TR" b="1" dirty="0"/>
              <a:t>): </a:t>
            </a:r>
            <a:r>
              <a:rPr lang="tr-TR" dirty="0"/>
              <a:t>Belirli bir anahtarla öğeyi arar ve döndürür.</a:t>
            </a:r>
          </a:p>
          <a:p>
            <a:r>
              <a:rPr lang="tr-TR" b="1" dirty="0"/>
              <a:t>Silme (</a:t>
            </a:r>
            <a:r>
              <a:rPr lang="tr-TR" b="1" dirty="0" err="1"/>
              <a:t>Deletion</a:t>
            </a:r>
            <a:r>
              <a:rPr lang="tr-TR" b="1" dirty="0"/>
              <a:t>): </a:t>
            </a:r>
            <a:r>
              <a:rPr lang="tr-TR" dirty="0"/>
              <a:t>Belirli bir anahtara sahip öğeyi ağaçtan </a:t>
            </a:r>
            <a:r>
              <a:rPr lang="tr-TR" dirty="0" smtClean="0"/>
              <a:t>çıkarır.</a:t>
            </a:r>
            <a:endParaRPr lang="tr-TR" dirty="0"/>
          </a:p>
          <a:p>
            <a:r>
              <a:rPr lang="tr-TR" b="1" dirty="0" smtClean="0"/>
              <a:t>Gezinme (</a:t>
            </a:r>
            <a:r>
              <a:rPr lang="tr-TR" b="1" dirty="0" err="1" smtClean="0"/>
              <a:t>Traversal</a:t>
            </a:r>
            <a:r>
              <a:rPr lang="tr-TR" b="1" dirty="0"/>
              <a:t>): </a:t>
            </a:r>
            <a:r>
              <a:rPr lang="tr-TR" dirty="0"/>
              <a:t>Ağaç içindeki öğeleri belirli bir sırayla gezme.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7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Arama Ağacı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İkili Arama Ağaçları (</a:t>
            </a:r>
            <a:r>
              <a:rPr lang="tr-TR" b="1" dirty="0" err="1"/>
              <a:t>Binary</a:t>
            </a:r>
            <a:r>
              <a:rPr lang="tr-TR" b="1" dirty="0"/>
              <a:t> </a:t>
            </a:r>
            <a:r>
              <a:rPr lang="tr-TR" b="1" dirty="0" err="1"/>
              <a:t>Search</a:t>
            </a:r>
            <a:r>
              <a:rPr lang="tr-TR" b="1" dirty="0"/>
              <a:t> </a:t>
            </a:r>
            <a:r>
              <a:rPr lang="tr-TR" b="1" dirty="0" err="1"/>
              <a:t>Trees</a:t>
            </a:r>
            <a:r>
              <a:rPr lang="tr-TR" b="1" dirty="0"/>
              <a:t>): </a:t>
            </a:r>
            <a:r>
              <a:rPr lang="tr-TR" dirty="0"/>
              <a:t>Her düğüm, sol alt ağaçtaki düğümlerden daha </a:t>
            </a:r>
            <a:r>
              <a:rPr lang="tr-TR" dirty="0" smtClean="0"/>
              <a:t>büyük ve </a:t>
            </a:r>
            <a:r>
              <a:rPr lang="tr-TR" dirty="0"/>
              <a:t>sağ alt ağaçtaki düğümlerden daha </a:t>
            </a:r>
            <a:r>
              <a:rPr lang="tr-TR" dirty="0" smtClean="0"/>
              <a:t>küçük bir </a:t>
            </a:r>
            <a:r>
              <a:rPr lang="tr-TR" dirty="0"/>
              <a:t>anahtarı temsil eder.</a:t>
            </a:r>
          </a:p>
          <a:p>
            <a:r>
              <a:rPr lang="tr-TR" b="1" dirty="0"/>
              <a:t>Kırmızı-Siyah Ağaçlar (</a:t>
            </a:r>
            <a:r>
              <a:rPr lang="tr-TR" b="1" dirty="0" err="1"/>
              <a:t>Red</a:t>
            </a:r>
            <a:r>
              <a:rPr lang="tr-TR" b="1" dirty="0"/>
              <a:t>-Black </a:t>
            </a:r>
            <a:r>
              <a:rPr lang="tr-TR" b="1" dirty="0" err="1"/>
              <a:t>Trees</a:t>
            </a:r>
            <a:r>
              <a:rPr lang="tr-TR" b="1" dirty="0"/>
              <a:t>): </a:t>
            </a:r>
            <a:r>
              <a:rPr lang="tr-TR" dirty="0" smtClean="0"/>
              <a:t>Ağacın </a:t>
            </a:r>
            <a:r>
              <a:rPr lang="tr-TR" dirty="0"/>
              <a:t>yüksekliğini kontrol ederek hızlı arama </a:t>
            </a:r>
            <a:r>
              <a:rPr lang="tr-TR" dirty="0" smtClean="0"/>
              <a:t>sağlar.</a:t>
            </a:r>
            <a:endParaRPr lang="tr-TR" dirty="0"/>
          </a:p>
          <a:p>
            <a:r>
              <a:rPr lang="tr-TR" b="1" dirty="0"/>
              <a:t>AVL Ağaçları: </a:t>
            </a:r>
            <a:r>
              <a:rPr lang="tr-TR" dirty="0"/>
              <a:t>Her düğümün iki alt ağacının </a:t>
            </a:r>
            <a:r>
              <a:rPr lang="tr-TR" dirty="0" smtClean="0"/>
              <a:t>yükseklik </a:t>
            </a:r>
            <a:r>
              <a:rPr lang="tr-TR" dirty="0"/>
              <a:t>farkı (</a:t>
            </a:r>
            <a:r>
              <a:rPr lang="tr-TR" dirty="0" err="1"/>
              <a:t>balance</a:t>
            </a:r>
            <a:r>
              <a:rPr lang="tr-TR" dirty="0"/>
              <a:t> </a:t>
            </a:r>
            <a:r>
              <a:rPr lang="tr-TR" dirty="0" err="1"/>
              <a:t>factor</a:t>
            </a:r>
            <a:r>
              <a:rPr lang="tr-TR" dirty="0"/>
              <a:t>) en fazla 1 </a:t>
            </a:r>
            <a:r>
              <a:rPr lang="tr-TR" dirty="0" smtClean="0"/>
              <a:t>olan ağaç </a:t>
            </a:r>
            <a:r>
              <a:rPr lang="tr-TR" dirty="0"/>
              <a:t>türü.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24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İkili Arama Ağacı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2444587" y="2231231"/>
            <a:ext cx="3060000" cy="3600000"/>
            <a:chOff x="367" y="746"/>
            <a:chExt cx="1588" cy="1588"/>
          </a:xfrm>
        </p:grpSpPr>
        <p:sp>
          <p:nvSpPr>
            <p:cNvPr id="8" name="Oval 4"/>
            <p:cNvSpPr>
              <a:spLocks noChangeArrowheads="1"/>
            </p:cNvSpPr>
            <p:nvPr/>
          </p:nvSpPr>
          <p:spPr bwMode="auto">
            <a:xfrm>
              <a:off x="1274" y="746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6</a:t>
              </a:r>
            </a:p>
          </p:txBody>
        </p:sp>
        <p:sp>
          <p:nvSpPr>
            <p:cNvPr id="9" name="Oval 5"/>
            <p:cNvSpPr>
              <a:spLocks noChangeArrowheads="1"/>
            </p:cNvSpPr>
            <p:nvPr/>
          </p:nvSpPr>
          <p:spPr bwMode="auto">
            <a:xfrm>
              <a:off x="821" y="1199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2</a:t>
              </a:r>
            </a:p>
          </p:txBody>
        </p:sp>
        <p:sp>
          <p:nvSpPr>
            <p:cNvPr id="10" name="Oval 6"/>
            <p:cNvSpPr>
              <a:spLocks noChangeArrowheads="1"/>
            </p:cNvSpPr>
            <p:nvPr/>
          </p:nvSpPr>
          <p:spPr bwMode="auto">
            <a:xfrm>
              <a:off x="1728" y="1200"/>
              <a:ext cx="227" cy="226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8</a:t>
              </a:r>
            </a:p>
          </p:txBody>
        </p:sp>
        <p:sp>
          <p:nvSpPr>
            <p:cNvPr id="11" name="Oval 7"/>
            <p:cNvSpPr>
              <a:spLocks noChangeArrowheads="1"/>
            </p:cNvSpPr>
            <p:nvPr/>
          </p:nvSpPr>
          <p:spPr bwMode="auto">
            <a:xfrm>
              <a:off x="367" y="1653"/>
              <a:ext cx="227" cy="226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1</a:t>
              </a:r>
            </a:p>
          </p:txBody>
        </p:sp>
        <p:sp>
          <p:nvSpPr>
            <p:cNvPr id="12" name="Oval 8"/>
            <p:cNvSpPr>
              <a:spLocks noChangeArrowheads="1"/>
            </p:cNvSpPr>
            <p:nvPr/>
          </p:nvSpPr>
          <p:spPr bwMode="auto">
            <a:xfrm>
              <a:off x="1274" y="1653"/>
              <a:ext cx="227" cy="226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4</a:t>
              </a:r>
            </a:p>
          </p:txBody>
        </p:sp>
        <p:sp>
          <p:nvSpPr>
            <p:cNvPr id="13" name="Oval 9"/>
            <p:cNvSpPr>
              <a:spLocks noChangeArrowheads="1"/>
            </p:cNvSpPr>
            <p:nvPr/>
          </p:nvSpPr>
          <p:spPr bwMode="auto">
            <a:xfrm>
              <a:off x="821" y="2107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3</a:t>
              </a: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>
              <a:off x="564" y="1411"/>
              <a:ext cx="27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 flipH="1">
              <a:off x="1031" y="1856"/>
              <a:ext cx="27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 flipH="1">
              <a:off x="1026" y="951"/>
              <a:ext cx="27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1031" y="1394"/>
              <a:ext cx="273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1480" y="943"/>
              <a:ext cx="273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</p:grpSp>
      <p:grpSp>
        <p:nvGrpSpPr>
          <p:cNvPr id="19" name="Group 31"/>
          <p:cNvGrpSpPr>
            <a:grpSpLocks/>
          </p:cNvGrpSpPr>
          <p:nvPr/>
        </p:nvGrpSpPr>
        <p:grpSpPr bwMode="auto">
          <a:xfrm>
            <a:off x="6731363" y="2231231"/>
            <a:ext cx="3060000" cy="3600000"/>
            <a:chOff x="3125" y="768"/>
            <a:chExt cx="1588" cy="1593"/>
          </a:xfrm>
        </p:grpSpPr>
        <p:sp>
          <p:nvSpPr>
            <p:cNvPr id="20" name="Oval 15"/>
            <p:cNvSpPr>
              <a:spLocks noChangeArrowheads="1"/>
            </p:cNvSpPr>
            <p:nvPr/>
          </p:nvSpPr>
          <p:spPr bwMode="auto">
            <a:xfrm>
              <a:off x="4032" y="768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6</a:t>
              </a:r>
            </a:p>
          </p:txBody>
        </p:sp>
        <p:sp>
          <p:nvSpPr>
            <p:cNvPr id="21" name="Oval 16"/>
            <p:cNvSpPr>
              <a:spLocks noChangeArrowheads="1"/>
            </p:cNvSpPr>
            <p:nvPr/>
          </p:nvSpPr>
          <p:spPr bwMode="auto">
            <a:xfrm>
              <a:off x="3579" y="1221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2</a:t>
              </a:r>
            </a:p>
          </p:txBody>
        </p:sp>
        <p:sp>
          <p:nvSpPr>
            <p:cNvPr id="22" name="Oval 17"/>
            <p:cNvSpPr>
              <a:spLocks noChangeArrowheads="1"/>
            </p:cNvSpPr>
            <p:nvPr/>
          </p:nvSpPr>
          <p:spPr bwMode="auto">
            <a:xfrm>
              <a:off x="4486" y="1222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8</a:t>
              </a:r>
            </a:p>
          </p:txBody>
        </p:sp>
        <p:sp>
          <p:nvSpPr>
            <p:cNvPr id="23" name="Oval 18"/>
            <p:cNvSpPr>
              <a:spLocks noChangeArrowheads="1"/>
            </p:cNvSpPr>
            <p:nvPr/>
          </p:nvSpPr>
          <p:spPr bwMode="auto">
            <a:xfrm>
              <a:off x="3125" y="1680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1</a:t>
              </a:r>
            </a:p>
          </p:txBody>
        </p:sp>
        <p:sp>
          <p:nvSpPr>
            <p:cNvPr id="24" name="Oval 19"/>
            <p:cNvSpPr>
              <a:spLocks noChangeArrowheads="1"/>
            </p:cNvSpPr>
            <p:nvPr/>
          </p:nvSpPr>
          <p:spPr bwMode="auto">
            <a:xfrm>
              <a:off x="4032" y="1680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4</a:t>
              </a:r>
            </a:p>
          </p:txBody>
        </p:sp>
        <p:sp>
          <p:nvSpPr>
            <p:cNvPr id="25" name="Oval 20"/>
            <p:cNvSpPr>
              <a:spLocks noChangeArrowheads="1"/>
            </p:cNvSpPr>
            <p:nvPr/>
          </p:nvSpPr>
          <p:spPr bwMode="auto">
            <a:xfrm>
              <a:off x="3579" y="2134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3</a:t>
              </a:r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 flipH="1">
              <a:off x="3322" y="1438"/>
              <a:ext cx="27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H="1">
              <a:off x="3781" y="1891"/>
              <a:ext cx="272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H="1">
              <a:off x="3784" y="973"/>
              <a:ext cx="272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3789" y="1421"/>
              <a:ext cx="273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4238" y="965"/>
              <a:ext cx="273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31" name="Oval 26"/>
            <p:cNvSpPr>
              <a:spLocks noChangeArrowheads="1"/>
            </p:cNvSpPr>
            <p:nvPr/>
          </p:nvSpPr>
          <p:spPr bwMode="auto">
            <a:xfrm>
              <a:off x="4486" y="2134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7</a:t>
              </a:r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4237" y="1882"/>
              <a:ext cx="273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</p:grpSp>
      <p:sp>
        <p:nvSpPr>
          <p:cNvPr id="33" name="Multiply 32"/>
          <p:cNvSpPr/>
          <p:nvPr/>
        </p:nvSpPr>
        <p:spPr>
          <a:xfrm>
            <a:off x="9829903" y="5364229"/>
            <a:ext cx="484163" cy="46111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349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Kırmızı-Siyah Ağaçlar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Her düğüm kırmızı veya siyah renkte olabilir.</a:t>
            </a:r>
          </a:p>
          <a:p>
            <a:r>
              <a:rPr lang="tr-TR" dirty="0"/>
              <a:t>Kök düğüm siyah renkte olmalıdır.</a:t>
            </a:r>
          </a:p>
          <a:p>
            <a:r>
              <a:rPr lang="tr-TR" dirty="0"/>
              <a:t>Her yaprak düğümün (NIL düğümleri) siyah olması gerekmektedir.</a:t>
            </a:r>
          </a:p>
          <a:p>
            <a:r>
              <a:rPr lang="tr-TR" dirty="0"/>
              <a:t>Ardışık kırmızı düğümler kabul edilmez.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91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AVL Ağacı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Her </a:t>
            </a:r>
            <a:r>
              <a:rPr lang="tr-TR" dirty="0"/>
              <a:t>düğümün </a:t>
            </a:r>
            <a:r>
              <a:rPr lang="tr-TR" dirty="0" smtClean="0"/>
              <a:t>denge </a:t>
            </a:r>
            <a:r>
              <a:rPr lang="tr-TR" dirty="0"/>
              <a:t>faktörü </a:t>
            </a:r>
            <a:r>
              <a:rPr lang="tr-TR" dirty="0" smtClean="0"/>
              <a:t>değeri vardır.</a:t>
            </a:r>
            <a:endParaRPr lang="tr-TR" dirty="0"/>
          </a:p>
          <a:p>
            <a:r>
              <a:rPr lang="tr-TR" dirty="0" smtClean="0"/>
              <a:t>Denge </a:t>
            </a:r>
            <a:r>
              <a:rPr lang="tr-TR" dirty="0"/>
              <a:t>faktörü, sol </a:t>
            </a:r>
            <a:r>
              <a:rPr lang="tr-TR" dirty="0" smtClean="0"/>
              <a:t>ve sağ alt ağaçların yükseklik farkını </a:t>
            </a:r>
            <a:r>
              <a:rPr lang="tr-TR" dirty="0"/>
              <a:t>temsil eder.</a:t>
            </a:r>
          </a:p>
          <a:p>
            <a:r>
              <a:rPr lang="tr-TR" dirty="0"/>
              <a:t>Her düğümün denge faktörü -1, 0 veya 1 olmalıdır.</a:t>
            </a:r>
          </a:p>
          <a:p>
            <a:r>
              <a:rPr lang="tr-TR" dirty="0"/>
              <a:t>Ağaç dengeli olduğunda, her düğümün alt ağaçları da dengelidir.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979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98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4421403" y="2036804"/>
            <a:ext cx="3349191" cy="763032"/>
            <a:chOff x="3791258" y="1857553"/>
            <a:chExt cx="3349191" cy="763032"/>
          </a:xfrm>
        </p:grpSpPr>
        <p:sp>
          <p:nvSpPr>
            <p:cNvPr id="6" name="Dikdörtgen 5"/>
            <p:cNvSpPr/>
            <p:nvPr/>
          </p:nvSpPr>
          <p:spPr>
            <a:xfrm>
              <a:off x="5065792" y="1857553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veri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7" name="Dikdörtgen 6"/>
            <p:cNvSpPr/>
            <p:nvPr/>
          </p:nvSpPr>
          <p:spPr>
            <a:xfrm>
              <a:off x="5875815" y="1857553"/>
              <a:ext cx="810000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sag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4257299" y="1857553"/>
              <a:ext cx="810000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sol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flipH="1">
              <a:off x="3791258" y="205847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Düz Ok Bağlayıcısı 9"/>
            <p:cNvCxnSpPr/>
            <p:nvPr/>
          </p:nvCxnSpPr>
          <p:spPr>
            <a:xfrm>
              <a:off x="6600449" y="205847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Metin kutusu 10"/>
            <p:cNvSpPr txBox="1"/>
            <p:nvPr/>
          </p:nvSpPr>
          <p:spPr>
            <a:xfrm>
              <a:off x="4754645" y="2251253"/>
              <a:ext cx="14323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AgacDugumu</a:t>
              </a:r>
              <a:endParaRPr lang="tr-TR" dirty="0"/>
            </a:p>
          </p:txBody>
        </p:sp>
      </p:grpSp>
      <p:sp>
        <p:nvSpPr>
          <p:cNvPr id="12" name="Metin kutusu 11"/>
          <p:cNvSpPr txBox="1"/>
          <p:nvPr/>
        </p:nvSpPr>
        <p:spPr>
          <a:xfrm>
            <a:off x="4033802" y="3331837"/>
            <a:ext cx="41243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Ağaç </a:t>
            </a:r>
            <a:r>
              <a:rPr lang="tr-TR" dirty="0"/>
              <a:t>Düğümü </a:t>
            </a:r>
            <a:r>
              <a:rPr lang="tr-TR" dirty="0" smtClean="0"/>
              <a:t>Yapısı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0021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İkili Arama Ağacına </a:t>
            </a:r>
            <a:r>
              <a:rPr lang="tr-TR" dirty="0" smtClean="0"/>
              <a:t>Öğe Eklenmesi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14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sonuc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69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sonuc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</a:tbl>
          </a:graphicData>
        </a:graphic>
      </p:graphicFrame>
      <p:sp>
        <p:nvSpPr>
          <p:cNvPr id="31" name="Metin kutusu 30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4" name="Düz Ok Bağlayıcısı 33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etin kutusu 10"/>
          <p:cNvSpPr txBox="1"/>
          <p:nvPr/>
        </p:nvSpPr>
        <p:spPr>
          <a:xfrm>
            <a:off x="2803625" y="1249977"/>
            <a:ext cx="572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22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36138785"/>
                  </a:ext>
                </a:extLst>
              </a:tr>
            </a:tbl>
          </a:graphicData>
        </a:graphic>
      </p:graphicFrame>
      <p:sp>
        <p:nvSpPr>
          <p:cNvPr id="31" name="Metin kutusu 30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4" name="Düz Ok Bağlayıcısı 33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etin kutusu 10"/>
          <p:cNvSpPr txBox="1"/>
          <p:nvPr/>
        </p:nvSpPr>
        <p:spPr>
          <a:xfrm>
            <a:off x="2803625" y="1249977"/>
            <a:ext cx="572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9" name="Düz Ok Bağlayıcısı 8"/>
          <p:cNvCxnSpPr/>
          <p:nvPr/>
        </p:nvCxnSpPr>
        <p:spPr>
          <a:xfrm>
            <a:off x="5685057" y="128320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/>
          <p:cNvCxnSpPr/>
          <p:nvPr/>
        </p:nvCxnSpPr>
        <p:spPr>
          <a:xfrm>
            <a:off x="5685057" y="383771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5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2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36138785"/>
                  </a:ext>
                </a:extLst>
              </a:tr>
            </a:tbl>
          </a:graphicData>
        </a:graphic>
      </p:graphicFrame>
      <p:sp>
        <p:nvSpPr>
          <p:cNvPr id="31" name="Metin kutusu 30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4" name="Düz Ok Bağlayıcısı 33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etin kutusu 10"/>
          <p:cNvSpPr txBox="1"/>
          <p:nvPr/>
        </p:nvSpPr>
        <p:spPr>
          <a:xfrm>
            <a:off x="2803625" y="1249977"/>
            <a:ext cx="572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9" name="Düz Ok Bağlayıcısı 8"/>
          <p:cNvCxnSpPr/>
          <p:nvPr/>
        </p:nvCxnSpPr>
        <p:spPr>
          <a:xfrm>
            <a:off x="5685057" y="128320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/>
          <p:cNvCxnSpPr/>
          <p:nvPr/>
        </p:nvCxnSpPr>
        <p:spPr>
          <a:xfrm>
            <a:off x="5685057" y="430217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5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7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36138785"/>
                  </a:ext>
                </a:extLst>
              </a:tr>
            </a:tbl>
          </a:graphicData>
        </a:graphic>
      </p:graphicFrame>
      <p:sp>
        <p:nvSpPr>
          <p:cNvPr id="31" name="Metin kutusu 30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4" name="Düz Ok Bağlayıcısı 33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Düz Ok Bağlayıcısı 8"/>
          <p:cNvCxnSpPr/>
          <p:nvPr/>
        </p:nvCxnSpPr>
        <p:spPr>
          <a:xfrm>
            <a:off x="5685057" y="128320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/>
          <p:cNvCxnSpPr/>
          <p:nvPr/>
        </p:nvCxnSpPr>
        <p:spPr>
          <a:xfrm>
            <a:off x="5685057" y="454891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5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1450716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918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36138785"/>
                  </a:ext>
                </a:extLst>
              </a:tr>
            </a:tbl>
          </a:graphicData>
        </a:graphic>
      </p:graphicFrame>
      <p:sp>
        <p:nvSpPr>
          <p:cNvPr id="31" name="Metin kutusu 30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4" name="Düz Ok Bağlayıcısı 33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Düz Ok Bağlayıcısı 8"/>
          <p:cNvCxnSpPr/>
          <p:nvPr/>
        </p:nvCxnSpPr>
        <p:spPr>
          <a:xfrm>
            <a:off x="5685057" y="128320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/>
          <p:cNvCxnSpPr/>
          <p:nvPr/>
        </p:nvCxnSpPr>
        <p:spPr>
          <a:xfrm>
            <a:off x="5685057" y="475211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5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1450716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54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</a:tbl>
          </a:graphicData>
        </a:graphic>
      </p:graphicFrame>
      <p:sp>
        <p:nvSpPr>
          <p:cNvPr id="31" name="Metin kutusu 30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4" name="Düz Ok Bağlayıcısı 33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1450716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2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25502282"/>
                  </a:ext>
                </a:extLst>
              </a:tr>
            </a:tbl>
          </a:graphicData>
        </a:graphic>
      </p:graphicFrame>
      <p:sp>
        <p:nvSpPr>
          <p:cNvPr id="31" name="Metin kutusu 30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4" name="Düz Ok Bağlayıcısı 33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1450716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5685057" y="128320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5685057" y="385222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etin kutusu 19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3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07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25502282"/>
                  </a:ext>
                </a:extLst>
              </a:tr>
            </a:tbl>
          </a:graphicData>
        </a:graphic>
      </p:graphicFrame>
      <p:sp>
        <p:nvSpPr>
          <p:cNvPr id="31" name="Metin kutusu 30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4" name="Düz Ok Bağlayıcısı 33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1450716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5685057" y="128320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5685057" y="431668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etin kutusu 19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3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30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25502282"/>
                  </a:ext>
                </a:extLst>
              </a:tr>
            </a:tbl>
          </a:graphicData>
        </a:graphic>
      </p:graphicFrame>
      <p:sp>
        <p:nvSpPr>
          <p:cNvPr id="31" name="Metin kutusu 30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4" name="Düz Ok Bağlayıcısı 33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1450716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5685057" y="128320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5685057" y="523108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etin kutusu 19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3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75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25502282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1450716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5685057" y="128320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5685057" y="546331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etin kutusu 19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3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37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2550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59104545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1450716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5685057" y="163154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5685057" y="385222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etin kutusu 19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3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1380946" y="2776776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685680" y="2776776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28" name="Düz Ok Bağlayıcısı 27"/>
          <p:cNvCxnSpPr/>
          <p:nvPr/>
        </p:nvCxnSpPr>
        <p:spPr>
          <a:xfrm>
            <a:off x="1195593" y="2982462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47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2550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59104545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1450716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5685057" y="163154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5685057" y="431667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etin kutusu 19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3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1380946" y="2776776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685680" y="2776776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28" name="Düz Ok Bağlayıcısı 27"/>
          <p:cNvCxnSpPr/>
          <p:nvPr/>
        </p:nvCxnSpPr>
        <p:spPr>
          <a:xfrm>
            <a:off x="1195593" y="2982462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59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2550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59104545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1450716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5685057" y="163154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5685057" y="454890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etin kutusu 19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3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1380946" y="2776776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685680" y="2776776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28" name="Düz Ok Bağlayıcısı 27"/>
          <p:cNvCxnSpPr/>
          <p:nvPr/>
        </p:nvCxnSpPr>
        <p:spPr>
          <a:xfrm>
            <a:off x="1195593" y="2982462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74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2550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59104545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1450716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5685057" y="163154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5685057" y="454890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etin kutusu 19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3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7" name="Metin kutusu 26"/>
          <p:cNvSpPr txBox="1"/>
          <p:nvPr/>
        </p:nvSpPr>
        <p:spPr>
          <a:xfrm>
            <a:off x="685680" y="2776776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28" name="Düz Ok Bağlayıcısı 27"/>
          <p:cNvCxnSpPr/>
          <p:nvPr/>
        </p:nvCxnSpPr>
        <p:spPr>
          <a:xfrm>
            <a:off x="1195593" y="2982462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776776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3097242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3097242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80839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80288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70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2550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59104545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1450716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5685057" y="163154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5685057" y="476661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etin kutusu 19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3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7" name="Metin kutusu 26"/>
          <p:cNvSpPr txBox="1"/>
          <p:nvPr/>
        </p:nvSpPr>
        <p:spPr>
          <a:xfrm>
            <a:off x="685680" y="2776776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28" name="Düz Ok Bağlayıcısı 27"/>
          <p:cNvCxnSpPr/>
          <p:nvPr/>
        </p:nvCxnSpPr>
        <p:spPr>
          <a:xfrm>
            <a:off x="1195593" y="2982462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776776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3097242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3097242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80839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80288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10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25502282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1450716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5685057" y="126868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776776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3097242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3097242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80839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80288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9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5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25502282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5685057" y="126868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5685057" y="546330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3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90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25502282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5685057" y="126868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5685057" y="614547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48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9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464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7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0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22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515788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7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5685057" y="126868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685057" y="383769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3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515788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7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5685057" y="126868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685057" y="430215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88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515788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7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5685057" y="126868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685057" y="521655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96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515788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7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5685057" y="126868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685057" y="566649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89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515788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7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5685057" y="126868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685057" y="591323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12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515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08673368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530664" y="2685933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4040577" y="2891619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7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5685057" y="164605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685057" y="385220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etin kutusu 31"/>
          <p:cNvSpPr txBox="1"/>
          <p:nvPr/>
        </p:nvSpPr>
        <p:spPr>
          <a:xfrm>
            <a:off x="4221662" y="2673312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22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515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08673368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530664" y="2685933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4040577" y="2891619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7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5685057" y="164605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685057" y="431666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etin kutusu 31"/>
          <p:cNvSpPr txBox="1"/>
          <p:nvPr/>
        </p:nvSpPr>
        <p:spPr>
          <a:xfrm>
            <a:off x="4221662" y="2673312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779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515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08673368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530664" y="2685933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4040577" y="2891619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7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5685057" y="164605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685057" y="454889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414758" y="2689689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8" name="Düz Ok Bağlayıcısı 27"/>
          <p:cNvCxnSpPr>
            <a:stCxn id="27" idx="5"/>
          </p:cNvCxnSpPr>
          <p:nvPr/>
        </p:nvCxnSpPr>
        <p:spPr>
          <a:xfrm>
            <a:off x="4735224" y="3010155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Bağlayıcı 30"/>
          <p:cNvCxnSpPr>
            <a:stCxn id="27" idx="3"/>
          </p:cNvCxnSpPr>
          <p:nvPr/>
        </p:nvCxnSpPr>
        <p:spPr>
          <a:xfrm flipH="1">
            <a:off x="3900513" y="3010155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3624949" y="3685172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4" name="Metin kutusu 33"/>
          <p:cNvSpPr txBox="1"/>
          <p:nvPr/>
        </p:nvSpPr>
        <p:spPr>
          <a:xfrm>
            <a:off x="4917003" y="3679659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81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515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08673368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530664" y="2685933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4040577" y="2891619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7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5685057" y="164605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685057" y="476660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414758" y="2689689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8" name="Düz Ok Bağlayıcısı 27"/>
          <p:cNvCxnSpPr>
            <a:stCxn id="27" idx="5"/>
          </p:cNvCxnSpPr>
          <p:nvPr/>
        </p:nvCxnSpPr>
        <p:spPr>
          <a:xfrm>
            <a:off x="4735224" y="3010155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Bağlayıcı 30"/>
          <p:cNvCxnSpPr>
            <a:stCxn id="27" idx="3"/>
          </p:cNvCxnSpPr>
          <p:nvPr/>
        </p:nvCxnSpPr>
        <p:spPr>
          <a:xfrm flipH="1">
            <a:off x="3900513" y="3010155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3624949" y="3685172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4" name="Metin kutusu 33"/>
          <p:cNvSpPr txBox="1"/>
          <p:nvPr/>
        </p:nvSpPr>
        <p:spPr>
          <a:xfrm>
            <a:off x="4917003" y="3679659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84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515788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4221662" y="222712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5685057" y="126868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414758" y="2689689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8" name="Düz Ok Bağlayıcısı 27"/>
          <p:cNvCxnSpPr>
            <a:stCxn id="27" idx="5"/>
          </p:cNvCxnSpPr>
          <p:nvPr/>
        </p:nvCxnSpPr>
        <p:spPr>
          <a:xfrm>
            <a:off x="4735224" y="3010155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Bağlayıcı 30"/>
          <p:cNvCxnSpPr>
            <a:stCxn id="27" idx="3"/>
          </p:cNvCxnSpPr>
          <p:nvPr/>
        </p:nvCxnSpPr>
        <p:spPr>
          <a:xfrm flipH="1">
            <a:off x="3900513" y="3010155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3624949" y="3685172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4" name="Metin kutusu 33"/>
          <p:cNvSpPr txBox="1"/>
          <p:nvPr/>
        </p:nvSpPr>
        <p:spPr>
          <a:xfrm>
            <a:off x="4917003" y="3679659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7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19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515788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7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5685057" y="126868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685057" y="591323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2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515788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7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5685057" y="126868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685057" y="614545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3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51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51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126868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5685057" y="385220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455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126868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5685057" y="431666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81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126868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5685057" y="523105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12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2053757" y="124997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63670" y="145566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126868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5685057" y="546328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98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5413390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686579" y="223974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1196492" y="244543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163154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5685057" y="385220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54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5413390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686579" y="223974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1196492" y="244543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163154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5685057" y="430214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90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5413390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686579" y="223974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1196492" y="244543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163154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5685057" y="521654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74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5413390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686579" y="223974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1196492" y="244543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163154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5685057" y="546328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15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54133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78547902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31588" y="3727429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541501" y="3933115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202343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5685057" y="385220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735127" y="372466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63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54133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78547902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31588" y="3727429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541501" y="3933115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202343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5685057" y="431665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735127" y="372466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238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54133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78547902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31588" y="3727429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541501" y="3933115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202343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5685057" y="454888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59317" y="373931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3" name="Düz Bağlayıcı 32"/>
          <p:cNvCxnSpPr>
            <a:stCxn id="31" idx="3"/>
          </p:cNvCxnSpPr>
          <p:nvPr/>
        </p:nvCxnSpPr>
        <p:spPr>
          <a:xfrm flipH="1">
            <a:off x="654705" y="4059784"/>
            <a:ext cx="259596" cy="71290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Bağlayıcı 33"/>
          <p:cNvCxnSpPr>
            <a:stCxn id="31" idx="5"/>
          </p:cNvCxnSpPr>
          <p:nvPr/>
        </p:nvCxnSpPr>
        <p:spPr>
          <a:xfrm>
            <a:off x="1179782" y="4059784"/>
            <a:ext cx="225821" cy="71029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337330" y="473730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2" name="Metin kutusu 41"/>
          <p:cNvSpPr txBox="1"/>
          <p:nvPr/>
        </p:nvSpPr>
        <p:spPr>
          <a:xfrm>
            <a:off x="1083269" y="4731793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9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54133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78547902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31588" y="3727429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541501" y="3933115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202343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5685057" y="476659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59317" y="373931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3" name="Düz Bağlayıcı 32"/>
          <p:cNvCxnSpPr>
            <a:stCxn id="31" idx="3"/>
          </p:cNvCxnSpPr>
          <p:nvPr/>
        </p:nvCxnSpPr>
        <p:spPr>
          <a:xfrm flipH="1">
            <a:off x="654705" y="4059784"/>
            <a:ext cx="259596" cy="71290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Bağlayıcı 33"/>
          <p:cNvCxnSpPr>
            <a:stCxn id="31" idx="5"/>
          </p:cNvCxnSpPr>
          <p:nvPr/>
        </p:nvCxnSpPr>
        <p:spPr>
          <a:xfrm>
            <a:off x="1179782" y="4059784"/>
            <a:ext cx="225821" cy="71029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337330" y="473730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2" name="Metin kutusu 41"/>
          <p:cNvSpPr txBox="1"/>
          <p:nvPr/>
        </p:nvSpPr>
        <p:spPr>
          <a:xfrm>
            <a:off x="1083269" y="4731793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26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5413390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29216" y="3271368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164606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59317" y="373931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3" name="Düz Bağlayıcı 32"/>
          <p:cNvCxnSpPr>
            <a:stCxn id="31" idx="3"/>
          </p:cNvCxnSpPr>
          <p:nvPr/>
        </p:nvCxnSpPr>
        <p:spPr>
          <a:xfrm flipH="1">
            <a:off x="654705" y="4059784"/>
            <a:ext cx="259596" cy="71290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Bağlayıcı 33"/>
          <p:cNvCxnSpPr>
            <a:stCxn id="31" idx="5"/>
          </p:cNvCxnSpPr>
          <p:nvPr/>
        </p:nvCxnSpPr>
        <p:spPr>
          <a:xfrm>
            <a:off x="1179782" y="4059784"/>
            <a:ext cx="225821" cy="71029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337330" y="473730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2" name="Metin kutusu 41"/>
          <p:cNvSpPr txBox="1"/>
          <p:nvPr/>
        </p:nvSpPr>
        <p:spPr>
          <a:xfrm>
            <a:off x="1083269" y="4731793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8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77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5413390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164606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etin kutusu 27"/>
          <p:cNvSpPr txBox="1"/>
          <p:nvPr/>
        </p:nvSpPr>
        <p:spPr>
          <a:xfrm>
            <a:off x="686579" y="223974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1196492" y="244543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685057" y="546328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4" name="Düz Bağlayıcı 43"/>
          <p:cNvCxnSpPr>
            <a:stCxn id="43" idx="3"/>
          </p:cNvCxnSpPr>
          <p:nvPr/>
        </p:nvCxnSpPr>
        <p:spPr>
          <a:xfrm flipH="1">
            <a:off x="654705" y="3595328"/>
            <a:ext cx="259596" cy="71290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Düz Bağlayıcı 44"/>
          <p:cNvCxnSpPr>
            <a:stCxn id="43" idx="5"/>
          </p:cNvCxnSpPr>
          <p:nvPr/>
        </p:nvCxnSpPr>
        <p:spPr>
          <a:xfrm>
            <a:off x="1179782" y="3595328"/>
            <a:ext cx="225821" cy="71029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Metin kutusu 45"/>
          <p:cNvSpPr txBox="1"/>
          <p:nvPr/>
        </p:nvSpPr>
        <p:spPr>
          <a:xfrm>
            <a:off x="337330" y="4272851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7" name="Metin kutusu 46"/>
          <p:cNvSpPr txBox="1"/>
          <p:nvPr/>
        </p:nvSpPr>
        <p:spPr>
          <a:xfrm>
            <a:off x="1083269" y="426733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97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5413390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164606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etin kutusu 27"/>
          <p:cNvSpPr txBox="1"/>
          <p:nvPr/>
        </p:nvSpPr>
        <p:spPr>
          <a:xfrm>
            <a:off x="686579" y="223974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1196492" y="244543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685057" y="614545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4" name="Düz Bağlayıcı 43"/>
          <p:cNvCxnSpPr>
            <a:stCxn id="43" idx="3"/>
          </p:cNvCxnSpPr>
          <p:nvPr/>
        </p:nvCxnSpPr>
        <p:spPr>
          <a:xfrm flipH="1">
            <a:off x="654705" y="3595328"/>
            <a:ext cx="259596" cy="71290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Düz Bağlayıcı 44"/>
          <p:cNvCxnSpPr>
            <a:stCxn id="43" idx="5"/>
          </p:cNvCxnSpPr>
          <p:nvPr/>
        </p:nvCxnSpPr>
        <p:spPr>
          <a:xfrm>
            <a:off x="1179782" y="3595328"/>
            <a:ext cx="225821" cy="71029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Metin kutusu 45"/>
          <p:cNvSpPr txBox="1"/>
          <p:nvPr/>
        </p:nvSpPr>
        <p:spPr>
          <a:xfrm>
            <a:off x="337330" y="4272851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7" name="Metin kutusu 46"/>
          <p:cNvSpPr txBox="1"/>
          <p:nvPr/>
        </p:nvSpPr>
        <p:spPr>
          <a:xfrm>
            <a:off x="1083269" y="426733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89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126869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4" name="Düz Bağlayıcı 43"/>
          <p:cNvCxnSpPr>
            <a:stCxn id="43" idx="3"/>
          </p:cNvCxnSpPr>
          <p:nvPr/>
        </p:nvCxnSpPr>
        <p:spPr>
          <a:xfrm flipH="1">
            <a:off x="654705" y="3595328"/>
            <a:ext cx="259596" cy="71290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Düz Bağlayıcı 44"/>
          <p:cNvCxnSpPr>
            <a:stCxn id="43" idx="5"/>
          </p:cNvCxnSpPr>
          <p:nvPr/>
        </p:nvCxnSpPr>
        <p:spPr>
          <a:xfrm>
            <a:off x="1179782" y="3595328"/>
            <a:ext cx="225821" cy="71029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Metin kutusu 45"/>
          <p:cNvSpPr txBox="1"/>
          <p:nvPr/>
        </p:nvSpPr>
        <p:spPr>
          <a:xfrm>
            <a:off x="337330" y="4272851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7" name="Metin kutusu 46"/>
          <p:cNvSpPr txBox="1"/>
          <p:nvPr/>
        </p:nvSpPr>
        <p:spPr>
          <a:xfrm>
            <a:off x="1083269" y="426733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8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26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126869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4" name="Düz Bağlayıcı 43"/>
          <p:cNvCxnSpPr>
            <a:stCxn id="43" idx="3"/>
          </p:cNvCxnSpPr>
          <p:nvPr/>
        </p:nvCxnSpPr>
        <p:spPr>
          <a:xfrm flipH="1">
            <a:off x="654705" y="3595328"/>
            <a:ext cx="259596" cy="71290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Düz Bağlayıcı 44"/>
          <p:cNvCxnSpPr>
            <a:stCxn id="43" idx="5"/>
          </p:cNvCxnSpPr>
          <p:nvPr/>
        </p:nvCxnSpPr>
        <p:spPr>
          <a:xfrm>
            <a:off x="1179782" y="3595328"/>
            <a:ext cx="225821" cy="71029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Metin kutusu 45"/>
          <p:cNvSpPr txBox="1"/>
          <p:nvPr/>
        </p:nvSpPr>
        <p:spPr>
          <a:xfrm>
            <a:off x="337330" y="4272851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7" name="Metin kutusu 46"/>
          <p:cNvSpPr txBox="1"/>
          <p:nvPr/>
        </p:nvSpPr>
        <p:spPr>
          <a:xfrm>
            <a:off x="1083269" y="426733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Ok Bağlayıcısı 30"/>
          <p:cNvCxnSpPr/>
          <p:nvPr/>
        </p:nvCxnSpPr>
        <p:spPr>
          <a:xfrm>
            <a:off x="5685057" y="546328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191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ekle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6235516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2099267" y="3265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/>
          <p:cNvSpPr txBox="1"/>
          <p:nvPr/>
        </p:nvSpPr>
        <p:spPr>
          <a:xfrm>
            <a:off x="3624949" y="323523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0" name="Metin kutusu 39"/>
          <p:cNvSpPr txBox="1"/>
          <p:nvPr/>
        </p:nvSpPr>
        <p:spPr>
          <a:xfrm>
            <a:off x="4917003" y="322971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92377" y="564657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deger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85057" y="126869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4" name="Düz Bağlayıcı 43"/>
          <p:cNvCxnSpPr>
            <a:stCxn id="43" idx="3"/>
          </p:cNvCxnSpPr>
          <p:nvPr/>
        </p:nvCxnSpPr>
        <p:spPr>
          <a:xfrm flipH="1">
            <a:off x="654705" y="3595328"/>
            <a:ext cx="259596" cy="71290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Düz Bağlayıcı 44"/>
          <p:cNvCxnSpPr>
            <a:stCxn id="43" idx="5"/>
          </p:cNvCxnSpPr>
          <p:nvPr/>
        </p:nvCxnSpPr>
        <p:spPr>
          <a:xfrm>
            <a:off x="1179782" y="3595328"/>
            <a:ext cx="225821" cy="71029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Metin kutusu 45"/>
          <p:cNvSpPr txBox="1"/>
          <p:nvPr/>
        </p:nvSpPr>
        <p:spPr>
          <a:xfrm>
            <a:off x="337330" y="4272851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47" name="Metin kutusu 46"/>
          <p:cNvSpPr txBox="1"/>
          <p:nvPr/>
        </p:nvSpPr>
        <p:spPr>
          <a:xfrm>
            <a:off x="1083269" y="4267337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Ok Bağlayıcısı 30"/>
          <p:cNvCxnSpPr/>
          <p:nvPr/>
        </p:nvCxnSpPr>
        <p:spPr>
          <a:xfrm>
            <a:off x="5685057" y="614545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73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6016484" y="3660090"/>
            <a:ext cx="369590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12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091455" y="712278"/>
          <a:ext cx="608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3887453940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2741408346"/>
                    </a:ext>
                  </a:extLst>
                </a:gridCol>
                <a:gridCol w="864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sol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deger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</a:tbl>
          </a:graphicData>
        </a:graphic>
      </p:graphicFrame>
      <p:sp>
        <p:nvSpPr>
          <p:cNvPr id="36" name="Metin kutusu 35"/>
          <p:cNvSpPr txBox="1"/>
          <p:nvPr/>
        </p:nvSpPr>
        <p:spPr>
          <a:xfrm>
            <a:off x="6386320" y="3660090"/>
            <a:ext cx="5787175" cy="2915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37330" y="1225148"/>
            <a:ext cx="5236266" cy="3506509"/>
            <a:chOff x="337330" y="1225148"/>
            <a:chExt cx="5236266" cy="3506509"/>
          </a:xfrm>
        </p:grpSpPr>
        <p:sp>
          <p:nvSpPr>
            <p:cNvPr id="13" name="Oval 12"/>
            <p:cNvSpPr/>
            <p:nvPr/>
          </p:nvSpPr>
          <p:spPr>
            <a:xfrm>
              <a:off x="2916655" y="1259615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>
              <a:stCxn id="13" idx="3"/>
            </p:cNvCxnSpPr>
            <p:nvPr/>
          </p:nvCxnSpPr>
          <p:spPr>
            <a:xfrm flipH="1">
              <a:off x="1749985" y="1580081"/>
              <a:ext cx="1221653" cy="65966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>
              <a:stCxn id="13" idx="5"/>
            </p:cNvCxnSpPr>
            <p:nvPr/>
          </p:nvCxnSpPr>
          <p:spPr>
            <a:xfrm>
              <a:off x="3237121" y="1580081"/>
              <a:ext cx="1365362" cy="65966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1562261" y="2239750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3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Düz Bağlayıcı 21"/>
            <p:cNvCxnSpPr>
              <a:stCxn id="21" idx="3"/>
            </p:cNvCxnSpPr>
            <p:nvPr/>
          </p:nvCxnSpPr>
          <p:spPr>
            <a:xfrm flipH="1">
              <a:off x="1047041" y="2560216"/>
              <a:ext cx="570202" cy="7146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Düz Ok Bağlayıcısı 22"/>
            <p:cNvCxnSpPr/>
            <p:nvPr/>
          </p:nvCxnSpPr>
          <p:spPr>
            <a:xfrm>
              <a:off x="1882349" y="2560216"/>
              <a:ext cx="550591" cy="71464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Metin kutusu 25"/>
            <p:cNvSpPr txBox="1"/>
            <p:nvPr/>
          </p:nvSpPr>
          <p:spPr>
            <a:xfrm>
              <a:off x="2099267" y="3265854"/>
              <a:ext cx="656593" cy="458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null</a:t>
              </a:r>
              <a:endParaRPr lang="tr-TR" sz="2000" dirty="0"/>
            </a:p>
          </p:txBody>
        </p:sp>
        <p:sp>
          <p:nvSpPr>
            <p:cNvPr id="35" name="Oval 34"/>
            <p:cNvSpPr/>
            <p:nvPr/>
          </p:nvSpPr>
          <p:spPr>
            <a:xfrm>
              <a:off x="4414758" y="2239747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7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Düz Ok Bağlayıcısı 36"/>
            <p:cNvCxnSpPr>
              <a:stCxn id="35" idx="5"/>
            </p:cNvCxnSpPr>
            <p:nvPr/>
          </p:nvCxnSpPr>
          <p:spPr>
            <a:xfrm>
              <a:off x="4735224" y="2560213"/>
              <a:ext cx="544660" cy="70291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Düz Bağlayıcı 37"/>
            <p:cNvCxnSpPr>
              <a:stCxn id="35" idx="3"/>
            </p:cNvCxnSpPr>
            <p:nvPr/>
          </p:nvCxnSpPr>
          <p:spPr>
            <a:xfrm flipH="1">
              <a:off x="3900513" y="2560213"/>
              <a:ext cx="569228" cy="702911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Metin kutusu 38"/>
            <p:cNvSpPr txBox="1"/>
            <p:nvPr/>
          </p:nvSpPr>
          <p:spPr>
            <a:xfrm>
              <a:off x="3624949" y="3235230"/>
              <a:ext cx="656593" cy="458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null</a:t>
              </a:r>
              <a:endParaRPr lang="tr-TR" sz="2000" dirty="0"/>
            </a:p>
          </p:txBody>
        </p:sp>
        <p:sp>
          <p:nvSpPr>
            <p:cNvPr id="40" name="Metin kutusu 39"/>
            <p:cNvSpPr txBox="1"/>
            <p:nvPr/>
          </p:nvSpPr>
          <p:spPr>
            <a:xfrm>
              <a:off x="4917003" y="3229717"/>
              <a:ext cx="656593" cy="458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null</a:t>
              </a:r>
              <a:endParaRPr lang="tr-TR" sz="2000" dirty="0"/>
            </a:p>
          </p:txBody>
        </p:sp>
        <p:sp>
          <p:nvSpPr>
            <p:cNvPr id="43" name="Oval 42"/>
            <p:cNvSpPr/>
            <p:nvPr/>
          </p:nvSpPr>
          <p:spPr>
            <a:xfrm>
              <a:off x="859317" y="3274862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44" name="Düz Bağlayıcı 43"/>
            <p:cNvCxnSpPr>
              <a:stCxn id="43" idx="3"/>
            </p:cNvCxnSpPr>
            <p:nvPr/>
          </p:nvCxnSpPr>
          <p:spPr>
            <a:xfrm flipH="1">
              <a:off x="654705" y="3595328"/>
              <a:ext cx="259596" cy="712908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Düz Bağlayıcı 44"/>
            <p:cNvCxnSpPr>
              <a:stCxn id="43" idx="5"/>
            </p:cNvCxnSpPr>
            <p:nvPr/>
          </p:nvCxnSpPr>
          <p:spPr>
            <a:xfrm>
              <a:off x="1179782" y="3595328"/>
              <a:ext cx="225821" cy="71029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Metin kutusu 45"/>
            <p:cNvSpPr txBox="1"/>
            <p:nvPr/>
          </p:nvSpPr>
          <p:spPr>
            <a:xfrm>
              <a:off x="337330" y="4272851"/>
              <a:ext cx="656593" cy="458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null</a:t>
              </a:r>
              <a:endParaRPr lang="tr-TR" sz="2000" dirty="0"/>
            </a:p>
          </p:txBody>
        </p:sp>
        <p:sp>
          <p:nvSpPr>
            <p:cNvPr id="47" name="Metin kutusu 46"/>
            <p:cNvSpPr txBox="1"/>
            <p:nvPr/>
          </p:nvSpPr>
          <p:spPr>
            <a:xfrm>
              <a:off x="1083269" y="4267337"/>
              <a:ext cx="656593" cy="458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null</a:t>
              </a:r>
              <a:endParaRPr lang="tr-TR" sz="2000" dirty="0"/>
            </a:p>
          </p:txBody>
        </p:sp>
        <p:sp>
          <p:nvSpPr>
            <p:cNvPr id="28" name="Metin kutusu 27"/>
            <p:cNvSpPr txBox="1"/>
            <p:nvPr/>
          </p:nvSpPr>
          <p:spPr>
            <a:xfrm>
              <a:off x="2027981" y="1225148"/>
              <a:ext cx="5447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kok</a:t>
              </a:r>
              <a:endParaRPr lang="tr-TR" sz="2000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>
              <a:off x="2537894" y="1430834"/>
              <a:ext cx="27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221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Verilen Bir Anahtarı İkili Arama Ağacında </a:t>
            </a:r>
            <a:r>
              <a:rPr lang="tr-TR" dirty="0" smtClean="0"/>
              <a:t>Arama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9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629399" y="708677"/>
          <a:ext cx="46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43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6629399" y="708677"/>
          <a:ext cx="46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008000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34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597972" y="126869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433116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88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597972" y="126869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478110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66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597972" y="126869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547778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35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597972" y="126869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568098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755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18455057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700306" y="2213109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1210219" y="2418795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597972" y="163154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433116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76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18455057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700306" y="2213109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1210219" y="2418795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597972" y="478110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Ok Bağlayıcısı 25"/>
          <p:cNvCxnSpPr/>
          <p:nvPr/>
        </p:nvCxnSpPr>
        <p:spPr>
          <a:xfrm>
            <a:off x="5597972" y="163154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24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18455057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700306" y="2213109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1210219" y="2418795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597972" y="546327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Ok Bağlayıcısı 25"/>
          <p:cNvCxnSpPr/>
          <p:nvPr/>
        </p:nvCxnSpPr>
        <p:spPr>
          <a:xfrm>
            <a:off x="5597972" y="163154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4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18455057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700306" y="2213109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1210219" y="2418795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597972" y="592773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Ok Bağlayıcısı 25"/>
          <p:cNvCxnSpPr/>
          <p:nvPr/>
        </p:nvCxnSpPr>
        <p:spPr>
          <a:xfrm>
            <a:off x="5597972" y="163154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62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18455057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700306" y="2213109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1210219" y="2418795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597972" y="614544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Ok Bağlayıcısı 25"/>
          <p:cNvCxnSpPr/>
          <p:nvPr/>
        </p:nvCxnSpPr>
        <p:spPr>
          <a:xfrm>
            <a:off x="5597972" y="163154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58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1845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27006348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1395380" y="325538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1905293" y="346107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597972" y="433115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Ok Bağlayıcısı 25"/>
          <p:cNvCxnSpPr/>
          <p:nvPr/>
        </p:nvCxnSpPr>
        <p:spPr>
          <a:xfrm>
            <a:off x="5597972" y="202343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99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1845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27006348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1395380" y="325538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1905293" y="346107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597972" y="479561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Ok Bağlayıcısı 25"/>
          <p:cNvCxnSpPr/>
          <p:nvPr/>
        </p:nvCxnSpPr>
        <p:spPr>
          <a:xfrm>
            <a:off x="5597972" y="202343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36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1845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27006348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1395380" y="325538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1905293" y="346107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597972" y="501332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Ok Bağlayıcısı 25"/>
          <p:cNvCxnSpPr/>
          <p:nvPr/>
        </p:nvCxnSpPr>
        <p:spPr>
          <a:xfrm>
            <a:off x="5597972" y="202343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91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18455057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1905293" y="3461074"/>
            <a:ext cx="27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597972" y="164606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448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18455057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597972" y="164606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700306" y="2213109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1210219" y="2418795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Düz Ok Bağlayıcısı 26"/>
          <p:cNvCxnSpPr/>
          <p:nvPr/>
        </p:nvCxnSpPr>
        <p:spPr>
          <a:xfrm>
            <a:off x="5597972" y="615995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1905293" y="3461074"/>
            <a:ext cx="27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0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24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597972" y="126869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1905293" y="3461074"/>
            <a:ext cx="27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855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7292454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597972" y="126869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569550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1905293" y="3461074"/>
            <a:ext cx="27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37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5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1905293" y="3461074"/>
            <a:ext cx="27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312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94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31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126869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433115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064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126869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478109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65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126869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547778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21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126869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592772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23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126869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614543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14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3550243" y="222741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4060156" y="243310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163154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433115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69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3550243" y="222741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4060156" y="243310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163154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479561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09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3550243" y="222741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4060156" y="243310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163154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547778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71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3550243" y="222741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4060156" y="243310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163154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592772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47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3550243" y="222741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4060156" y="243310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163154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614543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57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927047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4251148" y="3255601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4761061" y="3461287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202343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431663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19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927047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4251148" y="3255601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4761061" y="3461287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202343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479560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31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927047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4251148" y="3255601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4761061" y="3461287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202343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546326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40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927047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4251148" y="3255601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4761061" y="3461287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202343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594223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336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927047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4251148" y="3255601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4761061" y="3461287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202343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614543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11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927047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4251148" y="3255601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4761061" y="3461287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202343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614543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üz Bağlayıcı 29"/>
          <p:cNvCxnSpPr>
            <a:stCxn id="52" idx="3"/>
          </p:cNvCxnSpPr>
          <p:nvPr/>
        </p:nvCxnSpPr>
        <p:spPr>
          <a:xfrm flipH="1">
            <a:off x="4994275" y="3583590"/>
            <a:ext cx="175431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4677104" y="3720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9" name="Metin kutusu 38"/>
          <p:cNvSpPr txBox="1"/>
          <p:nvPr/>
        </p:nvSpPr>
        <p:spPr>
          <a:xfrm>
            <a:off x="5263389" y="371534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40" name="Düz Bağlayıcı 39"/>
          <p:cNvCxnSpPr>
            <a:stCxn id="52" idx="5"/>
          </p:cNvCxnSpPr>
          <p:nvPr/>
        </p:nvCxnSpPr>
        <p:spPr>
          <a:xfrm>
            <a:off x="5435189" y="3583590"/>
            <a:ext cx="170397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63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9270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05612975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6127704" y="3715671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 flipH="1">
            <a:off x="5861469" y="3921357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237177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433114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üz Bağlayıcı 29"/>
          <p:cNvCxnSpPr>
            <a:stCxn id="52" idx="3"/>
          </p:cNvCxnSpPr>
          <p:nvPr/>
        </p:nvCxnSpPr>
        <p:spPr>
          <a:xfrm flipH="1">
            <a:off x="4994275" y="3583590"/>
            <a:ext cx="175431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4677104" y="3720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9" name="Metin kutusu 38"/>
          <p:cNvSpPr txBox="1"/>
          <p:nvPr/>
        </p:nvSpPr>
        <p:spPr>
          <a:xfrm>
            <a:off x="5263389" y="371534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40" name="Düz Bağlayıcı 39"/>
          <p:cNvCxnSpPr>
            <a:stCxn id="52" idx="5"/>
          </p:cNvCxnSpPr>
          <p:nvPr/>
        </p:nvCxnSpPr>
        <p:spPr>
          <a:xfrm>
            <a:off x="5435189" y="3583590"/>
            <a:ext cx="170397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78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9270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05612975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6127704" y="3715671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 flipH="1">
            <a:off x="5861469" y="3921357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237177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478109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üz Bağlayıcı 29"/>
          <p:cNvCxnSpPr>
            <a:stCxn id="52" idx="3"/>
          </p:cNvCxnSpPr>
          <p:nvPr/>
        </p:nvCxnSpPr>
        <p:spPr>
          <a:xfrm flipH="1">
            <a:off x="4994275" y="3583590"/>
            <a:ext cx="175431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4677104" y="3720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9" name="Metin kutusu 38"/>
          <p:cNvSpPr txBox="1"/>
          <p:nvPr/>
        </p:nvSpPr>
        <p:spPr>
          <a:xfrm>
            <a:off x="5263389" y="371534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40" name="Düz Bağlayıcı 39"/>
          <p:cNvCxnSpPr>
            <a:stCxn id="52" idx="5"/>
          </p:cNvCxnSpPr>
          <p:nvPr/>
        </p:nvCxnSpPr>
        <p:spPr>
          <a:xfrm>
            <a:off x="5435189" y="3583590"/>
            <a:ext cx="170397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46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9270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null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05612975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8" name="Metin kutusu 27"/>
          <p:cNvSpPr txBox="1"/>
          <p:nvPr/>
        </p:nvSpPr>
        <p:spPr>
          <a:xfrm>
            <a:off x="6127704" y="3715671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32" name="Düz Ok Bağlayıcısı 31"/>
          <p:cNvCxnSpPr/>
          <p:nvPr/>
        </p:nvCxnSpPr>
        <p:spPr>
          <a:xfrm flipH="1">
            <a:off x="5861469" y="3921357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237177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97972" y="502783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üz Bağlayıcı 29"/>
          <p:cNvCxnSpPr>
            <a:stCxn id="52" idx="3"/>
          </p:cNvCxnSpPr>
          <p:nvPr/>
        </p:nvCxnSpPr>
        <p:spPr>
          <a:xfrm flipH="1">
            <a:off x="4994275" y="3583590"/>
            <a:ext cx="175431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4677104" y="3720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9" name="Metin kutusu 38"/>
          <p:cNvSpPr txBox="1"/>
          <p:nvPr/>
        </p:nvSpPr>
        <p:spPr>
          <a:xfrm>
            <a:off x="5263389" y="371534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40" name="Düz Bağlayıcı 39"/>
          <p:cNvCxnSpPr>
            <a:stCxn id="52" idx="5"/>
          </p:cNvCxnSpPr>
          <p:nvPr/>
        </p:nvCxnSpPr>
        <p:spPr>
          <a:xfrm>
            <a:off x="5435189" y="3583590"/>
            <a:ext cx="170397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5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927047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32" name="Düz Ok Bağlayıcısı 31"/>
          <p:cNvCxnSpPr/>
          <p:nvPr/>
        </p:nvCxnSpPr>
        <p:spPr>
          <a:xfrm flipH="1">
            <a:off x="5861469" y="3921357"/>
            <a:ext cx="27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597972" y="200891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üz Bağlayıcı 29"/>
          <p:cNvCxnSpPr>
            <a:stCxn id="52" idx="3"/>
          </p:cNvCxnSpPr>
          <p:nvPr/>
        </p:nvCxnSpPr>
        <p:spPr>
          <a:xfrm flipH="1">
            <a:off x="4994275" y="3583590"/>
            <a:ext cx="175431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4677104" y="3720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9" name="Metin kutusu 38"/>
          <p:cNvSpPr txBox="1"/>
          <p:nvPr/>
        </p:nvSpPr>
        <p:spPr>
          <a:xfrm>
            <a:off x="5263389" y="371534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40" name="Düz Bağlayıcı 39"/>
          <p:cNvCxnSpPr>
            <a:stCxn id="52" idx="5"/>
          </p:cNvCxnSpPr>
          <p:nvPr/>
        </p:nvCxnSpPr>
        <p:spPr>
          <a:xfrm>
            <a:off x="5435189" y="3583590"/>
            <a:ext cx="170397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8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38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927047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597972" y="200891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üz Bağlayıcı 29"/>
          <p:cNvCxnSpPr>
            <a:stCxn id="52" idx="3"/>
          </p:cNvCxnSpPr>
          <p:nvPr/>
        </p:nvCxnSpPr>
        <p:spPr>
          <a:xfrm flipH="1">
            <a:off x="4994275" y="3583590"/>
            <a:ext cx="175431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4677104" y="3720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9" name="Metin kutusu 38"/>
          <p:cNvSpPr txBox="1"/>
          <p:nvPr/>
        </p:nvSpPr>
        <p:spPr>
          <a:xfrm>
            <a:off x="5263389" y="371534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40" name="Düz Bağlayıcı 39"/>
          <p:cNvCxnSpPr>
            <a:stCxn id="52" idx="5"/>
          </p:cNvCxnSpPr>
          <p:nvPr/>
        </p:nvCxnSpPr>
        <p:spPr>
          <a:xfrm>
            <a:off x="5435189" y="3583590"/>
            <a:ext cx="170397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4251148" y="3255601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4761061" y="3461287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5597972" y="615994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 flipH="1">
            <a:off x="5861469" y="3921357"/>
            <a:ext cx="27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86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597972" y="163154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üz Bağlayıcı 29"/>
          <p:cNvCxnSpPr>
            <a:stCxn id="52" idx="3"/>
          </p:cNvCxnSpPr>
          <p:nvPr/>
        </p:nvCxnSpPr>
        <p:spPr>
          <a:xfrm flipH="1">
            <a:off x="4994275" y="3583590"/>
            <a:ext cx="175431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4677104" y="3720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9" name="Metin kutusu 38"/>
          <p:cNvSpPr txBox="1"/>
          <p:nvPr/>
        </p:nvSpPr>
        <p:spPr>
          <a:xfrm>
            <a:off x="5263389" y="371534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40" name="Düz Bağlayıcı 39"/>
          <p:cNvCxnSpPr>
            <a:stCxn id="52" idx="5"/>
          </p:cNvCxnSpPr>
          <p:nvPr/>
        </p:nvCxnSpPr>
        <p:spPr>
          <a:xfrm>
            <a:off x="5435189" y="3583590"/>
            <a:ext cx="170397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 flipH="1">
            <a:off x="5861469" y="3921357"/>
            <a:ext cx="27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8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79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53523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597972" y="163154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üz Bağlayıcı 29"/>
          <p:cNvCxnSpPr>
            <a:stCxn id="52" idx="3"/>
          </p:cNvCxnSpPr>
          <p:nvPr/>
        </p:nvCxnSpPr>
        <p:spPr>
          <a:xfrm flipH="1">
            <a:off x="4994275" y="3583590"/>
            <a:ext cx="175431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4677104" y="3720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9" name="Metin kutusu 38"/>
          <p:cNvSpPr txBox="1"/>
          <p:nvPr/>
        </p:nvSpPr>
        <p:spPr>
          <a:xfrm>
            <a:off x="5263389" y="371534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40" name="Düz Bağlayıcı 39"/>
          <p:cNvCxnSpPr>
            <a:stCxn id="52" idx="5"/>
          </p:cNvCxnSpPr>
          <p:nvPr/>
        </p:nvCxnSpPr>
        <p:spPr>
          <a:xfrm>
            <a:off x="5435189" y="3583590"/>
            <a:ext cx="170397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3550243" y="2227417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4060156" y="2433103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5597972" y="615994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 flipH="1">
            <a:off x="5861469" y="3921357"/>
            <a:ext cx="27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96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597972" y="126868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üz Bağlayıcı 29"/>
          <p:cNvCxnSpPr>
            <a:stCxn id="52" idx="3"/>
          </p:cNvCxnSpPr>
          <p:nvPr/>
        </p:nvCxnSpPr>
        <p:spPr>
          <a:xfrm flipH="1">
            <a:off x="4994275" y="3583590"/>
            <a:ext cx="175431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4677104" y="3720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9" name="Metin kutusu 38"/>
          <p:cNvSpPr txBox="1"/>
          <p:nvPr/>
        </p:nvSpPr>
        <p:spPr>
          <a:xfrm>
            <a:off x="5263389" y="371534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40" name="Düz Bağlayıcı 39"/>
          <p:cNvCxnSpPr>
            <a:stCxn id="52" idx="5"/>
          </p:cNvCxnSpPr>
          <p:nvPr/>
        </p:nvCxnSpPr>
        <p:spPr>
          <a:xfrm>
            <a:off x="5435189" y="3583590"/>
            <a:ext cx="170397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 flipH="1">
            <a:off x="5861469" y="3921357"/>
            <a:ext cx="27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8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17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ara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1234539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7" name="Metin kutusu 56"/>
          <p:cNvSpPr txBox="1"/>
          <p:nvPr/>
        </p:nvSpPr>
        <p:spPr>
          <a:xfrm>
            <a:off x="392377" y="564657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anahtar = 10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597972" y="126868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üz Bağlayıcı 29"/>
          <p:cNvCxnSpPr>
            <a:stCxn id="52" idx="3"/>
          </p:cNvCxnSpPr>
          <p:nvPr/>
        </p:nvCxnSpPr>
        <p:spPr>
          <a:xfrm flipH="1">
            <a:off x="4994275" y="3583590"/>
            <a:ext cx="175431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4677104" y="3720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9" name="Metin kutusu 38"/>
          <p:cNvSpPr txBox="1"/>
          <p:nvPr/>
        </p:nvSpPr>
        <p:spPr>
          <a:xfrm>
            <a:off x="5263389" y="371534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40" name="Düz Bağlayıcı 39"/>
          <p:cNvCxnSpPr>
            <a:stCxn id="52" idx="5"/>
          </p:cNvCxnSpPr>
          <p:nvPr/>
        </p:nvCxnSpPr>
        <p:spPr>
          <a:xfrm>
            <a:off x="5435189" y="3583590"/>
            <a:ext cx="170397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Ok Bağlayıcısı 25"/>
          <p:cNvCxnSpPr/>
          <p:nvPr/>
        </p:nvCxnSpPr>
        <p:spPr>
          <a:xfrm>
            <a:off x="5597972" y="615994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28" name="Düz Ok Bağlayıcısı 27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 flipH="1">
            <a:off x="5861469" y="3921357"/>
            <a:ext cx="27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93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5940284" y="4129990"/>
            <a:ext cx="369590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72000" bIns="72000" rtlCol="0">
            <a:spAutoFit/>
          </a:bodyPr>
          <a:lstStyle/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2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3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4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5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6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7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8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9</a:t>
            </a:r>
          </a:p>
          <a:p>
            <a:pPr algn="r">
              <a:buClr>
                <a:schemeClr val="tx1"/>
              </a:buClr>
            </a:pPr>
            <a:r>
              <a:rPr lang="tr-TR" sz="1500" dirty="0" smtClean="0">
                <a:latin typeface="Lucida Console" panose="020B0609040504020204" pitchFamily="49" charset="0"/>
              </a:rPr>
              <a:t>10</a:t>
            </a:r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/>
          </p:nvPr>
        </p:nvGraphicFramePr>
        <p:xfrm>
          <a:off x="5940285" y="708677"/>
          <a:ext cx="62332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76">
                  <a:extLst>
                    <a:ext uri="{9D8B030D-6E8A-4147-A177-3AD203B41FA5}">
                      <a16:colId xmlns="" xmlns:a16="http://schemas.microsoft.com/office/drawing/2014/main" val="2827825295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2811641559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3350166924"/>
                    </a:ext>
                  </a:extLst>
                </a:gridCol>
                <a:gridCol w="1352945">
                  <a:extLst>
                    <a:ext uri="{9D8B030D-6E8A-4147-A177-3AD203B41FA5}">
                      <a16:colId xmlns="" xmlns:a16="http://schemas.microsoft.com/office/drawing/2014/main" val="1842685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metot çağrımı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satır no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kok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anahtar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4606229"/>
                  </a:ext>
                </a:extLst>
              </a:tr>
            </a:tbl>
          </a:graphicData>
        </a:graphic>
      </p:graphicFrame>
      <p:sp>
        <p:nvSpPr>
          <p:cNvPr id="36" name="Metin kutusu 35"/>
          <p:cNvSpPr txBox="1"/>
          <p:nvPr/>
        </p:nvSpPr>
        <p:spPr>
          <a:xfrm>
            <a:off x="6309874" y="4129990"/>
            <a:ext cx="5863621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AgacDugumu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sol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endParaRPr lang="tr-TR" sz="15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anahtar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 smtClean="0">
              <a:latin typeface="Lucida Console" panose="020B0609040504020204" pitchFamily="49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916655" y="1259615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6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>
            <a:stCxn id="13" idx="3"/>
          </p:cNvCxnSpPr>
          <p:nvPr/>
        </p:nvCxnSpPr>
        <p:spPr>
          <a:xfrm flipH="1">
            <a:off x="1749985" y="1580081"/>
            <a:ext cx="1221653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>
            <a:stCxn id="13" idx="5"/>
          </p:cNvCxnSpPr>
          <p:nvPr/>
        </p:nvCxnSpPr>
        <p:spPr>
          <a:xfrm>
            <a:off x="3237121" y="1580081"/>
            <a:ext cx="1365362" cy="6596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2261" y="2239750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Bağlayıcı 21"/>
          <p:cNvCxnSpPr>
            <a:stCxn id="21" idx="3"/>
          </p:cNvCxnSpPr>
          <p:nvPr/>
        </p:nvCxnSpPr>
        <p:spPr>
          <a:xfrm flipH="1">
            <a:off x="1047041" y="2560216"/>
            <a:ext cx="570202" cy="7146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1882349" y="2560216"/>
            <a:ext cx="550591" cy="7146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14758" y="2239747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>
            <a:stCxn id="35" idx="5"/>
          </p:cNvCxnSpPr>
          <p:nvPr/>
        </p:nvCxnSpPr>
        <p:spPr>
          <a:xfrm>
            <a:off x="4735224" y="2560213"/>
            <a:ext cx="544660" cy="70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/>
          <p:cNvCxnSpPr>
            <a:stCxn id="35" idx="3"/>
          </p:cNvCxnSpPr>
          <p:nvPr/>
        </p:nvCxnSpPr>
        <p:spPr>
          <a:xfrm flipH="1">
            <a:off x="3900513" y="2560213"/>
            <a:ext cx="569228" cy="7029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59317" y="3274862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261608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686617" y="3269348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5114723" y="3263124"/>
            <a:ext cx="375449" cy="37544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9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Bağlayıcı 29"/>
          <p:cNvCxnSpPr>
            <a:stCxn id="52" idx="3"/>
          </p:cNvCxnSpPr>
          <p:nvPr/>
        </p:nvCxnSpPr>
        <p:spPr>
          <a:xfrm flipH="1">
            <a:off x="4994275" y="3583590"/>
            <a:ext cx="175431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4677104" y="3720854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sp>
        <p:nvSpPr>
          <p:cNvPr id="39" name="Metin kutusu 38"/>
          <p:cNvSpPr txBox="1"/>
          <p:nvPr/>
        </p:nvSpPr>
        <p:spPr>
          <a:xfrm>
            <a:off x="5263389" y="3715340"/>
            <a:ext cx="656593" cy="45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null</a:t>
            </a:r>
            <a:endParaRPr lang="tr-TR" sz="2000" dirty="0"/>
          </a:p>
        </p:txBody>
      </p:sp>
      <p:cxnSp>
        <p:nvCxnSpPr>
          <p:cNvPr id="40" name="Düz Bağlayıcı 39"/>
          <p:cNvCxnSpPr>
            <a:stCxn id="52" idx="5"/>
          </p:cNvCxnSpPr>
          <p:nvPr/>
        </p:nvCxnSpPr>
        <p:spPr>
          <a:xfrm>
            <a:off x="5435189" y="3583590"/>
            <a:ext cx="170397" cy="20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2027981" y="1225148"/>
            <a:ext cx="544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kok</a:t>
            </a:r>
            <a:endParaRPr lang="tr-TR" sz="2000" dirty="0"/>
          </a:p>
        </p:txBody>
      </p:sp>
      <p:cxnSp>
        <p:nvCxnSpPr>
          <p:cNvPr id="28" name="Düz Ok Bağlayıcısı 27"/>
          <p:cNvCxnSpPr/>
          <p:nvPr/>
        </p:nvCxnSpPr>
        <p:spPr>
          <a:xfrm>
            <a:off x="2537894" y="1430834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 flipH="1">
            <a:off x="5861469" y="3921357"/>
            <a:ext cx="27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9309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54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Generic</a:t>
            </a:r>
            <a:r>
              <a:rPr lang="tr-TR" dirty="0" smtClean="0"/>
              <a:t> </a:t>
            </a:r>
            <a:r>
              <a:rPr lang="tr-TR" dirty="0" err="1" smtClean="0"/>
              <a:t>İkiliAgacDugum</a:t>
            </a:r>
            <a:r>
              <a:rPr lang="tr-TR" dirty="0" smtClean="0"/>
              <a:t> Sınıfı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IkiliAgacDugum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extends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Comparable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&lt;E&gt;&gt;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E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Düğümün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sakladığı nesne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IkiliAgacDugum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Sol çocuk düğümün referansı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IkiliAgacDugum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Sağ çocuk düğümün referansı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IkiliAgacDugum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(E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Düğümün verisini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ata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Sol çocuk başlangıçta boş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Sağ çocuk başlangıçta boş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28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Maksimum Değere Sahip Düğüm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IkiliAgacDugum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maxDeger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IkiliAgacDugum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dugum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Düğümü sol çocuğa taşı ve en küçük değeri ara</a:t>
            </a:r>
            <a:endParaRPr lang="tr-TR" dirty="0" smtClean="0">
              <a:solidFill>
                <a:srgbClr val="6A3E3E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dugum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En küçük değeri döndür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484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Minimum </a:t>
            </a:r>
            <a:r>
              <a:rPr lang="tr-TR" dirty="0"/>
              <a:t>Değere Sahip Düğüm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IkiliAgacDugum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minDeger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IkiliAgacDugum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dugum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Düğümü sol çocuğa taşı ve en küçük değeri ara</a:t>
            </a:r>
            <a:endParaRPr lang="tr-TR" dirty="0" smtClean="0">
              <a:solidFill>
                <a:srgbClr val="6A3E3E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dugum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En küçük değeri döndür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2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Öğe Arama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IkiliAgacDugum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E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"Ağaçta 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 bulundu</a:t>
            </a:r>
            <a:r>
              <a:rPr lang="tr-TR" dirty="0" smtClean="0">
                <a:solidFill>
                  <a:srgbClr val="2A00FF"/>
                </a:solidFill>
                <a:latin typeface="Consolas" panose="020B0609020204030204" pitchFamily="49" charset="0"/>
              </a:rPr>
              <a:t>."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.compareTo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&lt; 0) {</a:t>
            </a: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sol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alt ağaçta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ara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sağ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alt ağaçta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ara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70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Öğe Ekleme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118</a:t>
            </a:fld>
            <a:endParaRPr lang="en-US" dirty="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3897505" y="1448972"/>
            <a:ext cx="4396989" cy="4433848"/>
            <a:chOff x="3424" y="766"/>
            <a:chExt cx="1588" cy="2347"/>
          </a:xfrm>
        </p:grpSpPr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4331" y="1525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6</a:t>
              </a:r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3878" y="1978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2</a:t>
              </a:r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4785" y="1979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8</a:t>
              </a:r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3424" y="2432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1</a:t>
              </a:r>
            </a:p>
          </p:txBody>
        </p:sp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4331" y="2432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4</a:t>
              </a:r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3878" y="2886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 dirty="0">
                  <a:latin typeface="Arial" charset="0"/>
                </a:rPr>
                <a:t>3</a:t>
              </a: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 flipH="1">
              <a:off x="3621" y="2190"/>
              <a:ext cx="27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 flipH="1">
              <a:off x="4088" y="2635"/>
              <a:ext cx="27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 flipH="1">
              <a:off x="4083" y="1730"/>
              <a:ext cx="27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4088" y="2173"/>
              <a:ext cx="273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4537" y="1722"/>
              <a:ext cx="273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19" name="Oval 16"/>
            <p:cNvSpPr>
              <a:spLocks noChangeArrowheads="1"/>
            </p:cNvSpPr>
            <p:nvPr/>
          </p:nvSpPr>
          <p:spPr bwMode="auto">
            <a:xfrm>
              <a:off x="4764" y="2886"/>
              <a:ext cx="227" cy="22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>
                  <a:latin typeface="Arial" charset="0"/>
                </a:rPr>
                <a:t>5</a:t>
              </a: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4533" y="2630"/>
              <a:ext cx="273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4468" y="1026"/>
              <a:ext cx="0" cy="45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4138" y="766"/>
              <a:ext cx="594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tr-TR" sz="1800" dirty="0">
                  <a:latin typeface="Arial" charset="0"/>
                </a:rPr>
                <a:t>Insert 5</a:t>
              </a: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H="1">
              <a:off x="4150" y="1842"/>
              <a:ext cx="272" cy="27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4241" y="2160"/>
              <a:ext cx="227" cy="22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4604" y="2523"/>
              <a:ext cx="272" cy="27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348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Öğe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IkiliAgacDugum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 ekle(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IkiliAgacDugum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E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IkiliAgacDugum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"Ağaca eklendi: 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.compareTo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&lt; 0)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sol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alt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ağaca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.compareTo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&gt; 0)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sağ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alt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ağaca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06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Öğe Silme – Yaprak Düğüm</a:t>
            </a:r>
            <a:endParaRPr lang="tr-TR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1996487"/>
            <a:ext cx="8640000" cy="40540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120</a:t>
            </a:fld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5709138" y="3742164"/>
            <a:ext cx="773723" cy="56270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869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Öğe Silme – Sol Çocuğu var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121</a:t>
            </a:fld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1960775"/>
            <a:ext cx="8640000" cy="4125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ight Arrow 10"/>
          <p:cNvSpPr/>
          <p:nvPr/>
        </p:nvSpPr>
        <p:spPr>
          <a:xfrm>
            <a:off x="5709138" y="3742164"/>
            <a:ext cx="773723" cy="56270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96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Öğe Silme – Sağ Çocuğu var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122</a:t>
            </a:fld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2152079"/>
            <a:ext cx="8640000" cy="37428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ight Arrow 9"/>
          <p:cNvSpPr/>
          <p:nvPr/>
        </p:nvSpPr>
        <p:spPr>
          <a:xfrm>
            <a:off x="5709138" y="3742164"/>
            <a:ext cx="773723" cy="56270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688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Öğe Silme – Sol ve Sağ Çocuğu var</a:t>
            </a:r>
            <a:endParaRPr lang="tr-TR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2197088"/>
            <a:ext cx="8640000" cy="3652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123</a:t>
            </a:fld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5709138" y="3742164"/>
            <a:ext cx="773723" cy="56270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401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Öğe Silme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IkiliAgacDugum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 sil(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IkiliAgacDugum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E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.compareTo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&lt; 0)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sil(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soldan devam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.compareTo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&gt; 0)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sil(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sağdan devam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minDeger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sonraki düğümü bul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sil(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sağdan devam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sol çocuk yoksa, sağ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çocuğu geri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döndür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sağ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çocuk yoksa, sol çocuğu geri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döndür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263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İkili Arama Ağacı İşlemlerinin Analizi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Bir işlemin maliyeti, son erişilen düğümün derinliği ile doğru orantılıdır</a:t>
            </a:r>
            <a:r>
              <a:rPr lang="tr-TR" dirty="0" smtClean="0"/>
              <a:t>.</a:t>
            </a:r>
          </a:p>
          <a:p>
            <a:r>
              <a:rPr lang="tr-TR" dirty="0"/>
              <a:t>İyi Dengelenmiş Ağaç (Best Case):</a:t>
            </a:r>
          </a:p>
          <a:p>
            <a:pPr lvl="1"/>
            <a:r>
              <a:rPr lang="tr-TR" dirty="0"/>
              <a:t>İşlemler logaritmik maliyetle gerçekleşir.</a:t>
            </a:r>
          </a:p>
          <a:p>
            <a:pPr lvl="1"/>
            <a:r>
              <a:rPr lang="tr-TR" dirty="0"/>
              <a:t>Derinlik dengeli olduğu için erişim hızlıdır</a:t>
            </a:r>
            <a:r>
              <a:rPr lang="tr-TR" dirty="0" smtClean="0"/>
              <a:t>.</a:t>
            </a:r>
          </a:p>
          <a:p>
            <a:r>
              <a:rPr lang="tr-TR" dirty="0"/>
              <a:t>Devrik Ağaç (</a:t>
            </a:r>
            <a:r>
              <a:rPr lang="tr-TR" dirty="0" err="1"/>
              <a:t>Worst</a:t>
            </a:r>
            <a:r>
              <a:rPr lang="tr-TR" dirty="0"/>
              <a:t> Case):</a:t>
            </a:r>
          </a:p>
          <a:p>
            <a:pPr lvl="1"/>
            <a:r>
              <a:rPr lang="tr-TR" dirty="0"/>
              <a:t>İşlemler lineer maliyetle gerçekleşebilir.</a:t>
            </a:r>
          </a:p>
          <a:p>
            <a:pPr lvl="1"/>
            <a:r>
              <a:rPr lang="tr-TR" dirty="0"/>
              <a:t>Derinlik arttıkça erişim maliyeti kötüleşir.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32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Dengeleme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126</a:t>
            </a:fld>
            <a:endParaRPr lang="en-US" dirty="0"/>
          </a:p>
        </p:txBody>
      </p:sp>
      <p:pic>
        <p:nvPicPr>
          <p:cNvPr id="1026" name="Picture 2" descr="File:Unbalanced binary tree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55" y="2008505"/>
            <a:ext cx="3960000" cy="39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ile:AVLtreef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602" y="2008505"/>
            <a:ext cx="5760000" cy="256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ight Arrow 26"/>
          <p:cNvSpPr/>
          <p:nvPr/>
        </p:nvSpPr>
        <p:spPr>
          <a:xfrm>
            <a:off x="5008098" y="3290105"/>
            <a:ext cx="1087902" cy="71118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412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Dengeleme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127</a:t>
            </a:fld>
            <a:endParaRPr lang="en-US" dirty="0"/>
          </a:p>
        </p:txBody>
      </p:sp>
      <p:pic>
        <p:nvPicPr>
          <p:cNvPr id="3074" name="Picture 2" descr="https://assets.leetcode.com/uploads/2021/08/10/balance1-tree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000" y="1932052"/>
            <a:ext cx="6480000" cy="41384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54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08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Ogrenci</a:t>
            </a:r>
            <a:r>
              <a:rPr lang="tr-TR" dirty="0" smtClean="0"/>
              <a:t> Sınıfı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Ogrenci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ogrenciNo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adSoyad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Ogrenci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ogrenciNo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adSoyad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ogrenciNo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ogrenciNo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adSoyad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adSoyad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84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OgrenciDugum</a:t>
            </a:r>
            <a:r>
              <a:rPr lang="tr-TR" dirty="0" smtClean="0"/>
              <a:t> Sınıfı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OgrenciDugum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Ogrenci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ogr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        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Düğümün içerdiği veri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OgrenciDugum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Sol çocuk düğümün referansı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OgrenciDugum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Sağ çocuk düğümün referansı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OgrenciDugum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Ogrenci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ogr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ogr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ogr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    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Düğümün verisini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ata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Sol çocuk başlangıçta boş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Sağ çocuk başlangıçta boş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63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Öğrenci Ekleme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OgrenciDugum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OgrenciDugum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Ogrenci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ogr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){ 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OgrenciDugum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ogr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ogr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ogrenciNo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ogr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ogrenciNo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ogr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soldan devam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ogr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ogrenciNo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ogr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ogrenciNo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ekle(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ogr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sağdan devam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52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Öğrenci Arama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ara(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OgrenciDugum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numara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numara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ogr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ogrenciNo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ogr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ogrenciNo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 bulundu."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ogr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ogrenciNo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numara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solCocuk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numara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soldan devam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ara(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sagCocuk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numara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sağdan devam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04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 algn="ctr">
              <a:buNone/>
            </a:pPr>
            <a:r>
              <a:rPr lang="tr-TR" dirty="0" smtClean="0"/>
              <a:t>SON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7357</TotalTime>
  <Words>10012</Words>
  <Application>Microsoft Office PowerPoint</Application>
  <PresentationFormat>Widescreen</PresentationFormat>
  <Paragraphs>4614</Paragraphs>
  <Slides>133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133</vt:i4>
      </vt:variant>
    </vt:vector>
  </HeadingPairs>
  <TitlesOfParts>
    <vt:vector size="141" baseType="lpstr">
      <vt:lpstr>Arial</vt:lpstr>
      <vt:lpstr>Calibri</vt:lpstr>
      <vt:lpstr>Calibri Light</vt:lpstr>
      <vt:lpstr>Consolas</vt:lpstr>
      <vt:lpstr>Lucida Console</vt:lpstr>
      <vt:lpstr>Times New Roman</vt:lpstr>
      <vt:lpstr>Wingdings</vt:lpstr>
      <vt:lpstr>Office Theme</vt:lpstr>
      <vt:lpstr>Bölüm 10: Arama Ağaçları</vt:lpstr>
      <vt:lpstr>Arama Ağacı</vt:lpstr>
      <vt:lpstr>Temel İşlemler</vt:lpstr>
      <vt:lpstr>Arama Ağacı Türleri</vt:lpstr>
      <vt:lpstr>İkili Arama Ağacı</vt:lpstr>
      <vt:lpstr>Kırmızı-Siyah Ağaçlar</vt:lpstr>
      <vt:lpstr>AVL Ağacı</vt:lpstr>
      <vt:lpstr>PowerPoint Presentation</vt:lpstr>
      <vt:lpstr>Ağaç Düğümü Yapısı</vt:lpstr>
      <vt:lpstr>İkili Arama Ağacına Öğe Eklenmesi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Verilen Bir Anahtarı İkili Arama Ağacında Arama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Generic İkiliAgacDugum Sınıfı</vt:lpstr>
      <vt:lpstr>Maksimum Değere Sahip Düğüm</vt:lpstr>
      <vt:lpstr>Minimum Değere Sahip Düğüm</vt:lpstr>
      <vt:lpstr>Öğe Arama</vt:lpstr>
      <vt:lpstr>Öğe Ekleme</vt:lpstr>
      <vt:lpstr>Öğe Ekleme</vt:lpstr>
      <vt:lpstr>Öğe Silme – Yaprak Düğüm</vt:lpstr>
      <vt:lpstr>Öğe Silme – Sol Çocuğu var</vt:lpstr>
      <vt:lpstr>Öğe Silme – Sağ Çocuğu var</vt:lpstr>
      <vt:lpstr>Öğe Silme – Sol ve Sağ Çocuğu var</vt:lpstr>
      <vt:lpstr>Öğe Silme</vt:lpstr>
      <vt:lpstr>İkili Arama Ağacı İşlemlerinin Analizi</vt:lpstr>
      <vt:lpstr>Dengeleme</vt:lpstr>
      <vt:lpstr>Dengeleme</vt:lpstr>
      <vt:lpstr>PowerPoint Presentation</vt:lpstr>
      <vt:lpstr>Ogrenci Sınıfı</vt:lpstr>
      <vt:lpstr>OgrenciDugum Sınıfı</vt:lpstr>
      <vt:lpstr>Öğrenci Ekleme</vt:lpstr>
      <vt:lpstr>Öğrenci Arama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Arama Ağaçları</dc:title>
  <dc:creator>sercan</dc:creator>
  <cp:lastModifiedBy>sercan</cp:lastModifiedBy>
  <cp:revision>518</cp:revision>
  <dcterms:created xsi:type="dcterms:W3CDTF">2023-01-12T09:23:55Z</dcterms:created>
  <dcterms:modified xsi:type="dcterms:W3CDTF">2023-12-28T11:14:38Z</dcterms:modified>
</cp:coreProperties>
</file>