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292"/>
  </p:notesMasterIdLst>
  <p:sldIdLst>
    <p:sldId id="256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650" r:id="rId12"/>
    <p:sldId id="338" r:id="rId13"/>
    <p:sldId id="651" r:id="rId14"/>
    <p:sldId id="652" r:id="rId15"/>
    <p:sldId id="339" r:id="rId16"/>
    <p:sldId id="344" r:id="rId17"/>
    <p:sldId id="345" r:id="rId18"/>
    <p:sldId id="346" r:id="rId19"/>
    <p:sldId id="347" r:id="rId20"/>
    <p:sldId id="348" r:id="rId21"/>
    <p:sldId id="342" r:id="rId22"/>
    <p:sldId id="349" r:id="rId23"/>
    <p:sldId id="350" r:id="rId24"/>
    <p:sldId id="351" r:id="rId25"/>
    <p:sldId id="352" r:id="rId26"/>
    <p:sldId id="340" r:id="rId27"/>
    <p:sldId id="353" r:id="rId28"/>
    <p:sldId id="360" r:id="rId29"/>
    <p:sldId id="361" r:id="rId30"/>
    <p:sldId id="362" r:id="rId31"/>
    <p:sldId id="363" r:id="rId32"/>
    <p:sldId id="366" r:id="rId33"/>
    <p:sldId id="367" r:id="rId34"/>
    <p:sldId id="368" r:id="rId35"/>
    <p:sldId id="371" r:id="rId36"/>
    <p:sldId id="372" r:id="rId37"/>
    <p:sldId id="373" r:id="rId38"/>
    <p:sldId id="376" r:id="rId39"/>
    <p:sldId id="377" r:id="rId40"/>
    <p:sldId id="378" r:id="rId41"/>
    <p:sldId id="379" r:id="rId42"/>
    <p:sldId id="380" r:id="rId43"/>
    <p:sldId id="383" r:id="rId44"/>
    <p:sldId id="354" r:id="rId45"/>
    <p:sldId id="384" r:id="rId46"/>
    <p:sldId id="385" r:id="rId47"/>
    <p:sldId id="386" r:id="rId48"/>
    <p:sldId id="387" r:id="rId49"/>
    <p:sldId id="388" r:id="rId50"/>
    <p:sldId id="389" r:id="rId51"/>
    <p:sldId id="392" r:id="rId52"/>
    <p:sldId id="394" r:id="rId53"/>
    <p:sldId id="395" r:id="rId54"/>
    <p:sldId id="396" r:id="rId55"/>
    <p:sldId id="397" r:id="rId56"/>
    <p:sldId id="399" r:id="rId57"/>
    <p:sldId id="400" r:id="rId58"/>
    <p:sldId id="401" r:id="rId59"/>
    <p:sldId id="402" r:id="rId60"/>
    <p:sldId id="405" r:id="rId61"/>
    <p:sldId id="406" r:id="rId62"/>
    <p:sldId id="407" r:id="rId63"/>
    <p:sldId id="410" r:id="rId64"/>
    <p:sldId id="412" r:id="rId65"/>
    <p:sldId id="413" r:id="rId66"/>
    <p:sldId id="414" r:id="rId67"/>
    <p:sldId id="415" r:id="rId68"/>
    <p:sldId id="417" r:id="rId69"/>
    <p:sldId id="418" r:id="rId70"/>
    <p:sldId id="419" r:id="rId71"/>
    <p:sldId id="420" r:id="rId72"/>
    <p:sldId id="423" r:id="rId73"/>
    <p:sldId id="424" r:id="rId74"/>
    <p:sldId id="425" r:id="rId75"/>
    <p:sldId id="355" r:id="rId76"/>
    <p:sldId id="426" r:id="rId77"/>
    <p:sldId id="427" r:id="rId78"/>
    <p:sldId id="428" r:id="rId79"/>
    <p:sldId id="429" r:id="rId80"/>
    <p:sldId id="430" r:id="rId81"/>
    <p:sldId id="431" r:id="rId82"/>
    <p:sldId id="433" r:id="rId83"/>
    <p:sldId id="434" r:id="rId84"/>
    <p:sldId id="435" r:id="rId85"/>
    <p:sldId id="436" r:id="rId86"/>
    <p:sldId id="437" r:id="rId87"/>
    <p:sldId id="438" r:id="rId88"/>
    <p:sldId id="439" r:id="rId89"/>
    <p:sldId id="440" r:id="rId90"/>
    <p:sldId id="441" r:id="rId91"/>
    <p:sldId id="442" r:id="rId92"/>
    <p:sldId id="443" r:id="rId93"/>
    <p:sldId id="444" r:id="rId94"/>
    <p:sldId id="445" r:id="rId95"/>
    <p:sldId id="446" r:id="rId96"/>
    <p:sldId id="447" r:id="rId97"/>
    <p:sldId id="448" r:id="rId98"/>
    <p:sldId id="449" r:id="rId99"/>
    <p:sldId id="450" r:id="rId100"/>
    <p:sldId id="451" r:id="rId101"/>
    <p:sldId id="452" r:id="rId102"/>
    <p:sldId id="453" r:id="rId103"/>
    <p:sldId id="454" r:id="rId104"/>
    <p:sldId id="455" r:id="rId105"/>
    <p:sldId id="456" r:id="rId106"/>
    <p:sldId id="457" r:id="rId107"/>
    <p:sldId id="458" r:id="rId108"/>
    <p:sldId id="459" r:id="rId109"/>
    <p:sldId id="460" r:id="rId110"/>
    <p:sldId id="461" r:id="rId111"/>
    <p:sldId id="462" r:id="rId112"/>
    <p:sldId id="463" r:id="rId113"/>
    <p:sldId id="464" r:id="rId114"/>
    <p:sldId id="465" r:id="rId115"/>
    <p:sldId id="466" r:id="rId116"/>
    <p:sldId id="467" r:id="rId117"/>
    <p:sldId id="468" r:id="rId118"/>
    <p:sldId id="469" r:id="rId119"/>
    <p:sldId id="470" r:id="rId120"/>
    <p:sldId id="471" r:id="rId121"/>
    <p:sldId id="472" r:id="rId122"/>
    <p:sldId id="473" r:id="rId123"/>
    <p:sldId id="474" r:id="rId124"/>
    <p:sldId id="475" r:id="rId125"/>
    <p:sldId id="476" r:id="rId126"/>
    <p:sldId id="477" r:id="rId127"/>
    <p:sldId id="478" r:id="rId128"/>
    <p:sldId id="479" r:id="rId129"/>
    <p:sldId id="480" r:id="rId130"/>
    <p:sldId id="481" r:id="rId131"/>
    <p:sldId id="482" r:id="rId132"/>
    <p:sldId id="483" r:id="rId133"/>
    <p:sldId id="484" r:id="rId134"/>
    <p:sldId id="485" r:id="rId135"/>
    <p:sldId id="486" r:id="rId136"/>
    <p:sldId id="487" r:id="rId137"/>
    <p:sldId id="488" r:id="rId138"/>
    <p:sldId id="489" r:id="rId139"/>
    <p:sldId id="490" r:id="rId140"/>
    <p:sldId id="491" r:id="rId141"/>
    <p:sldId id="492" r:id="rId142"/>
    <p:sldId id="493" r:id="rId143"/>
    <p:sldId id="494" r:id="rId144"/>
    <p:sldId id="495" r:id="rId145"/>
    <p:sldId id="496" r:id="rId146"/>
    <p:sldId id="497" r:id="rId147"/>
    <p:sldId id="498" r:id="rId148"/>
    <p:sldId id="499" r:id="rId149"/>
    <p:sldId id="500" r:id="rId150"/>
    <p:sldId id="501" r:id="rId151"/>
    <p:sldId id="502" r:id="rId152"/>
    <p:sldId id="503" r:id="rId153"/>
    <p:sldId id="504" r:id="rId154"/>
    <p:sldId id="505" r:id="rId155"/>
    <p:sldId id="506" r:id="rId156"/>
    <p:sldId id="507" r:id="rId157"/>
    <p:sldId id="508" r:id="rId158"/>
    <p:sldId id="509" r:id="rId159"/>
    <p:sldId id="510" r:id="rId160"/>
    <p:sldId id="511" r:id="rId161"/>
    <p:sldId id="512" r:id="rId162"/>
    <p:sldId id="513" r:id="rId163"/>
    <p:sldId id="514" r:id="rId164"/>
    <p:sldId id="515" r:id="rId165"/>
    <p:sldId id="516" r:id="rId166"/>
    <p:sldId id="517" r:id="rId167"/>
    <p:sldId id="518" r:id="rId168"/>
    <p:sldId id="519" r:id="rId169"/>
    <p:sldId id="520" r:id="rId170"/>
    <p:sldId id="521" r:id="rId171"/>
    <p:sldId id="522" r:id="rId172"/>
    <p:sldId id="523" r:id="rId173"/>
    <p:sldId id="524" r:id="rId174"/>
    <p:sldId id="525" r:id="rId175"/>
    <p:sldId id="526" r:id="rId176"/>
    <p:sldId id="527" r:id="rId177"/>
    <p:sldId id="528" r:id="rId178"/>
    <p:sldId id="529" r:id="rId179"/>
    <p:sldId id="530" r:id="rId180"/>
    <p:sldId id="531" r:id="rId181"/>
    <p:sldId id="532" r:id="rId182"/>
    <p:sldId id="533" r:id="rId183"/>
    <p:sldId id="534" r:id="rId184"/>
    <p:sldId id="535" r:id="rId185"/>
    <p:sldId id="536" r:id="rId186"/>
    <p:sldId id="537" r:id="rId187"/>
    <p:sldId id="538" r:id="rId188"/>
    <p:sldId id="539" r:id="rId189"/>
    <p:sldId id="540" r:id="rId190"/>
    <p:sldId id="356" r:id="rId191"/>
    <p:sldId id="357" r:id="rId192"/>
    <p:sldId id="543" r:id="rId193"/>
    <p:sldId id="544" r:id="rId194"/>
    <p:sldId id="545" r:id="rId195"/>
    <p:sldId id="547" r:id="rId196"/>
    <p:sldId id="548" r:id="rId197"/>
    <p:sldId id="549" r:id="rId198"/>
    <p:sldId id="550" r:id="rId199"/>
    <p:sldId id="551" r:id="rId200"/>
    <p:sldId id="552" r:id="rId201"/>
    <p:sldId id="554" r:id="rId202"/>
    <p:sldId id="555" r:id="rId203"/>
    <p:sldId id="648" r:id="rId204"/>
    <p:sldId id="647" r:id="rId205"/>
    <p:sldId id="557" r:id="rId206"/>
    <p:sldId id="558" r:id="rId207"/>
    <p:sldId id="559" r:id="rId208"/>
    <p:sldId id="560" r:id="rId209"/>
    <p:sldId id="561" r:id="rId210"/>
    <p:sldId id="562" r:id="rId211"/>
    <p:sldId id="563" r:id="rId212"/>
    <p:sldId id="565" r:id="rId213"/>
    <p:sldId id="566" r:id="rId214"/>
    <p:sldId id="567" r:id="rId215"/>
    <p:sldId id="568" r:id="rId216"/>
    <p:sldId id="570" r:id="rId217"/>
    <p:sldId id="571" r:id="rId218"/>
    <p:sldId id="572" r:id="rId219"/>
    <p:sldId id="573" r:id="rId220"/>
    <p:sldId id="574" r:id="rId221"/>
    <p:sldId id="576" r:id="rId222"/>
    <p:sldId id="577" r:id="rId223"/>
    <p:sldId id="578" r:id="rId224"/>
    <p:sldId id="579" r:id="rId225"/>
    <p:sldId id="580" r:id="rId226"/>
    <p:sldId id="581" r:id="rId227"/>
    <p:sldId id="582" r:id="rId228"/>
    <p:sldId id="583" r:id="rId229"/>
    <p:sldId id="584" r:id="rId230"/>
    <p:sldId id="586" r:id="rId231"/>
    <p:sldId id="587" r:id="rId232"/>
    <p:sldId id="588" r:id="rId233"/>
    <p:sldId id="589" r:id="rId234"/>
    <p:sldId id="590" r:id="rId235"/>
    <p:sldId id="592" r:id="rId236"/>
    <p:sldId id="649" r:id="rId237"/>
    <p:sldId id="594" r:id="rId238"/>
    <p:sldId id="595" r:id="rId239"/>
    <p:sldId id="596" r:id="rId240"/>
    <p:sldId id="597" r:id="rId241"/>
    <p:sldId id="598" r:id="rId242"/>
    <p:sldId id="599" r:id="rId243"/>
    <p:sldId id="600" r:id="rId244"/>
    <p:sldId id="601" r:id="rId245"/>
    <p:sldId id="602" r:id="rId246"/>
    <p:sldId id="603" r:id="rId247"/>
    <p:sldId id="604" r:id="rId248"/>
    <p:sldId id="605" r:id="rId249"/>
    <p:sldId id="606" r:id="rId250"/>
    <p:sldId id="607" r:id="rId251"/>
    <p:sldId id="608" r:id="rId252"/>
    <p:sldId id="609" r:id="rId253"/>
    <p:sldId id="610" r:id="rId254"/>
    <p:sldId id="611" r:id="rId255"/>
    <p:sldId id="612" r:id="rId256"/>
    <p:sldId id="613" r:id="rId257"/>
    <p:sldId id="614" r:id="rId258"/>
    <p:sldId id="615" r:id="rId259"/>
    <p:sldId id="616" r:id="rId260"/>
    <p:sldId id="617" r:id="rId261"/>
    <p:sldId id="618" r:id="rId262"/>
    <p:sldId id="619" r:id="rId263"/>
    <p:sldId id="620" r:id="rId264"/>
    <p:sldId id="621" r:id="rId265"/>
    <p:sldId id="622" r:id="rId266"/>
    <p:sldId id="623" r:id="rId267"/>
    <p:sldId id="624" r:id="rId268"/>
    <p:sldId id="625" r:id="rId269"/>
    <p:sldId id="626" r:id="rId270"/>
    <p:sldId id="627" r:id="rId271"/>
    <p:sldId id="628" r:id="rId272"/>
    <p:sldId id="629" r:id="rId273"/>
    <p:sldId id="630" r:id="rId274"/>
    <p:sldId id="631" r:id="rId275"/>
    <p:sldId id="632" r:id="rId276"/>
    <p:sldId id="633" r:id="rId277"/>
    <p:sldId id="634" r:id="rId278"/>
    <p:sldId id="635" r:id="rId279"/>
    <p:sldId id="636" r:id="rId280"/>
    <p:sldId id="637" r:id="rId281"/>
    <p:sldId id="638" r:id="rId282"/>
    <p:sldId id="639" r:id="rId283"/>
    <p:sldId id="640" r:id="rId284"/>
    <p:sldId id="641" r:id="rId285"/>
    <p:sldId id="642" r:id="rId286"/>
    <p:sldId id="643" r:id="rId287"/>
    <p:sldId id="644" r:id="rId288"/>
    <p:sldId id="645" r:id="rId289"/>
    <p:sldId id="646" r:id="rId290"/>
    <p:sldId id="312" r:id="rId2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68" Type="http://schemas.openxmlformats.org/officeDocument/2006/relationships/slide" Target="slides/slide267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79" Type="http://schemas.openxmlformats.org/officeDocument/2006/relationships/slide" Target="slides/slide278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slide" Target="slides/slide249.xml"/><Relationship Id="rId255" Type="http://schemas.openxmlformats.org/officeDocument/2006/relationships/slide" Target="slides/slide254.xml"/><Relationship Id="rId271" Type="http://schemas.openxmlformats.org/officeDocument/2006/relationships/slide" Target="slides/slide270.xml"/><Relationship Id="rId276" Type="http://schemas.openxmlformats.org/officeDocument/2006/relationships/slide" Target="slides/slide275.xml"/><Relationship Id="rId292" Type="http://schemas.openxmlformats.org/officeDocument/2006/relationships/notesMaster" Target="notesMasters/notesMaster1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slide" Target="slides/slide244.xml"/><Relationship Id="rId261" Type="http://schemas.openxmlformats.org/officeDocument/2006/relationships/slide" Target="slides/slide260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1" Type="http://schemas.openxmlformats.org/officeDocument/2006/relationships/slide" Target="slides/slide250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72" Type="http://schemas.openxmlformats.org/officeDocument/2006/relationships/slide" Target="slides/slide271.xml"/><Relationship Id="rId29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viewProps" Target="view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tableStyles" Target="tableStyles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24.12.2023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8: Öncelikli Kuyruk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Öncelikli Kuyruk </a:t>
            </a:r>
            <a:r>
              <a:rPr lang="tr-TR" dirty="0"/>
              <a:t>(</a:t>
            </a:r>
            <a:r>
              <a:rPr lang="tr-TR" dirty="0" err="1"/>
              <a:t>Priority</a:t>
            </a:r>
            <a:r>
              <a:rPr lang="tr-TR" dirty="0"/>
              <a:t>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Öğeler </a:t>
            </a:r>
            <a:r>
              <a:rPr lang="tr-TR" dirty="0"/>
              <a:t>öncelik sırasına göre </a:t>
            </a:r>
            <a:r>
              <a:rPr lang="tr-TR" dirty="0" smtClean="0"/>
              <a:t>saklanır</a:t>
            </a:r>
            <a:r>
              <a:rPr lang="tr-TR" dirty="0"/>
              <a:t>.</a:t>
            </a:r>
          </a:p>
          <a:p>
            <a:r>
              <a:rPr lang="tr-TR" dirty="0" smtClean="0"/>
              <a:t>Öncelikli </a:t>
            </a:r>
            <a:r>
              <a:rPr lang="tr-TR" dirty="0"/>
              <a:t>işlemlerin yönetiminde </a:t>
            </a:r>
            <a:r>
              <a:rPr lang="tr-TR" dirty="0" smtClean="0"/>
              <a:t>kullanılır.</a:t>
            </a:r>
          </a:p>
          <a:p>
            <a:r>
              <a:rPr lang="tr-TR" dirty="0" smtClean="0"/>
              <a:t>Kuyruktan en </a:t>
            </a:r>
            <a:r>
              <a:rPr lang="tr-TR" dirty="0"/>
              <a:t>yüksek öncelikli öğeyi çıkarmak </a:t>
            </a:r>
            <a:r>
              <a:rPr lang="tr-TR" dirty="0" smtClean="0"/>
              <a:t>için O(1</a:t>
            </a:r>
            <a:r>
              <a:rPr lang="tr-TR" dirty="0"/>
              <a:t>) zaman </a:t>
            </a:r>
            <a:r>
              <a:rPr lang="tr-TR" dirty="0" smtClean="0"/>
              <a:t>yeterlidir.</a:t>
            </a:r>
            <a:endParaRPr lang="tr-TR" dirty="0"/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 descr="Ambulansa Trafikte Anında Yol Açan Fermuar Sistemi Nedir?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2" y="3270249"/>
            <a:ext cx="5553075" cy="30861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02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Kavramlar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Öncelik Kuyruğu</a:t>
            </a:r>
            <a:r>
              <a:rPr lang="tr-TR" dirty="0"/>
              <a:t>: </a:t>
            </a:r>
            <a:r>
              <a:rPr lang="tr-TR" dirty="0" smtClean="0"/>
              <a:t>Öğelerin saklandığı </a:t>
            </a:r>
            <a:r>
              <a:rPr lang="tr-TR" dirty="0"/>
              <a:t>yapı.</a:t>
            </a:r>
          </a:p>
          <a:p>
            <a:r>
              <a:rPr lang="tr-TR" b="1" dirty="0"/>
              <a:t>Öncelik</a:t>
            </a:r>
            <a:r>
              <a:rPr lang="tr-TR" dirty="0"/>
              <a:t>: Her </a:t>
            </a:r>
            <a:r>
              <a:rPr lang="tr-TR" dirty="0" smtClean="0"/>
              <a:t>öğeye atanan öncelik </a:t>
            </a:r>
            <a:r>
              <a:rPr lang="tr-TR" dirty="0"/>
              <a:t>değeri.</a:t>
            </a:r>
          </a:p>
          <a:p>
            <a:r>
              <a:rPr lang="tr-TR" b="1" dirty="0"/>
              <a:t>En Yüksek Öncelik</a:t>
            </a:r>
            <a:r>
              <a:rPr lang="tr-TR" dirty="0"/>
              <a:t>: Kuyruğun başında bulunan </a:t>
            </a:r>
            <a:r>
              <a:rPr lang="tr-TR" dirty="0" smtClean="0"/>
              <a:t>düğümün öncelik değeri.</a:t>
            </a:r>
            <a:endParaRPr lang="tr-TR" dirty="0"/>
          </a:p>
          <a:p>
            <a:r>
              <a:rPr lang="tr-TR" b="1" dirty="0"/>
              <a:t>FIFO İlkesi</a:t>
            </a:r>
            <a:r>
              <a:rPr lang="tr-TR" dirty="0"/>
              <a:t>: </a:t>
            </a:r>
            <a:r>
              <a:rPr lang="tr-TR" dirty="0" smtClean="0"/>
              <a:t>Eşit öncelikteki öğeler arasındaki </a:t>
            </a:r>
            <a:r>
              <a:rPr lang="tr-TR" dirty="0"/>
              <a:t>sıra.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67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Kullanım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İşletim Sistemleri</a:t>
            </a:r>
            <a:r>
              <a:rPr lang="tr-TR" dirty="0"/>
              <a:t>: </a:t>
            </a:r>
            <a:r>
              <a:rPr lang="tr-TR" dirty="0" smtClean="0"/>
              <a:t>Görev sıralamasında </a:t>
            </a:r>
            <a:r>
              <a:rPr lang="tr-TR" dirty="0"/>
              <a:t>kullanılır.</a:t>
            </a:r>
          </a:p>
          <a:p>
            <a:r>
              <a:rPr lang="tr-TR" b="1" dirty="0" smtClean="0"/>
              <a:t>Çizge Algoritmaları</a:t>
            </a:r>
            <a:r>
              <a:rPr lang="tr-TR" dirty="0"/>
              <a:t>: </a:t>
            </a:r>
            <a:r>
              <a:rPr lang="tr-TR" dirty="0" err="1"/>
              <a:t>Dijkstra</a:t>
            </a:r>
            <a:r>
              <a:rPr lang="tr-TR" dirty="0"/>
              <a:t> ve A* algoritmaları gibi.</a:t>
            </a:r>
          </a:p>
          <a:p>
            <a:r>
              <a:rPr lang="tr-TR" b="1" dirty="0"/>
              <a:t>Acil Durum Yönetimi</a:t>
            </a:r>
            <a:r>
              <a:rPr lang="tr-TR" dirty="0"/>
              <a:t>: Hasta sıralaması ve olay yönetimi.</a:t>
            </a:r>
          </a:p>
          <a:p>
            <a:r>
              <a:rPr lang="tr-TR" b="1" dirty="0"/>
              <a:t>Veri Sıkıştırma</a:t>
            </a:r>
            <a:r>
              <a:rPr lang="tr-TR" dirty="0"/>
              <a:t>: </a:t>
            </a:r>
            <a:r>
              <a:rPr lang="tr-TR" dirty="0" err="1"/>
              <a:t>Huffman</a:t>
            </a:r>
            <a:r>
              <a:rPr lang="tr-TR" dirty="0"/>
              <a:t> kodlaması.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17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İşlemler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Ekleme (</a:t>
            </a:r>
            <a:r>
              <a:rPr lang="tr-TR" b="1" dirty="0" err="1"/>
              <a:t>Insertion</a:t>
            </a:r>
            <a:r>
              <a:rPr lang="tr-TR" b="1" dirty="0"/>
              <a:t>): </a:t>
            </a:r>
            <a:r>
              <a:rPr lang="tr-TR" dirty="0" smtClean="0"/>
              <a:t>Öğe </a:t>
            </a:r>
            <a:r>
              <a:rPr lang="tr-TR" dirty="0"/>
              <a:t>eklenirken </a:t>
            </a:r>
            <a:r>
              <a:rPr lang="tr-TR" dirty="0" smtClean="0"/>
              <a:t>konumu önceliğine </a:t>
            </a:r>
            <a:r>
              <a:rPr lang="tr-TR" dirty="0"/>
              <a:t>göre </a:t>
            </a:r>
            <a:r>
              <a:rPr lang="tr-TR" dirty="0" smtClean="0"/>
              <a:t>bulunur.</a:t>
            </a:r>
            <a:endParaRPr lang="tr-TR" dirty="0"/>
          </a:p>
          <a:p>
            <a:r>
              <a:rPr lang="tr-TR" b="1" dirty="0"/>
              <a:t>Çıkarma (</a:t>
            </a:r>
            <a:r>
              <a:rPr lang="tr-TR" b="1" dirty="0" err="1"/>
              <a:t>Extraction</a:t>
            </a:r>
            <a:r>
              <a:rPr lang="tr-TR" b="1" dirty="0"/>
              <a:t>): </a:t>
            </a:r>
            <a:r>
              <a:rPr lang="tr-TR" dirty="0"/>
              <a:t>En yüksek öncelikli </a:t>
            </a:r>
            <a:r>
              <a:rPr lang="tr-TR" dirty="0" smtClean="0"/>
              <a:t>öğe çıkarılır</a:t>
            </a:r>
            <a:r>
              <a:rPr lang="tr-TR" dirty="0"/>
              <a:t>.</a:t>
            </a:r>
          </a:p>
          <a:p>
            <a:r>
              <a:rPr lang="tr-TR" b="1" dirty="0"/>
              <a:t>Sorgulama (</a:t>
            </a:r>
            <a:r>
              <a:rPr lang="tr-TR" b="1" dirty="0" err="1"/>
              <a:t>Peek</a:t>
            </a:r>
            <a:r>
              <a:rPr lang="tr-TR" b="1" dirty="0"/>
              <a:t>): </a:t>
            </a:r>
            <a:r>
              <a:rPr lang="tr-TR" dirty="0"/>
              <a:t>Ö</a:t>
            </a:r>
            <a:r>
              <a:rPr lang="tr-TR" dirty="0" smtClean="0"/>
              <a:t>ncelikli öğeyi döndürür, kuyruktan çıkarmaz.</a:t>
            </a:r>
            <a:endParaRPr lang="tr-TR" dirty="0"/>
          </a:p>
          <a:p>
            <a:r>
              <a:rPr lang="tr-TR" b="1" dirty="0" smtClean="0"/>
              <a:t>Boş mu (</a:t>
            </a:r>
            <a:r>
              <a:rPr lang="tr-TR" b="1" dirty="0" err="1"/>
              <a:t>isEmpty</a:t>
            </a:r>
            <a:r>
              <a:rPr lang="tr-TR" b="1" dirty="0"/>
              <a:t>): </a:t>
            </a:r>
            <a:r>
              <a:rPr lang="tr-TR" dirty="0" smtClean="0"/>
              <a:t>Kuyruğun boş olup olmadığını söyler.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2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 </a:t>
            </a:r>
            <a:r>
              <a:rPr lang="tr-TR" dirty="0" smtClean="0"/>
              <a:t>Temsili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Öğeler basit bir şekilde dizide tutulur.</a:t>
            </a:r>
            <a:endParaRPr lang="tr-TR" dirty="0"/>
          </a:p>
          <a:p>
            <a:r>
              <a:rPr lang="tr-TR" dirty="0" smtClean="0"/>
              <a:t>Öncelikli öğe dizinin başında saklanır.</a:t>
            </a:r>
            <a:endParaRPr lang="tr-TR" dirty="0"/>
          </a:p>
          <a:p>
            <a:r>
              <a:rPr lang="tr-TR" dirty="0" smtClean="0"/>
              <a:t>Öğe ekleme ve çıkarma işlemlerinden sonra sıralama bozulabilir.</a:t>
            </a:r>
          </a:p>
          <a:p>
            <a:r>
              <a:rPr lang="tr-TR" dirty="0" smtClean="0"/>
              <a:t>Dizinin her işlemden sonra sıralı kalması zor ve karmaşık olabilir.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73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Bağlı Liste </a:t>
            </a:r>
            <a:r>
              <a:rPr lang="tr-TR" dirty="0" smtClean="0"/>
              <a:t>Temsili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Öğeler </a:t>
            </a:r>
            <a:r>
              <a:rPr lang="tr-TR" dirty="0"/>
              <a:t>bağlı liste </a:t>
            </a:r>
            <a:r>
              <a:rPr lang="tr-TR" dirty="0" smtClean="0"/>
              <a:t>yapısında saklanır.</a:t>
            </a:r>
            <a:endParaRPr lang="tr-TR" dirty="0"/>
          </a:p>
          <a:p>
            <a:r>
              <a:rPr lang="tr-TR" dirty="0" smtClean="0"/>
              <a:t>Öğeler önceliklerine </a:t>
            </a:r>
            <a:r>
              <a:rPr lang="tr-TR" dirty="0"/>
              <a:t>göre </a:t>
            </a:r>
            <a:r>
              <a:rPr lang="tr-TR" dirty="0" smtClean="0"/>
              <a:t>bağlı listede uygun konuma eklenir.</a:t>
            </a:r>
            <a:endParaRPr lang="tr-TR" dirty="0"/>
          </a:p>
          <a:p>
            <a:r>
              <a:rPr lang="tr-TR" dirty="0" smtClean="0"/>
              <a:t>Öncelikli öğe listenin başında saklanır.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46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İkili </a:t>
            </a:r>
            <a:r>
              <a:rPr lang="tr-TR" dirty="0" err="1" smtClean="0"/>
              <a:t>Heap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İkili </a:t>
            </a:r>
            <a:r>
              <a:rPr lang="tr-TR" dirty="0" err="1"/>
              <a:t>heap</a:t>
            </a:r>
            <a:r>
              <a:rPr lang="tr-TR" dirty="0"/>
              <a:t> (</a:t>
            </a:r>
            <a:r>
              <a:rPr lang="tr-TR" dirty="0" err="1"/>
              <a:t>min-heap</a:t>
            </a:r>
            <a:r>
              <a:rPr lang="tr-TR" dirty="0"/>
              <a:t> veya </a:t>
            </a:r>
            <a:r>
              <a:rPr lang="tr-TR" dirty="0" err="1"/>
              <a:t>max-heap</a:t>
            </a:r>
            <a:r>
              <a:rPr lang="tr-TR" dirty="0"/>
              <a:t>) </a:t>
            </a:r>
            <a:r>
              <a:rPr lang="tr-TR" dirty="0" smtClean="0"/>
              <a:t>yaygın </a:t>
            </a:r>
            <a:r>
              <a:rPr lang="tr-TR" dirty="0"/>
              <a:t>kullanılan </a:t>
            </a:r>
            <a:r>
              <a:rPr lang="tr-TR" dirty="0" smtClean="0"/>
              <a:t>bir veri </a:t>
            </a:r>
            <a:r>
              <a:rPr lang="tr-TR" dirty="0"/>
              <a:t>yapısıdır.</a:t>
            </a:r>
          </a:p>
          <a:p>
            <a:r>
              <a:rPr lang="tr-TR" dirty="0"/>
              <a:t>En yüksek öncelikli öğe </a:t>
            </a:r>
            <a:r>
              <a:rPr lang="tr-TR" dirty="0" smtClean="0"/>
              <a:t>kök düğümde </a:t>
            </a:r>
            <a:r>
              <a:rPr lang="tr-TR" dirty="0"/>
              <a:t>bulunur.</a:t>
            </a:r>
          </a:p>
          <a:p>
            <a:r>
              <a:rPr lang="tr-TR" dirty="0" smtClean="0"/>
              <a:t>Öğe ekleme </a:t>
            </a:r>
            <a:r>
              <a:rPr lang="tr-TR" dirty="0"/>
              <a:t>ve </a:t>
            </a:r>
            <a:r>
              <a:rPr lang="tr-TR" dirty="0" smtClean="0"/>
              <a:t>çıkarma </a:t>
            </a:r>
            <a:r>
              <a:rPr lang="tr-TR" dirty="0"/>
              <a:t>işlemleri O(</a:t>
            </a:r>
            <a:r>
              <a:rPr lang="tr-TR" dirty="0" err="1"/>
              <a:t>log</a:t>
            </a:r>
            <a:r>
              <a:rPr lang="tr-TR" dirty="0"/>
              <a:t> n) zaman karmaşıklığına sahiptir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Thread-safe</a:t>
            </a:r>
            <a:r>
              <a:rPr lang="tr-TR" smtClean="0"/>
              <a:t> değildir.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3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İkili </a:t>
            </a:r>
            <a:r>
              <a:rPr lang="tr-TR" dirty="0" err="1"/>
              <a:t>Heap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İkili </a:t>
            </a:r>
            <a:r>
              <a:rPr lang="tr-TR" dirty="0" err="1"/>
              <a:t>Heap</a:t>
            </a:r>
            <a:r>
              <a:rPr lang="tr-TR" dirty="0"/>
              <a:t>, özel bir ikili ağaç yapısıdır.</a:t>
            </a:r>
          </a:p>
          <a:p>
            <a:r>
              <a:rPr lang="tr-TR" dirty="0" err="1"/>
              <a:t>Min-Heap</a:t>
            </a:r>
            <a:r>
              <a:rPr lang="tr-TR" dirty="0"/>
              <a:t> ve </a:t>
            </a:r>
            <a:r>
              <a:rPr lang="tr-TR" dirty="0" err="1"/>
              <a:t>Max-Heap</a:t>
            </a:r>
            <a:r>
              <a:rPr lang="tr-TR" dirty="0"/>
              <a:t> olmak üzere iki türü vardır.</a:t>
            </a:r>
          </a:p>
          <a:p>
            <a:r>
              <a:rPr lang="tr-TR" b="1" dirty="0" err="1"/>
              <a:t>Min-Heap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tr-TR" dirty="0" smtClean="0"/>
              <a:t>Kök düğümde en düşük öncelik değerine sahip öğe bulunur. </a:t>
            </a:r>
          </a:p>
          <a:p>
            <a:r>
              <a:rPr lang="tr-TR" b="1" dirty="0" err="1" smtClean="0"/>
              <a:t>Max-Heap</a:t>
            </a:r>
            <a:r>
              <a:rPr lang="tr-TR" b="1" dirty="0"/>
              <a:t>:</a:t>
            </a:r>
            <a:r>
              <a:rPr lang="tr-TR" dirty="0"/>
              <a:t> Kök düğümde en </a:t>
            </a:r>
            <a:r>
              <a:rPr lang="tr-TR" dirty="0" smtClean="0"/>
              <a:t>yüksek </a:t>
            </a:r>
            <a:r>
              <a:rPr lang="tr-TR" dirty="0"/>
              <a:t>öncelik değerine sahip öğe bulunur. 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7" name="Grup 20"/>
          <p:cNvGrpSpPr/>
          <p:nvPr/>
        </p:nvGrpSpPr>
        <p:grpSpPr>
          <a:xfrm>
            <a:off x="1917071" y="3942027"/>
            <a:ext cx="3421660" cy="1834215"/>
            <a:chOff x="1398814" y="4559302"/>
            <a:chExt cx="3421660" cy="1834215"/>
          </a:xfrm>
        </p:grpSpPr>
        <p:grpSp>
          <p:nvGrpSpPr>
            <p:cNvPr id="26" name="Grup 2"/>
            <p:cNvGrpSpPr/>
            <p:nvPr/>
          </p:nvGrpSpPr>
          <p:grpSpPr>
            <a:xfrm>
              <a:off x="1398814" y="4559302"/>
              <a:ext cx="3421660" cy="1834215"/>
              <a:chOff x="859317" y="1167906"/>
              <a:chExt cx="4630855" cy="2482405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9" name="Düz Ok Bağlayıcısı 5"/>
              <p:cNvCxnSpPr>
                <a:stCxn id="28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Ok Bağlayıcısı 6"/>
              <p:cNvCxnSpPr>
                <a:stCxn id="28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7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" name="Düz Bağlayıcı 8"/>
              <p:cNvCxnSpPr>
                <a:stCxn id="31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Düz Ok Bağlayıcısı 9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Oval 33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Düz Ok Bağlayıcısı 11"/>
              <p:cNvCxnSpPr>
                <a:stCxn id="34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12"/>
              <p:cNvCxnSpPr>
                <a:stCxn id="34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14"/>
              <p:cNvSpPr txBox="1"/>
              <p:nvPr/>
            </p:nvSpPr>
            <p:spPr>
              <a:xfrm>
                <a:off x="1943122" y="1167906"/>
                <a:ext cx="686341" cy="499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dirty="0" smtClean="0"/>
                  <a:t>kok</a:t>
                </a:r>
                <a:endParaRPr lang="tr-TR" dirty="0"/>
              </a:p>
            </p:txBody>
          </p:sp>
          <p:cxnSp>
            <p:nvCxnSpPr>
              <p:cNvPr id="39" name="Düz Ok Bağlayıcısı 15"/>
              <p:cNvCxnSpPr/>
              <p:nvPr/>
            </p:nvCxnSpPr>
            <p:spPr>
              <a:xfrm>
                <a:off x="2570498" y="1452968"/>
                <a:ext cx="270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8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Metin kutusu 19"/>
            <p:cNvSpPr txBox="1"/>
            <p:nvPr/>
          </p:nvSpPr>
          <p:spPr>
            <a:xfrm>
              <a:off x="2498849" y="5271674"/>
              <a:ext cx="1117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tr-T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tr-TR" b="1" dirty="0" smtClean="0">
                  <a:solidFill>
                    <a:srgbClr val="FF0000"/>
                  </a:solidFill>
                </a:rPr>
                <a:t>Min Heap</a:t>
              </a:r>
              <a:endParaRPr lang="tr-TR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up 21"/>
          <p:cNvGrpSpPr/>
          <p:nvPr/>
        </p:nvGrpSpPr>
        <p:grpSpPr>
          <a:xfrm>
            <a:off x="6899770" y="3955595"/>
            <a:ext cx="3421660" cy="1834215"/>
            <a:chOff x="1398814" y="4559302"/>
            <a:chExt cx="3421660" cy="1834215"/>
          </a:xfrm>
        </p:grpSpPr>
        <p:grpSp>
          <p:nvGrpSpPr>
            <p:cNvPr id="9" name="Grup 22"/>
            <p:cNvGrpSpPr/>
            <p:nvPr/>
          </p:nvGrpSpPr>
          <p:grpSpPr>
            <a:xfrm>
              <a:off x="1398814" y="4559302"/>
              <a:ext cx="3421660" cy="1834215"/>
              <a:chOff x="859317" y="1167906"/>
              <a:chExt cx="4630855" cy="2482405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" name="Düz Ok Bağlayıcısı 25"/>
              <p:cNvCxnSpPr>
                <a:stCxn id="11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Düz Ok Bağlayıcısı 26"/>
              <p:cNvCxnSpPr>
                <a:stCxn id="11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Düz Bağlayıcı 28"/>
              <p:cNvCxnSpPr>
                <a:stCxn id="14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Düz Ok Bağlayıcısı 29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Düz Ok Bağlayıcısı 31"/>
              <p:cNvCxnSpPr>
                <a:stCxn id="17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Düz Bağlayıcı 32"/>
              <p:cNvCxnSpPr>
                <a:stCxn id="17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Metin kutusu 34"/>
              <p:cNvSpPr txBox="1"/>
              <p:nvPr/>
            </p:nvSpPr>
            <p:spPr>
              <a:xfrm>
                <a:off x="1943122" y="1167906"/>
                <a:ext cx="686341" cy="499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dirty="0" smtClean="0"/>
                  <a:t>kok</a:t>
                </a:r>
                <a:endParaRPr lang="tr-TR" dirty="0"/>
              </a:p>
            </p:txBody>
          </p:sp>
          <p:cxnSp>
            <p:nvCxnSpPr>
              <p:cNvPr id="22" name="Düz Ok Bağlayıcısı 35"/>
              <p:cNvCxnSpPr/>
              <p:nvPr/>
            </p:nvCxnSpPr>
            <p:spPr>
              <a:xfrm>
                <a:off x="2570498" y="1452968"/>
                <a:ext cx="270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Metin kutusu 23"/>
            <p:cNvSpPr txBox="1"/>
            <p:nvPr/>
          </p:nvSpPr>
          <p:spPr>
            <a:xfrm>
              <a:off x="2479869" y="5271674"/>
              <a:ext cx="11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tr-T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tr-TR" b="1" dirty="0" smtClean="0">
                  <a:solidFill>
                    <a:srgbClr val="FF0000"/>
                  </a:solidFill>
                </a:rPr>
                <a:t>Max Heap</a:t>
              </a:r>
              <a:endParaRPr lang="tr-TR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165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Ekleme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Ağacın boşta olan ilk yaprak düğümüne öğe eklenir</a:t>
            </a:r>
            <a:r>
              <a:rPr lang="tr-TR" dirty="0"/>
              <a:t>.</a:t>
            </a:r>
          </a:p>
          <a:p>
            <a:r>
              <a:rPr lang="tr-TR" dirty="0" smtClean="0"/>
              <a:t>Öğe ekledikten sonra, </a:t>
            </a:r>
            <a:r>
              <a:rPr lang="tr-TR" dirty="0"/>
              <a:t>ağacın yapısı </a:t>
            </a:r>
            <a:r>
              <a:rPr lang="tr-TR" dirty="0" smtClean="0"/>
              <a:t>bozulabilir.</a:t>
            </a:r>
          </a:p>
          <a:p>
            <a:r>
              <a:rPr lang="tr-TR" dirty="0" err="1" smtClean="0"/>
              <a:t>Max-heap</a:t>
            </a:r>
            <a:r>
              <a:rPr lang="tr-TR" dirty="0" smtClean="0"/>
              <a:t> yapısında </a:t>
            </a:r>
            <a:r>
              <a:rPr lang="tr-TR" dirty="0" smtClean="0"/>
              <a:t>ata düğüm çocuklarından yüksek </a:t>
            </a:r>
            <a:r>
              <a:rPr lang="tr-TR" dirty="0" smtClean="0"/>
              <a:t>değere sahiptir.</a:t>
            </a:r>
            <a:endParaRPr lang="tr-TR" dirty="0"/>
          </a:p>
          <a:p>
            <a:r>
              <a:rPr lang="tr-TR" dirty="0" smtClean="0"/>
              <a:t>Ağacın tekrar dengelenmesi </a:t>
            </a:r>
            <a:r>
              <a:rPr lang="tr-TR" dirty="0"/>
              <a:t>için "</a:t>
            </a:r>
            <a:r>
              <a:rPr lang="tr-TR" dirty="0" err="1"/>
              <a:t>heapify</a:t>
            </a:r>
            <a:r>
              <a:rPr lang="tr-TR" dirty="0"/>
              <a:t>" adı verilen bir işlem yapılır.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52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Ekleme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017" y="1815737"/>
            <a:ext cx="6323882" cy="379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758" y="903026"/>
            <a:ext cx="170497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Çıkarma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Kök düğümde bulunan öğe çıkarılır</a:t>
            </a:r>
            <a:r>
              <a:rPr lang="tr-TR" dirty="0"/>
              <a:t>.</a:t>
            </a:r>
          </a:p>
          <a:p>
            <a:r>
              <a:rPr lang="tr-TR" dirty="0" smtClean="0"/>
              <a:t>Ağacın boş olmayan son yaprak düğümü </a:t>
            </a:r>
            <a:r>
              <a:rPr lang="tr-TR" dirty="0" err="1" smtClean="0"/>
              <a:t>kök’e</a:t>
            </a:r>
            <a:r>
              <a:rPr lang="tr-TR" dirty="0" smtClean="0"/>
              <a:t> taşınır.</a:t>
            </a:r>
          </a:p>
          <a:p>
            <a:r>
              <a:rPr lang="tr-TR" dirty="0" smtClean="0"/>
              <a:t>Bu işlemden sonra ağacın </a:t>
            </a:r>
            <a:r>
              <a:rPr lang="tr-TR" dirty="0"/>
              <a:t>yapısı bozulabilir.</a:t>
            </a:r>
          </a:p>
          <a:p>
            <a:r>
              <a:rPr lang="tr-TR" dirty="0" err="1"/>
              <a:t>Max-heap</a:t>
            </a:r>
            <a:r>
              <a:rPr lang="tr-TR" dirty="0"/>
              <a:t> yapısında </a:t>
            </a:r>
            <a:r>
              <a:rPr lang="tr-TR" dirty="0" smtClean="0"/>
              <a:t>ata düğüm çocuklardan </a:t>
            </a:r>
            <a:r>
              <a:rPr lang="tr-TR" dirty="0"/>
              <a:t>yüksek değere sahiptir.</a:t>
            </a:r>
          </a:p>
          <a:p>
            <a:r>
              <a:rPr lang="tr-TR" dirty="0"/>
              <a:t>Ağacın tekrar dengelenmesi için "</a:t>
            </a:r>
            <a:r>
              <a:rPr lang="tr-TR" dirty="0" err="1"/>
              <a:t>heapify</a:t>
            </a:r>
            <a:r>
              <a:rPr lang="tr-TR" dirty="0"/>
              <a:t>" adı verilen bir işlem yapılır.</a:t>
            </a:r>
          </a:p>
          <a:p>
            <a:r>
              <a:rPr lang="tr-TR" dirty="0" err="1" smtClean="0"/>
              <a:t>heapify</a:t>
            </a:r>
            <a:r>
              <a:rPr lang="tr-TR" dirty="0" smtClean="0"/>
              <a:t> </a:t>
            </a:r>
            <a:r>
              <a:rPr lang="tr-TR" dirty="0"/>
              <a:t>işlemi </a:t>
            </a:r>
            <a:r>
              <a:rPr lang="tr-TR" dirty="0" smtClean="0"/>
              <a:t>O(</a:t>
            </a:r>
            <a:r>
              <a:rPr lang="tr-TR" dirty="0" err="1" smtClean="0"/>
              <a:t>log</a:t>
            </a:r>
            <a:r>
              <a:rPr lang="tr-TR" dirty="0" smtClean="0"/>
              <a:t> </a:t>
            </a:r>
            <a:r>
              <a:rPr lang="tr-TR" dirty="0"/>
              <a:t>n</a:t>
            </a:r>
            <a:r>
              <a:rPr lang="tr-TR" dirty="0" smtClean="0"/>
              <a:t>) zaman karmaşıklığına sahiptir.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83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Öğe Çıkarma</a:t>
            </a:r>
            <a:endParaRPr lang="tr-TR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000" y="1800000"/>
            <a:ext cx="6336000" cy="40377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Diffused/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000" y="900000"/>
            <a:ext cx="1821278" cy="56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2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94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İkili </a:t>
            </a:r>
            <a:r>
              <a:rPr lang="tr-TR" dirty="0" err="1" smtClean="0"/>
              <a:t>Heap</a:t>
            </a:r>
            <a:r>
              <a:rPr lang="tr-TR" dirty="0" smtClean="0"/>
              <a:t> Gösterimi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Dizinin ilk </a:t>
            </a:r>
            <a:r>
              <a:rPr lang="tr-TR" dirty="0"/>
              <a:t>elemanı boş bırakılır</a:t>
            </a:r>
            <a:r>
              <a:rPr lang="tr-TR" dirty="0" smtClean="0"/>
              <a:t>. </a:t>
            </a:r>
            <a:r>
              <a:rPr lang="tr-TR" dirty="0" err="1" smtClean="0"/>
              <a:t>Heap</a:t>
            </a:r>
            <a:r>
              <a:rPr lang="tr-TR" dirty="0" smtClean="0"/>
              <a:t>, tam </a:t>
            </a:r>
            <a:r>
              <a:rPr lang="tr-TR" dirty="0"/>
              <a:t>ikili </a:t>
            </a:r>
            <a:r>
              <a:rPr lang="tr-TR" dirty="0" smtClean="0"/>
              <a:t>ağaçtır. Değerler </a:t>
            </a:r>
            <a:r>
              <a:rPr lang="tr-TR" dirty="0"/>
              <a:t>soldan sağa </a:t>
            </a:r>
            <a:r>
              <a:rPr lang="tr-TR" dirty="0" smtClean="0"/>
              <a:t>düzey </a:t>
            </a:r>
            <a:r>
              <a:rPr lang="tr-TR" dirty="0"/>
              <a:t>ağaç dolaşımı ile dizi içinde </a:t>
            </a:r>
            <a:r>
              <a:rPr lang="tr-TR" dirty="0" smtClean="0"/>
              <a:t>saklanır. </a:t>
            </a:r>
            <a:endParaRPr lang="tr-TR" dirty="0"/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45" name="Grup 53"/>
          <p:cNvGrpSpPr/>
          <p:nvPr/>
        </p:nvGrpSpPr>
        <p:grpSpPr>
          <a:xfrm>
            <a:off x="874074" y="3615149"/>
            <a:ext cx="4590574" cy="400110"/>
            <a:chOff x="874074" y="3615149"/>
            <a:chExt cx="4590574" cy="400110"/>
          </a:xfrm>
        </p:grpSpPr>
        <p:cxnSp>
          <p:nvCxnSpPr>
            <p:cNvPr id="146" name="Düz Bağlayıcı 46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Metin kutusu 50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d1</a:t>
              </a:r>
              <a:endParaRPr lang="tr-TR" sz="2000" dirty="0"/>
            </a:p>
          </p:txBody>
        </p:sp>
      </p:grpSp>
      <p:grpSp>
        <p:nvGrpSpPr>
          <p:cNvPr id="148" name="Grup 47"/>
          <p:cNvGrpSpPr/>
          <p:nvPr/>
        </p:nvGrpSpPr>
        <p:grpSpPr>
          <a:xfrm>
            <a:off x="6348348" y="4393519"/>
            <a:ext cx="4314135" cy="705100"/>
            <a:chOff x="6812806" y="4799920"/>
            <a:chExt cx="4314135" cy="705100"/>
          </a:xfrm>
        </p:grpSpPr>
        <p:grpSp>
          <p:nvGrpSpPr>
            <p:cNvPr id="149" name="Grup 23"/>
            <p:cNvGrpSpPr/>
            <p:nvPr/>
          </p:nvGrpSpPr>
          <p:grpSpPr>
            <a:xfrm>
              <a:off x="6812806" y="4799920"/>
              <a:ext cx="540000" cy="703932"/>
              <a:chOff x="6810425" y="4799920"/>
              <a:chExt cx="540000" cy="703932"/>
            </a:xfrm>
          </p:grpSpPr>
          <p:sp>
            <p:nvSpPr>
              <p:cNvPr id="171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Metin kutusu 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150" name="Grup 24"/>
            <p:cNvGrpSpPr/>
            <p:nvPr/>
          </p:nvGrpSpPr>
          <p:grpSpPr>
            <a:xfrm>
              <a:off x="7353856" y="4799920"/>
              <a:ext cx="540000" cy="703932"/>
              <a:chOff x="6810425" y="4799920"/>
              <a:chExt cx="540000" cy="703932"/>
            </a:xfrm>
          </p:grpSpPr>
          <p:sp>
            <p:nvSpPr>
              <p:cNvPr id="169" name="Dikdörtgen 25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Metin kutusu 26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151" name="Grup 27"/>
            <p:cNvGrpSpPr/>
            <p:nvPr/>
          </p:nvGrpSpPr>
          <p:grpSpPr>
            <a:xfrm>
              <a:off x="7890810" y="4799920"/>
              <a:ext cx="540000" cy="703932"/>
              <a:chOff x="6810425" y="4799920"/>
              <a:chExt cx="540000" cy="703932"/>
            </a:xfrm>
          </p:grpSpPr>
          <p:sp>
            <p:nvSpPr>
              <p:cNvPr id="167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152" name="Grup 30"/>
            <p:cNvGrpSpPr/>
            <p:nvPr/>
          </p:nvGrpSpPr>
          <p:grpSpPr>
            <a:xfrm>
              <a:off x="8429856" y="4801088"/>
              <a:ext cx="540000" cy="703932"/>
              <a:chOff x="6810425" y="4799920"/>
              <a:chExt cx="540000" cy="703932"/>
            </a:xfrm>
          </p:grpSpPr>
          <p:sp>
            <p:nvSpPr>
              <p:cNvPr id="165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grpSp>
          <p:nvGrpSpPr>
            <p:cNvPr id="153" name="Grup 33"/>
            <p:cNvGrpSpPr/>
            <p:nvPr/>
          </p:nvGrpSpPr>
          <p:grpSpPr>
            <a:xfrm>
              <a:off x="8969740" y="4799920"/>
              <a:ext cx="540000" cy="703932"/>
              <a:chOff x="6810425" y="4799920"/>
              <a:chExt cx="540000" cy="703932"/>
            </a:xfrm>
          </p:grpSpPr>
          <p:sp>
            <p:nvSpPr>
              <p:cNvPr id="163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54" name="Grup 36"/>
            <p:cNvGrpSpPr/>
            <p:nvPr/>
          </p:nvGrpSpPr>
          <p:grpSpPr>
            <a:xfrm>
              <a:off x="9505856" y="4799920"/>
              <a:ext cx="540000" cy="703932"/>
              <a:chOff x="6810425" y="4799920"/>
              <a:chExt cx="540000" cy="703932"/>
            </a:xfrm>
          </p:grpSpPr>
          <p:sp>
            <p:nvSpPr>
              <p:cNvPr id="161" name="Dikdörtgen 3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Metin kutusu 3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55" name="Grup 39"/>
            <p:cNvGrpSpPr/>
            <p:nvPr/>
          </p:nvGrpSpPr>
          <p:grpSpPr>
            <a:xfrm>
              <a:off x="10046292" y="4800811"/>
              <a:ext cx="540000" cy="703932"/>
              <a:chOff x="6810425" y="4799920"/>
              <a:chExt cx="540000" cy="703932"/>
            </a:xfrm>
          </p:grpSpPr>
          <p:sp>
            <p:nvSpPr>
              <p:cNvPr id="159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56" name="Grup 42"/>
            <p:cNvGrpSpPr/>
            <p:nvPr/>
          </p:nvGrpSpPr>
          <p:grpSpPr>
            <a:xfrm>
              <a:off x="10586941" y="4800928"/>
              <a:ext cx="540000" cy="703932"/>
              <a:chOff x="6810425" y="4814434"/>
              <a:chExt cx="540000" cy="703932"/>
            </a:xfrm>
          </p:grpSpPr>
          <p:sp>
            <p:nvSpPr>
              <p:cNvPr id="157" name="Dikdörtgen 43"/>
              <p:cNvSpPr/>
              <p:nvPr/>
            </p:nvSpPr>
            <p:spPr>
              <a:xfrm>
                <a:off x="6810425" y="4814434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Metin kutusu 44"/>
              <p:cNvSpPr txBox="1"/>
              <p:nvPr/>
            </p:nvSpPr>
            <p:spPr>
              <a:xfrm>
                <a:off x="6929582" y="51490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173" name="Metin kutusu 45"/>
          <p:cNvSpPr txBox="1"/>
          <p:nvPr/>
        </p:nvSpPr>
        <p:spPr>
          <a:xfrm>
            <a:off x="8312657" y="5108201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74" name="Düz Bağlayıcı 18"/>
          <p:cNvCxnSpPr/>
          <p:nvPr/>
        </p:nvCxnSpPr>
        <p:spPr>
          <a:xfrm>
            <a:off x="6348413" y="4395788"/>
            <a:ext cx="542925" cy="3571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Grup 54"/>
          <p:cNvGrpSpPr/>
          <p:nvPr/>
        </p:nvGrpSpPr>
        <p:grpSpPr>
          <a:xfrm>
            <a:off x="1550996" y="3858671"/>
            <a:ext cx="3421667" cy="2262171"/>
            <a:chOff x="1398815" y="4627063"/>
            <a:chExt cx="3421667" cy="2262171"/>
          </a:xfrm>
        </p:grpSpPr>
        <p:grpSp>
          <p:nvGrpSpPr>
            <p:cNvPr id="176" name="Grup 55"/>
            <p:cNvGrpSpPr/>
            <p:nvPr/>
          </p:nvGrpSpPr>
          <p:grpSpPr>
            <a:xfrm>
              <a:off x="1398815" y="4627063"/>
              <a:ext cx="3421667" cy="1766449"/>
              <a:chOff x="859317" y="1259615"/>
              <a:chExt cx="4630855" cy="2390696"/>
            </a:xfrm>
          </p:grpSpPr>
          <p:sp>
            <p:nvSpPr>
              <p:cNvPr id="178" name="Oval 177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9" name="Düz Ok Bağlayıcısı 58"/>
              <p:cNvCxnSpPr>
                <a:stCxn id="178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Düz Ok Bağlayıcısı 59"/>
              <p:cNvCxnSpPr>
                <a:stCxn id="178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Oval 180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2" name="Düz Bağlayıcı 61"/>
              <p:cNvCxnSpPr>
                <a:stCxn id="181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Düz Ok Bağlayıcısı 62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Oval 183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5" name="Düz Ok Bağlayıcısı 64"/>
              <p:cNvCxnSpPr>
                <a:stCxn id="184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Düz Bağlayıcı 65"/>
              <p:cNvCxnSpPr>
                <a:stCxn id="184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Oval 186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Oval 187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Oval 188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Oval 189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7" name="Metin kutusu 56"/>
            <p:cNvSpPr txBox="1"/>
            <p:nvPr/>
          </p:nvSpPr>
          <p:spPr>
            <a:xfrm>
              <a:off x="2479869" y="6519902"/>
              <a:ext cx="11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b="1" dirty="0" smtClean="0">
                  <a:solidFill>
                    <a:srgbClr val="FF0000"/>
                  </a:solidFill>
                </a:rPr>
                <a:t>Max Heap</a:t>
              </a:r>
              <a:endParaRPr lang="tr-TR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690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İkili </a:t>
            </a:r>
            <a:r>
              <a:rPr lang="tr-TR" dirty="0" err="1" smtClean="0"/>
              <a:t>Heap</a:t>
            </a:r>
            <a:r>
              <a:rPr lang="tr-TR" dirty="0" smtClean="0"/>
              <a:t> Gösterimi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Dizinin ilk elemanı boş bırakılır. </a:t>
            </a:r>
            <a:r>
              <a:rPr lang="tr-TR" dirty="0" err="1"/>
              <a:t>Heap</a:t>
            </a:r>
            <a:r>
              <a:rPr lang="tr-TR" dirty="0"/>
              <a:t>, tam ikili ağaçtır. Değerler soldan sağa düzey ağaç dolaşımı ile dizi içinde saklanır. 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7" name="Grup 53"/>
          <p:cNvGrpSpPr/>
          <p:nvPr/>
        </p:nvGrpSpPr>
        <p:grpSpPr>
          <a:xfrm>
            <a:off x="874074" y="3615149"/>
            <a:ext cx="4590574" cy="400110"/>
            <a:chOff x="874074" y="3615149"/>
            <a:chExt cx="4590574" cy="400110"/>
          </a:xfrm>
        </p:grpSpPr>
        <p:cxnSp>
          <p:nvCxnSpPr>
            <p:cNvPr id="8" name="Düz Bağlayıcı 46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Metin kutusu 50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d1</a:t>
              </a:r>
              <a:endParaRPr lang="tr-TR" sz="2000" dirty="0"/>
            </a:p>
          </p:txBody>
        </p:sp>
      </p:grpSp>
      <p:grpSp>
        <p:nvGrpSpPr>
          <p:cNvPr id="10" name="Grup 47"/>
          <p:cNvGrpSpPr/>
          <p:nvPr/>
        </p:nvGrpSpPr>
        <p:grpSpPr>
          <a:xfrm>
            <a:off x="6348348" y="4393519"/>
            <a:ext cx="4314135" cy="705100"/>
            <a:chOff x="6812806" y="4799920"/>
            <a:chExt cx="4314135" cy="705100"/>
          </a:xfrm>
        </p:grpSpPr>
        <p:grpSp>
          <p:nvGrpSpPr>
            <p:cNvPr id="11" name="Grup 23"/>
            <p:cNvGrpSpPr/>
            <p:nvPr/>
          </p:nvGrpSpPr>
          <p:grpSpPr>
            <a:xfrm>
              <a:off x="6812806" y="4799920"/>
              <a:ext cx="540000" cy="703932"/>
              <a:chOff x="6810425" y="4799920"/>
              <a:chExt cx="540000" cy="703932"/>
            </a:xfrm>
          </p:grpSpPr>
          <p:sp>
            <p:nvSpPr>
              <p:cNvPr id="3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Metin kutusu 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12" name="Grup 24"/>
            <p:cNvGrpSpPr/>
            <p:nvPr/>
          </p:nvGrpSpPr>
          <p:grpSpPr>
            <a:xfrm>
              <a:off x="7353856" y="4799920"/>
              <a:ext cx="540000" cy="703932"/>
              <a:chOff x="6810425" y="4799920"/>
              <a:chExt cx="540000" cy="703932"/>
            </a:xfrm>
          </p:grpSpPr>
          <p:sp>
            <p:nvSpPr>
              <p:cNvPr id="31" name="Dikdörtgen 25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Metin kutusu 26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13" name="Grup 27"/>
            <p:cNvGrpSpPr/>
            <p:nvPr/>
          </p:nvGrpSpPr>
          <p:grpSpPr>
            <a:xfrm>
              <a:off x="7890810" y="4799920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14" name="Grup 30"/>
            <p:cNvGrpSpPr/>
            <p:nvPr/>
          </p:nvGrpSpPr>
          <p:grpSpPr>
            <a:xfrm>
              <a:off x="8429856" y="480108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grpSp>
          <p:nvGrpSpPr>
            <p:cNvPr id="15" name="Grup 33"/>
            <p:cNvGrpSpPr/>
            <p:nvPr/>
          </p:nvGrpSpPr>
          <p:grpSpPr>
            <a:xfrm>
              <a:off x="8969740" y="4799920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6" name="Grup 36"/>
            <p:cNvGrpSpPr/>
            <p:nvPr/>
          </p:nvGrpSpPr>
          <p:grpSpPr>
            <a:xfrm>
              <a:off x="9505856" y="4799920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3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3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7" name="Grup 39"/>
            <p:cNvGrpSpPr/>
            <p:nvPr/>
          </p:nvGrpSpPr>
          <p:grpSpPr>
            <a:xfrm>
              <a:off x="10046292" y="4800811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8" name="Grup 42"/>
            <p:cNvGrpSpPr/>
            <p:nvPr/>
          </p:nvGrpSpPr>
          <p:grpSpPr>
            <a:xfrm>
              <a:off x="10586941" y="4800928"/>
              <a:ext cx="540000" cy="703932"/>
              <a:chOff x="6810425" y="4814434"/>
              <a:chExt cx="540000" cy="703932"/>
            </a:xfrm>
          </p:grpSpPr>
          <p:sp>
            <p:nvSpPr>
              <p:cNvPr id="19" name="Dikdörtgen 43"/>
              <p:cNvSpPr/>
              <p:nvPr/>
            </p:nvSpPr>
            <p:spPr>
              <a:xfrm>
                <a:off x="6810425" y="4814434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44"/>
              <p:cNvSpPr txBox="1"/>
              <p:nvPr/>
            </p:nvSpPr>
            <p:spPr>
              <a:xfrm>
                <a:off x="6929582" y="51490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35" name="Metin kutusu 45"/>
          <p:cNvSpPr txBox="1"/>
          <p:nvPr/>
        </p:nvSpPr>
        <p:spPr>
          <a:xfrm>
            <a:off x="8312657" y="5108201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36" name="Düz Bağlayıcı 18"/>
          <p:cNvCxnSpPr/>
          <p:nvPr/>
        </p:nvCxnSpPr>
        <p:spPr>
          <a:xfrm>
            <a:off x="6348413" y="4395788"/>
            <a:ext cx="542925" cy="3571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up 54"/>
          <p:cNvGrpSpPr/>
          <p:nvPr/>
        </p:nvGrpSpPr>
        <p:grpSpPr>
          <a:xfrm>
            <a:off x="1550996" y="3858671"/>
            <a:ext cx="3421667" cy="2262171"/>
            <a:chOff x="1398815" y="4627063"/>
            <a:chExt cx="3421667" cy="2262171"/>
          </a:xfrm>
        </p:grpSpPr>
        <p:grpSp>
          <p:nvGrpSpPr>
            <p:cNvPr id="38" name="Grup 55"/>
            <p:cNvGrpSpPr/>
            <p:nvPr/>
          </p:nvGrpSpPr>
          <p:grpSpPr>
            <a:xfrm>
              <a:off x="1398815" y="4627063"/>
              <a:ext cx="3421667" cy="1766449"/>
              <a:chOff x="859317" y="1259615"/>
              <a:chExt cx="4630855" cy="2390696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1" name="Düz Ok Bağlayıcısı 58"/>
              <p:cNvCxnSpPr>
                <a:stCxn id="40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Düz Ok Bağlayıcısı 59"/>
              <p:cNvCxnSpPr>
                <a:stCxn id="40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4" name="Düz Bağlayıcı 61"/>
              <p:cNvCxnSpPr>
                <a:stCxn id="43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Düz Ok Bağlayıcısı 62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7" name="Düz Ok Bağlayıcısı 64"/>
              <p:cNvCxnSpPr>
                <a:stCxn id="46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Düz Bağlayıcı 65"/>
              <p:cNvCxnSpPr>
                <a:stCxn id="46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" name="Metin kutusu 56"/>
            <p:cNvSpPr txBox="1"/>
            <p:nvPr/>
          </p:nvSpPr>
          <p:spPr>
            <a:xfrm>
              <a:off x="2479869" y="6519902"/>
              <a:ext cx="11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b="1" dirty="0" smtClean="0">
                  <a:solidFill>
                    <a:srgbClr val="FF0000"/>
                  </a:solidFill>
                </a:rPr>
                <a:t>Max Heap</a:t>
              </a:r>
              <a:endParaRPr lang="tr-TR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896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İkili </a:t>
            </a:r>
            <a:r>
              <a:rPr lang="tr-TR" dirty="0" err="1" smtClean="0"/>
              <a:t>Heap</a:t>
            </a:r>
            <a:r>
              <a:rPr lang="tr-TR" dirty="0" smtClean="0"/>
              <a:t> Gösterimi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Dizinin ilk elemanı boş bırakılır. </a:t>
            </a:r>
            <a:r>
              <a:rPr lang="tr-TR" dirty="0" err="1"/>
              <a:t>Heap</a:t>
            </a:r>
            <a:r>
              <a:rPr lang="tr-TR" dirty="0"/>
              <a:t>, tam ikili ağaçtır. Değerler soldan sağa düzey ağaç dolaşımı ile dizi içinde saklanır. 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7" name="Grup 49"/>
          <p:cNvGrpSpPr/>
          <p:nvPr/>
        </p:nvGrpSpPr>
        <p:grpSpPr>
          <a:xfrm>
            <a:off x="881333" y="4333607"/>
            <a:ext cx="4590574" cy="400110"/>
            <a:chOff x="874074" y="3615149"/>
            <a:chExt cx="4590574" cy="400110"/>
          </a:xfrm>
        </p:grpSpPr>
        <p:cxnSp>
          <p:nvCxnSpPr>
            <p:cNvPr id="8" name="Düz Bağlayıcı 51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Metin kutusu 52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d2</a:t>
              </a:r>
              <a:endParaRPr lang="tr-TR" sz="2000" dirty="0"/>
            </a:p>
          </p:txBody>
        </p:sp>
      </p:grpSp>
      <p:grpSp>
        <p:nvGrpSpPr>
          <p:cNvPr id="10" name="Grup 53"/>
          <p:cNvGrpSpPr/>
          <p:nvPr/>
        </p:nvGrpSpPr>
        <p:grpSpPr>
          <a:xfrm>
            <a:off x="874074" y="3615149"/>
            <a:ext cx="4590574" cy="400110"/>
            <a:chOff x="874074" y="3615149"/>
            <a:chExt cx="4590574" cy="400110"/>
          </a:xfrm>
        </p:grpSpPr>
        <p:cxnSp>
          <p:nvCxnSpPr>
            <p:cNvPr id="11" name="Düz Bağlayıcı 46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Metin kutusu 50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d1</a:t>
              </a:r>
              <a:endParaRPr lang="tr-TR" sz="2000" dirty="0"/>
            </a:p>
          </p:txBody>
        </p:sp>
      </p:grpSp>
      <p:grpSp>
        <p:nvGrpSpPr>
          <p:cNvPr id="13" name="Grup 4"/>
          <p:cNvGrpSpPr/>
          <p:nvPr/>
        </p:nvGrpSpPr>
        <p:grpSpPr>
          <a:xfrm>
            <a:off x="1550996" y="3858671"/>
            <a:ext cx="3421667" cy="2262171"/>
            <a:chOff x="1398815" y="4627063"/>
            <a:chExt cx="3421667" cy="2262171"/>
          </a:xfrm>
        </p:grpSpPr>
        <p:grpSp>
          <p:nvGrpSpPr>
            <p:cNvPr id="14" name="Grup 5"/>
            <p:cNvGrpSpPr/>
            <p:nvPr/>
          </p:nvGrpSpPr>
          <p:grpSpPr>
            <a:xfrm>
              <a:off x="1398815" y="4627063"/>
              <a:ext cx="3421667" cy="1766449"/>
              <a:chOff x="859317" y="1259615"/>
              <a:chExt cx="4630855" cy="2390696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Düz Ok Bağlayıcısı 8"/>
              <p:cNvCxnSpPr>
                <a:stCxn id="1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Düz Ok Bağlayıcısı 9"/>
              <p:cNvCxnSpPr>
                <a:stCxn id="1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Düz Bağlayıcı 11"/>
              <p:cNvCxnSpPr>
                <a:stCxn id="19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Düz Ok Bağlayıcısı 12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Düz Ok Bağlayıcısı 14"/>
              <p:cNvCxnSpPr>
                <a:stCxn id="22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Düz Bağlayıcı 15"/>
              <p:cNvCxnSpPr>
                <a:stCxn id="2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Metin kutusu 6"/>
            <p:cNvSpPr txBox="1"/>
            <p:nvPr/>
          </p:nvSpPr>
          <p:spPr>
            <a:xfrm>
              <a:off x="2479869" y="6519902"/>
              <a:ext cx="11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b="1" dirty="0" smtClean="0">
                  <a:solidFill>
                    <a:srgbClr val="FF0000"/>
                  </a:solidFill>
                </a:rPr>
                <a:t>Max Heap</a:t>
              </a:r>
              <a:endParaRPr lang="tr-TR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up 47"/>
          <p:cNvGrpSpPr/>
          <p:nvPr/>
        </p:nvGrpSpPr>
        <p:grpSpPr>
          <a:xfrm>
            <a:off x="6348348" y="4393519"/>
            <a:ext cx="4314135" cy="705100"/>
            <a:chOff x="6812806" y="4799920"/>
            <a:chExt cx="4314135" cy="705100"/>
          </a:xfrm>
        </p:grpSpPr>
        <p:grpSp>
          <p:nvGrpSpPr>
            <p:cNvPr id="30" name="Grup 23"/>
            <p:cNvGrpSpPr/>
            <p:nvPr/>
          </p:nvGrpSpPr>
          <p:grpSpPr>
            <a:xfrm>
              <a:off x="6812806" y="4799920"/>
              <a:ext cx="540000" cy="703932"/>
              <a:chOff x="6810425" y="4799920"/>
              <a:chExt cx="540000" cy="703932"/>
            </a:xfrm>
          </p:grpSpPr>
          <p:sp>
            <p:nvSpPr>
              <p:cNvPr id="52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Metin kutusu 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1" name="Grup 24"/>
            <p:cNvGrpSpPr/>
            <p:nvPr/>
          </p:nvGrpSpPr>
          <p:grpSpPr>
            <a:xfrm>
              <a:off x="7353856" y="4799920"/>
              <a:ext cx="540000" cy="703932"/>
              <a:chOff x="6810425" y="4799920"/>
              <a:chExt cx="540000" cy="703932"/>
            </a:xfrm>
          </p:grpSpPr>
          <p:sp>
            <p:nvSpPr>
              <p:cNvPr id="50" name="Dikdörtgen 25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Metin kutusu 26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2" name="Grup 27"/>
            <p:cNvGrpSpPr/>
            <p:nvPr/>
          </p:nvGrpSpPr>
          <p:grpSpPr>
            <a:xfrm>
              <a:off x="7890810" y="4799920"/>
              <a:ext cx="540000" cy="703932"/>
              <a:chOff x="6810425" y="4799920"/>
              <a:chExt cx="540000" cy="703932"/>
            </a:xfrm>
          </p:grpSpPr>
          <p:sp>
            <p:nvSpPr>
              <p:cNvPr id="48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3" name="Grup 30"/>
            <p:cNvGrpSpPr/>
            <p:nvPr/>
          </p:nvGrpSpPr>
          <p:grpSpPr>
            <a:xfrm>
              <a:off x="8429856" y="4801088"/>
              <a:ext cx="540000" cy="703932"/>
              <a:chOff x="6810425" y="4799920"/>
              <a:chExt cx="540000" cy="703932"/>
            </a:xfrm>
          </p:grpSpPr>
          <p:sp>
            <p:nvSpPr>
              <p:cNvPr id="46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8969740" y="4799920"/>
              <a:ext cx="540000" cy="703932"/>
              <a:chOff x="6810425" y="4799920"/>
              <a:chExt cx="540000" cy="703932"/>
            </a:xfrm>
          </p:grpSpPr>
          <p:sp>
            <p:nvSpPr>
              <p:cNvPr id="44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35" name="Grup 36"/>
            <p:cNvGrpSpPr/>
            <p:nvPr/>
          </p:nvGrpSpPr>
          <p:grpSpPr>
            <a:xfrm>
              <a:off x="9505856" y="4799920"/>
              <a:ext cx="540000" cy="703932"/>
              <a:chOff x="6810425" y="4799920"/>
              <a:chExt cx="540000" cy="703932"/>
            </a:xfrm>
          </p:grpSpPr>
          <p:sp>
            <p:nvSpPr>
              <p:cNvPr id="42" name="Dikdörtgen 3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Metin kutusu 3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36" name="Grup 39"/>
            <p:cNvGrpSpPr/>
            <p:nvPr/>
          </p:nvGrpSpPr>
          <p:grpSpPr>
            <a:xfrm>
              <a:off x="10046292" y="4800811"/>
              <a:ext cx="540000" cy="703932"/>
              <a:chOff x="6810425" y="4799920"/>
              <a:chExt cx="540000" cy="703932"/>
            </a:xfrm>
          </p:grpSpPr>
          <p:sp>
            <p:nvSpPr>
              <p:cNvPr id="40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37" name="Grup 42"/>
            <p:cNvGrpSpPr/>
            <p:nvPr/>
          </p:nvGrpSpPr>
          <p:grpSpPr>
            <a:xfrm>
              <a:off x="10586941" y="4800928"/>
              <a:ext cx="540000" cy="703932"/>
              <a:chOff x="6810425" y="4814434"/>
              <a:chExt cx="540000" cy="703932"/>
            </a:xfrm>
          </p:grpSpPr>
          <p:sp>
            <p:nvSpPr>
              <p:cNvPr id="38" name="Dikdörtgen 43"/>
              <p:cNvSpPr/>
              <p:nvPr/>
            </p:nvSpPr>
            <p:spPr>
              <a:xfrm>
                <a:off x="6810425" y="4814434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Metin kutusu 44"/>
              <p:cNvSpPr txBox="1"/>
              <p:nvPr/>
            </p:nvSpPr>
            <p:spPr>
              <a:xfrm>
                <a:off x="6929582" y="51490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54" name="Metin kutusu 45"/>
          <p:cNvSpPr txBox="1"/>
          <p:nvPr/>
        </p:nvSpPr>
        <p:spPr>
          <a:xfrm>
            <a:off x="8312657" y="5108201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55" name="Düz Bağlayıcı 18"/>
          <p:cNvCxnSpPr/>
          <p:nvPr/>
        </p:nvCxnSpPr>
        <p:spPr>
          <a:xfrm>
            <a:off x="6348413" y="4395788"/>
            <a:ext cx="542925" cy="3571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40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İkili </a:t>
            </a:r>
            <a:r>
              <a:rPr lang="tr-TR" dirty="0" err="1" smtClean="0"/>
              <a:t>Heap</a:t>
            </a:r>
            <a:r>
              <a:rPr lang="tr-TR" dirty="0" smtClean="0"/>
              <a:t> Gösterimi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Dizinin ilk elemanı boş bırakılır. </a:t>
            </a:r>
            <a:r>
              <a:rPr lang="tr-TR" dirty="0" err="1"/>
              <a:t>Heap</a:t>
            </a:r>
            <a:r>
              <a:rPr lang="tr-TR" dirty="0"/>
              <a:t>, tam ikili ağaçtır. Değerler soldan sağa düzey ağaç dolaşımı ile dizi içinde saklanır. 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7" name="Grup 49"/>
          <p:cNvGrpSpPr/>
          <p:nvPr/>
        </p:nvGrpSpPr>
        <p:grpSpPr>
          <a:xfrm>
            <a:off x="881333" y="4333607"/>
            <a:ext cx="4590574" cy="400110"/>
            <a:chOff x="874074" y="3615149"/>
            <a:chExt cx="4590574" cy="400110"/>
          </a:xfrm>
        </p:grpSpPr>
        <p:cxnSp>
          <p:nvCxnSpPr>
            <p:cNvPr id="8" name="Düz Bağlayıcı 51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Metin kutusu 52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d2</a:t>
              </a:r>
              <a:endParaRPr lang="tr-TR" sz="2000" dirty="0"/>
            </a:p>
          </p:txBody>
        </p:sp>
      </p:grpSp>
      <p:grpSp>
        <p:nvGrpSpPr>
          <p:cNvPr id="10" name="Grup 53"/>
          <p:cNvGrpSpPr/>
          <p:nvPr/>
        </p:nvGrpSpPr>
        <p:grpSpPr>
          <a:xfrm>
            <a:off x="874074" y="3615149"/>
            <a:ext cx="4590574" cy="400110"/>
            <a:chOff x="874074" y="3615149"/>
            <a:chExt cx="4590574" cy="400110"/>
          </a:xfrm>
        </p:grpSpPr>
        <p:cxnSp>
          <p:nvCxnSpPr>
            <p:cNvPr id="11" name="Düz Bağlayıcı 46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Metin kutusu 50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d1</a:t>
              </a:r>
              <a:endParaRPr lang="tr-TR" sz="2000" dirty="0"/>
            </a:p>
          </p:txBody>
        </p:sp>
      </p:grpSp>
      <p:grpSp>
        <p:nvGrpSpPr>
          <p:cNvPr id="13" name="Grup 4"/>
          <p:cNvGrpSpPr/>
          <p:nvPr/>
        </p:nvGrpSpPr>
        <p:grpSpPr>
          <a:xfrm>
            <a:off x="1550996" y="3858671"/>
            <a:ext cx="3421667" cy="2262171"/>
            <a:chOff x="1398815" y="4627063"/>
            <a:chExt cx="3421667" cy="2262171"/>
          </a:xfrm>
        </p:grpSpPr>
        <p:grpSp>
          <p:nvGrpSpPr>
            <p:cNvPr id="14" name="Grup 5"/>
            <p:cNvGrpSpPr/>
            <p:nvPr/>
          </p:nvGrpSpPr>
          <p:grpSpPr>
            <a:xfrm>
              <a:off x="1398815" y="4627063"/>
              <a:ext cx="3421667" cy="1766449"/>
              <a:chOff x="859317" y="1259615"/>
              <a:chExt cx="4630855" cy="2390696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Düz Ok Bağlayıcısı 8"/>
              <p:cNvCxnSpPr>
                <a:stCxn id="1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Düz Ok Bağlayıcısı 9"/>
              <p:cNvCxnSpPr>
                <a:stCxn id="1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Düz Bağlayıcı 11"/>
              <p:cNvCxnSpPr>
                <a:stCxn id="19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Düz Ok Bağlayıcısı 12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Düz Ok Bağlayıcısı 14"/>
              <p:cNvCxnSpPr>
                <a:stCxn id="22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Düz Bağlayıcı 15"/>
              <p:cNvCxnSpPr>
                <a:stCxn id="2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Metin kutusu 6"/>
            <p:cNvSpPr txBox="1"/>
            <p:nvPr/>
          </p:nvSpPr>
          <p:spPr>
            <a:xfrm>
              <a:off x="2479869" y="6519902"/>
              <a:ext cx="11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b="1" dirty="0" smtClean="0">
                  <a:solidFill>
                    <a:srgbClr val="FF0000"/>
                  </a:solidFill>
                </a:rPr>
                <a:t>Max Heap</a:t>
              </a:r>
              <a:endParaRPr lang="tr-TR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up 47"/>
          <p:cNvGrpSpPr/>
          <p:nvPr/>
        </p:nvGrpSpPr>
        <p:grpSpPr>
          <a:xfrm>
            <a:off x="6348348" y="4393519"/>
            <a:ext cx="4314135" cy="705100"/>
            <a:chOff x="6812806" y="4799920"/>
            <a:chExt cx="4314135" cy="705100"/>
          </a:xfrm>
        </p:grpSpPr>
        <p:grpSp>
          <p:nvGrpSpPr>
            <p:cNvPr id="30" name="Grup 23"/>
            <p:cNvGrpSpPr/>
            <p:nvPr/>
          </p:nvGrpSpPr>
          <p:grpSpPr>
            <a:xfrm>
              <a:off x="6812806" y="4799920"/>
              <a:ext cx="540000" cy="703932"/>
              <a:chOff x="6810425" y="4799920"/>
              <a:chExt cx="540000" cy="703932"/>
            </a:xfrm>
          </p:grpSpPr>
          <p:sp>
            <p:nvSpPr>
              <p:cNvPr id="52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Metin kutusu 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1" name="Grup 24"/>
            <p:cNvGrpSpPr/>
            <p:nvPr/>
          </p:nvGrpSpPr>
          <p:grpSpPr>
            <a:xfrm>
              <a:off x="7353856" y="4799920"/>
              <a:ext cx="540000" cy="703932"/>
              <a:chOff x="6810425" y="4799920"/>
              <a:chExt cx="540000" cy="703932"/>
            </a:xfrm>
          </p:grpSpPr>
          <p:sp>
            <p:nvSpPr>
              <p:cNvPr id="50" name="Dikdörtgen 25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Metin kutusu 26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2" name="Grup 27"/>
            <p:cNvGrpSpPr/>
            <p:nvPr/>
          </p:nvGrpSpPr>
          <p:grpSpPr>
            <a:xfrm>
              <a:off x="7890810" y="4799920"/>
              <a:ext cx="540000" cy="703932"/>
              <a:chOff x="6810425" y="4799920"/>
              <a:chExt cx="540000" cy="703932"/>
            </a:xfrm>
          </p:grpSpPr>
          <p:sp>
            <p:nvSpPr>
              <p:cNvPr id="48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3" name="Grup 30"/>
            <p:cNvGrpSpPr/>
            <p:nvPr/>
          </p:nvGrpSpPr>
          <p:grpSpPr>
            <a:xfrm>
              <a:off x="8429856" y="4801088"/>
              <a:ext cx="540000" cy="703932"/>
              <a:chOff x="6810425" y="4799920"/>
              <a:chExt cx="540000" cy="703932"/>
            </a:xfrm>
          </p:grpSpPr>
          <p:sp>
            <p:nvSpPr>
              <p:cNvPr id="46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8969740" y="4799920"/>
              <a:ext cx="540000" cy="703932"/>
              <a:chOff x="6810425" y="4799920"/>
              <a:chExt cx="540000" cy="703932"/>
            </a:xfrm>
          </p:grpSpPr>
          <p:sp>
            <p:nvSpPr>
              <p:cNvPr id="44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35" name="Grup 36"/>
            <p:cNvGrpSpPr/>
            <p:nvPr/>
          </p:nvGrpSpPr>
          <p:grpSpPr>
            <a:xfrm>
              <a:off x="9505856" y="4799920"/>
              <a:ext cx="540000" cy="703932"/>
              <a:chOff x="6810425" y="4799920"/>
              <a:chExt cx="540000" cy="703932"/>
            </a:xfrm>
          </p:grpSpPr>
          <p:sp>
            <p:nvSpPr>
              <p:cNvPr id="42" name="Dikdörtgen 3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Metin kutusu 3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36" name="Grup 39"/>
            <p:cNvGrpSpPr/>
            <p:nvPr/>
          </p:nvGrpSpPr>
          <p:grpSpPr>
            <a:xfrm>
              <a:off x="10046292" y="4800811"/>
              <a:ext cx="540000" cy="703932"/>
              <a:chOff x="6810425" y="4799920"/>
              <a:chExt cx="540000" cy="703932"/>
            </a:xfrm>
          </p:grpSpPr>
          <p:sp>
            <p:nvSpPr>
              <p:cNvPr id="40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37" name="Grup 42"/>
            <p:cNvGrpSpPr/>
            <p:nvPr/>
          </p:nvGrpSpPr>
          <p:grpSpPr>
            <a:xfrm>
              <a:off x="10586941" y="4800928"/>
              <a:ext cx="540000" cy="703932"/>
              <a:chOff x="6810425" y="4814434"/>
              <a:chExt cx="540000" cy="703932"/>
            </a:xfrm>
          </p:grpSpPr>
          <p:sp>
            <p:nvSpPr>
              <p:cNvPr id="38" name="Dikdörtgen 43"/>
              <p:cNvSpPr/>
              <p:nvPr/>
            </p:nvSpPr>
            <p:spPr>
              <a:xfrm>
                <a:off x="6810425" y="4814434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Metin kutusu 44"/>
              <p:cNvSpPr txBox="1"/>
              <p:nvPr/>
            </p:nvSpPr>
            <p:spPr>
              <a:xfrm>
                <a:off x="6929582" y="51490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54" name="Metin kutusu 45"/>
          <p:cNvSpPr txBox="1"/>
          <p:nvPr/>
        </p:nvSpPr>
        <p:spPr>
          <a:xfrm>
            <a:off x="8312657" y="5108201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55" name="Düz Bağlayıcı 18"/>
          <p:cNvCxnSpPr/>
          <p:nvPr/>
        </p:nvCxnSpPr>
        <p:spPr>
          <a:xfrm>
            <a:off x="6348413" y="4395788"/>
            <a:ext cx="542925" cy="3571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28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İkili </a:t>
            </a:r>
            <a:r>
              <a:rPr lang="tr-TR" dirty="0" err="1" smtClean="0"/>
              <a:t>Heap</a:t>
            </a:r>
            <a:r>
              <a:rPr lang="tr-TR" dirty="0" smtClean="0"/>
              <a:t> Gösterimi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Dizinin ilk elemanı boş bırakılır. </a:t>
            </a:r>
            <a:r>
              <a:rPr lang="tr-TR" dirty="0" err="1"/>
              <a:t>Heap</a:t>
            </a:r>
            <a:r>
              <a:rPr lang="tr-TR" dirty="0"/>
              <a:t>, tam ikili ağaçtır. Değerler soldan sağa düzey ağaç dolaşımı ile dizi içinde saklanır. 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7" name="Grup 54"/>
          <p:cNvGrpSpPr/>
          <p:nvPr/>
        </p:nvGrpSpPr>
        <p:grpSpPr>
          <a:xfrm>
            <a:off x="874076" y="5081092"/>
            <a:ext cx="4590574" cy="400110"/>
            <a:chOff x="874074" y="3615149"/>
            <a:chExt cx="4590574" cy="400110"/>
          </a:xfrm>
        </p:grpSpPr>
        <p:cxnSp>
          <p:nvCxnSpPr>
            <p:cNvPr id="8" name="Düz Bağlayıcı 55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Metin kutusu 56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d3</a:t>
              </a:r>
              <a:endParaRPr lang="tr-TR" sz="2000" dirty="0"/>
            </a:p>
          </p:txBody>
        </p:sp>
      </p:grpSp>
      <p:grpSp>
        <p:nvGrpSpPr>
          <p:cNvPr id="10" name="Grup 49"/>
          <p:cNvGrpSpPr/>
          <p:nvPr/>
        </p:nvGrpSpPr>
        <p:grpSpPr>
          <a:xfrm>
            <a:off x="881333" y="4333607"/>
            <a:ext cx="4590574" cy="400110"/>
            <a:chOff x="874074" y="3615149"/>
            <a:chExt cx="4590574" cy="400110"/>
          </a:xfrm>
        </p:grpSpPr>
        <p:cxnSp>
          <p:nvCxnSpPr>
            <p:cNvPr id="11" name="Düz Bağlayıcı 51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Metin kutusu 52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d2</a:t>
              </a:r>
              <a:endParaRPr lang="tr-TR" sz="2000" dirty="0"/>
            </a:p>
          </p:txBody>
        </p:sp>
      </p:grpSp>
      <p:grpSp>
        <p:nvGrpSpPr>
          <p:cNvPr id="13" name="Grup 53"/>
          <p:cNvGrpSpPr/>
          <p:nvPr/>
        </p:nvGrpSpPr>
        <p:grpSpPr>
          <a:xfrm>
            <a:off x="874074" y="3615149"/>
            <a:ext cx="4590574" cy="400110"/>
            <a:chOff x="874074" y="3615149"/>
            <a:chExt cx="4590574" cy="400110"/>
          </a:xfrm>
        </p:grpSpPr>
        <p:cxnSp>
          <p:nvCxnSpPr>
            <p:cNvPr id="14" name="Düz Bağlayıcı 46"/>
            <p:cNvCxnSpPr/>
            <p:nvPr/>
          </p:nvCxnSpPr>
          <p:spPr>
            <a:xfrm flipV="1">
              <a:off x="955026" y="4003578"/>
              <a:ext cx="4509622" cy="1134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Metin kutusu 50"/>
            <p:cNvSpPr txBox="1"/>
            <p:nvPr/>
          </p:nvSpPr>
          <p:spPr>
            <a:xfrm>
              <a:off x="874074" y="3615149"/>
              <a:ext cx="449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000" dirty="0" smtClean="0"/>
                <a:t>d1</a:t>
              </a:r>
              <a:endParaRPr lang="tr-TR" sz="2000" dirty="0"/>
            </a:p>
          </p:txBody>
        </p:sp>
      </p:grpSp>
      <p:grpSp>
        <p:nvGrpSpPr>
          <p:cNvPr id="16" name="Grup 4"/>
          <p:cNvGrpSpPr/>
          <p:nvPr/>
        </p:nvGrpSpPr>
        <p:grpSpPr>
          <a:xfrm>
            <a:off x="1550996" y="3858671"/>
            <a:ext cx="3421667" cy="2262171"/>
            <a:chOff x="1398815" y="4627063"/>
            <a:chExt cx="3421667" cy="2262171"/>
          </a:xfrm>
        </p:grpSpPr>
        <p:grpSp>
          <p:nvGrpSpPr>
            <p:cNvPr id="17" name="Grup 5"/>
            <p:cNvGrpSpPr/>
            <p:nvPr/>
          </p:nvGrpSpPr>
          <p:grpSpPr>
            <a:xfrm>
              <a:off x="1398815" y="4627063"/>
              <a:ext cx="3421667" cy="1766449"/>
              <a:chOff x="859317" y="1259615"/>
              <a:chExt cx="4630855" cy="239069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Düz Ok Bağlayıcısı 8"/>
              <p:cNvCxnSpPr>
                <a:stCxn id="19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Düz Ok Bağlayıcısı 9"/>
              <p:cNvCxnSpPr>
                <a:stCxn id="19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Düz Bağlayıcı 11"/>
              <p:cNvCxnSpPr>
                <a:stCxn id="22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Düz Ok Bağlayıcısı 12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6" name="Düz Ok Bağlayıcısı 14"/>
              <p:cNvCxnSpPr>
                <a:stCxn id="25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Düz Bağlayıcı 15"/>
              <p:cNvCxnSpPr>
                <a:stCxn id="25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Metin kutusu 6"/>
            <p:cNvSpPr txBox="1"/>
            <p:nvPr/>
          </p:nvSpPr>
          <p:spPr>
            <a:xfrm>
              <a:off x="2479869" y="6519902"/>
              <a:ext cx="11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b="1" dirty="0" smtClean="0">
                  <a:solidFill>
                    <a:srgbClr val="FF0000"/>
                  </a:solidFill>
                </a:rPr>
                <a:t>Max Heap</a:t>
              </a:r>
              <a:endParaRPr lang="tr-TR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up 47"/>
          <p:cNvGrpSpPr/>
          <p:nvPr/>
        </p:nvGrpSpPr>
        <p:grpSpPr>
          <a:xfrm>
            <a:off x="6348348" y="4393519"/>
            <a:ext cx="4314135" cy="705100"/>
            <a:chOff x="6812806" y="4799920"/>
            <a:chExt cx="4314135" cy="705100"/>
          </a:xfrm>
        </p:grpSpPr>
        <p:grpSp>
          <p:nvGrpSpPr>
            <p:cNvPr id="33" name="Grup 23"/>
            <p:cNvGrpSpPr/>
            <p:nvPr/>
          </p:nvGrpSpPr>
          <p:grpSpPr>
            <a:xfrm>
              <a:off x="6812806" y="4799920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4" name="Grup 24"/>
            <p:cNvGrpSpPr/>
            <p:nvPr/>
          </p:nvGrpSpPr>
          <p:grpSpPr>
            <a:xfrm>
              <a:off x="7353856" y="4799920"/>
              <a:ext cx="540000" cy="703932"/>
              <a:chOff x="6810425" y="4799920"/>
              <a:chExt cx="540000" cy="703932"/>
            </a:xfrm>
          </p:grpSpPr>
          <p:sp>
            <p:nvSpPr>
              <p:cNvPr id="53" name="Dikdörtgen 25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Metin kutusu 26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5" name="Grup 27"/>
            <p:cNvGrpSpPr/>
            <p:nvPr/>
          </p:nvGrpSpPr>
          <p:grpSpPr>
            <a:xfrm>
              <a:off x="7890810" y="4799920"/>
              <a:ext cx="540000" cy="703932"/>
              <a:chOff x="6810425" y="4799920"/>
              <a:chExt cx="540000" cy="703932"/>
            </a:xfrm>
          </p:grpSpPr>
          <p:sp>
            <p:nvSpPr>
              <p:cNvPr id="51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6" name="Grup 30"/>
            <p:cNvGrpSpPr/>
            <p:nvPr/>
          </p:nvGrpSpPr>
          <p:grpSpPr>
            <a:xfrm>
              <a:off x="8429856" y="4801088"/>
              <a:ext cx="540000" cy="703932"/>
              <a:chOff x="6810425" y="4799920"/>
              <a:chExt cx="540000" cy="703932"/>
            </a:xfrm>
          </p:grpSpPr>
          <p:sp>
            <p:nvSpPr>
              <p:cNvPr id="49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grpSp>
          <p:nvGrpSpPr>
            <p:cNvPr id="37" name="Grup 33"/>
            <p:cNvGrpSpPr/>
            <p:nvPr/>
          </p:nvGrpSpPr>
          <p:grpSpPr>
            <a:xfrm>
              <a:off x="8969740" y="4799920"/>
              <a:ext cx="540000" cy="703932"/>
              <a:chOff x="6810425" y="4799920"/>
              <a:chExt cx="540000" cy="703932"/>
            </a:xfrm>
          </p:grpSpPr>
          <p:sp>
            <p:nvSpPr>
              <p:cNvPr id="47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38" name="Grup 36"/>
            <p:cNvGrpSpPr/>
            <p:nvPr/>
          </p:nvGrpSpPr>
          <p:grpSpPr>
            <a:xfrm>
              <a:off x="9505856" y="4799920"/>
              <a:ext cx="540000" cy="703932"/>
              <a:chOff x="6810425" y="4799920"/>
              <a:chExt cx="540000" cy="703932"/>
            </a:xfrm>
          </p:grpSpPr>
          <p:sp>
            <p:nvSpPr>
              <p:cNvPr id="45" name="Dikdörtgen 3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Metin kutusu 3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39" name="Grup 39"/>
            <p:cNvGrpSpPr/>
            <p:nvPr/>
          </p:nvGrpSpPr>
          <p:grpSpPr>
            <a:xfrm>
              <a:off x="10046292" y="4800811"/>
              <a:ext cx="540000" cy="703932"/>
              <a:chOff x="6810425" y="4799920"/>
              <a:chExt cx="540000" cy="703932"/>
            </a:xfrm>
          </p:grpSpPr>
          <p:sp>
            <p:nvSpPr>
              <p:cNvPr id="43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40" name="Grup 42"/>
            <p:cNvGrpSpPr/>
            <p:nvPr/>
          </p:nvGrpSpPr>
          <p:grpSpPr>
            <a:xfrm>
              <a:off x="10586941" y="4800928"/>
              <a:ext cx="540000" cy="703932"/>
              <a:chOff x="6810425" y="4814434"/>
              <a:chExt cx="540000" cy="703932"/>
            </a:xfrm>
          </p:grpSpPr>
          <p:sp>
            <p:nvSpPr>
              <p:cNvPr id="41" name="Dikdörtgen 43"/>
              <p:cNvSpPr/>
              <p:nvPr/>
            </p:nvSpPr>
            <p:spPr>
              <a:xfrm>
                <a:off x="6810425" y="4814434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4"/>
              <p:cNvSpPr txBox="1"/>
              <p:nvPr/>
            </p:nvSpPr>
            <p:spPr>
              <a:xfrm>
                <a:off x="6929582" y="51490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57" name="Metin kutusu 45"/>
          <p:cNvSpPr txBox="1"/>
          <p:nvPr/>
        </p:nvSpPr>
        <p:spPr>
          <a:xfrm>
            <a:off x="8312657" y="5108201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58" name="Düz Bağlayıcı 18"/>
          <p:cNvCxnSpPr/>
          <p:nvPr/>
        </p:nvCxnSpPr>
        <p:spPr>
          <a:xfrm>
            <a:off x="6348413" y="4395788"/>
            <a:ext cx="542925" cy="3571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0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İkili </a:t>
            </a:r>
            <a:r>
              <a:rPr lang="tr-TR" dirty="0" err="1" smtClean="0"/>
              <a:t>Heap</a:t>
            </a:r>
            <a:r>
              <a:rPr lang="tr-TR" dirty="0" smtClean="0"/>
              <a:t> Gösterimi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Dizinin ilk elemanı boş bırakılır. </a:t>
            </a:r>
            <a:r>
              <a:rPr lang="tr-TR" dirty="0" err="1"/>
              <a:t>Heap</a:t>
            </a:r>
            <a:r>
              <a:rPr lang="tr-TR" dirty="0"/>
              <a:t>, tam ikili ağaçtır. Değerler soldan sağa düzey ağaç dolaşımı ile dizi içinde saklanır. 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7" name="Grup 4"/>
          <p:cNvGrpSpPr/>
          <p:nvPr/>
        </p:nvGrpSpPr>
        <p:grpSpPr>
          <a:xfrm>
            <a:off x="1550996" y="3858671"/>
            <a:ext cx="3421667" cy="2262171"/>
            <a:chOff x="1398815" y="4627063"/>
            <a:chExt cx="3421667" cy="2262171"/>
          </a:xfrm>
        </p:grpSpPr>
        <p:grpSp>
          <p:nvGrpSpPr>
            <p:cNvPr id="8" name="Grup 5"/>
            <p:cNvGrpSpPr/>
            <p:nvPr/>
          </p:nvGrpSpPr>
          <p:grpSpPr>
            <a:xfrm>
              <a:off x="1398815" y="4627063"/>
              <a:ext cx="3421667" cy="1766449"/>
              <a:chOff x="859317" y="1259615"/>
              <a:chExt cx="4630855" cy="2390696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8"/>
              <p:cNvCxnSpPr>
                <a:stCxn id="10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Düz Ok Bağlayıcısı 9"/>
              <p:cNvCxnSpPr>
                <a:stCxn id="10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1"/>
              <p:cNvCxnSpPr>
                <a:stCxn id="13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Düz Ok Bağlayıcısı 12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Oval 15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Düz Ok Bağlayıcısı 14"/>
              <p:cNvCxnSpPr>
                <a:stCxn id="16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Düz Bağlayıcı 15"/>
              <p:cNvCxnSpPr>
                <a:stCxn id="16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Metin kutusu 6"/>
            <p:cNvSpPr txBox="1"/>
            <p:nvPr/>
          </p:nvSpPr>
          <p:spPr>
            <a:xfrm>
              <a:off x="2479869" y="6519902"/>
              <a:ext cx="11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b="1" dirty="0" smtClean="0">
                  <a:solidFill>
                    <a:srgbClr val="FF0000"/>
                  </a:solidFill>
                </a:rPr>
                <a:t>Max Heap</a:t>
              </a:r>
              <a:endParaRPr lang="tr-TR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up 47"/>
          <p:cNvGrpSpPr/>
          <p:nvPr/>
        </p:nvGrpSpPr>
        <p:grpSpPr>
          <a:xfrm>
            <a:off x="6348348" y="4393519"/>
            <a:ext cx="4314135" cy="705100"/>
            <a:chOff x="6812806" y="4799920"/>
            <a:chExt cx="4314135" cy="705100"/>
          </a:xfrm>
        </p:grpSpPr>
        <p:grpSp>
          <p:nvGrpSpPr>
            <p:cNvPr id="24" name="Grup 23"/>
            <p:cNvGrpSpPr/>
            <p:nvPr/>
          </p:nvGrpSpPr>
          <p:grpSpPr>
            <a:xfrm>
              <a:off x="6812806" y="4799920"/>
              <a:ext cx="540000" cy="703932"/>
              <a:chOff x="6810425" y="4799920"/>
              <a:chExt cx="540000" cy="703932"/>
            </a:xfrm>
          </p:grpSpPr>
          <p:sp>
            <p:nvSpPr>
              <p:cNvPr id="46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Metin kutusu 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25" name="Grup 24"/>
            <p:cNvGrpSpPr/>
            <p:nvPr/>
          </p:nvGrpSpPr>
          <p:grpSpPr>
            <a:xfrm>
              <a:off x="7353856" y="4799920"/>
              <a:ext cx="540000" cy="703932"/>
              <a:chOff x="6810425" y="4799920"/>
              <a:chExt cx="540000" cy="703932"/>
            </a:xfrm>
          </p:grpSpPr>
          <p:sp>
            <p:nvSpPr>
              <p:cNvPr id="44" name="Dikdörtgen 25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Metin kutusu 26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26" name="Grup 27"/>
            <p:cNvGrpSpPr/>
            <p:nvPr/>
          </p:nvGrpSpPr>
          <p:grpSpPr>
            <a:xfrm>
              <a:off x="7890810" y="4799920"/>
              <a:ext cx="540000" cy="703932"/>
              <a:chOff x="6810425" y="4799920"/>
              <a:chExt cx="540000" cy="703932"/>
            </a:xfrm>
          </p:grpSpPr>
          <p:sp>
            <p:nvSpPr>
              <p:cNvPr id="42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27" name="Grup 30"/>
            <p:cNvGrpSpPr/>
            <p:nvPr/>
          </p:nvGrpSpPr>
          <p:grpSpPr>
            <a:xfrm>
              <a:off x="8429856" y="4801088"/>
              <a:ext cx="540000" cy="703932"/>
              <a:chOff x="6810425" y="4799920"/>
              <a:chExt cx="540000" cy="703932"/>
            </a:xfrm>
          </p:grpSpPr>
          <p:sp>
            <p:nvSpPr>
              <p:cNvPr id="40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grpSp>
          <p:nvGrpSpPr>
            <p:cNvPr id="28" name="Grup 33"/>
            <p:cNvGrpSpPr/>
            <p:nvPr/>
          </p:nvGrpSpPr>
          <p:grpSpPr>
            <a:xfrm>
              <a:off x="8969740" y="4799920"/>
              <a:ext cx="540000" cy="703932"/>
              <a:chOff x="6810425" y="4799920"/>
              <a:chExt cx="540000" cy="703932"/>
            </a:xfrm>
          </p:grpSpPr>
          <p:sp>
            <p:nvSpPr>
              <p:cNvPr id="38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29" name="Grup 36"/>
            <p:cNvGrpSpPr/>
            <p:nvPr/>
          </p:nvGrpSpPr>
          <p:grpSpPr>
            <a:xfrm>
              <a:off x="9505856" y="4799920"/>
              <a:ext cx="540000" cy="703932"/>
              <a:chOff x="6810425" y="4799920"/>
              <a:chExt cx="540000" cy="703932"/>
            </a:xfrm>
          </p:grpSpPr>
          <p:sp>
            <p:nvSpPr>
              <p:cNvPr id="36" name="Dikdörtgen 3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Metin kutusu 3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30" name="Grup 39"/>
            <p:cNvGrpSpPr/>
            <p:nvPr/>
          </p:nvGrpSpPr>
          <p:grpSpPr>
            <a:xfrm>
              <a:off x="10046292" y="4800811"/>
              <a:ext cx="540000" cy="703932"/>
              <a:chOff x="6810425" y="4799920"/>
              <a:chExt cx="540000" cy="703932"/>
            </a:xfrm>
          </p:grpSpPr>
          <p:sp>
            <p:nvSpPr>
              <p:cNvPr id="34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31" name="Grup 42"/>
            <p:cNvGrpSpPr/>
            <p:nvPr/>
          </p:nvGrpSpPr>
          <p:grpSpPr>
            <a:xfrm>
              <a:off x="10586941" y="4800928"/>
              <a:ext cx="540000" cy="703932"/>
              <a:chOff x="6810425" y="4814434"/>
              <a:chExt cx="540000" cy="703932"/>
            </a:xfrm>
          </p:grpSpPr>
          <p:sp>
            <p:nvSpPr>
              <p:cNvPr id="32" name="Dikdörtgen 43"/>
              <p:cNvSpPr/>
              <p:nvPr/>
            </p:nvSpPr>
            <p:spPr>
              <a:xfrm>
                <a:off x="6810425" y="4814434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44"/>
              <p:cNvSpPr txBox="1"/>
              <p:nvPr/>
            </p:nvSpPr>
            <p:spPr>
              <a:xfrm>
                <a:off x="6929582" y="51490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8" name="Metin kutusu 45"/>
          <p:cNvSpPr txBox="1"/>
          <p:nvPr/>
        </p:nvSpPr>
        <p:spPr>
          <a:xfrm>
            <a:off x="8312657" y="5108201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9" name="Düz Bağlayıcı 18"/>
          <p:cNvCxnSpPr/>
          <p:nvPr/>
        </p:nvCxnSpPr>
        <p:spPr>
          <a:xfrm>
            <a:off x="6348413" y="4395788"/>
            <a:ext cx="542925" cy="3571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etin kutusu 57"/>
          <p:cNvSpPr txBox="1"/>
          <p:nvPr/>
        </p:nvSpPr>
        <p:spPr>
          <a:xfrm>
            <a:off x="3076665" y="358960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400" dirty="0" smtClean="0"/>
              <a:t>1</a:t>
            </a:r>
            <a:endParaRPr lang="tr-TR" sz="1400" dirty="0"/>
          </a:p>
        </p:txBody>
      </p:sp>
      <p:sp>
        <p:nvSpPr>
          <p:cNvPr id="51" name="Metin kutusu 58"/>
          <p:cNvSpPr txBox="1"/>
          <p:nvPr/>
        </p:nvSpPr>
        <p:spPr>
          <a:xfrm>
            <a:off x="2027386" y="429056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400" dirty="0" smtClean="0"/>
              <a:t>2</a:t>
            </a:r>
            <a:endParaRPr lang="tr-TR" sz="1400" dirty="0"/>
          </a:p>
        </p:txBody>
      </p:sp>
      <p:sp>
        <p:nvSpPr>
          <p:cNvPr id="52" name="Metin kutusu 59"/>
          <p:cNvSpPr txBox="1"/>
          <p:nvPr/>
        </p:nvSpPr>
        <p:spPr>
          <a:xfrm>
            <a:off x="4243455" y="429056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400" dirty="0" smtClean="0"/>
              <a:t>3</a:t>
            </a:r>
            <a:endParaRPr lang="tr-TR" sz="1400" dirty="0"/>
          </a:p>
        </p:txBody>
      </p:sp>
      <p:sp>
        <p:nvSpPr>
          <p:cNvPr id="53" name="Metin kutusu 60"/>
          <p:cNvSpPr txBox="1"/>
          <p:nvPr/>
        </p:nvSpPr>
        <p:spPr>
          <a:xfrm>
            <a:off x="1514266" y="503132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400" dirty="0" smtClean="0"/>
              <a:t>4</a:t>
            </a:r>
            <a:endParaRPr lang="tr-TR" sz="1400" dirty="0"/>
          </a:p>
        </p:txBody>
      </p:sp>
      <p:sp>
        <p:nvSpPr>
          <p:cNvPr id="54" name="Metin kutusu 61"/>
          <p:cNvSpPr txBox="1"/>
          <p:nvPr/>
        </p:nvSpPr>
        <p:spPr>
          <a:xfrm>
            <a:off x="2639270" y="503710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400" dirty="0" smtClean="0"/>
              <a:t>5</a:t>
            </a:r>
            <a:endParaRPr lang="tr-TR" sz="1400" dirty="0"/>
          </a:p>
        </p:txBody>
      </p:sp>
      <p:sp>
        <p:nvSpPr>
          <p:cNvPr id="55" name="Metin kutusu 62"/>
          <p:cNvSpPr txBox="1"/>
          <p:nvPr/>
        </p:nvSpPr>
        <p:spPr>
          <a:xfrm>
            <a:off x="3582887" y="503710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400" dirty="0" smtClean="0"/>
              <a:t>6</a:t>
            </a:r>
            <a:endParaRPr lang="tr-TR" sz="1400" dirty="0"/>
          </a:p>
        </p:txBody>
      </p:sp>
      <p:sp>
        <p:nvSpPr>
          <p:cNvPr id="56" name="Metin kutusu 63"/>
          <p:cNvSpPr txBox="1"/>
          <p:nvPr/>
        </p:nvSpPr>
        <p:spPr>
          <a:xfrm>
            <a:off x="4758671" y="50428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400" dirty="0" smtClean="0"/>
              <a:t>7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28450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Ata ve </a:t>
            </a:r>
            <a:r>
              <a:rPr lang="tr-TR" dirty="0"/>
              <a:t>Çocuk Hesaplamaları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48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 46"/>
          <p:cNvGrpSpPr/>
          <p:nvPr/>
        </p:nvGrpSpPr>
        <p:grpSpPr>
          <a:xfrm>
            <a:off x="6348348" y="1635811"/>
            <a:ext cx="4314135" cy="1053236"/>
            <a:chOff x="6348348" y="4393519"/>
            <a:chExt cx="4314135" cy="1053236"/>
          </a:xfrm>
        </p:grpSpPr>
        <p:sp>
          <p:nvSpPr>
            <p:cNvPr id="46" name="Metin kutusu 45"/>
            <p:cNvSpPr txBox="1"/>
            <p:nvPr/>
          </p:nvSpPr>
          <p:spPr>
            <a:xfrm>
              <a:off x="8312657" y="5108201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18" name="Grup 17"/>
            <p:cNvGrpSpPr/>
            <p:nvPr/>
          </p:nvGrpSpPr>
          <p:grpSpPr>
            <a:xfrm>
              <a:off x="6348348" y="4393519"/>
              <a:ext cx="4314135" cy="705100"/>
              <a:chOff x="6348348" y="4393519"/>
              <a:chExt cx="4314135" cy="705100"/>
            </a:xfrm>
          </p:grpSpPr>
          <p:grpSp>
            <p:nvGrpSpPr>
              <p:cNvPr id="48" name="Grup 47"/>
              <p:cNvGrpSpPr/>
              <p:nvPr/>
            </p:nvGrpSpPr>
            <p:grpSpPr>
              <a:xfrm>
                <a:off x="6348348" y="4393519"/>
                <a:ext cx="4314135" cy="705100"/>
                <a:chOff x="6812806" y="4799920"/>
                <a:chExt cx="4314135" cy="705100"/>
              </a:xfrm>
            </p:grpSpPr>
            <p:grpSp>
              <p:nvGrpSpPr>
                <p:cNvPr id="24" name="Grup 23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3" name="Dikdörtgen 22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" name="Metin kutusu 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25" name="Grup 24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6" name="Dikdörtgen 2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9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Metin kutusu 2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28" name="Grup 27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9" name="Dikdörtgen 2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3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" name="Metin kutusu 2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1" name="Grup 30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2" name="Dikdörtgen 31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6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Metin kutusu 3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96974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4</a:t>
                    </a:r>
                    <a:endParaRPr lang="tr-TR" dirty="0"/>
                  </a:p>
                </p:txBody>
              </p:sp>
            </p:grpSp>
            <p:grpSp>
              <p:nvGrpSpPr>
                <p:cNvPr id="37" name="Grup 36"/>
                <p:cNvGrpSpPr/>
                <p:nvPr/>
              </p:nvGrpSpPr>
              <p:grpSpPr>
                <a:xfrm>
                  <a:off x="9505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8" name="Dikdörtgen 3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1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" name="Metin kutusu 3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5</a:t>
                    </a:r>
                    <a:endParaRPr lang="tr-TR" dirty="0"/>
                  </a:p>
                </p:txBody>
              </p:sp>
            </p:grpSp>
            <p:grpSp>
              <p:nvGrpSpPr>
                <p:cNvPr id="40" name="Grup 39"/>
                <p:cNvGrpSpPr/>
                <p:nvPr/>
              </p:nvGrpSpPr>
              <p:grpSpPr>
                <a:xfrm>
                  <a:off x="10046292" y="4800811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6</a:t>
                    </a:r>
                    <a:endParaRPr lang="tr-TR" dirty="0"/>
                  </a:p>
                </p:txBody>
              </p:sp>
            </p:grpSp>
            <p:grpSp>
              <p:nvGrpSpPr>
                <p:cNvPr id="43" name="Grup 42"/>
                <p:cNvGrpSpPr/>
                <p:nvPr/>
              </p:nvGrpSpPr>
              <p:grpSpPr>
                <a:xfrm>
                  <a:off x="10586941" y="4800928"/>
                  <a:ext cx="540000" cy="703932"/>
                  <a:chOff x="6810425" y="4814434"/>
                  <a:chExt cx="540000" cy="703932"/>
                </a:xfrm>
              </p:grpSpPr>
              <p:sp>
                <p:nvSpPr>
                  <p:cNvPr id="44" name="Dikdörtgen 43"/>
                  <p:cNvSpPr/>
                  <p:nvPr/>
                </p:nvSpPr>
                <p:spPr>
                  <a:xfrm>
                    <a:off x="6810425" y="4814434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Metin kutusu 44"/>
                  <p:cNvSpPr txBox="1"/>
                  <p:nvPr/>
                </p:nvSpPr>
                <p:spPr>
                  <a:xfrm>
                    <a:off x="6929582" y="5149034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7</a:t>
                    </a:r>
                    <a:endParaRPr lang="tr-TR" dirty="0"/>
                  </a:p>
                </p:txBody>
              </p:sp>
            </p:grpSp>
          </p:grpSp>
          <p:cxnSp>
            <p:nvCxnSpPr>
              <p:cNvPr id="19" name="Düz Bağlayıcı 18"/>
              <p:cNvCxnSpPr/>
              <p:nvPr/>
            </p:nvCxnSpPr>
            <p:spPr>
              <a:xfrm>
                <a:off x="6348413" y="4395788"/>
                <a:ext cx="542925" cy="3571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up 48"/>
          <p:cNvGrpSpPr/>
          <p:nvPr/>
        </p:nvGrpSpPr>
        <p:grpSpPr>
          <a:xfrm>
            <a:off x="1514266" y="831894"/>
            <a:ext cx="3520443" cy="2531240"/>
            <a:chOff x="1514266" y="3589602"/>
            <a:chExt cx="3520443" cy="2531240"/>
          </a:xfrm>
        </p:grpSpPr>
        <p:grpSp>
          <p:nvGrpSpPr>
            <p:cNvPr id="5" name="Grup 4"/>
            <p:cNvGrpSpPr/>
            <p:nvPr/>
          </p:nvGrpSpPr>
          <p:grpSpPr>
            <a:xfrm>
              <a:off x="1550996" y="3858671"/>
              <a:ext cx="3421667" cy="2262171"/>
              <a:chOff x="1398815" y="4627063"/>
              <a:chExt cx="3421667" cy="2262171"/>
            </a:xfrm>
          </p:grpSpPr>
          <p:grpSp>
            <p:nvGrpSpPr>
              <p:cNvPr id="6" name="Grup 5"/>
              <p:cNvGrpSpPr/>
              <p:nvPr/>
            </p:nvGrpSpPr>
            <p:grpSpPr>
              <a:xfrm>
                <a:off x="1398815" y="4627063"/>
                <a:ext cx="3421667" cy="1766449"/>
                <a:chOff x="859317" y="1259615"/>
                <a:chExt cx="4630855" cy="239069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" name="Düz Ok Bağlayıcısı 8"/>
                <p:cNvCxnSpPr>
                  <a:stCxn id="8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Düz Ok Bağlayıcısı 9"/>
                <p:cNvCxnSpPr>
                  <a:stCxn id="8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Oval 10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" name="Düz Bağlayıcı 11"/>
                <p:cNvCxnSpPr>
                  <a:stCxn id="11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Düz Ok Bağlayıcısı 12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5" name="Düz Ok Bağlayıcısı 14"/>
                <p:cNvCxnSpPr>
                  <a:stCxn id="14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Düz Bağlayıcı 15"/>
                <p:cNvCxnSpPr>
                  <a:stCxn id="14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Oval 16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" name="Metin kutusu 6"/>
              <p:cNvSpPr txBox="1"/>
              <p:nvPr/>
            </p:nvSpPr>
            <p:spPr>
              <a:xfrm>
                <a:off x="2479869" y="6519902"/>
                <a:ext cx="1155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b="1" dirty="0" smtClean="0">
                    <a:solidFill>
                      <a:srgbClr val="FF0000"/>
                    </a:solidFill>
                  </a:rPr>
                  <a:t>Max Heap</a:t>
                </a:r>
                <a:endParaRPr lang="tr-TR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8" name="Metin kutusu 57"/>
            <p:cNvSpPr txBox="1"/>
            <p:nvPr/>
          </p:nvSpPr>
          <p:spPr>
            <a:xfrm>
              <a:off x="3076665" y="358960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59" name="Metin kutusu 58"/>
            <p:cNvSpPr txBox="1"/>
            <p:nvPr/>
          </p:nvSpPr>
          <p:spPr>
            <a:xfrm>
              <a:off x="2027386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60" name="Metin kutusu 59"/>
            <p:cNvSpPr txBox="1"/>
            <p:nvPr/>
          </p:nvSpPr>
          <p:spPr>
            <a:xfrm>
              <a:off x="4243455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61" name="Metin kutusu 60"/>
            <p:cNvSpPr txBox="1"/>
            <p:nvPr/>
          </p:nvSpPr>
          <p:spPr>
            <a:xfrm>
              <a:off x="1514266" y="503132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62" name="Metin kutusu 61"/>
            <p:cNvSpPr txBox="1"/>
            <p:nvPr/>
          </p:nvSpPr>
          <p:spPr>
            <a:xfrm>
              <a:off x="2639270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63" name="Metin kutusu 62"/>
            <p:cNvSpPr txBox="1"/>
            <p:nvPr/>
          </p:nvSpPr>
          <p:spPr>
            <a:xfrm>
              <a:off x="3582887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64" name="Metin kutusu 63"/>
            <p:cNvSpPr txBox="1"/>
            <p:nvPr/>
          </p:nvSpPr>
          <p:spPr>
            <a:xfrm>
              <a:off x="4758671" y="50428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0" name="Content Placeholder 4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401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 46"/>
          <p:cNvGrpSpPr/>
          <p:nvPr/>
        </p:nvGrpSpPr>
        <p:grpSpPr>
          <a:xfrm>
            <a:off x="6348348" y="1635811"/>
            <a:ext cx="4314135" cy="1053236"/>
            <a:chOff x="6348348" y="4393519"/>
            <a:chExt cx="4314135" cy="1053236"/>
          </a:xfrm>
        </p:grpSpPr>
        <p:sp>
          <p:nvSpPr>
            <p:cNvPr id="46" name="Metin kutusu 45"/>
            <p:cNvSpPr txBox="1"/>
            <p:nvPr/>
          </p:nvSpPr>
          <p:spPr>
            <a:xfrm>
              <a:off x="8312657" y="5108201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18" name="Grup 17"/>
            <p:cNvGrpSpPr/>
            <p:nvPr/>
          </p:nvGrpSpPr>
          <p:grpSpPr>
            <a:xfrm>
              <a:off x="6348348" y="4393519"/>
              <a:ext cx="4314135" cy="705100"/>
              <a:chOff x="6348348" y="4393519"/>
              <a:chExt cx="4314135" cy="705100"/>
            </a:xfrm>
          </p:grpSpPr>
          <p:grpSp>
            <p:nvGrpSpPr>
              <p:cNvPr id="48" name="Grup 47"/>
              <p:cNvGrpSpPr/>
              <p:nvPr/>
            </p:nvGrpSpPr>
            <p:grpSpPr>
              <a:xfrm>
                <a:off x="6348348" y="4393519"/>
                <a:ext cx="4314135" cy="705100"/>
                <a:chOff x="6812806" y="4799920"/>
                <a:chExt cx="4314135" cy="705100"/>
              </a:xfrm>
            </p:grpSpPr>
            <p:grpSp>
              <p:nvGrpSpPr>
                <p:cNvPr id="24" name="Grup 23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3" name="Dikdörtgen 22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" name="Metin kutusu 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25" name="Grup 24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6" name="Dikdörtgen 2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9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Metin kutusu 2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28" name="Grup 27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9" name="Dikdörtgen 2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3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" name="Metin kutusu 2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1" name="Grup 30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2" name="Dikdörtgen 31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6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Metin kutusu 3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96974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4</a:t>
                    </a:r>
                    <a:endParaRPr lang="tr-TR" dirty="0"/>
                  </a:p>
                </p:txBody>
              </p:sp>
            </p:grpSp>
            <p:grpSp>
              <p:nvGrpSpPr>
                <p:cNvPr id="37" name="Grup 36"/>
                <p:cNvGrpSpPr/>
                <p:nvPr/>
              </p:nvGrpSpPr>
              <p:grpSpPr>
                <a:xfrm>
                  <a:off x="9505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8" name="Dikdörtgen 3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1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" name="Metin kutusu 3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5</a:t>
                    </a:r>
                    <a:endParaRPr lang="tr-TR" dirty="0"/>
                  </a:p>
                </p:txBody>
              </p:sp>
            </p:grpSp>
            <p:grpSp>
              <p:nvGrpSpPr>
                <p:cNvPr id="40" name="Grup 39"/>
                <p:cNvGrpSpPr/>
                <p:nvPr/>
              </p:nvGrpSpPr>
              <p:grpSpPr>
                <a:xfrm>
                  <a:off x="10046292" y="4800811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6</a:t>
                    </a:r>
                    <a:endParaRPr lang="tr-TR" dirty="0"/>
                  </a:p>
                </p:txBody>
              </p:sp>
            </p:grpSp>
            <p:grpSp>
              <p:nvGrpSpPr>
                <p:cNvPr id="43" name="Grup 42"/>
                <p:cNvGrpSpPr/>
                <p:nvPr/>
              </p:nvGrpSpPr>
              <p:grpSpPr>
                <a:xfrm>
                  <a:off x="10586941" y="4800928"/>
                  <a:ext cx="540000" cy="703932"/>
                  <a:chOff x="6810425" y="4814434"/>
                  <a:chExt cx="540000" cy="703932"/>
                </a:xfrm>
              </p:grpSpPr>
              <p:sp>
                <p:nvSpPr>
                  <p:cNvPr id="44" name="Dikdörtgen 43"/>
                  <p:cNvSpPr/>
                  <p:nvPr/>
                </p:nvSpPr>
                <p:spPr>
                  <a:xfrm>
                    <a:off x="6810425" y="4814434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Metin kutusu 44"/>
                  <p:cNvSpPr txBox="1"/>
                  <p:nvPr/>
                </p:nvSpPr>
                <p:spPr>
                  <a:xfrm>
                    <a:off x="6929582" y="5149034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7</a:t>
                    </a:r>
                    <a:endParaRPr lang="tr-TR" dirty="0"/>
                  </a:p>
                </p:txBody>
              </p:sp>
            </p:grpSp>
          </p:grpSp>
          <p:cxnSp>
            <p:nvCxnSpPr>
              <p:cNvPr id="19" name="Düz Bağlayıcı 18"/>
              <p:cNvCxnSpPr/>
              <p:nvPr/>
            </p:nvCxnSpPr>
            <p:spPr>
              <a:xfrm>
                <a:off x="6348413" y="4395788"/>
                <a:ext cx="542925" cy="3571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up 48"/>
          <p:cNvGrpSpPr/>
          <p:nvPr/>
        </p:nvGrpSpPr>
        <p:grpSpPr>
          <a:xfrm>
            <a:off x="1514266" y="831894"/>
            <a:ext cx="3520443" cy="2531240"/>
            <a:chOff x="1514266" y="3589602"/>
            <a:chExt cx="3520443" cy="2531240"/>
          </a:xfrm>
        </p:grpSpPr>
        <p:grpSp>
          <p:nvGrpSpPr>
            <p:cNvPr id="5" name="Grup 4"/>
            <p:cNvGrpSpPr/>
            <p:nvPr/>
          </p:nvGrpSpPr>
          <p:grpSpPr>
            <a:xfrm>
              <a:off x="1550996" y="3858671"/>
              <a:ext cx="3421667" cy="2262171"/>
              <a:chOff x="1398815" y="4627063"/>
              <a:chExt cx="3421667" cy="2262171"/>
            </a:xfrm>
          </p:grpSpPr>
          <p:grpSp>
            <p:nvGrpSpPr>
              <p:cNvPr id="6" name="Grup 5"/>
              <p:cNvGrpSpPr/>
              <p:nvPr/>
            </p:nvGrpSpPr>
            <p:grpSpPr>
              <a:xfrm>
                <a:off x="1398815" y="4627063"/>
                <a:ext cx="3421667" cy="1766449"/>
                <a:chOff x="859317" y="1259615"/>
                <a:chExt cx="4630855" cy="239069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" name="Düz Ok Bağlayıcısı 8"/>
                <p:cNvCxnSpPr>
                  <a:stCxn id="8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Düz Ok Bağlayıcısı 9"/>
                <p:cNvCxnSpPr>
                  <a:stCxn id="8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Oval 10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" name="Düz Bağlayıcı 11"/>
                <p:cNvCxnSpPr>
                  <a:stCxn id="11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Düz Ok Bağlayıcısı 12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5" name="Düz Ok Bağlayıcısı 14"/>
                <p:cNvCxnSpPr>
                  <a:stCxn id="14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Düz Bağlayıcı 15"/>
                <p:cNvCxnSpPr>
                  <a:stCxn id="14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Oval 16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" name="Metin kutusu 6"/>
              <p:cNvSpPr txBox="1"/>
              <p:nvPr/>
            </p:nvSpPr>
            <p:spPr>
              <a:xfrm>
                <a:off x="2479869" y="6519902"/>
                <a:ext cx="1155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b="1" dirty="0" smtClean="0">
                    <a:solidFill>
                      <a:srgbClr val="FF0000"/>
                    </a:solidFill>
                  </a:rPr>
                  <a:t>Max Heap</a:t>
                </a:r>
                <a:endParaRPr lang="tr-TR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8" name="Metin kutusu 57"/>
            <p:cNvSpPr txBox="1"/>
            <p:nvPr/>
          </p:nvSpPr>
          <p:spPr>
            <a:xfrm>
              <a:off x="3076665" y="358960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59" name="Metin kutusu 58"/>
            <p:cNvSpPr txBox="1"/>
            <p:nvPr/>
          </p:nvSpPr>
          <p:spPr>
            <a:xfrm>
              <a:off x="2027386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60" name="Metin kutusu 59"/>
            <p:cNvSpPr txBox="1"/>
            <p:nvPr/>
          </p:nvSpPr>
          <p:spPr>
            <a:xfrm>
              <a:off x="4243455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61" name="Metin kutusu 60"/>
            <p:cNvSpPr txBox="1"/>
            <p:nvPr/>
          </p:nvSpPr>
          <p:spPr>
            <a:xfrm>
              <a:off x="1514266" y="503132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62" name="Metin kutusu 61"/>
            <p:cNvSpPr txBox="1"/>
            <p:nvPr/>
          </p:nvSpPr>
          <p:spPr>
            <a:xfrm>
              <a:off x="2639270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63" name="Metin kutusu 62"/>
            <p:cNvSpPr txBox="1"/>
            <p:nvPr/>
          </p:nvSpPr>
          <p:spPr>
            <a:xfrm>
              <a:off x="3582887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64" name="Metin kutusu 63"/>
            <p:cNvSpPr txBox="1"/>
            <p:nvPr/>
          </p:nvSpPr>
          <p:spPr>
            <a:xfrm>
              <a:off x="4758671" y="50428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50" name="U Dönüş Oku 49"/>
          <p:cNvSpPr/>
          <p:nvPr/>
        </p:nvSpPr>
        <p:spPr>
          <a:xfrm>
            <a:off x="7112001" y="1139671"/>
            <a:ext cx="675640" cy="393186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75000"/>
              <a:gd name="adj5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65" name="U Dönüş Oku 64"/>
          <p:cNvSpPr/>
          <p:nvPr/>
        </p:nvSpPr>
        <p:spPr>
          <a:xfrm>
            <a:off x="7112001" y="831894"/>
            <a:ext cx="1200656" cy="696985"/>
          </a:xfrm>
          <a:prstGeom prst="uturnArrow">
            <a:avLst>
              <a:gd name="adj1" fmla="val 12701"/>
              <a:gd name="adj2" fmla="val 16117"/>
              <a:gd name="adj3" fmla="val 14067"/>
              <a:gd name="adj4" fmla="val 81249"/>
              <a:gd name="adj5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1" name="Content Placeholder 5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3849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 46"/>
          <p:cNvGrpSpPr/>
          <p:nvPr/>
        </p:nvGrpSpPr>
        <p:grpSpPr>
          <a:xfrm>
            <a:off x="6348348" y="1635811"/>
            <a:ext cx="4314135" cy="1053236"/>
            <a:chOff x="6348348" y="4393519"/>
            <a:chExt cx="4314135" cy="1053236"/>
          </a:xfrm>
        </p:grpSpPr>
        <p:sp>
          <p:nvSpPr>
            <p:cNvPr id="46" name="Metin kutusu 45"/>
            <p:cNvSpPr txBox="1"/>
            <p:nvPr/>
          </p:nvSpPr>
          <p:spPr>
            <a:xfrm>
              <a:off x="8312657" y="5108201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18" name="Grup 17"/>
            <p:cNvGrpSpPr/>
            <p:nvPr/>
          </p:nvGrpSpPr>
          <p:grpSpPr>
            <a:xfrm>
              <a:off x="6348348" y="4393519"/>
              <a:ext cx="4314135" cy="705100"/>
              <a:chOff x="6348348" y="4393519"/>
              <a:chExt cx="4314135" cy="705100"/>
            </a:xfrm>
          </p:grpSpPr>
          <p:grpSp>
            <p:nvGrpSpPr>
              <p:cNvPr id="48" name="Grup 47"/>
              <p:cNvGrpSpPr/>
              <p:nvPr/>
            </p:nvGrpSpPr>
            <p:grpSpPr>
              <a:xfrm>
                <a:off x="6348348" y="4393519"/>
                <a:ext cx="4314135" cy="705100"/>
                <a:chOff x="6812806" y="4799920"/>
                <a:chExt cx="4314135" cy="705100"/>
              </a:xfrm>
            </p:grpSpPr>
            <p:grpSp>
              <p:nvGrpSpPr>
                <p:cNvPr id="24" name="Grup 23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3" name="Dikdörtgen 22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" name="Metin kutusu 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25" name="Grup 24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6" name="Dikdörtgen 2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9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Metin kutusu 2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28" name="Grup 27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9" name="Dikdörtgen 2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3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" name="Metin kutusu 2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1" name="Grup 30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2" name="Dikdörtgen 31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6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Metin kutusu 3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96974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4</a:t>
                    </a:r>
                    <a:endParaRPr lang="tr-TR" dirty="0"/>
                  </a:p>
                </p:txBody>
              </p:sp>
            </p:grpSp>
            <p:grpSp>
              <p:nvGrpSpPr>
                <p:cNvPr id="37" name="Grup 36"/>
                <p:cNvGrpSpPr/>
                <p:nvPr/>
              </p:nvGrpSpPr>
              <p:grpSpPr>
                <a:xfrm>
                  <a:off x="9505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8" name="Dikdörtgen 3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1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" name="Metin kutusu 3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5</a:t>
                    </a:r>
                    <a:endParaRPr lang="tr-TR" dirty="0"/>
                  </a:p>
                </p:txBody>
              </p:sp>
            </p:grpSp>
            <p:grpSp>
              <p:nvGrpSpPr>
                <p:cNvPr id="40" name="Grup 39"/>
                <p:cNvGrpSpPr/>
                <p:nvPr/>
              </p:nvGrpSpPr>
              <p:grpSpPr>
                <a:xfrm>
                  <a:off x="10046292" y="4800811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6</a:t>
                    </a:r>
                    <a:endParaRPr lang="tr-TR" dirty="0"/>
                  </a:p>
                </p:txBody>
              </p:sp>
            </p:grpSp>
            <p:grpSp>
              <p:nvGrpSpPr>
                <p:cNvPr id="43" name="Grup 42"/>
                <p:cNvGrpSpPr/>
                <p:nvPr/>
              </p:nvGrpSpPr>
              <p:grpSpPr>
                <a:xfrm>
                  <a:off x="10586941" y="4800928"/>
                  <a:ext cx="540000" cy="703932"/>
                  <a:chOff x="6810425" y="4814434"/>
                  <a:chExt cx="540000" cy="703932"/>
                </a:xfrm>
              </p:grpSpPr>
              <p:sp>
                <p:nvSpPr>
                  <p:cNvPr id="44" name="Dikdörtgen 43"/>
                  <p:cNvSpPr/>
                  <p:nvPr/>
                </p:nvSpPr>
                <p:spPr>
                  <a:xfrm>
                    <a:off x="6810425" y="4814434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Metin kutusu 44"/>
                  <p:cNvSpPr txBox="1"/>
                  <p:nvPr/>
                </p:nvSpPr>
                <p:spPr>
                  <a:xfrm>
                    <a:off x="6929582" y="5149034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7</a:t>
                    </a:r>
                    <a:endParaRPr lang="tr-TR" dirty="0"/>
                  </a:p>
                </p:txBody>
              </p:sp>
            </p:grpSp>
          </p:grpSp>
          <p:cxnSp>
            <p:nvCxnSpPr>
              <p:cNvPr id="19" name="Düz Bağlayıcı 18"/>
              <p:cNvCxnSpPr/>
              <p:nvPr/>
            </p:nvCxnSpPr>
            <p:spPr>
              <a:xfrm>
                <a:off x="6348413" y="4395788"/>
                <a:ext cx="542925" cy="3571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up 48"/>
          <p:cNvGrpSpPr/>
          <p:nvPr/>
        </p:nvGrpSpPr>
        <p:grpSpPr>
          <a:xfrm>
            <a:off x="1514266" y="831894"/>
            <a:ext cx="3520443" cy="2531240"/>
            <a:chOff x="1514266" y="3589602"/>
            <a:chExt cx="3520443" cy="2531240"/>
          </a:xfrm>
        </p:grpSpPr>
        <p:grpSp>
          <p:nvGrpSpPr>
            <p:cNvPr id="5" name="Grup 4"/>
            <p:cNvGrpSpPr/>
            <p:nvPr/>
          </p:nvGrpSpPr>
          <p:grpSpPr>
            <a:xfrm>
              <a:off x="1550996" y="3858671"/>
              <a:ext cx="3421667" cy="2262171"/>
              <a:chOff x="1398815" y="4627063"/>
              <a:chExt cx="3421667" cy="2262171"/>
            </a:xfrm>
          </p:grpSpPr>
          <p:grpSp>
            <p:nvGrpSpPr>
              <p:cNvPr id="6" name="Grup 5"/>
              <p:cNvGrpSpPr/>
              <p:nvPr/>
            </p:nvGrpSpPr>
            <p:grpSpPr>
              <a:xfrm>
                <a:off x="1398815" y="4627063"/>
                <a:ext cx="3421667" cy="1766449"/>
                <a:chOff x="859317" y="1259615"/>
                <a:chExt cx="4630855" cy="239069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" name="Düz Ok Bağlayıcısı 8"/>
                <p:cNvCxnSpPr>
                  <a:stCxn id="8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Düz Ok Bağlayıcısı 9"/>
                <p:cNvCxnSpPr>
                  <a:stCxn id="8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Oval 10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" name="Düz Bağlayıcı 11"/>
                <p:cNvCxnSpPr>
                  <a:stCxn id="11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Düz Ok Bağlayıcısı 12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5" name="Düz Ok Bağlayıcısı 14"/>
                <p:cNvCxnSpPr>
                  <a:stCxn id="14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Düz Bağlayıcı 15"/>
                <p:cNvCxnSpPr>
                  <a:stCxn id="14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Oval 16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" name="Metin kutusu 6"/>
              <p:cNvSpPr txBox="1"/>
              <p:nvPr/>
            </p:nvSpPr>
            <p:spPr>
              <a:xfrm>
                <a:off x="2479869" y="6519902"/>
                <a:ext cx="1155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b="1" dirty="0" smtClean="0">
                    <a:solidFill>
                      <a:srgbClr val="FF0000"/>
                    </a:solidFill>
                  </a:rPr>
                  <a:t>Max Heap</a:t>
                </a:r>
                <a:endParaRPr lang="tr-TR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8" name="Metin kutusu 57"/>
            <p:cNvSpPr txBox="1"/>
            <p:nvPr/>
          </p:nvSpPr>
          <p:spPr>
            <a:xfrm>
              <a:off x="3076665" y="358960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59" name="Metin kutusu 58"/>
            <p:cNvSpPr txBox="1"/>
            <p:nvPr/>
          </p:nvSpPr>
          <p:spPr>
            <a:xfrm>
              <a:off x="2027386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60" name="Metin kutusu 59"/>
            <p:cNvSpPr txBox="1"/>
            <p:nvPr/>
          </p:nvSpPr>
          <p:spPr>
            <a:xfrm>
              <a:off x="4243455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61" name="Metin kutusu 60"/>
            <p:cNvSpPr txBox="1"/>
            <p:nvPr/>
          </p:nvSpPr>
          <p:spPr>
            <a:xfrm>
              <a:off x="1514266" y="503132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62" name="Metin kutusu 61"/>
            <p:cNvSpPr txBox="1"/>
            <p:nvPr/>
          </p:nvSpPr>
          <p:spPr>
            <a:xfrm>
              <a:off x="2639270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63" name="Metin kutusu 62"/>
            <p:cNvSpPr txBox="1"/>
            <p:nvPr/>
          </p:nvSpPr>
          <p:spPr>
            <a:xfrm>
              <a:off x="3582887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64" name="Metin kutusu 63"/>
            <p:cNvSpPr txBox="1"/>
            <p:nvPr/>
          </p:nvSpPr>
          <p:spPr>
            <a:xfrm>
              <a:off x="4758671" y="50428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50" name="U Dönüş Oku 49"/>
          <p:cNvSpPr/>
          <p:nvPr/>
        </p:nvSpPr>
        <p:spPr>
          <a:xfrm>
            <a:off x="7648303" y="1139671"/>
            <a:ext cx="1219472" cy="393186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75000"/>
              <a:gd name="adj5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65" name="U Dönüş Oku 64"/>
          <p:cNvSpPr/>
          <p:nvPr/>
        </p:nvSpPr>
        <p:spPr>
          <a:xfrm>
            <a:off x="7648303" y="831894"/>
            <a:ext cx="1768747" cy="696985"/>
          </a:xfrm>
          <a:prstGeom prst="uturnArrow">
            <a:avLst>
              <a:gd name="adj1" fmla="val 12701"/>
              <a:gd name="adj2" fmla="val 16117"/>
              <a:gd name="adj3" fmla="val 14067"/>
              <a:gd name="adj4" fmla="val 85933"/>
              <a:gd name="adj5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1" name="Content Placeholder 5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955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 46"/>
          <p:cNvGrpSpPr/>
          <p:nvPr/>
        </p:nvGrpSpPr>
        <p:grpSpPr>
          <a:xfrm>
            <a:off x="6348348" y="1635811"/>
            <a:ext cx="4314135" cy="1053236"/>
            <a:chOff x="6348348" y="4393519"/>
            <a:chExt cx="4314135" cy="1053236"/>
          </a:xfrm>
        </p:grpSpPr>
        <p:sp>
          <p:nvSpPr>
            <p:cNvPr id="46" name="Metin kutusu 45"/>
            <p:cNvSpPr txBox="1"/>
            <p:nvPr/>
          </p:nvSpPr>
          <p:spPr>
            <a:xfrm>
              <a:off x="8312657" y="5108201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18" name="Grup 17"/>
            <p:cNvGrpSpPr/>
            <p:nvPr/>
          </p:nvGrpSpPr>
          <p:grpSpPr>
            <a:xfrm>
              <a:off x="6348348" y="4393519"/>
              <a:ext cx="4314135" cy="705100"/>
              <a:chOff x="6348348" y="4393519"/>
              <a:chExt cx="4314135" cy="705100"/>
            </a:xfrm>
          </p:grpSpPr>
          <p:grpSp>
            <p:nvGrpSpPr>
              <p:cNvPr id="48" name="Grup 47"/>
              <p:cNvGrpSpPr/>
              <p:nvPr/>
            </p:nvGrpSpPr>
            <p:grpSpPr>
              <a:xfrm>
                <a:off x="6348348" y="4393519"/>
                <a:ext cx="4314135" cy="705100"/>
                <a:chOff x="6812806" y="4799920"/>
                <a:chExt cx="4314135" cy="705100"/>
              </a:xfrm>
            </p:grpSpPr>
            <p:grpSp>
              <p:nvGrpSpPr>
                <p:cNvPr id="24" name="Grup 23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3" name="Dikdörtgen 22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" name="Metin kutusu 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25" name="Grup 24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6" name="Dikdörtgen 2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9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Metin kutusu 2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28" name="Grup 27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9" name="Dikdörtgen 2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3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" name="Metin kutusu 2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1" name="Grup 30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2" name="Dikdörtgen 31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6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Metin kutusu 3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96974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4</a:t>
                    </a:r>
                    <a:endParaRPr lang="tr-TR" dirty="0"/>
                  </a:p>
                </p:txBody>
              </p:sp>
            </p:grpSp>
            <p:grpSp>
              <p:nvGrpSpPr>
                <p:cNvPr id="37" name="Grup 36"/>
                <p:cNvGrpSpPr/>
                <p:nvPr/>
              </p:nvGrpSpPr>
              <p:grpSpPr>
                <a:xfrm>
                  <a:off x="9505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8" name="Dikdörtgen 3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1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" name="Metin kutusu 3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5</a:t>
                    </a:r>
                    <a:endParaRPr lang="tr-TR" dirty="0"/>
                  </a:p>
                </p:txBody>
              </p:sp>
            </p:grpSp>
            <p:grpSp>
              <p:nvGrpSpPr>
                <p:cNvPr id="40" name="Grup 39"/>
                <p:cNvGrpSpPr/>
                <p:nvPr/>
              </p:nvGrpSpPr>
              <p:grpSpPr>
                <a:xfrm>
                  <a:off x="10046292" y="4800811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6</a:t>
                    </a:r>
                    <a:endParaRPr lang="tr-TR" dirty="0"/>
                  </a:p>
                </p:txBody>
              </p:sp>
            </p:grpSp>
            <p:grpSp>
              <p:nvGrpSpPr>
                <p:cNvPr id="43" name="Grup 42"/>
                <p:cNvGrpSpPr/>
                <p:nvPr/>
              </p:nvGrpSpPr>
              <p:grpSpPr>
                <a:xfrm>
                  <a:off x="10586941" y="4800928"/>
                  <a:ext cx="540000" cy="703932"/>
                  <a:chOff x="6810425" y="4814434"/>
                  <a:chExt cx="540000" cy="703932"/>
                </a:xfrm>
              </p:grpSpPr>
              <p:sp>
                <p:nvSpPr>
                  <p:cNvPr id="44" name="Dikdörtgen 43"/>
                  <p:cNvSpPr/>
                  <p:nvPr/>
                </p:nvSpPr>
                <p:spPr>
                  <a:xfrm>
                    <a:off x="6810425" y="4814434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Metin kutusu 44"/>
                  <p:cNvSpPr txBox="1"/>
                  <p:nvPr/>
                </p:nvSpPr>
                <p:spPr>
                  <a:xfrm>
                    <a:off x="6929582" y="5149034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7</a:t>
                    </a:r>
                    <a:endParaRPr lang="tr-TR" dirty="0"/>
                  </a:p>
                </p:txBody>
              </p:sp>
            </p:grpSp>
          </p:grpSp>
          <p:cxnSp>
            <p:nvCxnSpPr>
              <p:cNvPr id="19" name="Düz Bağlayıcı 18"/>
              <p:cNvCxnSpPr/>
              <p:nvPr/>
            </p:nvCxnSpPr>
            <p:spPr>
              <a:xfrm>
                <a:off x="6348413" y="4395788"/>
                <a:ext cx="542925" cy="3571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up 48"/>
          <p:cNvGrpSpPr/>
          <p:nvPr/>
        </p:nvGrpSpPr>
        <p:grpSpPr>
          <a:xfrm>
            <a:off x="1514266" y="831894"/>
            <a:ext cx="3520443" cy="2531240"/>
            <a:chOff x="1514266" y="3589602"/>
            <a:chExt cx="3520443" cy="2531240"/>
          </a:xfrm>
        </p:grpSpPr>
        <p:grpSp>
          <p:nvGrpSpPr>
            <p:cNvPr id="5" name="Grup 4"/>
            <p:cNvGrpSpPr/>
            <p:nvPr/>
          </p:nvGrpSpPr>
          <p:grpSpPr>
            <a:xfrm>
              <a:off x="1550996" y="3858671"/>
              <a:ext cx="3421667" cy="2262171"/>
              <a:chOff x="1398815" y="4627063"/>
              <a:chExt cx="3421667" cy="2262171"/>
            </a:xfrm>
          </p:grpSpPr>
          <p:grpSp>
            <p:nvGrpSpPr>
              <p:cNvPr id="6" name="Grup 5"/>
              <p:cNvGrpSpPr/>
              <p:nvPr/>
            </p:nvGrpSpPr>
            <p:grpSpPr>
              <a:xfrm>
                <a:off x="1398815" y="4627063"/>
                <a:ext cx="3421667" cy="1766449"/>
                <a:chOff x="859317" y="1259615"/>
                <a:chExt cx="4630855" cy="2390696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" name="Düz Ok Bağlayıcısı 8"/>
                <p:cNvCxnSpPr>
                  <a:stCxn id="8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Düz Ok Bağlayıcısı 9"/>
                <p:cNvCxnSpPr>
                  <a:stCxn id="8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Oval 10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" name="Düz Bağlayıcı 11"/>
                <p:cNvCxnSpPr>
                  <a:stCxn id="11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Düz Ok Bağlayıcısı 12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5" name="Düz Ok Bağlayıcısı 14"/>
                <p:cNvCxnSpPr>
                  <a:stCxn id="14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Düz Bağlayıcı 15"/>
                <p:cNvCxnSpPr>
                  <a:stCxn id="14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Oval 16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" name="Metin kutusu 6"/>
              <p:cNvSpPr txBox="1"/>
              <p:nvPr/>
            </p:nvSpPr>
            <p:spPr>
              <a:xfrm>
                <a:off x="2479869" y="6519902"/>
                <a:ext cx="1155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b="1" dirty="0" smtClean="0">
                    <a:solidFill>
                      <a:srgbClr val="FF0000"/>
                    </a:solidFill>
                  </a:rPr>
                  <a:t>Max Heap</a:t>
                </a:r>
                <a:endParaRPr lang="tr-TR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8" name="Metin kutusu 57"/>
            <p:cNvSpPr txBox="1"/>
            <p:nvPr/>
          </p:nvSpPr>
          <p:spPr>
            <a:xfrm>
              <a:off x="3076665" y="358960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59" name="Metin kutusu 58"/>
            <p:cNvSpPr txBox="1"/>
            <p:nvPr/>
          </p:nvSpPr>
          <p:spPr>
            <a:xfrm>
              <a:off x="2027386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60" name="Metin kutusu 59"/>
            <p:cNvSpPr txBox="1"/>
            <p:nvPr/>
          </p:nvSpPr>
          <p:spPr>
            <a:xfrm>
              <a:off x="4243455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61" name="Metin kutusu 60"/>
            <p:cNvSpPr txBox="1"/>
            <p:nvPr/>
          </p:nvSpPr>
          <p:spPr>
            <a:xfrm>
              <a:off x="1514266" y="503132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62" name="Metin kutusu 61"/>
            <p:cNvSpPr txBox="1"/>
            <p:nvPr/>
          </p:nvSpPr>
          <p:spPr>
            <a:xfrm>
              <a:off x="2639270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63" name="Metin kutusu 62"/>
            <p:cNvSpPr txBox="1"/>
            <p:nvPr/>
          </p:nvSpPr>
          <p:spPr>
            <a:xfrm>
              <a:off x="3582887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64" name="Metin kutusu 63"/>
            <p:cNvSpPr txBox="1"/>
            <p:nvPr/>
          </p:nvSpPr>
          <p:spPr>
            <a:xfrm>
              <a:off x="4758671" y="50428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50" name="U Dönüş Oku 49"/>
          <p:cNvSpPr/>
          <p:nvPr/>
        </p:nvSpPr>
        <p:spPr>
          <a:xfrm>
            <a:off x="8195083" y="1139671"/>
            <a:ext cx="1753779" cy="393186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75000"/>
              <a:gd name="adj5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65" name="U Dönüş Oku 64"/>
          <p:cNvSpPr/>
          <p:nvPr/>
        </p:nvSpPr>
        <p:spPr>
          <a:xfrm>
            <a:off x="8195084" y="831894"/>
            <a:ext cx="2310991" cy="696985"/>
          </a:xfrm>
          <a:prstGeom prst="uturnArrow">
            <a:avLst>
              <a:gd name="adj1" fmla="val 12701"/>
              <a:gd name="adj2" fmla="val 16117"/>
              <a:gd name="adj3" fmla="val 14067"/>
              <a:gd name="adj4" fmla="val 85933"/>
              <a:gd name="adj5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66" name="Dikdörtgen 65"/>
          <p:cNvSpPr/>
          <p:nvPr/>
        </p:nvSpPr>
        <p:spPr>
          <a:xfrm>
            <a:off x="1696140" y="3810585"/>
            <a:ext cx="3846857" cy="217290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3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Çocuklar:</a:t>
            </a:r>
          </a:p>
          <a:p>
            <a:pPr>
              <a:lnSpc>
                <a:spcPct val="13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indeks 1 → 2, 3</a:t>
            </a:r>
          </a:p>
          <a:p>
            <a:pPr>
              <a:lnSpc>
                <a:spcPct val="13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indeks 2 </a:t>
            </a:r>
            <a:r>
              <a:rPr lang="tr-TR" sz="2000" dirty="0">
                <a:latin typeface="Lucida Console" panose="020B0609040504020204" pitchFamily="49" charset="0"/>
              </a:rPr>
              <a:t>→ </a:t>
            </a:r>
            <a:r>
              <a:rPr lang="tr-TR" sz="2000" dirty="0" smtClean="0">
                <a:latin typeface="Lucida Console" panose="020B0609040504020204" pitchFamily="49" charset="0"/>
              </a:rPr>
              <a:t>4, 5</a:t>
            </a:r>
          </a:p>
          <a:p>
            <a:pPr>
              <a:lnSpc>
                <a:spcPct val="13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indeks 3 </a:t>
            </a:r>
            <a:r>
              <a:rPr lang="tr-TR" sz="2000" dirty="0">
                <a:latin typeface="Lucida Console" panose="020B0609040504020204" pitchFamily="49" charset="0"/>
              </a:rPr>
              <a:t>→ </a:t>
            </a:r>
            <a:r>
              <a:rPr lang="tr-TR" sz="2000" dirty="0" smtClean="0">
                <a:latin typeface="Lucida Console" panose="020B0609040504020204" pitchFamily="49" charset="0"/>
              </a:rPr>
              <a:t>6, 7</a:t>
            </a:r>
          </a:p>
          <a:p>
            <a:pPr>
              <a:lnSpc>
                <a:spcPct val="13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indeks k </a:t>
            </a:r>
            <a:r>
              <a:rPr lang="tr-TR" sz="2000" dirty="0">
                <a:latin typeface="Lucida Console" panose="020B0609040504020204" pitchFamily="49" charset="0"/>
              </a:rPr>
              <a:t>→ </a:t>
            </a:r>
            <a:r>
              <a:rPr lang="tr-TR" sz="2000" dirty="0" smtClean="0">
                <a:latin typeface="Lucida Console" panose="020B0609040504020204" pitchFamily="49" charset="0"/>
              </a:rPr>
              <a:t>2*k, 2*k + 1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67" name="Dikdörtgen 66"/>
          <p:cNvSpPr/>
          <p:nvPr/>
        </p:nvSpPr>
        <p:spPr>
          <a:xfrm>
            <a:off x="7074061" y="3810585"/>
            <a:ext cx="3600514" cy="217290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30000"/>
              </a:lnSpc>
            </a:pPr>
            <a:r>
              <a:rPr lang="tr-TR" sz="2400" b="1" dirty="0" smtClean="0">
                <a:solidFill>
                  <a:srgbClr val="FF0000"/>
                </a:solidFill>
              </a:rPr>
              <a:t>Ata: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indeks 7 → </a:t>
            </a:r>
            <a:r>
              <a:rPr lang="tr-TR" sz="2000" dirty="0" smtClean="0">
                <a:latin typeface="Lucida Console" panose="020B0609040504020204" pitchFamily="49" charset="0"/>
                <a:sym typeface="Symbol" panose="05050102010706020507" pitchFamily="18" charset="2"/>
              </a:rPr>
              <a:t> </a:t>
            </a:r>
            <a:r>
              <a:rPr lang="tr-TR" sz="2000" dirty="0" smtClean="0">
                <a:latin typeface="Lucida Console" panose="020B0609040504020204" pitchFamily="49" charset="0"/>
              </a:rPr>
              <a:t>7/2 </a:t>
            </a:r>
            <a:r>
              <a:rPr lang="tr-TR" sz="2000" dirty="0" smtClean="0">
                <a:latin typeface="Lucida Console" panose="020B0609040504020204" pitchFamily="49" charset="0"/>
                <a:sym typeface="Symbol" panose="05050102010706020507" pitchFamily="18" charset="2"/>
              </a:rPr>
              <a:t></a:t>
            </a:r>
            <a:r>
              <a:rPr lang="tr-TR" sz="2000" dirty="0" smtClean="0">
                <a:latin typeface="Lucida Console" panose="020B0609040504020204" pitchFamily="49" charset="0"/>
              </a:rPr>
              <a:t> = 3</a:t>
            </a:r>
          </a:p>
          <a:p>
            <a:pPr>
              <a:lnSpc>
                <a:spcPct val="13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indeks 6 </a:t>
            </a:r>
            <a:r>
              <a:rPr lang="tr-TR" sz="2000" dirty="0">
                <a:latin typeface="Lucida Console" panose="020B0609040504020204" pitchFamily="49" charset="0"/>
              </a:rPr>
              <a:t>→ </a:t>
            </a:r>
            <a:r>
              <a:rPr lang="tr-TR" sz="2000" dirty="0" smtClean="0">
                <a:latin typeface="Lucida Console" panose="020B0609040504020204" pitchFamily="49" charset="0"/>
                <a:sym typeface="Symbol" panose="05050102010706020507" pitchFamily="18" charset="2"/>
              </a:rPr>
              <a:t> </a:t>
            </a:r>
            <a:r>
              <a:rPr lang="tr-TR" sz="2000" dirty="0" smtClean="0">
                <a:latin typeface="Lucida Console" panose="020B0609040504020204" pitchFamily="49" charset="0"/>
              </a:rPr>
              <a:t>6/2 </a:t>
            </a:r>
            <a:r>
              <a:rPr lang="tr-TR" sz="2000" dirty="0">
                <a:latin typeface="Lucida Console" panose="020B0609040504020204" pitchFamily="49" charset="0"/>
                <a:sym typeface="Symbol" panose="05050102010706020507" pitchFamily="18" charset="2"/>
              </a:rPr>
              <a:t></a:t>
            </a:r>
            <a:r>
              <a:rPr lang="tr-TR" sz="2000" dirty="0">
                <a:latin typeface="Lucida Console" panose="020B0609040504020204" pitchFamily="49" charset="0"/>
              </a:rPr>
              <a:t> = 3</a:t>
            </a:r>
            <a:endParaRPr lang="tr-TR" sz="2000" dirty="0" smtClean="0">
              <a:latin typeface="Lucida Console" panose="020B0609040504020204" pitchFamily="49" charset="0"/>
            </a:endParaRPr>
          </a:p>
          <a:p>
            <a:pPr>
              <a:lnSpc>
                <a:spcPct val="13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indeks 5 </a:t>
            </a:r>
            <a:r>
              <a:rPr lang="tr-TR" sz="2000" dirty="0">
                <a:latin typeface="Lucida Console" panose="020B0609040504020204" pitchFamily="49" charset="0"/>
              </a:rPr>
              <a:t>→ </a:t>
            </a:r>
            <a:r>
              <a:rPr lang="tr-TR" sz="2000" dirty="0">
                <a:latin typeface="Lucida Console" panose="020B0609040504020204" pitchFamily="49" charset="0"/>
                <a:sym typeface="Symbol" panose="05050102010706020507" pitchFamily="18" charset="2"/>
              </a:rPr>
              <a:t> </a:t>
            </a:r>
            <a:r>
              <a:rPr lang="tr-TR" sz="2000" dirty="0" smtClean="0">
                <a:latin typeface="Lucida Console" panose="020B0609040504020204" pitchFamily="49" charset="0"/>
              </a:rPr>
              <a:t>5/2 </a:t>
            </a:r>
            <a:r>
              <a:rPr lang="tr-TR" sz="2000" dirty="0">
                <a:latin typeface="Lucida Console" panose="020B0609040504020204" pitchFamily="49" charset="0"/>
                <a:sym typeface="Symbol" panose="05050102010706020507" pitchFamily="18" charset="2"/>
              </a:rPr>
              <a:t></a:t>
            </a:r>
            <a:r>
              <a:rPr lang="tr-TR" sz="2000" dirty="0">
                <a:latin typeface="Lucida Console" panose="020B0609040504020204" pitchFamily="49" charset="0"/>
              </a:rPr>
              <a:t> = </a:t>
            </a:r>
            <a:r>
              <a:rPr lang="tr-TR" sz="2000" dirty="0" smtClean="0">
                <a:latin typeface="Lucida Console" panose="020B0609040504020204" pitchFamily="49" charset="0"/>
              </a:rPr>
              <a:t>2</a:t>
            </a:r>
          </a:p>
          <a:p>
            <a:pPr>
              <a:lnSpc>
                <a:spcPct val="13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indeks k </a:t>
            </a:r>
            <a:r>
              <a:rPr lang="tr-TR" sz="2000" dirty="0">
                <a:latin typeface="Lucida Console" panose="020B0609040504020204" pitchFamily="49" charset="0"/>
              </a:rPr>
              <a:t>→ </a:t>
            </a:r>
            <a:r>
              <a:rPr lang="tr-TR" sz="2000" dirty="0">
                <a:latin typeface="Lucida Console" panose="020B0609040504020204" pitchFamily="49" charset="0"/>
                <a:sym typeface="Symbol" panose="05050102010706020507" pitchFamily="18" charset="2"/>
              </a:rPr>
              <a:t> </a:t>
            </a:r>
            <a:r>
              <a:rPr lang="tr-TR" sz="2000" dirty="0" smtClean="0">
                <a:latin typeface="Lucida Console" panose="020B0609040504020204" pitchFamily="49" charset="0"/>
              </a:rPr>
              <a:t>k/2 </a:t>
            </a:r>
            <a:r>
              <a:rPr lang="tr-TR" sz="2000" dirty="0" smtClean="0">
                <a:latin typeface="Lucida Console" panose="020B0609040504020204" pitchFamily="49" charset="0"/>
                <a:sym typeface="Symbol" panose="05050102010706020507" pitchFamily="18" charset="2"/>
              </a:rPr>
              <a:t>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1" name="Content Placeholder 5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5112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İkili </a:t>
            </a:r>
            <a:r>
              <a:rPr lang="tr-TR" dirty="0" err="1"/>
              <a:t>Max</a:t>
            </a:r>
            <a:r>
              <a:rPr lang="tr-TR" dirty="0"/>
              <a:t> </a:t>
            </a:r>
            <a:r>
              <a:rPr lang="tr-TR" dirty="0" err="1" smtClean="0"/>
              <a:t>Heap</a:t>
            </a:r>
            <a:r>
              <a:rPr lang="tr-TR" dirty="0" smtClean="0"/>
              <a:t> Ağacı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</a:t>
            </a:r>
            <a:r>
              <a:rPr lang="tr-TR" dirty="0" smtClean="0"/>
              <a:t>bir düğümün değeri, </a:t>
            </a:r>
            <a:r>
              <a:rPr lang="tr-TR" dirty="0"/>
              <a:t>çocuklarının </a:t>
            </a:r>
            <a:r>
              <a:rPr lang="tr-TR" dirty="0" smtClean="0"/>
              <a:t>değerinden büyüktür.</a:t>
            </a:r>
            <a:endParaRPr lang="tr-TR" dirty="0"/>
          </a:p>
          <a:p>
            <a:r>
              <a:rPr lang="tr-TR" dirty="0"/>
              <a:t>En büyük değer </a:t>
            </a:r>
            <a:r>
              <a:rPr lang="tr-TR" dirty="0" smtClean="0"/>
              <a:t>kök düğümde bulunur. Kök düğümün </a:t>
            </a:r>
            <a:r>
              <a:rPr lang="tr-TR" dirty="0"/>
              <a:t>indeksi 1’dir. 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7" name="Grup 4"/>
          <p:cNvGrpSpPr/>
          <p:nvPr/>
        </p:nvGrpSpPr>
        <p:grpSpPr>
          <a:xfrm>
            <a:off x="6348348" y="3783920"/>
            <a:ext cx="4314135" cy="1053236"/>
            <a:chOff x="6348348" y="4393519"/>
            <a:chExt cx="4314135" cy="1053236"/>
          </a:xfrm>
        </p:grpSpPr>
        <p:sp>
          <p:nvSpPr>
            <p:cNvPr id="8" name="Metin kutusu 5"/>
            <p:cNvSpPr txBox="1"/>
            <p:nvPr/>
          </p:nvSpPr>
          <p:spPr>
            <a:xfrm>
              <a:off x="8312657" y="5108201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9" name="Grup 6"/>
            <p:cNvGrpSpPr/>
            <p:nvPr/>
          </p:nvGrpSpPr>
          <p:grpSpPr>
            <a:xfrm>
              <a:off x="6348348" y="4393519"/>
              <a:ext cx="4314135" cy="705100"/>
              <a:chOff x="6348348" y="4393519"/>
              <a:chExt cx="4314135" cy="705100"/>
            </a:xfrm>
          </p:grpSpPr>
          <p:grpSp>
            <p:nvGrpSpPr>
              <p:cNvPr id="10" name="Grup 7"/>
              <p:cNvGrpSpPr/>
              <p:nvPr/>
            </p:nvGrpSpPr>
            <p:grpSpPr>
              <a:xfrm>
                <a:off x="6348348" y="4393519"/>
                <a:ext cx="4314135" cy="705100"/>
                <a:chOff x="6812806" y="4799920"/>
                <a:chExt cx="4314135" cy="705100"/>
              </a:xfrm>
            </p:grpSpPr>
            <p:grpSp>
              <p:nvGrpSpPr>
                <p:cNvPr id="12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4" name="Dikdörtgen 31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" name="Metin kutusu 3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2" name="Dikdörtgen 2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9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Metin kutusu 3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4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0" name="Dikdörtgen 2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3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" name="Metin kutusu 2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5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8" name="Dikdörtgen 2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6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" name="Metin kutusu 2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  <p:grpSp>
              <p:nvGrpSpPr>
                <p:cNvPr id="16" name="Grup 13"/>
                <p:cNvGrpSpPr/>
                <p:nvPr/>
              </p:nvGrpSpPr>
              <p:grpSpPr>
                <a:xfrm>
                  <a:off x="896974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6" name="Dikdörtgen 2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Metin kutusu 2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4</a:t>
                    </a:r>
                    <a:endParaRPr lang="tr-TR" dirty="0"/>
                  </a:p>
                </p:txBody>
              </p:sp>
            </p:grpSp>
            <p:grpSp>
              <p:nvGrpSpPr>
                <p:cNvPr id="17" name="Grup 14"/>
                <p:cNvGrpSpPr/>
                <p:nvPr/>
              </p:nvGrpSpPr>
              <p:grpSpPr>
                <a:xfrm>
                  <a:off x="9505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4" name="Dikdörtgen 21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1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" name="Metin kutusu 22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5</a:t>
                    </a:r>
                    <a:endParaRPr lang="tr-TR" dirty="0"/>
                  </a:p>
                </p:txBody>
              </p:sp>
            </p:grpSp>
            <p:grpSp>
              <p:nvGrpSpPr>
                <p:cNvPr id="18" name="Grup 15"/>
                <p:cNvGrpSpPr/>
                <p:nvPr/>
              </p:nvGrpSpPr>
              <p:grpSpPr>
                <a:xfrm>
                  <a:off x="10046292" y="4800811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2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6</a:t>
                    </a:r>
                    <a:endParaRPr lang="tr-TR" dirty="0"/>
                  </a:p>
                </p:txBody>
              </p:sp>
            </p:grpSp>
            <p:grpSp>
              <p:nvGrpSpPr>
                <p:cNvPr id="19" name="Grup 16"/>
                <p:cNvGrpSpPr/>
                <p:nvPr/>
              </p:nvGrpSpPr>
              <p:grpSpPr>
                <a:xfrm>
                  <a:off x="10586941" y="4800928"/>
                  <a:ext cx="540000" cy="703932"/>
                  <a:chOff x="6810425" y="4814434"/>
                  <a:chExt cx="540000" cy="703932"/>
                </a:xfrm>
              </p:grpSpPr>
              <p:sp>
                <p:nvSpPr>
                  <p:cNvPr id="20" name="Dikdörtgen 17"/>
                  <p:cNvSpPr/>
                  <p:nvPr/>
                </p:nvSpPr>
                <p:spPr>
                  <a:xfrm>
                    <a:off x="6810425" y="4814434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18"/>
                  <p:cNvSpPr txBox="1"/>
                  <p:nvPr/>
                </p:nvSpPr>
                <p:spPr>
                  <a:xfrm>
                    <a:off x="6929582" y="5149034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7</a:t>
                    </a:r>
                    <a:endParaRPr lang="tr-TR" dirty="0"/>
                  </a:p>
                </p:txBody>
              </p:sp>
            </p:grpSp>
          </p:grpSp>
          <p:cxnSp>
            <p:nvCxnSpPr>
              <p:cNvPr id="11" name="Düz Bağlayıcı 8"/>
              <p:cNvCxnSpPr/>
              <p:nvPr/>
            </p:nvCxnSpPr>
            <p:spPr>
              <a:xfrm>
                <a:off x="6348413" y="4395788"/>
                <a:ext cx="542925" cy="357187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up 33"/>
          <p:cNvGrpSpPr/>
          <p:nvPr/>
        </p:nvGrpSpPr>
        <p:grpSpPr>
          <a:xfrm>
            <a:off x="1514266" y="2980003"/>
            <a:ext cx="3520443" cy="2531240"/>
            <a:chOff x="1514266" y="3589602"/>
            <a:chExt cx="3520443" cy="2531240"/>
          </a:xfrm>
        </p:grpSpPr>
        <p:grpSp>
          <p:nvGrpSpPr>
            <p:cNvPr id="37" name="Grup 34"/>
            <p:cNvGrpSpPr/>
            <p:nvPr/>
          </p:nvGrpSpPr>
          <p:grpSpPr>
            <a:xfrm>
              <a:off x="1550996" y="3858671"/>
              <a:ext cx="3421667" cy="2262171"/>
              <a:chOff x="1398815" y="4627063"/>
              <a:chExt cx="3421667" cy="2262171"/>
            </a:xfrm>
          </p:grpSpPr>
          <p:grpSp>
            <p:nvGrpSpPr>
              <p:cNvPr id="45" name="Grup 42"/>
              <p:cNvGrpSpPr/>
              <p:nvPr/>
            </p:nvGrpSpPr>
            <p:grpSpPr>
              <a:xfrm>
                <a:off x="1398815" y="4627063"/>
                <a:ext cx="3421667" cy="1766449"/>
                <a:chOff x="859317" y="1259615"/>
                <a:chExt cx="4630855" cy="2390696"/>
              </a:xfrm>
            </p:grpSpPr>
            <p:sp>
              <p:nvSpPr>
                <p:cNvPr id="47" name="Oval 46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8" name="Düz Ok Bağlayıcısı 45"/>
                <p:cNvCxnSpPr>
                  <a:stCxn id="47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Düz Ok Bağlayıcısı 46"/>
                <p:cNvCxnSpPr>
                  <a:stCxn id="47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Düz Bağlayıcı 48"/>
                <p:cNvCxnSpPr>
                  <a:stCxn id="51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2" name="Düz Ok Bağlayıcısı 49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4" name="Düz Ok Bağlayıcısı 51"/>
                <p:cNvCxnSpPr>
                  <a:stCxn id="53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Düz Bağlayıcı 52"/>
                <p:cNvCxnSpPr>
                  <a:stCxn id="53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Oval 56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Oval 57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6" name="Metin kutusu 43"/>
              <p:cNvSpPr txBox="1"/>
              <p:nvPr/>
            </p:nvSpPr>
            <p:spPr>
              <a:xfrm>
                <a:off x="2479869" y="6519902"/>
                <a:ext cx="1155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b="1" dirty="0" smtClean="0">
                    <a:solidFill>
                      <a:srgbClr val="FF0000"/>
                    </a:solidFill>
                  </a:rPr>
                  <a:t>Max Heap</a:t>
                </a:r>
                <a:endParaRPr lang="tr-TR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8" name="Metin kutusu 35"/>
            <p:cNvSpPr txBox="1"/>
            <p:nvPr/>
          </p:nvSpPr>
          <p:spPr>
            <a:xfrm>
              <a:off x="3076665" y="358960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9" name="Metin kutusu 36"/>
            <p:cNvSpPr txBox="1"/>
            <p:nvPr/>
          </p:nvSpPr>
          <p:spPr>
            <a:xfrm>
              <a:off x="2027386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40" name="Metin kutusu 37"/>
            <p:cNvSpPr txBox="1"/>
            <p:nvPr/>
          </p:nvSpPr>
          <p:spPr>
            <a:xfrm>
              <a:off x="4243455" y="429056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1" name="Metin kutusu 38"/>
            <p:cNvSpPr txBox="1"/>
            <p:nvPr/>
          </p:nvSpPr>
          <p:spPr>
            <a:xfrm>
              <a:off x="1514266" y="503132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2" name="Metin kutusu 39"/>
            <p:cNvSpPr txBox="1"/>
            <p:nvPr/>
          </p:nvSpPr>
          <p:spPr>
            <a:xfrm>
              <a:off x="2639270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3" name="Metin kutusu 40"/>
            <p:cNvSpPr txBox="1"/>
            <p:nvPr/>
          </p:nvSpPr>
          <p:spPr>
            <a:xfrm>
              <a:off x="3582887" y="503710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4" name="Metin kutusu 41"/>
            <p:cNvSpPr txBox="1"/>
            <p:nvPr/>
          </p:nvSpPr>
          <p:spPr>
            <a:xfrm>
              <a:off x="4758671" y="50428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661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Aşağıdan Yukarıya </a:t>
            </a:r>
            <a:r>
              <a:rPr lang="tr-TR" dirty="0" err="1"/>
              <a:t>Heap</a:t>
            </a:r>
            <a:r>
              <a:rPr lang="tr-TR" dirty="0"/>
              <a:t> Ağacına </a:t>
            </a:r>
            <a:r>
              <a:rPr lang="tr-TR" dirty="0" smtClean="0"/>
              <a:t>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Max</a:t>
            </a:r>
            <a:r>
              <a:rPr lang="tr-TR" dirty="0"/>
              <a:t> </a:t>
            </a:r>
            <a:r>
              <a:rPr lang="tr-TR" dirty="0" err="1"/>
              <a:t>heap</a:t>
            </a:r>
            <a:r>
              <a:rPr lang="tr-TR" dirty="0"/>
              <a:t> ikili ağacının her bir </a:t>
            </a:r>
            <a:r>
              <a:rPr lang="tr-TR" dirty="0" smtClean="0"/>
              <a:t>düğümünün değeri, </a:t>
            </a:r>
            <a:r>
              <a:rPr lang="tr-TR" dirty="0"/>
              <a:t>çocuklarının değerlerinden </a:t>
            </a:r>
            <a:r>
              <a:rPr lang="tr-TR" dirty="0" smtClean="0"/>
              <a:t>büyüktür.</a:t>
            </a:r>
            <a:endParaRPr lang="tr-TR" dirty="0"/>
          </a:p>
          <a:p>
            <a:r>
              <a:rPr lang="tr-TR" dirty="0" err="1" smtClean="0"/>
              <a:t>Heap</a:t>
            </a:r>
            <a:r>
              <a:rPr lang="tr-TR" dirty="0" smtClean="0"/>
              <a:t> </a:t>
            </a:r>
            <a:r>
              <a:rPr lang="tr-TR" dirty="0"/>
              <a:t>ağacına bir </a:t>
            </a:r>
            <a:r>
              <a:rPr lang="tr-TR" dirty="0" smtClean="0"/>
              <a:t>öğe eklendikten </a:t>
            </a:r>
            <a:r>
              <a:rPr lang="tr-TR" dirty="0"/>
              <a:t>sonra </a:t>
            </a:r>
            <a:r>
              <a:rPr lang="tr-TR" dirty="0" smtClean="0"/>
              <a:t>bu özellik bozulabilir</a:t>
            </a:r>
            <a:r>
              <a:rPr lang="tr-TR" dirty="0"/>
              <a:t>.</a:t>
            </a:r>
          </a:p>
          <a:p>
            <a:r>
              <a:rPr lang="tr-TR" dirty="0" smtClean="0"/>
              <a:t>Bu nedenle öğelerin yerlerinin değiştirilmesi gerekir.</a:t>
            </a:r>
          </a:p>
          <a:p>
            <a:r>
              <a:rPr lang="tr-TR" dirty="0" smtClean="0"/>
              <a:t>Ağaç aşağıdan </a:t>
            </a:r>
            <a:r>
              <a:rPr lang="tr-TR" dirty="0"/>
              <a:t>yukarıya </a:t>
            </a:r>
            <a:r>
              <a:rPr lang="tr-TR" dirty="0" smtClean="0"/>
              <a:t>doğru taranarak </a:t>
            </a:r>
            <a:r>
              <a:rPr lang="tr-TR" dirty="0"/>
              <a:t>yeniden </a:t>
            </a:r>
            <a:r>
              <a:rPr lang="tr-TR" dirty="0" err="1"/>
              <a:t>heap</a:t>
            </a:r>
            <a:r>
              <a:rPr lang="tr-TR" dirty="0"/>
              <a:t> ağacına dönüştürme işlemi (yüzdür - </a:t>
            </a:r>
            <a:r>
              <a:rPr lang="tr-TR" dirty="0" err="1"/>
              <a:t>swim</a:t>
            </a:r>
            <a:r>
              <a:rPr lang="tr-TR" dirty="0"/>
              <a:t>) </a:t>
            </a:r>
            <a:r>
              <a:rPr lang="tr-TR" dirty="0" smtClean="0"/>
              <a:t>uygulanır (</a:t>
            </a:r>
            <a:r>
              <a:rPr lang="tr-TR" dirty="0" err="1" smtClean="0"/>
              <a:t>bottom-up</a:t>
            </a:r>
            <a:r>
              <a:rPr lang="tr-TR" dirty="0" smtClean="0"/>
              <a:t> </a:t>
            </a:r>
            <a:r>
              <a:rPr lang="tr-TR" dirty="0" err="1"/>
              <a:t>heapify</a:t>
            </a:r>
            <a:r>
              <a:rPr lang="tr-TR" dirty="0"/>
              <a:t>).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1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4" name="Grup 53"/>
          <p:cNvGrpSpPr/>
          <p:nvPr/>
        </p:nvGrpSpPr>
        <p:grpSpPr>
          <a:xfrm>
            <a:off x="3788100" y="1666560"/>
            <a:ext cx="4615800" cy="2382925"/>
            <a:chOff x="859317" y="1259615"/>
            <a:chExt cx="4630855" cy="2390696"/>
          </a:xfrm>
        </p:grpSpPr>
        <p:sp>
          <p:nvSpPr>
            <p:cNvPr id="55" name="Oval 54"/>
            <p:cNvSpPr/>
            <p:nvPr/>
          </p:nvSpPr>
          <p:spPr>
            <a:xfrm>
              <a:off x="2916655" y="1259615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9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Düz Ok Bağlayıcısı 55"/>
            <p:cNvCxnSpPr>
              <a:stCxn id="55" idx="3"/>
            </p:cNvCxnSpPr>
            <p:nvPr/>
          </p:nvCxnSpPr>
          <p:spPr>
            <a:xfrm flipH="1">
              <a:off x="1749985" y="1580081"/>
              <a:ext cx="1221653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üz Ok Bağlayıcısı 56"/>
            <p:cNvCxnSpPr>
              <a:stCxn id="55" idx="5"/>
            </p:cNvCxnSpPr>
            <p:nvPr/>
          </p:nvCxnSpPr>
          <p:spPr>
            <a:xfrm>
              <a:off x="3237121" y="1580081"/>
              <a:ext cx="1365362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Düz Bağlayıcı 57"/>
            <p:cNvCxnSpPr>
              <a:stCxn id="59" idx="3"/>
            </p:cNvCxnSpPr>
            <p:nvPr/>
          </p:nvCxnSpPr>
          <p:spPr>
            <a:xfrm flipH="1">
              <a:off x="1047041" y="2560216"/>
              <a:ext cx="570202" cy="7146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1562261" y="2239750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Düz Ok Bağlayıcısı 59"/>
            <p:cNvCxnSpPr/>
            <p:nvPr/>
          </p:nvCxnSpPr>
          <p:spPr>
            <a:xfrm>
              <a:off x="1882349" y="2560216"/>
              <a:ext cx="550591" cy="71464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/>
            <p:nvPr/>
          </p:nvSpPr>
          <p:spPr>
            <a:xfrm>
              <a:off x="4414758" y="2239747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6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Düz Ok Bağlayıcısı 61"/>
            <p:cNvCxnSpPr>
              <a:stCxn id="61" idx="5"/>
            </p:cNvCxnSpPr>
            <p:nvPr/>
          </p:nvCxnSpPr>
          <p:spPr>
            <a:xfrm>
              <a:off x="4735224" y="2560213"/>
              <a:ext cx="544660" cy="70291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Düz Bağlayıcı 62"/>
            <p:cNvCxnSpPr>
              <a:stCxn id="61" idx="3"/>
            </p:cNvCxnSpPr>
            <p:nvPr/>
          </p:nvCxnSpPr>
          <p:spPr>
            <a:xfrm flipH="1">
              <a:off x="3900513" y="2560213"/>
              <a:ext cx="569228" cy="70291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859317" y="3274862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2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2261608" y="3269348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1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3686617" y="3269348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5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5114723" y="3263124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4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868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1"/>
            <a:ext cx="269609" cy="74091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07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413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Yay 2"/>
          <p:cNvSpPr/>
          <p:nvPr/>
        </p:nvSpPr>
        <p:spPr>
          <a:xfrm rot="17270297">
            <a:off x="3211132" y="3565581"/>
            <a:ext cx="1157610" cy="1615027"/>
          </a:xfrm>
          <a:prstGeom prst="arc">
            <a:avLst>
              <a:gd name="adj1" fmla="val 12692149"/>
              <a:gd name="adj2" fmla="val 20123273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1741713" y="3951027"/>
            <a:ext cx="1242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Yukarı taşı</a:t>
            </a:r>
            <a:endParaRPr lang="tr-TR" sz="20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571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78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94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Yay 19"/>
          <p:cNvSpPr/>
          <p:nvPr/>
        </p:nvSpPr>
        <p:spPr>
          <a:xfrm rot="17270297">
            <a:off x="3674749" y="2449699"/>
            <a:ext cx="1157610" cy="1615027"/>
          </a:xfrm>
          <a:prstGeom prst="arc">
            <a:avLst>
              <a:gd name="adj1" fmla="val 12692149"/>
              <a:gd name="adj2" fmla="val 249771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>
            <a:off x="2205330" y="2835145"/>
            <a:ext cx="1242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Yukarı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235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747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522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etin kutusu 52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e</a:t>
            </a:r>
            <a:r>
              <a:rPr lang="tr-TR" sz="1600" dirty="0" smtClean="0">
                <a:latin typeface="Lucida Console" panose="020B0609040504020204" pitchFamily="49" charset="0"/>
              </a:rPr>
              <a:t>kle(10)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Yay 19"/>
          <p:cNvSpPr/>
          <p:nvPr/>
        </p:nvSpPr>
        <p:spPr>
          <a:xfrm rot="18738306">
            <a:off x="4701323" y="1423916"/>
            <a:ext cx="1941811" cy="2600104"/>
          </a:xfrm>
          <a:prstGeom prst="arc">
            <a:avLst>
              <a:gd name="adj1" fmla="val 14053940"/>
              <a:gd name="adj2" fmla="val 19601862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Metin kutusu 20"/>
          <p:cNvSpPr txBox="1"/>
          <p:nvPr/>
        </p:nvSpPr>
        <p:spPr>
          <a:xfrm rot="60044">
            <a:off x="3305508" y="1726477"/>
            <a:ext cx="1242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Yukarı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693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901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ekle(8)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337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ekle(8)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1" name="Düz Bağlayıcı 20"/>
          <p:cNvCxnSpPr>
            <a:stCxn id="64" idx="5"/>
            <a:endCxn id="22" idx="0"/>
          </p:cNvCxnSpPr>
          <p:nvPr/>
        </p:nvCxnSpPr>
        <p:spPr>
          <a:xfrm>
            <a:off x="4107524" y="3994681"/>
            <a:ext cx="270493" cy="74091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190903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8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311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ekle(8)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3" name="Düz Bağlayıcı 22"/>
          <p:cNvCxnSpPr>
            <a:stCxn id="64" idx="5"/>
            <a:endCxn id="24" idx="0"/>
          </p:cNvCxnSpPr>
          <p:nvPr/>
        </p:nvCxnSpPr>
        <p:spPr>
          <a:xfrm>
            <a:off x="4107524" y="3994681"/>
            <a:ext cx="270493" cy="74091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190903" y="4735598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8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323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ekle(8)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3" name="Düz Bağlayıcı 22"/>
          <p:cNvCxnSpPr>
            <a:stCxn id="64" idx="5"/>
            <a:endCxn id="24" idx="0"/>
          </p:cNvCxnSpPr>
          <p:nvPr/>
        </p:nvCxnSpPr>
        <p:spPr>
          <a:xfrm>
            <a:off x="4107524" y="3994681"/>
            <a:ext cx="270493" cy="74091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190903" y="4735598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8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1" name="Yay 20"/>
          <p:cNvSpPr/>
          <p:nvPr/>
        </p:nvSpPr>
        <p:spPr>
          <a:xfrm rot="4329703" flipH="1">
            <a:off x="3559474" y="3565581"/>
            <a:ext cx="1157610" cy="1615027"/>
          </a:xfrm>
          <a:prstGeom prst="arc">
            <a:avLst>
              <a:gd name="adj1" fmla="val 12692149"/>
              <a:gd name="adj2" fmla="val 20123273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Metin kutusu 21"/>
          <p:cNvSpPr txBox="1"/>
          <p:nvPr/>
        </p:nvSpPr>
        <p:spPr>
          <a:xfrm>
            <a:off x="4920342" y="4313883"/>
            <a:ext cx="1242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Yukarı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709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10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6" name="Düz Ok Bağlayıcısı 55"/>
          <p:cNvCxnSpPr>
            <a:stCxn id="55" idx="3"/>
          </p:cNvCxnSpPr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Düz Ok Bağlayıcısı 56"/>
          <p:cNvCxnSpPr>
            <a:stCxn id="55" idx="5"/>
          </p:cNvCxnSpPr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Bağlayıcı 57"/>
          <p:cNvCxnSpPr>
            <a:stCxn id="59" idx="3"/>
          </p:cNvCxnSpPr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9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0" name="Düz Ok Bağlayıcısı 59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62" name="Düz Ok Bağlayıcısı 61"/>
          <p:cNvCxnSpPr>
            <a:stCxn id="61" idx="5"/>
          </p:cNvCxnSpPr>
          <p:nvPr/>
        </p:nvCxnSpPr>
        <p:spPr>
          <a:xfrm>
            <a:off x="7651406" y="2962932"/>
            <a:ext cx="542889" cy="7006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Düz Bağlayıcı 62"/>
          <p:cNvCxnSpPr>
            <a:stCxn id="61" idx="3"/>
          </p:cNvCxnSpPr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8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8029667" y="36635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8" name="Düz Bağlayıcı 17"/>
          <p:cNvCxnSpPr>
            <a:stCxn id="64" idx="3"/>
            <a:endCxn id="19" idx="0"/>
          </p:cNvCxnSpPr>
          <p:nvPr/>
        </p:nvCxnSpPr>
        <p:spPr>
          <a:xfrm flipH="1">
            <a:off x="3573295" y="3994680"/>
            <a:ext cx="269609" cy="740918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86181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ekle(8)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3" name="Düz Bağlayıcı 22"/>
          <p:cNvCxnSpPr>
            <a:stCxn id="64" idx="5"/>
            <a:endCxn id="24" idx="0"/>
          </p:cNvCxnSpPr>
          <p:nvPr/>
        </p:nvCxnSpPr>
        <p:spPr>
          <a:xfrm>
            <a:off x="4107524" y="3994681"/>
            <a:ext cx="270493" cy="740917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190903" y="473559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405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89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Aşağıdan Yukarıya </a:t>
            </a:r>
            <a:r>
              <a:rPr lang="tr-TR" dirty="0" err="1"/>
              <a:t>Heap</a:t>
            </a:r>
            <a:r>
              <a:rPr lang="tr-TR" dirty="0"/>
              <a:t> Ağacına </a:t>
            </a:r>
            <a:r>
              <a:rPr lang="tr-TR" dirty="0" smtClean="0"/>
              <a:t>Dönüştürme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884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81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366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355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714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7" name="Yay 6"/>
          <p:cNvSpPr/>
          <p:nvPr/>
        </p:nvSpPr>
        <p:spPr>
          <a:xfrm rot="18738306">
            <a:off x="4701323" y="1423916"/>
            <a:ext cx="1941811" cy="2600104"/>
          </a:xfrm>
          <a:prstGeom prst="arc">
            <a:avLst>
              <a:gd name="adj1" fmla="val 14053940"/>
              <a:gd name="adj2" fmla="val 19601862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 rot="60044">
            <a:off x="3305508" y="1726477"/>
            <a:ext cx="1242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Yukarı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595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20" name="Metin kutusu 1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99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635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872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503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393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534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856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530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3" name="Yay 12"/>
          <p:cNvSpPr/>
          <p:nvPr/>
        </p:nvSpPr>
        <p:spPr>
          <a:xfrm rot="17270297">
            <a:off x="3674749" y="2449699"/>
            <a:ext cx="1157610" cy="1615027"/>
          </a:xfrm>
          <a:prstGeom prst="arc">
            <a:avLst>
              <a:gd name="adj1" fmla="val 12692149"/>
              <a:gd name="adj2" fmla="val 249771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Metin kutusu 13"/>
          <p:cNvSpPr txBox="1"/>
          <p:nvPr/>
        </p:nvSpPr>
        <p:spPr>
          <a:xfrm>
            <a:off x="2205330" y="2835145"/>
            <a:ext cx="1242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Yukarı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828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199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314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3" name="Yay 12"/>
          <p:cNvSpPr/>
          <p:nvPr/>
        </p:nvSpPr>
        <p:spPr>
          <a:xfrm rot="18738306">
            <a:off x="4701323" y="1423916"/>
            <a:ext cx="1941811" cy="2600104"/>
          </a:xfrm>
          <a:prstGeom prst="arc">
            <a:avLst>
              <a:gd name="adj1" fmla="val 14053940"/>
              <a:gd name="adj2" fmla="val 19601862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Metin kutusu 13"/>
          <p:cNvSpPr txBox="1"/>
          <p:nvPr/>
        </p:nvSpPr>
        <p:spPr>
          <a:xfrm rot="60044">
            <a:off x="3305508" y="1726477"/>
            <a:ext cx="1242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Yukarı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095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051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891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85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944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0" name="Metin kutusu 9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869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676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6" name="Düz Bağlayıcı 15"/>
          <p:cNvCxnSpPr/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170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6" name="Düz Bağlayıcı 15"/>
          <p:cNvCxnSpPr/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267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6" name="Düz Bağlayıcı 15"/>
          <p:cNvCxnSpPr/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8" name="Yay 17"/>
          <p:cNvSpPr/>
          <p:nvPr/>
        </p:nvSpPr>
        <p:spPr>
          <a:xfrm rot="17270297">
            <a:off x="6505033" y="2449699"/>
            <a:ext cx="1157610" cy="1615027"/>
          </a:xfrm>
          <a:prstGeom prst="arc">
            <a:avLst>
              <a:gd name="adj1" fmla="val 12692149"/>
              <a:gd name="adj2" fmla="val 249771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Metin kutusu 18"/>
          <p:cNvSpPr txBox="1"/>
          <p:nvPr/>
        </p:nvSpPr>
        <p:spPr>
          <a:xfrm>
            <a:off x="5035614" y="2835145"/>
            <a:ext cx="1242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Yukarı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636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6" name="Düz Bağlayıcı 15"/>
          <p:cNvCxnSpPr/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600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6" name="Düz Bağlayıcı 15"/>
          <p:cNvCxnSpPr/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30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5838750" y="166656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6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5" name="Düz Ok Bağlayıcısı 4"/>
          <p:cNvCxnSpPr/>
          <p:nvPr/>
        </p:nvCxnSpPr>
        <p:spPr>
          <a:xfrm flipH="1">
            <a:off x="4675872" y="1985984"/>
            <a:ext cx="1217681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88759" y="2643510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5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6158174" y="1985985"/>
            <a:ext cx="1360923" cy="65752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31982" y="2643508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3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 flipH="1">
            <a:off x="3975214" y="2962934"/>
            <a:ext cx="568348" cy="7123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788100" y="3675257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4</a:t>
            </a:r>
            <a:endParaRPr lang="tr-TR" sz="1600" dirty="0">
              <a:solidFill>
                <a:schemeClr val="tx1"/>
              </a:solidFill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4807806" y="2962934"/>
            <a:ext cx="548801" cy="71232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5832" y="3669761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1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6" name="Düz Bağlayıcı 15"/>
          <p:cNvCxnSpPr/>
          <p:nvPr/>
        </p:nvCxnSpPr>
        <p:spPr>
          <a:xfrm flipH="1">
            <a:off x="6819409" y="2962932"/>
            <a:ext cx="567377" cy="70062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06209" y="3669763"/>
            <a:ext cx="374228" cy="374229"/>
          </a:xfrm>
          <a:prstGeom prst="ellipse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1600" dirty="0" smtClean="0">
                <a:solidFill>
                  <a:schemeClr val="tx1"/>
                </a:solidFill>
              </a:rPr>
              <a:t>2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824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69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Max</a:t>
            </a:r>
            <a:r>
              <a:rPr lang="tr-TR" dirty="0"/>
              <a:t> </a:t>
            </a:r>
            <a:r>
              <a:rPr lang="tr-TR" dirty="0" err="1"/>
              <a:t>Heap</a:t>
            </a:r>
            <a:r>
              <a:rPr lang="tr-TR" dirty="0"/>
              <a:t> Ağacına Eleman </a:t>
            </a:r>
            <a:r>
              <a:rPr lang="tr-TR" dirty="0" smtClean="0"/>
              <a:t>Ekleme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66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314701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MaxOK ok = new MaxOK(3);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Max</a:t>
            </a:r>
            <a:r>
              <a:rPr lang="tr-TR" dirty="0"/>
              <a:t> </a:t>
            </a:r>
            <a:r>
              <a:rPr lang="tr-TR" dirty="0" err="1"/>
              <a:t>Heap</a:t>
            </a:r>
            <a:r>
              <a:rPr lang="tr-TR" dirty="0"/>
              <a:t> Ağacına Eleman Ekleme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39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314701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MaxOK ok = new MaxOK(3);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6" name="Grup 5"/>
          <p:cNvGrpSpPr/>
          <p:nvPr/>
        </p:nvGrpSpPr>
        <p:grpSpPr>
          <a:xfrm>
            <a:off x="971818" y="1239408"/>
            <a:ext cx="2157050" cy="1053236"/>
            <a:chOff x="6348348" y="4393519"/>
            <a:chExt cx="2157050" cy="1053236"/>
          </a:xfrm>
        </p:grpSpPr>
        <p:sp>
          <p:nvSpPr>
            <p:cNvPr id="8" name="Metin kutusu 7"/>
            <p:cNvSpPr txBox="1"/>
            <p:nvPr/>
          </p:nvSpPr>
          <p:spPr>
            <a:xfrm>
              <a:off x="6975168" y="5108201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9" name="Grup 8"/>
            <p:cNvGrpSpPr/>
            <p:nvPr/>
          </p:nvGrpSpPr>
          <p:grpSpPr>
            <a:xfrm>
              <a:off x="6348348" y="4393519"/>
              <a:ext cx="2157050" cy="705100"/>
              <a:chOff x="6812806" y="4799920"/>
              <a:chExt cx="2157050" cy="705100"/>
            </a:xfrm>
          </p:grpSpPr>
          <p:grpSp>
            <p:nvGrpSpPr>
              <p:cNvPr id="10" name="Grup 9"/>
              <p:cNvGrpSpPr/>
              <p:nvPr/>
            </p:nvGrpSpPr>
            <p:grpSpPr>
              <a:xfrm>
                <a:off x="6812806" y="4799920"/>
                <a:ext cx="540000" cy="703932"/>
                <a:chOff x="6810425" y="4799920"/>
                <a:chExt cx="540000" cy="703932"/>
              </a:xfrm>
            </p:grpSpPr>
            <p:sp>
              <p:nvSpPr>
                <p:cNvPr id="20" name="Dikdörtgen 19"/>
                <p:cNvSpPr/>
                <p:nvPr/>
              </p:nvSpPr>
              <p:spPr>
                <a:xfrm>
                  <a:off x="6810425" y="4799920"/>
                  <a:ext cx="540000" cy="360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dirty="0" smtClean="0">
                      <a:solidFill>
                        <a:schemeClr val="tx1"/>
                      </a:solidFill>
                    </a:rPr>
                    <a:t>null</a:t>
                  </a:r>
                  <a:endParaRPr lang="tr-T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Metin kutusu 20"/>
                <p:cNvSpPr txBox="1"/>
                <p:nvPr/>
              </p:nvSpPr>
              <p:spPr>
                <a:xfrm>
                  <a:off x="6929582" y="513452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tr-TR" dirty="0" smtClean="0"/>
                    <a:t>0</a:t>
                  </a:r>
                  <a:endParaRPr lang="tr-TR" dirty="0"/>
                </a:p>
              </p:txBody>
            </p:sp>
          </p:grpSp>
          <p:grpSp>
            <p:nvGrpSpPr>
              <p:cNvPr id="11" name="Grup 10"/>
              <p:cNvGrpSpPr/>
              <p:nvPr/>
            </p:nvGrpSpPr>
            <p:grpSpPr>
              <a:xfrm>
                <a:off x="7353856" y="4799920"/>
                <a:ext cx="540000" cy="703932"/>
                <a:chOff x="6810425" y="4799920"/>
                <a:chExt cx="540000" cy="703932"/>
              </a:xfrm>
            </p:grpSpPr>
            <p:sp>
              <p:nvSpPr>
                <p:cNvPr id="18" name="Dikdörtgen 17"/>
                <p:cNvSpPr/>
                <p:nvPr/>
              </p:nvSpPr>
              <p:spPr>
                <a:xfrm>
                  <a:off x="6810425" y="4799920"/>
                  <a:ext cx="540000" cy="360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dirty="0" smtClean="0">
                      <a:solidFill>
                        <a:schemeClr val="tx1"/>
                      </a:solidFill>
                    </a:rPr>
                    <a:t>null</a:t>
                  </a:r>
                  <a:endParaRPr lang="tr-T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Metin kutusu 18"/>
                <p:cNvSpPr txBox="1"/>
                <p:nvPr/>
              </p:nvSpPr>
              <p:spPr>
                <a:xfrm>
                  <a:off x="6929582" y="513452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tr-TR" dirty="0" smtClean="0"/>
                    <a:t>1</a:t>
                  </a:r>
                  <a:endParaRPr lang="tr-TR" dirty="0"/>
                </a:p>
              </p:txBody>
            </p:sp>
          </p:grpSp>
          <p:grpSp>
            <p:nvGrpSpPr>
              <p:cNvPr id="12" name="Grup 11"/>
              <p:cNvGrpSpPr/>
              <p:nvPr/>
            </p:nvGrpSpPr>
            <p:grpSpPr>
              <a:xfrm>
                <a:off x="7890810" y="4799920"/>
                <a:ext cx="540000" cy="703932"/>
                <a:chOff x="6810425" y="4799920"/>
                <a:chExt cx="540000" cy="703932"/>
              </a:xfrm>
            </p:grpSpPr>
            <p:sp>
              <p:nvSpPr>
                <p:cNvPr id="16" name="Dikdörtgen 15"/>
                <p:cNvSpPr/>
                <p:nvPr/>
              </p:nvSpPr>
              <p:spPr>
                <a:xfrm>
                  <a:off x="6810425" y="4799920"/>
                  <a:ext cx="540000" cy="360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dirty="0" smtClean="0">
                      <a:solidFill>
                        <a:schemeClr val="tx1"/>
                      </a:solidFill>
                    </a:rPr>
                    <a:t>null</a:t>
                  </a:r>
                  <a:endParaRPr lang="tr-T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Metin kutusu 16"/>
                <p:cNvSpPr txBox="1"/>
                <p:nvPr/>
              </p:nvSpPr>
              <p:spPr>
                <a:xfrm>
                  <a:off x="6929582" y="513452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tr-TR" dirty="0" smtClean="0"/>
                    <a:t>2</a:t>
                  </a:r>
                  <a:endParaRPr lang="tr-TR" dirty="0"/>
                </a:p>
              </p:txBody>
            </p:sp>
          </p:grpSp>
          <p:grpSp>
            <p:nvGrpSpPr>
              <p:cNvPr id="13" name="Grup 12"/>
              <p:cNvGrpSpPr/>
              <p:nvPr/>
            </p:nvGrpSpPr>
            <p:grpSpPr>
              <a:xfrm>
                <a:off x="8429856" y="4801088"/>
                <a:ext cx="540000" cy="703932"/>
                <a:chOff x="6810425" y="4799920"/>
                <a:chExt cx="540000" cy="703932"/>
              </a:xfrm>
            </p:grpSpPr>
            <p:sp>
              <p:nvSpPr>
                <p:cNvPr id="14" name="Dikdörtgen 13"/>
                <p:cNvSpPr/>
                <p:nvPr/>
              </p:nvSpPr>
              <p:spPr>
                <a:xfrm>
                  <a:off x="6810425" y="4799920"/>
                  <a:ext cx="540000" cy="360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dirty="0" smtClean="0">
                      <a:solidFill>
                        <a:schemeClr val="tx1"/>
                      </a:solidFill>
                    </a:rPr>
                    <a:t>null</a:t>
                  </a:r>
                  <a:endParaRPr lang="tr-T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Metin kutusu 14"/>
                <p:cNvSpPr txBox="1"/>
                <p:nvPr/>
              </p:nvSpPr>
              <p:spPr>
                <a:xfrm>
                  <a:off x="6929582" y="513452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tr-TR" dirty="0" smtClean="0"/>
                    <a:t>3</a:t>
                  </a:r>
                  <a:endParaRPr lang="tr-TR" dirty="0"/>
                </a:p>
              </p:txBody>
            </p:sp>
          </p:grp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28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314701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MaxOK ok = new MaxOK(3);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90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314701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MaxOK ok = new MaxOK(3);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535629"/>
            <a:ext cx="203613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h</a:t>
            </a:r>
            <a:r>
              <a:rPr lang="tr-TR" sz="1600" dirty="0" smtClean="0">
                <a:latin typeface="Lucida Console" panose="020B0609040504020204" pitchFamily="49" charset="0"/>
              </a:rPr>
              <a:t>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45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314701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MaxOK ok = new MaxOK(3);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0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88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0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76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0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255012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20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0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255012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9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22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0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27823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33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0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52257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8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52257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15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76931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06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03057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38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66629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8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66629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8690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53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610029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12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636155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12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03055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34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ekle(4)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24827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14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60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45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256461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34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278232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56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352255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23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376929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77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401603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48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464015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3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487237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69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487237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48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513363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67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536586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31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55980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51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584483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2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632380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26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6" name="Grup 5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8" name="Metin kutusu 7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9" name="Grup 8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10" name="Grup 9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20" name="Dikdörtgen 19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Metin kutusu 20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11" name="Grup 10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8" name="Dikdörtgen 17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" name="Metin kutusu 18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12" name="Grup 11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6" name="Dikdörtgen 15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Metin kutusu 16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13" name="Grup 12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14" name="Dikdörtgen 13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Metin kutusu 14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2" name="Düz Bağlayıcı 2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403054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0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4" name="Metin kutusu 23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ekle(5)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6039749" y="424825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89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5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23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25500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88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278231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32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null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5225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17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7692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51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01603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71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6401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8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6401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08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7237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14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7237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14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633831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53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03054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29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ekle(2)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24825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74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07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07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255008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59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6" name="Grup 25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grpSp>
          <p:nvGrpSpPr>
            <p:cNvPr id="27" name="Grup 26"/>
            <p:cNvGrpSpPr/>
            <p:nvPr/>
          </p:nvGrpSpPr>
          <p:grpSpPr>
            <a:xfrm>
              <a:off x="971818" y="1239408"/>
              <a:ext cx="2157050" cy="1053236"/>
              <a:chOff x="6348348" y="4393519"/>
              <a:chExt cx="2157050" cy="1053236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6975168" y="5108201"/>
                <a:ext cx="9252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1600" dirty="0" smtClean="0">
                    <a:latin typeface="Lucida Console" panose="020B0609040504020204" pitchFamily="49" charset="0"/>
                  </a:rPr>
                  <a:t>heap[]</a:t>
                </a:r>
                <a:endParaRPr lang="tr-TR" sz="1600" dirty="0">
                  <a:latin typeface="Lucida Console" panose="020B0609040504020204" pitchFamily="49" charset="0"/>
                </a:endParaRPr>
              </a:p>
            </p:txBody>
          </p:sp>
          <p:grpSp>
            <p:nvGrpSpPr>
              <p:cNvPr id="30" name="Grup 29"/>
              <p:cNvGrpSpPr/>
              <p:nvPr/>
            </p:nvGrpSpPr>
            <p:grpSpPr>
              <a:xfrm>
                <a:off x="6348348" y="4393519"/>
                <a:ext cx="2157050" cy="705100"/>
                <a:chOff x="6812806" y="4799920"/>
                <a:chExt cx="2157050" cy="705100"/>
              </a:xfrm>
            </p:grpSpPr>
            <p:grpSp>
              <p:nvGrpSpPr>
                <p:cNvPr id="31" name="Grup 30"/>
                <p:cNvGrpSpPr/>
                <p:nvPr/>
              </p:nvGrpSpPr>
              <p:grpSpPr>
                <a:xfrm>
                  <a:off x="681280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41" name="Dikdörtgen 40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Metin kutusu 41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0</a:t>
                    </a:r>
                    <a:endParaRPr lang="tr-TR" dirty="0"/>
                  </a:p>
                </p:txBody>
              </p:sp>
            </p:grpSp>
            <p:grpSp>
              <p:nvGrpSpPr>
                <p:cNvPr id="32" name="Grup 31"/>
                <p:cNvGrpSpPr/>
                <p:nvPr/>
              </p:nvGrpSpPr>
              <p:grpSpPr>
                <a:xfrm>
                  <a:off x="7353856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9" name="Dikdörtgen 38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5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Metin kutusu 39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1</a:t>
                    </a:r>
                    <a:endParaRPr lang="tr-TR" dirty="0"/>
                  </a:p>
                </p:txBody>
              </p:sp>
            </p:grpSp>
            <p:grpSp>
              <p:nvGrpSpPr>
                <p:cNvPr id="33" name="Grup 32"/>
                <p:cNvGrpSpPr/>
                <p:nvPr/>
              </p:nvGrpSpPr>
              <p:grpSpPr>
                <a:xfrm>
                  <a:off x="7890810" y="4799920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7" name="Dikdörtgen 36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4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" name="Metin kutusu 37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2</a:t>
                    </a:r>
                    <a:endParaRPr lang="tr-TR" dirty="0"/>
                  </a:p>
                </p:txBody>
              </p:sp>
            </p:grpSp>
            <p:grpSp>
              <p:nvGrpSpPr>
                <p:cNvPr id="34" name="Grup 33"/>
                <p:cNvGrpSpPr/>
                <p:nvPr/>
              </p:nvGrpSpPr>
              <p:grpSpPr>
                <a:xfrm>
                  <a:off x="8429856" y="4801088"/>
                  <a:ext cx="540000" cy="703932"/>
                  <a:chOff x="6810425" y="4799920"/>
                  <a:chExt cx="540000" cy="703932"/>
                </a:xfrm>
              </p:grpSpPr>
              <p:sp>
                <p:nvSpPr>
                  <p:cNvPr id="35" name="Dikdörtgen 34"/>
                  <p:cNvSpPr/>
                  <p:nvPr/>
                </p:nvSpPr>
                <p:spPr>
                  <a:xfrm>
                    <a:off x="6810425" y="4799920"/>
                    <a:ext cx="540000" cy="360000"/>
                  </a:xfrm>
                  <a:prstGeom prst="rect">
                    <a:avLst/>
                  </a:prstGeom>
                  <a:solidFill>
                    <a:srgbClr val="DEEBF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tr-TR" dirty="0" smtClean="0">
                        <a:solidFill>
                          <a:schemeClr val="tx1"/>
                        </a:solidFill>
                      </a:rPr>
                      <a:t>2</a:t>
                    </a:r>
                    <a:endParaRPr lang="tr-T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Metin kutusu 35"/>
                  <p:cNvSpPr txBox="1"/>
                  <p:nvPr/>
                </p:nvSpPr>
                <p:spPr>
                  <a:xfrm>
                    <a:off x="6929582" y="5134520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tr-TR" dirty="0" smtClean="0"/>
                      <a:t>3</a:t>
                    </a:r>
                    <a:endParaRPr lang="tr-TR" dirty="0"/>
                  </a:p>
                </p:txBody>
              </p:sp>
            </p:grp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279682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66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4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2157050" cy="1053236"/>
            <a:chOff x="971818" y="1239408"/>
            <a:chExt cx="2157050" cy="1053236"/>
          </a:xfrm>
        </p:grpSpPr>
        <p:sp>
          <p:nvSpPr>
            <p:cNvPr id="29" name="Metin kutusu 28"/>
            <p:cNvSpPr txBox="1"/>
            <p:nvPr/>
          </p:nvSpPr>
          <p:spPr>
            <a:xfrm>
              <a:off x="1598638" y="195409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30" name="Grup 29"/>
            <p:cNvGrpSpPr/>
            <p:nvPr/>
          </p:nvGrpSpPr>
          <p:grpSpPr>
            <a:xfrm>
              <a:off x="971818" y="1239408"/>
              <a:ext cx="2157050" cy="705100"/>
              <a:chOff x="6812806" y="4799920"/>
              <a:chExt cx="2157050" cy="705100"/>
            </a:xfrm>
          </p:grpSpPr>
          <p:grpSp>
            <p:nvGrpSpPr>
              <p:cNvPr id="31" name="Grup 30"/>
              <p:cNvGrpSpPr/>
              <p:nvPr/>
            </p:nvGrpSpPr>
            <p:grpSpPr>
              <a:xfrm>
                <a:off x="6812806" y="4799920"/>
                <a:ext cx="540000" cy="703932"/>
                <a:chOff x="6810425" y="4799920"/>
                <a:chExt cx="540000" cy="703932"/>
              </a:xfrm>
            </p:grpSpPr>
            <p:sp>
              <p:nvSpPr>
                <p:cNvPr id="41" name="Dikdörtgen 40"/>
                <p:cNvSpPr/>
                <p:nvPr/>
              </p:nvSpPr>
              <p:spPr>
                <a:xfrm>
                  <a:off x="6810425" y="4799920"/>
                  <a:ext cx="540000" cy="360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r-T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Metin kutusu 41"/>
                <p:cNvSpPr txBox="1"/>
                <p:nvPr/>
              </p:nvSpPr>
              <p:spPr>
                <a:xfrm>
                  <a:off x="6929582" y="513452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tr-TR" dirty="0" smtClean="0"/>
                    <a:t>0</a:t>
                  </a:r>
                  <a:endParaRPr lang="tr-TR" dirty="0"/>
                </a:p>
              </p:txBody>
            </p:sp>
          </p:grpSp>
          <p:grpSp>
            <p:nvGrpSpPr>
              <p:cNvPr id="32" name="Grup 31"/>
              <p:cNvGrpSpPr/>
              <p:nvPr/>
            </p:nvGrpSpPr>
            <p:grpSpPr>
              <a:xfrm>
                <a:off x="7353856" y="4799920"/>
                <a:ext cx="540000" cy="703932"/>
                <a:chOff x="6810425" y="4799920"/>
                <a:chExt cx="540000" cy="703932"/>
              </a:xfrm>
            </p:grpSpPr>
            <p:sp>
              <p:nvSpPr>
                <p:cNvPr id="39" name="Dikdörtgen 38"/>
                <p:cNvSpPr/>
                <p:nvPr/>
              </p:nvSpPr>
              <p:spPr>
                <a:xfrm>
                  <a:off x="6810425" y="4799920"/>
                  <a:ext cx="540000" cy="360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Metin kutusu 39"/>
                <p:cNvSpPr txBox="1"/>
                <p:nvPr/>
              </p:nvSpPr>
              <p:spPr>
                <a:xfrm>
                  <a:off x="6929582" y="513452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tr-TR" dirty="0" smtClean="0"/>
                    <a:t>1</a:t>
                  </a:r>
                  <a:endParaRPr lang="tr-TR" dirty="0"/>
                </a:p>
              </p:txBody>
            </p:sp>
          </p:grpSp>
          <p:grpSp>
            <p:nvGrpSpPr>
              <p:cNvPr id="33" name="Grup 32"/>
              <p:cNvGrpSpPr/>
              <p:nvPr/>
            </p:nvGrpSpPr>
            <p:grpSpPr>
              <a:xfrm>
                <a:off x="7890810" y="4799920"/>
                <a:ext cx="540000" cy="703932"/>
                <a:chOff x="6810425" y="4799920"/>
                <a:chExt cx="540000" cy="703932"/>
              </a:xfrm>
            </p:grpSpPr>
            <p:sp>
              <p:nvSpPr>
                <p:cNvPr id="37" name="Dikdörtgen 36"/>
                <p:cNvSpPr/>
                <p:nvPr/>
              </p:nvSpPr>
              <p:spPr>
                <a:xfrm>
                  <a:off x="6810425" y="4799920"/>
                  <a:ext cx="540000" cy="360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Metin kutusu 37"/>
                <p:cNvSpPr txBox="1"/>
                <p:nvPr/>
              </p:nvSpPr>
              <p:spPr>
                <a:xfrm>
                  <a:off x="6929582" y="513452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tr-TR" dirty="0" smtClean="0"/>
                    <a:t>2</a:t>
                  </a:r>
                  <a:endParaRPr lang="tr-TR" dirty="0"/>
                </a:p>
              </p:txBody>
            </p:sp>
          </p:grpSp>
          <p:grpSp>
            <p:nvGrpSpPr>
              <p:cNvPr id="34" name="Grup 33"/>
              <p:cNvGrpSpPr/>
              <p:nvPr/>
            </p:nvGrpSpPr>
            <p:grpSpPr>
              <a:xfrm>
                <a:off x="8429856" y="4801088"/>
                <a:ext cx="540000" cy="703932"/>
                <a:chOff x="6810425" y="4799920"/>
                <a:chExt cx="540000" cy="703932"/>
              </a:xfrm>
            </p:grpSpPr>
            <p:sp>
              <p:nvSpPr>
                <p:cNvPr id="35" name="Dikdörtgen 34"/>
                <p:cNvSpPr/>
                <p:nvPr/>
              </p:nvSpPr>
              <p:spPr>
                <a:xfrm>
                  <a:off x="6810425" y="4799920"/>
                  <a:ext cx="540000" cy="360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tr-TR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Metin kutusu 35"/>
                <p:cNvSpPr txBox="1"/>
                <p:nvPr/>
              </p:nvSpPr>
              <p:spPr>
                <a:xfrm>
                  <a:off x="6929582" y="5134520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tr-TR" dirty="0" smtClean="0"/>
                    <a:t>3</a:t>
                  </a:r>
                  <a:endParaRPr lang="tr-TR" dirty="0"/>
                </a:p>
              </p:txBody>
            </p:sp>
          </p:grp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02905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96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02905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69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53402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39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375239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95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01170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82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63950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52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63950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4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84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8516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99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8516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831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513082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02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53764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24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562215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74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585416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20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7152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11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7152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06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7152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0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513083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50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536284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05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562215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42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585416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62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88517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89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633183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38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02536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2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2" name="Metin kutusu 21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ekle(6)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039749" y="424373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06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4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46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256505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52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279706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5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354769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34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376606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93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02537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49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63952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45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8851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51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8851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08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88519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60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633186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7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02538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34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ekle(1)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25740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53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4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24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256507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94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279708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7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354771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4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376608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51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02539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51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63954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75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88521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60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88521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26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511722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00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536288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98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562219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88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304523"/>
            <a:ext cx="203613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k/2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585421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5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796965"/>
            <a:ext cx="203613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87157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6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48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87157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55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87157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45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3550744"/>
            <a:ext cx="2036135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k/2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633188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98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02540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66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043186"/>
            <a:ext cx="203613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3" name="Metin kutusu 42"/>
          <p:cNvSpPr txBox="1"/>
          <p:nvPr/>
        </p:nvSpPr>
        <p:spPr>
          <a:xfrm>
            <a:off x="360157" y="5398142"/>
            <a:ext cx="104868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ekle(3)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44" name="Düz Ok Bağlayıcısı 43"/>
          <p:cNvCxnSpPr/>
          <p:nvPr/>
        </p:nvCxnSpPr>
        <p:spPr>
          <a:xfrm>
            <a:off x="6039749" y="424377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7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62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etin kutusu 22"/>
          <p:cNvSpPr txBox="1"/>
          <p:nvPr/>
        </p:nvSpPr>
        <p:spPr>
          <a:xfrm>
            <a:off x="360156" y="4289408"/>
            <a:ext cx="203613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heap.length = 8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9" name="Metin kutusu 28"/>
          <p:cNvSpPr txBox="1"/>
          <p:nvPr/>
        </p:nvSpPr>
        <p:spPr>
          <a:xfrm>
            <a:off x="2676281" y="1954800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600" dirty="0" smtClean="0">
                <a:latin typeface="Lucida Console" panose="020B0609040504020204" pitchFamily="49" charset="0"/>
              </a:rPr>
              <a:t>heap[]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971818" y="1239408"/>
            <a:ext cx="4313978" cy="706324"/>
            <a:chOff x="971818" y="1239408"/>
            <a:chExt cx="4313978" cy="706324"/>
          </a:xfrm>
        </p:grpSpPr>
        <p:grpSp>
          <p:nvGrpSpPr>
            <p:cNvPr id="31" name="Grup 30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41" name="Dikdörtgen 4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32" name="Grup 31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33" name="Grup 32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37" name="Dikdörtgen 3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34" name="Grup 33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35" name="Dikdörtgen 3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Metin kutusu 3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28" name="Düz Bağlayıcı 27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 53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60" name="Grup 59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63" name="Grup 6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3" name="Metin kutusu 4"/>
          <p:cNvSpPr txBox="1"/>
          <p:nvPr/>
        </p:nvSpPr>
        <p:spPr>
          <a:xfrm>
            <a:off x="6487674" y="2357004"/>
            <a:ext cx="5685820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ekle(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buyut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(2 *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yuzdur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&gt; 1 &amp;&amp;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/ 2] &lt; </a:t>
            </a:r>
            <a:r>
              <a:rPr lang="en-US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2];</a:t>
            </a:r>
          </a:p>
          <a:p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2;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34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Yukarıdan Aşağıya </a:t>
            </a:r>
            <a:r>
              <a:rPr lang="tr-TR" dirty="0" err="1"/>
              <a:t>Heap</a:t>
            </a:r>
            <a:r>
              <a:rPr lang="tr-TR" dirty="0"/>
              <a:t> Ağacına </a:t>
            </a:r>
            <a:r>
              <a:rPr lang="tr-TR" dirty="0" smtClean="0"/>
              <a:t>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2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Yukarıdan Aşağıya </a:t>
            </a:r>
            <a:r>
              <a:rPr lang="tr-TR" dirty="0" err="1"/>
              <a:t>Heap</a:t>
            </a:r>
            <a:r>
              <a:rPr lang="tr-TR" dirty="0"/>
              <a:t> Ağacına Dönüştürme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 smtClean="0"/>
              <a:t>Max</a:t>
            </a:r>
            <a:r>
              <a:rPr lang="tr-TR" dirty="0" smtClean="0"/>
              <a:t> </a:t>
            </a:r>
            <a:r>
              <a:rPr lang="tr-TR" dirty="0" err="1"/>
              <a:t>heap</a:t>
            </a:r>
            <a:r>
              <a:rPr lang="tr-TR" dirty="0"/>
              <a:t> ikili ağacının her bir düğümünün değeri, çocuklarının değerlerinden büyüktür.</a:t>
            </a:r>
          </a:p>
          <a:p>
            <a:r>
              <a:rPr lang="tr-TR" dirty="0" err="1"/>
              <a:t>Heap</a:t>
            </a:r>
            <a:r>
              <a:rPr lang="tr-TR" dirty="0"/>
              <a:t> </a:t>
            </a:r>
            <a:r>
              <a:rPr lang="tr-TR" dirty="0" smtClean="0"/>
              <a:t>ağacından </a:t>
            </a:r>
            <a:r>
              <a:rPr lang="tr-TR" dirty="0"/>
              <a:t>bir öğe </a:t>
            </a:r>
            <a:r>
              <a:rPr lang="tr-TR" dirty="0" smtClean="0"/>
              <a:t>çıkarıldıktan sonra </a:t>
            </a:r>
            <a:r>
              <a:rPr lang="tr-TR" dirty="0"/>
              <a:t>bu özellik bozulabilir.</a:t>
            </a:r>
          </a:p>
          <a:p>
            <a:r>
              <a:rPr lang="tr-TR" dirty="0"/>
              <a:t>Bu nedenle öğelerin yerlerinin değiştirilmesi gerekir.</a:t>
            </a:r>
          </a:p>
          <a:p>
            <a:r>
              <a:rPr lang="tr-TR" dirty="0"/>
              <a:t>Ağaç </a:t>
            </a:r>
            <a:r>
              <a:rPr lang="tr-TR" dirty="0" smtClean="0"/>
              <a:t>yukarıdan aşağıya doğru </a:t>
            </a:r>
            <a:r>
              <a:rPr lang="tr-TR" dirty="0"/>
              <a:t>taranarak yeniden </a:t>
            </a:r>
            <a:r>
              <a:rPr lang="tr-TR" dirty="0" err="1"/>
              <a:t>heap</a:t>
            </a:r>
            <a:r>
              <a:rPr lang="tr-TR" dirty="0"/>
              <a:t> ağacına dönüştürme işlemi </a:t>
            </a:r>
            <a:r>
              <a:rPr lang="tr-TR" dirty="0" smtClean="0"/>
              <a:t>(batır - </a:t>
            </a:r>
            <a:r>
              <a:rPr lang="tr-TR" dirty="0" err="1" smtClean="0"/>
              <a:t>sink</a:t>
            </a:r>
            <a:r>
              <a:rPr lang="tr-TR" dirty="0" smtClean="0"/>
              <a:t>) </a:t>
            </a:r>
            <a:r>
              <a:rPr lang="tr-TR" dirty="0"/>
              <a:t>uygulanır </a:t>
            </a:r>
            <a:r>
              <a:rPr lang="tr-TR" dirty="0" smtClean="0"/>
              <a:t>(top-</a:t>
            </a:r>
            <a:r>
              <a:rPr lang="tr-TR" dirty="0" err="1" smtClean="0"/>
              <a:t>down</a:t>
            </a:r>
            <a:r>
              <a:rPr lang="tr-TR" dirty="0" smtClean="0"/>
              <a:t> </a:t>
            </a:r>
            <a:r>
              <a:rPr lang="tr-TR" dirty="0" err="1"/>
              <a:t>heapify</a:t>
            </a:r>
            <a:r>
              <a:rPr lang="tr-TR" dirty="0"/>
              <a:t>).</a:t>
            </a:r>
          </a:p>
          <a:p>
            <a:endParaRPr lang="tr-TR" dirty="0"/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3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 26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9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" name="Düz Ok Bağlayıcısı 12"/>
              <p:cNvCxnSpPr>
                <a:stCxn id="12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24" name="Metin kutusu 23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737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3788100" y="1514160"/>
            <a:ext cx="4615800" cy="2382925"/>
            <a:chOff x="859317" y="1259615"/>
            <a:chExt cx="4630855" cy="2390696"/>
          </a:xfrm>
        </p:grpSpPr>
        <p:sp>
          <p:nvSpPr>
            <p:cNvPr id="6" name="Oval 5"/>
            <p:cNvSpPr/>
            <p:nvPr/>
          </p:nvSpPr>
          <p:spPr>
            <a:xfrm>
              <a:off x="2916655" y="1259615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9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Düz Ok Bağlayıcısı 6"/>
            <p:cNvCxnSpPr>
              <a:stCxn id="6" idx="3"/>
            </p:cNvCxnSpPr>
            <p:nvPr/>
          </p:nvCxnSpPr>
          <p:spPr>
            <a:xfrm flipH="1">
              <a:off x="1749985" y="1580081"/>
              <a:ext cx="1221653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Düz Ok Bağlayıcısı 7"/>
            <p:cNvCxnSpPr>
              <a:stCxn id="6" idx="5"/>
            </p:cNvCxnSpPr>
            <p:nvPr/>
          </p:nvCxnSpPr>
          <p:spPr>
            <a:xfrm>
              <a:off x="3237121" y="1580081"/>
              <a:ext cx="1365362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üz Bağlayıcı 8"/>
            <p:cNvCxnSpPr>
              <a:stCxn id="10" idx="3"/>
            </p:cNvCxnSpPr>
            <p:nvPr/>
          </p:nvCxnSpPr>
          <p:spPr>
            <a:xfrm flipH="1">
              <a:off x="1047041" y="2560216"/>
              <a:ext cx="570202" cy="7146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1562261" y="2239750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Düz Ok Bağlayıcısı 10"/>
            <p:cNvCxnSpPr/>
            <p:nvPr/>
          </p:nvCxnSpPr>
          <p:spPr>
            <a:xfrm>
              <a:off x="1882349" y="2560216"/>
              <a:ext cx="550591" cy="71464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4414758" y="2239747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6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Düz Ok Bağlayıcısı 12"/>
            <p:cNvCxnSpPr>
              <a:stCxn id="12" idx="5"/>
            </p:cNvCxnSpPr>
            <p:nvPr/>
          </p:nvCxnSpPr>
          <p:spPr>
            <a:xfrm>
              <a:off x="4735224" y="2560213"/>
              <a:ext cx="544660" cy="70291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üz Bağlayıcı 13"/>
            <p:cNvCxnSpPr>
              <a:stCxn id="12" idx="3"/>
            </p:cNvCxnSpPr>
            <p:nvPr/>
          </p:nvCxnSpPr>
          <p:spPr>
            <a:xfrm flipH="1">
              <a:off x="3900513" y="2560213"/>
              <a:ext cx="569228" cy="70291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859317" y="3274862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2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261608" y="3269348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1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686617" y="3269348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5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114723" y="3263124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4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Metin kutusu 2"/>
          <p:cNvSpPr txBox="1"/>
          <p:nvPr/>
        </p:nvSpPr>
        <p:spPr>
          <a:xfrm>
            <a:off x="5882136" y="11993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1</a:t>
            </a:r>
            <a:endParaRPr lang="tr-TR" sz="14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496723" y="219288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2</a:t>
            </a:r>
            <a:endParaRPr lang="tr-TR" sz="14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42896" y="219288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3</a:t>
            </a:r>
            <a:endParaRPr lang="tr-TR" sz="1400" dirty="0"/>
          </a:p>
        </p:txBody>
      </p:sp>
      <p:sp>
        <p:nvSpPr>
          <p:cNvPr id="21" name="Metin kutusu 20"/>
          <p:cNvSpPr txBox="1"/>
          <p:nvPr/>
        </p:nvSpPr>
        <p:spPr>
          <a:xfrm>
            <a:off x="3774335" y="32050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4</a:t>
            </a:r>
            <a:endParaRPr lang="tr-TR" sz="1400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5323508" y="32050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5</a:t>
            </a:r>
            <a:endParaRPr lang="tr-TR" sz="1400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6596264" y="32033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6</a:t>
            </a:r>
            <a:endParaRPr lang="tr-TR" sz="1400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8145437" y="32033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7</a:t>
            </a:r>
            <a:endParaRPr lang="tr-TR" sz="1400" dirty="0"/>
          </a:p>
        </p:txBody>
      </p: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203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3788100" y="1514160"/>
            <a:ext cx="4615800" cy="2382925"/>
            <a:chOff x="859317" y="1259615"/>
            <a:chExt cx="4630855" cy="2390696"/>
          </a:xfrm>
        </p:grpSpPr>
        <p:sp>
          <p:nvSpPr>
            <p:cNvPr id="6" name="Oval 5"/>
            <p:cNvSpPr/>
            <p:nvPr/>
          </p:nvSpPr>
          <p:spPr>
            <a:xfrm>
              <a:off x="2916655" y="1259615"/>
              <a:ext cx="375449" cy="375449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9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Düz Ok Bağlayıcısı 6"/>
            <p:cNvCxnSpPr>
              <a:stCxn id="6" idx="3"/>
            </p:cNvCxnSpPr>
            <p:nvPr/>
          </p:nvCxnSpPr>
          <p:spPr>
            <a:xfrm flipH="1">
              <a:off x="1749985" y="1580081"/>
              <a:ext cx="1221653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Düz Ok Bağlayıcısı 7"/>
            <p:cNvCxnSpPr>
              <a:stCxn id="6" idx="5"/>
            </p:cNvCxnSpPr>
            <p:nvPr/>
          </p:nvCxnSpPr>
          <p:spPr>
            <a:xfrm>
              <a:off x="3237121" y="1580081"/>
              <a:ext cx="1365362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üz Bağlayıcı 8"/>
            <p:cNvCxnSpPr>
              <a:stCxn id="10" idx="3"/>
            </p:cNvCxnSpPr>
            <p:nvPr/>
          </p:nvCxnSpPr>
          <p:spPr>
            <a:xfrm flipH="1">
              <a:off x="1047041" y="2560216"/>
              <a:ext cx="570202" cy="7146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1562261" y="2239750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Düz Ok Bağlayıcısı 10"/>
            <p:cNvCxnSpPr/>
            <p:nvPr/>
          </p:nvCxnSpPr>
          <p:spPr>
            <a:xfrm>
              <a:off x="1882349" y="2560216"/>
              <a:ext cx="550591" cy="71464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4414758" y="2239747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6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Düz Ok Bağlayıcısı 12"/>
            <p:cNvCxnSpPr>
              <a:stCxn id="12" idx="5"/>
            </p:cNvCxnSpPr>
            <p:nvPr/>
          </p:nvCxnSpPr>
          <p:spPr>
            <a:xfrm>
              <a:off x="4735224" y="2560213"/>
              <a:ext cx="544660" cy="70291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üz Bağlayıcı 13"/>
            <p:cNvCxnSpPr>
              <a:stCxn id="12" idx="3"/>
            </p:cNvCxnSpPr>
            <p:nvPr/>
          </p:nvCxnSpPr>
          <p:spPr>
            <a:xfrm flipH="1">
              <a:off x="3900513" y="2560213"/>
              <a:ext cx="569228" cy="70291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859317" y="3274862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2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261608" y="3269348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1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686617" y="3269348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5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114723" y="3263124"/>
              <a:ext cx="375449" cy="375449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4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Metin kutusu 2"/>
          <p:cNvSpPr txBox="1"/>
          <p:nvPr/>
        </p:nvSpPr>
        <p:spPr>
          <a:xfrm>
            <a:off x="5882136" y="11993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1</a:t>
            </a:r>
            <a:endParaRPr lang="tr-TR" sz="14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496723" y="219288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2</a:t>
            </a:r>
            <a:endParaRPr lang="tr-TR" sz="14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42896" y="219288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3</a:t>
            </a:r>
            <a:endParaRPr lang="tr-TR" sz="1400" dirty="0"/>
          </a:p>
        </p:txBody>
      </p:sp>
      <p:sp>
        <p:nvSpPr>
          <p:cNvPr id="21" name="Metin kutusu 20"/>
          <p:cNvSpPr txBox="1"/>
          <p:nvPr/>
        </p:nvSpPr>
        <p:spPr>
          <a:xfrm>
            <a:off x="3774335" y="32050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4</a:t>
            </a:r>
            <a:endParaRPr lang="tr-TR" sz="1400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5323508" y="32050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5</a:t>
            </a:r>
            <a:endParaRPr lang="tr-TR" sz="1400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6596264" y="32033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6</a:t>
            </a:r>
            <a:endParaRPr lang="tr-TR" sz="1400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8145437" y="32033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7</a:t>
            </a:r>
            <a:endParaRPr lang="tr-TR" sz="1400" dirty="0"/>
          </a:p>
        </p:txBody>
      </p: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478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3788100" y="1514160"/>
            <a:ext cx="4615800" cy="2382925"/>
            <a:chOff x="859317" y="1259615"/>
            <a:chExt cx="4630855" cy="2390696"/>
          </a:xfrm>
        </p:grpSpPr>
        <p:sp>
          <p:nvSpPr>
            <p:cNvPr id="6" name="Oval 5"/>
            <p:cNvSpPr/>
            <p:nvPr/>
          </p:nvSpPr>
          <p:spPr>
            <a:xfrm>
              <a:off x="2916655" y="1259615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4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Düz Ok Bağlayıcısı 6"/>
            <p:cNvCxnSpPr>
              <a:stCxn id="6" idx="3"/>
            </p:cNvCxnSpPr>
            <p:nvPr/>
          </p:nvCxnSpPr>
          <p:spPr>
            <a:xfrm flipH="1">
              <a:off x="1749985" y="1580081"/>
              <a:ext cx="1221653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Düz Ok Bağlayıcısı 7"/>
            <p:cNvCxnSpPr>
              <a:stCxn id="6" idx="5"/>
            </p:cNvCxnSpPr>
            <p:nvPr/>
          </p:nvCxnSpPr>
          <p:spPr>
            <a:xfrm>
              <a:off x="3237121" y="1580081"/>
              <a:ext cx="1365362" cy="65966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üz Bağlayıcı 8"/>
            <p:cNvCxnSpPr>
              <a:stCxn id="10" idx="3"/>
            </p:cNvCxnSpPr>
            <p:nvPr/>
          </p:nvCxnSpPr>
          <p:spPr>
            <a:xfrm flipH="1">
              <a:off x="1047041" y="2560216"/>
              <a:ext cx="570202" cy="7146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1562261" y="2239750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Düz Ok Bağlayıcısı 10"/>
            <p:cNvCxnSpPr/>
            <p:nvPr/>
          </p:nvCxnSpPr>
          <p:spPr>
            <a:xfrm>
              <a:off x="1882349" y="2560216"/>
              <a:ext cx="550591" cy="71464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4414758" y="2239747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6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Düz Ok Bağlayıcısı 12"/>
            <p:cNvCxnSpPr>
              <a:stCxn id="12" idx="5"/>
            </p:cNvCxnSpPr>
            <p:nvPr/>
          </p:nvCxnSpPr>
          <p:spPr>
            <a:xfrm>
              <a:off x="4735224" y="2560213"/>
              <a:ext cx="544660" cy="70291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üz Bağlayıcı 13"/>
            <p:cNvCxnSpPr>
              <a:stCxn id="12" idx="3"/>
            </p:cNvCxnSpPr>
            <p:nvPr/>
          </p:nvCxnSpPr>
          <p:spPr>
            <a:xfrm flipH="1">
              <a:off x="3900513" y="2560213"/>
              <a:ext cx="569228" cy="70291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859317" y="3274862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2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261608" y="3269348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1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686617" y="3269348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5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114723" y="3263124"/>
              <a:ext cx="375449" cy="37544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9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Metin kutusu 2"/>
          <p:cNvSpPr txBox="1"/>
          <p:nvPr/>
        </p:nvSpPr>
        <p:spPr>
          <a:xfrm>
            <a:off x="5882136" y="11993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1</a:t>
            </a:r>
            <a:endParaRPr lang="tr-TR" sz="14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4496723" y="219288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2</a:t>
            </a:r>
            <a:endParaRPr lang="tr-TR" sz="1400" dirty="0"/>
          </a:p>
        </p:txBody>
      </p:sp>
      <p:sp>
        <p:nvSpPr>
          <p:cNvPr id="20" name="Metin kutusu 19"/>
          <p:cNvSpPr txBox="1"/>
          <p:nvPr/>
        </p:nvSpPr>
        <p:spPr>
          <a:xfrm>
            <a:off x="7442896" y="219288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3</a:t>
            </a:r>
            <a:endParaRPr lang="tr-TR" sz="1400" dirty="0"/>
          </a:p>
        </p:txBody>
      </p:sp>
      <p:sp>
        <p:nvSpPr>
          <p:cNvPr id="21" name="Metin kutusu 20"/>
          <p:cNvSpPr txBox="1"/>
          <p:nvPr/>
        </p:nvSpPr>
        <p:spPr>
          <a:xfrm>
            <a:off x="3774335" y="32050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4</a:t>
            </a:r>
            <a:endParaRPr lang="tr-TR" sz="1400" dirty="0"/>
          </a:p>
        </p:txBody>
      </p:sp>
      <p:sp>
        <p:nvSpPr>
          <p:cNvPr id="22" name="Metin kutusu 21"/>
          <p:cNvSpPr txBox="1"/>
          <p:nvPr/>
        </p:nvSpPr>
        <p:spPr>
          <a:xfrm>
            <a:off x="5323508" y="32050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5</a:t>
            </a:r>
            <a:endParaRPr lang="tr-TR" sz="1400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6596264" y="32033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6</a:t>
            </a:r>
            <a:endParaRPr lang="tr-TR" sz="1400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8145437" y="320337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 smtClean="0"/>
              <a:t>7</a:t>
            </a:r>
            <a:endParaRPr lang="tr-TR" sz="1400" dirty="0"/>
          </a:p>
        </p:txBody>
      </p: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715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774335" y="1199393"/>
            <a:ext cx="3944599" cy="2697692"/>
            <a:chOff x="3774335" y="1199393"/>
            <a:chExt cx="3944599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3918111" cy="2382925"/>
              <a:chOff x="859317" y="1259615"/>
              <a:chExt cx="3930890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501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774335" y="1199393"/>
            <a:ext cx="3944599" cy="2697692"/>
            <a:chOff x="3774335" y="1199393"/>
            <a:chExt cx="3944599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3918111" cy="2382925"/>
              <a:chOff x="859317" y="1259615"/>
              <a:chExt cx="3930890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079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774335" y="1199393"/>
            <a:ext cx="3944599" cy="2697692"/>
            <a:chOff x="3774335" y="1199393"/>
            <a:chExt cx="3944599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3918111" cy="2382925"/>
              <a:chOff x="859317" y="1259615"/>
              <a:chExt cx="3930890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607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774335" y="1199393"/>
            <a:ext cx="3944599" cy="2697692"/>
            <a:chOff x="3774335" y="1199393"/>
            <a:chExt cx="3944599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3918111" cy="2382925"/>
              <a:chOff x="859317" y="1259615"/>
              <a:chExt cx="3930890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477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774335" y="1199393"/>
            <a:ext cx="3944599" cy="2697692"/>
            <a:chOff x="3774335" y="1199393"/>
            <a:chExt cx="3944599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3918111" cy="2382925"/>
              <a:chOff x="859317" y="1259615"/>
              <a:chExt cx="3930890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4" name="Yay 23"/>
          <p:cNvSpPr/>
          <p:nvPr/>
        </p:nvSpPr>
        <p:spPr>
          <a:xfrm rot="2861694" flipH="1">
            <a:off x="5595982" y="1191053"/>
            <a:ext cx="1941811" cy="2600104"/>
          </a:xfrm>
          <a:prstGeom prst="arc">
            <a:avLst>
              <a:gd name="adj1" fmla="val 14053940"/>
              <a:gd name="adj2" fmla="val 19891677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" name="Metin kutusu 26"/>
          <p:cNvSpPr txBox="1"/>
          <p:nvPr/>
        </p:nvSpPr>
        <p:spPr>
          <a:xfrm rot="60044">
            <a:off x="7830439" y="1726477"/>
            <a:ext cx="1162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Aşağı taşı</a:t>
            </a:r>
            <a:endParaRPr lang="tr-TR" sz="2000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57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774335" y="1199393"/>
            <a:ext cx="3944599" cy="2697692"/>
            <a:chOff x="3774335" y="1199393"/>
            <a:chExt cx="3944599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3918111" cy="2382925"/>
              <a:chOff x="859317" y="1259615"/>
              <a:chExt cx="3930890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410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774335" y="1199393"/>
            <a:ext cx="3944599" cy="2697692"/>
            <a:chOff x="3774335" y="1199393"/>
            <a:chExt cx="3944599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3918111" cy="2382925"/>
              <a:chOff x="859317" y="1259615"/>
              <a:chExt cx="3930890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4" name="Yay 23"/>
          <p:cNvSpPr/>
          <p:nvPr/>
        </p:nvSpPr>
        <p:spPr>
          <a:xfrm rot="17270297">
            <a:off x="6476705" y="2321753"/>
            <a:ext cx="1157610" cy="1615027"/>
          </a:xfrm>
          <a:prstGeom prst="arc">
            <a:avLst>
              <a:gd name="adj1" fmla="val 12692149"/>
              <a:gd name="adj2" fmla="val 105158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" name="Metin kutusu 26"/>
          <p:cNvSpPr txBox="1"/>
          <p:nvPr/>
        </p:nvSpPr>
        <p:spPr>
          <a:xfrm>
            <a:off x="5280786" y="2316966"/>
            <a:ext cx="1162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Aşağı taşı</a:t>
            </a:r>
            <a:endParaRPr lang="tr-TR" sz="2000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50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 3"/>
          <p:cNvGrpSpPr/>
          <p:nvPr/>
        </p:nvGrpSpPr>
        <p:grpSpPr>
          <a:xfrm>
            <a:off x="3774335" y="1199393"/>
            <a:ext cx="3944599" cy="2697692"/>
            <a:chOff x="3774335" y="1199393"/>
            <a:chExt cx="3944599" cy="2697692"/>
          </a:xfrm>
        </p:grpSpPr>
        <p:grpSp>
          <p:nvGrpSpPr>
            <p:cNvPr id="5" name="Grup 4"/>
            <p:cNvGrpSpPr/>
            <p:nvPr/>
          </p:nvGrpSpPr>
          <p:grpSpPr>
            <a:xfrm>
              <a:off x="3788100" y="1514160"/>
              <a:ext cx="3918111" cy="2382925"/>
              <a:chOff x="859317" y="1259615"/>
              <a:chExt cx="3930890" cy="239069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Düz Ok Bağlayıcısı 6"/>
              <p:cNvCxnSpPr>
                <a:stCxn id="6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Düz Ok Bağlayıcısı 7"/>
              <p:cNvCxnSpPr>
                <a:stCxn id="6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Düz Bağlayıcı 8"/>
              <p:cNvCxnSpPr>
                <a:stCxn id="10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Düz Ok Bağlayıcısı 10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Düz Bağlayıcı 13"/>
              <p:cNvCxnSpPr>
                <a:stCxn id="12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Metin kutusu 2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22" name="Metin kutusu 21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23" name="Metin kutusu 22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</p:grpSp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213971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336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Yukarıdan Aşağıya </a:t>
            </a:r>
            <a:r>
              <a:rPr lang="tr-TR" dirty="0" err="1"/>
              <a:t>Heap</a:t>
            </a:r>
            <a:r>
              <a:rPr lang="tr-TR" dirty="0"/>
              <a:t> Ağacına </a:t>
            </a:r>
            <a:r>
              <a:rPr lang="tr-TR" dirty="0" smtClean="0"/>
              <a:t>Dönüştürme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79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up 66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39" name="Grup 3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40" name="Grup 39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8" name="Oval 47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10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>
                  <a:stCxn id="48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Düz Ok Bağlayıcısı 49"/>
                <p:cNvCxnSpPr>
                  <a:stCxn id="48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Düz Bağlayıcı 50"/>
                <p:cNvCxnSpPr>
                  <a:stCxn id="52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Oval 51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3" name="Düz Ok Bağlayıcısı 52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5" name="Düz Ok Bağlayıcısı 54"/>
                <p:cNvCxnSpPr>
                  <a:stCxn id="54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Düz Bağlayıcı 55"/>
                <p:cNvCxnSpPr>
                  <a:stCxn id="54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Oval 56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Oval 57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Oval 59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1" name="Metin kutusu 40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4" name="Metin kutusu 43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5" name="Metin kutusu 44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6" name="Metin kutusu 45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7" name="Metin kutusu 46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61" name="Düz Bağlayıcı 60"/>
            <p:cNvCxnSpPr>
              <a:stCxn id="57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Düz Ok Bağlayıcısı 61"/>
            <p:cNvCxnSpPr>
              <a:stCxn id="57" idx="5"/>
            </p:cNvCxnSpPr>
            <p:nvPr/>
          </p:nvCxnSpPr>
          <p:spPr>
            <a:xfrm>
              <a:off x="4107524" y="3842280"/>
              <a:ext cx="403578" cy="72456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4340327" y="4561345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65" name="Metin kutusu 64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  <p:sp>
          <p:nvSpPr>
            <p:cNvPr id="66" name="Metin kutusu 65"/>
            <p:cNvSpPr txBox="1"/>
            <p:nvPr/>
          </p:nvSpPr>
          <p:spPr>
            <a:xfrm>
              <a:off x="4478003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9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282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10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>
              <a:stCxn id="53" idx="5"/>
            </p:cNvCxnSpPr>
            <p:nvPr/>
          </p:nvCxnSpPr>
          <p:spPr>
            <a:xfrm>
              <a:off x="4107524" y="3842280"/>
              <a:ext cx="403578" cy="72456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340327" y="4561345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  <p:sp>
          <p:nvSpPr>
            <p:cNvPr id="35" name="Metin kutusu 34"/>
            <p:cNvSpPr txBox="1"/>
            <p:nvPr/>
          </p:nvSpPr>
          <p:spPr>
            <a:xfrm>
              <a:off x="4478003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9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178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10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>
              <a:stCxn id="53" idx="5"/>
            </p:cNvCxnSpPr>
            <p:nvPr/>
          </p:nvCxnSpPr>
          <p:spPr>
            <a:xfrm>
              <a:off x="4107524" y="3842280"/>
              <a:ext cx="403578" cy="72456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340327" y="4561345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  <p:sp>
          <p:nvSpPr>
            <p:cNvPr id="35" name="Metin kutusu 34"/>
            <p:cNvSpPr txBox="1"/>
            <p:nvPr/>
          </p:nvSpPr>
          <p:spPr>
            <a:xfrm>
              <a:off x="4478003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9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331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10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>
              <a:stCxn id="53" idx="5"/>
            </p:cNvCxnSpPr>
            <p:nvPr/>
          </p:nvCxnSpPr>
          <p:spPr>
            <a:xfrm>
              <a:off x="4107524" y="3842280"/>
              <a:ext cx="403578" cy="72456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340327" y="4561345"/>
              <a:ext cx="374228" cy="374229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  <p:sp>
          <p:nvSpPr>
            <p:cNvPr id="35" name="Metin kutusu 34"/>
            <p:cNvSpPr txBox="1"/>
            <p:nvPr/>
          </p:nvSpPr>
          <p:spPr>
            <a:xfrm>
              <a:off x="4478003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9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62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>
              <a:stCxn id="53" idx="5"/>
            </p:cNvCxnSpPr>
            <p:nvPr/>
          </p:nvCxnSpPr>
          <p:spPr>
            <a:xfrm>
              <a:off x="4107524" y="3842280"/>
              <a:ext cx="403578" cy="72456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340327" y="4561345"/>
              <a:ext cx="374228" cy="374229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3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  <p:sp>
          <p:nvSpPr>
            <p:cNvPr id="35" name="Metin kutusu 34"/>
            <p:cNvSpPr txBox="1"/>
            <p:nvPr/>
          </p:nvSpPr>
          <p:spPr>
            <a:xfrm>
              <a:off x="4478003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9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843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>
              <a:stCxn id="53" idx="5"/>
            </p:cNvCxnSpPr>
            <p:nvPr/>
          </p:nvCxnSpPr>
          <p:spPr>
            <a:xfrm>
              <a:off x="4107524" y="3842280"/>
              <a:ext cx="403578" cy="72456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340327" y="4561345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10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  <p:sp>
          <p:nvSpPr>
            <p:cNvPr id="35" name="Metin kutusu 34"/>
            <p:cNvSpPr txBox="1"/>
            <p:nvPr/>
          </p:nvSpPr>
          <p:spPr>
            <a:xfrm>
              <a:off x="4478003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9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192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677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962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027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476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1" name="Yay 30"/>
          <p:cNvSpPr/>
          <p:nvPr/>
        </p:nvSpPr>
        <p:spPr>
          <a:xfrm rot="18738306">
            <a:off x="4667065" y="1191053"/>
            <a:ext cx="1941811" cy="2600104"/>
          </a:xfrm>
          <a:prstGeom prst="arc">
            <a:avLst>
              <a:gd name="adj1" fmla="val 13707819"/>
              <a:gd name="adj2" fmla="val 19891677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3" name="Metin kutusu 32"/>
          <p:cNvSpPr txBox="1"/>
          <p:nvPr/>
        </p:nvSpPr>
        <p:spPr>
          <a:xfrm rot="60044">
            <a:off x="3229408" y="1726477"/>
            <a:ext cx="1162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Aşağı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515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90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701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266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9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10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20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024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9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733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0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0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955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3219110" y="1199393"/>
            <a:ext cx="5202365" cy="3741677"/>
            <a:chOff x="3219110" y="1199393"/>
            <a:chExt cx="5202365" cy="3741677"/>
          </a:xfrm>
        </p:grpSpPr>
        <p:grpSp>
          <p:nvGrpSpPr>
            <p:cNvPr id="29" name="Grup 28"/>
            <p:cNvGrpSpPr/>
            <p:nvPr/>
          </p:nvGrpSpPr>
          <p:grpSpPr>
            <a:xfrm>
              <a:off x="3774335" y="1199393"/>
              <a:ext cx="4647140" cy="2697692"/>
              <a:chOff x="3774335" y="1199393"/>
              <a:chExt cx="4647140" cy="2697692"/>
            </a:xfrm>
          </p:grpSpPr>
          <p:grpSp>
            <p:nvGrpSpPr>
              <p:cNvPr id="36" name="Grup 35"/>
              <p:cNvGrpSpPr/>
              <p:nvPr/>
            </p:nvGrpSpPr>
            <p:grpSpPr>
              <a:xfrm>
                <a:off x="3788100" y="1514160"/>
                <a:ext cx="4615800" cy="2382925"/>
                <a:chOff x="859317" y="1259615"/>
                <a:chExt cx="4630855" cy="2390696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916655" y="1259615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0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Düz Ok Bağlayıcısı 44"/>
                <p:cNvCxnSpPr>
                  <a:stCxn id="44" idx="3"/>
                </p:cNvCxnSpPr>
                <p:nvPr/>
              </p:nvCxnSpPr>
              <p:spPr>
                <a:xfrm flipH="1">
                  <a:off x="1749985" y="1580081"/>
                  <a:ext cx="1221653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Düz Ok Bağlayıcısı 45"/>
                <p:cNvCxnSpPr>
                  <a:stCxn id="44" idx="5"/>
                </p:cNvCxnSpPr>
                <p:nvPr/>
              </p:nvCxnSpPr>
              <p:spPr>
                <a:xfrm>
                  <a:off x="3237121" y="1580081"/>
                  <a:ext cx="1365362" cy="6596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Düz Bağlayıcı 46"/>
                <p:cNvCxnSpPr>
                  <a:stCxn id="48" idx="3"/>
                </p:cNvCxnSpPr>
                <p:nvPr/>
              </p:nvCxnSpPr>
              <p:spPr>
                <a:xfrm flipH="1">
                  <a:off x="1047041" y="2560216"/>
                  <a:ext cx="570202" cy="71464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/>
                <p:cNvSpPr/>
                <p:nvPr/>
              </p:nvSpPr>
              <p:spPr>
                <a:xfrm>
                  <a:off x="1562261" y="2239750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3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9" name="Düz Ok Bağlayıcısı 48"/>
                <p:cNvCxnSpPr/>
                <p:nvPr/>
              </p:nvCxnSpPr>
              <p:spPr>
                <a:xfrm>
                  <a:off x="1882349" y="2560216"/>
                  <a:ext cx="550591" cy="7146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/>
                <p:cNvSpPr/>
                <p:nvPr/>
              </p:nvSpPr>
              <p:spPr>
                <a:xfrm>
                  <a:off x="4414758" y="2239747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6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Düz Ok Bağlayıcısı 50"/>
                <p:cNvCxnSpPr>
                  <a:stCxn id="50" idx="5"/>
                </p:cNvCxnSpPr>
                <p:nvPr/>
              </p:nvCxnSpPr>
              <p:spPr>
                <a:xfrm>
                  <a:off x="4735224" y="2560213"/>
                  <a:ext cx="544660" cy="70291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Düz Bağlayıcı 51"/>
                <p:cNvCxnSpPr>
                  <a:stCxn id="50" idx="3"/>
                </p:cNvCxnSpPr>
                <p:nvPr/>
              </p:nvCxnSpPr>
              <p:spPr>
                <a:xfrm flipH="1">
                  <a:off x="3900513" y="2560213"/>
                  <a:ext cx="569228" cy="70291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859317" y="3274862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2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2261608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1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3686617" y="3269348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5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5114723" y="3263124"/>
                  <a:ext cx="375449" cy="375449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tr-TR" sz="1600" dirty="0" smtClean="0">
                      <a:solidFill>
                        <a:schemeClr val="tx1"/>
                      </a:solidFill>
                    </a:rPr>
                    <a:t>4</a:t>
                  </a:r>
                  <a:endParaRPr lang="tr-TR" sz="16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Metin kutusu 36"/>
              <p:cNvSpPr txBox="1"/>
              <p:nvPr/>
            </p:nvSpPr>
            <p:spPr>
              <a:xfrm>
                <a:off x="5882136" y="119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1</a:t>
                </a:r>
                <a:endParaRPr lang="tr-TR" sz="1400" dirty="0"/>
              </a:p>
            </p:txBody>
          </p:sp>
          <p:sp>
            <p:nvSpPr>
              <p:cNvPr id="38" name="Metin kutusu 37"/>
              <p:cNvSpPr txBox="1"/>
              <p:nvPr/>
            </p:nvSpPr>
            <p:spPr>
              <a:xfrm>
                <a:off x="4496723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2</a:t>
                </a:r>
                <a:endParaRPr lang="tr-TR" sz="1400" dirty="0"/>
              </a:p>
            </p:txBody>
          </p:sp>
          <p:sp>
            <p:nvSpPr>
              <p:cNvPr id="39" name="Metin kutusu 38"/>
              <p:cNvSpPr txBox="1"/>
              <p:nvPr/>
            </p:nvSpPr>
            <p:spPr>
              <a:xfrm>
                <a:off x="7442896" y="219288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3</a:t>
                </a:r>
                <a:endParaRPr lang="tr-TR" sz="1400" dirty="0"/>
              </a:p>
            </p:txBody>
          </p:sp>
          <p:sp>
            <p:nvSpPr>
              <p:cNvPr id="40" name="Metin kutusu 39"/>
              <p:cNvSpPr txBox="1"/>
              <p:nvPr/>
            </p:nvSpPr>
            <p:spPr>
              <a:xfrm>
                <a:off x="3774335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4</a:t>
                </a:r>
                <a:endParaRPr lang="tr-TR" sz="1400" dirty="0"/>
              </a:p>
            </p:txBody>
          </p:sp>
          <p:sp>
            <p:nvSpPr>
              <p:cNvPr id="41" name="Metin kutusu 40"/>
              <p:cNvSpPr txBox="1"/>
              <p:nvPr/>
            </p:nvSpPr>
            <p:spPr>
              <a:xfrm>
                <a:off x="5323508" y="320506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5</a:t>
                </a:r>
                <a:endParaRPr lang="tr-TR" sz="1400" dirty="0"/>
              </a:p>
            </p:txBody>
          </p:sp>
          <p:sp>
            <p:nvSpPr>
              <p:cNvPr id="42" name="Metin kutusu 41"/>
              <p:cNvSpPr txBox="1"/>
              <p:nvPr/>
            </p:nvSpPr>
            <p:spPr>
              <a:xfrm>
                <a:off x="6596264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6</a:t>
                </a:r>
                <a:endParaRPr lang="tr-TR" sz="1400" dirty="0"/>
              </a:p>
            </p:txBody>
          </p:sp>
          <p:sp>
            <p:nvSpPr>
              <p:cNvPr id="43" name="Metin kutusu 42"/>
              <p:cNvSpPr txBox="1"/>
              <p:nvPr/>
            </p:nvSpPr>
            <p:spPr>
              <a:xfrm>
                <a:off x="8145437" y="320337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r-TR" sz="1400" dirty="0" smtClean="0"/>
                  <a:t>7</a:t>
                </a:r>
                <a:endParaRPr lang="tr-TR" sz="1400" dirty="0"/>
              </a:p>
            </p:txBody>
          </p:sp>
        </p:grpSp>
        <p:cxnSp>
          <p:nvCxnSpPr>
            <p:cNvPr id="30" name="Düz Bağlayıcı 29"/>
            <p:cNvCxnSpPr>
              <a:stCxn id="53" idx="3"/>
            </p:cNvCxnSpPr>
            <p:nvPr/>
          </p:nvCxnSpPr>
          <p:spPr>
            <a:xfrm flipH="1">
              <a:off x="3419990" y="3842280"/>
              <a:ext cx="422914" cy="724564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3232875" y="4566841"/>
              <a:ext cx="374228" cy="374229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tr-TR" sz="1600" dirty="0" smtClean="0">
                  <a:solidFill>
                    <a:schemeClr val="tx1"/>
                  </a:solidFill>
                </a:rPr>
                <a:t>9</a:t>
              </a:r>
              <a:endParaRPr lang="tr-T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Metin kutusu 33"/>
            <p:cNvSpPr txBox="1"/>
            <p:nvPr/>
          </p:nvSpPr>
          <p:spPr>
            <a:xfrm>
              <a:off x="3219110" y="424904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8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660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705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608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081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7" name="Yay 26"/>
          <p:cNvSpPr/>
          <p:nvPr/>
        </p:nvSpPr>
        <p:spPr>
          <a:xfrm rot="2861694" flipH="1">
            <a:off x="5595982" y="1191053"/>
            <a:ext cx="1941811" cy="2600104"/>
          </a:xfrm>
          <a:prstGeom prst="arc">
            <a:avLst>
              <a:gd name="adj1" fmla="val 14053940"/>
              <a:gd name="adj2" fmla="val 19891677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Metin kutusu 27"/>
          <p:cNvSpPr txBox="1"/>
          <p:nvPr/>
        </p:nvSpPr>
        <p:spPr>
          <a:xfrm rot="60044">
            <a:off x="7830439" y="1726477"/>
            <a:ext cx="1162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Aşağı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966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06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001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884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28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27" name="Yay 26"/>
          <p:cNvSpPr/>
          <p:nvPr/>
        </p:nvSpPr>
        <p:spPr>
          <a:xfrm rot="17270297">
            <a:off x="6476705" y="2321753"/>
            <a:ext cx="1157610" cy="1615027"/>
          </a:xfrm>
          <a:prstGeom prst="arc">
            <a:avLst>
              <a:gd name="adj1" fmla="val 12692149"/>
              <a:gd name="adj2" fmla="val 105158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Metin kutusu 27"/>
          <p:cNvSpPr txBox="1"/>
          <p:nvPr/>
        </p:nvSpPr>
        <p:spPr>
          <a:xfrm>
            <a:off x="5280786" y="2316966"/>
            <a:ext cx="1162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/>
              <a:t>Aşağı taşı</a:t>
            </a:r>
            <a:endParaRPr lang="tr-TR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469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kdörtgen 24"/>
          <p:cNvSpPr/>
          <p:nvPr/>
        </p:nvSpPr>
        <p:spPr>
          <a:xfrm>
            <a:off x="970429" y="980298"/>
            <a:ext cx="1888886" cy="50353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silMax()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3774335" y="1199393"/>
            <a:ext cx="4647140" cy="2697692"/>
            <a:chOff x="3774335" y="1199393"/>
            <a:chExt cx="4647140" cy="2697692"/>
          </a:xfrm>
        </p:grpSpPr>
        <p:grpSp>
          <p:nvGrpSpPr>
            <p:cNvPr id="36" name="Grup 35"/>
            <p:cNvGrpSpPr/>
            <p:nvPr/>
          </p:nvGrpSpPr>
          <p:grpSpPr>
            <a:xfrm>
              <a:off x="3788100" y="1514160"/>
              <a:ext cx="4615800" cy="2382925"/>
              <a:chOff x="859317" y="1259615"/>
              <a:chExt cx="4630855" cy="2390696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2916655" y="1259615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6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Düz Ok Bağlayıcısı 44"/>
              <p:cNvCxnSpPr>
                <a:stCxn id="44" idx="3"/>
              </p:cNvCxnSpPr>
              <p:nvPr/>
            </p:nvCxnSpPr>
            <p:spPr>
              <a:xfrm flipH="1">
                <a:off x="1749985" y="1580081"/>
                <a:ext cx="1221653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Düz Ok Bağlayıcısı 45"/>
              <p:cNvCxnSpPr>
                <a:stCxn id="44" idx="5"/>
              </p:cNvCxnSpPr>
              <p:nvPr/>
            </p:nvCxnSpPr>
            <p:spPr>
              <a:xfrm>
                <a:off x="3237121" y="1580081"/>
                <a:ext cx="1365362" cy="6596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Düz Bağlayıcı 46"/>
              <p:cNvCxnSpPr>
                <a:stCxn id="48" idx="3"/>
              </p:cNvCxnSpPr>
              <p:nvPr/>
            </p:nvCxnSpPr>
            <p:spPr>
              <a:xfrm flipH="1">
                <a:off x="1047041" y="2560216"/>
                <a:ext cx="570202" cy="7146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1562261" y="2239750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3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Düz Ok Bağlayıcısı 48"/>
              <p:cNvCxnSpPr/>
              <p:nvPr/>
            </p:nvCxnSpPr>
            <p:spPr>
              <a:xfrm>
                <a:off x="1882349" y="2560216"/>
                <a:ext cx="550591" cy="7146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/>
              <p:nvPr/>
            </p:nvSpPr>
            <p:spPr>
              <a:xfrm>
                <a:off x="4414758" y="2239747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5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Düz Ok Bağlayıcısı 50"/>
              <p:cNvCxnSpPr>
                <a:stCxn id="50" idx="5"/>
              </p:cNvCxnSpPr>
              <p:nvPr/>
            </p:nvCxnSpPr>
            <p:spPr>
              <a:xfrm>
                <a:off x="4735224" y="2560213"/>
                <a:ext cx="544660" cy="7029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/>
              <p:cNvCxnSpPr>
                <a:stCxn id="50" idx="3"/>
              </p:cNvCxnSpPr>
              <p:nvPr/>
            </p:nvCxnSpPr>
            <p:spPr>
              <a:xfrm flipH="1">
                <a:off x="3900513" y="2560213"/>
                <a:ext cx="569228" cy="70291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/>
              <p:cNvSpPr/>
              <p:nvPr/>
            </p:nvSpPr>
            <p:spPr>
              <a:xfrm>
                <a:off x="859317" y="3274862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2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261608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1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686617" y="3269348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0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14723" y="3263124"/>
                <a:ext cx="375449" cy="375449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tr-TR" sz="1600" dirty="0" smtClean="0">
                    <a:solidFill>
                      <a:schemeClr val="tx1"/>
                    </a:solidFill>
                  </a:rPr>
                  <a:t>4</a:t>
                </a:r>
                <a:endParaRPr lang="tr-TR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Metin kutusu 36"/>
            <p:cNvSpPr txBox="1"/>
            <p:nvPr/>
          </p:nvSpPr>
          <p:spPr>
            <a:xfrm>
              <a:off x="5882136" y="11993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1</a:t>
              </a:r>
              <a:endParaRPr lang="tr-TR" sz="1400" dirty="0"/>
            </a:p>
          </p:txBody>
        </p:sp>
        <p:sp>
          <p:nvSpPr>
            <p:cNvPr id="38" name="Metin kutusu 37"/>
            <p:cNvSpPr txBox="1"/>
            <p:nvPr/>
          </p:nvSpPr>
          <p:spPr>
            <a:xfrm>
              <a:off x="4496723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2</a:t>
              </a:r>
              <a:endParaRPr lang="tr-TR" sz="1400" dirty="0"/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442896" y="219288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3</a:t>
              </a:r>
              <a:endParaRPr lang="tr-TR" sz="1400" dirty="0"/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3774335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4</a:t>
              </a:r>
              <a:endParaRPr lang="tr-TR" sz="1400" dirty="0"/>
            </a:p>
          </p:txBody>
        </p:sp>
        <p:sp>
          <p:nvSpPr>
            <p:cNvPr id="41" name="Metin kutusu 40"/>
            <p:cNvSpPr txBox="1"/>
            <p:nvPr/>
          </p:nvSpPr>
          <p:spPr>
            <a:xfrm>
              <a:off x="5323508" y="320506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5</a:t>
              </a:r>
              <a:endParaRPr lang="tr-TR" sz="1400" dirty="0"/>
            </a:p>
          </p:txBody>
        </p:sp>
        <p:sp>
          <p:nvSpPr>
            <p:cNvPr id="42" name="Metin kutusu 41"/>
            <p:cNvSpPr txBox="1"/>
            <p:nvPr/>
          </p:nvSpPr>
          <p:spPr>
            <a:xfrm>
              <a:off x="6596264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6</a:t>
              </a:r>
              <a:endParaRPr lang="tr-TR" sz="1400" dirty="0"/>
            </a:p>
          </p:txBody>
        </p:sp>
        <p:sp>
          <p:nvSpPr>
            <p:cNvPr id="43" name="Metin kutusu 42"/>
            <p:cNvSpPr txBox="1"/>
            <p:nvPr/>
          </p:nvSpPr>
          <p:spPr>
            <a:xfrm>
              <a:off x="8145437" y="320337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 smtClean="0"/>
                <a:t>7</a:t>
              </a:r>
              <a:endParaRPr lang="tr-TR" sz="1400" dirty="0"/>
            </a:p>
          </p:txBody>
        </p:sp>
      </p:grpSp>
      <p:sp>
        <p:nvSpPr>
          <p:cNvPr id="31" name="Dikdörtgen 30"/>
          <p:cNvSpPr/>
          <p:nvPr/>
        </p:nvSpPr>
        <p:spPr>
          <a:xfrm>
            <a:off x="9932999" y="980298"/>
            <a:ext cx="1431687" cy="55399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>
                <a:latin typeface="Lucida Console" panose="020B0609040504020204" pitchFamily="49" charset="0"/>
              </a:rPr>
              <a:t>max = 9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890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Max</a:t>
            </a:r>
            <a:r>
              <a:rPr lang="tr-TR" dirty="0"/>
              <a:t> </a:t>
            </a:r>
            <a:r>
              <a:rPr lang="tr-TR" dirty="0" err="1"/>
              <a:t>Heap</a:t>
            </a:r>
            <a:r>
              <a:rPr lang="tr-TR" dirty="0"/>
              <a:t> Ağacında En Büyük Elemanı </a:t>
            </a:r>
            <a:r>
              <a:rPr lang="tr-TR" dirty="0" smtClean="0"/>
              <a:t>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5" name="Content Placeholder 3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6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29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6" name="Metin kutusu 35"/>
          <p:cNvSpPr txBox="1"/>
          <p:nvPr/>
        </p:nvSpPr>
        <p:spPr>
          <a:xfrm>
            <a:off x="360156" y="4535629"/>
            <a:ext cx="80182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5" name="Content Placeholder 3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13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535629"/>
            <a:ext cx="80182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1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9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535629"/>
            <a:ext cx="80182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259002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34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281681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15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305811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77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538946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96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b = 7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538946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6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550744"/>
            <a:ext cx="1418978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7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563620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342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550744"/>
            <a:ext cx="1418978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7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588295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35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550744"/>
            <a:ext cx="1418978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7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611517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60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7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673600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306717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62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grpSp>
        <p:nvGrpSpPr>
          <p:cNvPr id="40" name="Grup 39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5" name="Metin kutusu 4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Düz Ok Bağlayıcısı 38"/>
          <p:cNvCxnSpPr/>
          <p:nvPr/>
        </p:nvCxnSpPr>
        <p:spPr>
          <a:xfrm>
            <a:off x="5887349" y="332843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31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4849120" cy="1054946"/>
            <a:chOff x="971818" y="1238408"/>
            <a:chExt cx="4849120" cy="1054946"/>
          </a:xfrm>
        </p:grpSpPr>
        <p:sp>
          <p:nvSpPr>
            <p:cNvPr id="4" name="Metin kutusu 3"/>
            <p:cNvSpPr txBox="1"/>
            <p:nvPr/>
          </p:nvSpPr>
          <p:spPr>
            <a:xfrm>
              <a:off x="2930281" y="1954800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354614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5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73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 33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" name="Metin kutusu 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6" name="Grup 5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29" name="Dikdörtgen 2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Metin kutusu 2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7" name="Grup 6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27" name="Dikdörtgen 2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Metin kutusu 2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8" name="Grup 7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25" name="Dikdörtgen 2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Metin kutusu 2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9" name="Grup 8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23" name="Dikdörtgen 2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Metin kutusu 2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10" name="Düz Bağlayıcı 9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Metin kutusu 2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12" name="Grup 11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19" name="Dikdörtgen 1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Metin kutusu 1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13" name="Grup 12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17" name="Dikdörtgen 1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Metin kutusu 1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14" name="Grup 13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15" name="Dikdörtgen 1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Metin kutusu 1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31" name="Grup 30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32" name="Dikdörtgen 3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Metin kutusu 3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043186"/>
            <a:ext cx="104868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209472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up 43"/>
          <p:cNvGrpSpPr/>
          <p:nvPr/>
        </p:nvGrpSpPr>
        <p:grpSpPr>
          <a:xfrm>
            <a:off x="1444433" y="1894817"/>
            <a:ext cx="288862" cy="566181"/>
            <a:chOff x="4682416" y="515257"/>
            <a:chExt cx="288862" cy="566181"/>
          </a:xfrm>
        </p:grpSpPr>
        <p:sp>
          <p:nvSpPr>
            <p:cNvPr id="45" name="Metin kutusu 44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46" name="Düz Ok Bağlayıcısı 45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7" name="Content Placeholder 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7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043186"/>
            <a:ext cx="104868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2341463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1444433" y="1894817"/>
            <a:ext cx="288862" cy="566181"/>
            <a:chOff x="4682416" y="515257"/>
            <a:chExt cx="288862" cy="566181"/>
          </a:xfrm>
        </p:grpSpPr>
        <p:sp>
          <p:nvSpPr>
            <p:cNvPr id="44" name="Metin kutusu 43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45" name="Düz Ok Bağlayıcısı 4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 45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7" name="Metin kutusu 46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8" name="Grup 47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4" name="Dikdörtgen 7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Metin kutusu 7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9" name="Grup 48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72" name="Dikdörtgen 7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Metin kutusu 7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50" name="Grup 49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70" name="Dikdörtgen 69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Metin kutusu 70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8" name="Dikdörtgen 6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Metin kutusu 6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52" name="Düz Bağlayıcı 51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 52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6" name="Dikdörtgen 65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Metin kutusu 66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4" name="Dikdörtgen 63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Metin kutusu 64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5" name="Grup 54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62" name="Dikdörtgen 61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Metin kutusu 62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6" name="Grup 55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60" name="Dikdörtgen 59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Metin kutusu 60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7" name="Grup 56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8" name="Dikdörtgen 57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Metin kutusu 58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6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8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258820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4433" y="1894817"/>
            <a:ext cx="288862" cy="566181"/>
            <a:chOff x="4682416" y="515257"/>
            <a:chExt cx="288862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1999079" y="1894817"/>
            <a:ext cx="239168" cy="566181"/>
            <a:chOff x="4707263" y="515257"/>
            <a:chExt cx="239168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24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2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283495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4433" y="1894817"/>
            <a:ext cx="288862" cy="566181"/>
            <a:chOff x="4682416" y="515257"/>
            <a:chExt cx="288862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1999079" y="1894817"/>
            <a:ext cx="239168" cy="566181"/>
            <a:chOff x="4707263" y="515257"/>
            <a:chExt cx="239168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3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306717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4433" y="1894817"/>
            <a:ext cx="288862" cy="566181"/>
            <a:chOff x="4682416" y="515257"/>
            <a:chExt cx="288862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2536106" y="1894817"/>
            <a:ext cx="239168" cy="566181"/>
            <a:chOff x="4707263" y="515257"/>
            <a:chExt cx="239168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82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354614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4433" y="1894817"/>
            <a:ext cx="288862" cy="566181"/>
            <a:chOff x="4682416" y="515257"/>
            <a:chExt cx="288862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2536106" y="1894817"/>
            <a:ext cx="239168" cy="566181"/>
            <a:chOff x="4707263" y="515257"/>
            <a:chExt cx="239168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99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28637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4433" y="1894817"/>
            <a:ext cx="288862" cy="566181"/>
            <a:chOff x="4682416" y="515257"/>
            <a:chExt cx="288862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2536106" y="1894817"/>
            <a:ext cx="239168" cy="566181"/>
            <a:chOff x="4707263" y="515257"/>
            <a:chExt cx="239168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304523"/>
            <a:ext cx="104868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b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538945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1227" y="1894817"/>
            <a:ext cx="295274" cy="566181"/>
            <a:chOff x="4679210" y="515257"/>
            <a:chExt cx="29527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2502443" y="1894817"/>
            <a:ext cx="306494" cy="566181"/>
            <a:chOff x="4673600" y="515257"/>
            <a:chExt cx="30649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3600" y="71210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b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99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058301"/>
            <a:ext cx="1418978" cy="181588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562168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1227" y="1894817"/>
            <a:ext cx="295274" cy="566181"/>
            <a:chOff x="4679210" y="515257"/>
            <a:chExt cx="29527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2502443" y="1894817"/>
            <a:ext cx="306494" cy="566181"/>
            <a:chOff x="4673600" y="515257"/>
            <a:chExt cx="30649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3600" y="71210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b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89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058301"/>
            <a:ext cx="1418978" cy="181588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586842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1227" y="1894817"/>
            <a:ext cx="295274" cy="566181"/>
            <a:chOff x="4679210" y="515257"/>
            <a:chExt cx="29527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2502443" y="1894817"/>
            <a:ext cx="306494" cy="566181"/>
            <a:chOff x="4673600" y="515257"/>
            <a:chExt cx="30649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3600" y="71210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b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06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058301"/>
            <a:ext cx="1418978" cy="181588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611517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1227" y="1894817"/>
            <a:ext cx="295274" cy="566181"/>
            <a:chOff x="4679210" y="515257"/>
            <a:chExt cx="29527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2502443" y="1894817"/>
            <a:ext cx="306494" cy="566181"/>
            <a:chOff x="4673600" y="515257"/>
            <a:chExt cx="30649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3600" y="71210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b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47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1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271861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3" name="Grup 72"/>
          <p:cNvGrpSpPr/>
          <p:nvPr/>
        </p:nvGrpSpPr>
        <p:grpSpPr>
          <a:xfrm>
            <a:off x="1441227" y="1894817"/>
            <a:ext cx="295274" cy="566181"/>
            <a:chOff x="4679210" y="515257"/>
            <a:chExt cx="29527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 75"/>
          <p:cNvGrpSpPr/>
          <p:nvPr/>
        </p:nvGrpSpPr>
        <p:grpSpPr>
          <a:xfrm>
            <a:off x="2536106" y="1894817"/>
            <a:ext cx="239168" cy="566181"/>
            <a:chOff x="4707263" y="515257"/>
            <a:chExt cx="239168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6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51860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36106" y="1894817"/>
            <a:ext cx="239168" cy="566181"/>
            <a:chOff x="4707263" y="515257"/>
            <a:chExt cx="239168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Metin kutusu 78"/>
          <p:cNvSpPr txBox="1"/>
          <p:nvPr/>
        </p:nvSpPr>
        <p:spPr>
          <a:xfrm>
            <a:off x="2507774" y="240897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 smtClean="0"/>
              <a:t>k</a:t>
            </a:r>
            <a:endParaRPr lang="tr-TR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3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43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043186"/>
            <a:ext cx="1048685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232694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11259" y="1894817"/>
            <a:ext cx="288862" cy="566181"/>
            <a:chOff x="4682416" y="515257"/>
            <a:chExt cx="288862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3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11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257368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11259" y="1894817"/>
            <a:ext cx="288862" cy="566181"/>
            <a:chOff x="4682416" y="515257"/>
            <a:chExt cx="288862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36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282043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11259" y="1894817"/>
            <a:ext cx="288862" cy="566181"/>
            <a:chOff x="4682416" y="515257"/>
            <a:chExt cx="288862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09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353163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11259" y="1894817"/>
            <a:ext cx="288862" cy="566181"/>
            <a:chOff x="4682416" y="515257"/>
            <a:chExt cx="288862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3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353163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11259" y="1894817"/>
            <a:ext cx="288862" cy="566181"/>
            <a:chOff x="4682416" y="515257"/>
            <a:chExt cx="288862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63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27185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11259" y="1894817"/>
            <a:ext cx="288862" cy="566181"/>
            <a:chOff x="4682416" y="515257"/>
            <a:chExt cx="288862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82416" y="71210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35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304523"/>
            <a:ext cx="1048685" cy="156966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b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5389454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08053" y="1894817"/>
            <a:ext cx="295274" cy="566181"/>
            <a:chOff x="4679210" y="515257"/>
            <a:chExt cx="29527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28041" y="1894817"/>
            <a:ext cx="306494" cy="566181"/>
            <a:chOff x="4673600" y="515257"/>
            <a:chExt cx="30649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3600" y="71210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b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59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058301"/>
            <a:ext cx="1418978" cy="181588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562168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08053" y="1894817"/>
            <a:ext cx="295274" cy="566181"/>
            <a:chOff x="4679210" y="515257"/>
            <a:chExt cx="29527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28041" y="1894817"/>
            <a:ext cx="306494" cy="566181"/>
            <a:chOff x="4673600" y="515257"/>
            <a:chExt cx="30649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3600" y="71210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b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79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058301"/>
            <a:ext cx="1418978" cy="181588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586842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08053" y="1894817"/>
            <a:ext cx="295274" cy="566181"/>
            <a:chOff x="4679210" y="515257"/>
            <a:chExt cx="29527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28041" y="1894817"/>
            <a:ext cx="306494" cy="566181"/>
            <a:chOff x="4673600" y="515257"/>
            <a:chExt cx="30649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3600" y="71210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b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57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058301"/>
            <a:ext cx="1418978" cy="1815882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gecici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b = 5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a = 4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611516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08053" y="1894817"/>
            <a:ext cx="295274" cy="566181"/>
            <a:chOff x="4679210" y="515257"/>
            <a:chExt cx="29527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a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28041" y="1894817"/>
            <a:ext cx="306494" cy="566181"/>
            <a:chOff x="4673600" y="515257"/>
            <a:chExt cx="306494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673600" y="71210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b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0733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286365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08053" y="1894817"/>
            <a:ext cx="295274" cy="566181"/>
            <a:chOff x="4679210" y="515257"/>
            <a:chExt cx="29527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20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50408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08053" y="1894817"/>
            <a:ext cx="295274" cy="566181"/>
            <a:chOff x="4679210" y="515257"/>
            <a:chExt cx="29527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67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232693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08053" y="1894817"/>
            <a:ext cx="295274" cy="566181"/>
            <a:chOff x="4679210" y="515257"/>
            <a:chExt cx="29527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4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3796965"/>
            <a:ext cx="1048685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j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k = 6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99756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grpSp>
        <p:nvGrpSpPr>
          <p:cNvPr id="76" name="Grup 75"/>
          <p:cNvGrpSpPr/>
          <p:nvPr/>
        </p:nvGrpSpPr>
        <p:grpSpPr>
          <a:xfrm>
            <a:off x="2508053" y="1894817"/>
            <a:ext cx="295274" cy="566181"/>
            <a:chOff x="4679210" y="515257"/>
            <a:chExt cx="295274" cy="566181"/>
          </a:xfrm>
        </p:grpSpPr>
        <p:sp>
          <p:nvSpPr>
            <p:cNvPr id="77" name="Metin kutusu 76"/>
            <p:cNvSpPr txBox="1"/>
            <p:nvPr/>
          </p:nvSpPr>
          <p:spPr>
            <a:xfrm>
              <a:off x="4679210" y="712106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k</a:t>
              </a:r>
              <a:endParaRPr lang="tr-TR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 72"/>
          <p:cNvGrpSpPr/>
          <p:nvPr/>
        </p:nvGrpSpPr>
        <p:grpSpPr>
          <a:xfrm>
            <a:off x="4161704" y="1894817"/>
            <a:ext cx="239168" cy="566181"/>
            <a:chOff x="4707263" y="515257"/>
            <a:chExt cx="239168" cy="566181"/>
          </a:xfrm>
        </p:grpSpPr>
        <p:sp>
          <p:nvSpPr>
            <p:cNvPr id="74" name="Metin kutusu 73"/>
            <p:cNvSpPr txBox="1"/>
            <p:nvPr/>
          </p:nvSpPr>
          <p:spPr>
            <a:xfrm>
              <a:off x="4707263" y="712106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j</a:t>
              </a:r>
              <a:endParaRPr lang="tr-TR" dirty="0"/>
            </a:p>
          </p:txBody>
        </p:sp>
        <p:cxnSp>
          <p:nvCxnSpPr>
            <p:cNvPr id="75" name="Düz Ok Bağlayıcısı 74"/>
            <p:cNvCxnSpPr/>
            <p:nvPr/>
          </p:nvCxnSpPr>
          <p:spPr>
            <a:xfrm flipV="1">
              <a:off x="4825296" y="515257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9" name="Metin kutusu 2"/>
          <p:cNvSpPr txBox="1"/>
          <p:nvPr/>
        </p:nvSpPr>
        <p:spPr>
          <a:xfrm>
            <a:off x="6324600" y="1870779"/>
            <a:ext cx="5848894" cy="4823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2*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tr-TR" sz="1600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 </a:t>
            </a:r>
            <a:r>
              <a:rPr lang="tr-T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&lt;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+1])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break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76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3546137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9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3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1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3792879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4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3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039622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4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4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etin kutusu 34"/>
          <p:cNvSpPr txBox="1"/>
          <p:nvPr/>
        </p:nvSpPr>
        <p:spPr>
          <a:xfrm>
            <a:off x="360157" y="5398142"/>
            <a:ext cx="117211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silMax()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max = 9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cxnSp>
        <p:nvCxnSpPr>
          <p:cNvPr id="39" name="Düz Ok Bağlayıcısı 38"/>
          <p:cNvCxnSpPr/>
          <p:nvPr/>
        </p:nvCxnSpPr>
        <p:spPr>
          <a:xfrm>
            <a:off x="5887349" y="47798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4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52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etin kutusu 35"/>
          <p:cNvSpPr txBox="1"/>
          <p:nvPr/>
        </p:nvSpPr>
        <p:spPr>
          <a:xfrm>
            <a:off x="360156" y="4535629"/>
            <a:ext cx="80182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6</a:t>
            </a:r>
          </a:p>
        </p:txBody>
      </p:sp>
      <p:grpSp>
        <p:nvGrpSpPr>
          <p:cNvPr id="41" name="Grup 40"/>
          <p:cNvGrpSpPr/>
          <p:nvPr/>
        </p:nvGrpSpPr>
        <p:grpSpPr>
          <a:xfrm>
            <a:off x="4136573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6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4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4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01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m</a:t>
            </a:r>
            <a:r>
              <a:rPr lang="tr-TR" sz="1600" dirty="0" smtClean="0">
                <a:latin typeface="Lucida Console" panose="020B0609040504020204" pitchFamily="49" charset="0"/>
              </a:rPr>
              <a:t>ax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</a:t>
            </a:r>
            <a:r>
              <a:rPr lang="tr-TR" sz="1600" dirty="0">
                <a:latin typeface="Lucida Console" panose="020B0609040504020204" pitchFamily="49" charset="0"/>
              </a:rPr>
              <a:t>2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grpSp>
        <p:nvGrpSpPr>
          <p:cNvPr id="41" name="Grup 40"/>
          <p:cNvGrpSpPr/>
          <p:nvPr/>
        </p:nvGrpSpPr>
        <p:grpSpPr>
          <a:xfrm>
            <a:off x="1973942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3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cxnSp>
        <p:nvCxnSpPr>
          <p:cNvPr id="38" name="Düz Ok Bağlayıcısı 37"/>
          <p:cNvCxnSpPr/>
          <p:nvPr/>
        </p:nvCxnSpPr>
        <p:spPr>
          <a:xfrm>
            <a:off x="5887349" y="356064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4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20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m</a:t>
            </a:r>
            <a:r>
              <a:rPr lang="tr-TR" sz="1600" dirty="0" smtClean="0">
                <a:latin typeface="Lucida Console" panose="020B0609040504020204" pitchFamily="49" charset="0"/>
              </a:rPr>
              <a:t>ax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</a:t>
            </a:r>
            <a:r>
              <a:rPr lang="tr-TR" sz="1600" dirty="0">
                <a:latin typeface="Lucida Console" panose="020B0609040504020204" pitchFamily="49" charset="0"/>
              </a:rPr>
              <a:t>2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grpSp>
        <p:nvGrpSpPr>
          <p:cNvPr id="41" name="Grup 40"/>
          <p:cNvGrpSpPr/>
          <p:nvPr/>
        </p:nvGrpSpPr>
        <p:grpSpPr>
          <a:xfrm>
            <a:off x="1973942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cxnSp>
        <p:nvCxnSpPr>
          <p:cNvPr id="38" name="Düz Ok Bağlayıcısı 37"/>
          <p:cNvCxnSpPr/>
          <p:nvPr/>
        </p:nvCxnSpPr>
        <p:spPr>
          <a:xfrm>
            <a:off x="5887349" y="3792876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4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67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m</a:t>
            </a:r>
            <a:r>
              <a:rPr lang="tr-TR" sz="1600" dirty="0" smtClean="0">
                <a:latin typeface="Lucida Console" panose="020B0609040504020204" pitchFamily="49" charset="0"/>
              </a:rPr>
              <a:t>ax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</a:t>
            </a:r>
            <a:r>
              <a:rPr lang="tr-TR" sz="1600" dirty="0">
                <a:latin typeface="Lucida Console" panose="020B0609040504020204" pitchFamily="49" charset="0"/>
              </a:rPr>
              <a:t>2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grpSp>
        <p:nvGrpSpPr>
          <p:cNvPr id="41" name="Grup 40"/>
          <p:cNvGrpSpPr/>
          <p:nvPr/>
        </p:nvGrpSpPr>
        <p:grpSpPr>
          <a:xfrm>
            <a:off x="1973942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cxnSp>
        <p:nvCxnSpPr>
          <p:cNvPr id="38" name="Düz Ok Bağlayıcısı 37"/>
          <p:cNvCxnSpPr/>
          <p:nvPr/>
        </p:nvCxnSpPr>
        <p:spPr>
          <a:xfrm>
            <a:off x="5887349" y="4039618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4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25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m</a:t>
            </a:r>
            <a:r>
              <a:rPr lang="tr-TR" sz="1600" dirty="0" smtClean="0">
                <a:latin typeface="Lucida Console" panose="020B0609040504020204" pitchFamily="49" charset="0"/>
              </a:rPr>
              <a:t>ax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</a:t>
            </a:r>
            <a:r>
              <a:rPr lang="tr-TR" sz="1600" dirty="0">
                <a:latin typeface="Lucida Console" panose="020B0609040504020204" pitchFamily="49" charset="0"/>
              </a:rPr>
              <a:t>2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grpSp>
        <p:nvGrpSpPr>
          <p:cNvPr id="41" name="Grup 40"/>
          <p:cNvGrpSpPr/>
          <p:nvPr/>
        </p:nvGrpSpPr>
        <p:grpSpPr>
          <a:xfrm>
            <a:off x="1973942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8408"/>
            <a:ext cx="5798543" cy="707324"/>
            <a:chOff x="971818" y="1238408"/>
            <a:chExt cx="5798543" cy="707324"/>
          </a:xfrm>
        </p:grpSpPr>
        <p:sp>
          <p:nvSpPr>
            <p:cNvPr id="44" name="Metin kutusu 43"/>
            <p:cNvSpPr txBox="1"/>
            <p:nvPr/>
          </p:nvSpPr>
          <p:spPr>
            <a:xfrm>
              <a:off x="5845108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 49"/>
            <p:cNvGrpSpPr/>
            <p:nvPr/>
          </p:nvGrpSpPr>
          <p:grpSpPr>
            <a:xfrm>
              <a:off x="3128938" y="1240632"/>
              <a:ext cx="540000" cy="703932"/>
              <a:chOff x="6810425" y="4799920"/>
              <a:chExt cx="540000" cy="703932"/>
            </a:xfrm>
          </p:grpSpPr>
          <p:sp>
            <p:nvSpPr>
              <p:cNvPr id="63" name="Dikdörtgen 62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Metin kutusu 63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4</a:t>
                </a:r>
                <a:endParaRPr lang="tr-TR" dirty="0"/>
              </a:p>
            </p:txBody>
          </p:sp>
        </p:grpSp>
        <p:grpSp>
          <p:nvGrpSpPr>
            <p:cNvPr id="51" name="Grup 50"/>
            <p:cNvGrpSpPr/>
            <p:nvPr/>
          </p:nvGrpSpPr>
          <p:grpSpPr>
            <a:xfrm>
              <a:off x="3665892" y="1240632"/>
              <a:ext cx="540000" cy="703932"/>
              <a:chOff x="6810425" y="4799920"/>
              <a:chExt cx="540000" cy="703932"/>
            </a:xfrm>
          </p:grpSpPr>
          <p:sp>
            <p:nvSpPr>
              <p:cNvPr id="61" name="Dikdörtgen 6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Metin kutusu 6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5</a:t>
                </a:r>
                <a:endParaRPr lang="tr-TR" dirty="0"/>
              </a:p>
            </p:txBody>
          </p:sp>
        </p:grpSp>
        <p:grpSp>
          <p:nvGrpSpPr>
            <p:cNvPr id="52" name="Grup 51"/>
            <p:cNvGrpSpPr/>
            <p:nvPr/>
          </p:nvGrpSpPr>
          <p:grpSpPr>
            <a:xfrm>
              <a:off x="4204938" y="1241800"/>
              <a:ext cx="540000" cy="703932"/>
              <a:chOff x="6810425" y="4799920"/>
              <a:chExt cx="540000" cy="703932"/>
            </a:xfrm>
          </p:grpSpPr>
          <p:sp>
            <p:nvSpPr>
              <p:cNvPr id="59" name="Dikdörtgen 5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Metin kutusu 5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6</a:t>
                </a:r>
                <a:endParaRPr lang="tr-TR" dirty="0"/>
              </a:p>
            </p:txBody>
          </p:sp>
        </p:grpSp>
        <p:grpSp>
          <p:nvGrpSpPr>
            <p:cNvPr id="53" name="Grup 52"/>
            <p:cNvGrpSpPr/>
            <p:nvPr/>
          </p:nvGrpSpPr>
          <p:grpSpPr>
            <a:xfrm>
              <a:off x="4745796" y="1239408"/>
              <a:ext cx="540000" cy="703932"/>
              <a:chOff x="6810425" y="4799920"/>
              <a:chExt cx="540000" cy="703932"/>
            </a:xfrm>
          </p:grpSpPr>
          <p:sp>
            <p:nvSpPr>
              <p:cNvPr id="57" name="Dikdörtgen 5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Metin kutusu 5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7</a:t>
                </a:r>
                <a:endParaRPr lang="tr-TR" dirty="0"/>
              </a:p>
            </p:txBody>
          </p:sp>
        </p:grpSp>
        <p:grpSp>
          <p:nvGrpSpPr>
            <p:cNvPr id="54" name="Grup 53"/>
            <p:cNvGrpSpPr/>
            <p:nvPr/>
          </p:nvGrpSpPr>
          <p:grpSpPr>
            <a:xfrm>
              <a:off x="5280938" y="1238408"/>
              <a:ext cx="540000" cy="703932"/>
              <a:chOff x="6810425" y="4799920"/>
              <a:chExt cx="540000" cy="703932"/>
            </a:xfrm>
          </p:grpSpPr>
          <p:sp>
            <p:nvSpPr>
              <p:cNvPr id="55" name="Dikdörtgen 5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Metin kutusu 5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8</a:t>
                </a:r>
                <a:endParaRPr lang="tr-TR" dirty="0"/>
              </a:p>
            </p:txBody>
          </p:sp>
        </p:grpSp>
      </p:grpSp>
      <p:cxnSp>
        <p:nvCxnSpPr>
          <p:cNvPr id="38" name="Düz Ok Bağlayıcısı 37"/>
          <p:cNvCxnSpPr/>
          <p:nvPr/>
        </p:nvCxnSpPr>
        <p:spPr>
          <a:xfrm>
            <a:off x="5887349" y="428636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4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90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m</a:t>
            </a:r>
            <a:r>
              <a:rPr lang="tr-TR" sz="1600" dirty="0" smtClean="0">
                <a:latin typeface="Lucida Console" panose="020B0609040504020204" pitchFamily="49" charset="0"/>
              </a:rPr>
              <a:t>ax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</a:t>
            </a:r>
            <a:r>
              <a:rPr lang="tr-TR" sz="1600" dirty="0">
                <a:latin typeface="Lucida Console" panose="020B0609040504020204" pitchFamily="49" charset="0"/>
              </a:rPr>
              <a:t>2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grpSp>
        <p:nvGrpSpPr>
          <p:cNvPr id="41" name="Grup 40"/>
          <p:cNvGrpSpPr/>
          <p:nvPr/>
        </p:nvGrpSpPr>
        <p:grpSpPr>
          <a:xfrm>
            <a:off x="1973942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9408"/>
            <a:ext cx="3084374" cy="705100"/>
            <a:chOff x="971818" y="1239408"/>
            <a:chExt cx="3084374" cy="705100"/>
          </a:xfrm>
        </p:grpSpPr>
        <p:sp>
          <p:nvSpPr>
            <p:cNvPr id="44" name="Metin kutusu 43"/>
            <p:cNvSpPr txBox="1"/>
            <p:nvPr/>
          </p:nvSpPr>
          <p:spPr>
            <a:xfrm>
              <a:off x="3130939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Düz Ok Bağlayıcısı 37"/>
          <p:cNvCxnSpPr/>
          <p:nvPr/>
        </p:nvCxnSpPr>
        <p:spPr>
          <a:xfrm>
            <a:off x="5887349" y="428636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87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etin kutusu 35"/>
          <p:cNvSpPr txBox="1"/>
          <p:nvPr/>
        </p:nvSpPr>
        <p:spPr>
          <a:xfrm>
            <a:off x="360156" y="4289408"/>
            <a:ext cx="104868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m</a:t>
            </a:r>
            <a:r>
              <a:rPr lang="tr-TR" sz="1600" dirty="0" smtClean="0">
                <a:latin typeface="Lucida Console" panose="020B0609040504020204" pitchFamily="49" charset="0"/>
              </a:rPr>
              <a:t>ax = 3</a:t>
            </a:r>
          </a:p>
          <a:p>
            <a:r>
              <a:rPr lang="tr-TR" sz="1600" dirty="0" smtClean="0">
                <a:latin typeface="Lucida Console" panose="020B0609040504020204" pitchFamily="49" charset="0"/>
              </a:rPr>
              <a:t>n = </a:t>
            </a:r>
            <a:r>
              <a:rPr lang="tr-TR" sz="1600" dirty="0">
                <a:latin typeface="Lucida Console" panose="020B0609040504020204" pitchFamily="49" charset="0"/>
              </a:rPr>
              <a:t>2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grpSp>
        <p:nvGrpSpPr>
          <p:cNvPr id="41" name="Grup 40"/>
          <p:cNvGrpSpPr/>
          <p:nvPr/>
        </p:nvGrpSpPr>
        <p:grpSpPr>
          <a:xfrm>
            <a:off x="1973942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9408"/>
            <a:ext cx="3084374" cy="705100"/>
            <a:chOff x="971818" y="1239408"/>
            <a:chExt cx="3084374" cy="705100"/>
          </a:xfrm>
        </p:grpSpPr>
        <p:sp>
          <p:nvSpPr>
            <p:cNvPr id="44" name="Metin kutusu 43"/>
            <p:cNvSpPr txBox="1"/>
            <p:nvPr/>
          </p:nvSpPr>
          <p:spPr>
            <a:xfrm>
              <a:off x="3130939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Düz Ok Bağlayıcısı 37"/>
          <p:cNvCxnSpPr/>
          <p:nvPr/>
        </p:nvCxnSpPr>
        <p:spPr>
          <a:xfrm>
            <a:off x="5887349" y="4765330"/>
            <a:ext cx="3318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8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etin kutusu 35"/>
          <p:cNvSpPr txBox="1"/>
          <p:nvPr/>
        </p:nvSpPr>
        <p:spPr>
          <a:xfrm>
            <a:off x="360156" y="4535629"/>
            <a:ext cx="80182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n = </a:t>
            </a:r>
            <a:r>
              <a:rPr lang="tr-TR" sz="1600" dirty="0">
                <a:latin typeface="Lucida Console" panose="020B0609040504020204" pitchFamily="49" charset="0"/>
              </a:rPr>
              <a:t>2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grpSp>
        <p:nvGrpSpPr>
          <p:cNvPr id="41" name="Grup 40"/>
          <p:cNvGrpSpPr/>
          <p:nvPr/>
        </p:nvGrpSpPr>
        <p:grpSpPr>
          <a:xfrm>
            <a:off x="1973942" y="654050"/>
            <a:ext cx="306494" cy="534558"/>
            <a:chOff x="4673600" y="654050"/>
            <a:chExt cx="306494" cy="534558"/>
          </a:xfrm>
        </p:grpSpPr>
        <p:sp>
          <p:nvSpPr>
            <p:cNvPr id="42" name="Metin kutusu 41"/>
            <p:cNvSpPr txBox="1"/>
            <p:nvPr/>
          </p:nvSpPr>
          <p:spPr>
            <a:xfrm>
              <a:off x="4673600" y="6540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dirty="0" smtClean="0"/>
                <a:t>n</a:t>
              </a:r>
              <a:endParaRPr lang="tr-TR" dirty="0"/>
            </a:p>
          </p:txBody>
        </p:sp>
        <p:cxnSp>
          <p:nvCxnSpPr>
            <p:cNvPr id="43" name="Düz Ok Bağlayıcısı 42"/>
            <p:cNvCxnSpPr/>
            <p:nvPr/>
          </p:nvCxnSpPr>
          <p:spPr>
            <a:xfrm>
              <a:off x="4825296" y="965200"/>
              <a:ext cx="1" cy="22340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781318" y="1239408"/>
            <a:ext cx="3084374" cy="705100"/>
            <a:chOff x="971818" y="1239408"/>
            <a:chExt cx="3084374" cy="705100"/>
          </a:xfrm>
        </p:grpSpPr>
        <p:sp>
          <p:nvSpPr>
            <p:cNvPr id="44" name="Metin kutusu 43"/>
            <p:cNvSpPr txBox="1"/>
            <p:nvPr/>
          </p:nvSpPr>
          <p:spPr>
            <a:xfrm>
              <a:off x="3130939" y="1263645"/>
              <a:ext cx="925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600" dirty="0" smtClean="0">
                  <a:latin typeface="Lucida Console" panose="020B0609040504020204" pitchFamily="49" charset="0"/>
                </a:rPr>
                <a:t>heap[]</a:t>
              </a:r>
              <a:endParaRPr lang="tr-TR" sz="1600" dirty="0">
                <a:latin typeface="Lucida Console" panose="020B0609040504020204" pitchFamily="49" charset="0"/>
              </a:endParaRPr>
            </a:p>
          </p:txBody>
        </p:sp>
        <p:grpSp>
          <p:nvGrpSpPr>
            <p:cNvPr id="45" name="Grup 44"/>
            <p:cNvGrpSpPr/>
            <p:nvPr/>
          </p:nvGrpSpPr>
          <p:grpSpPr>
            <a:xfrm>
              <a:off x="971818" y="1239408"/>
              <a:ext cx="540000" cy="703932"/>
              <a:chOff x="6810425" y="4799920"/>
              <a:chExt cx="540000" cy="703932"/>
            </a:xfrm>
          </p:grpSpPr>
          <p:sp>
            <p:nvSpPr>
              <p:cNvPr id="71" name="Dikdörtgen 70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Metin kutusu 71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0</a:t>
                </a:r>
                <a:endParaRPr lang="tr-TR" dirty="0"/>
              </a:p>
            </p:txBody>
          </p:sp>
        </p:grpSp>
        <p:grpSp>
          <p:nvGrpSpPr>
            <p:cNvPr id="46" name="Grup 45"/>
            <p:cNvGrpSpPr/>
            <p:nvPr/>
          </p:nvGrpSpPr>
          <p:grpSpPr>
            <a:xfrm>
              <a:off x="1512868" y="1239408"/>
              <a:ext cx="540000" cy="703932"/>
              <a:chOff x="6810425" y="4799920"/>
              <a:chExt cx="540000" cy="703932"/>
            </a:xfrm>
          </p:grpSpPr>
          <p:sp>
            <p:nvSpPr>
              <p:cNvPr id="69" name="Dikdörtgen 68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Metin kutusu 69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1</a:t>
                </a:r>
                <a:endParaRPr lang="tr-TR" dirty="0"/>
              </a:p>
            </p:txBody>
          </p:sp>
        </p:grpSp>
        <p:grpSp>
          <p:nvGrpSpPr>
            <p:cNvPr id="47" name="Grup 46"/>
            <p:cNvGrpSpPr/>
            <p:nvPr/>
          </p:nvGrpSpPr>
          <p:grpSpPr>
            <a:xfrm>
              <a:off x="2049822" y="1239408"/>
              <a:ext cx="540000" cy="703932"/>
              <a:chOff x="6810425" y="4799920"/>
              <a:chExt cx="540000" cy="703932"/>
            </a:xfrm>
          </p:grpSpPr>
          <p:sp>
            <p:nvSpPr>
              <p:cNvPr id="67" name="Dikdörtgen 66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Metin kutusu 67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2</a:t>
                </a:r>
                <a:endParaRPr lang="tr-TR" dirty="0"/>
              </a:p>
            </p:txBody>
          </p:sp>
        </p:grpSp>
        <p:grpSp>
          <p:nvGrpSpPr>
            <p:cNvPr id="48" name="Grup 47"/>
            <p:cNvGrpSpPr/>
            <p:nvPr/>
          </p:nvGrpSpPr>
          <p:grpSpPr>
            <a:xfrm>
              <a:off x="2588868" y="1240576"/>
              <a:ext cx="540000" cy="703932"/>
              <a:chOff x="6810425" y="4799920"/>
              <a:chExt cx="540000" cy="703932"/>
            </a:xfrm>
          </p:grpSpPr>
          <p:sp>
            <p:nvSpPr>
              <p:cNvPr id="65" name="Dikdörtgen 64"/>
              <p:cNvSpPr/>
              <p:nvPr/>
            </p:nvSpPr>
            <p:spPr>
              <a:xfrm>
                <a:off x="6810425" y="4799920"/>
                <a:ext cx="540000" cy="36000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null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Metin kutusu 65"/>
              <p:cNvSpPr txBox="1"/>
              <p:nvPr/>
            </p:nvSpPr>
            <p:spPr>
              <a:xfrm>
                <a:off x="6929582" y="51345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dirty="0" smtClean="0"/>
                  <a:t>3</a:t>
                </a:r>
                <a:endParaRPr lang="tr-TR" dirty="0"/>
              </a:p>
            </p:txBody>
          </p:sp>
        </p:grpSp>
        <p:cxnSp>
          <p:nvCxnSpPr>
            <p:cNvPr id="49" name="Düz Bağlayıcı 48"/>
            <p:cNvCxnSpPr/>
            <p:nvPr/>
          </p:nvCxnSpPr>
          <p:spPr>
            <a:xfrm>
              <a:off x="972989" y="1242221"/>
              <a:ext cx="542925" cy="3571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25" name="Metin kutusu 40"/>
          <p:cNvSpPr txBox="1"/>
          <p:nvPr/>
        </p:nvSpPr>
        <p:spPr>
          <a:xfrm>
            <a:off x="6324600" y="2364260"/>
            <a:ext cx="5848894" cy="4331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silMax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(1,n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n-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-;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batir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[n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+ 1]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(n 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&gt; 0 &amp;&amp; (n == (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– 1) / 4))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kucult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heap.length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/ 2);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800" dirty="0">
              <a:latin typeface="Consolas" panose="020B0609020204030204" pitchFamily="49" charset="0"/>
            </a:endParaRP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yerDegistir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tr-TR" sz="1600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heap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29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6420</TotalTime>
  <Words>21932</Words>
  <Application>Microsoft Office PowerPoint</Application>
  <PresentationFormat>Widescreen</PresentationFormat>
  <Paragraphs>7538</Paragraphs>
  <Slides>290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290</vt:i4>
      </vt:variant>
    </vt:vector>
  </HeadingPairs>
  <TitlesOfParts>
    <vt:vector size="298" baseType="lpstr">
      <vt:lpstr>Arial</vt:lpstr>
      <vt:lpstr>Calibri</vt:lpstr>
      <vt:lpstr>Calibri Light</vt:lpstr>
      <vt:lpstr>Consolas</vt:lpstr>
      <vt:lpstr>Lucida Console</vt:lpstr>
      <vt:lpstr>Symbol</vt:lpstr>
      <vt:lpstr>Wingdings</vt:lpstr>
      <vt:lpstr>Office Theme</vt:lpstr>
      <vt:lpstr>Bölüm 8: Öncelikli Kuyruk</vt:lpstr>
      <vt:lpstr>Öncelikli Kuyruk (Priority Queue)</vt:lpstr>
      <vt:lpstr>Temel Kavramlar</vt:lpstr>
      <vt:lpstr>Kullanım Alanları</vt:lpstr>
      <vt:lpstr>Temel İşlemler</vt:lpstr>
      <vt:lpstr>Dizi Temsili</vt:lpstr>
      <vt:lpstr>Bağlı Liste Temsili</vt:lpstr>
      <vt:lpstr>İkili Heap</vt:lpstr>
      <vt:lpstr>İkili Heap</vt:lpstr>
      <vt:lpstr>Öğe Ekleme</vt:lpstr>
      <vt:lpstr>Öğe Ekleme</vt:lpstr>
      <vt:lpstr>Öğe Çıkarma</vt:lpstr>
      <vt:lpstr>Öğe Çıkarma</vt:lpstr>
      <vt:lpstr>PowerPoint Presentation</vt:lpstr>
      <vt:lpstr>İkili Heap Gösterimi</vt:lpstr>
      <vt:lpstr>İkili Heap Gösterimi</vt:lpstr>
      <vt:lpstr>İkili Heap Gösterimi</vt:lpstr>
      <vt:lpstr>İkili Heap Gösterimi</vt:lpstr>
      <vt:lpstr>İkili Heap Gösterimi</vt:lpstr>
      <vt:lpstr>İkili Heap Gösterimi</vt:lpstr>
      <vt:lpstr>Ata ve Çocuk Hesaplamaları</vt:lpstr>
      <vt:lpstr>PowerPoint Presentation</vt:lpstr>
      <vt:lpstr>PowerPoint Presentation</vt:lpstr>
      <vt:lpstr>PowerPoint Presentation</vt:lpstr>
      <vt:lpstr>PowerPoint Presentation</vt:lpstr>
      <vt:lpstr>İkili Max Heap Ağacı</vt:lpstr>
      <vt:lpstr>Aşağıdan Yukarıya Heap Ağacına Dönüştürme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Aşağıdan Yukarıya Heap Ağacına Dönüştürme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 Heap Ağacına Eleman Ekleme</vt:lpstr>
      <vt:lpstr>Max Heap Ağacına Eleman Ekleme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Yukarıdan Aşağıya Heap Ağacına Dönüştürme</vt:lpstr>
      <vt:lpstr>Yukarıdan Aşağıya Heap Ağacına Dönüştürme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Yukarıdan Aşağıya Heap Ağacına Dönüştürme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 Heap Ağacında En Büyük Elemanı Silme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Öncelikli Kuyruk</dc:title>
  <dc:creator>sercan</dc:creator>
  <cp:lastModifiedBy>sercan</cp:lastModifiedBy>
  <cp:revision>522</cp:revision>
  <dcterms:created xsi:type="dcterms:W3CDTF">2023-01-12T09:23:55Z</dcterms:created>
  <dcterms:modified xsi:type="dcterms:W3CDTF">2023-12-23T21:53:36Z</dcterms:modified>
</cp:coreProperties>
</file>