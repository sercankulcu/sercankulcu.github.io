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60"/>
  </p:notesMasterIdLst>
  <p:sldIdLst>
    <p:sldId id="256" r:id="rId2"/>
    <p:sldId id="314" r:id="rId3"/>
    <p:sldId id="406" r:id="rId4"/>
    <p:sldId id="407" r:id="rId5"/>
    <p:sldId id="408" r:id="rId6"/>
    <p:sldId id="411" r:id="rId7"/>
    <p:sldId id="405" r:id="rId8"/>
    <p:sldId id="421" r:id="rId9"/>
    <p:sldId id="416" r:id="rId10"/>
    <p:sldId id="417" r:id="rId11"/>
    <p:sldId id="418" r:id="rId12"/>
    <p:sldId id="412" r:id="rId13"/>
    <p:sldId id="414" r:id="rId14"/>
    <p:sldId id="413" r:id="rId15"/>
    <p:sldId id="317" r:id="rId16"/>
    <p:sldId id="419" r:id="rId17"/>
    <p:sldId id="420" r:id="rId18"/>
    <p:sldId id="318" r:id="rId19"/>
    <p:sldId id="319" r:id="rId20"/>
    <p:sldId id="323" r:id="rId21"/>
    <p:sldId id="327" r:id="rId22"/>
    <p:sldId id="328" r:id="rId23"/>
    <p:sldId id="329" r:id="rId24"/>
    <p:sldId id="330" r:id="rId25"/>
    <p:sldId id="331" r:id="rId26"/>
    <p:sldId id="332" r:id="rId27"/>
    <p:sldId id="325" r:id="rId28"/>
    <p:sldId id="326" r:id="rId29"/>
    <p:sldId id="333" r:id="rId30"/>
    <p:sldId id="334" r:id="rId31"/>
    <p:sldId id="335" r:id="rId32"/>
    <p:sldId id="339" r:id="rId33"/>
    <p:sldId id="361" r:id="rId34"/>
    <p:sldId id="347" r:id="rId35"/>
    <p:sldId id="340" r:id="rId36"/>
    <p:sldId id="362" r:id="rId37"/>
    <p:sldId id="348" r:id="rId38"/>
    <p:sldId id="341" r:id="rId39"/>
    <p:sldId id="363" r:id="rId40"/>
    <p:sldId id="349" r:id="rId41"/>
    <p:sldId id="342" r:id="rId42"/>
    <p:sldId id="364" r:id="rId43"/>
    <p:sldId id="343" r:id="rId44"/>
    <p:sldId id="345" r:id="rId45"/>
    <p:sldId id="365" r:id="rId46"/>
    <p:sldId id="351" r:id="rId47"/>
    <p:sldId id="353" r:id="rId48"/>
    <p:sldId id="366" r:id="rId49"/>
    <p:sldId id="354" r:id="rId50"/>
    <p:sldId id="355" r:id="rId51"/>
    <p:sldId id="367" r:id="rId52"/>
    <p:sldId id="358" r:id="rId53"/>
    <p:sldId id="368" r:id="rId54"/>
    <p:sldId id="359" r:id="rId55"/>
    <p:sldId id="360" r:id="rId56"/>
    <p:sldId id="422" r:id="rId57"/>
    <p:sldId id="415" r:id="rId58"/>
    <p:sldId id="312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44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23.09.2024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gif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1: Giriş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/>
              <a:t>Veri Yapıları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Dijital Veri (</a:t>
            </a:r>
            <a:r>
              <a:rPr lang="tr-TR" dirty="0" err="1"/>
              <a:t>Digital</a:t>
            </a:r>
            <a:r>
              <a:rPr lang="tr-TR" dirty="0"/>
              <a:t> 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Sayı, metin, görüntü ve ses gibi bilgilerin elektronik olarak temsil edilmesi için kullanılan bir formattır.</a:t>
            </a:r>
          </a:p>
          <a:p>
            <a:r>
              <a:rPr lang="tr-TR" b="1" dirty="0"/>
              <a:t>Örnekler</a:t>
            </a:r>
            <a:r>
              <a:rPr lang="tr-TR" dirty="0"/>
              <a:t>: Metin belgeleri, resim dosyaları, veritabanı, ses kayıtları.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12" y="4338365"/>
            <a:ext cx="802957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268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Dijital Verinin Özellikleri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Sayısal Olması</a:t>
            </a:r>
            <a:r>
              <a:rPr lang="tr-TR" dirty="0"/>
              <a:t>: Veriler 0 ve 1 (ikili) olarak temsil edilir.</a:t>
            </a:r>
          </a:p>
          <a:p>
            <a:r>
              <a:rPr lang="tr-TR" b="1" dirty="0"/>
              <a:t>Kolay Saklama</a:t>
            </a:r>
            <a:r>
              <a:rPr lang="tr-TR" dirty="0"/>
              <a:t>: Elektronik ortamda saklanabilir ve kolayca paylaşılabilir.</a:t>
            </a:r>
          </a:p>
          <a:p>
            <a:r>
              <a:rPr lang="tr-TR" b="1" dirty="0"/>
              <a:t>İşlemeye Uygun</a:t>
            </a:r>
            <a:r>
              <a:rPr lang="tr-TR" dirty="0"/>
              <a:t>: Bilgisayarlar üzerinde hızlı bir şekilde işlenebilir.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12" y="4338365"/>
            <a:ext cx="802957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707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Dijital Verinin Temsil Biçimleri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Metin</a:t>
            </a:r>
            <a:r>
              <a:rPr lang="tr-TR" dirty="0"/>
              <a:t>: ASCII, Unicode gibi karakter kodlamaları.</a:t>
            </a:r>
          </a:p>
          <a:p>
            <a:r>
              <a:rPr lang="tr-TR" b="1" dirty="0"/>
              <a:t>Sayısal</a:t>
            </a:r>
            <a:r>
              <a:rPr lang="tr-TR" dirty="0"/>
              <a:t>: Tam sayılar, kayan nokta sayıları.</a:t>
            </a:r>
          </a:p>
          <a:p>
            <a:r>
              <a:rPr lang="tr-TR" b="1" dirty="0"/>
              <a:t>Görüntü</a:t>
            </a:r>
            <a:r>
              <a:rPr lang="tr-TR" dirty="0"/>
              <a:t>: Piksellerin renk değerleri.</a:t>
            </a:r>
          </a:p>
          <a:p>
            <a:r>
              <a:rPr lang="tr-TR" b="1" dirty="0"/>
              <a:t>Ses</a:t>
            </a:r>
            <a:r>
              <a:rPr lang="tr-TR" dirty="0"/>
              <a:t>: Ses dalgalarının dijital örneklemi.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055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Dijital Veri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Yapısal</a:t>
            </a:r>
            <a:r>
              <a:rPr lang="tr-TR" dirty="0"/>
              <a:t>: Belirli bir düzen içinde saklanan veri (XML, JSON).</a:t>
            </a:r>
          </a:p>
          <a:p>
            <a:r>
              <a:rPr lang="tr-TR" b="1" dirty="0"/>
              <a:t>Metin</a:t>
            </a:r>
            <a:r>
              <a:rPr lang="tr-TR" dirty="0"/>
              <a:t>: İnsanlar tarafından okunabilen metinler.</a:t>
            </a:r>
          </a:p>
          <a:p>
            <a:r>
              <a:rPr lang="tr-TR" b="1" dirty="0"/>
              <a:t>Resim ve Grafik</a:t>
            </a:r>
            <a:r>
              <a:rPr lang="tr-TR" dirty="0"/>
              <a:t>: Görsel veriler (JPG, PNG).</a:t>
            </a:r>
          </a:p>
          <a:p>
            <a:r>
              <a:rPr lang="tr-TR" b="1" dirty="0"/>
              <a:t>Ses ve Müzik</a:t>
            </a:r>
            <a:r>
              <a:rPr lang="tr-TR" dirty="0"/>
              <a:t>: Ses kayıtları (MP3, WAV).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923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Veri </a:t>
            </a:r>
            <a:r>
              <a:rPr lang="es-ES" dirty="0" err="1"/>
              <a:t>Yapıları</a:t>
            </a:r>
            <a:r>
              <a:rPr lang="es-ES" dirty="0"/>
              <a:t> ve </a:t>
            </a:r>
            <a:r>
              <a:rPr lang="es-ES" dirty="0" err="1"/>
              <a:t>Algoritmalar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Algoritma, </a:t>
            </a:r>
          </a:p>
          <a:p>
            <a:pPr lvl="1"/>
            <a:r>
              <a:rPr lang="tr-TR" dirty="0"/>
              <a:t>Belirli bir görevi gerçekleştirmek için adım adım hazırlanan bir plan veya talimatlar bütünüdür. </a:t>
            </a:r>
          </a:p>
          <a:p>
            <a:pPr lvl="1"/>
            <a:r>
              <a:rPr lang="tr-TR" dirty="0"/>
              <a:t>Bilgisayar biliminde temel bir yapı taşıdır.</a:t>
            </a:r>
          </a:p>
          <a:p>
            <a:r>
              <a:rPr lang="tr-TR" b="1" dirty="0"/>
              <a:t>Veri Yapıları, </a:t>
            </a:r>
          </a:p>
          <a:p>
            <a:pPr lvl="1"/>
            <a:r>
              <a:rPr lang="tr-TR" dirty="0"/>
              <a:t>Verilerin organize edilmesini sağlayan ve depolanma biçimlerini tanımlayan yapılardır. </a:t>
            </a:r>
          </a:p>
          <a:p>
            <a:pPr lvl="1"/>
            <a:r>
              <a:rPr lang="tr-TR" dirty="0"/>
              <a:t>Verilerin etkili yönetimi ve işlenmesi için temel altyapıyı sağlar.</a:t>
            </a:r>
          </a:p>
          <a:p>
            <a:r>
              <a:rPr lang="tr-TR" dirty="0"/>
              <a:t>Etkili algoritmalar ve veri yapıları, yazılımın verimli çalışmasını sağlar.</a:t>
            </a:r>
          </a:p>
          <a:p>
            <a:r>
              <a:rPr lang="tr-TR" dirty="0"/>
              <a:t>Problemlere sistemli ve etkili çözümler sunar.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480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Yapıları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Verileri bilgisayarda düzenlemenin ve saklamanın bir yoludur. </a:t>
            </a:r>
          </a:p>
          <a:p>
            <a:r>
              <a:rPr lang="tr-TR" dirty="0"/>
              <a:t>Temel amacı, verilere hızlı ve etkili bir şekilde erişmeyi sağlamaktır.</a:t>
            </a:r>
          </a:p>
          <a:p>
            <a:r>
              <a:rPr lang="tr-TR" dirty="0"/>
              <a:t>Veri yapılarını anlamak, yazılım geliştirme sürecinde çok önemlidir. </a:t>
            </a:r>
          </a:p>
          <a:p>
            <a:r>
              <a:rPr lang="tr-TR" dirty="0"/>
              <a:t>Doğru veri yapısı seçimi, programın performans ve verimliliğini arttırır.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407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Yapıları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400" y="1825625"/>
            <a:ext cx="4320000" cy="4320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17" y="1825625"/>
            <a:ext cx="432000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25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Temel Yapı Taşları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Nesneler</a:t>
            </a:r>
            <a:r>
              <a:rPr lang="tr-TR" dirty="0"/>
              <a:t>: Nitelikleri, isimlendirilmiş alanlara sahip tek bir birimde gruplar.</a:t>
            </a:r>
          </a:p>
          <a:p>
            <a:r>
              <a:rPr lang="tr-TR" b="1" dirty="0"/>
              <a:t>Diziler</a:t>
            </a:r>
            <a:r>
              <a:rPr lang="tr-TR" dirty="0"/>
              <a:t>: Varlıkları, bellekte ardışık yuvalarda toplu olarak saklar.</a:t>
            </a:r>
          </a:p>
          <a:p>
            <a:r>
              <a:rPr lang="tr-TR" b="1" dirty="0"/>
              <a:t>Bağlantılar</a:t>
            </a:r>
            <a:r>
              <a:rPr lang="tr-TR" dirty="0"/>
              <a:t>: Varlıklar arasında isteğe bağlı yönlü ilişkilere olanak tanır.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3" y="3834653"/>
            <a:ext cx="952885" cy="19057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412" y="3834653"/>
            <a:ext cx="952885" cy="190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47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Temel Yapı Taşları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Nesneler</a:t>
            </a:r>
            <a:r>
              <a:rPr lang="tr-TR" dirty="0"/>
              <a:t>: Nitelikleri, isimlendirilmiş alanlara sahip tek bir birimde gruplar.</a:t>
            </a:r>
          </a:p>
          <a:p>
            <a:r>
              <a:rPr lang="tr-TR" b="1" dirty="0"/>
              <a:t>Diziler</a:t>
            </a:r>
            <a:r>
              <a:rPr lang="tr-TR" dirty="0"/>
              <a:t>: Varlıkları, bellekte ardışık yuvalarda toplu olarak saklar.</a:t>
            </a:r>
          </a:p>
          <a:p>
            <a:r>
              <a:rPr lang="tr-TR" b="1" dirty="0"/>
              <a:t>Bağlantılar</a:t>
            </a:r>
            <a:r>
              <a:rPr lang="tr-TR" dirty="0"/>
              <a:t>: Varlıklar arasında isteğe bağlı yönlü ilişkilere olanak tanır.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430246"/>
              </p:ext>
            </p:extLst>
          </p:nvPr>
        </p:nvGraphicFramePr>
        <p:xfrm>
          <a:off x="1809931" y="3867815"/>
          <a:ext cx="8128002" cy="215416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4162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208" y="4001294"/>
            <a:ext cx="952885" cy="19057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116" y="4002904"/>
            <a:ext cx="952885" cy="19057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162" y="4001294"/>
            <a:ext cx="952885" cy="19057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001294"/>
            <a:ext cx="952885" cy="190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07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Temel Yapı Taşları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Nesneler</a:t>
            </a:r>
            <a:r>
              <a:rPr lang="tr-TR" dirty="0"/>
              <a:t>: Nitelikleri, isimlendirilmiş alanlara sahip tek bir birimde gruplar.</a:t>
            </a:r>
          </a:p>
          <a:p>
            <a:r>
              <a:rPr lang="tr-TR" b="1" dirty="0"/>
              <a:t>Diziler</a:t>
            </a:r>
            <a:r>
              <a:rPr lang="tr-TR" dirty="0"/>
              <a:t>: Varlıkları, bellekte ardışık yuvalarda toplu olarak saklar.</a:t>
            </a:r>
          </a:p>
          <a:p>
            <a:r>
              <a:rPr lang="tr-TR" b="1" dirty="0"/>
              <a:t>Bağlantılar</a:t>
            </a:r>
            <a:r>
              <a:rPr lang="tr-TR" dirty="0"/>
              <a:t>: Varlıklar arasında isteğe bağlı yönlü ilişkilere olanak tanır.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208" y="4001294"/>
            <a:ext cx="952885" cy="19057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284" y="4001294"/>
            <a:ext cx="952885" cy="19057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544" y="4001294"/>
            <a:ext cx="952885" cy="19057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024" y="4001294"/>
            <a:ext cx="952885" cy="1905770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2967092" y="4637313"/>
            <a:ext cx="720000" cy="36000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Right Arrow 13"/>
          <p:cNvSpPr/>
          <p:nvPr/>
        </p:nvSpPr>
        <p:spPr>
          <a:xfrm>
            <a:off x="4860508" y="4637313"/>
            <a:ext cx="720000" cy="36000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Right Arrow 14"/>
          <p:cNvSpPr/>
          <p:nvPr/>
        </p:nvSpPr>
        <p:spPr>
          <a:xfrm>
            <a:off x="6661953" y="4637313"/>
            <a:ext cx="720000" cy="36000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Right Arrow 15"/>
          <p:cNvSpPr/>
          <p:nvPr/>
        </p:nvSpPr>
        <p:spPr>
          <a:xfrm>
            <a:off x="8805013" y="4637313"/>
            <a:ext cx="720000" cy="36000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TextBox 7"/>
          <p:cNvSpPr txBox="1"/>
          <p:nvPr/>
        </p:nvSpPr>
        <p:spPr>
          <a:xfrm>
            <a:off x="9729566" y="4355648"/>
            <a:ext cx="505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5400" dirty="0"/>
              <a:t>?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95325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İlkel (</a:t>
            </a:r>
            <a:r>
              <a:rPr lang="tr-TR" dirty="0" err="1"/>
              <a:t>Primitive</a:t>
            </a:r>
            <a:r>
              <a:rPr lang="tr-TR" dirty="0"/>
              <a:t>) Veri Tipleri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Temel veri tipleri:</a:t>
            </a:r>
          </a:p>
          <a:p>
            <a:pPr lvl="1"/>
            <a:r>
              <a:rPr lang="tr-TR" dirty="0"/>
              <a:t>Tam Sayılar (</a:t>
            </a:r>
            <a:r>
              <a:rPr lang="tr-TR" dirty="0" err="1"/>
              <a:t>int</a:t>
            </a:r>
            <a:r>
              <a:rPr lang="tr-TR" dirty="0"/>
              <a:t>, </a:t>
            </a:r>
            <a:r>
              <a:rPr lang="tr-TR" dirty="0" err="1"/>
              <a:t>short</a:t>
            </a:r>
            <a:r>
              <a:rPr lang="tr-TR" dirty="0"/>
              <a:t>, </a:t>
            </a:r>
            <a:r>
              <a:rPr lang="tr-TR" dirty="0" err="1"/>
              <a:t>long</a:t>
            </a:r>
            <a:r>
              <a:rPr lang="tr-TR" dirty="0"/>
              <a:t>, </a:t>
            </a:r>
            <a:r>
              <a:rPr lang="tr-TR" dirty="0" err="1"/>
              <a:t>byte</a:t>
            </a:r>
            <a:r>
              <a:rPr lang="tr-TR" dirty="0"/>
              <a:t>)</a:t>
            </a:r>
          </a:p>
          <a:p>
            <a:pPr lvl="1"/>
            <a:r>
              <a:rPr lang="tr-TR" dirty="0" err="1"/>
              <a:t>Ondalıklı</a:t>
            </a:r>
            <a:r>
              <a:rPr lang="tr-TR" dirty="0"/>
              <a:t> Sayılar (</a:t>
            </a:r>
            <a:r>
              <a:rPr lang="tr-TR" dirty="0" err="1"/>
              <a:t>float</a:t>
            </a:r>
            <a:r>
              <a:rPr lang="tr-TR" dirty="0"/>
              <a:t>, </a:t>
            </a:r>
            <a:r>
              <a:rPr lang="tr-TR" dirty="0" err="1"/>
              <a:t>double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Mantıksal Değerler (</a:t>
            </a:r>
            <a:r>
              <a:rPr lang="tr-TR" dirty="0" err="1"/>
              <a:t>boolean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Karakterler (</a:t>
            </a:r>
            <a:r>
              <a:rPr lang="tr-TR" dirty="0" err="1"/>
              <a:t>char</a:t>
            </a:r>
            <a:r>
              <a:rPr lang="tr-TR" dirty="0"/>
              <a:t>)</a:t>
            </a:r>
          </a:p>
          <a:p>
            <a:r>
              <a:rPr lang="tr-TR" dirty="0"/>
              <a:t>Basit ve temel veri tipleridir.</a:t>
            </a:r>
          </a:p>
          <a:p>
            <a:r>
              <a:rPr lang="tr-TR" dirty="0"/>
              <a:t>Bellekte sabit bir boyuta sahiptirler.</a:t>
            </a:r>
          </a:p>
          <a:p>
            <a:r>
              <a:rPr lang="tr-TR" dirty="0"/>
              <a:t>Doğrudan işleme yetenekleri vardır.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84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Tipleri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Veri Tipi</a:t>
            </a:r>
            <a:r>
              <a:rPr lang="tr-TR" dirty="0"/>
              <a:t>: Bir değer kümesini ve davranışlarını tanımlar.</a:t>
            </a:r>
          </a:p>
          <a:p>
            <a:r>
              <a:rPr lang="tr-TR" b="1" dirty="0"/>
              <a:t>Değer Kümesi</a:t>
            </a:r>
            <a:r>
              <a:rPr lang="tr-TR" dirty="0"/>
              <a:t>: Bir veri türünün alabileceği geçerli değerler.</a:t>
            </a:r>
          </a:p>
          <a:p>
            <a:r>
              <a:rPr lang="tr-TR" b="1" dirty="0"/>
              <a:t>Davranışlar</a:t>
            </a:r>
            <a:r>
              <a:rPr lang="tr-TR" dirty="0"/>
              <a:t>: Değerler üzerinde gerçekleştirilebilecek işlemler.</a:t>
            </a:r>
          </a:p>
          <a:p>
            <a:r>
              <a:rPr lang="tr-TR" dirty="0"/>
              <a:t>Her işlem her türde geçerli değildir.</a:t>
            </a:r>
          </a:p>
          <a:p>
            <a:r>
              <a:rPr lang="tr-TR" b="1" dirty="0"/>
              <a:t>Tam Sayılar</a:t>
            </a:r>
            <a:r>
              <a:rPr lang="tr-TR" dirty="0"/>
              <a:t>: Toplama, çıkarma, çarpma, bölme gibi işlemler.</a:t>
            </a:r>
          </a:p>
          <a:p>
            <a:r>
              <a:rPr lang="tr-TR" b="1" dirty="0"/>
              <a:t>Metin Dizileri</a:t>
            </a:r>
            <a:r>
              <a:rPr lang="tr-TR" dirty="0"/>
              <a:t>: Karşılaştırma, birleştirme, alt dize alma gibi işlemler.</a:t>
            </a:r>
          </a:p>
          <a:p>
            <a:r>
              <a:rPr lang="tr-TR" b="1" dirty="0"/>
              <a:t>Tip Güvenliği</a:t>
            </a:r>
            <a:r>
              <a:rPr lang="tr-TR" dirty="0"/>
              <a:t>: Veri türleri, hataları en aza indirmek için kullanılır.</a:t>
            </a:r>
          </a:p>
          <a:p>
            <a:r>
              <a:rPr lang="tr-TR" dirty="0"/>
              <a:t>Kısıtlamalar, programcılara neyin mümkün, mümkün olmadığını söyler.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182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İlkel Olmayan (Non-Primitive) Veri Yapıları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Daha karmaşık veri yapılarıdır. Örneğin:</a:t>
            </a:r>
          </a:p>
          <a:p>
            <a:pPr lvl="1"/>
            <a:r>
              <a:rPr lang="tr-TR" b="1" dirty="0"/>
              <a:t>Sıralı</a:t>
            </a:r>
            <a:r>
              <a:rPr lang="tr-TR" dirty="0"/>
              <a:t>: Diziler, listeler</a:t>
            </a:r>
          </a:p>
          <a:p>
            <a:pPr lvl="1"/>
            <a:r>
              <a:rPr lang="tr-TR" b="1" dirty="0"/>
              <a:t>Hiyerarşik</a:t>
            </a:r>
            <a:r>
              <a:rPr lang="tr-TR" dirty="0"/>
              <a:t>: Ağaçlar, çizgeler</a:t>
            </a:r>
          </a:p>
          <a:p>
            <a:pPr lvl="1"/>
            <a:r>
              <a:rPr lang="tr-TR" b="1" dirty="0"/>
              <a:t>Bağlantılı</a:t>
            </a:r>
            <a:r>
              <a:rPr lang="tr-TR" dirty="0"/>
              <a:t>: Bağlı listeler</a:t>
            </a:r>
          </a:p>
          <a:p>
            <a:pPr lvl="1"/>
            <a:r>
              <a:rPr lang="tr-TR" b="1" dirty="0"/>
              <a:t>İndekslenmiş</a:t>
            </a:r>
            <a:r>
              <a:rPr lang="tr-TR" dirty="0"/>
              <a:t>: </a:t>
            </a:r>
            <a:r>
              <a:rPr lang="tr-TR" dirty="0" err="1"/>
              <a:t>Hash</a:t>
            </a:r>
            <a:r>
              <a:rPr lang="tr-TR" dirty="0"/>
              <a:t> tabloları</a:t>
            </a:r>
          </a:p>
          <a:p>
            <a:r>
              <a:rPr lang="tr-TR" dirty="0"/>
              <a:t>Karmaşıktır ve birden fazla ilkel veri tipini içerebilir.</a:t>
            </a:r>
          </a:p>
          <a:p>
            <a:r>
              <a:rPr lang="tr-TR" dirty="0"/>
              <a:t>Dinamik boyuta sahiptirler, saklanan veri miktarı değişebilir.</a:t>
            </a:r>
          </a:p>
          <a:p>
            <a:r>
              <a:rPr lang="tr-TR" dirty="0"/>
              <a:t>Özelleştirilmiş işlemleri gerçekleştirmek için kullanılırlar.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733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Farklı Veri Yapıları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Her birinin kendine özgü güçlü ve zayıf yönleri bulunur.</a:t>
            </a:r>
          </a:p>
          <a:p>
            <a:r>
              <a:rPr lang="tr-TR" b="1" dirty="0"/>
              <a:t>Diziler (</a:t>
            </a:r>
            <a:r>
              <a:rPr lang="tr-TR" b="1" dirty="0" err="1"/>
              <a:t>Arrays</a:t>
            </a:r>
            <a:r>
              <a:rPr lang="tr-TR" b="1" dirty="0"/>
              <a:t>): </a:t>
            </a:r>
            <a:r>
              <a:rPr lang="tr-TR" dirty="0"/>
              <a:t>Verileri düzenlemek ve erişmek için kullanılır. Bellek kullanımı sabit boyutludur.</a:t>
            </a:r>
          </a:p>
          <a:p>
            <a:r>
              <a:rPr lang="tr-TR" b="1" dirty="0"/>
              <a:t>Bağlı Listeler (</a:t>
            </a:r>
            <a:r>
              <a:rPr lang="tr-TR" b="1" dirty="0" err="1"/>
              <a:t>Linked</a:t>
            </a:r>
            <a:r>
              <a:rPr lang="tr-TR" b="1" dirty="0"/>
              <a:t> </a:t>
            </a:r>
            <a:r>
              <a:rPr lang="tr-TR" b="1" dirty="0" err="1"/>
              <a:t>Lists</a:t>
            </a:r>
            <a:r>
              <a:rPr lang="tr-TR" b="1" dirty="0"/>
              <a:t>): </a:t>
            </a:r>
            <a:r>
              <a:rPr lang="tr-TR" dirty="0"/>
              <a:t>Verileri bağlantılı bir şekilde saklamak için kullanılır. Esnek boyutludur.</a:t>
            </a:r>
          </a:p>
          <a:p>
            <a:r>
              <a:rPr lang="tr-TR" b="1" dirty="0"/>
              <a:t>Yığınlar (</a:t>
            </a:r>
            <a:r>
              <a:rPr lang="tr-TR" b="1" dirty="0" err="1"/>
              <a:t>Stacks</a:t>
            </a:r>
            <a:r>
              <a:rPr lang="tr-TR" b="1" dirty="0"/>
              <a:t>): </a:t>
            </a:r>
            <a:r>
              <a:rPr lang="tr-TR" dirty="0" err="1"/>
              <a:t>Last</a:t>
            </a:r>
            <a:r>
              <a:rPr lang="tr-TR" dirty="0"/>
              <a:t> in, </a:t>
            </a:r>
            <a:r>
              <a:rPr lang="tr-TR" dirty="0" err="1"/>
              <a:t>first</a:t>
            </a:r>
            <a:r>
              <a:rPr lang="tr-TR" dirty="0"/>
              <a:t> </a:t>
            </a:r>
            <a:r>
              <a:rPr lang="tr-TR" dirty="0" err="1"/>
              <a:t>out</a:t>
            </a:r>
            <a:r>
              <a:rPr lang="tr-TR" dirty="0"/>
              <a:t> (LIFO) mantığına dayalı olarak çalışır. Örneğin, geri alma işlemi bu yapıyla uygulanabilir.</a:t>
            </a:r>
          </a:p>
          <a:p>
            <a:r>
              <a:rPr lang="tr-TR" b="1" dirty="0"/>
              <a:t>Kuyruklar (</a:t>
            </a:r>
            <a:r>
              <a:rPr lang="tr-TR" b="1" dirty="0" err="1"/>
              <a:t>Queues</a:t>
            </a:r>
            <a:r>
              <a:rPr lang="tr-TR" b="1" dirty="0"/>
              <a:t>): </a:t>
            </a:r>
            <a:r>
              <a:rPr lang="tr-TR" dirty="0"/>
              <a:t>İlk giren, ilk çıkar (FIFO) mantığına dayalı olarak çalışır. İşlem sıralaması için kullanılır.</a:t>
            </a:r>
          </a:p>
          <a:p>
            <a:r>
              <a:rPr lang="tr-TR" b="1" dirty="0"/>
              <a:t>Ağaçlar (</a:t>
            </a:r>
            <a:r>
              <a:rPr lang="tr-TR" b="1" dirty="0" err="1"/>
              <a:t>Trees</a:t>
            </a:r>
            <a:r>
              <a:rPr lang="tr-TR" b="1" dirty="0"/>
              <a:t>): </a:t>
            </a:r>
            <a:r>
              <a:rPr lang="tr-TR" dirty="0"/>
              <a:t>Hiyerarşik verileri temsil etmek için kullanılır. Örneğin, ağaç yapıları veritabanı indekslerinde kullanılabilir.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95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Verilerin Düzenlenmesi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Konumsal</a:t>
            </a:r>
            <a:r>
              <a:rPr lang="tr-TR" b="1" dirty="0"/>
              <a:t> olmayan</a:t>
            </a:r>
            <a:r>
              <a:rPr lang="tr-TR" dirty="0"/>
              <a:t>: ilişkisiz (sınıftaki öğrenciler)</a:t>
            </a:r>
          </a:p>
          <a:p>
            <a:r>
              <a:rPr lang="tr-TR" b="1" dirty="0"/>
              <a:t>Sıralı</a:t>
            </a:r>
            <a:r>
              <a:rPr lang="tr-TR" dirty="0"/>
              <a:t>: bire-bir (sıra bekleyen öğrenciler)</a:t>
            </a:r>
          </a:p>
          <a:p>
            <a:r>
              <a:rPr lang="tr-TR" b="1" dirty="0"/>
              <a:t>Ağaç</a:t>
            </a:r>
            <a:r>
              <a:rPr lang="tr-TR" dirty="0"/>
              <a:t>: bire-birçok (aile ağacı)</a:t>
            </a:r>
          </a:p>
          <a:p>
            <a:r>
              <a:rPr lang="tr-TR" b="1" dirty="0"/>
              <a:t>Çizge</a:t>
            </a:r>
            <a:r>
              <a:rPr lang="tr-TR" dirty="0"/>
              <a:t>: </a:t>
            </a:r>
            <a:r>
              <a:rPr lang="tr-TR" dirty="0" err="1"/>
              <a:t>birçoğa</a:t>
            </a:r>
            <a:r>
              <a:rPr lang="tr-TR" dirty="0"/>
              <a:t>-birçok (yol haritası)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026" name="Picture 2" descr="https://cs.lmu.edu/~ray/images/set.gif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806" y="3746327"/>
            <a:ext cx="2519998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cs.lmu.edu/~ray/images/tree.gif"/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407" y="3788768"/>
            <a:ext cx="2519998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cs.lmu.edu/~ray/images/linear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410" y="4646326"/>
            <a:ext cx="2880000" cy="720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cs.lmu.edu/~ray/images/graph.gif"/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402" y="3746656"/>
            <a:ext cx="2519998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590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Yapısı Seçimi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Aşağıdaki sorular kritik rol oynar.</a:t>
            </a:r>
          </a:p>
          <a:p>
            <a:pPr lvl="1"/>
            <a:r>
              <a:rPr lang="tr-TR" dirty="0"/>
              <a:t>Veri yapısı başlangıçta tamamen doldurulabilir mi?</a:t>
            </a:r>
          </a:p>
          <a:p>
            <a:pPr lvl="1"/>
            <a:r>
              <a:rPr lang="tr-TR" dirty="0"/>
              <a:t>Veri yapısından öğeler silinebilir mi?</a:t>
            </a:r>
          </a:p>
          <a:p>
            <a:pPr lvl="1"/>
            <a:r>
              <a:rPr lang="tr-TR" dirty="0"/>
              <a:t>Ekleme sırasının önemi var mı?</a:t>
            </a:r>
          </a:p>
          <a:p>
            <a:pPr lvl="1"/>
            <a:r>
              <a:rPr lang="nn-NO" dirty="0"/>
              <a:t>Veri yapısındaki öğeler sıralanabilir mi?</a:t>
            </a:r>
            <a:endParaRPr lang="tr-TR" dirty="0"/>
          </a:p>
          <a:p>
            <a:pPr lvl="1"/>
            <a:r>
              <a:rPr lang="tr-TR" dirty="0"/>
              <a:t>Öğeler belirli bir sıra ile mi işlenir, yoksa rastgele erişim de gerekli mi?</a:t>
            </a:r>
          </a:p>
          <a:p>
            <a:r>
              <a:rPr lang="tr-TR" dirty="0"/>
              <a:t>Veri yapısının başlangıçtaki durumu değişmeyecekse, durağan (</a:t>
            </a:r>
            <a:r>
              <a:rPr lang="tr-TR" dirty="0" err="1"/>
              <a:t>static</a:t>
            </a:r>
            <a:r>
              <a:rPr lang="tr-TR" dirty="0"/>
              <a:t>) yapılar tercih edilebilir.</a:t>
            </a:r>
          </a:p>
          <a:p>
            <a:r>
              <a:rPr lang="tr-TR" dirty="0"/>
              <a:t>Silme ve ekleme işlemleri sıkça gerçekleşiyorsa, dinamik ve esnek veri yapıları düşünülmelidir.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861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Algoritmalar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algoritma, bir problemi çözmek için adım adım bir prosedürdür. </a:t>
            </a:r>
          </a:p>
          <a:p>
            <a:r>
              <a:rPr lang="tr-TR" dirty="0"/>
              <a:t>Aynı problemi çözmek için farklı algoritmalar bulunabilir ve bazı algoritmalar diğerlerine göre daha verimli çalışabilir.</a:t>
            </a:r>
          </a:p>
          <a:p>
            <a:r>
              <a:rPr lang="tr-TR" dirty="0"/>
              <a:t>Algoritmalar, bilgisayar bilimlerinin temel bir parçasıdır. </a:t>
            </a:r>
          </a:p>
          <a:p>
            <a:r>
              <a:rPr lang="tr-TR" dirty="0"/>
              <a:t>Doğru algoritma seçimi, bir problemi verimli bir şekilde çözmek için kritik öneme sahiptir. </a:t>
            </a:r>
          </a:p>
          <a:p>
            <a:r>
              <a:rPr lang="tr-TR" dirty="0"/>
              <a:t>İyi bir algoritma, bir işlemi daha az kaynak kullanarak gerçekleştirebilir.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985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Farklı Algoritmalar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Bazı yaygın algoritmalar:</a:t>
            </a:r>
          </a:p>
          <a:p>
            <a:r>
              <a:rPr lang="tr-TR" b="1" dirty="0"/>
              <a:t>Sıralama Algoritmaları</a:t>
            </a:r>
            <a:r>
              <a:rPr lang="tr-TR" dirty="0"/>
              <a:t>: Verileri belirli bir sıraya göre düzenlemek için kullanılır. Örneğin, kabarcık sıralama veya birleştirme sıralaması.</a:t>
            </a:r>
          </a:p>
          <a:p>
            <a:r>
              <a:rPr lang="tr-TR" b="1" dirty="0"/>
              <a:t>Arama Algoritmaları</a:t>
            </a:r>
            <a:r>
              <a:rPr lang="tr-TR" dirty="0"/>
              <a:t>: Belirli bir öğeyi veri kümesinde bulmak için kullanılır. Örneğin, ikili arama veya lineer arama.</a:t>
            </a:r>
          </a:p>
          <a:p>
            <a:r>
              <a:rPr lang="tr-TR" b="1" dirty="0"/>
              <a:t>Çizge Algoritmaları</a:t>
            </a:r>
            <a:r>
              <a:rPr lang="tr-TR" dirty="0"/>
              <a:t>: Çizge teorisi problemlerini çözmek için kullanılır. Örneğin, en kısa yol bulma veya ağ akışı problemleri.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993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İyi Bir Algoritma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problemi etkili bir şekilde çözen algoritmadır.</a:t>
            </a:r>
          </a:p>
          <a:p>
            <a:r>
              <a:rPr lang="tr-TR" b="1" dirty="0"/>
              <a:t>Zaman Karmaşıklığı (Time </a:t>
            </a:r>
            <a:r>
              <a:rPr lang="tr-TR" b="1" dirty="0" err="1"/>
              <a:t>Complexity</a:t>
            </a:r>
            <a:r>
              <a:rPr lang="tr-TR" b="1" dirty="0"/>
              <a:t>): </a:t>
            </a:r>
            <a:r>
              <a:rPr lang="tr-TR" dirty="0"/>
              <a:t>Algoritmanın çalışma süresi veya işlem sayısı gibi faktörler, zaman karmaşıklığını belirler. </a:t>
            </a:r>
          </a:p>
          <a:p>
            <a:r>
              <a:rPr lang="tr-TR" b="1" dirty="0"/>
              <a:t>Alan Karmaşıklığı (Space </a:t>
            </a:r>
            <a:r>
              <a:rPr lang="tr-TR" b="1" dirty="0" err="1"/>
              <a:t>Complexity</a:t>
            </a:r>
            <a:r>
              <a:rPr lang="tr-TR" b="1" dirty="0"/>
              <a:t>): </a:t>
            </a:r>
            <a:r>
              <a:rPr lang="tr-TR" dirty="0"/>
              <a:t>Algoritma tarafından kullanılan bellek miktarı, alan karmaşıklığını belirler. </a:t>
            </a:r>
          </a:p>
          <a:p>
            <a:r>
              <a:rPr lang="tr-TR" b="1" dirty="0"/>
              <a:t>Doğruluk (</a:t>
            </a:r>
            <a:r>
              <a:rPr lang="tr-TR" b="1" dirty="0" err="1"/>
              <a:t>Accuracy</a:t>
            </a:r>
            <a:r>
              <a:rPr lang="tr-TR" b="1" dirty="0"/>
              <a:t>): </a:t>
            </a:r>
            <a:r>
              <a:rPr lang="tr-TR" dirty="0"/>
              <a:t>Algoritmanın istenen sonuçları doğru bir şekilde üretmesi önemlidir. Yanlış sonuçlar veren bir algoritma kullanışsızdır.</a:t>
            </a:r>
          </a:p>
          <a:p>
            <a:r>
              <a:rPr lang="tr-TR" b="1" dirty="0"/>
              <a:t>Sağlamlık (</a:t>
            </a:r>
            <a:r>
              <a:rPr lang="tr-TR" b="1" dirty="0" err="1"/>
              <a:t>Robustness</a:t>
            </a:r>
            <a:r>
              <a:rPr lang="tr-TR" b="1" dirty="0"/>
              <a:t>): </a:t>
            </a:r>
            <a:r>
              <a:rPr lang="tr-TR" dirty="0"/>
              <a:t>Algoritmanın çeşitli durumlar ve girdilerle başa çıkabilme yeteneği, sağlamlığını belirler. İyi bir algoritma, farklı senaryolara uyum sağlayabilmelidir.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126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Zaman Karmaşıklığı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Algoritmanın çalışma süresinin ne kadar sürdüğünü ölçen bir ölçüdür. </a:t>
            </a:r>
          </a:p>
          <a:p>
            <a:r>
              <a:rPr lang="tr-TR" dirty="0"/>
              <a:t>Zaman karmaşıklığı, Büyük O (</a:t>
            </a:r>
            <a:r>
              <a:rPr lang="tr-TR" dirty="0" err="1"/>
              <a:t>Big</a:t>
            </a:r>
            <a:r>
              <a:rPr lang="tr-TR" dirty="0"/>
              <a:t> O) gösterimi kullanılarak ifade edilir. </a:t>
            </a:r>
          </a:p>
          <a:p>
            <a:r>
              <a:rPr lang="tr-TR" dirty="0"/>
              <a:t>Algoritma çalışma süresinin, girdi boyutuna bağlı olarak değişimini gösterir.</a:t>
            </a:r>
          </a:p>
          <a:p>
            <a:r>
              <a:rPr lang="tr-TR" dirty="0"/>
              <a:t>Algoritmanın girdi boyuna bağlı olarak ne kadar hızlı veya yavaş çalışacağını anlamamıza yardımcı olur.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6056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Büyük O (Big O) </a:t>
            </a:r>
            <a:r>
              <a:rPr lang="tr-TR" dirty="0"/>
              <a:t>Gösterimi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Algoritmanın en kötü durumda çalışma süresini ifade eder. </a:t>
            </a:r>
          </a:p>
          <a:p>
            <a:r>
              <a:rPr lang="tr-TR" dirty="0"/>
              <a:t>Algoritmanın çalışma süresinin girdi boyutuna göre nasıl büyüdüğünü belirtir. </a:t>
            </a:r>
          </a:p>
          <a:p>
            <a:r>
              <a:rPr lang="tr-TR" dirty="0"/>
              <a:t>Örneğin, </a:t>
            </a:r>
          </a:p>
          <a:p>
            <a:pPr lvl="1"/>
            <a:r>
              <a:rPr lang="tr-TR" b="1" dirty="0"/>
              <a:t>O(1)</a:t>
            </a:r>
            <a:r>
              <a:rPr lang="tr-TR" dirty="0"/>
              <a:t> sabit zaman karmaşıklığına sahip bir algoritma, girdinin boyutundan bağımsız olarak aynı sürede çalışırken, </a:t>
            </a:r>
          </a:p>
          <a:p>
            <a:pPr lvl="1"/>
            <a:r>
              <a:rPr lang="tr-TR" b="1" dirty="0"/>
              <a:t>O(n)</a:t>
            </a:r>
            <a:r>
              <a:rPr lang="tr-TR" dirty="0"/>
              <a:t> karmaşıklığına sahip bir algoritma, girdi boyutu arttıkça doğrusal olarak daha fazla sürede çalışır.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728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Büyük (O) Gösterimi Örnekleri: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O(1): </a:t>
            </a:r>
            <a:r>
              <a:rPr lang="tr-TR" dirty="0"/>
              <a:t>Sabit zaman karmaşıklığı.</a:t>
            </a:r>
          </a:p>
          <a:p>
            <a:r>
              <a:rPr lang="tr-TR" b="1" dirty="0"/>
              <a:t>O(</a:t>
            </a:r>
            <a:r>
              <a:rPr lang="tr-TR" b="1" dirty="0" err="1"/>
              <a:t>log</a:t>
            </a:r>
            <a:r>
              <a:rPr lang="tr-TR" b="1" dirty="0"/>
              <a:t> n): </a:t>
            </a:r>
            <a:r>
              <a:rPr lang="tr-TR" dirty="0"/>
              <a:t>Logaritmik zaman karmaşıklığı.</a:t>
            </a:r>
          </a:p>
          <a:p>
            <a:r>
              <a:rPr lang="tr-TR" b="1" dirty="0"/>
              <a:t>O(n): </a:t>
            </a:r>
            <a:r>
              <a:rPr lang="tr-TR" dirty="0"/>
              <a:t>Doğrusal zaman karmaşıklığı.</a:t>
            </a:r>
          </a:p>
          <a:p>
            <a:r>
              <a:rPr lang="tr-TR" b="1" dirty="0"/>
              <a:t>O(n </a:t>
            </a:r>
            <a:r>
              <a:rPr lang="tr-TR" b="1" dirty="0" err="1"/>
              <a:t>log</a:t>
            </a:r>
            <a:r>
              <a:rPr lang="tr-TR" b="1" dirty="0"/>
              <a:t> n): </a:t>
            </a:r>
            <a:r>
              <a:rPr lang="tr-TR" dirty="0"/>
              <a:t>Doğrusal logaritmik zaman karmaşıklığı.</a:t>
            </a:r>
          </a:p>
          <a:p>
            <a:r>
              <a:rPr lang="tr-TR" b="1" dirty="0"/>
              <a:t>O(n</a:t>
            </a:r>
            <a:r>
              <a:rPr lang="tr-TR" b="1" baseline="30000" dirty="0"/>
              <a:t>2</a:t>
            </a:r>
            <a:r>
              <a:rPr lang="tr-TR" b="1" dirty="0"/>
              <a:t>): </a:t>
            </a:r>
            <a:r>
              <a:rPr lang="tr-TR" dirty="0"/>
              <a:t>Kare zaman karmaşıklığı.</a:t>
            </a:r>
          </a:p>
          <a:p>
            <a:r>
              <a:rPr lang="tr-TR" b="1" dirty="0"/>
              <a:t>O(2</a:t>
            </a:r>
            <a:r>
              <a:rPr lang="tr-TR" b="1" baseline="30000" dirty="0"/>
              <a:t>n</a:t>
            </a:r>
            <a:r>
              <a:rPr lang="tr-TR" b="1" dirty="0"/>
              <a:t>): </a:t>
            </a:r>
            <a:r>
              <a:rPr lang="tr-TR" dirty="0"/>
              <a:t>Üstel zaman karmaşıklığı.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41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Büyük (O) Gösterimi Örnekleri:</a:t>
            </a:r>
            <a:endParaRPr lang="tr-TR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O(1): </a:t>
            </a:r>
            <a:r>
              <a:rPr lang="tr-TR" dirty="0"/>
              <a:t>Sabit Zaman Karmaşıklığı</a:t>
            </a:r>
          </a:p>
          <a:p>
            <a:pPr lvl="1"/>
            <a:r>
              <a:rPr lang="tr-TR" b="1" dirty="0"/>
              <a:t>Örnek</a:t>
            </a:r>
            <a:r>
              <a:rPr lang="tr-TR" dirty="0"/>
              <a:t>: Bir dizinin ilk elemanına erişme.</a:t>
            </a:r>
          </a:p>
          <a:p>
            <a:pPr lvl="1"/>
            <a:r>
              <a:rPr lang="tr-TR" dirty="0"/>
              <a:t>Dizinin boyutu ne olursa olsun, erişim süresi sabittir.</a:t>
            </a:r>
          </a:p>
          <a:p>
            <a:r>
              <a:rPr lang="tr-TR" b="1" dirty="0"/>
              <a:t>O(</a:t>
            </a:r>
            <a:r>
              <a:rPr lang="tr-TR" b="1" dirty="0" err="1"/>
              <a:t>log</a:t>
            </a:r>
            <a:r>
              <a:rPr lang="tr-TR" b="1" dirty="0"/>
              <a:t> n): </a:t>
            </a:r>
            <a:r>
              <a:rPr lang="tr-TR" dirty="0"/>
              <a:t>Logaritmik Zaman Karmaşıklığı</a:t>
            </a:r>
          </a:p>
          <a:p>
            <a:pPr lvl="1"/>
            <a:r>
              <a:rPr lang="tr-TR" b="1" dirty="0"/>
              <a:t>Örnek</a:t>
            </a:r>
            <a:r>
              <a:rPr lang="tr-TR" dirty="0"/>
              <a:t>: Sıralı bir listede ikili arama yapma.</a:t>
            </a:r>
          </a:p>
          <a:p>
            <a:pPr lvl="1"/>
            <a:r>
              <a:rPr lang="tr-TR" dirty="0"/>
              <a:t>Listenin boyutu arttıkça, arama süresi logaritmik olarak artar.</a:t>
            </a:r>
          </a:p>
          <a:p>
            <a:r>
              <a:rPr lang="tr-TR" b="1" dirty="0"/>
              <a:t>O(n): </a:t>
            </a:r>
            <a:r>
              <a:rPr lang="tr-TR" dirty="0"/>
              <a:t>Doğrusal Zaman Karmaşıklığı</a:t>
            </a:r>
          </a:p>
          <a:p>
            <a:pPr lvl="1"/>
            <a:r>
              <a:rPr lang="tr-TR" b="1" dirty="0"/>
              <a:t>Örnek</a:t>
            </a:r>
            <a:r>
              <a:rPr lang="tr-TR" dirty="0"/>
              <a:t>: Bir diziyi baştan sona tarama.</a:t>
            </a:r>
          </a:p>
          <a:p>
            <a:pPr lvl="1"/>
            <a:r>
              <a:rPr lang="tr-TR" dirty="0"/>
              <a:t>Listenin boyutu ile doğru orantılı olarak artan bir süreye sahiptir.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876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Büyük (O) Gösterimi Örnekleri: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O(n </a:t>
            </a:r>
            <a:r>
              <a:rPr lang="tr-TR" b="1" dirty="0" err="1"/>
              <a:t>log</a:t>
            </a:r>
            <a:r>
              <a:rPr lang="tr-TR" b="1" dirty="0"/>
              <a:t> n): </a:t>
            </a:r>
            <a:r>
              <a:rPr lang="tr-TR" dirty="0"/>
              <a:t>Doğrusal Logaritmik Zaman Karmaşıklığı</a:t>
            </a:r>
          </a:p>
          <a:p>
            <a:pPr lvl="1"/>
            <a:r>
              <a:rPr lang="tr-TR" b="1" dirty="0"/>
              <a:t>Örnek</a:t>
            </a:r>
            <a:r>
              <a:rPr lang="tr-TR" dirty="0"/>
              <a:t>: Hızlı sıralama (</a:t>
            </a:r>
            <a:r>
              <a:rPr lang="tr-TR" dirty="0" err="1"/>
              <a:t>Quick</a:t>
            </a:r>
            <a:r>
              <a:rPr lang="tr-TR" dirty="0"/>
              <a:t> </a:t>
            </a:r>
            <a:r>
              <a:rPr lang="tr-TR" dirty="0" err="1"/>
              <a:t>Sort</a:t>
            </a:r>
            <a:r>
              <a:rPr lang="tr-TR" dirty="0"/>
              <a:t>) algoritması.</a:t>
            </a:r>
          </a:p>
          <a:p>
            <a:pPr lvl="1"/>
            <a:r>
              <a:rPr lang="tr-TR" dirty="0"/>
              <a:t>Genellikle hızlı sıralama gibi verileri bölüp sıralamak için kullanılan algoritmaların karmaşıklığıdır.</a:t>
            </a:r>
          </a:p>
          <a:p>
            <a:r>
              <a:rPr lang="tr-TR" b="1" dirty="0"/>
              <a:t>O(n</a:t>
            </a:r>
            <a:r>
              <a:rPr lang="tr-TR" b="1" baseline="30000" dirty="0"/>
              <a:t>2</a:t>
            </a:r>
            <a:r>
              <a:rPr lang="tr-TR" b="1" dirty="0"/>
              <a:t>): </a:t>
            </a:r>
            <a:r>
              <a:rPr lang="tr-TR" dirty="0"/>
              <a:t>Kare Zaman Karmaşıklığı</a:t>
            </a:r>
          </a:p>
          <a:p>
            <a:pPr lvl="1"/>
            <a:r>
              <a:rPr lang="tr-TR" b="1" dirty="0"/>
              <a:t>Örnek</a:t>
            </a:r>
            <a:r>
              <a:rPr lang="tr-TR" dirty="0"/>
              <a:t>: İç içe döngülerle bir matrisi tarama.</a:t>
            </a:r>
          </a:p>
          <a:p>
            <a:pPr lvl="1"/>
            <a:r>
              <a:rPr lang="tr-TR" dirty="0"/>
              <a:t>İç içe iki döngü kullanılarak, her elemanın diğer tüm elemanlarla karşılaştırıldığı durumda elde edilen karmaşıklıktır.</a:t>
            </a:r>
          </a:p>
          <a:p>
            <a:r>
              <a:rPr lang="tr-TR" b="1" dirty="0"/>
              <a:t>O(2</a:t>
            </a:r>
            <a:r>
              <a:rPr lang="tr-TR" b="1" baseline="30000" dirty="0"/>
              <a:t>n</a:t>
            </a:r>
            <a:r>
              <a:rPr lang="tr-TR" b="1" dirty="0"/>
              <a:t>): </a:t>
            </a:r>
            <a:r>
              <a:rPr lang="tr-TR" dirty="0" err="1"/>
              <a:t>Üssel</a:t>
            </a:r>
            <a:r>
              <a:rPr lang="tr-TR" dirty="0"/>
              <a:t> Zaman Karmaşıklığı</a:t>
            </a:r>
          </a:p>
          <a:p>
            <a:pPr lvl="1"/>
            <a:r>
              <a:rPr lang="tr-TR" b="1" dirty="0"/>
              <a:t>Örnek</a:t>
            </a:r>
            <a:r>
              <a:rPr lang="tr-TR" dirty="0"/>
              <a:t>: Tüm alt kümeleri bulma.</a:t>
            </a:r>
          </a:p>
          <a:p>
            <a:pPr lvl="1"/>
            <a:r>
              <a:rPr lang="tr-TR" dirty="0"/>
              <a:t>Kümelerin alt kümelerini bulmak gibi her bir adımda iki kat artan bir karmaşıklığa sahiptir.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772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Alan Karmaşıklığı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Algoritmanın kullandığı bellek miktarını ölçen bir ölçüdür. </a:t>
            </a:r>
          </a:p>
          <a:p>
            <a:r>
              <a:rPr lang="tr-TR" dirty="0"/>
              <a:t>Genellikle Büyük O (</a:t>
            </a:r>
            <a:r>
              <a:rPr lang="tr-TR" dirty="0" err="1"/>
              <a:t>Big</a:t>
            </a:r>
            <a:r>
              <a:rPr lang="tr-TR" dirty="0"/>
              <a:t> O) gösterimi kullanılarak ifade edilir. </a:t>
            </a:r>
          </a:p>
          <a:p>
            <a:r>
              <a:rPr lang="tr-TR" dirty="0"/>
              <a:t>Algoritmanın bellek kullanımının, girdi boyutuna bağlı artışını gösterir.</a:t>
            </a:r>
          </a:p>
          <a:p>
            <a:r>
              <a:rPr lang="tr-TR" dirty="0"/>
              <a:t>Sınırlı bellek kaynaklarına sahip sistemlerde bellek verimliliği önemlidir.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64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Büyük O Gösterimi Örnekleri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O(1): </a:t>
            </a:r>
            <a:r>
              <a:rPr lang="tr-TR" dirty="0"/>
              <a:t>Sabit Alan Karmaşıklığı</a:t>
            </a:r>
          </a:p>
          <a:p>
            <a:pPr lvl="1"/>
            <a:r>
              <a:rPr lang="tr-TR" b="1" dirty="0"/>
              <a:t>Örnek</a:t>
            </a:r>
            <a:r>
              <a:rPr lang="tr-TR" dirty="0"/>
              <a:t>: Bir değişken oluşturma.</a:t>
            </a:r>
          </a:p>
          <a:p>
            <a:pPr lvl="1"/>
            <a:r>
              <a:rPr lang="tr-TR" dirty="0"/>
              <a:t>Bellek kullanımı sabittir, girdi boyutuyla değişmez.</a:t>
            </a:r>
          </a:p>
          <a:p>
            <a:r>
              <a:rPr lang="tr-TR" b="1" dirty="0"/>
              <a:t>O(n): </a:t>
            </a:r>
            <a:r>
              <a:rPr lang="tr-TR" dirty="0"/>
              <a:t>Doğrusal Alan Karmaşıklığı</a:t>
            </a:r>
          </a:p>
          <a:p>
            <a:pPr lvl="1"/>
            <a:r>
              <a:rPr lang="tr-TR" b="1" dirty="0"/>
              <a:t>Örnek</a:t>
            </a:r>
            <a:r>
              <a:rPr lang="tr-TR" dirty="0"/>
              <a:t>: Bir dizinin tüm elemanlarını saklama.</a:t>
            </a:r>
          </a:p>
          <a:p>
            <a:pPr lvl="1"/>
            <a:r>
              <a:rPr lang="tr-TR" dirty="0"/>
              <a:t>Bellek kullanımı, girdi boyutu ile doğru orantılı olarak artar.</a:t>
            </a:r>
          </a:p>
          <a:p>
            <a:r>
              <a:rPr lang="tr-TR" b="1" dirty="0"/>
              <a:t>O(n</a:t>
            </a:r>
            <a:r>
              <a:rPr lang="tr-TR" b="1" baseline="30000" dirty="0"/>
              <a:t>2</a:t>
            </a:r>
            <a:r>
              <a:rPr lang="tr-TR" b="1" dirty="0"/>
              <a:t>): </a:t>
            </a:r>
            <a:r>
              <a:rPr lang="tr-TR" dirty="0"/>
              <a:t>Kare Alan Karmaşıklığı</a:t>
            </a:r>
          </a:p>
          <a:p>
            <a:pPr lvl="1"/>
            <a:r>
              <a:rPr lang="tr-TR" b="1" dirty="0"/>
              <a:t>Örnek</a:t>
            </a:r>
            <a:r>
              <a:rPr lang="tr-TR" dirty="0"/>
              <a:t>: İki boyutlu bir matrisi saklama.</a:t>
            </a:r>
          </a:p>
          <a:p>
            <a:pPr lvl="1"/>
            <a:r>
              <a:rPr lang="tr-TR" dirty="0"/>
              <a:t>Bellek kullanımı, girdi boyutunun karesi ile orantılı olarak artar.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2809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Doğruluk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Doğruluk, bir algoritmanın başarısını belirleyen önemli bir faktördür. </a:t>
            </a:r>
          </a:p>
          <a:p>
            <a:r>
              <a:rPr lang="tr-TR" dirty="0"/>
              <a:t>Algoritma çıktısının doğru cevaba yakınlığını ölçen bir ölçüdür. </a:t>
            </a:r>
          </a:p>
          <a:p>
            <a:r>
              <a:rPr lang="tr-TR" dirty="0"/>
              <a:t>Çıktı ile gerçek cevap arasındaki benzerlik derecesini ifade eder.</a:t>
            </a:r>
          </a:p>
          <a:p>
            <a:r>
              <a:rPr lang="tr-TR" dirty="0"/>
              <a:t>Doğru sonuçlar üreten algoritmalar, güvenilir ve güvenli yazılım geliştirme, veri analizi, yapay zeka ve diğer birçok alanda kritik bir rol oynar.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087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Doğruluğun Ölçülmesi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Algoritmanın ürettiği sonuçlar, gerçek verilere veya bilinen doğru sonuçlar ile karşılaştırılır. Örnek metrikler:</a:t>
            </a:r>
          </a:p>
          <a:p>
            <a:r>
              <a:rPr lang="tr-TR" b="1" dirty="0"/>
              <a:t>Hata Oranı (</a:t>
            </a:r>
            <a:r>
              <a:rPr lang="tr-TR" b="1" dirty="0" err="1"/>
              <a:t>Error</a:t>
            </a:r>
            <a:r>
              <a:rPr lang="tr-TR" b="1" dirty="0"/>
              <a:t> Rate): </a:t>
            </a:r>
            <a:r>
              <a:rPr lang="tr-TR" dirty="0"/>
              <a:t>Yanlış sonuçlarının oranı.</a:t>
            </a:r>
          </a:p>
          <a:p>
            <a:r>
              <a:rPr lang="tr-TR" b="1" dirty="0"/>
              <a:t>Doğruluk (</a:t>
            </a:r>
            <a:r>
              <a:rPr lang="tr-TR" b="1" dirty="0" err="1"/>
              <a:t>Accuracy</a:t>
            </a:r>
            <a:r>
              <a:rPr lang="tr-TR" b="1" dirty="0"/>
              <a:t>): </a:t>
            </a:r>
            <a:r>
              <a:rPr lang="tr-TR" dirty="0"/>
              <a:t>Doğru sonuçların oranı.</a:t>
            </a:r>
          </a:p>
          <a:p>
            <a:r>
              <a:rPr lang="tr-TR" b="1" dirty="0"/>
              <a:t>Hassasiyet (Precision): </a:t>
            </a:r>
            <a:r>
              <a:rPr lang="tr-TR" dirty="0"/>
              <a:t>Pozitif olarak tahmin edilen sonuçların, gerçek pozitif sonuçlara oranı.</a:t>
            </a:r>
          </a:p>
          <a:p>
            <a:r>
              <a:rPr lang="tr-TR" b="1" dirty="0"/>
              <a:t>Duyarlılık (</a:t>
            </a:r>
            <a:r>
              <a:rPr lang="tr-TR" b="1" dirty="0" err="1"/>
              <a:t>Recall</a:t>
            </a:r>
            <a:r>
              <a:rPr lang="tr-TR" b="1" dirty="0"/>
              <a:t>): </a:t>
            </a:r>
            <a:r>
              <a:rPr lang="tr-TR" dirty="0"/>
              <a:t>Gerçekten pozitif olan sonuçların, pozitif olarak tahmin edilen sonuçlara oranı.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9915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Sağlamlık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Algoritmanın beklenmeyen durumlarla başa çıkma yeteneğini ölçer.</a:t>
            </a:r>
          </a:p>
          <a:p>
            <a:r>
              <a:rPr lang="tr-TR" dirty="0"/>
              <a:t>Sağlam bir algoritma, normal aralığının dışındaki girdileri bile çökmeden veya yanlış sonuçlar üretmeden işleyebilir.</a:t>
            </a:r>
          </a:p>
          <a:p>
            <a:r>
              <a:rPr lang="tr-TR" dirty="0"/>
              <a:t>Gerçek dünyada karşılaşılabilecek her türlü durumu ele alabilir. </a:t>
            </a:r>
          </a:p>
          <a:p>
            <a:r>
              <a:rPr lang="tr-TR" dirty="0"/>
              <a:t>Beklenmedik hatalar, eksik veya bozuk veriler, aşırı yüklenmeler ve diğer olası sorunlar, bir algoritmanın sağlamlığını test eder.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802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Sağlamlığın Ölçülmesi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Algoritmanın beklenmeyen girdilere nasıl tepki verdiğini anlamayı içerir:</a:t>
            </a:r>
          </a:p>
          <a:p>
            <a:r>
              <a:rPr lang="tr-TR" b="1" dirty="0"/>
              <a:t>Geçersiz Girdiler (</a:t>
            </a:r>
            <a:r>
              <a:rPr lang="tr-TR" b="1" dirty="0" err="1"/>
              <a:t>Invalid</a:t>
            </a:r>
            <a:r>
              <a:rPr lang="tr-TR" b="1" dirty="0"/>
              <a:t> </a:t>
            </a:r>
            <a:r>
              <a:rPr lang="tr-TR" b="1" dirty="0" err="1"/>
              <a:t>Inputs</a:t>
            </a:r>
            <a:r>
              <a:rPr lang="tr-TR" b="1" dirty="0"/>
              <a:t>): </a:t>
            </a:r>
            <a:r>
              <a:rPr lang="tr-TR" dirty="0"/>
              <a:t>Uygun olmayan veya beklenmeyen girdilerle başa çıkma yeteneği.</a:t>
            </a:r>
          </a:p>
          <a:p>
            <a:r>
              <a:rPr lang="tr-TR" b="1" dirty="0"/>
              <a:t>Hatalı Veriler (</a:t>
            </a:r>
            <a:r>
              <a:rPr lang="tr-TR" b="1" dirty="0" err="1"/>
              <a:t>Corrupted</a:t>
            </a:r>
            <a:r>
              <a:rPr lang="tr-TR" b="1" dirty="0"/>
              <a:t> Data): </a:t>
            </a:r>
            <a:r>
              <a:rPr lang="tr-TR" dirty="0"/>
              <a:t>Bozuk veya hatalı verilerle başa çıkma yeteneği.</a:t>
            </a:r>
          </a:p>
          <a:p>
            <a:r>
              <a:rPr lang="tr-TR" b="1" dirty="0"/>
              <a:t>Büyük Veri Kümesi (</a:t>
            </a:r>
            <a:r>
              <a:rPr lang="tr-TR" b="1" dirty="0" err="1"/>
              <a:t>Large</a:t>
            </a:r>
            <a:r>
              <a:rPr lang="tr-TR" b="1" dirty="0"/>
              <a:t> Data </a:t>
            </a:r>
            <a:r>
              <a:rPr lang="tr-TR" b="1" dirty="0" err="1"/>
              <a:t>Sets</a:t>
            </a:r>
            <a:r>
              <a:rPr lang="tr-TR" b="1" dirty="0"/>
              <a:t>): </a:t>
            </a:r>
            <a:r>
              <a:rPr lang="tr-TR" dirty="0"/>
              <a:t>Büyük veri kümesini işleme yeteneği.</a:t>
            </a:r>
          </a:p>
          <a:p>
            <a:r>
              <a:rPr lang="tr-TR" b="1" dirty="0"/>
              <a:t>Aşırı Yüklenme (</a:t>
            </a:r>
            <a:r>
              <a:rPr lang="tr-TR" b="1" dirty="0" err="1"/>
              <a:t>Overload</a:t>
            </a:r>
            <a:r>
              <a:rPr lang="tr-TR" b="1" dirty="0"/>
              <a:t>): </a:t>
            </a:r>
            <a:r>
              <a:rPr lang="tr-TR" dirty="0"/>
              <a:t>Algoritmanın aşırı yüklendiğinde nasıl davrandığı.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211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Diziler (</a:t>
            </a:r>
            <a:r>
              <a:rPr lang="tr-TR" dirty="0" err="1"/>
              <a:t>Arrays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Verileri ardışık olarak bir bellek bloğunda saklar. </a:t>
            </a:r>
          </a:p>
          <a:p>
            <a:r>
              <a:rPr lang="tr-TR" dirty="0"/>
              <a:t>Verilere kolay erişim sağlar. </a:t>
            </a:r>
          </a:p>
          <a:p>
            <a:r>
              <a:rPr lang="tr-TR" dirty="0"/>
              <a:t>Veriler, dizi içerisinde eklenme sırasıyla depolanır.</a:t>
            </a:r>
          </a:p>
          <a:p>
            <a:r>
              <a:rPr lang="tr-TR" dirty="0"/>
              <a:t>Her bir veri öğesine bir indeksle erişilebilir.</a:t>
            </a:r>
          </a:p>
          <a:p>
            <a:r>
              <a:rPr lang="tr-TR" dirty="0"/>
              <a:t>Diziler, verileri düzenli bir şekilde saklamak ve hızlı erişim sağlamak için kullanışlı bir veri yapısıdır.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982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Diziler (</a:t>
            </a:r>
            <a:r>
              <a:rPr lang="tr-TR" dirty="0" err="1"/>
              <a:t>Arrays</a:t>
            </a:r>
            <a:r>
              <a:rPr lang="tr-TR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Üst sıra dizinin indislerini temsil eder (0, 1, 2, 3, 4).</a:t>
            </a:r>
          </a:p>
          <a:p>
            <a:r>
              <a:rPr lang="tr-TR" dirty="0"/>
              <a:t>Alt sıra bu indislerdeki dizi öğelerinin değerlerini temsil eder (7, 2, 9, 5, 1).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196827"/>
              </p:ext>
            </p:extLst>
          </p:nvPr>
        </p:nvGraphicFramePr>
        <p:xfrm>
          <a:off x="986972" y="2104328"/>
          <a:ext cx="3600000" cy="1189055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9055"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/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/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/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1716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Diziler (</a:t>
            </a:r>
            <a:r>
              <a:rPr lang="tr-TR" dirty="0" err="1"/>
              <a:t>Arrays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Avantajları</a:t>
            </a:r>
          </a:p>
          <a:p>
            <a:pPr lvl="1"/>
            <a:r>
              <a:rPr lang="tr-TR" dirty="0"/>
              <a:t>Doğrudan indeksleme kullanarak verilere hızlı erişim sağlar.</a:t>
            </a:r>
          </a:p>
          <a:p>
            <a:pPr lvl="1"/>
            <a:r>
              <a:rPr lang="tr-TR" dirty="0"/>
              <a:t>Verileri düzenli bir şekilde saklar.</a:t>
            </a:r>
          </a:p>
          <a:p>
            <a:pPr lvl="1"/>
            <a:r>
              <a:rPr lang="tr-TR" dirty="0"/>
              <a:t>Kolay bir kullanım sunar.</a:t>
            </a:r>
          </a:p>
          <a:p>
            <a:r>
              <a:rPr lang="tr-TR" b="1" dirty="0"/>
              <a:t>Dezavantajları</a:t>
            </a:r>
          </a:p>
          <a:p>
            <a:pPr lvl="1"/>
            <a:r>
              <a:rPr lang="tr-TR" dirty="0"/>
              <a:t>Sabit boyuta sahiptir, veri boyutu dinamik olarak değiştirilemez.</a:t>
            </a:r>
          </a:p>
          <a:p>
            <a:pPr lvl="1"/>
            <a:r>
              <a:rPr lang="tr-TR" dirty="0"/>
              <a:t>Eşit olarak dağılmayan veriler, dizinin sonunda veya başında sıklaşabilir.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063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Bağlı Listeler (</a:t>
            </a:r>
            <a:r>
              <a:rPr lang="tr-TR" dirty="0" err="1"/>
              <a:t>Linked</a:t>
            </a:r>
            <a:r>
              <a:rPr lang="tr-TR" dirty="0"/>
              <a:t> </a:t>
            </a:r>
            <a:r>
              <a:rPr lang="tr-TR" dirty="0" err="1"/>
              <a:t>Lists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Verileri düğümler adı verilen bağlı bir liste içinde saklar. </a:t>
            </a:r>
          </a:p>
          <a:p>
            <a:r>
              <a:rPr lang="tr-TR" dirty="0"/>
              <a:t>Her düğüm, veriyi ve bir sonraki düğümün referansını içerir. </a:t>
            </a:r>
          </a:p>
          <a:p>
            <a:r>
              <a:rPr lang="tr-TR" dirty="0"/>
              <a:t>Bu referanslar, verilerin bellekte ardışık saklanmadığı anlamına gelir.</a:t>
            </a:r>
          </a:p>
          <a:p>
            <a:r>
              <a:rPr lang="tr-TR" dirty="0"/>
              <a:t>Bağlı listeler, verilerin dinamik olarak büyüdüğü veya dağılımı dengesiz olduğu durumlarda kullanışlı bir veri yapısıdır. </a:t>
            </a:r>
          </a:p>
          <a:p>
            <a:r>
              <a:rPr lang="tr-TR" dirty="0"/>
              <a:t>Ancak, erişim süreleri dizilere göre daha yavaştır ve daha fazla bellek kullanır.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5948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Bağlı Listeler (</a:t>
            </a:r>
            <a:r>
              <a:rPr lang="tr-TR" dirty="0" err="1"/>
              <a:t>Linked</a:t>
            </a:r>
            <a:r>
              <a:rPr lang="tr-TR" dirty="0"/>
              <a:t> </a:t>
            </a:r>
            <a:r>
              <a:rPr lang="tr-TR" dirty="0" err="1"/>
              <a:t>Lists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"Baş" bağlı listenin başlangıç noktasını gösterir.</a:t>
            </a:r>
          </a:p>
          <a:p>
            <a:r>
              <a:rPr lang="tr-TR" dirty="0"/>
              <a:t>Her düğüm, bir değeri (örneğin, 7, 2, 9, 5) içeren kutu olarak temsil edilir.</a:t>
            </a:r>
          </a:p>
          <a:p>
            <a:r>
              <a:rPr lang="tr-TR" dirty="0"/>
              <a:t>Her düğüm, bir sonraki düğüme doğru bir ok ile bağlanır.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585278"/>
              </p:ext>
            </p:extLst>
          </p:nvPr>
        </p:nvGraphicFramePr>
        <p:xfrm>
          <a:off x="1153130" y="2890277"/>
          <a:ext cx="1440000" cy="72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076060"/>
              </p:ext>
            </p:extLst>
          </p:nvPr>
        </p:nvGraphicFramePr>
        <p:xfrm>
          <a:off x="3369462" y="2890277"/>
          <a:ext cx="1440000" cy="72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15310"/>
              </p:ext>
            </p:extLst>
          </p:nvPr>
        </p:nvGraphicFramePr>
        <p:xfrm>
          <a:off x="5629336" y="2890277"/>
          <a:ext cx="1440000" cy="72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590390"/>
              </p:ext>
            </p:extLst>
          </p:nvPr>
        </p:nvGraphicFramePr>
        <p:xfrm>
          <a:off x="7845668" y="2890277"/>
          <a:ext cx="1440000" cy="72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ight Arrow 12"/>
          <p:cNvSpPr/>
          <p:nvPr/>
        </p:nvSpPr>
        <p:spPr>
          <a:xfrm>
            <a:off x="2356833" y="3135086"/>
            <a:ext cx="972000" cy="216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Right Arrow 13"/>
          <p:cNvSpPr/>
          <p:nvPr/>
        </p:nvSpPr>
        <p:spPr>
          <a:xfrm>
            <a:off x="4575341" y="3135086"/>
            <a:ext cx="972000" cy="216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Right Arrow 14"/>
          <p:cNvSpPr/>
          <p:nvPr/>
        </p:nvSpPr>
        <p:spPr>
          <a:xfrm>
            <a:off x="6793850" y="3155068"/>
            <a:ext cx="972000" cy="216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Right Arrow 15"/>
          <p:cNvSpPr/>
          <p:nvPr/>
        </p:nvSpPr>
        <p:spPr>
          <a:xfrm>
            <a:off x="9010200" y="3155068"/>
            <a:ext cx="972000" cy="216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Down Arrow 16"/>
          <p:cNvSpPr/>
          <p:nvPr/>
        </p:nvSpPr>
        <p:spPr>
          <a:xfrm>
            <a:off x="1763483" y="2351338"/>
            <a:ext cx="216000" cy="504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TextBox 17"/>
          <p:cNvSpPr txBox="1"/>
          <p:nvPr/>
        </p:nvSpPr>
        <p:spPr>
          <a:xfrm>
            <a:off x="1564348" y="1933227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/>
              <a:t>baş</a:t>
            </a:r>
            <a:endParaRPr lang="tr-TR" dirty="0"/>
          </a:p>
        </p:txBody>
      </p:sp>
      <p:sp>
        <p:nvSpPr>
          <p:cNvPr id="19" name="TextBox 18"/>
          <p:cNvSpPr txBox="1"/>
          <p:nvPr/>
        </p:nvSpPr>
        <p:spPr>
          <a:xfrm>
            <a:off x="9982200" y="301225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 err="1"/>
              <a:t>null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493441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Bağlı Listeler (</a:t>
            </a:r>
            <a:r>
              <a:rPr lang="tr-TR" dirty="0" err="1"/>
              <a:t>Linked</a:t>
            </a:r>
            <a:r>
              <a:rPr lang="tr-TR" dirty="0"/>
              <a:t> </a:t>
            </a:r>
            <a:r>
              <a:rPr lang="tr-TR" dirty="0" err="1"/>
              <a:t>Lists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Avantajları</a:t>
            </a:r>
          </a:p>
          <a:p>
            <a:pPr lvl="1"/>
            <a:r>
              <a:rPr lang="tr-TR" dirty="0"/>
              <a:t>Veri boyutu dinamik olarak değişebilir. </a:t>
            </a:r>
          </a:p>
          <a:p>
            <a:pPr lvl="1"/>
            <a:r>
              <a:rPr lang="tr-TR" dirty="0"/>
              <a:t>Düğümler listeye eklenebilir, listeden çıkarılabilir.</a:t>
            </a:r>
          </a:p>
          <a:p>
            <a:pPr lvl="1"/>
            <a:r>
              <a:rPr lang="tr-TR" dirty="0"/>
              <a:t>Düğümler rastgele yerleştirilebildiği için veri dağılımı sorunlarına daha dayanıklıdır.</a:t>
            </a:r>
          </a:p>
          <a:p>
            <a:r>
              <a:rPr lang="tr-TR" b="1" dirty="0"/>
              <a:t>Dezavantajları</a:t>
            </a:r>
          </a:p>
          <a:p>
            <a:pPr lvl="1"/>
            <a:r>
              <a:rPr lang="tr-TR" dirty="0"/>
              <a:t>Verilere erişim, bağlı düğümler arasında gezinme gerektirdiği için dizilere göre daha yavaştır.</a:t>
            </a:r>
          </a:p>
          <a:p>
            <a:pPr lvl="1"/>
            <a:r>
              <a:rPr lang="tr-TR" dirty="0"/>
              <a:t>Her düğüm, veri ve bir sonraki düğümün referansını içerdiğinden, daha fazla bellek alanı kullanılır.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7916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Yığınlar (</a:t>
            </a:r>
            <a:r>
              <a:rPr lang="tr-TR" dirty="0" err="1"/>
              <a:t>Stacks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Verileri son giren, ilk çıkar (LIFO - </a:t>
            </a:r>
            <a:r>
              <a:rPr lang="tr-TR" dirty="0" err="1"/>
              <a:t>Last-In</a:t>
            </a:r>
            <a:r>
              <a:rPr lang="tr-TR" dirty="0"/>
              <a:t>, First-</a:t>
            </a:r>
            <a:r>
              <a:rPr lang="tr-TR" dirty="0" err="1"/>
              <a:t>Out</a:t>
            </a:r>
            <a:r>
              <a:rPr lang="tr-TR" dirty="0"/>
              <a:t>) mantığına göre saklar. </a:t>
            </a:r>
          </a:p>
          <a:p>
            <a:r>
              <a:rPr lang="tr-TR" dirty="0"/>
              <a:t>Yeni öğe ekleneceğinde yığının en üstüne eklenir.</a:t>
            </a:r>
          </a:p>
          <a:p>
            <a:r>
              <a:rPr lang="tr-TR" dirty="0"/>
              <a:t>Bir öğe çıkarılacağında en son eklenen öğe çıkarılır. </a:t>
            </a:r>
          </a:p>
          <a:p>
            <a:r>
              <a:rPr lang="tr-TR" dirty="0"/>
              <a:t>Özyinelemeli fonksiyonlar, geri izleme ve işlem geçmişi yönetimi gibi çeşitli alanlarda kullanılırlar.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5358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Yığınlar (</a:t>
            </a:r>
            <a:r>
              <a:rPr lang="tr-TR" dirty="0" err="1"/>
              <a:t>Stacks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680000"/>
          </a:xfrm>
        </p:spPr>
        <p:txBody>
          <a:bodyPr>
            <a:normAutofit/>
          </a:bodyPr>
          <a:lstStyle/>
          <a:p>
            <a:r>
              <a:rPr lang="tr-TR" dirty="0"/>
              <a:t>"Üst" yığının üstünü veya en son eklenen öğeyi gösterir.</a:t>
            </a:r>
          </a:p>
          <a:p>
            <a:r>
              <a:rPr lang="tr-TR" dirty="0"/>
              <a:t>Her öğe bir değeri (örneğin, 1, 2, 3, 4) içeren bir kutu olarak </a:t>
            </a:r>
          </a:p>
          <a:p>
            <a:pPr marL="0" indent="0">
              <a:buNone/>
            </a:pPr>
            <a:r>
              <a:rPr lang="tr-TR" dirty="0"/>
              <a:t>temsil edilir.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731394"/>
              </p:ext>
            </p:extLst>
          </p:nvPr>
        </p:nvGraphicFramePr>
        <p:xfrm>
          <a:off x="10444302" y="2390590"/>
          <a:ext cx="720000" cy="360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66931" y="3168266"/>
            <a:ext cx="565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/>
              <a:t>üst</a:t>
            </a:r>
            <a:endParaRPr lang="tr-TR" dirty="0"/>
          </a:p>
        </p:txBody>
      </p:sp>
      <p:sp>
        <p:nvSpPr>
          <p:cNvPr id="11" name="Right Arrow 10"/>
          <p:cNvSpPr/>
          <p:nvPr/>
        </p:nvSpPr>
        <p:spPr>
          <a:xfrm>
            <a:off x="9826978" y="3291099"/>
            <a:ext cx="540000" cy="216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19283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Yığınların Kullanım Alanları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Özyinelemeli Fonksiyonlar (</a:t>
            </a:r>
            <a:r>
              <a:rPr lang="tr-TR" b="1" dirty="0" err="1"/>
              <a:t>Recursion</a:t>
            </a:r>
            <a:r>
              <a:rPr lang="tr-TR" b="1" dirty="0"/>
              <a:t>): </a:t>
            </a:r>
            <a:r>
              <a:rPr lang="tr-TR" dirty="0"/>
              <a:t>Fonksiyonlar kendi kendini çağırdığında, her çağrı bir yığın çerçevesi olarak saklanır. Bu sayede, fonksiyon tamamlandığında çağrıldığı yere geri dönebilir.</a:t>
            </a:r>
          </a:p>
          <a:p>
            <a:r>
              <a:rPr lang="tr-TR" b="1" dirty="0"/>
              <a:t>Geri İzleme (</a:t>
            </a:r>
            <a:r>
              <a:rPr lang="tr-TR" b="1" dirty="0" err="1"/>
              <a:t>Backtracking</a:t>
            </a:r>
            <a:r>
              <a:rPr lang="tr-TR" b="1" dirty="0"/>
              <a:t>): </a:t>
            </a:r>
            <a:r>
              <a:rPr lang="tr-TR" dirty="0"/>
              <a:t>Problemi çözmek için olasılıklar denendikten sonra geri adım atılması gerektiğinde yığınlar kullanılır. </a:t>
            </a:r>
          </a:p>
          <a:p>
            <a:r>
              <a:rPr lang="tr-TR" b="1" dirty="0"/>
              <a:t>İşlem Geçmişi (</a:t>
            </a:r>
            <a:r>
              <a:rPr lang="tr-TR" b="1" dirty="0" err="1"/>
              <a:t>Undo</a:t>
            </a:r>
            <a:r>
              <a:rPr lang="tr-TR" b="1" dirty="0"/>
              <a:t>/</a:t>
            </a:r>
            <a:r>
              <a:rPr lang="tr-TR" b="1" dirty="0" err="1"/>
              <a:t>Redo</a:t>
            </a:r>
            <a:r>
              <a:rPr lang="tr-TR" b="1" dirty="0"/>
              <a:t>): </a:t>
            </a:r>
            <a:r>
              <a:rPr lang="tr-TR" dirty="0"/>
              <a:t>Bir uygulamada kullanıcı işlemlerini geri almak (</a:t>
            </a:r>
            <a:r>
              <a:rPr lang="tr-TR" dirty="0" err="1"/>
              <a:t>Undo</a:t>
            </a:r>
            <a:r>
              <a:rPr lang="tr-TR" dirty="0"/>
              <a:t>) veya geri getirmek (</a:t>
            </a:r>
            <a:r>
              <a:rPr lang="tr-TR" dirty="0" err="1"/>
              <a:t>Redo</a:t>
            </a:r>
            <a:r>
              <a:rPr lang="tr-TR" dirty="0"/>
              <a:t>) için yığınlar kullanılabilir.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0944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Kuyruklar (</a:t>
            </a:r>
            <a:r>
              <a:rPr lang="tr-TR" dirty="0" err="1"/>
              <a:t>Queues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Kuyruk (Queue), verileri ilk giren, ilk çıkar (FIFO - First-</a:t>
            </a:r>
            <a:r>
              <a:rPr lang="tr-TR" dirty="0" err="1"/>
              <a:t>In</a:t>
            </a:r>
            <a:r>
              <a:rPr lang="tr-TR" dirty="0"/>
              <a:t>, First-</a:t>
            </a:r>
            <a:r>
              <a:rPr lang="tr-TR" dirty="0" err="1"/>
              <a:t>Out</a:t>
            </a:r>
            <a:r>
              <a:rPr lang="tr-TR" dirty="0"/>
              <a:t>) mantığına göre saklar. </a:t>
            </a:r>
          </a:p>
          <a:p>
            <a:r>
              <a:rPr lang="tr-TR" dirty="0"/>
              <a:t>Kuyruğa en önce eklenen öğe en önce çıkarılır.</a:t>
            </a:r>
          </a:p>
          <a:p>
            <a:r>
              <a:rPr lang="tr-TR" dirty="0"/>
              <a:t>Görev çizelgeleme, istek işleme gibi algoritmaların uygulanmasında kullanılırlar.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1432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Kuyruklar (</a:t>
            </a:r>
            <a:r>
              <a:rPr lang="tr-TR" dirty="0" err="1"/>
              <a:t>Queues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"Ön" kuyruğun önünü veya kuyruğa en önce eklenen öğeyi gösterir.</a:t>
            </a:r>
          </a:p>
          <a:p>
            <a:r>
              <a:rPr lang="tr-TR" dirty="0"/>
              <a:t>"Arka" kuyruğun arka kısmını veya en son eklenen öğeyi gösterir.</a:t>
            </a:r>
          </a:p>
          <a:p>
            <a:r>
              <a:rPr lang="tr-TR" dirty="0"/>
              <a:t>Her öğe, bir değeri (örneğin, 1, 2, 3) içeren bir kutu olarak temsil edilir.</a:t>
            </a:r>
          </a:p>
          <a:p>
            <a:r>
              <a:rPr lang="tr-TR" dirty="0"/>
              <a:t>Her öğe, bir sonraki öğeye doğru ok ile bağlanır.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026986"/>
              </p:ext>
            </p:extLst>
          </p:nvPr>
        </p:nvGraphicFramePr>
        <p:xfrm>
          <a:off x="1153130" y="2890277"/>
          <a:ext cx="1440000" cy="72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102515"/>
              </p:ext>
            </p:extLst>
          </p:nvPr>
        </p:nvGraphicFramePr>
        <p:xfrm>
          <a:off x="3369462" y="2890277"/>
          <a:ext cx="1440000" cy="72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21105"/>
              </p:ext>
            </p:extLst>
          </p:nvPr>
        </p:nvGraphicFramePr>
        <p:xfrm>
          <a:off x="5629336" y="2890277"/>
          <a:ext cx="1440000" cy="72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789695"/>
              </p:ext>
            </p:extLst>
          </p:nvPr>
        </p:nvGraphicFramePr>
        <p:xfrm>
          <a:off x="7845668" y="2890277"/>
          <a:ext cx="1440000" cy="72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Right Arrow 11"/>
          <p:cNvSpPr/>
          <p:nvPr/>
        </p:nvSpPr>
        <p:spPr>
          <a:xfrm>
            <a:off x="2356833" y="3135086"/>
            <a:ext cx="972000" cy="216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Right Arrow 12"/>
          <p:cNvSpPr/>
          <p:nvPr/>
        </p:nvSpPr>
        <p:spPr>
          <a:xfrm>
            <a:off x="4575341" y="3135086"/>
            <a:ext cx="972000" cy="216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Right Arrow 13"/>
          <p:cNvSpPr/>
          <p:nvPr/>
        </p:nvSpPr>
        <p:spPr>
          <a:xfrm>
            <a:off x="6793850" y="3155068"/>
            <a:ext cx="972000" cy="216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Right Arrow 14"/>
          <p:cNvSpPr/>
          <p:nvPr/>
        </p:nvSpPr>
        <p:spPr>
          <a:xfrm>
            <a:off x="9010200" y="3155068"/>
            <a:ext cx="972000" cy="216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Down Arrow 15"/>
          <p:cNvSpPr/>
          <p:nvPr/>
        </p:nvSpPr>
        <p:spPr>
          <a:xfrm>
            <a:off x="1763483" y="2351338"/>
            <a:ext cx="216000" cy="504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TextBox 16"/>
          <p:cNvSpPr txBox="1"/>
          <p:nvPr/>
        </p:nvSpPr>
        <p:spPr>
          <a:xfrm>
            <a:off x="1564348" y="1933227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/>
              <a:t>ön</a:t>
            </a:r>
            <a:endParaRPr lang="tr-TR" dirty="0"/>
          </a:p>
        </p:txBody>
      </p:sp>
      <p:sp>
        <p:nvSpPr>
          <p:cNvPr id="18" name="Down Arrow 17"/>
          <p:cNvSpPr/>
          <p:nvPr/>
        </p:nvSpPr>
        <p:spPr>
          <a:xfrm>
            <a:off x="8394600" y="2351338"/>
            <a:ext cx="216000" cy="504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TextBox 18"/>
          <p:cNvSpPr txBox="1"/>
          <p:nvPr/>
        </p:nvSpPr>
        <p:spPr>
          <a:xfrm>
            <a:off x="8195465" y="1933227"/>
            <a:ext cx="721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/>
              <a:t>arka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345771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Kuyrukların Kullanım Alanları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Görev çizelgeleme (</a:t>
            </a:r>
            <a:r>
              <a:rPr lang="tr-TR" b="1" dirty="0" err="1"/>
              <a:t>Task</a:t>
            </a:r>
            <a:r>
              <a:rPr lang="tr-TR" b="1" dirty="0"/>
              <a:t> </a:t>
            </a:r>
            <a:r>
              <a:rPr lang="tr-TR" b="1" dirty="0" err="1"/>
              <a:t>Scheduling</a:t>
            </a:r>
            <a:r>
              <a:rPr lang="tr-TR" b="1" dirty="0"/>
              <a:t>): </a:t>
            </a:r>
            <a:r>
              <a:rPr lang="tr-TR" dirty="0"/>
              <a:t>İşlemcinin görevleri sırayla çalıştırmasına yardımcı olur. Kuyruğa ilk giren görev ilk olarak çalıştırılır.</a:t>
            </a:r>
          </a:p>
          <a:p>
            <a:r>
              <a:rPr lang="tr-TR" b="1" dirty="0"/>
              <a:t>İstek İşleme (</a:t>
            </a:r>
            <a:r>
              <a:rPr lang="tr-TR" b="1" dirty="0" err="1"/>
              <a:t>Request</a:t>
            </a:r>
            <a:r>
              <a:rPr lang="tr-TR" b="1" dirty="0"/>
              <a:t> </a:t>
            </a:r>
            <a:r>
              <a:rPr lang="tr-TR" b="1" dirty="0" err="1"/>
              <a:t>Processing</a:t>
            </a:r>
            <a:r>
              <a:rPr lang="tr-TR" b="1" dirty="0"/>
              <a:t>): </a:t>
            </a:r>
            <a:r>
              <a:rPr lang="tr-TR" dirty="0"/>
              <a:t>Sunucular, gelen istekleri kuyrukta sıraya alır ve sırayla işler. Talep yükünü yönetmek için kullanışlıdır.</a:t>
            </a:r>
          </a:p>
          <a:p>
            <a:r>
              <a:rPr lang="tr-TR" b="1" dirty="0"/>
              <a:t>Veri Yapıları (Data </a:t>
            </a:r>
            <a:r>
              <a:rPr lang="tr-TR" b="1" dirty="0" err="1"/>
              <a:t>Structures</a:t>
            </a:r>
            <a:r>
              <a:rPr lang="tr-TR" b="1" dirty="0"/>
              <a:t>): </a:t>
            </a:r>
            <a:r>
              <a:rPr lang="tr-TR" dirty="0"/>
              <a:t>Bazı algoritmaların uygulanmasında verileri işlemek için kullanılır. Örneğin, genişlik öncelikli arama (</a:t>
            </a:r>
            <a:r>
              <a:rPr lang="tr-TR" dirty="0" err="1"/>
              <a:t>Breadth</a:t>
            </a:r>
            <a:r>
              <a:rPr lang="tr-TR" dirty="0"/>
              <a:t>-First </a:t>
            </a:r>
            <a:r>
              <a:rPr lang="tr-TR" dirty="0" err="1"/>
              <a:t>Search</a:t>
            </a:r>
            <a:r>
              <a:rPr lang="tr-TR" dirty="0"/>
              <a:t>) algoritması bir kuyruk kullanır.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4006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Ağaçlar (</a:t>
            </a:r>
            <a:r>
              <a:rPr lang="tr-TR" dirty="0" err="1"/>
              <a:t>Trees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Verileri hiyerarşik bir yapı içinde saklar. </a:t>
            </a:r>
          </a:p>
          <a:p>
            <a:r>
              <a:rPr lang="tr-TR" dirty="0"/>
              <a:t>Her ağaç, bir kök düğüm (</a:t>
            </a:r>
            <a:r>
              <a:rPr lang="tr-TR" dirty="0" err="1"/>
              <a:t>root</a:t>
            </a:r>
            <a:r>
              <a:rPr lang="tr-TR" dirty="0"/>
              <a:t> </a:t>
            </a:r>
            <a:r>
              <a:rPr lang="tr-TR" dirty="0" err="1"/>
              <a:t>node</a:t>
            </a:r>
            <a:r>
              <a:rPr lang="tr-TR" dirty="0"/>
              <a:t>) ve bu kök düğümden dallanmış alt düğümlere sahiptir. </a:t>
            </a:r>
          </a:p>
          <a:p>
            <a:r>
              <a:rPr lang="tr-TR" dirty="0"/>
              <a:t>Her düğüm, kendisine bağlı alt düğümlere sahiptir ve bu şekilde bir hiyerarşi oluşturulur.</a:t>
            </a:r>
          </a:p>
          <a:p>
            <a:r>
              <a:rPr lang="tr-TR" dirty="0"/>
              <a:t>Dosya sistemleri, biyolojik taksonomi ve veritabanı indekslemesi gibi birçok alanda yaygın olarak kullanılırlar.</a:t>
            </a:r>
          </a:p>
          <a:p>
            <a:r>
              <a:rPr lang="tr-TR" dirty="0"/>
              <a:t>Verilerin doğal hiyerarşisini yansıtmak için mükemmel bir yapıdır.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8591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Ağaçlar (</a:t>
            </a:r>
            <a:r>
              <a:rPr lang="tr-TR" dirty="0" err="1"/>
              <a:t>Trees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Düğüm 1, ağacın kökünü temsil eder.</a:t>
            </a:r>
          </a:p>
          <a:p>
            <a:r>
              <a:rPr lang="tr-TR" dirty="0"/>
              <a:t>Kökün iki çocuğu vardır, 2 ve 3.</a:t>
            </a:r>
          </a:p>
          <a:p>
            <a:r>
              <a:rPr lang="tr-TR" dirty="0"/>
              <a:t>2 düğümünün ise iki çocuğu vardır, 4 ve 5.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9285668" y="2142309"/>
            <a:ext cx="576000" cy="57476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8610600" y="3352801"/>
            <a:ext cx="576000" cy="57476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9998674" y="3352800"/>
            <a:ext cx="576000" cy="57476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897594" y="4567192"/>
            <a:ext cx="576000" cy="57476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9285668" y="4567191"/>
            <a:ext cx="576000" cy="57476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5</a:t>
            </a:r>
          </a:p>
        </p:txBody>
      </p:sp>
      <p:cxnSp>
        <p:nvCxnSpPr>
          <p:cNvPr id="15" name="Straight Arrow Connector 14"/>
          <p:cNvCxnSpPr>
            <a:stCxn id="8" idx="4"/>
            <a:endCxn id="9" idx="7"/>
          </p:cNvCxnSpPr>
          <p:nvPr/>
        </p:nvCxnSpPr>
        <p:spPr>
          <a:xfrm flipH="1">
            <a:off x="9102247" y="2717074"/>
            <a:ext cx="471421" cy="71989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4"/>
          </p:cNvCxnSpPr>
          <p:nvPr/>
        </p:nvCxnSpPr>
        <p:spPr>
          <a:xfrm flipH="1">
            <a:off x="8416677" y="3927566"/>
            <a:ext cx="481923" cy="71999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4"/>
            <a:endCxn id="10" idx="1"/>
          </p:cNvCxnSpPr>
          <p:nvPr/>
        </p:nvCxnSpPr>
        <p:spPr>
          <a:xfrm>
            <a:off x="9573668" y="2717074"/>
            <a:ext cx="509359" cy="71989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8908324" y="3927565"/>
            <a:ext cx="509359" cy="71989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1350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Ağaçların Kullanım Alanları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Dosya Sistemi (File </a:t>
            </a:r>
            <a:r>
              <a:rPr lang="tr-TR" b="1" dirty="0" err="1"/>
              <a:t>System</a:t>
            </a:r>
            <a:r>
              <a:rPr lang="tr-TR" b="1" dirty="0"/>
              <a:t>): </a:t>
            </a:r>
            <a:r>
              <a:rPr lang="tr-TR" dirty="0"/>
              <a:t>Kök düğüm ana dizini temsil ederken, alt düğümler alt klasörleri veya dosyaları temsil eder.</a:t>
            </a:r>
          </a:p>
          <a:p>
            <a:r>
              <a:rPr lang="tr-TR" b="1" dirty="0"/>
              <a:t>Biyolojik Taksonomi (</a:t>
            </a:r>
            <a:r>
              <a:rPr lang="tr-TR" b="1" dirty="0" err="1"/>
              <a:t>Taxonomy</a:t>
            </a:r>
            <a:r>
              <a:rPr lang="tr-TR" b="1" dirty="0"/>
              <a:t>): </a:t>
            </a:r>
            <a:r>
              <a:rPr lang="tr-TR" dirty="0"/>
              <a:t>Canlı organizmaların sınıflandırılması için biyologlar tarafından kullanılır. Her </a:t>
            </a:r>
            <a:r>
              <a:rPr lang="tr-TR" dirty="0" err="1"/>
              <a:t>takson</a:t>
            </a:r>
            <a:r>
              <a:rPr lang="tr-TR" dirty="0"/>
              <a:t> (tür, familya, cins vb.) ağaç yapısı içinde temsil edilir.</a:t>
            </a:r>
          </a:p>
          <a:p>
            <a:r>
              <a:rPr lang="tr-TR" b="1" dirty="0"/>
              <a:t>Veritabanı İndeksleri (Database </a:t>
            </a:r>
            <a:r>
              <a:rPr lang="tr-TR" b="1" dirty="0" err="1"/>
              <a:t>Indexing</a:t>
            </a:r>
            <a:r>
              <a:rPr lang="tr-TR" b="1" dirty="0"/>
              <a:t>): </a:t>
            </a:r>
            <a:r>
              <a:rPr lang="tr-TR" dirty="0"/>
              <a:t>Hızlı veri erişimi sağlamak için kullanılır. İndeks ağaçları, verileri sıralar ve erişim hızını artırır.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1312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Eşleme Veri Yapısı (</a:t>
            </a:r>
            <a:r>
              <a:rPr lang="tr-TR" dirty="0" err="1"/>
              <a:t>Maps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Anahtar-değer çiftlerini saklar. </a:t>
            </a:r>
          </a:p>
          <a:p>
            <a:r>
              <a:rPr lang="tr-TR" dirty="0"/>
              <a:t>Her anahtar, bir değerle eşleştirilir. </a:t>
            </a:r>
          </a:p>
          <a:p>
            <a:r>
              <a:rPr lang="tr-TR" dirty="0"/>
              <a:t>Anahtarlar benzersiz, tekildir ve her biri yalnızca bir değeri temsil eder.</a:t>
            </a:r>
          </a:p>
          <a:p>
            <a:r>
              <a:rPr lang="tr-TR" dirty="0"/>
              <a:t>Anahtar kullanarak değerlere hızlı erişim sağlar. </a:t>
            </a:r>
          </a:p>
          <a:p>
            <a:r>
              <a:rPr lang="tr-TR" dirty="0"/>
              <a:t>Büyük veri koleksiyonlarını etkili bir şekilde işlemek için kullanışlıdır.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400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Eşleme Veri Yapısı (</a:t>
            </a:r>
            <a:r>
              <a:rPr lang="tr-TR" dirty="0" err="1"/>
              <a:t>Maps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"Anahtar" bölümü, her bir anahtarı içerir ("Ad", "Soyadı", "Yaş" gibi).</a:t>
            </a:r>
          </a:p>
          <a:p>
            <a:r>
              <a:rPr lang="tr-TR" dirty="0"/>
              <a:t>"Değer" bölümü, anahtara karşılık gelen değeri içerir ("Ali," "Veli," 30 gibi).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664672"/>
              </p:ext>
            </p:extLst>
          </p:nvPr>
        </p:nvGraphicFramePr>
        <p:xfrm>
          <a:off x="969977" y="1822450"/>
          <a:ext cx="3960000" cy="2412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4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Anahtar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Değer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4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Ali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4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Soyadı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Veli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4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Yaş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4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Şehir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İstanbul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2145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Harita Kullanım Alanları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Veritabanı İşlemleri</a:t>
            </a:r>
            <a:r>
              <a:rPr lang="tr-TR" dirty="0"/>
              <a:t>: Veritabanı sistemlerinde, anahtarlarla değerlere erişmek için kullanılır. Özellikle </a:t>
            </a:r>
            <a:r>
              <a:rPr lang="tr-TR" dirty="0" err="1"/>
              <a:t>NoSQL</a:t>
            </a:r>
            <a:r>
              <a:rPr lang="tr-TR" dirty="0"/>
              <a:t> </a:t>
            </a:r>
            <a:r>
              <a:rPr lang="tr-TR" dirty="0" err="1"/>
              <a:t>veritabanlarında</a:t>
            </a:r>
            <a:r>
              <a:rPr lang="tr-TR" dirty="0"/>
              <a:t> yaygın.</a:t>
            </a:r>
          </a:p>
          <a:p>
            <a:r>
              <a:rPr lang="tr-TR" b="1" dirty="0"/>
              <a:t>Önbellek Yönetimi</a:t>
            </a:r>
            <a:r>
              <a:rPr lang="tr-TR" dirty="0"/>
              <a:t>: Sık kullanılan verilere hızlı erişim için kullanılır. Örneğin, web sayfası içeriği önbelleğe alınır ve URL'lere göre erişilebilir.</a:t>
            </a:r>
          </a:p>
          <a:p>
            <a:r>
              <a:rPr lang="tr-TR" b="1" dirty="0"/>
              <a:t>Yapay Zeka ve Veri Analizi</a:t>
            </a:r>
            <a:r>
              <a:rPr lang="tr-TR" dirty="0"/>
              <a:t>: Veri madenciliği ve yapay zeka uygulamalarında kullanılır. Veri indekslemesi ve öznitelik eşleştirmesi için kullanışlıdır.</a:t>
            </a:r>
          </a:p>
          <a:p>
            <a:r>
              <a:rPr lang="tr-TR" b="1" dirty="0"/>
              <a:t>Yazılım Geliştirme</a:t>
            </a:r>
            <a:r>
              <a:rPr lang="tr-TR" dirty="0"/>
              <a:t>: Yapılandırma dosyalarını yönetmek, dil çevirilerini tutmak ve çoklu ortamlara erişmek için harita veri yapısı kullanılabilir.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8751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Küme Veri Yapısı (</a:t>
            </a:r>
            <a:r>
              <a:rPr lang="tr-TR" dirty="0" err="1"/>
              <a:t>Sets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Benzersiz, tekil öğeler içerir.</a:t>
            </a:r>
          </a:p>
          <a:p>
            <a:r>
              <a:rPr lang="tr-TR" dirty="0"/>
              <a:t>Öğelerin sırasız bir şekilde saklanır. </a:t>
            </a:r>
          </a:p>
          <a:p>
            <a:r>
              <a:rPr lang="tr-TR" dirty="0"/>
              <a:t>Küme içerisinde her öğe yalnızca bir kez bulunabilir.</a:t>
            </a:r>
          </a:p>
          <a:p>
            <a:r>
              <a:rPr lang="tr-TR" dirty="0"/>
              <a:t>Bir öğenin küme içinde olup olmadığı hızlı bir şekilde kontrol edilebilir.</a:t>
            </a:r>
          </a:p>
          <a:p>
            <a:r>
              <a:rPr lang="tr-TR" dirty="0"/>
              <a:t>Veri analizi, mantıksal işlemler ve veritabanı gibi farklı alanda kullanılır.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574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Küme Veri Yapısı (</a:t>
            </a:r>
            <a:r>
              <a:rPr lang="tr-TR" dirty="0" err="1"/>
              <a:t>Sets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"Küme:" kelimesi, bir küme veri yapısını temsil eder.</a:t>
            </a:r>
          </a:p>
          <a:p>
            <a:r>
              <a:rPr lang="tr-TR" dirty="0"/>
              <a:t>Süslü parantezler { } veri yapısının başlangıcını ve sonunu gösterir.</a:t>
            </a:r>
          </a:p>
          <a:p>
            <a:r>
              <a:rPr lang="tr-TR" dirty="0"/>
              <a:t>Rakamlar (1, 2, 3, 4, 5), kümenin içerisinde bulunan öğeleri temsil eder.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948248" y="1731145"/>
            <a:ext cx="2468880" cy="211060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6</a:t>
            </a:r>
          </a:p>
          <a:p>
            <a:pPr algn="ctr"/>
            <a:endParaRPr lang="tr-TR" sz="2400" dirty="0"/>
          </a:p>
          <a:p>
            <a:pPr algn="ctr"/>
            <a:r>
              <a:rPr lang="tr-TR" sz="2400" dirty="0"/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1267097" y="1731145"/>
            <a:ext cx="2468880" cy="211060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>
              <a:buAutoNum type="arabicPlain"/>
            </a:pPr>
            <a:r>
              <a:rPr lang="tr-TR" sz="2400" dirty="0"/>
              <a:t>2</a:t>
            </a:r>
          </a:p>
          <a:p>
            <a:pPr marL="457200" indent="-457200" algn="ctr">
              <a:buAutoNum type="arabicPlain"/>
            </a:pPr>
            <a:endParaRPr lang="tr-TR" sz="2400" dirty="0"/>
          </a:p>
          <a:p>
            <a:pPr algn="ctr"/>
            <a:r>
              <a:rPr lang="tr-TR" sz="2400" dirty="0"/>
              <a:t>3</a:t>
            </a:r>
          </a:p>
          <a:p>
            <a:pPr algn="ctr"/>
            <a:r>
              <a:rPr lang="tr-TR" sz="2400" dirty="0"/>
              <a:t>4             5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0468" y="3380083"/>
            <a:ext cx="2605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/>
              <a:t>Küme: {1, 2, 3, 4, 5}</a:t>
            </a:r>
          </a:p>
        </p:txBody>
      </p:sp>
    </p:spTree>
    <p:extLst>
      <p:ext uri="{BB962C8B-B14F-4D97-AF65-F5344CB8AC3E}">
        <p14:creationId xmlns:p14="http://schemas.microsoft.com/office/powerpoint/2010/main" val="3956354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Çizge Veri Yapısı (</a:t>
            </a:r>
            <a:r>
              <a:rPr lang="tr-TR" dirty="0" err="1"/>
              <a:t>Graphs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Bağlantılı nesneleri (düğümler) ve bu nesneleri birbirine bağlayan ilişkileri (kenarlar) içerir. </a:t>
            </a:r>
          </a:p>
          <a:p>
            <a:r>
              <a:rPr lang="tr-TR" dirty="0"/>
              <a:t>Nesneler arasındaki karmaşık ilişkileri modellemek ve analiz etmek için kullanılır. </a:t>
            </a:r>
          </a:p>
          <a:p>
            <a:r>
              <a:rPr lang="tr-TR" dirty="0"/>
              <a:t>Sosyal ağlar, yolculuk planlaması, çevresel tasarım ve algoritmalar gibi birçok alanda yaygın olarak kullanılır.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1677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Çizge Veri Yapısı (</a:t>
            </a:r>
            <a:r>
              <a:rPr lang="tr-TR" dirty="0" err="1"/>
              <a:t>Graphs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"A," "B," "C," ve "D" harfleri düğümleri (</a:t>
            </a:r>
            <a:r>
              <a:rPr lang="tr-TR" dirty="0" err="1"/>
              <a:t>nodes</a:t>
            </a:r>
            <a:r>
              <a:rPr lang="tr-TR" dirty="0"/>
              <a:t>) temsil eder.</a:t>
            </a:r>
          </a:p>
          <a:p>
            <a:r>
              <a:rPr lang="tr-TR" dirty="0"/>
              <a:t>Çizgiler, düğümler arasındaki bağlantıları (</a:t>
            </a:r>
            <a:r>
              <a:rPr lang="tr-TR" dirty="0" err="1"/>
              <a:t>edges</a:t>
            </a:r>
            <a:r>
              <a:rPr lang="tr-TR" dirty="0"/>
              <a:t>) gösterir.</a:t>
            </a:r>
          </a:p>
          <a:p>
            <a:r>
              <a:rPr lang="tr-TR" dirty="0"/>
              <a:t>Örneğin, "A" ile "B" arasında bir kenar varsa, "A" ile "B" arasında bir bağlantı olduğunu belirtir.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305052" y="1761151"/>
            <a:ext cx="576000" cy="57476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2693126" y="1761151"/>
            <a:ext cx="576000" cy="57476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B</a:t>
            </a:r>
          </a:p>
        </p:txBody>
      </p:sp>
      <p:sp>
        <p:nvSpPr>
          <p:cNvPr id="10" name="Oval 9"/>
          <p:cNvSpPr/>
          <p:nvPr/>
        </p:nvSpPr>
        <p:spPr>
          <a:xfrm>
            <a:off x="1305052" y="2913630"/>
            <a:ext cx="576000" cy="57476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2693126" y="2913630"/>
            <a:ext cx="576000" cy="57476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2400" dirty="0"/>
              <a:t>D</a:t>
            </a:r>
          </a:p>
        </p:txBody>
      </p:sp>
      <p:cxnSp>
        <p:nvCxnSpPr>
          <p:cNvPr id="13" name="Straight Connector 12"/>
          <p:cNvCxnSpPr>
            <a:stCxn id="8" idx="5"/>
            <a:endCxn id="11" idx="1"/>
          </p:cNvCxnSpPr>
          <p:nvPr/>
        </p:nvCxnSpPr>
        <p:spPr>
          <a:xfrm>
            <a:off x="1796699" y="2251744"/>
            <a:ext cx="972000" cy="7460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9" idx="3"/>
            <a:endCxn id="10" idx="7"/>
          </p:cNvCxnSpPr>
          <p:nvPr/>
        </p:nvCxnSpPr>
        <p:spPr>
          <a:xfrm flipH="1">
            <a:off x="1796699" y="2251744"/>
            <a:ext cx="980780" cy="7460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8" idx="6"/>
            <a:endCxn id="9" idx="2"/>
          </p:cNvCxnSpPr>
          <p:nvPr/>
        </p:nvCxnSpPr>
        <p:spPr>
          <a:xfrm>
            <a:off x="1881052" y="2048534"/>
            <a:ext cx="81207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1314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Çizge Veri Yapısının Özellikleri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Düğümler (</a:t>
            </a:r>
            <a:r>
              <a:rPr lang="tr-TR" b="1" dirty="0" err="1"/>
              <a:t>Nodes</a:t>
            </a:r>
            <a:r>
              <a:rPr lang="tr-TR" b="1" dirty="0"/>
              <a:t>): </a:t>
            </a:r>
            <a:r>
              <a:rPr lang="tr-TR" dirty="0"/>
              <a:t>Çizgenin temel yapı taşı ve verileri temsil eder.</a:t>
            </a:r>
          </a:p>
          <a:p>
            <a:r>
              <a:rPr lang="tr-TR" b="1" dirty="0"/>
              <a:t>Kenarlar (</a:t>
            </a:r>
            <a:r>
              <a:rPr lang="tr-TR" b="1" dirty="0" err="1"/>
              <a:t>Edges</a:t>
            </a:r>
            <a:r>
              <a:rPr lang="tr-TR" b="1" dirty="0"/>
              <a:t>): </a:t>
            </a:r>
            <a:r>
              <a:rPr lang="tr-TR" dirty="0"/>
              <a:t>Düğümleri birbirine bağlar ve ilişkileri gösterir.</a:t>
            </a:r>
          </a:p>
          <a:p>
            <a:r>
              <a:rPr lang="tr-TR" dirty="0"/>
              <a:t>Kenarlar yönlendirilmiş veya yönlendirilmemiş oklar ile gösterilebilir.</a:t>
            </a:r>
          </a:p>
          <a:p>
            <a:r>
              <a:rPr lang="tr-TR" dirty="0"/>
              <a:t>Kenarlara ağırlık (</a:t>
            </a:r>
            <a:r>
              <a:rPr lang="tr-TR" dirty="0" err="1"/>
              <a:t>weight</a:t>
            </a:r>
            <a:r>
              <a:rPr lang="tr-TR" dirty="0"/>
              <a:t>) verilerek, önem derecesi ifade edilebilir.</a:t>
            </a:r>
          </a:p>
          <a:p>
            <a:r>
              <a:rPr lang="tr-TR" dirty="0"/>
              <a:t>Bir düğümün kendisine bir kenarla bağlanması sonucu oluşan döngülere izin verilebilir veya verilmez.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1661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Çizge Kullanım Alanları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Sosyal Ağ Analizi</a:t>
            </a:r>
            <a:r>
              <a:rPr lang="tr-TR" dirty="0"/>
              <a:t>: Sosyal medya platformlarındaki ilişkileri ve etkileşimleri modellemek ve analiz etmek için kullanılır.</a:t>
            </a:r>
          </a:p>
          <a:p>
            <a:r>
              <a:rPr lang="tr-TR" b="1" dirty="0"/>
              <a:t>Harita Yolculukları</a:t>
            </a:r>
            <a:r>
              <a:rPr lang="tr-TR" dirty="0"/>
              <a:t>: Navigasyon uygulamaları, haritaları çizge veri yapısıyla oluşturur. En kısa yol veya rota bulmak için çizge algoritmalarını kullanır.</a:t>
            </a:r>
          </a:p>
          <a:p>
            <a:r>
              <a:rPr lang="tr-TR" b="1" dirty="0"/>
              <a:t>Çevre Tasarımı</a:t>
            </a:r>
            <a:r>
              <a:rPr lang="tr-TR" dirty="0"/>
              <a:t>: Şehir planlaması ve çevresel tasarımda yolları, yeşil alanları ve su yollarını modellemek için kullanılır.</a:t>
            </a:r>
          </a:p>
          <a:p>
            <a:r>
              <a:rPr lang="tr-TR" dirty="0"/>
              <a:t>Birçok önemli algoritma, çizge veri yapısını temel alır. Örneğin, derinlik öncelikli arama (DFS) ve genişlik öncelikli arama (BFS) gibi.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9216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Türleri ve Veri Yapıları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Veri Türleri </a:t>
            </a:r>
            <a:r>
              <a:rPr lang="tr-TR" dirty="0"/>
              <a:t>(Data </a:t>
            </a:r>
            <a:r>
              <a:rPr lang="tr-TR" dirty="0" err="1"/>
              <a:t>Types</a:t>
            </a:r>
            <a:r>
              <a:rPr lang="tr-TR" dirty="0"/>
              <a:t>): </a:t>
            </a:r>
          </a:p>
          <a:p>
            <a:pPr lvl="1"/>
            <a:r>
              <a:rPr lang="tr-TR" dirty="0"/>
              <a:t>Listeler, yığınlar, kuyruklar, kümeler, eşlemeler, çizgeler..</a:t>
            </a:r>
          </a:p>
          <a:p>
            <a:pPr lvl="1"/>
            <a:r>
              <a:rPr lang="tr-TR" dirty="0"/>
              <a:t>Nesnelerin  davranışını belirler.</a:t>
            </a:r>
          </a:p>
          <a:p>
            <a:pPr lvl="1"/>
            <a:r>
              <a:rPr lang="tr-TR" dirty="0" err="1"/>
              <a:t>İmplementasyon</a:t>
            </a:r>
            <a:r>
              <a:rPr lang="tr-TR" dirty="0"/>
              <a:t> detaylarına odaklanmaz.</a:t>
            </a:r>
          </a:p>
          <a:p>
            <a:r>
              <a:rPr lang="tr-TR" b="1" dirty="0"/>
              <a:t>Veri Yapıları </a:t>
            </a:r>
            <a:r>
              <a:rPr lang="tr-TR" dirty="0"/>
              <a:t>(Data </a:t>
            </a:r>
            <a:r>
              <a:rPr lang="tr-TR" dirty="0" err="1"/>
              <a:t>Structures</a:t>
            </a:r>
            <a:r>
              <a:rPr lang="tr-TR" dirty="0"/>
              <a:t>):</a:t>
            </a:r>
          </a:p>
          <a:p>
            <a:pPr lvl="1"/>
            <a:r>
              <a:rPr lang="tr-TR" dirty="0"/>
              <a:t>Tek yönlü zincirler, çift yönlü zincirler, diziler, komşuluk matrisleri..</a:t>
            </a:r>
          </a:p>
          <a:p>
            <a:pPr lvl="1"/>
            <a:r>
              <a:rPr lang="tr-TR" dirty="0"/>
              <a:t>Veri yapıları, veri türlerini uygulayan fiziksel varlıkları temsil eder.</a:t>
            </a:r>
          </a:p>
          <a:p>
            <a:pPr lvl="1"/>
            <a:r>
              <a:rPr lang="tr-TR" dirty="0"/>
              <a:t>Nesnelerin düzenlenme veya depolanma şeklini belirler.</a:t>
            </a:r>
          </a:p>
          <a:p>
            <a:pPr lvl="1"/>
            <a:r>
              <a:rPr lang="tr-TR" dirty="0"/>
              <a:t>Bellek ve performans detaylarına odaklanır.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9012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Problemler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5535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4251</TotalTime>
  <Words>3793</Words>
  <Application>Microsoft Office PowerPoint</Application>
  <PresentationFormat>Widescreen</PresentationFormat>
  <Paragraphs>583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Calibri</vt:lpstr>
      <vt:lpstr>Calibri Light</vt:lpstr>
      <vt:lpstr>Wingdings</vt:lpstr>
      <vt:lpstr>Office Theme</vt:lpstr>
      <vt:lpstr>Bölüm 1: Giriş</vt:lpstr>
      <vt:lpstr>Dijital Veri (Digital Data)</vt:lpstr>
      <vt:lpstr>Dijital Verinin Özellikleri</vt:lpstr>
      <vt:lpstr>Dijital Verinin Temsil Biçimleri</vt:lpstr>
      <vt:lpstr>Dijital Veri Türleri</vt:lpstr>
      <vt:lpstr>Veri Yapıları ve Algoritmalar</vt:lpstr>
      <vt:lpstr>Veri Yapıları</vt:lpstr>
      <vt:lpstr>Veri Yapıları</vt:lpstr>
      <vt:lpstr>Temel Yapı Taşları</vt:lpstr>
      <vt:lpstr>Temel Yapı Taşları</vt:lpstr>
      <vt:lpstr>Temel Yapı Taşları</vt:lpstr>
      <vt:lpstr>İlkel (Primitive) Veri Tipleri</vt:lpstr>
      <vt:lpstr>Veri Tipleri</vt:lpstr>
      <vt:lpstr>İlkel Olmayan (Non-Primitive) Veri Yapıları</vt:lpstr>
      <vt:lpstr>Farklı Veri Yapıları</vt:lpstr>
      <vt:lpstr>Verilerin Düzenlenmesi</vt:lpstr>
      <vt:lpstr>Veri Yapısı Seçimi</vt:lpstr>
      <vt:lpstr>Algoritmalar</vt:lpstr>
      <vt:lpstr>Farklı Algoritmalar</vt:lpstr>
      <vt:lpstr>İyi Bir Algoritma</vt:lpstr>
      <vt:lpstr>Zaman Karmaşıklığı</vt:lpstr>
      <vt:lpstr>Büyük O (Big O) Gösterimi</vt:lpstr>
      <vt:lpstr>Büyük (O) Gösterimi Örnekleri:</vt:lpstr>
      <vt:lpstr>Büyük (O) Gösterimi Örnekleri:</vt:lpstr>
      <vt:lpstr>Büyük (O) Gösterimi Örnekleri:</vt:lpstr>
      <vt:lpstr>Alan Karmaşıklığı</vt:lpstr>
      <vt:lpstr>Büyük O Gösterimi Örnekleri</vt:lpstr>
      <vt:lpstr>Doğruluk</vt:lpstr>
      <vt:lpstr>Doğruluğun Ölçülmesi</vt:lpstr>
      <vt:lpstr>Sağlamlık</vt:lpstr>
      <vt:lpstr>Sağlamlığın Ölçülmesi</vt:lpstr>
      <vt:lpstr>Diziler (Arrays)</vt:lpstr>
      <vt:lpstr>Diziler (Arrays)</vt:lpstr>
      <vt:lpstr>Diziler (Arrays)</vt:lpstr>
      <vt:lpstr>Bağlı Listeler (Linked Lists)</vt:lpstr>
      <vt:lpstr>Bağlı Listeler (Linked Lists)</vt:lpstr>
      <vt:lpstr>Bağlı Listeler (Linked Lists)</vt:lpstr>
      <vt:lpstr>Yığınlar (Stacks)</vt:lpstr>
      <vt:lpstr>Yığınlar (Stacks)</vt:lpstr>
      <vt:lpstr>Yığınların Kullanım Alanları</vt:lpstr>
      <vt:lpstr>Kuyruklar (Queues)</vt:lpstr>
      <vt:lpstr>Kuyruklar (Queues)</vt:lpstr>
      <vt:lpstr>Kuyrukların Kullanım Alanları</vt:lpstr>
      <vt:lpstr>Ağaçlar (Trees)</vt:lpstr>
      <vt:lpstr>Ağaçlar (Trees)</vt:lpstr>
      <vt:lpstr>Ağaçların Kullanım Alanları</vt:lpstr>
      <vt:lpstr>Eşleme Veri Yapısı (Maps)</vt:lpstr>
      <vt:lpstr>Eşleme Veri Yapısı (Maps)</vt:lpstr>
      <vt:lpstr>Harita Kullanım Alanları</vt:lpstr>
      <vt:lpstr>Küme Veri Yapısı (Sets)</vt:lpstr>
      <vt:lpstr>Küme Veri Yapısı (Sets)</vt:lpstr>
      <vt:lpstr>Çizge Veri Yapısı (Graphs)</vt:lpstr>
      <vt:lpstr>Çizge Veri Yapısı (Graphs)</vt:lpstr>
      <vt:lpstr>Çizge Veri Yapısının Özellikleri</vt:lpstr>
      <vt:lpstr>Çizge Kullanım Alanları</vt:lpstr>
      <vt:lpstr>Veri Türleri ve Veri Yapıları</vt:lpstr>
      <vt:lpstr>Örnek Problemler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Giriş</dc:title>
  <dc:creator>sercan</dc:creator>
  <cp:lastModifiedBy>sercankulcu@gmail.com</cp:lastModifiedBy>
  <cp:revision>398</cp:revision>
  <dcterms:created xsi:type="dcterms:W3CDTF">2023-01-12T09:23:55Z</dcterms:created>
  <dcterms:modified xsi:type="dcterms:W3CDTF">2024-09-23T08:27:29Z</dcterms:modified>
</cp:coreProperties>
</file>