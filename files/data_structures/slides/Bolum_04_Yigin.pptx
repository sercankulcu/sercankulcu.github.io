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92"/>
  </p:notesMasterIdLst>
  <p:sldIdLst>
    <p:sldId id="256" r:id="rId2"/>
    <p:sldId id="314" r:id="rId3"/>
    <p:sldId id="31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21" r:id="rId21"/>
    <p:sldId id="322" r:id="rId22"/>
    <p:sldId id="323" r:id="rId23"/>
    <p:sldId id="324" r:id="rId24"/>
    <p:sldId id="328" r:id="rId25"/>
    <p:sldId id="325" r:id="rId26"/>
    <p:sldId id="326" r:id="rId27"/>
    <p:sldId id="327" r:id="rId28"/>
    <p:sldId id="317" r:id="rId29"/>
    <p:sldId id="329" r:id="rId30"/>
    <p:sldId id="319" r:id="rId31"/>
    <p:sldId id="320" r:id="rId32"/>
    <p:sldId id="335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1" r:id="rId52"/>
    <p:sldId id="372" r:id="rId53"/>
    <p:sldId id="373" r:id="rId54"/>
    <p:sldId id="374" r:id="rId55"/>
    <p:sldId id="375" r:id="rId56"/>
    <p:sldId id="376" r:id="rId57"/>
    <p:sldId id="377" r:id="rId58"/>
    <p:sldId id="378" r:id="rId59"/>
    <p:sldId id="379" r:id="rId60"/>
    <p:sldId id="380" r:id="rId61"/>
    <p:sldId id="381" r:id="rId62"/>
    <p:sldId id="382" r:id="rId63"/>
    <p:sldId id="383" r:id="rId64"/>
    <p:sldId id="384" r:id="rId65"/>
    <p:sldId id="385" r:id="rId66"/>
    <p:sldId id="386" r:id="rId67"/>
    <p:sldId id="387" r:id="rId68"/>
    <p:sldId id="388" r:id="rId69"/>
    <p:sldId id="389" r:id="rId70"/>
    <p:sldId id="390" r:id="rId71"/>
    <p:sldId id="391" r:id="rId72"/>
    <p:sldId id="392" r:id="rId73"/>
    <p:sldId id="393" r:id="rId74"/>
    <p:sldId id="394" r:id="rId75"/>
    <p:sldId id="395" r:id="rId76"/>
    <p:sldId id="396" r:id="rId77"/>
    <p:sldId id="397" r:id="rId78"/>
    <p:sldId id="398" r:id="rId79"/>
    <p:sldId id="399" r:id="rId80"/>
    <p:sldId id="400" r:id="rId81"/>
    <p:sldId id="401" r:id="rId82"/>
    <p:sldId id="402" r:id="rId83"/>
    <p:sldId id="403" r:id="rId84"/>
    <p:sldId id="404" r:id="rId85"/>
    <p:sldId id="405" r:id="rId86"/>
    <p:sldId id="406" r:id="rId87"/>
    <p:sldId id="407" r:id="rId88"/>
    <p:sldId id="408" r:id="rId89"/>
    <p:sldId id="409" r:id="rId90"/>
    <p:sldId id="410" r:id="rId91"/>
    <p:sldId id="411" r:id="rId92"/>
    <p:sldId id="332" r:id="rId93"/>
    <p:sldId id="412" r:id="rId94"/>
    <p:sldId id="413" r:id="rId95"/>
    <p:sldId id="414" r:id="rId96"/>
    <p:sldId id="415" r:id="rId97"/>
    <p:sldId id="416" r:id="rId98"/>
    <p:sldId id="417" r:id="rId99"/>
    <p:sldId id="418" r:id="rId100"/>
    <p:sldId id="419" r:id="rId101"/>
    <p:sldId id="420" r:id="rId102"/>
    <p:sldId id="421" r:id="rId103"/>
    <p:sldId id="422" r:id="rId104"/>
    <p:sldId id="423" r:id="rId105"/>
    <p:sldId id="424" r:id="rId106"/>
    <p:sldId id="425" r:id="rId107"/>
    <p:sldId id="426" r:id="rId108"/>
    <p:sldId id="427" r:id="rId109"/>
    <p:sldId id="428" r:id="rId110"/>
    <p:sldId id="429" r:id="rId111"/>
    <p:sldId id="430" r:id="rId112"/>
    <p:sldId id="431" r:id="rId113"/>
    <p:sldId id="432" r:id="rId114"/>
    <p:sldId id="433" r:id="rId115"/>
    <p:sldId id="434" r:id="rId116"/>
    <p:sldId id="435" r:id="rId117"/>
    <p:sldId id="436" r:id="rId118"/>
    <p:sldId id="437" r:id="rId119"/>
    <p:sldId id="438" r:id="rId120"/>
    <p:sldId id="439" r:id="rId121"/>
    <p:sldId id="440" r:id="rId122"/>
    <p:sldId id="441" r:id="rId123"/>
    <p:sldId id="442" r:id="rId124"/>
    <p:sldId id="443" r:id="rId125"/>
    <p:sldId id="444" r:id="rId126"/>
    <p:sldId id="445" r:id="rId127"/>
    <p:sldId id="446" r:id="rId128"/>
    <p:sldId id="447" r:id="rId129"/>
    <p:sldId id="448" r:id="rId130"/>
    <p:sldId id="449" r:id="rId131"/>
    <p:sldId id="450" r:id="rId132"/>
    <p:sldId id="451" r:id="rId133"/>
    <p:sldId id="452" r:id="rId134"/>
    <p:sldId id="453" r:id="rId135"/>
    <p:sldId id="454" r:id="rId136"/>
    <p:sldId id="455" r:id="rId137"/>
    <p:sldId id="456" r:id="rId138"/>
    <p:sldId id="457" r:id="rId139"/>
    <p:sldId id="458" r:id="rId140"/>
    <p:sldId id="459" r:id="rId141"/>
    <p:sldId id="460" r:id="rId142"/>
    <p:sldId id="461" r:id="rId143"/>
    <p:sldId id="462" r:id="rId144"/>
    <p:sldId id="463" r:id="rId145"/>
    <p:sldId id="507" r:id="rId146"/>
    <p:sldId id="509" r:id="rId147"/>
    <p:sldId id="510" r:id="rId148"/>
    <p:sldId id="511" r:id="rId149"/>
    <p:sldId id="508" r:id="rId150"/>
    <p:sldId id="334" r:id="rId151"/>
    <p:sldId id="469" r:id="rId152"/>
    <p:sldId id="464" r:id="rId153"/>
    <p:sldId id="465" r:id="rId154"/>
    <p:sldId id="472" r:id="rId155"/>
    <p:sldId id="473" r:id="rId156"/>
    <p:sldId id="474" r:id="rId157"/>
    <p:sldId id="475" r:id="rId158"/>
    <p:sldId id="476" r:id="rId159"/>
    <p:sldId id="477" r:id="rId160"/>
    <p:sldId id="478" r:id="rId161"/>
    <p:sldId id="479" r:id="rId162"/>
    <p:sldId id="480" r:id="rId163"/>
    <p:sldId id="481" r:id="rId164"/>
    <p:sldId id="482" r:id="rId165"/>
    <p:sldId id="506" r:id="rId166"/>
    <p:sldId id="467" r:id="rId167"/>
    <p:sldId id="485" r:id="rId168"/>
    <p:sldId id="486" r:id="rId169"/>
    <p:sldId id="487" r:id="rId170"/>
    <p:sldId id="488" r:id="rId171"/>
    <p:sldId id="489" r:id="rId172"/>
    <p:sldId id="490" r:id="rId173"/>
    <p:sldId id="491" r:id="rId174"/>
    <p:sldId id="492" r:id="rId175"/>
    <p:sldId id="493" r:id="rId176"/>
    <p:sldId id="494" r:id="rId177"/>
    <p:sldId id="505" r:id="rId178"/>
    <p:sldId id="484" r:id="rId179"/>
    <p:sldId id="483" r:id="rId180"/>
    <p:sldId id="495" r:id="rId181"/>
    <p:sldId id="496" r:id="rId182"/>
    <p:sldId id="497" r:id="rId183"/>
    <p:sldId id="498" r:id="rId184"/>
    <p:sldId id="499" r:id="rId185"/>
    <p:sldId id="500" r:id="rId186"/>
    <p:sldId id="501" r:id="rId187"/>
    <p:sldId id="502" r:id="rId188"/>
    <p:sldId id="503" r:id="rId189"/>
    <p:sldId id="504" r:id="rId190"/>
    <p:sldId id="312" r:id="rId1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96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slide" Target="slides/slide185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93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heme" Target="theme/theme1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20.12.2023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Bölüm 4: Yığın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Veri Yapıları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Yığın (</a:t>
            </a:r>
            <a:r>
              <a:rPr lang="tr-TR" dirty="0" err="1" smtClean="0"/>
              <a:t>Stack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Yeni bir öğenin eklenmesi veya </a:t>
            </a:r>
            <a:r>
              <a:rPr lang="tr-TR" dirty="0"/>
              <a:t>mevcut </a:t>
            </a:r>
            <a:r>
              <a:rPr lang="tr-TR" dirty="0" smtClean="0"/>
              <a:t>öğenin çıkarılması yığının </a:t>
            </a:r>
            <a:r>
              <a:rPr lang="tr-TR" dirty="0"/>
              <a:t>en üstünden (top) </a:t>
            </a:r>
            <a:r>
              <a:rPr lang="tr-TR" dirty="0" smtClean="0"/>
              <a:t>gerçekleşir.</a:t>
            </a:r>
            <a:endParaRPr lang="tr-TR" dirty="0"/>
          </a:p>
          <a:p>
            <a:r>
              <a:rPr lang="tr-TR" dirty="0" smtClean="0"/>
              <a:t>Üst </a:t>
            </a:r>
            <a:r>
              <a:rPr lang="tr-TR" dirty="0"/>
              <a:t>üste konulmuş kutular veya tabaklar gibi </a:t>
            </a:r>
            <a:r>
              <a:rPr lang="tr-TR" dirty="0" smtClean="0"/>
              <a:t>düşünülebilir.</a:t>
            </a:r>
          </a:p>
          <a:p>
            <a:r>
              <a:rPr lang="tr-TR" dirty="0" smtClean="0"/>
              <a:t>En alttaki öğeye ulaşmak </a:t>
            </a:r>
            <a:r>
              <a:rPr lang="tr-TR" dirty="0"/>
              <a:t>için yığının üzerindeki </a:t>
            </a:r>
            <a:r>
              <a:rPr lang="tr-TR" dirty="0" smtClean="0"/>
              <a:t>öğeler </a:t>
            </a:r>
            <a:r>
              <a:rPr lang="tr-TR" dirty="0"/>
              <a:t>tek tek </a:t>
            </a:r>
            <a:r>
              <a:rPr lang="tr-TR" dirty="0" smtClean="0"/>
              <a:t>çıkarılır.</a:t>
            </a:r>
          </a:p>
          <a:p>
            <a:r>
              <a:rPr lang="tr-TR" dirty="0" smtClean="0"/>
              <a:t>LIFO </a:t>
            </a:r>
            <a:r>
              <a:rPr lang="tr-TR" dirty="0"/>
              <a:t>(Son Giren İlk Çıkar) </a:t>
            </a:r>
            <a:r>
              <a:rPr lang="tr-TR" dirty="0" smtClean="0"/>
              <a:t>veya FILO </a:t>
            </a:r>
            <a:r>
              <a:rPr lang="tr-TR" dirty="0"/>
              <a:t>(İlk Giren Son Çıkar) </a:t>
            </a:r>
            <a:r>
              <a:rPr lang="tr-TR" dirty="0" smtClean="0"/>
              <a:t>mantığıyla çalışır.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 descr="https://cs.lmu.edu/~ray/images/stack-of-plat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92" y="3997982"/>
            <a:ext cx="2977208" cy="198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26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</a:t>
            </a:r>
            <a:r>
              <a:rPr lang="tr-TR" dirty="0" smtClean="0"/>
              <a:t>İşlemler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p</a:t>
            </a:r>
            <a:r>
              <a:rPr lang="tr-TR" dirty="0" err="1" smtClean="0"/>
              <a:t>ush</a:t>
            </a:r>
            <a:r>
              <a:rPr lang="tr-TR" dirty="0" smtClean="0"/>
              <a:t>(): Yığının üstüne </a:t>
            </a:r>
            <a:r>
              <a:rPr lang="tr-TR" dirty="0"/>
              <a:t>yeni bir öğe </a:t>
            </a:r>
            <a:r>
              <a:rPr lang="tr-TR" dirty="0" smtClean="0"/>
              <a:t>ekler</a:t>
            </a:r>
            <a:r>
              <a:rPr lang="tr-TR" dirty="0"/>
              <a:t>.</a:t>
            </a:r>
          </a:p>
          <a:p>
            <a:r>
              <a:rPr lang="tr-TR" dirty="0"/>
              <a:t>p</a:t>
            </a:r>
            <a:r>
              <a:rPr lang="tr-TR" dirty="0" smtClean="0"/>
              <a:t>op(): Yığının üstündeki öğeyi çıkarır.</a:t>
            </a:r>
          </a:p>
          <a:p>
            <a:r>
              <a:rPr lang="tr-TR" dirty="0"/>
              <a:t>top</a:t>
            </a:r>
            <a:r>
              <a:rPr lang="tr-TR" dirty="0" smtClean="0"/>
              <a:t>(): </a:t>
            </a:r>
            <a:r>
              <a:rPr lang="tr-TR" dirty="0"/>
              <a:t>Yığının </a:t>
            </a:r>
            <a:r>
              <a:rPr lang="tr-TR" dirty="0" smtClean="0"/>
              <a:t>üstündeki </a:t>
            </a:r>
            <a:r>
              <a:rPr lang="tr-TR" dirty="0"/>
              <a:t>öğeyi </a:t>
            </a:r>
            <a:r>
              <a:rPr lang="tr-TR" dirty="0" smtClean="0"/>
              <a:t>döndürür.</a:t>
            </a:r>
          </a:p>
          <a:p>
            <a:r>
              <a:rPr lang="tr-TR" dirty="0" err="1"/>
              <a:t>isEmpty</a:t>
            </a:r>
            <a:r>
              <a:rPr lang="tr-TR" dirty="0" smtClean="0"/>
              <a:t>(): </a:t>
            </a:r>
            <a:r>
              <a:rPr lang="tr-TR" dirty="0"/>
              <a:t>Yığının boş olup olmadığını kontrol </a:t>
            </a:r>
            <a:r>
              <a:rPr lang="tr-TR" dirty="0" smtClean="0"/>
              <a:t>eder.</a:t>
            </a:r>
          </a:p>
          <a:p>
            <a:r>
              <a:rPr lang="tr-TR" dirty="0"/>
              <a:t>size</a:t>
            </a:r>
            <a:r>
              <a:rPr lang="tr-TR" dirty="0" smtClean="0"/>
              <a:t>(): </a:t>
            </a:r>
            <a:r>
              <a:rPr lang="tr-TR" dirty="0"/>
              <a:t>Yığının boyutunu </a:t>
            </a:r>
            <a:r>
              <a:rPr lang="tr-TR" dirty="0" smtClean="0"/>
              <a:t>döndürür.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412" y="3460750"/>
            <a:ext cx="3048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7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 11"/>
          <p:cNvGrpSpPr/>
          <p:nvPr/>
        </p:nvGrpSpPr>
        <p:grpSpPr>
          <a:xfrm>
            <a:off x="885662" y="4999214"/>
            <a:ext cx="1782637" cy="430887"/>
            <a:chOff x="684882" y="4798618"/>
            <a:chExt cx="1782637" cy="430887"/>
          </a:xfrm>
        </p:grpSpPr>
        <p:sp>
          <p:nvSpPr>
            <p:cNvPr id="13" name="Metin kutusu 12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Metin kutusu 14"/>
            <p:cNvSpPr txBox="1"/>
            <p:nvPr/>
          </p:nvSpPr>
          <p:spPr>
            <a:xfrm>
              <a:off x="684882" y="4798618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grpSp>
        <p:nvGrpSpPr>
          <p:cNvPr id="16" name="Grup 15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7" name="Dikdörtgen 1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Gösterim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229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 5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54" name="Dikdörtgen 53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5" name="Dikdörtgen 54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60" name="Metin kutusu 59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16" name="Metin kutusu 15"/>
          <p:cNvSpPr txBox="1"/>
          <p:nvPr/>
        </p:nvSpPr>
        <p:spPr>
          <a:xfrm>
            <a:off x="890631" y="890670"/>
            <a:ext cx="2034531" cy="1143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Ekleme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push(10)</a:t>
            </a:r>
            <a:endParaRPr lang="tr-TR" sz="2400" dirty="0"/>
          </a:p>
        </p:txBody>
      </p:sp>
      <p:sp>
        <p:nvSpPr>
          <p:cNvPr id="17" name="Dikdörtgen 16"/>
          <p:cNvSpPr/>
          <p:nvPr/>
        </p:nvSpPr>
        <p:spPr>
          <a:xfrm>
            <a:off x="3654827" y="161347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5" name="Dirsek Bağlayıcısı 4"/>
          <p:cNvCxnSpPr/>
          <p:nvPr/>
        </p:nvCxnSpPr>
        <p:spPr>
          <a:xfrm>
            <a:off x="4517952" y="1815253"/>
            <a:ext cx="1578047" cy="53757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885662" y="4999214"/>
            <a:ext cx="1782637" cy="430887"/>
            <a:chOff x="684882" y="4798618"/>
            <a:chExt cx="1782637" cy="430887"/>
          </a:xfrm>
        </p:grpSpPr>
        <p:sp>
          <p:nvSpPr>
            <p:cNvPr id="23" name="Metin kutusu 22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4" name="Düz Ok Bağlayıcısı 23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Metin kutusu 24"/>
            <p:cNvSpPr txBox="1"/>
            <p:nvPr/>
          </p:nvSpPr>
          <p:spPr>
            <a:xfrm>
              <a:off x="684882" y="4798618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499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4997720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890631" y="890670"/>
            <a:ext cx="2034531" cy="1143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Ekleme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push(10)</a:t>
            </a:r>
            <a:endParaRPr lang="tr-TR" sz="2400" dirty="0"/>
          </a:p>
        </p:txBody>
      </p: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22" name="Dikdörtgen 2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745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 5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54" name="Dikdörtgen 53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5" name="Dikdörtgen 54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60" name="Metin kutusu 59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16" name="Metin kutusu 15"/>
          <p:cNvSpPr txBox="1"/>
          <p:nvPr/>
        </p:nvSpPr>
        <p:spPr>
          <a:xfrm>
            <a:off x="890631" y="890670"/>
            <a:ext cx="20345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Ekleme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push(15)</a:t>
            </a:r>
            <a:endParaRPr lang="tr-TR" sz="2400" dirty="0"/>
          </a:p>
        </p:txBody>
      </p:sp>
      <p:sp>
        <p:nvSpPr>
          <p:cNvPr id="17" name="Dikdörtgen 16"/>
          <p:cNvSpPr/>
          <p:nvPr/>
        </p:nvSpPr>
        <p:spPr>
          <a:xfrm>
            <a:off x="3654827" y="161347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5" name="Dirsek Bağlayıcısı 4"/>
          <p:cNvCxnSpPr/>
          <p:nvPr/>
        </p:nvCxnSpPr>
        <p:spPr>
          <a:xfrm>
            <a:off x="4517952" y="1815253"/>
            <a:ext cx="1578047" cy="53757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 13"/>
          <p:cNvGrpSpPr/>
          <p:nvPr/>
        </p:nvGrpSpPr>
        <p:grpSpPr>
          <a:xfrm>
            <a:off x="4267783" y="4997720"/>
            <a:ext cx="1153228" cy="430887"/>
            <a:chOff x="885662" y="4685312"/>
            <a:chExt cx="1153228" cy="430887"/>
          </a:xfrm>
        </p:grpSpPr>
        <p:cxnSp>
          <p:nvCxnSpPr>
            <p:cNvPr id="15" name="Düz Ok Bağlayıcısı 14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Metin kutusu 17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9" name="Dikdörtgen 18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540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4451806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890631" y="890670"/>
            <a:ext cx="20345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Ekleme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push(15)</a:t>
            </a:r>
            <a:endParaRPr lang="tr-TR" sz="2400" dirty="0"/>
          </a:p>
        </p:txBody>
      </p: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22" name="Dikdörtgen 2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690988" y="4504811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022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 5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54" name="Dikdörtgen 53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5" name="Dikdörtgen 54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60" name="Metin kutusu 59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16" name="Metin kutusu 15"/>
          <p:cNvSpPr txBox="1"/>
          <p:nvPr/>
        </p:nvSpPr>
        <p:spPr>
          <a:xfrm>
            <a:off x="890631" y="890670"/>
            <a:ext cx="20345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Ekleme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push(20)</a:t>
            </a:r>
            <a:endParaRPr lang="tr-TR" sz="2400" dirty="0"/>
          </a:p>
        </p:txBody>
      </p:sp>
      <p:sp>
        <p:nvSpPr>
          <p:cNvPr id="17" name="Dikdörtgen 16"/>
          <p:cNvSpPr/>
          <p:nvPr/>
        </p:nvSpPr>
        <p:spPr>
          <a:xfrm>
            <a:off x="3654827" y="161347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5" name="Dirsek Bağlayıcısı 4"/>
          <p:cNvCxnSpPr/>
          <p:nvPr/>
        </p:nvCxnSpPr>
        <p:spPr>
          <a:xfrm>
            <a:off x="4517952" y="1815253"/>
            <a:ext cx="1578047" cy="53757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kdörtgen 18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0" name="Grup 19"/>
          <p:cNvGrpSpPr/>
          <p:nvPr/>
        </p:nvGrpSpPr>
        <p:grpSpPr>
          <a:xfrm>
            <a:off x="4267783" y="4451806"/>
            <a:ext cx="1153228" cy="430887"/>
            <a:chOff x="885662" y="4685312"/>
            <a:chExt cx="1153228" cy="430887"/>
          </a:xfrm>
        </p:grpSpPr>
        <p:cxnSp>
          <p:nvCxnSpPr>
            <p:cNvPr id="21" name="Düz Ok Bağlayıcısı 20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Metin kutusu 21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23" name="Dikdörtgen 22"/>
          <p:cNvSpPr/>
          <p:nvPr/>
        </p:nvSpPr>
        <p:spPr>
          <a:xfrm>
            <a:off x="5690988" y="4504811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844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3946835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890631" y="890670"/>
            <a:ext cx="20345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Ekleme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push(20)</a:t>
            </a:r>
            <a:endParaRPr lang="tr-TR" sz="2400" dirty="0"/>
          </a:p>
        </p:txBody>
      </p: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22" name="Dikdörtgen 2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690988" y="4504811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690988" y="3986955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237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3946835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890631" y="890670"/>
            <a:ext cx="1802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Silme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pop()</a:t>
            </a:r>
            <a:endParaRPr lang="tr-TR" sz="2400" dirty="0"/>
          </a:p>
        </p:txBody>
      </p: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22" name="Dikdörtgen 2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690988" y="4504811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690988" y="3986955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20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557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3946835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890631" y="890670"/>
            <a:ext cx="1802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Silme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pop()</a:t>
            </a:r>
            <a:endParaRPr lang="tr-TR" sz="2400" dirty="0"/>
          </a:p>
        </p:txBody>
      </p: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22" name="Dikdörtgen 2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690988" y="4504811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955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4451805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22" name="Dikdörtgen 2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690988" y="4504811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650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4451805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22" name="Dikdörtgen 2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690988" y="4504811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890631" y="890670"/>
            <a:ext cx="1802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Silme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pop()</a:t>
            </a:r>
            <a:endParaRPr lang="tr-TR" sz="2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601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4451805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22" name="Dikdörtgen 2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890631" y="890670"/>
            <a:ext cx="1802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Silme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pop()</a:t>
            </a:r>
            <a:endParaRPr lang="tr-TR" sz="2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961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4970422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22" name="Dikdörtgen 2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008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4970422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11" name="Metin kutusu 10"/>
          <p:cNvSpPr txBox="1"/>
          <p:nvPr/>
        </p:nvSpPr>
        <p:spPr>
          <a:xfrm>
            <a:off x="890631" y="890670"/>
            <a:ext cx="1802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Silme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pop()</a:t>
            </a:r>
            <a:endParaRPr lang="tr-TR" sz="2400" dirty="0"/>
          </a:p>
        </p:txBody>
      </p:sp>
      <p:sp>
        <p:nvSpPr>
          <p:cNvPr id="12" name="Dikdörtgen 11"/>
          <p:cNvSpPr/>
          <p:nvPr/>
        </p:nvSpPr>
        <p:spPr>
          <a:xfrm>
            <a:off x="5690988" y="502266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771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4267783" y="4970422"/>
            <a:ext cx="1153228" cy="430887"/>
            <a:chOff x="885662" y="4685312"/>
            <a:chExt cx="1153228" cy="430887"/>
          </a:xfrm>
        </p:grpSpPr>
        <p:cxnSp>
          <p:nvCxnSpPr>
            <p:cNvPr id="13" name="Düz Ok Bağlayıcısı 12"/>
            <p:cNvCxnSpPr/>
            <p:nvPr/>
          </p:nvCxnSpPr>
          <p:spPr>
            <a:xfrm>
              <a:off x="1498890" y="494125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etin kutusu 13"/>
            <p:cNvSpPr txBox="1"/>
            <p:nvPr/>
          </p:nvSpPr>
          <p:spPr>
            <a:xfrm>
              <a:off x="885662" y="4685312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sp>
        <p:nvSpPr>
          <p:cNvPr id="11" name="Metin kutusu 10"/>
          <p:cNvSpPr txBox="1"/>
          <p:nvPr/>
        </p:nvSpPr>
        <p:spPr>
          <a:xfrm>
            <a:off x="890631" y="890670"/>
            <a:ext cx="1802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Silme İşlemi:</a:t>
            </a:r>
          </a:p>
          <a:p>
            <a:pPr>
              <a:lnSpc>
                <a:spcPct val="150000"/>
              </a:lnSpc>
            </a:pPr>
            <a:r>
              <a:rPr lang="tr-TR" sz="2400" dirty="0" smtClean="0"/>
              <a:t>pop()</a:t>
            </a:r>
            <a:endParaRPr lang="tr-TR" sz="2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656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 17"/>
          <p:cNvGrpSpPr/>
          <p:nvPr/>
        </p:nvGrpSpPr>
        <p:grpSpPr>
          <a:xfrm>
            <a:off x="5538000" y="2327423"/>
            <a:ext cx="1116000" cy="3213100"/>
            <a:chOff x="5227100" y="2413000"/>
            <a:chExt cx="1116000" cy="3213100"/>
          </a:xfrm>
        </p:grpSpPr>
        <p:sp>
          <p:nvSpPr>
            <p:cNvPr id="19" name="Dikdörtgen 1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21" name="Metin kutusu 20"/>
          <p:cNvSpPr txBox="1"/>
          <p:nvPr/>
        </p:nvSpPr>
        <p:spPr>
          <a:xfrm>
            <a:off x="5741416" y="5620515"/>
            <a:ext cx="70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Yığıt</a:t>
            </a:r>
            <a:endParaRPr lang="tr-TR" sz="2400" dirty="0"/>
          </a:p>
        </p:txBody>
      </p:sp>
      <p:grpSp>
        <p:nvGrpSpPr>
          <p:cNvPr id="12" name="Grup 11"/>
          <p:cNvGrpSpPr/>
          <p:nvPr/>
        </p:nvGrpSpPr>
        <p:grpSpPr>
          <a:xfrm>
            <a:off x="885662" y="4999214"/>
            <a:ext cx="1782637" cy="430887"/>
            <a:chOff x="684882" y="4798618"/>
            <a:chExt cx="1782637" cy="430887"/>
          </a:xfrm>
        </p:grpSpPr>
        <p:sp>
          <p:nvSpPr>
            <p:cNvPr id="15" name="Metin kutusu 14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6" name="Düz Ok Bağlayıcısı 15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etin kutusu 16"/>
            <p:cNvSpPr txBox="1"/>
            <p:nvPr/>
          </p:nvSpPr>
          <p:spPr>
            <a:xfrm>
              <a:off x="684882" y="4798618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113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Push</a:t>
            </a:r>
            <a:r>
              <a:rPr lang="tr-TR" dirty="0"/>
              <a:t> </a:t>
            </a:r>
            <a:r>
              <a:rPr lang="tr-TR" dirty="0" smtClean="0"/>
              <a:t>İşlemi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Yığına </a:t>
            </a:r>
            <a:r>
              <a:rPr lang="tr-TR" dirty="0"/>
              <a:t>bir öğe </a:t>
            </a:r>
            <a:r>
              <a:rPr lang="tr-TR" dirty="0" smtClean="0"/>
              <a:t>ekler. </a:t>
            </a:r>
          </a:p>
          <a:p>
            <a:r>
              <a:rPr lang="tr-TR" dirty="0" smtClean="0"/>
              <a:t>Yığın </a:t>
            </a:r>
            <a:r>
              <a:rPr lang="tr-TR" dirty="0"/>
              <a:t>dolu ise, </a:t>
            </a:r>
            <a:r>
              <a:rPr lang="tr-TR" dirty="0" smtClean="0"/>
              <a:t>«Üst Taşma» </a:t>
            </a:r>
            <a:r>
              <a:rPr lang="tr-TR" dirty="0"/>
              <a:t>(</a:t>
            </a:r>
            <a:r>
              <a:rPr lang="tr-TR" dirty="0" err="1"/>
              <a:t>Overflow</a:t>
            </a:r>
            <a:r>
              <a:rPr lang="tr-TR" dirty="0"/>
              <a:t>) </a:t>
            </a:r>
            <a:r>
              <a:rPr lang="tr-TR" dirty="0" smtClean="0"/>
              <a:t>hatası verir.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başla</a:t>
            </a:r>
          </a:p>
          <a:p>
            <a:pPr marL="0" indent="0">
              <a:buNone/>
            </a:pPr>
            <a:r>
              <a:rPr lang="tr-TR" dirty="0" smtClean="0"/>
              <a:t>  eğer yığın doluysa</a:t>
            </a:r>
          </a:p>
          <a:p>
            <a:pPr marL="0" indent="0">
              <a:buNone/>
            </a:pPr>
            <a:r>
              <a:rPr lang="tr-TR" dirty="0" smtClean="0"/>
              <a:t>    hata ver</a:t>
            </a:r>
          </a:p>
          <a:p>
            <a:pPr marL="0" indent="0">
              <a:buNone/>
            </a:pPr>
            <a:r>
              <a:rPr lang="tr-TR" dirty="0" smtClean="0"/>
              <a:t>  değilse</a:t>
            </a:r>
          </a:p>
          <a:p>
            <a:pPr marL="0" indent="0">
              <a:buNone/>
            </a:pPr>
            <a:r>
              <a:rPr lang="tr-TR" dirty="0" smtClean="0"/>
              <a:t>    top değerini artır</a:t>
            </a:r>
          </a:p>
          <a:p>
            <a:pPr marL="0" indent="0">
              <a:buNone/>
            </a:pPr>
            <a:r>
              <a:rPr lang="tr-TR" dirty="0" smtClean="0"/>
              <a:t>    yığın[top]’a değer ata</a:t>
            </a:r>
          </a:p>
          <a:p>
            <a:pPr marL="0" indent="0">
              <a:buNone/>
            </a:pPr>
            <a:r>
              <a:rPr lang="tr-TR" dirty="0" smtClean="0"/>
              <a:t>son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3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Pop </a:t>
            </a:r>
            <a:r>
              <a:rPr lang="tr-TR" dirty="0" smtClean="0"/>
              <a:t>İşlemi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r>
              <a:rPr lang="tr-TR" dirty="0" smtClean="0"/>
              <a:t>Yığının üstündeki öğeyi çıkarır. </a:t>
            </a:r>
          </a:p>
          <a:p>
            <a:r>
              <a:rPr lang="tr-TR" dirty="0" smtClean="0"/>
              <a:t>Yığın </a:t>
            </a:r>
            <a:r>
              <a:rPr lang="tr-TR" dirty="0"/>
              <a:t>boş ise, </a:t>
            </a:r>
            <a:r>
              <a:rPr lang="tr-TR" dirty="0" smtClean="0"/>
              <a:t>«Alt Taşma» </a:t>
            </a:r>
            <a:r>
              <a:rPr lang="tr-TR" dirty="0"/>
              <a:t>(</a:t>
            </a:r>
            <a:r>
              <a:rPr lang="tr-TR" dirty="0" err="1"/>
              <a:t>Underflow</a:t>
            </a:r>
            <a:r>
              <a:rPr lang="tr-TR" dirty="0"/>
              <a:t>) </a:t>
            </a:r>
            <a:r>
              <a:rPr lang="tr-TR" dirty="0" smtClean="0"/>
              <a:t>hatası verir.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başla</a:t>
            </a:r>
          </a:p>
          <a:p>
            <a:pPr marL="0" indent="0">
              <a:buNone/>
            </a:pPr>
            <a:r>
              <a:rPr lang="tr-TR" dirty="0" smtClean="0"/>
              <a:t>  eğer yığın boşsa</a:t>
            </a:r>
          </a:p>
          <a:p>
            <a:pPr marL="0" indent="0">
              <a:buNone/>
            </a:pPr>
            <a:r>
              <a:rPr lang="tr-TR" dirty="0" smtClean="0"/>
              <a:t>    hata ver</a:t>
            </a:r>
          </a:p>
          <a:p>
            <a:pPr marL="0" indent="0">
              <a:buNone/>
            </a:pPr>
            <a:r>
              <a:rPr lang="tr-TR" dirty="0" smtClean="0"/>
              <a:t>  değilse</a:t>
            </a:r>
          </a:p>
          <a:p>
            <a:pPr marL="0" indent="0">
              <a:buNone/>
            </a:pPr>
            <a:r>
              <a:rPr lang="tr-TR" dirty="0" smtClean="0"/>
              <a:t>    yığın[top] değerini sakla</a:t>
            </a:r>
          </a:p>
          <a:p>
            <a:pPr marL="0" indent="0">
              <a:buNone/>
            </a:pPr>
            <a:r>
              <a:rPr lang="tr-TR" dirty="0" smtClean="0"/>
              <a:t>    top değerini azalt</a:t>
            </a:r>
          </a:p>
          <a:p>
            <a:pPr marL="0" indent="0">
              <a:buNone/>
            </a:pPr>
            <a:r>
              <a:rPr lang="tr-TR" dirty="0" smtClean="0"/>
              <a:t>    saklanan değeri döndür</a:t>
            </a:r>
          </a:p>
          <a:p>
            <a:pPr marL="0" indent="0">
              <a:buNone/>
            </a:pPr>
            <a:r>
              <a:rPr lang="tr-TR" dirty="0" smtClean="0"/>
              <a:t>son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72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Top </a:t>
            </a:r>
            <a:r>
              <a:rPr lang="tr-TR" dirty="0" smtClean="0"/>
              <a:t>İşlemi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Yığının üstündeki </a:t>
            </a:r>
            <a:r>
              <a:rPr lang="tr-TR" dirty="0"/>
              <a:t>öğeyi </a:t>
            </a:r>
            <a:r>
              <a:rPr lang="tr-TR" dirty="0" smtClean="0"/>
              <a:t>döndür.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 smtClean="0"/>
              <a:t>başla</a:t>
            </a:r>
          </a:p>
          <a:p>
            <a:pPr marL="0" indent="0">
              <a:buNone/>
            </a:pPr>
            <a:r>
              <a:rPr lang="tr-TR" dirty="0" smtClean="0"/>
              <a:t>  yığın[top] </a:t>
            </a:r>
            <a:r>
              <a:rPr lang="tr-TR" dirty="0"/>
              <a:t>değerini sakla</a:t>
            </a:r>
          </a:p>
          <a:p>
            <a:pPr marL="0" indent="0">
              <a:buNone/>
            </a:pPr>
            <a:r>
              <a:rPr lang="tr-TR" dirty="0" smtClean="0"/>
              <a:t>  saklanan </a:t>
            </a:r>
            <a:r>
              <a:rPr lang="tr-TR" dirty="0"/>
              <a:t>değeri </a:t>
            </a:r>
            <a:r>
              <a:rPr lang="tr-TR" dirty="0" smtClean="0"/>
              <a:t>döndür</a:t>
            </a:r>
          </a:p>
          <a:p>
            <a:pPr marL="0" indent="0">
              <a:buNone/>
            </a:pPr>
            <a:r>
              <a:rPr lang="tr-TR" dirty="0" smtClean="0"/>
              <a:t>son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2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isEmpty</a:t>
            </a:r>
            <a:r>
              <a:rPr lang="tr-TR" dirty="0"/>
              <a:t> </a:t>
            </a:r>
            <a:r>
              <a:rPr lang="tr-TR" dirty="0" smtClean="0"/>
              <a:t>İşlemi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Yığının </a:t>
            </a:r>
            <a:r>
              <a:rPr lang="tr-TR" dirty="0"/>
              <a:t>boş olup olmadığını kontrol </a:t>
            </a:r>
            <a:r>
              <a:rPr lang="tr-TR" dirty="0" smtClean="0"/>
              <a:t>eder. </a:t>
            </a:r>
          </a:p>
          <a:p>
            <a:r>
              <a:rPr lang="tr-TR" dirty="0" smtClean="0"/>
              <a:t>Yığın boş ise </a:t>
            </a:r>
            <a:r>
              <a:rPr lang="tr-TR" dirty="0" err="1" smtClean="0"/>
              <a:t>true</a:t>
            </a:r>
            <a:r>
              <a:rPr lang="tr-TR" dirty="0" smtClean="0"/>
              <a:t> dön, değilse </a:t>
            </a:r>
            <a:r>
              <a:rPr lang="tr-TR" dirty="0" err="1" smtClean="0"/>
              <a:t>false</a:t>
            </a:r>
            <a:r>
              <a:rPr lang="tr-TR" dirty="0" smtClean="0"/>
              <a:t> dön.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başla</a:t>
            </a:r>
          </a:p>
          <a:p>
            <a:pPr marL="0" indent="0">
              <a:buNone/>
            </a:pPr>
            <a:r>
              <a:rPr lang="tr-TR" dirty="0" smtClean="0"/>
              <a:t>  eğer top değeri &lt; 1 ise</a:t>
            </a:r>
          </a:p>
          <a:p>
            <a:pPr marL="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true</a:t>
            </a:r>
            <a:r>
              <a:rPr lang="tr-TR" dirty="0" smtClean="0"/>
              <a:t> döndür</a:t>
            </a:r>
          </a:p>
          <a:p>
            <a:pPr marL="0" indent="0">
              <a:buNone/>
            </a:pPr>
            <a:r>
              <a:rPr lang="tr-TR" dirty="0" smtClean="0"/>
              <a:t>  değilse</a:t>
            </a:r>
          </a:p>
          <a:p>
            <a:pPr marL="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false</a:t>
            </a:r>
            <a:r>
              <a:rPr lang="tr-TR" dirty="0" smtClean="0"/>
              <a:t> döndür</a:t>
            </a:r>
          </a:p>
          <a:p>
            <a:pPr marL="0" indent="0">
              <a:buNone/>
            </a:pPr>
            <a:r>
              <a:rPr lang="tr-TR" dirty="0" smtClean="0"/>
              <a:t>son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63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Zaman </a:t>
            </a:r>
            <a:r>
              <a:rPr lang="tr-TR" dirty="0"/>
              <a:t>Karmaşıklığı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Yığın </a:t>
            </a:r>
            <a:r>
              <a:rPr lang="tr-TR" dirty="0" smtClean="0"/>
              <a:t>üzerindeki işlemler</a:t>
            </a:r>
            <a:r>
              <a:rPr lang="tr-TR" dirty="0"/>
              <a:t>, </a:t>
            </a:r>
            <a:r>
              <a:rPr lang="tr-TR" dirty="0" smtClean="0"/>
              <a:t>sabit zaman </a:t>
            </a:r>
            <a:r>
              <a:rPr lang="tr-TR" dirty="0"/>
              <a:t>karmaşıklığına (O(1)) sahiptir. </a:t>
            </a:r>
            <a:endParaRPr lang="tr-TR" dirty="0" smtClean="0"/>
          </a:p>
          <a:p>
            <a:r>
              <a:rPr lang="tr-TR" dirty="0" smtClean="0"/>
              <a:t>İşlemlerin süresi </a:t>
            </a:r>
            <a:r>
              <a:rPr lang="tr-TR" dirty="0"/>
              <a:t>yığının boyutundan </a:t>
            </a:r>
            <a:r>
              <a:rPr lang="tr-TR" dirty="0" smtClean="0"/>
              <a:t>bağımsızdır.</a:t>
            </a:r>
          </a:p>
          <a:p>
            <a:r>
              <a:rPr lang="tr-TR" dirty="0" smtClean="0"/>
              <a:t>Yığın </a:t>
            </a:r>
            <a:r>
              <a:rPr lang="tr-TR" dirty="0"/>
              <a:t>kullanımının veri </a:t>
            </a:r>
            <a:r>
              <a:rPr lang="tr-TR" dirty="0" smtClean="0"/>
              <a:t>saklama açısından </a:t>
            </a:r>
            <a:r>
              <a:rPr lang="tr-TR" dirty="0"/>
              <a:t>ekstra </a:t>
            </a:r>
            <a:r>
              <a:rPr lang="tr-TR" dirty="0" smtClean="0"/>
              <a:t>alan </a:t>
            </a:r>
            <a:r>
              <a:rPr lang="tr-TR" dirty="0"/>
              <a:t>maliyeti yoktur.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Yığın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Sabit </a:t>
            </a:r>
            <a:r>
              <a:rPr lang="tr-TR" dirty="0"/>
              <a:t>Boyutlu </a:t>
            </a:r>
            <a:r>
              <a:rPr lang="tr-TR" dirty="0" smtClean="0"/>
              <a:t>(</a:t>
            </a:r>
            <a:r>
              <a:rPr lang="tr-TR" dirty="0" err="1"/>
              <a:t>Fixed</a:t>
            </a:r>
            <a:r>
              <a:rPr lang="tr-TR" dirty="0"/>
              <a:t> Size </a:t>
            </a:r>
            <a:r>
              <a:rPr lang="tr-TR" dirty="0" err="1"/>
              <a:t>Stack</a:t>
            </a:r>
            <a:r>
              <a:rPr lang="tr-TR" dirty="0" smtClean="0"/>
              <a:t>)</a:t>
            </a:r>
            <a:endParaRPr lang="tr-TR" dirty="0"/>
          </a:p>
          <a:p>
            <a:r>
              <a:rPr lang="tr-TR" dirty="0" smtClean="0"/>
              <a:t>Dinamik </a:t>
            </a:r>
            <a:r>
              <a:rPr lang="tr-TR" dirty="0"/>
              <a:t>Boyutlu </a:t>
            </a:r>
            <a:r>
              <a:rPr lang="tr-TR" dirty="0" smtClean="0"/>
              <a:t>(</a:t>
            </a:r>
            <a:r>
              <a:rPr lang="tr-TR" dirty="0" err="1"/>
              <a:t>Dynamic</a:t>
            </a:r>
            <a:r>
              <a:rPr lang="tr-TR" dirty="0"/>
              <a:t> Size </a:t>
            </a:r>
            <a:r>
              <a:rPr lang="tr-TR" dirty="0" err="1"/>
              <a:t>Stack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05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Yığın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Sabit </a:t>
            </a:r>
            <a:r>
              <a:rPr lang="tr-TR" b="1" dirty="0"/>
              <a:t>Boyutlu Yığın (</a:t>
            </a:r>
            <a:r>
              <a:rPr lang="tr-TR" b="1" dirty="0" err="1"/>
              <a:t>Fixed</a:t>
            </a:r>
            <a:r>
              <a:rPr lang="tr-TR" b="1" dirty="0"/>
              <a:t> Size </a:t>
            </a:r>
            <a:r>
              <a:rPr lang="tr-TR" b="1" dirty="0" err="1"/>
              <a:t>Stack</a:t>
            </a:r>
            <a:r>
              <a:rPr lang="tr-TR" b="1" dirty="0" smtClean="0"/>
              <a:t>)</a:t>
            </a:r>
            <a:endParaRPr lang="tr-TR" b="1" dirty="0"/>
          </a:p>
          <a:p>
            <a:pPr lvl="1"/>
            <a:r>
              <a:rPr lang="tr-TR" dirty="0" smtClean="0"/>
              <a:t>Sabit </a:t>
            </a:r>
            <a:r>
              <a:rPr lang="tr-TR" dirty="0"/>
              <a:t>boyuta </a:t>
            </a:r>
            <a:r>
              <a:rPr lang="tr-TR" dirty="0" smtClean="0"/>
              <a:t>sahiptir, </a:t>
            </a:r>
            <a:r>
              <a:rPr lang="tr-TR" dirty="0"/>
              <a:t>dinamik olarak büyüyemez veya küçülemez.</a:t>
            </a:r>
          </a:p>
          <a:p>
            <a:pPr lvl="1"/>
            <a:r>
              <a:rPr lang="tr-TR" dirty="0" smtClean="0"/>
              <a:t>Dolu yığına öğe eklenmeye </a:t>
            </a:r>
            <a:r>
              <a:rPr lang="tr-TR" dirty="0"/>
              <a:t>çalışılırsa, </a:t>
            </a:r>
            <a:r>
              <a:rPr lang="tr-TR" dirty="0" smtClean="0"/>
              <a:t>taşma </a:t>
            </a:r>
            <a:r>
              <a:rPr lang="tr-TR" dirty="0"/>
              <a:t>hatası meydana gelir.</a:t>
            </a:r>
          </a:p>
          <a:p>
            <a:pPr lvl="1"/>
            <a:r>
              <a:rPr lang="tr-TR" dirty="0" smtClean="0"/>
              <a:t>Boş yığından öğe çıkarma istenirse, alt taşma hatası </a:t>
            </a:r>
            <a:r>
              <a:rPr lang="tr-TR" dirty="0"/>
              <a:t>meydana gelir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Arka planda dizi yapısını kullanır.</a:t>
            </a:r>
            <a:endParaRPr lang="tr-TR" dirty="0"/>
          </a:p>
          <a:p>
            <a:r>
              <a:rPr lang="tr-TR" dirty="0" smtClean="0"/>
              <a:t>Dinamik </a:t>
            </a:r>
            <a:r>
              <a:rPr lang="tr-TR" dirty="0"/>
              <a:t>Boyutlu Yığın (</a:t>
            </a:r>
            <a:r>
              <a:rPr lang="tr-TR" dirty="0" err="1"/>
              <a:t>Dynamic</a:t>
            </a:r>
            <a:r>
              <a:rPr lang="tr-TR" dirty="0"/>
              <a:t> Size </a:t>
            </a:r>
            <a:r>
              <a:rPr lang="tr-TR" dirty="0" err="1"/>
              <a:t>Stack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Yığın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Sabit </a:t>
            </a:r>
            <a:r>
              <a:rPr lang="tr-TR" dirty="0"/>
              <a:t>Boyutlu Yığın (</a:t>
            </a:r>
            <a:r>
              <a:rPr lang="tr-TR" dirty="0" err="1"/>
              <a:t>Fixed</a:t>
            </a:r>
            <a:r>
              <a:rPr lang="tr-TR" dirty="0"/>
              <a:t> Size </a:t>
            </a:r>
            <a:r>
              <a:rPr lang="tr-TR" dirty="0" err="1"/>
              <a:t>Stack</a:t>
            </a:r>
            <a:r>
              <a:rPr lang="tr-TR" dirty="0" smtClean="0"/>
              <a:t>)</a:t>
            </a:r>
            <a:endParaRPr lang="tr-TR" dirty="0"/>
          </a:p>
          <a:p>
            <a:r>
              <a:rPr lang="tr-TR" b="1" dirty="0" smtClean="0"/>
              <a:t>Dinamik </a:t>
            </a:r>
            <a:r>
              <a:rPr lang="tr-TR" b="1" dirty="0"/>
              <a:t>Boyutlu Yığın (</a:t>
            </a:r>
            <a:r>
              <a:rPr lang="tr-TR" b="1" dirty="0" err="1"/>
              <a:t>Dynamic</a:t>
            </a:r>
            <a:r>
              <a:rPr lang="tr-TR" b="1" dirty="0"/>
              <a:t> Size </a:t>
            </a:r>
            <a:r>
              <a:rPr lang="tr-TR" b="1" dirty="0" err="1"/>
              <a:t>Stack</a:t>
            </a:r>
            <a:r>
              <a:rPr lang="tr-TR" b="1" dirty="0" smtClean="0"/>
              <a:t>)</a:t>
            </a:r>
            <a:endParaRPr lang="tr-TR" b="1" dirty="0"/>
          </a:p>
          <a:p>
            <a:pPr lvl="1"/>
            <a:r>
              <a:rPr lang="tr-TR" dirty="0" smtClean="0"/>
              <a:t>Dinamik </a:t>
            </a:r>
            <a:r>
              <a:rPr lang="tr-TR" dirty="0"/>
              <a:t>olarak büyüyebilir veya küçülebilir. </a:t>
            </a:r>
            <a:endParaRPr lang="tr-TR" dirty="0" smtClean="0"/>
          </a:p>
          <a:p>
            <a:pPr lvl="1"/>
            <a:r>
              <a:rPr lang="tr-TR" dirty="0" smtClean="0"/>
              <a:t>Dolu yığına yeni öğe ekleneceğinde otomatik </a:t>
            </a:r>
            <a:r>
              <a:rPr lang="tr-TR" dirty="0"/>
              <a:t>olarak boyutunu </a:t>
            </a:r>
            <a:r>
              <a:rPr lang="tr-TR" dirty="0" smtClean="0"/>
              <a:t>artırır.</a:t>
            </a:r>
          </a:p>
          <a:p>
            <a:pPr lvl="1"/>
            <a:r>
              <a:rPr lang="tr-TR" dirty="0" smtClean="0"/>
              <a:t>Eleman sayısı boyutuna oranla az ise boyutunu </a:t>
            </a:r>
            <a:r>
              <a:rPr lang="tr-TR" dirty="0"/>
              <a:t>azaltır.</a:t>
            </a:r>
          </a:p>
          <a:p>
            <a:pPr lvl="1"/>
            <a:r>
              <a:rPr lang="tr-TR" dirty="0" smtClean="0"/>
              <a:t>Arka planda bağlı </a:t>
            </a:r>
            <a:r>
              <a:rPr lang="tr-TR" dirty="0"/>
              <a:t>liste </a:t>
            </a:r>
            <a:r>
              <a:rPr lang="tr-TR" dirty="0" smtClean="0"/>
              <a:t>yapısını kullanır.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45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Örnekleri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Matematiksel ifadelerin (</a:t>
            </a:r>
            <a:r>
              <a:rPr lang="tr-TR" dirty="0" err="1" smtClean="0"/>
              <a:t>infix</a:t>
            </a:r>
            <a:r>
              <a:rPr lang="tr-TR" dirty="0" smtClean="0"/>
              <a:t>, </a:t>
            </a:r>
            <a:r>
              <a:rPr lang="tr-TR" dirty="0" err="1" smtClean="0"/>
              <a:t>prefix</a:t>
            </a:r>
            <a:r>
              <a:rPr lang="tr-TR" dirty="0" smtClean="0"/>
              <a:t>, </a:t>
            </a:r>
            <a:r>
              <a:rPr lang="tr-TR" dirty="0" err="1" smtClean="0"/>
              <a:t>postfix</a:t>
            </a:r>
            <a:r>
              <a:rPr lang="tr-TR" dirty="0" smtClean="0"/>
              <a:t>) </a:t>
            </a:r>
            <a:r>
              <a:rPr lang="tr-TR" dirty="0"/>
              <a:t>dönüşümünde kullanılır.</a:t>
            </a:r>
          </a:p>
          <a:p>
            <a:r>
              <a:rPr lang="tr-TR" dirty="0" smtClean="0"/>
              <a:t>Metin düzenleme uygulamalarında geri al, yeniden uygula işlemlerinde.</a:t>
            </a:r>
            <a:endParaRPr lang="tr-TR" dirty="0"/>
          </a:p>
          <a:p>
            <a:r>
              <a:rPr lang="tr-TR" dirty="0" smtClean="0"/>
              <a:t>Web </a:t>
            </a:r>
            <a:r>
              <a:rPr lang="tr-TR" dirty="0"/>
              <a:t>tarayıcılarının gezinme geçmişini yönetmek için kullanılır.</a:t>
            </a:r>
          </a:p>
          <a:p>
            <a:r>
              <a:rPr lang="tr-TR" dirty="0" smtClean="0"/>
              <a:t>Hanoi Kuleleri, </a:t>
            </a:r>
            <a:r>
              <a:rPr lang="tr-TR" dirty="0"/>
              <a:t>ağaç </a:t>
            </a:r>
            <a:r>
              <a:rPr lang="tr-TR" dirty="0" smtClean="0"/>
              <a:t>üzerinde gezinme, hisse senedi sıçrama problemi, </a:t>
            </a:r>
            <a:r>
              <a:rPr lang="tr-TR" dirty="0" err="1" smtClean="0"/>
              <a:t>histogram</a:t>
            </a:r>
            <a:r>
              <a:rPr lang="tr-TR" dirty="0" smtClean="0"/>
              <a:t> </a:t>
            </a:r>
            <a:r>
              <a:rPr lang="tr-TR" dirty="0"/>
              <a:t>problemleri gibi </a:t>
            </a:r>
            <a:r>
              <a:rPr lang="tr-TR" dirty="0" smtClean="0"/>
              <a:t>algoritmalarda kullanılır</a:t>
            </a:r>
            <a:r>
              <a:rPr lang="tr-TR" dirty="0"/>
              <a:t>.</a:t>
            </a:r>
          </a:p>
          <a:p>
            <a:r>
              <a:rPr lang="tr-TR" dirty="0" smtClean="0"/>
              <a:t>Şövalye </a:t>
            </a:r>
            <a:r>
              <a:rPr lang="tr-TR" dirty="0"/>
              <a:t>Turu, N-Vezir problemleri, </a:t>
            </a:r>
            <a:r>
              <a:rPr lang="tr-TR" dirty="0" err="1" smtClean="0"/>
              <a:t>labirent’de</a:t>
            </a:r>
            <a:r>
              <a:rPr lang="tr-TR" dirty="0" smtClean="0"/>
              <a:t> </a:t>
            </a:r>
            <a:r>
              <a:rPr lang="tr-TR" dirty="0"/>
              <a:t>yol bulma </a:t>
            </a:r>
            <a:r>
              <a:rPr lang="tr-TR" dirty="0" smtClean="0"/>
              <a:t>gibi </a:t>
            </a:r>
            <a:r>
              <a:rPr lang="tr-TR" dirty="0"/>
              <a:t>oyunlarda </a:t>
            </a:r>
            <a:r>
              <a:rPr lang="tr-TR" dirty="0" smtClean="0"/>
              <a:t>geri izleme (</a:t>
            </a:r>
            <a:r>
              <a:rPr lang="tr-TR" dirty="0" err="1" smtClean="0"/>
              <a:t>backtracking</a:t>
            </a:r>
            <a:r>
              <a:rPr lang="tr-TR" dirty="0" smtClean="0"/>
              <a:t>) için kullanılır</a:t>
            </a:r>
            <a:r>
              <a:rPr lang="tr-TR" dirty="0"/>
              <a:t>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63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Örnekleri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Topolojik Sıralama, </a:t>
            </a:r>
            <a:r>
              <a:rPr lang="tr-TR" dirty="0"/>
              <a:t>Güçlü Bağlantılı Bileşenlerin </a:t>
            </a:r>
            <a:r>
              <a:rPr lang="tr-TR" dirty="0" smtClean="0"/>
              <a:t>bulunması gibi çizge algoritmalarında </a:t>
            </a:r>
            <a:r>
              <a:rPr lang="tr-TR" dirty="0"/>
              <a:t>kullanılır.</a:t>
            </a:r>
          </a:p>
          <a:p>
            <a:r>
              <a:rPr lang="tr-TR" dirty="0" smtClean="0"/>
              <a:t>Bir </a:t>
            </a:r>
            <a:r>
              <a:rPr lang="tr-TR" dirty="0"/>
              <a:t>programın çalışma sırasında </a:t>
            </a:r>
            <a:r>
              <a:rPr lang="tr-TR" dirty="0" smtClean="0"/>
              <a:t>bellek ve fonksiyon çağrıları yönetiminde kullanılır</a:t>
            </a:r>
            <a:r>
              <a:rPr lang="tr-TR" dirty="0"/>
              <a:t>.</a:t>
            </a:r>
          </a:p>
          <a:p>
            <a:r>
              <a:rPr lang="tr-TR" dirty="0" smtClean="0"/>
              <a:t>Bir </a:t>
            </a:r>
            <a:r>
              <a:rPr lang="tr-TR" dirty="0"/>
              <a:t>dizenin ters </a:t>
            </a:r>
            <a:r>
              <a:rPr lang="tr-TR" dirty="0" smtClean="0"/>
              <a:t>çevrilmesi gibi işlemlerde </a:t>
            </a:r>
            <a:r>
              <a:rPr lang="tr-TR" dirty="0"/>
              <a:t>kullanılır. Dize karakterleri yığına birer birer eklenir ve ters sırada alınır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85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Yığın </a:t>
            </a:r>
            <a:r>
              <a:rPr lang="tr-TR" dirty="0" smtClean="0"/>
              <a:t>Gerçekleştirimi (</a:t>
            </a:r>
            <a:r>
              <a:rPr lang="tr-TR" dirty="0" err="1" smtClean="0"/>
              <a:t>implementation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Dizi </a:t>
            </a:r>
            <a:r>
              <a:rPr lang="tr-TR" dirty="0"/>
              <a:t>(</a:t>
            </a:r>
            <a:r>
              <a:rPr lang="tr-TR" dirty="0" err="1"/>
              <a:t>array</a:t>
            </a:r>
            <a:r>
              <a:rPr lang="tr-TR" dirty="0"/>
              <a:t>) veya bağlı liste (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 kullanılarak </a:t>
            </a:r>
            <a:r>
              <a:rPr lang="tr-TR" dirty="0" smtClean="0"/>
              <a:t>gerçekleştirilebilir.</a:t>
            </a:r>
          </a:p>
          <a:p>
            <a:r>
              <a:rPr lang="tr-TR" b="1" dirty="0"/>
              <a:t>Dizi </a:t>
            </a:r>
            <a:r>
              <a:rPr lang="tr-TR" b="1" dirty="0" smtClean="0"/>
              <a:t>Tabanlı:</a:t>
            </a:r>
            <a:endParaRPr lang="tr-TR" b="1" dirty="0"/>
          </a:p>
          <a:p>
            <a:pPr lvl="1"/>
            <a:r>
              <a:rPr lang="tr-TR" dirty="0" err="1"/>
              <a:t>push</a:t>
            </a:r>
            <a:r>
              <a:rPr lang="tr-TR" dirty="0" smtClean="0"/>
              <a:t>(), </a:t>
            </a:r>
            <a:r>
              <a:rPr lang="tr-TR" dirty="0"/>
              <a:t>üst öğenin </a:t>
            </a:r>
            <a:r>
              <a:rPr lang="tr-TR" dirty="0" smtClean="0"/>
              <a:t>indeksini artırarak, yeni </a:t>
            </a:r>
            <a:r>
              <a:rPr lang="tr-TR" dirty="0"/>
              <a:t>öğeyi bu i</a:t>
            </a:r>
            <a:r>
              <a:rPr lang="tr-TR" dirty="0" smtClean="0"/>
              <a:t>ndekse atar.</a:t>
            </a:r>
            <a:endParaRPr lang="tr-TR" dirty="0"/>
          </a:p>
          <a:p>
            <a:pPr lvl="1"/>
            <a:r>
              <a:rPr lang="tr-TR" dirty="0"/>
              <a:t>pop</a:t>
            </a:r>
            <a:r>
              <a:rPr lang="tr-TR" dirty="0" smtClean="0"/>
              <a:t>(), </a:t>
            </a:r>
            <a:r>
              <a:rPr lang="tr-TR" dirty="0"/>
              <a:t>üst öğenin </a:t>
            </a:r>
            <a:r>
              <a:rPr lang="tr-TR" dirty="0" smtClean="0"/>
              <a:t>indeksini azaltarak, indeksteki </a:t>
            </a:r>
            <a:r>
              <a:rPr lang="tr-TR" dirty="0"/>
              <a:t>değeri </a:t>
            </a:r>
            <a:r>
              <a:rPr lang="tr-TR" dirty="0" smtClean="0"/>
              <a:t>döndürür.</a:t>
            </a:r>
            <a:endParaRPr lang="tr-TR" dirty="0"/>
          </a:p>
          <a:p>
            <a:r>
              <a:rPr lang="tr-TR" b="1" dirty="0" smtClean="0"/>
              <a:t>Bağlı </a:t>
            </a:r>
            <a:r>
              <a:rPr lang="tr-TR" b="1" dirty="0"/>
              <a:t>Liste </a:t>
            </a:r>
            <a:r>
              <a:rPr lang="tr-TR" b="1" dirty="0" smtClean="0"/>
              <a:t>Tabanlı:</a:t>
            </a:r>
            <a:endParaRPr lang="tr-TR" b="1" dirty="0"/>
          </a:p>
          <a:p>
            <a:pPr lvl="1"/>
            <a:r>
              <a:rPr lang="tr-TR" dirty="0" err="1"/>
              <a:t>push</a:t>
            </a:r>
            <a:r>
              <a:rPr lang="tr-TR" dirty="0" smtClean="0"/>
              <a:t>(), yeni </a:t>
            </a:r>
            <a:r>
              <a:rPr lang="tr-TR" dirty="0"/>
              <a:t>bir düğüm </a:t>
            </a:r>
            <a:r>
              <a:rPr lang="tr-TR" dirty="0" smtClean="0"/>
              <a:t>oluşturulur, listenin başına eklenir.</a:t>
            </a:r>
            <a:endParaRPr lang="tr-TR" dirty="0"/>
          </a:p>
          <a:p>
            <a:pPr lvl="1"/>
            <a:r>
              <a:rPr lang="tr-TR" dirty="0"/>
              <a:t>pop</a:t>
            </a:r>
            <a:r>
              <a:rPr lang="tr-TR" dirty="0" smtClean="0"/>
              <a:t>(), liste başındaki düğüm listeden çıkarılır, ve değeri döndürülür.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06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Dizi Tabanlı Yığın Gerçekleştirme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Bu yaklaşıma "sınırlı yığın" denir</a:t>
            </a:r>
            <a:r>
              <a:rPr lang="tr-TR" dirty="0" smtClean="0"/>
              <a:t>.</a:t>
            </a:r>
          </a:p>
          <a:p>
            <a:r>
              <a:rPr lang="tr-TR" dirty="0"/>
              <a:t>Yığının kapasitesi oluşturulma anında belirlenir ve değiştirilemez</a:t>
            </a:r>
            <a:r>
              <a:rPr lang="tr-TR" dirty="0" smtClean="0"/>
              <a:t>.</a:t>
            </a:r>
          </a:p>
          <a:p>
            <a:r>
              <a:rPr lang="tr-TR" dirty="0" smtClean="0"/>
              <a:t>Basit bir yöntem ve kolayca uygulanabilir</a:t>
            </a:r>
            <a:r>
              <a:rPr lang="tr-TR" dirty="0"/>
              <a:t>.</a:t>
            </a:r>
          </a:p>
          <a:p>
            <a:r>
              <a:rPr lang="tr-TR" dirty="0"/>
              <a:t>İşaretçiler kullanılmadığı için bellek tasarrufu sağlar.</a:t>
            </a:r>
          </a:p>
          <a:p>
            <a:r>
              <a:rPr lang="tr-TR" dirty="0" smtClean="0"/>
              <a:t>Ekleme yapmadan </a:t>
            </a:r>
            <a:r>
              <a:rPr lang="tr-TR" dirty="0"/>
              <a:t>önce yığının dolu olmadığından emin olunmalıdır</a:t>
            </a:r>
            <a:r>
              <a:rPr lang="tr-TR" dirty="0" smtClean="0"/>
              <a:t>.</a:t>
            </a:r>
          </a:p>
          <a:p>
            <a:r>
              <a:rPr lang="tr-TR" dirty="0"/>
              <a:t>Çıkarma </a:t>
            </a:r>
            <a:r>
              <a:rPr lang="tr-TR" dirty="0" smtClean="0"/>
              <a:t>işleminde</a:t>
            </a:r>
            <a:r>
              <a:rPr lang="tr-TR" dirty="0"/>
              <a:t>, </a:t>
            </a:r>
            <a:r>
              <a:rPr lang="tr-TR" dirty="0" smtClean="0"/>
              <a:t>kullanılmayan </a:t>
            </a:r>
            <a:r>
              <a:rPr lang="tr-TR" dirty="0"/>
              <a:t>yeri temizlemek için </a:t>
            </a:r>
            <a:r>
              <a:rPr lang="tr-TR" dirty="0" err="1"/>
              <a:t>null</a:t>
            </a:r>
            <a:r>
              <a:rPr lang="tr-TR" dirty="0"/>
              <a:t> atanmalıdır.</a:t>
            </a:r>
            <a:endParaRPr lang="tr-TR" dirty="0" smtClean="0"/>
          </a:p>
          <a:p>
            <a:r>
              <a:rPr lang="tr-TR" dirty="0"/>
              <a:t>Belleği </a:t>
            </a:r>
            <a:r>
              <a:rPr lang="tr-TR" dirty="0" smtClean="0"/>
              <a:t>doldurma amaçlı gelebilecek </a:t>
            </a:r>
            <a:r>
              <a:rPr lang="tr-TR" dirty="0"/>
              <a:t>saldırılara karşı </a:t>
            </a:r>
            <a:r>
              <a:rPr lang="tr-TR" dirty="0" smtClean="0"/>
              <a:t>güvenlidir.</a:t>
            </a:r>
          </a:p>
          <a:p>
            <a:r>
              <a:rPr lang="tr-TR" dirty="0"/>
              <a:t>Bellek </a:t>
            </a:r>
            <a:r>
              <a:rPr lang="tr-TR" dirty="0" smtClean="0"/>
              <a:t>kullanımı </a:t>
            </a:r>
            <a:r>
              <a:rPr lang="tr-TR" dirty="0"/>
              <a:t>sıkı bir şekilde kontrol </a:t>
            </a:r>
            <a:r>
              <a:rPr lang="tr-TR" dirty="0" smtClean="0"/>
              <a:t>edilir</a:t>
            </a:r>
            <a:r>
              <a:rPr lang="tr-TR" dirty="0"/>
              <a:t>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3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Bağlı Liste Tabanlı Yığın Gerçekleştirme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Elemanların </a:t>
            </a:r>
            <a:r>
              <a:rPr lang="tr-TR" dirty="0"/>
              <a:t>bir zincir </a:t>
            </a:r>
            <a:r>
              <a:rPr lang="tr-TR" dirty="0" smtClean="0"/>
              <a:t>şeklinde birbirine bağlı </a:t>
            </a:r>
            <a:r>
              <a:rPr lang="tr-TR" dirty="0"/>
              <a:t>olması, </a:t>
            </a:r>
            <a:r>
              <a:rPr lang="tr-TR" dirty="0" smtClean="0"/>
              <a:t>esnek boyut </a:t>
            </a:r>
            <a:r>
              <a:rPr lang="tr-TR" dirty="0"/>
              <a:t>yönetimini mümkün kılar.</a:t>
            </a:r>
          </a:p>
          <a:p>
            <a:r>
              <a:rPr lang="tr-TR" dirty="0" smtClean="0"/>
              <a:t>Çalışma zamanında </a:t>
            </a:r>
            <a:r>
              <a:rPr lang="tr-TR" dirty="0"/>
              <a:t>ihtiyaca göre </a:t>
            </a:r>
            <a:r>
              <a:rPr lang="tr-TR" dirty="0" smtClean="0"/>
              <a:t>boyutu değişir.</a:t>
            </a:r>
            <a:endParaRPr lang="tr-TR" dirty="0"/>
          </a:p>
          <a:p>
            <a:r>
              <a:rPr lang="tr-TR" dirty="0" smtClean="0"/>
              <a:t>İşaretçilerin </a:t>
            </a:r>
            <a:r>
              <a:rPr lang="tr-TR" dirty="0"/>
              <a:t>kullanılması nedeniyle ekstra bellek </a:t>
            </a:r>
            <a:r>
              <a:rPr lang="tr-TR" dirty="0" smtClean="0"/>
              <a:t>alanı kullanır.</a:t>
            </a:r>
            <a:endParaRPr lang="tr-TR" dirty="0"/>
          </a:p>
          <a:p>
            <a:r>
              <a:rPr lang="tr-TR" dirty="0" smtClean="0"/>
              <a:t>Rastgele </a:t>
            </a:r>
            <a:r>
              <a:rPr lang="tr-TR" dirty="0"/>
              <a:t>erişim mümkün </a:t>
            </a:r>
            <a:r>
              <a:rPr lang="tr-TR" dirty="0" smtClean="0"/>
              <a:t>değilken, </a:t>
            </a:r>
            <a:r>
              <a:rPr lang="tr-TR" dirty="0"/>
              <a:t>üstteki elemana erişim hızlı ve basittir.</a:t>
            </a:r>
            <a:endParaRPr lang="tr-TR" dirty="0" smtClean="0"/>
          </a:p>
          <a:p>
            <a:r>
              <a:rPr lang="tr-TR" dirty="0" smtClean="0"/>
              <a:t>Ekleme ve çıkarma işlemleri etkin bir şekilde gerçekleştirilir.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4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Uygulama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240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Düz Ok Bağlayıcısı 54"/>
          <p:cNvCxnSpPr/>
          <p:nvPr/>
        </p:nvCxnSpPr>
        <p:spPr>
          <a:xfrm>
            <a:off x="5608690" y="442553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up 55"/>
          <p:cNvGrpSpPr/>
          <p:nvPr/>
        </p:nvGrpSpPr>
        <p:grpSpPr>
          <a:xfrm>
            <a:off x="885662" y="4098460"/>
            <a:ext cx="1782637" cy="430887"/>
            <a:chOff x="684882" y="4798618"/>
            <a:chExt cx="1782637" cy="430887"/>
          </a:xfrm>
        </p:grpSpPr>
        <p:sp>
          <p:nvSpPr>
            <p:cNvPr id="57" name="Metin kutusu 56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8" name="Düz Ok Bağlayıcısı 57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Metin kutusu 58"/>
            <p:cNvSpPr txBox="1"/>
            <p:nvPr/>
          </p:nvSpPr>
          <p:spPr>
            <a:xfrm>
              <a:off x="684882" y="4798618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Uygulama - </a:t>
            </a:r>
            <a:r>
              <a:rPr lang="tr-TR" dirty="0" err="1" smtClean="0"/>
              <a:t>push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1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Düz Ok Bağlayıcısı 54"/>
          <p:cNvCxnSpPr/>
          <p:nvPr/>
        </p:nvCxnSpPr>
        <p:spPr>
          <a:xfrm>
            <a:off x="5608690" y="467119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up 55"/>
          <p:cNvGrpSpPr/>
          <p:nvPr/>
        </p:nvGrpSpPr>
        <p:grpSpPr>
          <a:xfrm>
            <a:off x="885662" y="4098460"/>
            <a:ext cx="1782637" cy="430887"/>
            <a:chOff x="684882" y="4798618"/>
            <a:chExt cx="1782637" cy="430887"/>
          </a:xfrm>
        </p:grpSpPr>
        <p:sp>
          <p:nvSpPr>
            <p:cNvPr id="57" name="Metin kutusu 56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8" name="Düz Ok Bağlayıcısı 57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Metin kutusu 58"/>
            <p:cNvSpPr txBox="1"/>
            <p:nvPr/>
          </p:nvSpPr>
          <p:spPr>
            <a:xfrm>
              <a:off x="684882" y="4798618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0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4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up 55"/>
          <p:cNvGrpSpPr/>
          <p:nvPr/>
        </p:nvGrpSpPr>
        <p:grpSpPr>
          <a:xfrm>
            <a:off x="885662" y="4098460"/>
            <a:ext cx="1782637" cy="430887"/>
            <a:chOff x="684882" y="4798618"/>
            <a:chExt cx="1782637" cy="430887"/>
          </a:xfrm>
        </p:grpSpPr>
        <p:sp>
          <p:nvSpPr>
            <p:cNvPr id="57" name="Metin kutusu 56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8" name="Düz Ok Bağlayıcısı 57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Metin kutusu 58"/>
            <p:cNvSpPr txBox="1"/>
            <p:nvPr/>
          </p:nvSpPr>
          <p:spPr>
            <a:xfrm>
              <a:off x="684882" y="4798618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0</a:t>
            </a:r>
            <a:endParaRPr lang="tr-TR" sz="2200" b="1" dirty="0"/>
          </a:p>
        </p:txBody>
      </p:sp>
      <p:sp>
        <p:nvSpPr>
          <p:cNvPr id="11" name="Metin kutusu 10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push(10)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92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Düz Ok Bağlayıcısı 54"/>
          <p:cNvCxnSpPr/>
          <p:nvPr/>
        </p:nvCxnSpPr>
        <p:spPr>
          <a:xfrm>
            <a:off x="5608690" y="516251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up 55"/>
          <p:cNvGrpSpPr/>
          <p:nvPr/>
        </p:nvGrpSpPr>
        <p:grpSpPr>
          <a:xfrm>
            <a:off x="885662" y="4098460"/>
            <a:ext cx="1782637" cy="430887"/>
            <a:chOff x="684882" y="4798618"/>
            <a:chExt cx="1782637" cy="430887"/>
          </a:xfrm>
        </p:grpSpPr>
        <p:sp>
          <p:nvSpPr>
            <p:cNvPr id="57" name="Metin kutusu 56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8" name="Düz Ok Bağlayıcısı 57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Metin kutusu 58"/>
            <p:cNvSpPr txBox="1"/>
            <p:nvPr/>
          </p:nvSpPr>
          <p:spPr>
            <a:xfrm>
              <a:off x="684882" y="4798618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0</a:t>
            </a:r>
            <a:endParaRPr lang="tr-TR" sz="2200" b="1" dirty="0"/>
          </a:p>
        </p:txBody>
      </p:sp>
      <p:sp>
        <p:nvSpPr>
          <p:cNvPr id="11" name="Metin kutusu 10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push(10)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97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Düz Ok Bağlayıcısı 54"/>
          <p:cNvCxnSpPr/>
          <p:nvPr/>
        </p:nvCxnSpPr>
        <p:spPr>
          <a:xfrm>
            <a:off x="5608690" y="538087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up 55"/>
          <p:cNvGrpSpPr/>
          <p:nvPr/>
        </p:nvGrpSpPr>
        <p:grpSpPr>
          <a:xfrm>
            <a:off x="885662" y="4098460"/>
            <a:ext cx="1782637" cy="430887"/>
            <a:chOff x="684882" y="4798618"/>
            <a:chExt cx="1782637" cy="430887"/>
          </a:xfrm>
        </p:grpSpPr>
        <p:sp>
          <p:nvSpPr>
            <p:cNvPr id="57" name="Metin kutusu 56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8" name="Düz Ok Bağlayıcısı 57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Metin kutusu 58"/>
            <p:cNvSpPr txBox="1"/>
            <p:nvPr/>
          </p:nvSpPr>
          <p:spPr>
            <a:xfrm>
              <a:off x="684882" y="4798618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0</a:t>
            </a:r>
            <a:endParaRPr lang="tr-TR" sz="2200" b="1" dirty="0"/>
          </a:p>
        </p:txBody>
      </p:sp>
      <p:sp>
        <p:nvSpPr>
          <p:cNvPr id="11" name="Metin kutusu 10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push(10)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2429889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62997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1399352" y="3120026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55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Düz Ok Bağlayıcısı 54"/>
          <p:cNvCxnSpPr/>
          <p:nvPr/>
        </p:nvCxnSpPr>
        <p:spPr>
          <a:xfrm>
            <a:off x="5608690" y="564019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up 55"/>
          <p:cNvGrpSpPr/>
          <p:nvPr/>
        </p:nvGrpSpPr>
        <p:grpSpPr>
          <a:xfrm>
            <a:off x="885662" y="4098460"/>
            <a:ext cx="1782637" cy="430887"/>
            <a:chOff x="684882" y="4798618"/>
            <a:chExt cx="1782637" cy="430887"/>
          </a:xfrm>
        </p:grpSpPr>
        <p:sp>
          <p:nvSpPr>
            <p:cNvPr id="57" name="Metin kutusu 56"/>
            <p:cNvSpPr txBox="1"/>
            <p:nvPr/>
          </p:nvSpPr>
          <p:spPr>
            <a:xfrm>
              <a:off x="1843629" y="479861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8" name="Düz Ok Bağlayıcısı 57"/>
            <p:cNvCxnSpPr/>
            <p:nvPr/>
          </p:nvCxnSpPr>
          <p:spPr>
            <a:xfrm>
              <a:off x="1298110" y="505455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Metin kutusu 58"/>
            <p:cNvSpPr txBox="1"/>
            <p:nvPr/>
          </p:nvSpPr>
          <p:spPr>
            <a:xfrm>
              <a:off x="684882" y="4798618"/>
              <a:ext cx="5826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2200" b="1" dirty="0" smtClean="0"/>
                <a:t>top</a:t>
              </a:r>
              <a:endParaRPr lang="tr-TR" sz="2200" b="1" dirty="0"/>
            </a:p>
          </p:txBody>
        </p:sp>
      </p:grpSp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0</a:t>
            </a:r>
            <a:endParaRPr lang="tr-TR" sz="2200" b="1" dirty="0"/>
          </a:p>
        </p:txBody>
      </p:sp>
      <p:sp>
        <p:nvSpPr>
          <p:cNvPr id="11" name="Metin kutusu 10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push(10)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2429889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194909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62997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1399352" y="3120026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8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Düz Ok Bağlayıcısı 54"/>
          <p:cNvCxnSpPr/>
          <p:nvPr/>
        </p:nvCxnSpPr>
        <p:spPr>
          <a:xfrm>
            <a:off x="5608690" y="588585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0</a:t>
            </a:r>
            <a:endParaRPr lang="tr-TR" sz="2200" b="1" dirty="0"/>
          </a:p>
        </p:txBody>
      </p:sp>
      <p:sp>
        <p:nvSpPr>
          <p:cNvPr id="11" name="Metin kutusu 10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push(10)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2429889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/>
          <p:cNvCxnSpPr/>
          <p:nvPr/>
        </p:nvCxnSpPr>
        <p:spPr>
          <a:xfrm>
            <a:off x="1813852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1551552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3194909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62997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1399352" y="3120026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1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Düz Ok Bağlayıcısı 54"/>
          <p:cNvCxnSpPr/>
          <p:nvPr/>
        </p:nvCxnSpPr>
        <p:spPr>
          <a:xfrm>
            <a:off x="5608690" y="613151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11" name="Metin kutusu 10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push(10)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2429889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/>
          <p:cNvCxnSpPr/>
          <p:nvPr/>
        </p:nvCxnSpPr>
        <p:spPr>
          <a:xfrm>
            <a:off x="1813852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1551552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3194909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flipV="1">
            <a:off x="1813852" y="262997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1399352" y="3120026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86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2429889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/>
          <p:cNvCxnSpPr/>
          <p:nvPr/>
        </p:nvCxnSpPr>
        <p:spPr>
          <a:xfrm>
            <a:off x="1813852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1551552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3194909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19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14" name="Dikdörtgen 13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/>
          <p:cNvCxnSpPr/>
          <p:nvPr/>
        </p:nvCxnSpPr>
        <p:spPr>
          <a:xfrm>
            <a:off x="4597998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4335698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90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push(15)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4597998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4335698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5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8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push(15)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516251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kdörtgen 22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/>
          <p:cNvCxnSpPr/>
          <p:nvPr/>
        </p:nvCxnSpPr>
        <p:spPr>
          <a:xfrm>
            <a:off x="4597998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4335698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49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push(15)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5608690" y="538087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>
            <a:off x="4597998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4335698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/>
          <p:nvPr/>
        </p:nvCxnSpPr>
        <p:spPr>
          <a:xfrm>
            <a:off x="2429889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3194909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9" name="Düz Ok Bağlayıcısı 48"/>
          <p:cNvCxnSpPr/>
          <p:nvPr/>
        </p:nvCxnSpPr>
        <p:spPr>
          <a:xfrm flipV="1">
            <a:off x="1813852" y="262997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etin kutusu 49"/>
          <p:cNvSpPr txBox="1"/>
          <p:nvPr/>
        </p:nvSpPr>
        <p:spPr>
          <a:xfrm>
            <a:off x="1399352" y="3120026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87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push(15)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>
            <a:off x="4597998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4335698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Düz Ok Bağlayıcısı 48"/>
          <p:cNvCxnSpPr/>
          <p:nvPr/>
        </p:nvCxnSpPr>
        <p:spPr>
          <a:xfrm flipV="1">
            <a:off x="1813852" y="262997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etin kutusu 49"/>
          <p:cNvSpPr txBox="1"/>
          <p:nvPr/>
        </p:nvSpPr>
        <p:spPr>
          <a:xfrm>
            <a:off x="1399352" y="3120026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564019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95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push(15)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Düz Ok Bağlayıcısı 48"/>
          <p:cNvCxnSpPr/>
          <p:nvPr/>
        </p:nvCxnSpPr>
        <p:spPr>
          <a:xfrm flipV="1">
            <a:off x="1813852" y="262997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etin kutusu 49"/>
          <p:cNvSpPr txBox="1"/>
          <p:nvPr/>
        </p:nvSpPr>
        <p:spPr>
          <a:xfrm>
            <a:off x="1399352" y="3120026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1813852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551552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608690" y="588585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9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2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6148" y="5401348"/>
            <a:ext cx="12105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push(15)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Düz Ok Bağlayıcısı 48"/>
          <p:cNvCxnSpPr/>
          <p:nvPr/>
        </p:nvCxnSpPr>
        <p:spPr>
          <a:xfrm flipV="1">
            <a:off x="1813852" y="2629977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etin kutusu 49"/>
          <p:cNvSpPr txBox="1"/>
          <p:nvPr/>
        </p:nvSpPr>
        <p:spPr>
          <a:xfrm>
            <a:off x="1399352" y="3120026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1813852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551552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613151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95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2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1813852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551552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7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top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61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2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1813852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551552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Uygulama - pop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55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2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1813852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551552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5608690" y="516251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2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2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1813852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1551552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5608690" y="538087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etin kutusu 17"/>
          <p:cNvSpPr txBox="1"/>
          <p:nvPr/>
        </p:nvSpPr>
        <p:spPr>
          <a:xfrm>
            <a:off x="1106415" y="4812868"/>
            <a:ext cx="8691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sonuc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1879271" y="4826516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15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68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2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4584354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322054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1106415" y="4812868"/>
            <a:ext cx="8691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sonuc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1879271" y="4826516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15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564019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1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4584354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322054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1106415" y="4812868"/>
            <a:ext cx="8691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sonuc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1879271" y="4826516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15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608690" y="588585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48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43" name="Dikdörtgen 42"/>
          <p:cNvSpPr/>
          <p:nvPr/>
        </p:nvSpPr>
        <p:spPr>
          <a:xfrm>
            <a:off x="1402577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15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4" name="Dikdörtgen 43"/>
          <p:cNvSpPr/>
          <p:nvPr/>
        </p:nvSpPr>
        <p:spPr>
          <a:xfrm>
            <a:off x="2212601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5" name="Düz Ok Bağlayıcısı 44"/>
          <p:cNvCxnSpPr>
            <a:endCxn id="37" idx="1"/>
          </p:cNvCxnSpPr>
          <p:nvPr/>
        </p:nvCxnSpPr>
        <p:spPr>
          <a:xfrm>
            <a:off x="2429889" y="2415660"/>
            <a:ext cx="17568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4584354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322054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1106415" y="4812868"/>
            <a:ext cx="8691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sonuc</a:t>
            </a:r>
            <a:endParaRPr lang="tr-TR" sz="2200" b="1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1879271" y="4826516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15</a:t>
            </a:r>
            <a:endParaRPr lang="tr-TR" sz="2200" b="1" dirty="0"/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608690" y="613151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46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4584354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322054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5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20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4584354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322054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33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4584354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322054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5608690" y="516251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7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4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4584354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322054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5608690" y="538087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1106415" y="4812868"/>
            <a:ext cx="8691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sonuc</a:t>
            </a:r>
            <a:endParaRPr lang="tr-TR" sz="2200" b="1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1879271" y="4826516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10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45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6303976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6041676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1106415" y="4812868"/>
            <a:ext cx="8691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sonuc</a:t>
            </a:r>
            <a:endParaRPr lang="tr-TR" sz="2200" b="1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1879271" y="4826516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10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564019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04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0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6303976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6041676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1106415" y="4812868"/>
            <a:ext cx="8691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sonuc</a:t>
            </a:r>
            <a:endParaRPr lang="tr-TR" sz="2200" b="1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1879271" y="4826516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10</a:t>
            </a:r>
            <a:endParaRPr lang="tr-TR" sz="2200" b="1" dirty="0"/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5608690" y="588585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58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0</a:t>
            </a:r>
            <a:endParaRPr lang="tr-TR" sz="2200" b="1" dirty="0"/>
          </a:p>
        </p:txBody>
      </p:sp>
      <p:sp>
        <p:nvSpPr>
          <p:cNvPr id="37" name="Dikdörtgen 36"/>
          <p:cNvSpPr/>
          <p:nvPr/>
        </p:nvSpPr>
        <p:spPr>
          <a:xfrm>
            <a:off x="4186723" y="2225160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8" name="Dikdörtgen 37"/>
          <p:cNvSpPr/>
          <p:nvPr/>
        </p:nvSpPr>
        <p:spPr>
          <a:xfrm>
            <a:off x="4996747" y="222516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214035" y="241566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6303976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6041676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886148" y="5401348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pop()</a:t>
            </a:r>
            <a:endParaRPr lang="tr-TR" sz="2200" b="1" dirty="0">
              <a:solidFill>
                <a:srgbClr val="FF0000"/>
              </a:solidFill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1106415" y="4812868"/>
            <a:ext cx="8691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sonuc</a:t>
            </a:r>
            <a:endParaRPr lang="tr-TR" sz="2200" b="1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1879271" y="4826516"/>
            <a:ext cx="6751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10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608690" y="613151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57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tin kutusu 11"/>
          <p:cNvSpPr txBox="1"/>
          <p:nvPr/>
        </p:nvSpPr>
        <p:spPr>
          <a:xfrm>
            <a:off x="871452" y="4496692"/>
            <a:ext cx="1101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200" b="1" dirty="0" smtClean="0"/>
              <a:t>uzunluk</a:t>
            </a:r>
            <a:endParaRPr lang="tr-TR" sz="2200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1876999" y="4510340"/>
            <a:ext cx="5325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200" b="1" dirty="0" smtClean="0"/>
              <a:t>= 0</a:t>
            </a:r>
            <a:endParaRPr lang="tr-TR" sz="2200" b="1" dirty="0"/>
          </a:p>
        </p:txBody>
      </p:sp>
      <p:sp>
        <p:nvSpPr>
          <p:cNvPr id="42" name="Metin kutusu 41"/>
          <p:cNvSpPr txBox="1"/>
          <p:nvPr/>
        </p:nvSpPr>
        <p:spPr>
          <a:xfrm>
            <a:off x="5979055" y="2161625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9" name="Düz Ok Bağlayıcısı 18"/>
          <p:cNvCxnSpPr/>
          <p:nvPr/>
        </p:nvCxnSpPr>
        <p:spPr>
          <a:xfrm>
            <a:off x="6303976" y="1674631"/>
            <a:ext cx="0" cy="550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6041676" y="1270907"/>
            <a:ext cx="58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top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Metin kutusu 20"/>
          <p:cNvSpPr txBox="1"/>
          <p:nvPr/>
        </p:nvSpPr>
        <p:spPr>
          <a:xfrm>
            <a:off x="6277971" y="3968349"/>
            <a:ext cx="5889496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Örnek değişkenleri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uzunluk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6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pop()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top.veri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top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top.sonraki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uzunluk-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14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Karakter </a:t>
            </a:r>
            <a:r>
              <a:rPr lang="tr-TR" dirty="0"/>
              <a:t>Dizisini (</a:t>
            </a:r>
            <a:r>
              <a:rPr lang="tr-TR" dirty="0" err="1"/>
              <a:t>String</a:t>
            </a:r>
            <a:r>
              <a:rPr lang="tr-TR" dirty="0"/>
              <a:t>) Tersine </a:t>
            </a:r>
            <a:r>
              <a:rPr lang="tr-TR" dirty="0" smtClean="0"/>
              <a:t>Çevirme</a:t>
            </a:r>
            <a:endParaRPr 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03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299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4118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81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65756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44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88978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1528" y="1931274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char c = 'A'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21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1510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1528" y="1931274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char c = 'A'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75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88978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1528" y="1931274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char c = 'B'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2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1510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1528" y="1931274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char c = 'B'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61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88978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1528" y="1931274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char c = 'C'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42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1510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1528" y="1931274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char c = ‘C'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77775" y="440200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0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488978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1528" y="1931274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char c = 'D'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77775" y="440200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1510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1528" y="1931274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char c = 'D'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77775" y="440200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877775" y="383741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D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98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881528" y="1931274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char c = 'D'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77775" y="440200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877775" y="383741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D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608690" y="488978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38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6154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77775" y="440200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877775" y="383741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D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57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862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77775" y="440200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1663070" y="36515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D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28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>
            <a:off x="5608690" y="5862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77775" y="440200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1663070" y="36515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D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35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77775" y="440200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08690" y="56154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28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608690" y="5862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ikdörtgen 28"/>
          <p:cNvSpPr/>
          <p:nvPr/>
        </p:nvSpPr>
        <p:spPr>
          <a:xfrm>
            <a:off x="1663070" y="36515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99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1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608690" y="5862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kdörtgen 26"/>
          <p:cNvSpPr/>
          <p:nvPr/>
        </p:nvSpPr>
        <p:spPr>
          <a:xfrm>
            <a:off x="1663070" y="36515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C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73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879160" y="496054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5608690" y="56154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79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608690" y="5862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1663070" y="36515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23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2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608690" y="5862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1663070" y="36515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B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83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2879160" y="552513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608690" y="56154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11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3" name="Düz Ok Bağlayıcısı 22"/>
          <p:cNvCxnSpPr/>
          <p:nvPr/>
        </p:nvCxnSpPr>
        <p:spPr>
          <a:xfrm>
            <a:off x="5608690" y="5862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1663070" y="36515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40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3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3" name="Düz Ok Bağlayıcısı 22"/>
          <p:cNvCxnSpPr/>
          <p:nvPr/>
        </p:nvCxnSpPr>
        <p:spPr>
          <a:xfrm>
            <a:off x="5608690" y="5862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1663070" y="36515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A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15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4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608690" y="561549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9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6277971" y="4209649"/>
            <a:ext cx="5889496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karakterler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881529" y="807554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String str = </a:t>
            </a:r>
            <a:r>
              <a:rPr lang="tr-TR" dirty="0">
                <a:latin typeface="Lucida Console" panose="020B0609040504020204" pitchFamily="49" charset="0"/>
              </a:rPr>
              <a:t>"</a:t>
            </a:r>
            <a:r>
              <a:rPr lang="tr-TR" dirty="0" smtClean="0">
                <a:latin typeface="Lucida Console" panose="020B0609040504020204" pitchFamily="49" charset="0"/>
              </a:rPr>
              <a:t>ABCD";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2668725" y="3623960"/>
            <a:ext cx="855449" cy="2462941"/>
            <a:chOff x="5227100" y="2413000"/>
            <a:chExt cx="1116000" cy="3213100"/>
          </a:xfrm>
        </p:grpSpPr>
        <p:sp>
          <p:nvSpPr>
            <p:cNvPr id="7" name="Dikdörtgen 6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Dikdörtgen 7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9" name="Metin kutusu 8"/>
          <p:cNvSpPr txBox="1"/>
          <p:nvPr/>
        </p:nvSpPr>
        <p:spPr>
          <a:xfrm>
            <a:off x="2740422" y="6106371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dirty="0" smtClean="0"/>
              <a:t>yigit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881528" y="134198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Lucida Console" panose="020B0609040504020204" pitchFamily="49" charset="0"/>
              </a:rPr>
              <a:t>k</a:t>
            </a:r>
            <a:r>
              <a:rPr lang="tr-TR" dirty="0" smtClean="0">
                <a:latin typeface="Lucida Console" panose="020B0609040504020204" pitchFamily="49" charset="0"/>
              </a:rPr>
              <a:t>arakterler[]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15" name="Grup 14"/>
          <p:cNvGrpSpPr/>
          <p:nvPr/>
        </p:nvGrpSpPr>
        <p:grpSpPr>
          <a:xfrm>
            <a:off x="2990147" y="1326016"/>
            <a:ext cx="1732165" cy="381000"/>
            <a:chOff x="4996747" y="2225160"/>
            <a:chExt cx="1732165" cy="381000"/>
          </a:xfrm>
        </p:grpSpPr>
        <p:sp>
          <p:nvSpPr>
            <p:cNvPr id="11" name="Dikdörtgen 10"/>
            <p:cNvSpPr/>
            <p:nvPr/>
          </p:nvSpPr>
          <p:spPr>
            <a:xfrm>
              <a:off x="4996747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D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5429283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C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86179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B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6294335" y="2225160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A</a:t>
              </a:r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Metin kutusu 15"/>
          <p:cNvSpPr txBox="1"/>
          <p:nvPr/>
        </p:nvSpPr>
        <p:spPr>
          <a:xfrm>
            <a:off x="30619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7" name="Metin kutusu 16"/>
          <p:cNvSpPr txBox="1"/>
          <p:nvPr/>
        </p:nvSpPr>
        <p:spPr>
          <a:xfrm>
            <a:off x="35001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8" name="Metin kutusu 17"/>
          <p:cNvSpPr txBox="1"/>
          <p:nvPr/>
        </p:nvSpPr>
        <p:spPr>
          <a:xfrm>
            <a:off x="393828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363734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6148690" y="80755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str.length() = 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6148690" y="133745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i = 4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608690" y="637023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6148689" y="1867360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Lucida Console" panose="020B0609040504020204" pitchFamily="49" charset="0"/>
              </a:rPr>
              <a:t>return → "DCBA"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6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Sonraki En Büyük Eleman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Verilen </a:t>
            </a:r>
            <a:r>
              <a:rPr lang="tr-TR" dirty="0"/>
              <a:t>bir </a:t>
            </a:r>
            <a:r>
              <a:rPr lang="tr-TR" dirty="0" smtClean="0"/>
              <a:t>dizide, </a:t>
            </a:r>
            <a:r>
              <a:rPr lang="tr-TR" dirty="0"/>
              <a:t>her </a:t>
            </a:r>
            <a:r>
              <a:rPr lang="tr-TR" dirty="0" smtClean="0"/>
              <a:t>eleman </a:t>
            </a:r>
            <a:r>
              <a:rPr lang="tr-TR" dirty="0"/>
              <a:t>için </a:t>
            </a:r>
            <a:r>
              <a:rPr lang="tr-TR" dirty="0" smtClean="0"/>
              <a:t>kendisinden daha </a:t>
            </a:r>
            <a:r>
              <a:rPr lang="tr-TR" dirty="0"/>
              <a:t>büyük olan bir sonraki elemanı </a:t>
            </a:r>
            <a:r>
              <a:rPr lang="tr-TR" dirty="0" smtClean="0"/>
              <a:t>bulma.</a:t>
            </a:r>
          </a:p>
          <a:p>
            <a:pPr algn="l"/>
            <a:endParaRPr lang="tr-TR" b="1" dirty="0" smtClean="0"/>
          </a:p>
          <a:p>
            <a:pPr algn="l"/>
            <a:r>
              <a:rPr lang="tr-TR" b="1" dirty="0" smtClean="0"/>
              <a:t>Örnek</a:t>
            </a:r>
            <a:r>
              <a:rPr lang="tr-TR" dirty="0" smtClean="0"/>
              <a:t>:</a:t>
            </a:r>
          </a:p>
          <a:p>
            <a:pPr lvl="1" algn="l"/>
            <a:r>
              <a:rPr lang="tr-TR" b="1" dirty="0" smtClean="0">
                <a:latin typeface="Consolas" panose="020B0609020204030204" pitchFamily="49" charset="0"/>
              </a:rPr>
              <a:t>Girdi</a:t>
            </a:r>
            <a:r>
              <a:rPr lang="tr-TR" dirty="0">
                <a:latin typeface="Consolas" panose="020B0609020204030204" pitchFamily="49" charset="0"/>
              </a:rPr>
              <a:t>: dizi  = {4</a:t>
            </a:r>
            <a:r>
              <a:rPr lang="tr-TR" dirty="0" smtClean="0">
                <a:latin typeface="Consolas" panose="020B0609020204030204" pitchFamily="49" charset="0"/>
              </a:rPr>
              <a:t>, 7, 3, 4,  8,  1}</a:t>
            </a:r>
          </a:p>
          <a:p>
            <a:pPr lvl="1" algn="l"/>
            <a:r>
              <a:rPr lang="tr-TR" b="1" dirty="0" smtClean="0">
                <a:latin typeface="Consolas" panose="020B0609020204030204" pitchFamily="49" charset="0"/>
              </a:rPr>
              <a:t>Çıktı</a:t>
            </a:r>
            <a:r>
              <a:rPr lang="tr-TR" dirty="0">
                <a:latin typeface="Consolas" panose="020B0609020204030204" pitchFamily="49" charset="0"/>
              </a:rPr>
              <a:t>: </a:t>
            </a:r>
            <a:r>
              <a:rPr lang="tr-TR" dirty="0" err="1">
                <a:latin typeface="Consolas" panose="020B0609020204030204" pitchFamily="49" charset="0"/>
              </a:rPr>
              <a:t>sonuc</a:t>
            </a:r>
            <a:r>
              <a:rPr lang="tr-TR" dirty="0">
                <a:latin typeface="Consolas" panose="020B0609020204030204" pitchFamily="49" charset="0"/>
              </a:rPr>
              <a:t> = {7</a:t>
            </a:r>
            <a:r>
              <a:rPr lang="tr-TR" dirty="0" smtClean="0">
                <a:latin typeface="Consolas" panose="020B0609020204030204" pitchFamily="49" charset="0"/>
              </a:rPr>
              <a:t>, 8, 4, 8, -</a:t>
            </a:r>
            <a:r>
              <a:rPr lang="tr-TR" dirty="0">
                <a:latin typeface="Consolas" panose="020B0609020204030204" pitchFamily="49" charset="0"/>
              </a:rPr>
              <a:t>1</a:t>
            </a:r>
            <a:r>
              <a:rPr lang="tr-TR" dirty="0" smtClean="0">
                <a:latin typeface="Consolas" panose="020B0609020204030204" pitchFamily="49" charset="0"/>
              </a:rPr>
              <a:t>, -</a:t>
            </a:r>
            <a:r>
              <a:rPr lang="tr-TR" dirty="0">
                <a:latin typeface="Consolas" panose="020B0609020204030204" pitchFamily="49" charset="0"/>
              </a:rPr>
              <a:t>1}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44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Sonraki En Büyük Eleman Problemi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Sonraki En Büyük Eleman Problemi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56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174935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83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199609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4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37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224283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9" name="Grup 38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40" name="Dikdörtgen 39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1" name="Dikdörtgen 40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2" name="Metin kutusu 41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61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247506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5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6" name="Grup 45"/>
          <p:cNvGrpSpPr/>
          <p:nvPr/>
        </p:nvGrpSpPr>
        <p:grpSpPr>
          <a:xfrm>
            <a:off x="4159288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4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270729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5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7" name="Grup 36"/>
          <p:cNvGrpSpPr/>
          <p:nvPr/>
        </p:nvGrpSpPr>
        <p:grpSpPr>
          <a:xfrm>
            <a:off x="4159288" y="833246"/>
            <a:ext cx="308097" cy="451812"/>
            <a:chOff x="4159288" y="833246"/>
            <a:chExt cx="308097" cy="451812"/>
          </a:xfrm>
        </p:grpSpPr>
        <p:cxnSp>
          <p:nvCxnSpPr>
            <p:cNvPr id="42" name="Düz Ok Bağlayıcısı 41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Metin kutusu 43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14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4173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5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7" name="Grup 36"/>
          <p:cNvGrpSpPr/>
          <p:nvPr/>
        </p:nvGrpSpPr>
        <p:grpSpPr>
          <a:xfrm>
            <a:off x="4159288" y="833246"/>
            <a:ext cx="308097" cy="451812"/>
            <a:chOff x="4159288" y="833246"/>
            <a:chExt cx="308097" cy="451812"/>
          </a:xfrm>
        </p:grpSpPr>
        <p:cxnSp>
          <p:nvCxnSpPr>
            <p:cNvPr id="42" name="Düz Ok Bağlayıcısı 41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Metin kutusu 43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13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443449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5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7" name="Grup 36"/>
          <p:cNvGrpSpPr/>
          <p:nvPr/>
        </p:nvGrpSpPr>
        <p:grpSpPr>
          <a:xfrm>
            <a:off x="4159288" y="833246"/>
            <a:ext cx="308097" cy="451812"/>
            <a:chOff x="4159288" y="833246"/>
            <a:chExt cx="308097" cy="451812"/>
          </a:xfrm>
        </p:grpSpPr>
        <p:cxnSp>
          <p:nvCxnSpPr>
            <p:cNvPr id="42" name="Düz Ok Bağlayıcısı 41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Metin kutusu 43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41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565216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5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4159288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29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249186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742196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6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27164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742196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95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29731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4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7" name="Dikdörtgen 3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742196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56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Ok Bağlayıcısı 3"/>
          <p:cNvCxnSpPr/>
          <p:nvPr/>
        </p:nvCxnSpPr>
        <p:spPr>
          <a:xfrm>
            <a:off x="5608690" y="345438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742196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7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742196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417628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7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30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742196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443295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7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71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4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742196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56521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29302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249186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64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29302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273249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74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29302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297312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49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29302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417627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47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29302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493025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06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29302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51548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96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3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329302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cxnSp>
        <p:nvCxnSpPr>
          <p:cNvPr id="46" name="Düz Ok Bağlayıcısı 45"/>
          <p:cNvCxnSpPr/>
          <p:nvPr/>
        </p:nvCxnSpPr>
        <p:spPr>
          <a:xfrm>
            <a:off x="5608690" y="566818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9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6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85487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249186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07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85487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270141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30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85487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296266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69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85487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418186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26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85487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493660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1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85487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518334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3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2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854870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566231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Dikdörtgen 45"/>
          <p:cNvSpPr/>
          <p:nvPr/>
        </p:nvSpPr>
        <p:spPr>
          <a:xfrm>
            <a:off x="3893930" y="399377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0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60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6" name="Dikdörtgen 45"/>
          <p:cNvSpPr/>
          <p:nvPr/>
        </p:nvSpPr>
        <p:spPr>
          <a:xfrm>
            <a:off x="3893930" y="399377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50" name="Düz Ok Bağlayıcısı 49"/>
          <p:cNvCxnSpPr/>
          <p:nvPr/>
        </p:nvCxnSpPr>
        <p:spPr>
          <a:xfrm>
            <a:off x="5608690" y="249186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9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5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6" name="Dikdörtgen 45"/>
          <p:cNvSpPr/>
          <p:nvPr/>
        </p:nvSpPr>
        <p:spPr>
          <a:xfrm>
            <a:off x="3893930" y="399377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50" name="Düz Ok Bağlayıcısı 49"/>
          <p:cNvCxnSpPr/>
          <p:nvPr/>
        </p:nvCxnSpPr>
        <p:spPr>
          <a:xfrm>
            <a:off x="5608690" y="272409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9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10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6" name="Dikdörtgen 45"/>
          <p:cNvSpPr/>
          <p:nvPr/>
        </p:nvSpPr>
        <p:spPr>
          <a:xfrm>
            <a:off x="3893930" y="399377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50" name="Düz Ok Bağlayıcısı 49"/>
          <p:cNvCxnSpPr/>
          <p:nvPr/>
        </p:nvCxnSpPr>
        <p:spPr>
          <a:xfrm>
            <a:off x="5608690" y="297083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9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29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50" name="Düz Ok Bağlayıcısı 49"/>
          <p:cNvCxnSpPr/>
          <p:nvPr/>
        </p:nvCxnSpPr>
        <p:spPr>
          <a:xfrm>
            <a:off x="5608690" y="34498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61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65809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6" name="Düz Ok Bağlayıcısı 45"/>
          <p:cNvCxnSpPr/>
          <p:nvPr/>
        </p:nvCxnSpPr>
        <p:spPr>
          <a:xfrm>
            <a:off x="5608690" y="297083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9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1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34498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6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46" name="Düz Ok Bağlayıcısı 45"/>
          <p:cNvCxnSpPr/>
          <p:nvPr/>
        </p:nvCxnSpPr>
        <p:spPr>
          <a:xfrm>
            <a:off x="5608690" y="297083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46" name="Düz Ok Bağlayıcısı 45"/>
          <p:cNvCxnSpPr/>
          <p:nvPr/>
        </p:nvCxnSpPr>
        <p:spPr>
          <a:xfrm>
            <a:off x="5608690" y="417551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07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46" name="Düz Ok Bağlayıcısı 45"/>
          <p:cNvCxnSpPr/>
          <p:nvPr/>
        </p:nvCxnSpPr>
        <p:spPr>
          <a:xfrm>
            <a:off x="5608690" y="49302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13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46" name="Düz Ok Bağlayıcısı 45"/>
          <p:cNvCxnSpPr/>
          <p:nvPr/>
        </p:nvCxnSpPr>
        <p:spPr>
          <a:xfrm>
            <a:off x="5608690" y="516248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0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1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448472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46" name="Düz Ok Bağlayıcısı 45"/>
          <p:cNvCxnSpPr/>
          <p:nvPr/>
        </p:nvCxnSpPr>
        <p:spPr>
          <a:xfrm>
            <a:off x="5608690" y="565597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9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55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013044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249186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77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013044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272408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12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013044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297083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00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013044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417551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7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013044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493025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61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013044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516247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51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42" name="Grup 41"/>
          <p:cNvGrpSpPr/>
          <p:nvPr/>
        </p:nvGrpSpPr>
        <p:grpSpPr>
          <a:xfrm>
            <a:off x="2013044" y="833246"/>
            <a:ext cx="308097" cy="451812"/>
            <a:chOff x="4159288" y="833246"/>
            <a:chExt cx="308097" cy="451812"/>
          </a:xfrm>
        </p:grpSpPr>
        <p:cxnSp>
          <p:nvCxnSpPr>
            <p:cNvPr id="44" name="Düz Ok Bağlayıcısı 43"/>
            <p:cNvCxnSpPr/>
            <p:nvPr/>
          </p:nvCxnSpPr>
          <p:spPr>
            <a:xfrm>
              <a:off x="4316056" y="1101725"/>
              <a:ext cx="0" cy="1833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159288" y="833246"/>
              <a:ext cx="308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i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9" name="Düz Ok Bağlayıcısı 48"/>
          <p:cNvCxnSpPr/>
          <p:nvPr/>
        </p:nvCxnSpPr>
        <p:spPr>
          <a:xfrm>
            <a:off x="5608690" y="565596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Dikdörtgen 45"/>
          <p:cNvSpPr/>
          <p:nvPr/>
        </p:nvSpPr>
        <p:spPr>
          <a:xfrm>
            <a:off x="3893930" y="40132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0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30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-1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6" name="Dikdörtgen 45"/>
          <p:cNvSpPr/>
          <p:nvPr/>
        </p:nvSpPr>
        <p:spPr>
          <a:xfrm>
            <a:off x="3893930" y="40132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0" name="Düz Ok Bağlayıcısı 49"/>
          <p:cNvCxnSpPr/>
          <p:nvPr/>
        </p:nvCxnSpPr>
        <p:spPr>
          <a:xfrm>
            <a:off x="5608690" y="249186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62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-1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6" name="Dikdörtgen 45"/>
          <p:cNvSpPr/>
          <p:nvPr/>
        </p:nvSpPr>
        <p:spPr>
          <a:xfrm>
            <a:off x="3893930" y="40132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42" name="Düz Ok Bağlayıcısı 41"/>
          <p:cNvCxnSpPr/>
          <p:nvPr/>
        </p:nvCxnSpPr>
        <p:spPr>
          <a:xfrm>
            <a:off x="5608690" y="614944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4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6277971" y="1501217"/>
            <a:ext cx="5889496" cy="5069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 anchor="b" anchorCtr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sonrakiBuyukEleman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- 1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 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&gt;=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0;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&lt;=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-1;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yigit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sonuc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881528" y="134198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947412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2379948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281246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3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245000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20192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24573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289554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3320999" y="172318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16" name="Dikdörtgen 15"/>
          <p:cNvSpPr/>
          <p:nvPr/>
        </p:nvSpPr>
        <p:spPr>
          <a:xfrm>
            <a:off x="368013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7" name="Dikdörtgen 16"/>
          <p:cNvSpPr/>
          <p:nvPr/>
        </p:nvSpPr>
        <p:spPr>
          <a:xfrm>
            <a:off x="4112679" y="132601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376232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187772" y="172317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1161" y="228904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sonuc[]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21" name="Dikdörtgen 20"/>
          <p:cNvSpPr/>
          <p:nvPr/>
        </p:nvSpPr>
        <p:spPr>
          <a:xfrm>
            <a:off x="1946507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2" name="Dikdörtgen 21"/>
          <p:cNvSpPr/>
          <p:nvPr/>
        </p:nvSpPr>
        <p:spPr>
          <a:xfrm>
            <a:off x="2379043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3" name="Dikdörtgen 22"/>
          <p:cNvSpPr/>
          <p:nvPr/>
        </p:nvSpPr>
        <p:spPr>
          <a:xfrm>
            <a:off x="281155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4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3244095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20183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0</a:t>
            </a:r>
            <a:endParaRPr lang="tr-TR" sz="1600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4564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1</a:t>
            </a:r>
            <a:endParaRPr lang="tr-TR" sz="1600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289464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2</a:t>
            </a:r>
            <a:endParaRPr lang="tr-TR" sz="1600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3320094" y="267024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3</a:t>
            </a:r>
            <a:endParaRPr lang="tr-TR" sz="1600" dirty="0"/>
          </a:p>
        </p:txBody>
      </p:sp>
      <p:sp>
        <p:nvSpPr>
          <p:cNvPr id="29" name="Dikdörtgen 28"/>
          <p:cNvSpPr/>
          <p:nvPr/>
        </p:nvSpPr>
        <p:spPr>
          <a:xfrm>
            <a:off x="367923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0" name="Dikdörtgen 29"/>
          <p:cNvSpPr/>
          <p:nvPr/>
        </p:nvSpPr>
        <p:spPr>
          <a:xfrm>
            <a:off x="4111774" y="227307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-1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376141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4</a:t>
            </a:r>
            <a:endParaRPr lang="tr-TR" sz="1600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4186867" y="267023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/>
              <a:t>5</a:t>
            </a:r>
            <a:endParaRPr lang="tr-TR" sz="1600" dirty="0"/>
          </a:p>
        </p:txBody>
      </p:sp>
      <p:sp>
        <p:nvSpPr>
          <p:cNvPr id="33" name="Metin kutusu 32"/>
          <p:cNvSpPr txBox="1"/>
          <p:nvPr/>
        </p:nvSpPr>
        <p:spPr>
          <a:xfrm>
            <a:off x="1292546" y="6199629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sonrakiBuyukEleman(dizi);</a:t>
            </a:r>
            <a:endParaRPr lang="tr-TR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8" name="Grup 37"/>
          <p:cNvGrpSpPr/>
          <p:nvPr/>
        </p:nvGrpSpPr>
        <p:grpSpPr>
          <a:xfrm>
            <a:off x="3684725" y="3232076"/>
            <a:ext cx="855449" cy="2462941"/>
            <a:chOff x="5227100" y="2413000"/>
            <a:chExt cx="1116000" cy="3213100"/>
          </a:xfrm>
        </p:grpSpPr>
        <p:sp>
          <p:nvSpPr>
            <p:cNvPr id="39" name="Dikdörtgen 38"/>
            <p:cNvSpPr/>
            <p:nvPr/>
          </p:nvSpPr>
          <p:spPr>
            <a:xfrm>
              <a:off x="5245100" y="2438400"/>
              <a:ext cx="1080000" cy="31877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227100" y="2413000"/>
              <a:ext cx="1116000" cy="3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  <p:sp>
        <p:nvSpPr>
          <p:cNvPr id="41" name="Metin kutusu 40"/>
          <p:cNvSpPr txBox="1"/>
          <p:nvPr/>
        </p:nvSpPr>
        <p:spPr>
          <a:xfrm>
            <a:off x="3671463" y="5714487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>
                <a:latin typeface="Lucida Console" panose="020B0609040504020204" pitchFamily="49" charset="0"/>
              </a:rPr>
              <a:t>yigit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3" name="Metin kutusu 42"/>
          <p:cNvSpPr txBox="1"/>
          <p:nvPr/>
        </p:nvSpPr>
        <p:spPr>
          <a:xfrm>
            <a:off x="704611" y="3204518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 smtClean="0">
                <a:latin typeface="Lucida Console" panose="020B0609040504020204" pitchFamily="49" charset="0"/>
              </a:rPr>
              <a:t>dizi.uzunluk = 6</a:t>
            </a:r>
          </a:p>
          <a:p>
            <a:pPr algn="r"/>
            <a:r>
              <a:rPr lang="tr-TR" dirty="0">
                <a:latin typeface="Lucida Console" panose="020B0609040504020204" pitchFamily="49" charset="0"/>
              </a:rPr>
              <a:t>i = </a:t>
            </a:r>
            <a:r>
              <a:rPr lang="tr-TR" dirty="0" smtClean="0">
                <a:latin typeface="Lucida Console" panose="020B0609040504020204" pitchFamily="49" charset="0"/>
              </a:rPr>
              <a:t>-1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7" name="Dikdörtgen 46"/>
          <p:cNvSpPr/>
          <p:nvPr/>
        </p:nvSpPr>
        <p:spPr>
          <a:xfrm>
            <a:off x="3895160" y="513325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Dikdörtgen 47"/>
          <p:cNvSpPr/>
          <p:nvPr/>
        </p:nvSpPr>
        <p:spPr>
          <a:xfrm>
            <a:off x="3893930" y="4575020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7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6" name="Dikdörtgen 45"/>
          <p:cNvSpPr/>
          <p:nvPr/>
        </p:nvSpPr>
        <p:spPr>
          <a:xfrm>
            <a:off x="3893930" y="4013255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845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145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158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Parantez Kontrolü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S, '(', </a:t>
            </a:r>
            <a:r>
              <a:rPr lang="tr-TR" dirty="0"/>
              <a:t>')', '{', '}', '[' ve ']' </a:t>
            </a:r>
            <a:r>
              <a:rPr lang="tr-TR" dirty="0" smtClean="0"/>
              <a:t>karakterlerinden oluşan bir karakter dizisidir.</a:t>
            </a:r>
          </a:p>
          <a:p>
            <a:r>
              <a:rPr lang="tr-TR" dirty="0" smtClean="0"/>
              <a:t>S dizisi; (1) aç parantezler aynı tip parantez ile kapatılmış ise ve (2) parantezler doğru sırada kapatılmış ise geçerlidir.</a:t>
            </a:r>
          </a:p>
          <a:p>
            <a:r>
              <a:rPr lang="tr-TR" dirty="0" smtClean="0"/>
              <a:t>Problemi </a:t>
            </a:r>
            <a:r>
              <a:rPr lang="tr-TR" dirty="0"/>
              <a:t>çözmek için, </a:t>
            </a:r>
            <a:r>
              <a:rPr lang="tr-TR" dirty="0" smtClean="0"/>
              <a:t>eşleşmemiş açık parantezler </a:t>
            </a:r>
            <a:r>
              <a:rPr lang="tr-TR" dirty="0"/>
              <a:t>takip </a:t>
            </a:r>
            <a:r>
              <a:rPr lang="tr-TR" dirty="0" smtClean="0"/>
              <a:t>edilmelidir.</a:t>
            </a:r>
          </a:p>
          <a:p>
            <a:r>
              <a:rPr lang="tr-TR" dirty="0" smtClean="0"/>
              <a:t>S dizisi baştan sona gezilir.</a:t>
            </a:r>
          </a:p>
          <a:p>
            <a:pPr lvl="1"/>
            <a:r>
              <a:rPr lang="tr-TR" dirty="0" smtClean="0"/>
              <a:t>Karakter açık parantez ise, yığına eklenir. </a:t>
            </a:r>
          </a:p>
          <a:p>
            <a:pPr lvl="1"/>
            <a:r>
              <a:rPr lang="tr-TR" dirty="0" smtClean="0"/>
              <a:t>Karakter kapalı parantez ise, yığından çıkarılır.</a:t>
            </a:r>
          </a:p>
          <a:p>
            <a:pPr lvl="1"/>
            <a:r>
              <a:rPr lang="tr-TR" dirty="0" smtClean="0"/>
              <a:t>Karakter ile yığından çıkan aynı tipte değilse S dizisi </a:t>
            </a:r>
            <a:r>
              <a:rPr lang="tr-TR" b="1" dirty="0" smtClean="0"/>
              <a:t>geçersizdir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S dizisi sonuna gelindiğinde yığın boş ise, S dizisi </a:t>
            </a:r>
            <a:r>
              <a:rPr lang="tr-TR" b="1" dirty="0" smtClean="0"/>
              <a:t>geçerlidir</a:t>
            </a:r>
            <a:r>
              <a:rPr lang="tr-TR" dirty="0" smtClean="0"/>
              <a:t>.</a:t>
            </a:r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98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Parantez Kontrolü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 smtClean="0">
                <a:latin typeface="Consolas" panose="020B0609020204030204" pitchFamily="49" charset="0"/>
              </a:rPr>
              <a:t>Girdi		İşlem		Yığın</a:t>
            </a:r>
            <a:endParaRPr lang="tr-TR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{       </a:t>
            </a:r>
            <a:r>
              <a:rPr lang="tr-TR" dirty="0" smtClean="0">
                <a:latin typeface="Consolas" panose="020B0609020204030204" pitchFamily="49" charset="0"/>
              </a:rPr>
              <a:t>	</a:t>
            </a:r>
            <a:r>
              <a:rPr lang="tr-TR" dirty="0" err="1" smtClean="0">
                <a:latin typeface="Consolas" panose="020B0609020204030204" pitchFamily="49" charset="0"/>
              </a:rPr>
              <a:t>push</a:t>
            </a:r>
            <a:r>
              <a:rPr lang="tr-TR" dirty="0" smtClean="0">
                <a:latin typeface="Consolas" panose="020B0609020204030204" pitchFamily="49" charset="0"/>
              </a:rPr>
              <a:t>        </a:t>
            </a:r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{       </a:t>
            </a:r>
            <a:r>
              <a:rPr lang="tr-TR" dirty="0" smtClean="0">
                <a:latin typeface="Consolas" panose="020B0609020204030204" pitchFamily="49" charset="0"/>
              </a:rPr>
              <a:t>	</a:t>
            </a:r>
            <a:r>
              <a:rPr lang="tr-TR" dirty="0" err="1" smtClean="0">
                <a:latin typeface="Consolas" panose="020B0609020204030204" pitchFamily="49" charset="0"/>
              </a:rPr>
              <a:t>push</a:t>
            </a:r>
            <a:r>
              <a:rPr lang="tr-TR" dirty="0" smtClean="0">
                <a:latin typeface="Consolas" panose="020B0609020204030204" pitchFamily="49" charset="0"/>
              </a:rPr>
              <a:t>        { {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[       </a:t>
            </a:r>
            <a:r>
              <a:rPr lang="tr-TR" dirty="0" smtClean="0">
                <a:latin typeface="Consolas" panose="020B0609020204030204" pitchFamily="49" charset="0"/>
              </a:rPr>
              <a:t>	</a:t>
            </a:r>
            <a:r>
              <a:rPr lang="tr-TR" dirty="0" err="1" smtClean="0">
                <a:latin typeface="Consolas" panose="020B0609020204030204" pitchFamily="49" charset="0"/>
              </a:rPr>
              <a:t>push</a:t>
            </a:r>
            <a:r>
              <a:rPr lang="tr-TR" dirty="0" smtClean="0">
                <a:latin typeface="Consolas" panose="020B0609020204030204" pitchFamily="49" charset="0"/>
              </a:rPr>
              <a:t>        { { [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]       </a:t>
            </a:r>
            <a:r>
              <a:rPr lang="tr-TR" dirty="0" smtClean="0">
                <a:latin typeface="Consolas" panose="020B0609020204030204" pitchFamily="49" charset="0"/>
              </a:rPr>
              <a:t>	pop         { {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       </a:t>
            </a:r>
            <a:r>
              <a:rPr lang="tr-TR" dirty="0" smtClean="0">
                <a:latin typeface="Consolas" panose="020B0609020204030204" pitchFamily="49" charset="0"/>
              </a:rPr>
              <a:t>	pop         </a:t>
            </a:r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(       </a:t>
            </a:r>
            <a:r>
              <a:rPr lang="tr-TR" dirty="0" smtClean="0">
                <a:latin typeface="Consolas" panose="020B0609020204030204" pitchFamily="49" charset="0"/>
              </a:rPr>
              <a:t>	</a:t>
            </a:r>
            <a:r>
              <a:rPr lang="tr-TR" dirty="0" err="1" smtClean="0">
                <a:latin typeface="Consolas" panose="020B0609020204030204" pitchFamily="49" charset="0"/>
              </a:rPr>
              <a:t>push</a:t>
            </a:r>
            <a:r>
              <a:rPr lang="tr-TR" dirty="0" smtClean="0">
                <a:latin typeface="Consolas" panose="020B0609020204030204" pitchFamily="49" charset="0"/>
              </a:rPr>
              <a:t>        { (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)       </a:t>
            </a:r>
            <a:r>
              <a:rPr lang="tr-TR" dirty="0" smtClean="0">
                <a:latin typeface="Consolas" panose="020B0609020204030204" pitchFamily="49" charset="0"/>
              </a:rPr>
              <a:t>	pop         </a:t>
            </a:r>
            <a:r>
              <a:rPr lang="tr-TR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       </a:t>
            </a:r>
            <a:r>
              <a:rPr lang="tr-TR" dirty="0" smtClean="0">
                <a:latin typeface="Consolas" panose="020B0609020204030204" pitchFamily="49" charset="0"/>
              </a:rPr>
              <a:t>	pop         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[       </a:t>
            </a:r>
            <a:r>
              <a:rPr lang="tr-TR" dirty="0" smtClean="0">
                <a:latin typeface="Consolas" panose="020B0609020204030204" pitchFamily="49" charset="0"/>
              </a:rPr>
              <a:t>	</a:t>
            </a:r>
            <a:r>
              <a:rPr lang="tr-TR" dirty="0" err="1" smtClean="0">
                <a:latin typeface="Consolas" panose="020B0609020204030204" pitchFamily="49" charset="0"/>
              </a:rPr>
              <a:t>push</a:t>
            </a:r>
            <a:r>
              <a:rPr lang="tr-TR" dirty="0" smtClean="0">
                <a:latin typeface="Consolas" panose="020B0609020204030204" pitchFamily="49" charset="0"/>
              </a:rPr>
              <a:t>        </a:t>
            </a:r>
            <a:r>
              <a:rPr lang="tr-TR" dirty="0">
                <a:latin typeface="Consolas" panose="020B0609020204030204" pitchFamily="49" charset="0"/>
              </a:rPr>
              <a:t>[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]       </a:t>
            </a:r>
            <a:r>
              <a:rPr lang="tr-TR" dirty="0" smtClean="0">
                <a:latin typeface="Consolas" panose="020B0609020204030204" pitchFamily="49" charset="0"/>
              </a:rPr>
              <a:t>	pop </a:t>
            </a: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23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Parantez Kontrolü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.toCharArray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'('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'['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'{'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String.</a:t>
            </a:r>
            <a:r>
              <a:rPr lang="tr-TR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valueOf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'}'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equals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"{"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 ||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      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']'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equals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"["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 ||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      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')'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&amp;&amp; !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equals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"("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35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149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499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Kuleleri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Hanoi Kuleleri, bilgisayar bilimleri ve matematikte klasik bir </a:t>
            </a:r>
            <a:r>
              <a:rPr lang="tr-TR" dirty="0" smtClean="0"/>
              <a:t>problemdir.</a:t>
            </a:r>
          </a:p>
          <a:p>
            <a:r>
              <a:rPr lang="tr-TR" dirty="0" smtClean="0"/>
              <a:t>Aşağıdaki kurallara </a:t>
            </a:r>
            <a:r>
              <a:rPr lang="tr-TR" dirty="0"/>
              <a:t>uyarak bir disk </a:t>
            </a:r>
            <a:r>
              <a:rPr lang="tr-TR" dirty="0" smtClean="0"/>
              <a:t>yığını </a:t>
            </a:r>
            <a:r>
              <a:rPr lang="tr-TR" dirty="0"/>
              <a:t>bir çividen diğerine </a:t>
            </a:r>
            <a:r>
              <a:rPr lang="tr-TR" dirty="0" smtClean="0"/>
              <a:t>taşınır.</a:t>
            </a:r>
            <a:endParaRPr lang="tr-TR" dirty="0"/>
          </a:p>
          <a:p>
            <a:pPr lvl="1"/>
            <a:r>
              <a:rPr lang="tr-TR" dirty="0"/>
              <a:t>Aynı anda </a:t>
            </a:r>
            <a:r>
              <a:rPr lang="tr-TR" dirty="0" smtClean="0"/>
              <a:t>bir </a:t>
            </a:r>
            <a:r>
              <a:rPr lang="tr-TR" dirty="0"/>
              <a:t>disk taşınabilir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Bir </a:t>
            </a:r>
            <a:r>
              <a:rPr lang="tr-TR" dirty="0"/>
              <a:t>disk </a:t>
            </a:r>
            <a:r>
              <a:rPr lang="tr-TR" dirty="0" smtClean="0"/>
              <a:t>daha </a:t>
            </a:r>
            <a:r>
              <a:rPr lang="tr-TR" dirty="0"/>
              <a:t>büyük bir diskin veya boş </a:t>
            </a:r>
            <a:r>
              <a:rPr lang="tr-TR" dirty="0" smtClean="0"/>
              <a:t>çivinin </a:t>
            </a:r>
            <a:r>
              <a:rPr lang="tr-TR" dirty="0"/>
              <a:t>üzerine yerleştirilebilir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Amaç</a:t>
            </a:r>
            <a:r>
              <a:rPr lang="tr-TR" dirty="0"/>
              <a:t>, gerektiğinde </a:t>
            </a:r>
            <a:r>
              <a:rPr lang="tr-TR" dirty="0" smtClean="0"/>
              <a:t>yardımcı </a:t>
            </a:r>
            <a:r>
              <a:rPr lang="tr-TR" dirty="0"/>
              <a:t>bir </a:t>
            </a:r>
            <a:r>
              <a:rPr lang="tr-TR" dirty="0" smtClean="0"/>
              <a:t>çivi kullanarak </a:t>
            </a:r>
            <a:r>
              <a:rPr lang="tr-TR" dirty="0"/>
              <a:t>tüm disk yığınını </a:t>
            </a:r>
            <a:r>
              <a:rPr lang="tr-TR" dirty="0" smtClean="0"/>
              <a:t>kaynaktan hedefe taşımaktır</a:t>
            </a:r>
            <a:r>
              <a:rPr lang="tr-TR" dirty="0"/>
              <a:t>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78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Kuleleri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151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AutoShape 2" descr="data:image/png;base64,iVBORw0KGgoAAAANSUhEUgAAAdQAAADYCAYAAABSkhKjAAAc10lEQVR4Ae2dAXLcOA5F27nS7FzJvoF9heQIzl3j3sIkSGgGkigKIgH16yqXRJAiPx/Q/NO2x7ndbrc7XzCgBqgBaoAaoAYO18DhCTBk/qOEGqAGqAFqgBqQ/yLhBQEIQAACEIBAP4EvX77If1BgqP0IeRICEIAABCBwv2OoVAEEIAABCEDAgQCG6gCRKSAAAQhAAAIYKjUAAQhAAAIQcCCAoTpAZAoIQAACEIAAhkoNQAACEIAABBwIYKgOEJkCAhCAAAQggKFSAxCAAAQgAAEHAhiqA0SmgAAEIAABCGCo1AAEIAABCEDAgcCphrr0R5Yt3fXYcoz2WbG1Ph1fjtF7veoYrhCAAAQgAIEjBE411FLYloGV/eW9zHGkXT5b3lvzlnq5hwAEIAABCOwhMMRQayOzBNZjynZ5L8/W7Xo+7der9tdtjXOFAAQgAAEIHCVwuqGqiel1SXDdX7bLe31eY3rVuFw1Jtf6VfZZ/fV42hCAAAQgAIEWAqcbailCzayM6X3dV7bLex1fXut+bct17aXj1sbQBwEIQAACEGghcHlDXTNVDLWlRBgDAQhAAAItBE411Nqw6nYpsOwr72XMkXb5bHlvzVvq4R4CEIAABCCwh8CphipC1MT0uiRO+/VajluLrfXpHOUYvderjuEKAQhAAAIQOELgdEM9Io5nIQABCEAAAlkIYKhZMoVOCEAAAhAITQBDDZ0exEEAAhCAQBYCGGqWTKETAhCAAARCE8BQQ6cHcRCAAAQgkIUAhpolU+iEAAQgAIHQBDDU0OlBHAQgAAEIZCGAoWbJFDoh4Ejg27dv//0/4m9vb/ePjw/HmX2n+vr16/3p6ekeXafsWrW+vr76QmC2NATSGKoUq/wxBnljRX5l0SkMM2mNnPOM2jBU/6xhqP5Ms82IoTpnLJNJZdLqnKbp07X+pS75dCZjvT9FYqj+JYCh+jPNNiOG6pyxTCaVSatzmqZOt2SmS/EzTBVD9S8BDNWfabYZMVTnjGUyqUxandM0dTrLODUm1/qFofIz1LomaMckgKE65yWTSWXS6pymadOpcVoC1vq8TZVPqFYGjsXk/SR54peSjnHM/DSG6py9TCaVSatzmqZNt2aaa30YauzfRpaCwlCnva3CLIyhOqcik0ll0uqcpmnTrZnmWh+GiqFOK1oWbiaAoTajahuYyaQyaW2jH3/Ummmu9WGoGGr86kYhhupcA5lMKpNW5zRNnW7JOJfi3mYqm+dnqP4lIO8nyRU/Q/Vnm2VGDNU5U5lMKpNW5zRNnW7JOJfiGCq/5Tu1YFm8mQCG2oyqbWAmk8qktY1+nlFL5lnv4AwzlTX4hFqTPt6W9xOfUI9zzDwDhuqcvUwmlUmrc5oefjoM1b8EMFR/ptlmxFCdM5bJpDJpdU7Tw0+HofqXAIbqzzTbjBiqc8YymVQmrc5pevjpMFT/EsBQ/ZlmmxFDdc5YJpPKpNU5TQ8/HYbqXwIYqj/TbDNiqM4Zy2RSmbQ6p+nhp8NQ/UsAQ/Vnmm1GDNU5Y5lMKpNW5zQ9/HQYqn8JYKj+TLPNGMZQ39+f7x5fsxOQyaQyaZ2d16utj6H6ZxRD9WeabcYwhvr8/s/d42t2AjKZVCats/N6tfUxVP+MYqj+TLPNiKE6ZyyTSWXS6pymh58OQ/UvAQzVn2m2GTFU54xlMqlMWp3T9PDTYaj+JYCh+jPNNiOG6pyxTCaVSatzmi433cvL/f78fP7Xx8dYdGpSb2/8azNjybNaD4FphjrizS9rjH5lMqlMWkfnMdt6GOr8jKn586/NzM/FLAUYqjP5TCaVSatzmi43HYY6P6UY6vwczFaAoTpnIJNJZdLqnKbLTYehzk8phjo/B7MVYKjOGchkUpm0OqfpctNhqPNTiqHOz8FsBRiqcwYymVQmrc5pyj3d09P9frvF+Dr5t5TUpCL8UtL7+8sl/vhM7uKPrX6MoUZ584uOk1+ZTCqT1pPTlmt6DHVKvl7e/+f0x2cG/6r0FFqPuSiG6pz3TCaVSatzmnJPh6FOyR+GOgV7qkUxVOd0ZTKpTFqd05R7Ogx1Sv4w1CnYUy2KoTqnK5NJZdLqnKbc02GoU/KHoU7BnmpRDNU5XZlMKpNW5zSFnu52u935gsFaDXyc/Mtgod8ggcW5GOpa4unjYJAa4NVOgPcM75mtGsBQ299PI0diqHwaGPJpaGRRZ19r6zClH8PFUGO+yzFUDBVDjfneRBUEIJCMgIuhJtszciEAAQhAAALuBDBUd6RMCAEIQAACj0gAQ33ErLPnhyfw9PT037f6o/4sTvXVPy+OqNfSGlHnwxf9AABpDFXfWAOYdC2h+upr12QnP1RrlDavxyKgJhD14Lf0WbHZWbM0WbHZOll/DAEM1YmzmlQ5nRUr+2fcW5qs2AxtrDmGgB74mveIpqoaS21WbAyx5VUialpWS8/ZBFIYqr7x9Xo2lJ75LW1WrGduz2ciavLcH3NtE1AT0FooTWv76TEjao1RtarOiAzHZIpVSgIYaknjwL2+4evrgSlPeVT1nTI5k4YnUBtA3Y6yAUuXFZutN6Km2Uweef3whlobQN2OkjxLlxWbrTeiptlMHmn92gDqdhQWli4rNltvRE2zmTzy+hiqU/Yto7JiTst1TxNRU/dmeHAXAT38tQbqa6RvW6rWUpMV2wXghMERNZ2wTaZsJBDaUOs3fN1u3OOQYaqtXMyKlf0z7iNqmsHhEddcOvyX4jMZWZqs2EyNsralyYrN1sn6YwikMNQaRURTsDRZsXovo9uWJis2WhfrnU9g6aBfip+vaHkF1aS1qdfyE+vy02N7LK0RdY6l8pirYahOedc3fH11mt51mlqjtHlBAAIQgMAxAqEN9djWeBoCEIAABCAwjgCGOo41K0EAAhCAwIUJYKgXTi5bgwAEIACBcQQw1HGsWQkCEIAABC5MAEO9cHLZGgQgAAEIjCOAoY5jzUoQgAAEIHBhAhjqhZPL1iAAAQhAYBwBDHUca1aCAAQgAIELE8BQL5xctgYBCEAAAuMIYKjjWLMSBCAAAQhcmACGeuHksjUIQAACEBhHAEMdx5qVIAABCEDgwgQw1Asnl61BAAIQgMA4AhjqONasBAEIQAACFyaAoV44uWwNAhCAAATGEcBQx7FmJQhAAAIQuDCBFIb69evXu/wj2G9vb6FTkUWnQMykdUTSs/D49u3b7/fCx8fHCDTda2TS2r3Jxgelvp6enu6vr6+NT8wZJjlTnRnqK5rWLkMVc5OvrVfruK15shx2WXQK7+haW2unddxVaiyTSWXSulUfR/sx1KME/34+ovnvNlTrANOYXsutW7Gyv+U++uGve8iiU/RG1lrXjLbrq3LXuLZ7rpF5lPvJZFJRtcqnGqmZrU9grePK/CzdS33pp6mlMRHiEU1qiUtErYcNtT7MttpLcNbiWQ67LDqFdWStdQ2VtWH1WbHymZb7yDxK/VFNqtSo9xG1bplk3V+3dW97r1JfGOpeauvj0xtqy8FljbFi66g+92Y57LLoFLpRta7VSm/f52qyW1F51GojmlStUdsRta4ZpPZJnemnV41pW/e29yr1haHupbY+/vKGunTgLcXXcf3pzXLYZdEpZKNqXaoVjev1T3X8vFuK1+OW2lF51HojmlStUdvRtK6Zo/ZpHZUGqn1lTPfYepX6wlBbabWNu7ShaiFaKNb6rPF1LMthl0Wn8I2qtaVWrDFWrK6jtXZUHrXmaCZV6yvb0bQuGWMZL+91L1ZM+1qvUl8yD7/l20pse9xlDXXrMNvq30KX5bDLolN4R9XaUivWGCu2VVdlf1QepUa5j2ZStb6yHU2rZYx1rG7LfqxYuc+We6kvmQdDbaHVNia9oco264Orbtcotvrr8VY7y2GXRacwjqy1rpm9bauGtmKReZTao5lUqa2+j6bVMkaNaY2VV/0Wr47Rdr3PlrbUF4baQqp9zKUNtSxEudeXxrXdc81y2GXRKTmIrNWqGY3ptawjK1b2t9xH5lHqj2ZSpbb6PqLWLXOs++t2vcfWttQXhtpKq23cJQxVttp6gLWO28KX5bDLolN4R9faWjut465SYxFNaoltRK1bBln31+2lvW7FMdQtQvv7L2Oo+7d+7Inoh7/uLotO0ZtJq/I985qFR0STWspLVK2tJtk6bmn/ZVzqS+bjZ6gllWP3GGonvyyHXRadkoZMWjvLZtdjWXhENSkLdiatln7PmNQXhupJ9Ocv6CnTIz/f9lS1+y8leS7eOleWwy6LTuGeSWtrnRwZl4VHJpPKpPVI7bQ8K/Wlh3/L+FljJGeqM4pJLbGIqBVDXcpWRzzLoSxby6S1IxW7H8nCI5NJZdK6u2B2PoCh7gTWMBxDbYBkDcly2GXRKYwzabVqwjuWhUcmk8qk1bue6vmkvvSTX90XqR3RpJb4RNTKJ9SlbHXEsxzKsrVMWjtSsfuRLDwymVQmrbsLZucDGOpOYA3DMdQGSNaQLIddFp3COJNWqya8Y1l4ZDKpTFq966meT+qLT6g1lWNtDLWTX5bDLotOSUMmrZ1ls+uxLDwymVQmrbuKpWOw1BeG2gFu5REMdQXOWleWwy6LTmGdSetabXj1ZeGRyaQyafWqo6V5pL4w1CU6fXEMtY9bmsM/y6EsaciktbNsdj2WhUcmk8qkdVexdAzGUDugbTyCoW4AWurOcthl0SmcM2ldqgvPeBYemUwqk1bPWrLmkvriE6pFpj+GoXayy3LYZdEpaciktbNsdj0Wicf7+/Pd42v2/5iPof4pQamvCIb6/fvLJWpLyGKof+pr112kw25NeBadsodMWteYe/VF4vH8/s/d4wtD9aqO4/NIfUUw1Jfv/zrV1o/jUA7OgKF2Aox02K1tIYtO2UMmrWvMvfoi8fAwU5kDQ/WqjuPzSH1hqMc5ljNgqCWNHfeRDrs12Vl0yh4yaV1j7tUXiQeG6pXVOPNIfWGovvnAUDt5Rjrs1raQRafsIZPWNeZefZF4YKheWY0zj9QXhuqbj8c01NtN/kXyGF878/n8fL+P+Nopq2m4xy+1yBwpXlHqS3R0vEbUmKzx8dEh7sAjcuDJPwD/9vY2/dvPB7bh8ugsQ315GXOGddXWly8xfEHetz98fiZ8/t/yTXzYjTroXN6x1SRen3KqaWM2E9eYAB1VZ12H3oGMY6h/4GGof1j8vsNQf6Nov0l82I066Nphto/EUCd9V6Q9Rb9HjqozDPU38uE3GKqBHEM1oGyFMNTNTyBbCHv6MVQMtTZqDLXnneTzDIZqcMRQDShbIQwVQ92qkaP9iWtMtl4b31ltDPVoofU/j6Ea7DDUv6HILx3wBYO1Gvi7avZF1uamj9qTGjjy/9zKb99SR9TRWg38aPylpcO/lLQmgj6KVGrg6Is6oo62agBDpUa2auRIP4bKJ+cw/9WNoXLYHTnMWp7FUKmxljrpHTPMUI8eljwPAQhAAAIQuAKBw9/yvQIE9gABCEAAAhA4SgBDPUqQ5yEAAQhAAAL3+z2Foer3vaNmTPXV14h6a43S5iV/Ae3nz6Cislj6TdQjPzs8a6+W1og6z9q/Na8yicrhlxH8fh/o+6H1Z4fWns+KWVqj6MRQHbKuxVdOZcXK/hn3liYrNkPb7DWjc7AOZCs2m6OlyYrN1jl6/egM1KRKY7Jio7nV61marFj93Kj2Ly1xP6XoQafXUWD2rGNps2J75jxjbERNZ+xz75zKRa97nx8x3jqQrdgILWtrRNS0pndEnzLR+or4KdUyJSs2gtfaGhE1lXox1JJG572+Uepr53SnPab6Tlsg6cTKRa8Rt1Efyqo12uGsOqPpmplTZRI1Z8JGjUo16rX8xDqToa6tOqPpqvTF/ISqSVWxdVvjs6+WLisWUedsTbPXr/NUt2fr0/X1UC6Nyorp+FnXiJpmsZB1ax51e6a2cm3LqKxY+cyM+4iaSg6/9GGoJZS999YhbMX2zus9PqIm7z3una9mUrf3znfWeOsgtmJnrd86b0RNrdrPGFfzqNtnrNkzp2VUVqxnbs9nImoq9xfWUPVgW7qWm5h9rxpLHVas7J9xH1HTDA66pvJYuuq4CFfrILZis7VG1DSLibJYqq/yuw2zNOq6llFZMR0/6xpRU8kivKGWYuVei7OOz2xbmqzYTI1L7CLqHMVpae9L8VG6rHX0cC4PYStmPTsyZmmyYiM1zVprad9L8Vk6ZV3LqKzYTI0ZdGKoDhWiB3B9dZjafYpao7Qf9aUs6v0vxetxI9t6CKs2vZYGO1LP2lqW1og61/bg0acc6r0vxT3W7J1DzVPrSq8Rf/nH0hpFZ1hD7S0MnoMABCAAAQjMIIChzqDOmhCAAAQgcDkCGOrlUsqGIAABCEBgBgEMdQZ11oQABCAAgcsRwFAvl1I2BAEIQAACMwhgqDOosyYEIAABCFyOAIZ6uZSyIQhAAAIQmEEAQ51BnTUhAAEIQOByBDDUy6WUDUEAAhCAwAwCGOoM6qwJAQhAAAKXI4ChXi6lbAgCEIAABGYQwFBnUGdNCEAAAhC4HAEM9XIpZUMQgAAEIDCDAIY6gzprQgACEIDA5QhgqJdLKRuCAAQgAIEZBDDUGdRZEwIQgAAELkcAQ71cStkQBCAAAQjMIIChzqDOmhCAAAQgcDkCaQz169ev99vtdn97ewudhCw6BWImrSOSnoXHt2/ffr8XPj4+RqDpXiOT1u5NNj4o9fX09HR/fX1tfGLOMMmZ6sxQX5G0YqjONZvlUJZtZ9LqnCZzuiw8MplUJq1mUTgGMVRHmL+mimb+uwxVPiHK19arddzWPGV/lsMui05hG1Vra/20jivraO0+Ko9acyaTiqhVPtFI7Wx9+modV+dnqS31pZ+mlsZEiEczqTUm0bQ2G2p9eGm7vurmNa7to9csh10WnZKPiFqX6kbjci1fGi9jvfcReVh7iWhSlk6JRdNam6S2tY70qmar/dpe2mdLXOoLQ20h1T7mcoa6tHUtzKX+vfEsh10WncI/olarbqyY1s9an45pvUbkYWmPZlKWRo1F07plkHV/3dZ99VylvjDUHnLLz6Q0VOvQsmL1tlvG1M8stbMcdll0CudoWq16sWJ1jbSMqZ+x2tF4WBolFs2klnRG09pijtYYK7a256U+qS8MdYlOX/xyhqqHmVzrl/bV8Z52lsMui07JQTStVr1orLzW9aN9dXxvOxqPJf0Y6hKZ9fiWMS71L8XXV/u7V+oLQ/2by5HIZQy1hmAdalasfq61neWwy6JTuEfTatVLHavbsg8r1lpX5bhoPEpt5T2GWtJov98yxqX+pXj7yj9HSn1hqHuprY/HUNf5LPZmOeyy6BTQ0bRaxljH6rbsw4otFtJKRzQeS1Ix1CUy6/E1Y+ztW1/xc6/UF4b6mcnRVkpDlU3Xh9be9lFwWQ67LDolHxG17q2revyROovIw9oPhmpRaYstGefeeNtqn0dJfWGon5kcbV3GUAWEHmZ6LeFYsbJ/732Wwy6LTuEfUatVNxrTa1k7Vqzs33MfkYelH0O1qLTF9hrn0vi21T6PkvrCUD8zOdpKa6iy8dbDq3XcHphZDrssOoV9VK2t9dM6rrXOovKo9WOoNZF97VaTbB3XurrUF4baSqttXGpDbdviOaOyHHZZdEqWMmk9p6o+z5qFB4b6OW9ZWlJfGKpvtjDUTp5ZDrssOiUNmbR2ls2ux7LwwFB3pTXMYKkvDNU3HRhqJ88sh10WnZKGTFo7y2bXY1l4YKi70hpmsNQXhuqbDgy1k2eWwy6LTklDJq2dZbPrsSw8MNRdaQ0zWOoLQ/VNB4bayTPLYZdFp6Qhk9bOstn1WBYeGOqutIYZLPWFofqmA0Pt5JnlsMuiU9KQSWtn2ex6LAsPDHVXWsMMlvrCUPen4/v3l/v7+/PhL49/MWhLffM/37Y10dn9WQ67LDolX5m0nl1fmXhgqCOqwX8NDLWP6cv3f+/P7/8c/vr4+NEnYMdTGOoOWC1DM5lUJq0t7I+OycIDQz2a6TnPY6h93DHUPm6rT2U57LLoFNiZtK4Wh1NnFh4YqlPCB08j9cW3fPdDx1D3M9t8Isthl0WnAM+kdbNAHAZk4YGhOiR7whRSXxjqfvAY6n5mm09kOeyy6BTgmbRuFojDgCw8Zhrqy8v9/vx8/tfHh0NCg00h9YWhbiclc43xM9Tt/O4akeVQlk1l0rorCZ2Ds/DAUDsTPPkxDLUtARhqG6dDo7Icdll0SjIyaT1UPI0PZ+GBoTYmNNgwqS8+oW4nBUPdZnR4RJbDLotOSUgmrYcLqGGCLDww1IZkBhwi9YWhbicGQ91mdHhElsMui05JSCathwuoYYIsPDDUhmQGHCL1haFuJwZD3Wa0OcLjL2HIHN6vEb+AIWt0vW43+UdqY3x1bWD8Q1HrbA+JoYb69BSjvqTOk/+mEoZqVPmXL3Hq68fxP/wQ5peSPP4Shszh/cJQGw3bG/xJ80Wtsz3bxVD30IozFkM1coGhGlAcQlEPOgwVQ7Vq06Hku6fAULvRTX0QQzXwY6gGFIeQdWj1xBykfJoCQ8VQrTr8VCSDGxjqYOBOy2GoBkgM1YDiELIOrZ6Yg5RPU2CoGKpVh5+KZHADQx0M3Gk5DNUAiaH+DeV2u935gsFaDfxdNfsia3PTR+1JDRz557nkt2+pI+porQZ+NPzSkssvJa2JoI8ilRo4+qKOqKOtGsBQqZGtGjnSj6HyyTnMf3VjqBx2Rw6zlmcxVGqspU56xwwz1KOHJc9DAAIQgAAEshNw+ZZvdgjohwAEIAABCBwlgKEeJcjzEIAABCAAgfv9nsZQ9fveUbOm+uprRL21Rmnzkr+A9vNnUFFZLP0m6pGfHZ61V0trRJ1n7d+aV5lE5fDLDH6/D/T90PKzQ2u/Z8YsrRF0YqhOWdfiK6ezYmX/jHtLkxWboW32mtE5WAeyFZvN0dJkxWbrHL1+dAZqUqUxWbHR3Or1LE1WrH5uRPuXjtifUPSg0+sIMHvXsLRZsb3zeo+PqMl7jz3zKRe99sxx9jPWgWzFztaxNX9ETVuaz+5XJlpfET+lWqZkxc5mtTV/RE2qGUNVEgev+kaprwendX9c9blPnHxC5aLXiNupD2XVGu1wVp3RdM3MqTKJmjNho0alGvVafmKdyVDXVp3RdBUM435C1aQqzLqt8dlXS5cVi6hztqbZ69d5qtuz9en6eiiXRmXFdPysa0RNs1jIujWPuj1TW7m2ZVRWrHxmxn1ETcrhlzYMVYH0Xq1D2Ir1zu/1XERNXnvrnadmUrd75/V+zjqIrZj3unvni6hp7x48x9c86rbnWkfmsozKih1Zw+PZiJp0X6ENVQ+2patuIsJVNZZarFjZP+M+oqYZHHRN5bF01XERrtZBbMVma42oaRYTZbFUX+V3G2Zp1HUto7JiOn7WNaImZZHCUFWsXrU4tR3hammyYrO1Wpqs2Gydo9Zf2vtSfJQuax09nMtD2IpZz46MWZqs2EhNs9Za2vdSfJZOWdcyKis2U2N0nRiqU3XoAVxfnaZ3nabWKO1HfSmLev9L8XrcyLYewqpNr6XBjtSztpalNaLOtT149CmHeu9LcY81e+dQ89S60mvgX/759P/MRtAZ2lB7C4PnIAABCEAAAqMJYKijibMeBCAAAQhckgCGesm0sikIQAACEBhNAEMdTZz1IAABCEDgkgQw1EumlU1BAAIQgMBoAhjqaOKsBwEIQAAClySAoV4yrWwKAhCAAARGE8BQRxNnPQhAAAIQuCQBDPWSaWVTEIAABCAwmgCGOpo460EAAhCAwCUJ/DZU/TNTXG+f/pwVPOBBDVAD1AA1sKMGgLUDFoZ7o16oF2qAGqAGrBr4PyMn1GPPoCp3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9" name="Content Placeholder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" y="1531212"/>
            <a:ext cx="10800000" cy="49846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6275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Kuleleri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hanoi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diskSayisi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&lt;Disk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Disk(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diskSayisi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>
                <a:solidFill>
                  <a:srgbClr val="2A00FF"/>
                </a:solidFill>
                <a:latin typeface="Consolas" panose="020B0609020204030204" pitchFamily="49" charset="0"/>
              </a:rPr>
              <a:t>'A'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>
                <a:solidFill>
                  <a:srgbClr val="2A00FF"/>
                </a:solidFill>
                <a:latin typeface="Consolas" panose="020B0609020204030204" pitchFamily="49" charset="0"/>
              </a:rPr>
              <a:t>'B'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>
                <a:solidFill>
                  <a:srgbClr val="2A00FF"/>
                </a:solidFill>
                <a:latin typeface="Consolas" panose="020B0609020204030204" pitchFamily="49" charset="0"/>
              </a:rPr>
              <a:t>'C</a:t>
            </a:r>
            <a:r>
              <a:rPr lang="tr-TR" b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'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Başlangıç durumu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Disk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1)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3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3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3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3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2300" b="1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Diski"</a:t>
            </a:r>
            <a:r>
              <a:rPr lang="tr-TR" sz="23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3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23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sz="23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23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kaynak</a:t>
            </a:r>
            <a:r>
              <a:rPr lang="tr-TR" sz="23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300" b="1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"tan"</a:t>
            </a:r>
            <a:r>
              <a:rPr lang="tr-TR" sz="23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3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23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sz="23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23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hedef</a:t>
            </a:r>
            <a:r>
              <a:rPr lang="tr-TR" sz="23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300" b="1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"e taşı</a:t>
            </a:r>
            <a:r>
              <a:rPr lang="tr-TR" sz="23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."</a:t>
            </a:r>
            <a:r>
              <a:rPr lang="tr-TR" sz="23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  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Yardımcı çubuğu kullanarak diskleri geçici olarak taşı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Disk(</a:t>
            </a:r>
            <a:r>
              <a:rPr lang="tr-TR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-1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yard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kaynak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hedef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Disk(1,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kaynak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yardimci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hedef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Disk(</a:t>
            </a:r>
            <a:r>
              <a:rPr lang="tr-TR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-1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kaynak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hedef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disk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yard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92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Kuleleri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Döngünün içinde</a:t>
            </a:r>
            <a:r>
              <a:rPr lang="tr-TR" dirty="0"/>
              <a:t>, yığından bir Disk </a:t>
            </a:r>
            <a:r>
              <a:rPr lang="tr-TR" dirty="0" smtClean="0"/>
              <a:t>nesnesi çıkarılır, boyutu kontrol edilir</a:t>
            </a:r>
            <a:r>
              <a:rPr lang="tr-TR" dirty="0"/>
              <a:t>. </a:t>
            </a:r>
            <a:endParaRPr lang="tr-TR" dirty="0" smtClean="0"/>
          </a:p>
          <a:p>
            <a:pPr lvl="1"/>
            <a:r>
              <a:rPr lang="tr-TR" b="1" dirty="0" smtClean="0"/>
              <a:t>Boyut </a:t>
            </a:r>
            <a:r>
              <a:rPr lang="tr-TR" b="1" dirty="0"/>
              <a:t>1 ise</a:t>
            </a:r>
            <a:r>
              <a:rPr lang="tr-TR" dirty="0"/>
              <a:t>, </a:t>
            </a:r>
            <a:r>
              <a:rPr lang="tr-TR" dirty="0" smtClean="0"/>
              <a:t>disk doğrudan hedefe taşınır, hareketi </a:t>
            </a:r>
            <a:r>
              <a:rPr lang="tr-TR" dirty="0"/>
              <a:t>belirten bir mesaj </a:t>
            </a:r>
            <a:r>
              <a:rPr lang="tr-TR" dirty="0" smtClean="0"/>
              <a:t>yazdırılır.</a:t>
            </a:r>
          </a:p>
          <a:p>
            <a:pPr lvl="1"/>
            <a:r>
              <a:rPr lang="tr-TR" b="1" dirty="0" smtClean="0"/>
              <a:t>Değilse, </a:t>
            </a:r>
            <a:r>
              <a:rPr lang="tr-TR" dirty="0" smtClean="0"/>
              <a:t>yığına </a:t>
            </a:r>
            <a:r>
              <a:rPr lang="tr-TR" dirty="0"/>
              <a:t>üç yeni Disk </a:t>
            </a:r>
            <a:r>
              <a:rPr lang="tr-TR" dirty="0" smtClean="0"/>
              <a:t>nesnesi yerleştirilerek, problemi daha </a:t>
            </a:r>
            <a:r>
              <a:rPr lang="tr-TR" dirty="0"/>
              <a:t>küçük alt problemlere böler</a:t>
            </a:r>
            <a:r>
              <a:rPr lang="tr-TR" dirty="0" smtClean="0"/>
              <a:t>.</a:t>
            </a:r>
          </a:p>
          <a:p>
            <a:pPr lvl="2" algn="just"/>
            <a:r>
              <a:rPr lang="tr-TR" dirty="0"/>
              <a:t>İlk </a:t>
            </a:r>
            <a:r>
              <a:rPr lang="tr-TR" dirty="0" smtClean="0"/>
              <a:t>nesne, hedefi yardımcı </a:t>
            </a:r>
            <a:r>
              <a:rPr lang="tr-TR" dirty="0"/>
              <a:t>olarak </a:t>
            </a:r>
            <a:r>
              <a:rPr lang="tr-TR" dirty="0" smtClean="0"/>
              <a:t>kullanarak, </a:t>
            </a:r>
            <a:r>
              <a:rPr lang="tr-TR" dirty="0" err="1" smtClean="0"/>
              <a:t>disk.boyut</a:t>
            </a:r>
            <a:r>
              <a:rPr lang="tr-TR" dirty="0" smtClean="0"/>
              <a:t> </a:t>
            </a:r>
            <a:r>
              <a:rPr lang="tr-TR" dirty="0"/>
              <a:t>- 1 </a:t>
            </a:r>
            <a:r>
              <a:rPr lang="tr-TR" dirty="0" smtClean="0"/>
              <a:t>adet diski kaynaktan yardımcıya taşımayı </a:t>
            </a:r>
            <a:r>
              <a:rPr lang="tr-TR" dirty="0"/>
              <a:t>temsil eder</a:t>
            </a:r>
            <a:r>
              <a:rPr lang="tr-TR" dirty="0" smtClean="0"/>
              <a:t>.</a:t>
            </a:r>
          </a:p>
          <a:p>
            <a:pPr lvl="2" algn="just"/>
            <a:r>
              <a:rPr lang="tr-TR" dirty="0" smtClean="0"/>
              <a:t>2. nesne, 1 adet diskin kaynaktan hedefe taşınmasını </a:t>
            </a:r>
            <a:r>
              <a:rPr lang="tr-TR" dirty="0"/>
              <a:t>temsil eder</a:t>
            </a:r>
            <a:r>
              <a:rPr lang="tr-TR" dirty="0" smtClean="0"/>
              <a:t>.</a:t>
            </a:r>
          </a:p>
          <a:p>
            <a:pPr lvl="2" algn="just"/>
            <a:r>
              <a:rPr lang="tr-TR" dirty="0" smtClean="0"/>
              <a:t>3. nesne, kaynağı yardımcı </a:t>
            </a:r>
            <a:r>
              <a:rPr lang="tr-TR" dirty="0"/>
              <a:t>olarak </a:t>
            </a:r>
            <a:r>
              <a:rPr lang="tr-TR" dirty="0" smtClean="0"/>
              <a:t>kullanarak, </a:t>
            </a:r>
            <a:r>
              <a:rPr lang="tr-TR" dirty="0" err="1"/>
              <a:t>disk.boyut</a:t>
            </a:r>
            <a:r>
              <a:rPr lang="tr-TR" dirty="0"/>
              <a:t> - 1 </a:t>
            </a:r>
            <a:r>
              <a:rPr lang="tr-TR" dirty="0" smtClean="0"/>
              <a:t>adet diski yardımcıdan hedefe taşımayı </a:t>
            </a:r>
            <a:r>
              <a:rPr lang="tr-TR" dirty="0"/>
              <a:t>temsil eder.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7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3 A B C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790618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algn="ctr"/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algn="ctr"/>
                      <a:endParaRPr lang="tr-TR" sz="2400" kern="120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algn="ctr"/>
                      <a:endParaRPr lang="tr-TR" sz="2400" kern="120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algn="ctr"/>
                      <a:endParaRPr lang="tr-TR" sz="2400" kern="120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algn="ctr"/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3 A B C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103811" y="4075611"/>
            <a:ext cx="3916681" cy="1828800"/>
            <a:chOff x="1103811" y="4075611"/>
            <a:chExt cx="3916681" cy="1828800"/>
          </a:xfrm>
        </p:grpSpPr>
        <p:sp>
          <p:nvSpPr>
            <p:cNvPr id="8" name="Rectangle 7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03811" y="5643154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37270" y="5331892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09846" y="4984026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340015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3 A B C </a:t>
            </a: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2 B A C </a:t>
            </a: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1 A B C </a:t>
            </a: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2 A C B 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155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935131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400" kern="12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2 A C B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400" kern="12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 A B C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2 B A C 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103811" y="4075611"/>
            <a:ext cx="3916681" cy="1828800"/>
            <a:chOff x="1103811" y="4075611"/>
            <a:chExt cx="3916681" cy="1828800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03811" y="5643154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337270" y="5331892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09846" y="4984026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395284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2 A C B </a:t>
            </a: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1 C A B </a:t>
            </a: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1 A C B </a:t>
            </a: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1 A B C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539780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A B C</a:t>
                      </a:r>
                      <a:endParaRPr lang="tr-TR" sz="2400" dirty="0" smtClean="0"/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A C B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C A B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400" kern="12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 A B C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2 B A C 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103811" y="4075611"/>
            <a:ext cx="3916681" cy="1828800"/>
            <a:chOff x="1103811" y="4075611"/>
            <a:chExt cx="3916681" cy="1828800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03811" y="5643154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337270" y="5331892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09846" y="4984026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157292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1 A B C </a:t>
            </a:r>
          </a:p>
          <a:p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Diski </a:t>
            </a: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A çubuğundan C çubuğuna taşı.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157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732755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dirty="0" smtClean="0"/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A C B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C A B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400" kern="12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 A B C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2 B A C 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103811" y="4075611"/>
            <a:ext cx="4170318" cy="1828800"/>
            <a:chOff x="1103811" y="4075611"/>
            <a:chExt cx="4170318" cy="1828800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03811" y="5643154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337270" y="5331892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18660" y="5660617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351670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1 A C B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l-P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Diski A çubuğundan B çubuğuna taşı.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158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301721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dirty="0" smtClean="0"/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C A B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400" kern="12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 A B C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2 B A C 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103811" y="4075611"/>
            <a:ext cx="4170318" cy="1828800"/>
            <a:chOff x="1103811" y="4075611"/>
            <a:chExt cx="4170318" cy="1828800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03811" y="5643154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41677" y="5660617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18660" y="5660617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338443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1 C A B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l-P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Diski C çubuğundan B çubuğuna taşı.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159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602927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dirty="0" smtClean="0"/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400" kern="12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 A B C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2 B A C 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103811" y="4075611"/>
            <a:ext cx="3916681" cy="1828800"/>
            <a:chOff x="1103811" y="4075611"/>
            <a:chExt cx="3916681" cy="1828800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03811" y="5643154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41677" y="5660617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4253" y="5329783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161526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1 A B C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l-P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Diski A çubuğundan C çubuğuna taşı.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160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519967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dirty="0" smtClean="0"/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2 B A C 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763486" y="4075611"/>
            <a:ext cx="3916680" cy="1837531"/>
            <a:chOff x="1763486" y="4075611"/>
            <a:chExt cx="3916680" cy="1837531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12623" y="5651885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41677" y="5660617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4253" y="5329783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425128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2 B A C </a:t>
            </a: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1 A B C </a:t>
            </a: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1 B A C </a:t>
            </a: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1 B C A 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dirty="0" smtClean="0"/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B C A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B A C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A B C 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763486" y="4075611"/>
            <a:ext cx="3916680" cy="1837531"/>
            <a:chOff x="1763486" y="4075611"/>
            <a:chExt cx="3916680" cy="1837531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12623" y="5651885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41677" y="5660617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14253" y="5329783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99982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1 B C A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l-P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Diski B çubuğundan A çubuğuna taşı.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162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468119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dirty="0" smtClean="0"/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B A C </a:t>
                      </a: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A B C 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509848" y="4075611"/>
            <a:ext cx="4170318" cy="1837531"/>
            <a:chOff x="1509848" y="4075611"/>
            <a:chExt cx="4170318" cy="1837531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12623" y="5651885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41677" y="5660617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09848" y="5669348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345572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1 B A C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l-P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Diski B çubuğundan C çubuğuna taşı.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163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45102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dirty="0" smtClean="0"/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 smtClean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 A B C </a:t>
                      </a: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509848" y="4075611"/>
            <a:ext cx="4170318" cy="1837531"/>
            <a:chOff x="1509848" y="4075611"/>
            <a:chExt cx="4170318" cy="1837531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12623" y="5651885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46082" y="5340623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09848" y="5669348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239346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Hanoi </a:t>
            </a:r>
            <a:r>
              <a:rPr lang="tr-TR" dirty="0" smtClean="0"/>
              <a:t>Kuleleri – Yığın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1 A B C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l-P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Diski A çubuğundan C çubuğuna taşı.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45428"/>
              </p:ext>
            </p:extLst>
          </p:nvPr>
        </p:nvGraphicFramePr>
        <p:xfrm>
          <a:off x="8237736" y="2220684"/>
          <a:ext cx="2343178" cy="35325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43178"/>
              </a:tblGrid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dirty="0" smtClean="0"/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kern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887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2400" dirty="0" smtClean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763486" y="4075611"/>
            <a:ext cx="3916680" cy="1837531"/>
            <a:chOff x="1763486" y="4075611"/>
            <a:chExt cx="3916680" cy="1837531"/>
          </a:xfrm>
        </p:grpSpPr>
        <p:sp>
          <p:nvSpPr>
            <p:cNvPr id="16" name="Rectangle 15"/>
            <p:cNvSpPr/>
            <p:nvPr/>
          </p:nvSpPr>
          <p:spPr>
            <a:xfrm>
              <a:off x="1763486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67892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72298" y="4075611"/>
              <a:ext cx="248194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112623" y="5651885"/>
              <a:ext cx="1567543" cy="26125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46082" y="5340623"/>
              <a:ext cx="1100623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18658" y="5029361"/>
              <a:ext cx="755469" cy="24379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234186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40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"Hisse Senedi Sıçrama Problemi," </a:t>
            </a:r>
            <a:r>
              <a:rPr lang="tr-TR" dirty="0" smtClean="0"/>
              <a:t>hisse </a:t>
            </a:r>
            <a:r>
              <a:rPr lang="tr-TR" dirty="0"/>
              <a:t>senedi veya finansal veri analizinde kullanılan bir problemdir. </a:t>
            </a:r>
          </a:p>
          <a:p>
            <a:r>
              <a:rPr lang="tr-TR" dirty="0" smtClean="0"/>
              <a:t>Bir zaman aralığındaki hisse </a:t>
            </a:r>
            <a:r>
              <a:rPr lang="tr-TR" dirty="0"/>
              <a:t>senedi fiyatlarını </a:t>
            </a:r>
            <a:r>
              <a:rPr lang="tr-TR" dirty="0" smtClean="0"/>
              <a:t>inceler. </a:t>
            </a:r>
          </a:p>
          <a:p>
            <a:r>
              <a:rPr lang="tr-TR" dirty="0" smtClean="0"/>
              <a:t>Her bir gün için, o güne kadar </a:t>
            </a:r>
            <a:r>
              <a:rPr lang="tr-TR" dirty="0"/>
              <a:t>kaç ardışık gün </a:t>
            </a:r>
            <a:r>
              <a:rPr lang="tr-TR" dirty="0" smtClean="0"/>
              <a:t>kapanış fiyatının </a:t>
            </a:r>
            <a:r>
              <a:rPr lang="tr-TR" dirty="0"/>
              <a:t>arttığını hesaplar. 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47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Verilen bir dizi hisse senedi fiyatı var.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günün kapanış fiyatı sırasıyla </a:t>
            </a:r>
            <a:r>
              <a:rPr lang="tr-TR" dirty="0" smtClean="0"/>
              <a:t>dizi </a:t>
            </a:r>
            <a:r>
              <a:rPr lang="tr-TR" dirty="0"/>
              <a:t>içinde bulunuyor.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gün için, o güne kadar olan en uzun ardışık gün </a:t>
            </a:r>
            <a:r>
              <a:rPr lang="tr-TR" dirty="0" smtClean="0"/>
              <a:t>sayısının (</a:t>
            </a:r>
            <a:r>
              <a:rPr lang="tr-TR" dirty="0"/>
              <a:t>bu günün </a:t>
            </a:r>
            <a:r>
              <a:rPr lang="tr-TR" dirty="0" smtClean="0"/>
              <a:t>fiyatından yüksek önceki </a:t>
            </a:r>
            <a:r>
              <a:rPr lang="tr-TR" dirty="0"/>
              <a:t>günlerin </a:t>
            </a:r>
            <a:r>
              <a:rPr lang="tr-TR" dirty="0" smtClean="0"/>
              <a:t>sayısı) hesaplanması gereklidir. </a:t>
            </a:r>
            <a:endParaRPr lang="tr-TR" dirty="0"/>
          </a:p>
          <a:p>
            <a:endParaRPr lang="tr-TR" b="1" dirty="0" smtClean="0"/>
          </a:p>
          <a:p>
            <a:r>
              <a:rPr lang="tr-TR" b="1" dirty="0" smtClean="0"/>
              <a:t>Örnek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Hisse </a:t>
            </a:r>
            <a:r>
              <a:rPr lang="tr-TR" dirty="0"/>
              <a:t>senedi fiyatları </a:t>
            </a:r>
            <a:r>
              <a:rPr lang="tr-TR" dirty="0" smtClean="0"/>
              <a:t>aşağıdaki gibi olsun: </a:t>
            </a:r>
            <a:endParaRPr lang="tr-TR" dirty="0"/>
          </a:p>
          <a:p>
            <a:pPr lvl="1"/>
            <a:r>
              <a:rPr lang="tr-TR" dirty="0" smtClean="0"/>
              <a:t>[</a:t>
            </a:r>
            <a:r>
              <a:rPr lang="tr-TR" dirty="0"/>
              <a:t>100, 80, 60, 70, 60, 75, 85] 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10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Örnek</a:t>
            </a:r>
            <a:r>
              <a:rPr lang="tr-TR" dirty="0"/>
              <a:t>: </a:t>
            </a:r>
            <a:r>
              <a:rPr lang="tr-TR" dirty="0" smtClean="0"/>
              <a:t>[</a:t>
            </a:r>
            <a:r>
              <a:rPr lang="tr-TR" dirty="0"/>
              <a:t>100, 80, 60, 70, 60, 75, 85] </a:t>
            </a:r>
            <a:endParaRPr lang="tr-TR" dirty="0" smtClean="0"/>
          </a:p>
          <a:p>
            <a:endParaRPr lang="tr-TR" dirty="0" smtClean="0"/>
          </a:p>
          <a:p>
            <a:r>
              <a:rPr lang="tr-TR" dirty="0" smtClean="0"/>
              <a:t>Bu </a:t>
            </a:r>
            <a:r>
              <a:rPr lang="tr-TR" dirty="0"/>
              <a:t>verilere göre, her </a:t>
            </a:r>
            <a:r>
              <a:rPr lang="tr-TR" dirty="0" smtClean="0"/>
              <a:t>gün için </a:t>
            </a:r>
            <a:r>
              <a:rPr lang="tr-TR" dirty="0"/>
              <a:t>ardışık gün </a:t>
            </a:r>
            <a:r>
              <a:rPr lang="tr-TR" dirty="0" smtClean="0"/>
              <a:t>sayısı:</a:t>
            </a:r>
            <a:endParaRPr lang="tr-TR" dirty="0"/>
          </a:p>
          <a:p>
            <a:r>
              <a:rPr lang="tr-TR" dirty="0" smtClean="0">
                <a:latin typeface="Consolas" panose="020B0609020204030204" pitchFamily="49" charset="0"/>
              </a:rPr>
              <a:t>1. 100 : </a:t>
            </a:r>
            <a:r>
              <a:rPr lang="tr-TR" dirty="0">
                <a:latin typeface="Consolas" panose="020B0609020204030204" pitchFamily="49" charset="0"/>
              </a:rPr>
              <a:t>1 (ilk gün olduğu için)</a:t>
            </a:r>
          </a:p>
          <a:p>
            <a:r>
              <a:rPr lang="tr-TR" dirty="0" smtClean="0">
                <a:latin typeface="Consolas" panose="020B0609020204030204" pitchFamily="49" charset="0"/>
              </a:rPr>
              <a:t>2.  80 : 1 </a:t>
            </a:r>
            <a:r>
              <a:rPr lang="tr-TR" dirty="0">
                <a:latin typeface="Consolas" panose="020B0609020204030204" pitchFamily="49" charset="0"/>
              </a:rPr>
              <a:t>(80 &gt; 100 değil)</a:t>
            </a:r>
          </a:p>
          <a:p>
            <a:r>
              <a:rPr lang="tr-TR" dirty="0" smtClean="0">
                <a:latin typeface="Consolas" panose="020B0609020204030204" pitchFamily="49" charset="0"/>
              </a:rPr>
              <a:t>3.  60 : 1 </a:t>
            </a:r>
            <a:r>
              <a:rPr lang="tr-TR" dirty="0">
                <a:latin typeface="Consolas" panose="020B0609020204030204" pitchFamily="49" charset="0"/>
              </a:rPr>
              <a:t>(60 &gt; 80 değil)</a:t>
            </a:r>
          </a:p>
          <a:p>
            <a:r>
              <a:rPr lang="tr-TR" dirty="0" smtClean="0">
                <a:latin typeface="Consolas" panose="020B0609020204030204" pitchFamily="49" charset="0"/>
              </a:rPr>
              <a:t>4.  70 : </a:t>
            </a:r>
            <a:r>
              <a:rPr lang="tr-TR" dirty="0" smtClean="0">
                <a:solidFill>
                  <a:srgbClr val="00B050"/>
                </a:solidFill>
                <a:latin typeface="Consolas" panose="020B0609020204030204" pitchFamily="49" charset="0"/>
              </a:rPr>
              <a:t>2 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(70 &gt; 60)</a:t>
            </a:r>
          </a:p>
          <a:p>
            <a:r>
              <a:rPr lang="tr-TR" dirty="0" smtClean="0">
                <a:latin typeface="Consolas" panose="020B0609020204030204" pitchFamily="49" charset="0"/>
              </a:rPr>
              <a:t>5.  60 : 1 </a:t>
            </a:r>
            <a:r>
              <a:rPr lang="tr-TR" dirty="0">
                <a:latin typeface="Consolas" panose="020B0609020204030204" pitchFamily="49" charset="0"/>
              </a:rPr>
              <a:t>(60 &gt; 70 değil)</a:t>
            </a:r>
          </a:p>
          <a:p>
            <a:r>
              <a:rPr lang="tr-TR" dirty="0" smtClean="0">
                <a:latin typeface="Consolas" panose="020B0609020204030204" pitchFamily="49" charset="0"/>
              </a:rPr>
              <a:t>6.  75 : </a:t>
            </a:r>
            <a:r>
              <a:rPr lang="tr-TR" dirty="0" smtClean="0">
                <a:solidFill>
                  <a:srgbClr val="00B050"/>
                </a:solidFill>
                <a:latin typeface="Consolas" panose="020B0609020204030204" pitchFamily="49" charset="0"/>
              </a:rPr>
              <a:t>4 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(75 &gt; </a:t>
            </a:r>
            <a:r>
              <a:rPr lang="tr-TR" dirty="0" smtClean="0">
                <a:solidFill>
                  <a:srgbClr val="00B050"/>
                </a:solidFill>
                <a:latin typeface="Consolas" panose="020B0609020204030204" pitchFamily="49" charset="0"/>
              </a:rPr>
              <a:t>{60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, 70, </a:t>
            </a:r>
            <a:r>
              <a:rPr lang="tr-TR" dirty="0" smtClean="0">
                <a:solidFill>
                  <a:srgbClr val="00B050"/>
                </a:solidFill>
                <a:latin typeface="Consolas" panose="020B0609020204030204" pitchFamily="49" charset="0"/>
              </a:rPr>
              <a:t>60})</a:t>
            </a:r>
            <a:endParaRPr lang="tr-TR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tr-TR" dirty="0" smtClean="0">
                <a:latin typeface="Consolas" panose="020B0609020204030204" pitchFamily="49" charset="0"/>
              </a:rPr>
              <a:t>7.  85 : 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6 (85 &gt; </a:t>
            </a:r>
            <a:r>
              <a:rPr lang="tr-TR" dirty="0" smtClean="0">
                <a:solidFill>
                  <a:srgbClr val="00B050"/>
                </a:solidFill>
                <a:latin typeface="Consolas" panose="020B0609020204030204" pitchFamily="49" charset="0"/>
              </a:rPr>
              <a:t>{75</a:t>
            </a:r>
            <a:r>
              <a:rPr lang="tr-TR" dirty="0">
                <a:solidFill>
                  <a:srgbClr val="00B050"/>
                </a:solidFill>
                <a:latin typeface="Consolas" panose="020B0609020204030204" pitchFamily="49" charset="0"/>
              </a:rPr>
              <a:t>, 60, 70, </a:t>
            </a:r>
            <a:r>
              <a:rPr lang="tr-TR" dirty="0" smtClean="0">
                <a:solidFill>
                  <a:srgbClr val="00B050"/>
                </a:solidFill>
                <a:latin typeface="Consolas" panose="020B0609020204030204" pitchFamily="49" charset="0"/>
              </a:rPr>
              <a:t>60, 80})</a:t>
            </a:r>
            <a:endParaRPr lang="tr-TR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8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sicrama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fiyatlar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endParaRPr lang="tr-TR" dirty="0" smtClean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(0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sicrama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[0] = 1;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fiyatlar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b="1" dirty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fiyatlar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fiyatlar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()])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nn-NO" dirty="0" smtClean="0">
                <a:solidFill>
                  <a:srgbClr val="6A3E3E"/>
                </a:solidFill>
                <a:latin typeface="Consolas" panose="020B0609020204030204" pitchFamily="49" charset="0"/>
              </a:rPr>
              <a:t>sicrama</a:t>
            </a:r>
            <a:r>
              <a:rPr lang="nn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n-NO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nn-NO" dirty="0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.isEmpty() ? (</a:t>
            </a:r>
            <a:r>
              <a:rPr lang="nn-NO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+ 1) : (</a:t>
            </a:r>
            <a:r>
              <a:rPr lang="nn-NO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nn-NO" dirty="0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.peek());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yigin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43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80, 60, 70, 60, 75, 85]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Yığına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ekle 0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170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214399"/>
              </p:ext>
            </p:extLst>
          </p:nvPr>
        </p:nvGraphicFramePr>
        <p:xfrm>
          <a:off x="8297531" y="3097106"/>
          <a:ext cx="197627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8137"/>
                <a:gridCol w="98813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0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100</a:t>
                      </a:r>
                      <a:endParaRPr lang="tr-TR" sz="20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[100, </a:t>
            </a:r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80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60, 70, 60, 75, 85]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1,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sicrama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[1] 1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135693"/>
              </p:ext>
            </p:extLst>
          </p:nvPr>
        </p:nvGraphicFramePr>
        <p:xfrm>
          <a:off x="8297531" y="3097106"/>
          <a:ext cx="197627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8137"/>
                <a:gridCol w="98813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80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0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100</a:t>
                      </a:r>
                      <a:endParaRPr lang="tr-TR" sz="20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52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[100, 80, </a:t>
            </a:r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60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70, 60, 75, 85]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2,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sicrama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[2] 1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172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147937"/>
              </p:ext>
            </p:extLst>
          </p:nvPr>
        </p:nvGraphicFramePr>
        <p:xfrm>
          <a:off x="8297531" y="3097106"/>
          <a:ext cx="197627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8137"/>
                <a:gridCol w="98813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2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60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80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0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100</a:t>
                      </a:r>
                      <a:endParaRPr lang="tr-TR" sz="20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78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[100, 80, 60, </a:t>
            </a:r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70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60, 75, 85]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2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3,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sicrama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[3] 2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173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613523"/>
              </p:ext>
            </p:extLst>
          </p:nvPr>
        </p:nvGraphicFramePr>
        <p:xfrm>
          <a:off x="8297531" y="3097106"/>
          <a:ext cx="197627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8137"/>
                <a:gridCol w="98813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3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70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80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0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100</a:t>
                      </a:r>
                      <a:endParaRPr lang="tr-TR" sz="20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35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[100, 80, 60, 70, </a:t>
            </a:r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60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75, 85]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4,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sicrama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[4] 1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259834"/>
              </p:ext>
            </p:extLst>
          </p:nvPr>
        </p:nvGraphicFramePr>
        <p:xfrm>
          <a:off x="8297531" y="3097106"/>
          <a:ext cx="197627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8137"/>
                <a:gridCol w="98813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4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60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3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70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80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0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100</a:t>
                      </a:r>
                      <a:endParaRPr lang="tr-TR" sz="20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26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[100, 80, 60, 70, 60, </a:t>
            </a:r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75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85]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4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3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5,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sicrama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[5] 4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175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75766"/>
              </p:ext>
            </p:extLst>
          </p:nvPr>
        </p:nvGraphicFramePr>
        <p:xfrm>
          <a:off x="8297531" y="3097106"/>
          <a:ext cx="197627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8137"/>
                <a:gridCol w="98813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5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75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80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0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100</a:t>
                      </a:r>
                      <a:endParaRPr lang="tr-TR" sz="20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90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Stock</a:t>
            </a:r>
            <a:r>
              <a:rPr lang="tr-TR" dirty="0"/>
              <a:t> </a:t>
            </a:r>
            <a:r>
              <a:rPr lang="tr-TR" dirty="0" err="1"/>
              <a:t>Span</a:t>
            </a:r>
            <a:r>
              <a:rPr lang="tr-TR" dirty="0"/>
              <a:t> </a:t>
            </a:r>
            <a:r>
              <a:rPr lang="tr-TR" dirty="0" smtClean="0"/>
              <a:t>Problemi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[100, 80, 60, 70, 60, 75, </a:t>
            </a:r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85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5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1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ekle 6,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sicrama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[6] 6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36079"/>
              </p:ext>
            </p:extLst>
          </p:nvPr>
        </p:nvGraphicFramePr>
        <p:xfrm>
          <a:off x="8297531" y="3097106"/>
          <a:ext cx="1976274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8137"/>
                <a:gridCol w="98813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6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85</a:t>
                      </a:r>
                      <a:endParaRPr lang="tr-TR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0</a:t>
                      </a:r>
                      <a:endParaRPr lang="tr-TR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 smtClean="0"/>
                        <a:t>100</a:t>
                      </a:r>
                      <a:endParaRPr lang="tr-TR" sz="20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88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0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Infix</a:t>
            </a:r>
            <a:r>
              <a:rPr lang="tr-TR" dirty="0" smtClean="0"/>
              <a:t>, </a:t>
            </a:r>
            <a:r>
              <a:rPr lang="tr-TR" dirty="0" err="1" smtClean="0"/>
              <a:t>Prefix</a:t>
            </a:r>
            <a:r>
              <a:rPr lang="tr-TR" dirty="0" smtClean="0"/>
              <a:t>, </a:t>
            </a:r>
            <a:r>
              <a:rPr lang="tr-TR" dirty="0" err="1" smtClean="0"/>
              <a:t>Postfix</a:t>
            </a:r>
            <a:r>
              <a:rPr lang="tr-TR" dirty="0" smtClean="0"/>
              <a:t> </a:t>
            </a:r>
            <a:r>
              <a:rPr lang="tr-TR" dirty="0" smtClean="0"/>
              <a:t>İfade Dönüşümleri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Matematiksel </a:t>
            </a:r>
            <a:r>
              <a:rPr lang="tr-TR" dirty="0"/>
              <a:t>ve mantıksal ifadelerle çalışırken </a:t>
            </a:r>
            <a:r>
              <a:rPr lang="tr-TR" dirty="0" smtClean="0"/>
              <a:t>kullanılır. </a:t>
            </a:r>
            <a:endParaRPr lang="tr-TR" dirty="0" smtClean="0"/>
          </a:p>
          <a:p>
            <a:r>
              <a:rPr lang="tr-TR" dirty="0" smtClean="0"/>
              <a:t>İfadelerin basit </a:t>
            </a:r>
            <a:r>
              <a:rPr lang="tr-TR" dirty="0"/>
              <a:t>bir şekilde </a:t>
            </a:r>
            <a:r>
              <a:rPr lang="tr-TR" dirty="0" smtClean="0"/>
              <a:t>değerlendirilmesini sağlar. </a:t>
            </a:r>
          </a:p>
          <a:p>
            <a:r>
              <a:rPr lang="tr-TR" dirty="0" smtClean="0"/>
              <a:t>İşlem öncelikleri </a:t>
            </a:r>
            <a:r>
              <a:rPr lang="tr-TR" dirty="0"/>
              <a:t>ve </a:t>
            </a:r>
            <a:r>
              <a:rPr lang="tr-TR" dirty="0" smtClean="0"/>
              <a:t>parantez kontrollerini </a:t>
            </a:r>
            <a:r>
              <a:rPr lang="tr-TR" dirty="0"/>
              <a:t>ortadan </a:t>
            </a:r>
            <a:r>
              <a:rPr lang="tr-TR" dirty="0" smtClean="0"/>
              <a:t>kaldırır.</a:t>
            </a:r>
            <a:endParaRPr lang="tr-TR" dirty="0"/>
          </a:p>
          <a:p>
            <a:r>
              <a:rPr lang="tr-TR" dirty="0" smtClean="0"/>
              <a:t>Programlama dilleri, </a:t>
            </a:r>
            <a:r>
              <a:rPr lang="tr-TR" dirty="0"/>
              <a:t>ifadeleri </a:t>
            </a:r>
            <a:r>
              <a:rPr lang="tr-TR" dirty="0" smtClean="0"/>
              <a:t>öntakı gösterimle </a:t>
            </a:r>
            <a:r>
              <a:rPr lang="tr-TR" dirty="0" smtClean="0"/>
              <a:t>temsil </a:t>
            </a:r>
            <a:r>
              <a:rPr lang="tr-TR" dirty="0"/>
              <a:t>eder. </a:t>
            </a:r>
            <a:endParaRPr lang="tr-TR" dirty="0" smtClean="0"/>
          </a:p>
          <a:p>
            <a:r>
              <a:rPr lang="tr-TR" dirty="0" smtClean="0"/>
              <a:t>Bilgisayar ve </a:t>
            </a:r>
            <a:r>
              <a:rPr lang="tr-TR" dirty="0"/>
              <a:t>hesap makinelerinde aritmetik </a:t>
            </a:r>
            <a:r>
              <a:rPr lang="tr-TR" dirty="0" smtClean="0"/>
              <a:t>işlemlerde </a:t>
            </a:r>
            <a:r>
              <a:rPr lang="tr-TR" dirty="0" smtClean="0"/>
              <a:t>kullanılır.</a:t>
            </a:r>
            <a:endParaRPr lang="tr-TR" dirty="0"/>
          </a:p>
          <a:p>
            <a:r>
              <a:rPr lang="tr-TR" dirty="0" smtClean="0"/>
              <a:t>Matematiksel </a:t>
            </a:r>
            <a:r>
              <a:rPr lang="tr-TR" dirty="0"/>
              <a:t>denklemleri </a:t>
            </a:r>
            <a:r>
              <a:rPr lang="tr-TR" dirty="0" smtClean="0"/>
              <a:t>basitleştirme, </a:t>
            </a:r>
            <a:r>
              <a:rPr lang="tr-TR" dirty="0"/>
              <a:t>sembolik cebir </a:t>
            </a:r>
            <a:r>
              <a:rPr lang="tr-TR" dirty="0" smtClean="0"/>
              <a:t>veya </a:t>
            </a:r>
            <a:r>
              <a:rPr lang="tr-TR" dirty="0"/>
              <a:t>karmaşık problemleri </a:t>
            </a:r>
            <a:r>
              <a:rPr lang="tr-TR" dirty="0" smtClean="0"/>
              <a:t>çözme </a:t>
            </a:r>
            <a:r>
              <a:rPr lang="tr-TR" dirty="0"/>
              <a:t>gibi işlemler sırasında </a:t>
            </a:r>
            <a:r>
              <a:rPr lang="tr-TR" dirty="0" smtClean="0"/>
              <a:t>faydalanılır.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01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, </a:t>
            </a:r>
            <a:r>
              <a:rPr lang="tr-TR" dirty="0" err="1"/>
              <a:t>Prefix</a:t>
            </a:r>
            <a:r>
              <a:rPr lang="tr-TR" dirty="0"/>
              <a:t>, </a:t>
            </a:r>
            <a:r>
              <a:rPr lang="tr-TR" dirty="0" err="1"/>
              <a:t>Postfix</a:t>
            </a:r>
            <a:r>
              <a:rPr lang="tr-TR" dirty="0"/>
              <a:t> İfade Dönüşümleri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tr-TR" dirty="0" err="1"/>
              <a:t>İçtakı</a:t>
            </a:r>
            <a:r>
              <a:rPr lang="tr-TR" dirty="0"/>
              <a:t> </a:t>
            </a:r>
            <a:r>
              <a:rPr lang="pt-BR" dirty="0"/>
              <a:t>İfade</a:t>
            </a:r>
            <a:r>
              <a:rPr lang="pt-BR" dirty="0"/>
              <a:t>: </a:t>
            </a:r>
            <a:r>
              <a:rPr lang="tr-TR" dirty="0" smtClean="0"/>
              <a:t> </a:t>
            </a:r>
            <a:r>
              <a:rPr lang="pt-BR" dirty="0" smtClean="0"/>
              <a:t>A</a:t>
            </a:r>
            <a:r>
              <a:rPr lang="tr-TR" dirty="0" smtClean="0"/>
              <a:t> </a:t>
            </a:r>
            <a:r>
              <a:rPr lang="pt-BR" dirty="0" smtClean="0"/>
              <a:t>*</a:t>
            </a:r>
            <a:r>
              <a:rPr lang="tr-TR" dirty="0" smtClean="0"/>
              <a:t> </a:t>
            </a:r>
            <a:r>
              <a:rPr lang="pt-BR" dirty="0" smtClean="0"/>
              <a:t>(</a:t>
            </a:r>
            <a:r>
              <a:rPr lang="tr-TR" dirty="0" smtClean="0"/>
              <a:t> </a:t>
            </a:r>
            <a:r>
              <a:rPr lang="pt-BR" dirty="0" smtClean="0"/>
              <a:t>B</a:t>
            </a:r>
            <a:r>
              <a:rPr lang="tr-TR" dirty="0" smtClean="0"/>
              <a:t> </a:t>
            </a:r>
            <a:r>
              <a:rPr lang="pt-BR" dirty="0" smtClean="0"/>
              <a:t>+</a:t>
            </a:r>
            <a:r>
              <a:rPr lang="tr-TR" dirty="0" smtClean="0"/>
              <a:t> </a:t>
            </a:r>
            <a:r>
              <a:rPr lang="pt-BR" dirty="0" smtClean="0"/>
              <a:t>C</a:t>
            </a:r>
            <a:r>
              <a:rPr lang="tr-TR" dirty="0" smtClean="0"/>
              <a:t> </a:t>
            </a:r>
            <a:r>
              <a:rPr lang="pt-BR" dirty="0" smtClean="0"/>
              <a:t>)</a:t>
            </a:r>
            <a:r>
              <a:rPr lang="tr-TR" dirty="0" smtClean="0"/>
              <a:t> </a:t>
            </a:r>
            <a:r>
              <a:rPr lang="pt-BR" dirty="0" smtClean="0"/>
              <a:t>/</a:t>
            </a:r>
            <a:r>
              <a:rPr lang="tr-TR" dirty="0" smtClean="0"/>
              <a:t> </a:t>
            </a:r>
            <a:r>
              <a:rPr lang="pt-BR" dirty="0" smtClean="0"/>
              <a:t>D</a:t>
            </a:r>
            <a:endParaRPr lang="pt-BR" dirty="0"/>
          </a:p>
          <a:p>
            <a:pPr algn="l"/>
            <a:r>
              <a:rPr lang="tr-TR" dirty="0"/>
              <a:t>Öntakı İfade:  * A / + B C D</a:t>
            </a:r>
          </a:p>
          <a:p>
            <a:pPr algn="l"/>
            <a:r>
              <a:rPr lang="tr-TR" dirty="0" err="1" smtClean="0"/>
              <a:t>Arttakı</a:t>
            </a:r>
            <a:r>
              <a:rPr lang="tr-TR" dirty="0" smtClean="0"/>
              <a:t> </a:t>
            </a:r>
            <a:r>
              <a:rPr lang="tr-TR" dirty="0"/>
              <a:t>İfade: </a:t>
            </a:r>
            <a:r>
              <a:rPr lang="tr-TR" dirty="0" smtClean="0"/>
              <a:t> A B C + * D /</a:t>
            </a:r>
            <a:endParaRPr lang="tr-TR" dirty="0"/>
          </a:p>
          <a:p>
            <a:pPr algn="l"/>
            <a:endParaRPr lang="tr-TR" dirty="0"/>
          </a:p>
          <a:p>
            <a:pPr algn="l"/>
            <a:r>
              <a:rPr lang="tr-TR" dirty="0" smtClean="0"/>
              <a:t>İşlem öncelikleri ve parantezler kayboldu!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82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Infix</a:t>
            </a:r>
            <a:r>
              <a:rPr lang="tr-TR" dirty="0" smtClean="0"/>
              <a:t> İfadeyi </a:t>
            </a:r>
            <a:r>
              <a:rPr lang="tr-TR" dirty="0" err="1" smtClean="0"/>
              <a:t>Postfix</a:t>
            </a:r>
            <a:r>
              <a:rPr lang="tr-TR" dirty="0" smtClean="0"/>
              <a:t> İfadeye </a:t>
            </a:r>
            <a:r>
              <a:rPr lang="tr-TR" dirty="0" smtClean="0"/>
              <a:t>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180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520104"/>
              </p:ext>
            </p:extLst>
          </p:nvPr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888519"/>
              </p:ext>
            </p:extLst>
          </p:nvPr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48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 İfadeyi </a:t>
            </a:r>
            <a:r>
              <a:rPr lang="tr-TR" dirty="0" err="1"/>
              <a:t>Postfix</a:t>
            </a:r>
            <a:r>
              <a:rPr lang="tr-TR" dirty="0"/>
              <a:t> İfadeye 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Adım: A</a:t>
            </a:r>
          </a:p>
          <a:p>
            <a:pPr algn="l"/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postfix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: A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181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276959"/>
              </p:ext>
            </p:extLst>
          </p:nvPr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A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101463"/>
              </p:ext>
            </p:extLst>
          </p:nvPr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23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 İfadeyi </a:t>
            </a:r>
            <a:r>
              <a:rPr lang="tr-TR" dirty="0" err="1"/>
              <a:t>Postfix</a:t>
            </a:r>
            <a:r>
              <a:rPr lang="tr-TR" dirty="0"/>
              <a:t> İfadeye 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Adım: *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koy *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182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879023"/>
              </p:ext>
            </p:extLst>
          </p:nvPr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A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10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 İfadeyi </a:t>
            </a:r>
            <a:r>
              <a:rPr lang="tr-TR" dirty="0" err="1"/>
              <a:t>Postfix</a:t>
            </a:r>
            <a:r>
              <a:rPr lang="tr-TR" dirty="0"/>
              <a:t> İfadeye 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Adım: (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koy (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183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220803"/>
              </p:ext>
            </p:extLst>
          </p:nvPr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(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A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24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 İfadeyi </a:t>
            </a:r>
            <a:r>
              <a:rPr lang="tr-TR" dirty="0" err="1"/>
              <a:t>Postfix</a:t>
            </a:r>
            <a:r>
              <a:rPr lang="tr-TR" dirty="0"/>
              <a:t> İfadeye 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Adım: B</a:t>
            </a:r>
          </a:p>
          <a:p>
            <a:pPr algn="l"/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postfix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: AB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(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404511"/>
              </p:ext>
            </p:extLst>
          </p:nvPr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AB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48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 İfadeyi </a:t>
            </a:r>
            <a:r>
              <a:rPr lang="tr-TR" dirty="0" err="1"/>
              <a:t>Postfix</a:t>
            </a:r>
            <a:r>
              <a:rPr lang="tr-TR" dirty="0"/>
              <a:t> İfadeye 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Adım: +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koy +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185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543905"/>
              </p:ext>
            </p:extLst>
          </p:nvPr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+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(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AB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49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 İfadeyi </a:t>
            </a:r>
            <a:r>
              <a:rPr lang="tr-TR" dirty="0" err="1"/>
              <a:t>Postfix</a:t>
            </a:r>
            <a:r>
              <a:rPr lang="tr-TR" dirty="0"/>
              <a:t> İfadeye 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Adım: C</a:t>
            </a:r>
          </a:p>
          <a:p>
            <a:pPr algn="l"/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postfix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: ABC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+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(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733235"/>
              </p:ext>
            </p:extLst>
          </p:nvPr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ABC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46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 İfadeyi </a:t>
            </a:r>
            <a:r>
              <a:rPr lang="tr-TR" dirty="0" err="1"/>
              <a:t>Postfix</a:t>
            </a:r>
            <a:r>
              <a:rPr lang="tr-TR" dirty="0"/>
              <a:t> İfadeye 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Adım: )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+</a:t>
            </a:r>
          </a:p>
          <a:p>
            <a:pPr algn="l"/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postfix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: ABC+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(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187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713179"/>
              </p:ext>
            </p:extLst>
          </p:nvPr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*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555079"/>
              </p:ext>
            </p:extLst>
          </p:nvPr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ABC+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54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 İfadeyi </a:t>
            </a:r>
            <a:r>
              <a:rPr lang="tr-TR" dirty="0" err="1"/>
              <a:t>Postfix</a:t>
            </a:r>
            <a:r>
              <a:rPr lang="tr-TR" dirty="0"/>
              <a:t> İfadeye 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Adım: /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*</a:t>
            </a:r>
          </a:p>
          <a:p>
            <a:pPr algn="l"/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postfix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: ABC+*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Yığına koy /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188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622958"/>
              </p:ext>
            </p:extLst>
          </p:nvPr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>
                          <a:latin typeface="Consolas" panose="020B0609020204030204" pitchFamily="49" charset="0"/>
                        </a:rPr>
                        <a:t>/</a:t>
                      </a:r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576167"/>
              </p:ext>
            </p:extLst>
          </p:nvPr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ABC+*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23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Infix</a:t>
            </a:r>
            <a:r>
              <a:rPr lang="tr-TR" dirty="0"/>
              <a:t> İfadeyi </a:t>
            </a:r>
            <a:r>
              <a:rPr lang="tr-TR" dirty="0" err="1"/>
              <a:t>Postfix</a:t>
            </a:r>
            <a:r>
              <a:rPr lang="tr-TR" dirty="0"/>
              <a:t> İfadeye 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Infix İfade: A*(B+C)/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Adım: D</a:t>
            </a:r>
          </a:p>
          <a:p>
            <a:pPr algn="l"/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postfix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: ABC+*D</a:t>
            </a:r>
          </a:p>
          <a:p>
            <a:pPr algn="l"/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Yığından al /</a:t>
            </a:r>
          </a:p>
          <a:p>
            <a:pPr algn="l"/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postfix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: ABC+*D/</a:t>
            </a: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189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291467"/>
              </p:ext>
            </p:extLst>
          </p:nvPr>
        </p:nvGraphicFramePr>
        <p:xfrm>
          <a:off x="8460000" y="3096000"/>
          <a:ext cx="1007557" cy="3200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75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r-TR" sz="2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918037"/>
              </p:ext>
            </p:extLst>
          </p:nvPr>
        </p:nvGraphicFramePr>
        <p:xfrm>
          <a:off x="7220843" y="2250831"/>
          <a:ext cx="3623212" cy="51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212"/>
              </a:tblGrid>
              <a:tr h="513730">
                <a:tc>
                  <a:txBody>
                    <a:bodyPr/>
                    <a:lstStyle/>
                    <a:p>
                      <a:r>
                        <a:rPr lang="tr-TR" sz="2400" dirty="0" err="1" smtClean="0">
                          <a:solidFill>
                            <a:schemeClr val="tx1"/>
                          </a:solidFill>
                        </a:rPr>
                        <a:t>Postfix</a:t>
                      </a:r>
                      <a:r>
                        <a:rPr lang="tr-TR" sz="2400" dirty="0" smtClean="0">
                          <a:solidFill>
                            <a:schemeClr val="tx1"/>
                          </a:solidFill>
                        </a:rPr>
                        <a:t>: ABC+*D/</a:t>
                      </a:r>
                      <a:endParaRPr lang="tr-TR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60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6762</TotalTime>
  <Words>13506</Words>
  <Application>Microsoft Office PowerPoint</Application>
  <PresentationFormat>Widescreen</PresentationFormat>
  <Paragraphs>4352</Paragraphs>
  <Slides>190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7" baseType="lpstr">
      <vt:lpstr>Arial</vt:lpstr>
      <vt:lpstr>Calibri</vt:lpstr>
      <vt:lpstr>Calibri Light</vt:lpstr>
      <vt:lpstr>Consolas</vt:lpstr>
      <vt:lpstr>Lucida Console</vt:lpstr>
      <vt:lpstr>Wingdings</vt:lpstr>
      <vt:lpstr>Office Theme</vt:lpstr>
      <vt:lpstr>Bölüm 4: Yığın</vt:lpstr>
      <vt:lpstr>Yığın (Stack)</vt:lpstr>
      <vt:lpstr>Temel İşlemler</vt:lpstr>
      <vt:lpstr>Gösterim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Push İşlemi</vt:lpstr>
      <vt:lpstr>Pop İşlemi</vt:lpstr>
      <vt:lpstr>Top İşlemi</vt:lpstr>
      <vt:lpstr>isEmpty İşlemi</vt:lpstr>
      <vt:lpstr>Zaman Karmaşıklığı</vt:lpstr>
      <vt:lpstr>Yığın Türleri</vt:lpstr>
      <vt:lpstr>Yığın Türleri</vt:lpstr>
      <vt:lpstr>Yığın Türleri</vt:lpstr>
      <vt:lpstr>Uygulama Örnekleri</vt:lpstr>
      <vt:lpstr>Uygulama Örnekleri</vt:lpstr>
      <vt:lpstr>Yığın Gerçekleştirimi (implementation)</vt:lpstr>
      <vt:lpstr>Dizi Tabanlı Yığın Gerçekleştirme</vt:lpstr>
      <vt:lpstr>Bağlı Liste Tabanlı Yığın Gerçekleştirme</vt:lpstr>
      <vt:lpstr>Uygulama</vt:lpstr>
      <vt:lpstr>Uygulama - push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Uygulama - pop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Karakter Dizisini (String) Tersine Çevirme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Sonraki En Büyük Eleman Problemi</vt:lpstr>
      <vt:lpstr>Sonraki En Büyük Eleman Problemi</vt:lpstr>
      <vt:lpstr>Sonraki En Büyük Eleman Problemi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Örnek</vt:lpstr>
      <vt:lpstr>Parantez Kontrolü</vt:lpstr>
      <vt:lpstr>Parantez Kontrolü</vt:lpstr>
      <vt:lpstr>Parantez Kontrolü</vt:lpstr>
      <vt:lpstr>Örnek</vt:lpstr>
      <vt:lpstr>Hanoi Kuleleri</vt:lpstr>
      <vt:lpstr>Hanoi Kuleleri</vt:lpstr>
      <vt:lpstr>Hanoi Kuleleri</vt:lpstr>
      <vt:lpstr>Hanoi Kuleleri</vt:lpstr>
      <vt:lpstr>Hanoi Kuleleri – Yığın İşlemleri</vt:lpstr>
      <vt:lpstr>Hanoi Kuleleri – Yığın İşlemleri</vt:lpstr>
      <vt:lpstr>Hanoi Kuleleri – Yığın İşlemleri</vt:lpstr>
      <vt:lpstr>Hanoi Kuleleri – Yığın İşlemleri</vt:lpstr>
      <vt:lpstr>Hanoi Kuleleri – Yığın İşlemleri</vt:lpstr>
      <vt:lpstr>Hanoi Kuleleri – Yığın İşlemleri</vt:lpstr>
      <vt:lpstr>Hanoi Kuleleri – Yığın İşlemleri</vt:lpstr>
      <vt:lpstr>Hanoi Kuleleri – Yığın İşlemleri</vt:lpstr>
      <vt:lpstr>Hanoi Kuleleri – Yığın İşlemleri</vt:lpstr>
      <vt:lpstr>Hanoi Kuleleri – Yığın İşlemleri</vt:lpstr>
      <vt:lpstr>Hanoi Kuleleri – Yığın İşlemleri</vt:lpstr>
      <vt:lpstr>Örnek</vt:lpstr>
      <vt:lpstr>Stock Span Problemi</vt:lpstr>
      <vt:lpstr>Stock Span Problemi</vt:lpstr>
      <vt:lpstr>Stock Span Problemi</vt:lpstr>
      <vt:lpstr>Stock Span Problemi</vt:lpstr>
      <vt:lpstr>Stock Span Problemi</vt:lpstr>
      <vt:lpstr>Stock Span Problemi</vt:lpstr>
      <vt:lpstr>Stock Span Problemi</vt:lpstr>
      <vt:lpstr>Stock Span Problemi</vt:lpstr>
      <vt:lpstr>Stock Span Problemi</vt:lpstr>
      <vt:lpstr>Stock Span Problemi</vt:lpstr>
      <vt:lpstr>Stock Span Problemi</vt:lpstr>
      <vt:lpstr>Örnek</vt:lpstr>
      <vt:lpstr>Infix, Prefix, Postfix İfade Dönüşümleri</vt:lpstr>
      <vt:lpstr>Infix, Prefix, Postfix İfade Dönüşümleri</vt:lpstr>
      <vt:lpstr>Infix İfadeyi Postfix İfadeye Dönüştürme</vt:lpstr>
      <vt:lpstr>Infix İfadeyi Postfix İfadeye Dönüştürme</vt:lpstr>
      <vt:lpstr>Infix İfadeyi Postfix İfadeye Dönüştürme</vt:lpstr>
      <vt:lpstr>Infix İfadeyi Postfix İfadeye Dönüştürme</vt:lpstr>
      <vt:lpstr>Infix İfadeyi Postfix İfadeye Dönüştürme</vt:lpstr>
      <vt:lpstr>Infix İfadeyi Postfix İfadeye Dönüştürme</vt:lpstr>
      <vt:lpstr>Infix İfadeyi Postfix İfadeye Dönüştürme</vt:lpstr>
      <vt:lpstr>Infix İfadeyi Postfix İfadeye Dönüştürme</vt:lpstr>
      <vt:lpstr>Infix İfadeyi Postfix İfadeye Dönüştürme</vt:lpstr>
      <vt:lpstr>Infix İfadeyi Postfix İfadeye Dönüştürme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Yığın</dc:title>
  <dc:creator>sercan</dc:creator>
  <cp:lastModifiedBy>sercan</cp:lastModifiedBy>
  <cp:revision>484</cp:revision>
  <dcterms:created xsi:type="dcterms:W3CDTF">2023-01-12T09:23:55Z</dcterms:created>
  <dcterms:modified xsi:type="dcterms:W3CDTF">2023-12-20T18:49:14Z</dcterms:modified>
</cp:coreProperties>
</file>