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17"/>
  </p:notesMasterIdLst>
  <p:sldIdLst>
    <p:sldId id="256" r:id="rId2"/>
    <p:sldId id="371" r:id="rId3"/>
    <p:sldId id="372" r:id="rId4"/>
    <p:sldId id="414" r:id="rId5"/>
    <p:sldId id="374" r:id="rId6"/>
    <p:sldId id="375" r:id="rId7"/>
    <p:sldId id="376" r:id="rId8"/>
    <p:sldId id="415" r:id="rId9"/>
    <p:sldId id="416" r:id="rId10"/>
    <p:sldId id="417" r:id="rId11"/>
    <p:sldId id="419" r:id="rId12"/>
    <p:sldId id="420" r:id="rId13"/>
    <p:sldId id="421" r:id="rId14"/>
    <p:sldId id="422" r:id="rId15"/>
    <p:sldId id="423" r:id="rId16"/>
    <p:sldId id="424" r:id="rId17"/>
    <p:sldId id="418" r:id="rId18"/>
    <p:sldId id="425" r:id="rId19"/>
    <p:sldId id="426" r:id="rId20"/>
    <p:sldId id="427" r:id="rId21"/>
    <p:sldId id="428" r:id="rId22"/>
    <p:sldId id="378" r:id="rId23"/>
    <p:sldId id="379" r:id="rId24"/>
    <p:sldId id="384" r:id="rId25"/>
    <p:sldId id="429" r:id="rId26"/>
    <p:sldId id="434" r:id="rId27"/>
    <p:sldId id="435" r:id="rId28"/>
    <p:sldId id="436" r:id="rId29"/>
    <p:sldId id="437" r:id="rId30"/>
    <p:sldId id="438" r:id="rId31"/>
    <p:sldId id="439" r:id="rId32"/>
    <p:sldId id="440" r:id="rId33"/>
    <p:sldId id="441" r:id="rId34"/>
    <p:sldId id="442" r:id="rId35"/>
    <p:sldId id="443" r:id="rId36"/>
    <p:sldId id="444" r:id="rId37"/>
    <p:sldId id="445" r:id="rId38"/>
    <p:sldId id="446" r:id="rId39"/>
    <p:sldId id="447" r:id="rId40"/>
    <p:sldId id="448" r:id="rId41"/>
    <p:sldId id="449" r:id="rId42"/>
    <p:sldId id="450" r:id="rId43"/>
    <p:sldId id="451" r:id="rId44"/>
    <p:sldId id="433" r:id="rId45"/>
    <p:sldId id="380" r:id="rId46"/>
    <p:sldId id="381" r:id="rId47"/>
    <p:sldId id="387" r:id="rId48"/>
    <p:sldId id="453" r:id="rId49"/>
    <p:sldId id="454" r:id="rId50"/>
    <p:sldId id="455" r:id="rId51"/>
    <p:sldId id="456" r:id="rId52"/>
    <p:sldId id="457" r:id="rId53"/>
    <p:sldId id="458" r:id="rId54"/>
    <p:sldId id="459" r:id="rId55"/>
    <p:sldId id="460" r:id="rId56"/>
    <p:sldId id="461" r:id="rId57"/>
    <p:sldId id="462" r:id="rId58"/>
    <p:sldId id="463" r:id="rId59"/>
    <p:sldId id="464" r:id="rId60"/>
    <p:sldId id="465" r:id="rId61"/>
    <p:sldId id="466" r:id="rId62"/>
    <p:sldId id="467" r:id="rId63"/>
    <p:sldId id="468" r:id="rId64"/>
    <p:sldId id="469" r:id="rId65"/>
    <p:sldId id="470" r:id="rId66"/>
    <p:sldId id="471" r:id="rId67"/>
    <p:sldId id="452" r:id="rId68"/>
    <p:sldId id="413" r:id="rId69"/>
    <p:sldId id="472" r:id="rId70"/>
    <p:sldId id="473" r:id="rId71"/>
    <p:sldId id="478" r:id="rId72"/>
    <p:sldId id="479" r:id="rId73"/>
    <p:sldId id="480" r:id="rId74"/>
    <p:sldId id="481" r:id="rId75"/>
    <p:sldId id="482" r:id="rId76"/>
    <p:sldId id="483" r:id="rId77"/>
    <p:sldId id="484" r:id="rId78"/>
    <p:sldId id="485" r:id="rId79"/>
    <p:sldId id="486" r:id="rId80"/>
    <p:sldId id="487" r:id="rId81"/>
    <p:sldId id="488" r:id="rId82"/>
    <p:sldId id="489" r:id="rId83"/>
    <p:sldId id="490" r:id="rId84"/>
    <p:sldId id="491" r:id="rId85"/>
    <p:sldId id="492" r:id="rId86"/>
    <p:sldId id="493" r:id="rId87"/>
    <p:sldId id="494" r:id="rId88"/>
    <p:sldId id="495" r:id="rId89"/>
    <p:sldId id="496" r:id="rId90"/>
    <p:sldId id="474" r:id="rId91"/>
    <p:sldId id="475" r:id="rId92"/>
    <p:sldId id="476" r:id="rId93"/>
    <p:sldId id="497" r:id="rId94"/>
    <p:sldId id="477" r:id="rId95"/>
    <p:sldId id="498" r:id="rId96"/>
    <p:sldId id="499" r:id="rId97"/>
    <p:sldId id="502" r:id="rId98"/>
    <p:sldId id="503" r:id="rId99"/>
    <p:sldId id="504" r:id="rId100"/>
    <p:sldId id="505" r:id="rId101"/>
    <p:sldId id="506" r:id="rId102"/>
    <p:sldId id="507" r:id="rId103"/>
    <p:sldId id="508" r:id="rId104"/>
    <p:sldId id="509" r:id="rId105"/>
    <p:sldId id="510" r:id="rId106"/>
    <p:sldId id="511" r:id="rId107"/>
    <p:sldId id="512" r:id="rId108"/>
    <p:sldId id="513" r:id="rId109"/>
    <p:sldId id="514" r:id="rId110"/>
    <p:sldId id="515" r:id="rId111"/>
    <p:sldId id="516" r:id="rId112"/>
    <p:sldId id="517" r:id="rId113"/>
    <p:sldId id="518" r:id="rId114"/>
    <p:sldId id="501" r:id="rId115"/>
    <p:sldId id="312" r:id="rId1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26.12.2023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r>
              <a:rPr lang="tr-TR" dirty="0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 smtClean="0"/>
              <a:t>Bölüm 11: Çizge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Veri Yapıları</a:t>
            </a:r>
            <a:endParaRPr lang="tr-TR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Çizge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Noktaların (</a:t>
            </a:r>
            <a:r>
              <a:rPr lang="tr-TR" dirty="0"/>
              <a:t>düğümler) ve bu noktaları birbirine bağlayan kenarların (yollar) bir araya gelmesiyle </a:t>
            </a:r>
            <a:r>
              <a:rPr lang="tr-TR" dirty="0" smtClean="0"/>
              <a:t>oluşur.</a:t>
            </a:r>
            <a:endParaRPr lang="tr-TR" dirty="0"/>
          </a:p>
          <a:p>
            <a:r>
              <a:rPr lang="tr-TR" dirty="0" smtClean="0"/>
              <a:t>Karmaşık </a:t>
            </a:r>
            <a:r>
              <a:rPr lang="tr-TR" dirty="0"/>
              <a:t>ilişkileri, ağları ve yapıları temsil etmek için kullanılır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Çizge teorisi</a:t>
            </a:r>
            <a:r>
              <a:rPr lang="tr-TR" dirty="0"/>
              <a:t>, düğümler ve kenarlar arasındaki ilişkileri </a:t>
            </a:r>
            <a:r>
              <a:rPr lang="tr-TR" dirty="0" smtClean="0"/>
              <a:t>inceler.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861" y="3657600"/>
            <a:ext cx="5834940" cy="25193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373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Nokta (Düğüm)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Çizgenin temel yapı taşı.</a:t>
            </a:r>
            <a:endParaRPr lang="tr-TR" dirty="0"/>
          </a:p>
          <a:p>
            <a:r>
              <a:rPr lang="tr-TR" dirty="0" smtClean="0"/>
              <a:t>Şehirler</a:t>
            </a:r>
            <a:r>
              <a:rPr lang="tr-TR" dirty="0"/>
              <a:t>, kişiler, bilgisayarlar gibi </a:t>
            </a:r>
            <a:r>
              <a:rPr lang="tr-TR" dirty="0" smtClean="0"/>
              <a:t>nesneleri temsil </a:t>
            </a:r>
            <a:r>
              <a:rPr lang="tr-TR" dirty="0"/>
              <a:t>eder.</a:t>
            </a:r>
          </a:p>
          <a:p>
            <a:r>
              <a:rPr lang="tr-TR" b="1" dirty="0"/>
              <a:t>Örnek</a:t>
            </a:r>
            <a:r>
              <a:rPr lang="tr-TR" dirty="0"/>
              <a:t>:</a:t>
            </a:r>
          </a:p>
          <a:p>
            <a:pPr lvl="1"/>
            <a:r>
              <a:rPr lang="tr-TR" dirty="0" smtClean="0"/>
              <a:t>Haritadaki şehirler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9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2976563"/>
            <a:ext cx="668655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33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Kenar (Yol)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Düğümleri birbirine bağlayan bağlantılardır.</a:t>
            </a:r>
          </a:p>
          <a:p>
            <a:r>
              <a:rPr lang="tr-TR" dirty="0"/>
              <a:t>Kenarlar düğümler arasındaki ilişkiyi temsil eder</a:t>
            </a:r>
            <a:r>
              <a:rPr lang="tr-TR" dirty="0" smtClean="0"/>
              <a:t>.</a:t>
            </a:r>
          </a:p>
          <a:p>
            <a:r>
              <a:rPr lang="tr-TR" dirty="0"/>
              <a:t>Eğer (v, w) bir kenar ise, v ve w birbirine bitişiktir.</a:t>
            </a:r>
          </a:p>
          <a:p>
            <a:r>
              <a:rPr lang="tr-TR" b="1" dirty="0"/>
              <a:t>Örnek</a:t>
            </a:r>
            <a:r>
              <a:rPr lang="tr-TR" dirty="0"/>
              <a:t>:</a:t>
            </a:r>
          </a:p>
          <a:p>
            <a:pPr lvl="1"/>
            <a:r>
              <a:rPr lang="tr-TR" dirty="0"/>
              <a:t>Şehirler arasındaki yollar</a:t>
            </a:r>
          </a:p>
          <a:p>
            <a:pPr lvl="1"/>
            <a:r>
              <a:rPr lang="tr-TR" dirty="0"/>
              <a:t>Ağ bağlantısı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730" y="3222996"/>
            <a:ext cx="5175069" cy="29539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0179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Derece (</a:t>
            </a:r>
            <a:r>
              <a:rPr lang="tr-TR" dirty="0" err="1"/>
              <a:t>Degree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Düğümün </a:t>
            </a:r>
            <a:r>
              <a:rPr lang="tr-TR" dirty="0"/>
              <a:t>sahip olduğu kenar </a:t>
            </a:r>
            <a:r>
              <a:rPr lang="tr-TR" dirty="0" smtClean="0"/>
              <a:t>sayısıdır.</a:t>
            </a:r>
            <a:endParaRPr lang="tr-TR" dirty="0"/>
          </a:p>
          <a:p>
            <a:r>
              <a:rPr lang="tr-TR" dirty="0"/>
              <a:t>Derecesiz (0 derece) düğümler de olabilir.</a:t>
            </a:r>
          </a:p>
          <a:p>
            <a:r>
              <a:rPr lang="tr-TR" dirty="0"/>
              <a:t>Örnek:</a:t>
            </a:r>
          </a:p>
          <a:p>
            <a:pPr lvl="1"/>
            <a:r>
              <a:rPr lang="tr-TR" dirty="0"/>
              <a:t>Bir kavşaktaki yolların sayısı.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028" y="3261134"/>
            <a:ext cx="4878772" cy="291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83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Yönlü </a:t>
            </a:r>
            <a:r>
              <a:rPr lang="tr-TR" dirty="0" smtClean="0"/>
              <a:t>Çizge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Kenarlar, bir düğümden </a:t>
            </a:r>
            <a:r>
              <a:rPr lang="tr-TR" dirty="0" smtClean="0"/>
              <a:t>diğer düğüme belirli </a:t>
            </a:r>
            <a:r>
              <a:rPr lang="tr-TR" dirty="0"/>
              <a:t>bir </a:t>
            </a:r>
            <a:r>
              <a:rPr lang="tr-TR" dirty="0" smtClean="0"/>
              <a:t>yöndedir.</a:t>
            </a:r>
            <a:endParaRPr lang="tr-TR" dirty="0"/>
          </a:p>
          <a:p>
            <a:r>
              <a:rPr lang="tr-TR" dirty="0" smtClean="0"/>
              <a:t>Düğüme </a:t>
            </a:r>
            <a:r>
              <a:rPr lang="tr-TR" dirty="0"/>
              <a:t>geri dönüş yolu olmayabilir</a:t>
            </a:r>
            <a:r>
              <a:rPr lang="tr-TR" dirty="0" smtClean="0"/>
              <a:t>.</a:t>
            </a:r>
          </a:p>
          <a:p>
            <a:r>
              <a:rPr lang="tr-TR" dirty="0" err="1" smtClean="0"/>
              <a:t>Digraph</a:t>
            </a:r>
            <a:r>
              <a:rPr lang="tr-TR" dirty="0" smtClean="0"/>
              <a:t> olarak da adlandırılır.</a:t>
            </a:r>
            <a:endParaRPr lang="tr-TR" dirty="0"/>
          </a:p>
          <a:p>
            <a:r>
              <a:rPr lang="tr-TR" dirty="0"/>
              <a:t>Örnek:</a:t>
            </a:r>
          </a:p>
          <a:p>
            <a:pPr lvl="1"/>
            <a:r>
              <a:rPr lang="tr-TR" dirty="0"/>
              <a:t>İnternet sayfaları ve bağlantıları.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26" name="Picture 2" descr="Directed grap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550" y="3509963"/>
            <a:ext cx="428625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47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Döngü (</a:t>
            </a:r>
            <a:r>
              <a:rPr lang="tr-TR" dirty="0" err="1"/>
              <a:t>Cycle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Bir </a:t>
            </a:r>
            <a:r>
              <a:rPr lang="tr-TR" dirty="0"/>
              <a:t>düğümden başlayıp aynı düğümde sona eren bir yoldur</a:t>
            </a:r>
            <a:r>
              <a:rPr lang="tr-TR" dirty="0" smtClean="0"/>
              <a:t>.</a:t>
            </a:r>
          </a:p>
          <a:p>
            <a:r>
              <a:rPr lang="tr-TR" dirty="0"/>
              <a:t>Basit bir döngü, diğer düğümleri sadece bir kez geçen bir döngüdür.</a:t>
            </a:r>
          </a:p>
          <a:p>
            <a:r>
              <a:rPr lang="tr-TR" dirty="0" smtClean="0"/>
              <a:t>Çizgeler içerisinde döngü olabilir.</a:t>
            </a:r>
          </a:p>
          <a:p>
            <a:r>
              <a:rPr lang="tr-TR" dirty="0" smtClean="0"/>
              <a:t>Ağaç yapısında döngü bulunmaz.</a:t>
            </a:r>
            <a:endParaRPr lang="tr-TR" dirty="0"/>
          </a:p>
          <a:p>
            <a:r>
              <a:rPr lang="tr-TR" dirty="0"/>
              <a:t>Örnek:</a:t>
            </a:r>
          </a:p>
          <a:p>
            <a:pPr lvl="1"/>
            <a:r>
              <a:rPr lang="tr-TR" dirty="0" smtClean="0"/>
              <a:t>Uçuş rotası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573" y="3631474"/>
            <a:ext cx="5485228" cy="254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7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Örnek Çizge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tr-TR" dirty="0" smtClean="0"/>
          </a:p>
          <a:p>
            <a:endParaRPr lang="tr-TR" dirty="0" smtClean="0"/>
          </a:p>
          <a:p>
            <a:endParaRPr lang="tr-TR" dirty="0"/>
          </a:p>
          <a:p>
            <a:r>
              <a:rPr lang="tr-TR" b="1" dirty="0" smtClean="0"/>
              <a:t>V = </a:t>
            </a:r>
            <a:r>
              <a:rPr lang="tr-TR" dirty="0" smtClean="0"/>
              <a:t>{ 1, 2, 3, 4, 5}</a:t>
            </a:r>
          </a:p>
          <a:p>
            <a:r>
              <a:rPr lang="tr-TR" b="1" dirty="0"/>
              <a:t>E =</a:t>
            </a:r>
            <a:r>
              <a:rPr lang="tr-TR" dirty="0"/>
              <a:t> </a:t>
            </a:r>
            <a:r>
              <a:rPr lang="tr-TR" dirty="0" smtClean="0"/>
              <a:t>{ (</a:t>
            </a:r>
            <a:r>
              <a:rPr lang="tr-TR" dirty="0"/>
              <a:t>1,2</a:t>
            </a:r>
            <a:r>
              <a:rPr lang="tr-TR" dirty="0" smtClean="0"/>
              <a:t>), (</a:t>
            </a:r>
            <a:r>
              <a:rPr lang="tr-TR" dirty="0"/>
              <a:t>1,3</a:t>
            </a:r>
            <a:r>
              <a:rPr lang="tr-TR" dirty="0" smtClean="0"/>
              <a:t>), (</a:t>
            </a:r>
            <a:r>
              <a:rPr lang="tr-TR" dirty="0"/>
              <a:t>1,4</a:t>
            </a:r>
            <a:r>
              <a:rPr lang="tr-TR" dirty="0" smtClean="0"/>
              <a:t>), (</a:t>
            </a:r>
            <a:r>
              <a:rPr lang="tr-TR" dirty="0"/>
              <a:t>2,5</a:t>
            </a:r>
            <a:r>
              <a:rPr lang="tr-TR" dirty="0" smtClean="0"/>
              <a:t>), (</a:t>
            </a:r>
            <a:r>
              <a:rPr lang="tr-TR" dirty="0"/>
              <a:t>3,4</a:t>
            </a:r>
            <a:r>
              <a:rPr lang="tr-TR" dirty="0" smtClean="0"/>
              <a:t>), (</a:t>
            </a:r>
            <a:r>
              <a:rPr lang="tr-TR" dirty="0"/>
              <a:t>4,5</a:t>
            </a:r>
            <a:r>
              <a:rPr lang="tr-TR" dirty="0" smtClean="0"/>
              <a:t>) }</a:t>
            </a:r>
          </a:p>
          <a:p>
            <a:r>
              <a:rPr lang="tr-TR" dirty="0" smtClean="0"/>
              <a:t>Düğüm 1 ve Düğüm 2 </a:t>
            </a:r>
            <a:r>
              <a:rPr lang="tr-TR" b="1" dirty="0" smtClean="0"/>
              <a:t>komşu</a:t>
            </a:r>
          </a:p>
          <a:p>
            <a:r>
              <a:rPr lang="tr-TR" dirty="0" smtClean="0"/>
              <a:t>1 -&gt; 2 -&gt; 5 </a:t>
            </a:r>
            <a:r>
              <a:rPr lang="tr-TR" b="1" dirty="0" smtClean="0"/>
              <a:t>basit yol</a:t>
            </a:r>
          </a:p>
          <a:p>
            <a:r>
              <a:rPr lang="tr-TR" dirty="0" smtClean="0"/>
              <a:t>1 -&gt; 3 -&gt; 4 -&gt; 1 </a:t>
            </a:r>
            <a:r>
              <a:rPr lang="tr-TR" b="1" dirty="0" smtClean="0"/>
              <a:t>basit döngü</a:t>
            </a:r>
          </a:p>
          <a:p>
            <a:r>
              <a:rPr lang="tr-TR" dirty="0" smtClean="0"/>
              <a:t>1 -&gt; 3 -&gt; 4 -&gt; 1 -&gt; 2 -&gt; </a:t>
            </a:r>
            <a:r>
              <a:rPr lang="tr-TR" b="1" dirty="0" smtClean="0"/>
              <a:t>basit olmayan yol</a:t>
            </a:r>
          </a:p>
          <a:p>
            <a:r>
              <a:rPr lang="tr-TR" dirty="0" smtClean="0"/>
              <a:t>1 -&gt; 3 -&gt; 4 -&gt; 1 -&gt; 4 -&gt; 1 </a:t>
            </a:r>
            <a:r>
              <a:rPr lang="tr-TR" b="1" dirty="0" smtClean="0"/>
              <a:t>basit olmayan döng</a:t>
            </a:r>
            <a:r>
              <a:rPr lang="tr-TR" b="1" dirty="0"/>
              <a:t>ü</a:t>
            </a:r>
            <a:endParaRPr lang="tr-TR" b="1" dirty="0" smtClean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7" name="Group 3"/>
          <p:cNvGrpSpPr>
            <a:grpSpLocks/>
          </p:cNvGrpSpPr>
          <p:nvPr/>
        </p:nvGrpSpPr>
        <p:grpSpPr bwMode="auto">
          <a:xfrm>
            <a:off x="4369385" y="1403592"/>
            <a:ext cx="6337300" cy="1584325"/>
            <a:chOff x="816" y="960"/>
            <a:chExt cx="3992" cy="998"/>
          </a:xfrm>
        </p:grpSpPr>
        <p:sp>
          <p:nvSpPr>
            <p:cNvPr id="8" name="Line 4"/>
            <p:cNvSpPr>
              <a:spLocks noChangeShapeType="1"/>
            </p:cNvSpPr>
            <p:nvPr/>
          </p:nvSpPr>
          <p:spPr bwMode="auto">
            <a:xfrm>
              <a:off x="2041" y="1232"/>
              <a:ext cx="635" cy="454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tr-TR"/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2086" y="1141"/>
              <a:ext cx="1452" cy="0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tr-TR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3882" y="1259"/>
              <a:ext cx="590" cy="408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tr-TR"/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 flipH="1">
              <a:off x="1179" y="1776"/>
              <a:ext cx="1451" cy="0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tr-TR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 flipH="1">
              <a:off x="2993" y="1776"/>
              <a:ext cx="1452" cy="0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tr-TR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H="1">
              <a:off x="1134" y="1232"/>
              <a:ext cx="635" cy="427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tr-TR"/>
            </a:p>
          </p:txBody>
        </p:sp>
        <p:sp>
          <p:nvSpPr>
            <p:cNvPr id="14" name="Oval 10"/>
            <p:cNvSpPr>
              <a:spLocks noChangeArrowheads="1"/>
            </p:cNvSpPr>
            <p:nvPr/>
          </p:nvSpPr>
          <p:spPr bwMode="auto">
            <a:xfrm>
              <a:off x="1723" y="960"/>
              <a:ext cx="363" cy="364"/>
            </a:xfrm>
            <a:prstGeom prst="ellipse">
              <a:avLst/>
            </a:prstGeom>
            <a:noFill/>
            <a:ln w="25400" algn="ctr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B2B2B2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5" name="Oval 11"/>
            <p:cNvSpPr>
              <a:spLocks noChangeArrowheads="1"/>
            </p:cNvSpPr>
            <p:nvPr/>
          </p:nvSpPr>
          <p:spPr bwMode="auto">
            <a:xfrm>
              <a:off x="2630" y="1592"/>
              <a:ext cx="363" cy="364"/>
            </a:xfrm>
            <a:prstGeom prst="ellipse">
              <a:avLst/>
            </a:prstGeom>
            <a:noFill/>
            <a:ln w="25400" algn="ctr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B2B2B2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6" name="Oval 12"/>
            <p:cNvSpPr>
              <a:spLocks noChangeArrowheads="1"/>
            </p:cNvSpPr>
            <p:nvPr/>
          </p:nvSpPr>
          <p:spPr bwMode="auto">
            <a:xfrm>
              <a:off x="3537" y="960"/>
              <a:ext cx="363" cy="364"/>
            </a:xfrm>
            <a:prstGeom prst="ellipse">
              <a:avLst/>
            </a:prstGeom>
            <a:noFill/>
            <a:ln w="25400" algn="ctr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B2B2B2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7" name="Oval 13"/>
            <p:cNvSpPr>
              <a:spLocks noChangeArrowheads="1"/>
            </p:cNvSpPr>
            <p:nvPr/>
          </p:nvSpPr>
          <p:spPr bwMode="auto">
            <a:xfrm>
              <a:off x="4445" y="1592"/>
              <a:ext cx="363" cy="364"/>
            </a:xfrm>
            <a:prstGeom prst="ellipse">
              <a:avLst/>
            </a:prstGeom>
            <a:noFill/>
            <a:ln w="25400" algn="ctr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B2B2B2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8" name="Oval 14"/>
            <p:cNvSpPr>
              <a:spLocks noChangeArrowheads="1"/>
            </p:cNvSpPr>
            <p:nvPr/>
          </p:nvSpPr>
          <p:spPr bwMode="auto">
            <a:xfrm>
              <a:off x="816" y="1594"/>
              <a:ext cx="363" cy="364"/>
            </a:xfrm>
            <a:prstGeom prst="ellipse">
              <a:avLst/>
            </a:prstGeom>
            <a:noFill/>
            <a:ln w="25400" algn="ctr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B2B2B2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412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Bağlantılı ve Tam Çizge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Bağlantılı </a:t>
            </a:r>
            <a:r>
              <a:rPr lang="tr-TR" dirty="0" smtClean="0"/>
              <a:t>çizge, </a:t>
            </a:r>
            <a:r>
              <a:rPr lang="tr-TR" dirty="0"/>
              <a:t>her iki farklı düğüm çifti arasında bir yol içerir</a:t>
            </a:r>
            <a:r>
              <a:rPr lang="tr-TR" dirty="0" smtClean="0"/>
              <a:t>.</a:t>
            </a:r>
          </a:p>
          <a:p>
            <a:r>
              <a:rPr lang="tr-TR" dirty="0"/>
              <a:t>Tam </a:t>
            </a:r>
            <a:r>
              <a:rPr lang="tr-TR" dirty="0" smtClean="0"/>
              <a:t>çizge, </a:t>
            </a:r>
            <a:r>
              <a:rPr lang="tr-TR" dirty="0"/>
              <a:t>her iki farklı düğüm çifti arasında bir kenar içerir</a:t>
            </a:r>
            <a:r>
              <a:rPr lang="tr-TR" dirty="0" smtClean="0"/>
              <a:t>.</a:t>
            </a:r>
          </a:p>
          <a:p>
            <a:endParaRPr lang="tr-TR" dirty="0" smtClean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000" y="3181644"/>
            <a:ext cx="8640000" cy="27317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456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Yönlü Çizge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tr-TR" b="1" dirty="0" smtClean="0"/>
          </a:p>
          <a:p>
            <a:endParaRPr lang="tr-TR" b="1" dirty="0"/>
          </a:p>
          <a:p>
            <a:endParaRPr lang="tr-TR" b="1" dirty="0" smtClean="0"/>
          </a:p>
          <a:p>
            <a:r>
              <a:rPr lang="tr-TR" b="1" dirty="0" smtClean="0"/>
              <a:t>V </a:t>
            </a:r>
            <a:r>
              <a:rPr lang="tr-TR" b="1" dirty="0"/>
              <a:t>= </a:t>
            </a:r>
            <a:r>
              <a:rPr lang="tr-TR" dirty="0"/>
              <a:t>{ 1, 2, 3, 4, 5}</a:t>
            </a:r>
          </a:p>
          <a:p>
            <a:r>
              <a:rPr lang="tr-TR" b="1" dirty="0"/>
              <a:t>E =</a:t>
            </a:r>
            <a:r>
              <a:rPr lang="tr-TR" dirty="0"/>
              <a:t> { (1,2</a:t>
            </a:r>
            <a:r>
              <a:rPr lang="tr-TR" dirty="0" smtClean="0"/>
              <a:t>), </a:t>
            </a:r>
            <a:r>
              <a:rPr lang="tr-TR" dirty="0"/>
              <a:t>(1,4), (2,5</a:t>
            </a:r>
            <a:r>
              <a:rPr lang="tr-TR" dirty="0" smtClean="0"/>
              <a:t>), </a:t>
            </a:r>
            <a:r>
              <a:rPr lang="tr-TR" dirty="0"/>
              <a:t>(4,5</a:t>
            </a:r>
            <a:r>
              <a:rPr lang="tr-TR" dirty="0" smtClean="0"/>
              <a:t>), (3,1), (4,5) </a:t>
            </a:r>
            <a:r>
              <a:rPr lang="tr-TR" dirty="0"/>
              <a:t>}</a:t>
            </a:r>
          </a:p>
          <a:p>
            <a:r>
              <a:rPr lang="tr-TR" dirty="0"/>
              <a:t>Düğüm </a:t>
            </a:r>
            <a:r>
              <a:rPr lang="tr-TR" dirty="0" smtClean="0"/>
              <a:t>2, Düğüm 1’in </a:t>
            </a:r>
            <a:r>
              <a:rPr lang="tr-TR" b="1" dirty="0" smtClean="0"/>
              <a:t>komşusu </a:t>
            </a:r>
            <a:endParaRPr lang="tr-TR" dirty="0"/>
          </a:p>
          <a:p>
            <a:r>
              <a:rPr lang="tr-TR" dirty="0" smtClean="0"/>
              <a:t>Düğüm 1, Düğüm 2’nin komşusu </a:t>
            </a:r>
            <a:r>
              <a:rPr lang="tr-TR" b="1" dirty="0" smtClean="0"/>
              <a:t>değil!</a:t>
            </a:r>
            <a:endParaRPr lang="tr-TR" b="1" dirty="0"/>
          </a:p>
          <a:p>
            <a:r>
              <a:rPr lang="tr-TR" dirty="0"/>
              <a:t>1 -&gt; 2 -&gt; 5 </a:t>
            </a:r>
            <a:r>
              <a:rPr lang="tr-TR" b="1" dirty="0" smtClean="0"/>
              <a:t>yönlü yol</a:t>
            </a:r>
            <a:endParaRPr lang="tr-TR" b="1" dirty="0"/>
          </a:p>
          <a:p>
            <a:r>
              <a:rPr lang="tr-TR" dirty="0"/>
              <a:t>1 -&gt; </a:t>
            </a:r>
            <a:r>
              <a:rPr lang="tr-TR" dirty="0" smtClean="0"/>
              <a:t>4 </a:t>
            </a:r>
            <a:r>
              <a:rPr lang="tr-TR" dirty="0"/>
              <a:t>-&gt; 3</a:t>
            </a:r>
            <a:r>
              <a:rPr lang="tr-TR" dirty="0" smtClean="0"/>
              <a:t> </a:t>
            </a:r>
            <a:r>
              <a:rPr lang="tr-TR" dirty="0"/>
              <a:t>-&gt; 1 </a:t>
            </a:r>
            <a:r>
              <a:rPr lang="tr-TR" b="1" dirty="0" smtClean="0"/>
              <a:t>yönlü </a:t>
            </a:r>
            <a:r>
              <a:rPr lang="tr-TR" b="1" dirty="0"/>
              <a:t>döngü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4370400" y="1404000"/>
            <a:ext cx="6337300" cy="1584325"/>
            <a:chOff x="384" y="720"/>
            <a:chExt cx="3992" cy="998"/>
          </a:xfrm>
        </p:grpSpPr>
        <p:sp>
          <p:nvSpPr>
            <p:cNvPr id="8" name="Line 4"/>
            <p:cNvSpPr>
              <a:spLocks noChangeShapeType="1"/>
            </p:cNvSpPr>
            <p:nvPr/>
          </p:nvSpPr>
          <p:spPr bwMode="auto">
            <a:xfrm>
              <a:off x="1609" y="992"/>
              <a:ext cx="635" cy="454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tr-TR"/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1654" y="901"/>
              <a:ext cx="1452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tr-TR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3450" y="1019"/>
              <a:ext cx="590" cy="408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tr-TR"/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 flipH="1">
              <a:off x="747" y="1536"/>
              <a:ext cx="1451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tr-TR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 flipH="1">
              <a:off x="2561" y="1536"/>
              <a:ext cx="1452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tr-TR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H="1">
              <a:off x="702" y="992"/>
              <a:ext cx="635" cy="427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tr-TR"/>
            </a:p>
          </p:txBody>
        </p:sp>
        <p:sp>
          <p:nvSpPr>
            <p:cNvPr id="14" name="Oval 10"/>
            <p:cNvSpPr>
              <a:spLocks noChangeArrowheads="1"/>
            </p:cNvSpPr>
            <p:nvPr/>
          </p:nvSpPr>
          <p:spPr bwMode="auto">
            <a:xfrm>
              <a:off x="1291" y="720"/>
              <a:ext cx="363" cy="364"/>
            </a:xfrm>
            <a:prstGeom prst="ellipse">
              <a:avLst/>
            </a:prstGeom>
            <a:noFill/>
            <a:ln w="25400" algn="ctr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B2B2B2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5" name="Oval 11"/>
            <p:cNvSpPr>
              <a:spLocks noChangeArrowheads="1"/>
            </p:cNvSpPr>
            <p:nvPr/>
          </p:nvSpPr>
          <p:spPr bwMode="auto">
            <a:xfrm>
              <a:off x="2198" y="1352"/>
              <a:ext cx="363" cy="364"/>
            </a:xfrm>
            <a:prstGeom prst="ellipse">
              <a:avLst/>
            </a:prstGeom>
            <a:noFill/>
            <a:ln w="25400" algn="ctr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B2B2B2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6" name="Oval 12"/>
            <p:cNvSpPr>
              <a:spLocks noChangeArrowheads="1"/>
            </p:cNvSpPr>
            <p:nvPr/>
          </p:nvSpPr>
          <p:spPr bwMode="auto">
            <a:xfrm>
              <a:off x="3105" y="720"/>
              <a:ext cx="363" cy="364"/>
            </a:xfrm>
            <a:prstGeom prst="ellipse">
              <a:avLst/>
            </a:prstGeom>
            <a:noFill/>
            <a:ln w="25400" algn="ctr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B2B2B2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7" name="Oval 13"/>
            <p:cNvSpPr>
              <a:spLocks noChangeArrowheads="1"/>
            </p:cNvSpPr>
            <p:nvPr/>
          </p:nvSpPr>
          <p:spPr bwMode="auto">
            <a:xfrm>
              <a:off x="4013" y="1352"/>
              <a:ext cx="363" cy="364"/>
            </a:xfrm>
            <a:prstGeom prst="ellipse">
              <a:avLst/>
            </a:prstGeom>
            <a:noFill/>
            <a:ln w="25400" algn="ctr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B2B2B2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8" name="Oval 14"/>
            <p:cNvSpPr>
              <a:spLocks noChangeArrowheads="1"/>
            </p:cNvSpPr>
            <p:nvPr/>
          </p:nvSpPr>
          <p:spPr bwMode="auto">
            <a:xfrm>
              <a:off x="384" y="1354"/>
              <a:ext cx="363" cy="364"/>
            </a:xfrm>
            <a:prstGeom prst="ellipse">
              <a:avLst/>
            </a:prstGeom>
            <a:noFill/>
            <a:ln w="25400" algn="ctr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rgbClr val="B2B2B2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488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Ağırlıklı Çizge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2652601" y="2131256"/>
            <a:ext cx="6337300" cy="1660525"/>
            <a:chOff x="304800" y="2286000"/>
            <a:chExt cx="6337300" cy="1660525"/>
          </a:xfrm>
        </p:grpSpPr>
        <p:grpSp>
          <p:nvGrpSpPr>
            <p:cNvPr id="20" name="Group 5"/>
            <p:cNvGrpSpPr>
              <a:grpSpLocks/>
            </p:cNvGrpSpPr>
            <p:nvPr/>
          </p:nvGrpSpPr>
          <p:grpSpPr bwMode="auto">
            <a:xfrm>
              <a:off x="304800" y="2362200"/>
              <a:ext cx="6337300" cy="1584325"/>
              <a:chOff x="816" y="960"/>
              <a:chExt cx="3992" cy="998"/>
            </a:xfrm>
          </p:grpSpPr>
          <p:sp>
            <p:nvSpPr>
              <p:cNvPr id="27" name="Line 6"/>
              <p:cNvSpPr>
                <a:spLocks noChangeShapeType="1"/>
              </p:cNvSpPr>
              <p:nvPr/>
            </p:nvSpPr>
            <p:spPr bwMode="auto">
              <a:xfrm>
                <a:off x="2041" y="1232"/>
                <a:ext cx="635" cy="45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tr-TR"/>
              </a:p>
            </p:txBody>
          </p:sp>
          <p:sp>
            <p:nvSpPr>
              <p:cNvPr id="28" name="Line 7"/>
              <p:cNvSpPr>
                <a:spLocks noChangeShapeType="1"/>
              </p:cNvSpPr>
              <p:nvPr/>
            </p:nvSpPr>
            <p:spPr bwMode="auto">
              <a:xfrm>
                <a:off x="2086" y="1141"/>
                <a:ext cx="14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tr-TR"/>
              </a:p>
            </p:txBody>
          </p:sp>
          <p:sp>
            <p:nvSpPr>
              <p:cNvPr id="29" name="Line 8"/>
              <p:cNvSpPr>
                <a:spLocks noChangeShapeType="1"/>
              </p:cNvSpPr>
              <p:nvPr/>
            </p:nvSpPr>
            <p:spPr bwMode="auto">
              <a:xfrm>
                <a:off x="3882" y="1259"/>
                <a:ext cx="590" cy="4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tr-TR"/>
              </a:p>
            </p:txBody>
          </p:sp>
          <p:sp>
            <p:nvSpPr>
              <p:cNvPr id="30" name="Line 9"/>
              <p:cNvSpPr>
                <a:spLocks noChangeShapeType="1"/>
              </p:cNvSpPr>
              <p:nvPr/>
            </p:nvSpPr>
            <p:spPr bwMode="auto">
              <a:xfrm flipH="1">
                <a:off x="1179" y="1776"/>
                <a:ext cx="145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tr-TR"/>
              </a:p>
            </p:txBody>
          </p:sp>
          <p:sp>
            <p:nvSpPr>
              <p:cNvPr id="31" name="Line 10"/>
              <p:cNvSpPr>
                <a:spLocks noChangeShapeType="1"/>
              </p:cNvSpPr>
              <p:nvPr/>
            </p:nvSpPr>
            <p:spPr bwMode="auto">
              <a:xfrm flipH="1">
                <a:off x="2993" y="1776"/>
                <a:ext cx="14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tr-TR"/>
              </a:p>
            </p:txBody>
          </p:sp>
          <p:sp>
            <p:nvSpPr>
              <p:cNvPr id="32" name="Line 11"/>
              <p:cNvSpPr>
                <a:spLocks noChangeShapeType="1"/>
              </p:cNvSpPr>
              <p:nvPr/>
            </p:nvSpPr>
            <p:spPr bwMode="auto">
              <a:xfrm flipH="1">
                <a:off x="1134" y="1232"/>
                <a:ext cx="635" cy="42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tr-TR"/>
              </a:p>
            </p:txBody>
          </p:sp>
          <p:sp>
            <p:nvSpPr>
              <p:cNvPr id="33" name="Oval 12"/>
              <p:cNvSpPr>
                <a:spLocks noChangeArrowheads="1"/>
              </p:cNvSpPr>
              <p:nvPr/>
            </p:nvSpPr>
            <p:spPr bwMode="auto">
              <a:xfrm>
                <a:off x="1723" y="960"/>
                <a:ext cx="363" cy="364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bg1"/>
                        </a:gs>
                        <a:gs pos="100000">
                          <a:srgbClr val="B2B2B2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34" name="Oval 13"/>
              <p:cNvSpPr>
                <a:spLocks noChangeArrowheads="1"/>
              </p:cNvSpPr>
              <p:nvPr/>
            </p:nvSpPr>
            <p:spPr bwMode="auto">
              <a:xfrm>
                <a:off x="2630" y="1592"/>
                <a:ext cx="363" cy="364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bg1"/>
                        </a:gs>
                        <a:gs pos="100000">
                          <a:srgbClr val="B2B2B2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35" name="Oval 14"/>
              <p:cNvSpPr>
                <a:spLocks noChangeArrowheads="1"/>
              </p:cNvSpPr>
              <p:nvPr/>
            </p:nvSpPr>
            <p:spPr bwMode="auto">
              <a:xfrm>
                <a:off x="3537" y="960"/>
                <a:ext cx="363" cy="364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bg1"/>
                        </a:gs>
                        <a:gs pos="100000">
                          <a:srgbClr val="B2B2B2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36" name="Oval 15"/>
              <p:cNvSpPr>
                <a:spLocks noChangeArrowheads="1"/>
              </p:cNvSpPr>
              <p:nvPr/>
            </p:nvSpPr>
            <p:spPr bwMode="auto">
              <a:xfrm>
                <a:off x="4445" y="1592"/>
                <a:ext cx="363" cy="364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bg1"/>
                        </a:gs>
                        <a:gs pos="100000">
                          <a:srgbClr val="B2B2B2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37" name="Oval 16"/>
              <p:cNvSpPr>
                <a:spLocks noChangeArrowheads="1"/>
              </p:cNvSpPr>
              <p:nvPr/>
            </p:nvSpPr>
            <p:spPr bwMode="auto">
              <a:xfrm>
                <a:off x="816" y="1594"/>
                <a:ext cx="363" cy="364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bg1"/>
                        </a:gs>
                        <a:gs pos="100000">
                          <a:srgbClr val="B2B2B2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</a:rPr>
                  <a:t>3</a:t>
                </a:r>
              </a:p>
            </p:txBody>
          </p:sp>
        </p:grpSp>
        <p:sp>
          <p:nvSpPr>
            <p:cNvPr id="21" name="Text Box 29"/>
            <p:cNvSpPr txBox="1">
              <a:spLocks noChangeArrowheads="1"/>
            </p:cNvSpPr>
            <p:nvPr/>
          </p:nvSpPr>
          <p:spPr bwMode="auto">
            <a:xfrm>
              <a:off x="2819400" y="22860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dirty="0"/>
                <a:t>8</a:t>
              </a:r>
            </a:p>
          </p:txBody>
        </p:sp>
        <p:sp>
          <p:nvSpPr>
            <p:cNvPr id="22" name="Text Box 30"/>
            <p:cNvSpPr txBox="1">
              <a:spLocks noChangeArrowheads="1"/>
            </p:cNvSpPr>
            <p:nvPr/>
          </p:nvSpPr>
          <p:spPr bwMode="auto">
            <a:xfrm>
              <a:off x="4495800" y="32766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/>
                <a:t>7</a:t>
              </a:r>
            </a:p>
          </p:txBody>
        </p:sp>
        <p:sp>
          <p:nvSpPr>
            <p:cNvPr id="23" name="Text Box 31"/>
            <p:cNvSpPr txBox="1">
              <a:spLocks noChangeArrowheads="1"/>
            </p:cNvSpPr>
            <p:nvPr/>
          </p:nvSpPr>
          <p:spPr bwMode="auto">
            <a:xfrm>
              <a:off x="898525" y="2784475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/>
                <a:t>10</a:t>
              </a:r>
            </a:p>
          </p:txBody>
        </p:sp>
        <p:sp>
          <p:nvSpPr>
            <p:cNvPr id="24" name="Text Box 32"/>
            <p:cNvSpPr txBox="1">
              <a:spLocks noChangeArrowheads="1"/>
            </p:cNvSpPr>
            <p:nvPr/>
          </p:nvSpPr>
          <p:spPr bwMode="auto">
            <a:xfrm>
              <a:off x="1736725" y="3241675"/>
              <a:ext cx="33813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/>
                <a:t>5</a:t>
              </a:r>
            </a:p>
          </p:txBody>
        </p:sp>
        <p:sp>
          <p:nvSpPr>
            <p:cNvPr id="25" name="Text Box 33"/>
            <p:cNvSpPr txBox="1">
              <a:spLocks noChangeArrowheads="1"/>
            </p:cNvSpPr>
            <p:nvPr/>
          </p:nvSpPr>
          <p:spPr bwMode="auto">
            <a:xfrm>
              <a:off x="2743200" y="2819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26" name="Text Box 34"/>
            <p:cNvSpPr txBox="1">
              <a:spLocks noChangeArrowheads="1"/>
            </p:cNvSpPr>
            <p:nvPr/>
          </p:nvSpPr>
          <p:spPr bwMode="auto">
            <a:xfrm>
              <a:off x="5410200" y="2743200"/>
              <a:ext cx="33813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/>
                <a:t>6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2651807" y="4317243"/>
            <a:ext cx="6337300" cy="1660525"/>
            <a:chOff x="533400" y="4495800"/>
            <a:chExt cx="6337300" cy="1660525"/>
          </a:xfrm>
        </p:grpSpPr>
        <p:grpSp>
          <p:nvGrpSpPr>
            <p:cNvPr id="39" name="Group 17"/>
            <p:cNvGrpSpPr>
              <a:grpSpLocks/>
            </p:cNvGrpSpPr>
            <p:nvPr/>
          </p:nvGrpSpPr>
          <p:grpSpPr bwMode="auto">
            <a:xfrm>
              <a:off x="533400" y="4572000"/>
              <a:ext cx="6337300" cy="1584325"/>
              <a:chOff x="384" y="720"/>
              <a:chExt cx="3992" cy="998"/>
            </a:xfrm>
          </p:grpSpPr>
          <p:sp>
            <p:nvSpPr>
              <p:cNvPr id="46" name="Line 18"/>
              <p:cNvSpPr>
                <a:spLocks noChangeShapeType="1"/>
              </p:cNvSpPr>
              <p:nvPr/>
            </p:nvSpPr>
            <p:spPr bwMode="auto">
              <a:xfrm>
                <a:off x="1609" y="992"/>
                <a:ext cx="635" cy="45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tr-TR"/>
              </a:p>
            </p:txBody>
          </p:sp>
          <p:sp>
            <p:nvSpPr>
              <p:cNvPr id="47" name="Line 19"/>
              <p:cNvSpPr>
                <a:spLocks noChangeShapeType="1"/>
              </p:cNvSpPr>
              <p:nvPr/>
            </p:nvSpPr>
            <p:spPr bwMode="auto">
              <a:xfrm>
                <a:off x="1654" y="901"/>
                <a:ext cx="14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tr-TR"/>
              </a:p>
            </p:txBody>
          </p:sp>
          <p:sp>
            <p:nvSpPr>
              <p:cNvPr id="48" name="Line 20"/>
              <p:cNvSpPr>
                <a:spLocks noChangeShapeType="1"/>
              </p:cNvSpPr>
              <p:nvPr/>
            </p:nvSpPr>
            <p:spPr bwMode="auto">
              <a:xfrm>
                <a:off x="3450" y="1019"/>
                <a:ext cx="590" cy="4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tr-TR"/>
              </a:p>
            </p:txBody>
          </p:sp>
          <p:sp>
            <p:nvSpPr>
              <p:cNvPr id="49" name="Line 21"/>
              <p:cNvSpPr>
                <a:spLocks noChangeShapeType="1"/>
              </p:cNvSpPr>
              <p:nvPr/>
            </p:nvSpPr>
            <p:spPr bwMode="auto">
              <a:xfrm flipH="1">
                <a:off x="747" y="1536"/>
                <a:ext cx="145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tr-TR"/>
              </a:p>
            </p:txBody>
          </p:sp>
          <p:sp>
            <p:nvSpPr>
              <p:cNvPr id="50" name="Line 22"/>
              <p:cNvSpPr>
                <a:spLocks noChangeShapeType="1"/>
              </p:cNvSpPr>
              <p:nvPr/>
            </p:nvSpPr>
            <p:spPr bwMode="auto">
              <a:xfrm flipH="1">
                <a:off x="2561" y="1536"/>
                <a:ext cx="14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tr-TR"/>
              </a:p>
            </p:txBody>
          </p:sp>
          <p:sp>
            <p:nvSpPr>
              <p:cNvPr id="51" name="Line 23"/>
              <p:cNvSpPr>
                <a:spLocks noChangeShapeType="1"/>
              </p:cNvSpPr>
              <p:nvPr/>
            </p:nvSpPr>
            <p:spPr bwMode="auto">
              <a:xfrm flipH="1">
                <a:off x="702" y="992"/>
                <a:ext cx="635" cy="42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tr-TR"/>
              </a:p>
            </p:txBody>
          </p:sp>
          <p:sp>
            <p:nvSpPr>
              <p:cNvPr id="52" name="Oval 24"/>
              <p:cNvSpPr>
                <a:spLocks noChangeArrowheads="1"/>
              </p:cNvSpPr>
              <p:nvPr/>
            </p:nvSpPr>
            <p:spPr bwMode="auto">
              <a:xfrm>
                <a:off x="1291" y="720"/>
                <a:ext cx="363" cy="364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bg1"/>
                        </a:gs>
                        <a:gs pos="100000">
                          <a:srgbClr val="B2B2B2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53" name="Oval 25"/>
              <p:cNvSpPr>
                <a:spLocks noChangeArrowheads="1"/>
              </p:cNvSpPr>
              <p:nvPr/>
            </p:nvSpPr>
            <p:spPr bwMode="auto">
              <a:xfrm>
                <a:off x="2198" y="1352"/>
                <a:ext cx="363" cy="364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bg1"/>
                        </a:gs>
                        <a:gs pos="100000">
                          <a:srgbClr val="B2B2B2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54" name="Oval 26"/>
              <p:cNvSpPr>
                <a:spLocks noChangeArrowheads="1"/>
              </p:cNvSpPr>
              <p:nvPr/>
            </p:nvSpPr>
            <p:spPr bwMode="auto">
              <a:xfrm>
                <a:off x="3105" y="720"/>
                <a:ext cx="363" cy="364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bg1"/>
                        </a:gs>
                        <a:gs pos="100000">
                          <a:srgbClr val="B2B2B2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55" name="Oval 27"/>
              <p:cNvSpPr>
                <a:spLocks noChangeArrowheads="1"/>
              </p:cNvSpPr>
              <p:nvPr/>
            </p:nvSpPr>
            <p:spPr bwMode="auto">
              <a:xfrm>
                <a:off x="4013" y="1352"/>
                <a:ext cx="363" cy="364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bg1"/>
                        </a:gs>
                        <a:gs pos="100000">
                          <a:srgbClr val="B2B2B2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56" name="Oval 28"/>
              <p:cNvSpPr>
                <a:spLocks noChangeArrowheads="1"/>
              </p:cNvSpPr>
              <p:nvPr/>
            </p:nvSpPr>
            <p:spPr bwMode="auto">
              <a:xfrm>
                <a:off x="384" y="1354"/>
                <a:ext cx="363" cy="364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bg1"/>
                        </a:gs>
                        <a:gs pos="100000">
                          <a:srgbClr val="B2B2B2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</a:rPr>
                  <a:t>3</a:t>
                </a:r>
              </a:p>
            </p:txBody>
          </p:sp>
        </p:grpSp>
        <p:sp>
          <p:nvSpPr>
            <p:cNvPr id="40" name="Text Box 35"/>
            <p:cNvSpPr txBox="1">
              <a:spLocks noChangeArrowheads="1"/>
            </p:cNvSpPr>
            <p:nvPr/>
          </p:nvSpPr>
          <p:spPr bwMode="auto">
            <a:xfrm>
              <a:off x="1066800" y="5029200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/>
                <a:t>10</a:t>
              </a:r>
            </a:p>
          </p:txBody>
        </p:sp>
        <p:sp>
          <p:nvSpPr>
            <p:cNvPr id="41" name="Text Box 36"/>
            <p:cNvSpPr txBox="1">
              <a:spLocks noChangeArrowheads="1"/>
            </p:cNvSpPr>
            <p:nvPr/>
          </p:nvSpPr>
          <p:spPr bwMode="auto">
            <a:xfrm>
              <a:off x="1965325" y="5486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/>
                <a:t>5</a:t>
              </a:r>
            </a:p>
          </p:txBody>
        </p:sp>
        <p:sp>
          <p:nvSpPr>
            <p:cNvPr id="42" name="Text Box 37"/>
            <p:cNvSpPr txBox="1">
              <a:spLocks noChangeArrowheads="1"/>
            </p:cNvSpPr>
            <p:nvPr/>
          </p:nvSpPr>
          <p:spPr bwMode="auto">
            <a:xfrm>
              <a:off x="3276600" y="44958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/>
                <a:t>8</a:t>
              </a:r>
            </a:p>
          </p:txBody>
        </p:sp>
        <p:sp>
          <p:nvSpPr>
            <p:cNvPr id="43" name="Text Box 38"/>
            <p:cNvSpPr txBox="1">
              <a:spLocks noChangeArrowheads="1"/>
            </p:cNvSpPr>
            <p:nvPr/>
          </p:nvSpPr>
          <p:spPr bwMode="auto">
            <a:xfrm>
              <a:off x="4495800" y="5486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/>
                <a:t>7</a:t>
              </a:r>
            </a:p>
          </p:txBody>
        </p:sp>
        <p:sp>
          <p:nvSpPr>
            <p:cNvPr id="44" name="Text Box 39"/>
            <p:cNvSpPr txBox="1">
              <a:spLocks noChangeArrowheads="1"/>
            </p:cNvSpPr>
            <p:nvPr/>
          </p:nvSpPr>
          <p:spPr bwMode="auto">
            <a:xfrm>
              <a:off x="2971800" y="50292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45" name="Text Box 40"/>
            <p:cNvSpPr txBox="1">
              <a:spLocks noChangeArrowheads="1"/>
            </p:cNvSpPr>
            <p:nvPr/>
          </p:nvSpPr>
          <p:spPr bwMode="auto">
            <a:xfrm>
              <a:off x="5638800" y="49530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/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0023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 Temel </a:t>
            </a:r>
            <a:r>
              <a:rPr lang="tr-TR" dirty="0" smtClean="0"/>
              <a:t>Çizge Temsili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Komşuluk Matrisi (</a:t>
            </a:r>
            <a:r>
              <a:rPr lang="tr-TR" dirty="0" err="1"/>
              <a:t>Adjacency</a:t>
            </a:r>
            <a:r>
              <a:rPr lang="tr-TR" dirty="0"/>
              <a:t> </a:t>
            </a:r>
            <a:r>
              <a:rPr lang="tr-TR" dirty="0" err="1"/>
              <a:t>Matrix</a:t>
            </a:r>
            <a:r>
              <a:rPr lang="tr-TR" dirty="0"/>
              <a:t>)</a:t>
            </a:r>
          </a:p>
          <a:p>
            <a:pPr lvl="1"/>
            <a:r>
              <a:rPr lang="tr-TR" dirty="0" smtClean="0"/>
              <a:t>İki </a:t>
            </a:r>
            <a:r>
              <a:rPr lang="tr-TR" dirty="0"/>
              <a:t>boyutlu bir dizidir.</a:t>
            </a:r>
          </a:p>
          <a:p>
            <a:pPr lvl="1"/>
            <a:r>
              <a:rPr lang="tr-TR" dirty="0" smtClean="0"/>
              <a:t>Matrisin </a:t>
            </a:r>
            <a:r>
              <a:rPr lang="tr-TR" dirty="0"/>
              <a:t>elemanları, iki düğüm arasında bir kenarın varlığını gösterir.</a:t>
            </a:r>
          </a:p>
          <a:p>
            <a:pPr lvl="1"/>
            <a:r>
              <a:rPr lang="tr-TR" dirty="0"/>
              <a:t>Örneğin, M[i][j] = 1 ise düğüm i ile düğüm j arasında bir kenar vardır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Düğüm </a:t>
            </a:r>
            <a:r>
              <a:rPr lang="tr-TR" dirty="0"/>
              <a:t>sayısı arttıkça daha fazla bellek kullanır.</a:t>
            </a:r>
          </a:p>
          <a:p>
            <a:r>
              <a:rPr lang="tr-TR" dirty="0"/>
              <a:t>Komşuluk Listesi (</a:t>
            </a:r>
            <a:r>
              <a:rPr lang="tr-TR" dirty="0" err="1"/>
              <a:t>Adjacency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)</a:t>
            </a:r>
          </a:p>
          <a:p>
            <a:pPr lvl="1"/>
            <a:r>
              <a:rPr lang="tr-TR" dirty="0" smtClean="0"/>
              <a:t>Her </a:t>
            </a:r>
            <a:r>
              <a:rPr lang="tr-TR" dirty="0"/>
              <a:t>düğüm için komşu düğümlerin bir listesini içerir.</a:t>
            </a:r>
          </a:p>
          <a:p>
            <a:pPr lvl="1"/>
            <a:r>
              <a:rPr lang="tr-TR" dirty="0"/>
              <a:t>Her düğümün </a:t>
            </a:r>
            <a:r>
              <a:rPr lang="tr-TR" dirty="0" smtClean="0"/>
              <a:t>listesi, </a:t>
            </a:r>
            <a:r>
              <a:rPr lang="tr-TR" dirty="0"/>
              <a:t>o düğüme bağlı olan diğer düğümleri gösterir</a:t>
            </a:r>
            <a:r>
              <a:rPr lang="tr-TR" dirty="0" smtClean="0"/>
              <a:t>.</a:t>
            </a:r>
          </a:p>
          <a:p>
            <a:pPr lvl="1"/>
            <a:r>
              <a:rPr lang="tr-TR" dirty="0"/>
              <a:t>Örneğin, V[i] = {j, k, l} ise düğüm i'nin komşuları j, k ve l'dir.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787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Komşuluk Matrisi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matris[i</a:t>
            </a:r>
            <a:r>
              <a:rPr lang="tr-TR" dirty="0"/>
              <a:t>][j], düğüm i'den </a:t>
            </a:r>
            <a:r>
              <a:rPr lang="tr-TR" dirty="0" smtClean="0"/>
              <a:t>j'ye </a:t>
            </a:r>
            <a:r>
              <a:rPr lang="tr-TR" dirty="0"/>
              <a:t>bir kenar varsa </a:t>
            </a:r>
            <a:r>
              <a:rPr lang="tr-TR" dirty="0" smtClean="0"/>
              <a:t>1, </a:t>
            </a:r>
            <a:r>
              <a:rPr lang="tr-TR" dirty="0"/>
              <a:t>yoksa 0 </a:t>
            </a:r>
            <a:r>
              <a:rPr lang="tr-TR" dirty="0" smtClean="0"/>
              <a:t>olarak </a:t>
            </a:r>
            <a:r>
              <a:rPr lang="tr-TR" dirty="0"/>
              <a:t>tanımlanır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Ağırlıklı çizgede, </a:t>
            </a:r>
          </a:p>
          <a:p>
            <a:pPr lvl="1"/>
            <a:r>
              <a:rPr lang="tr-TR" dirty="0" smtClean="0"/>
              <a:t>matris[i</a:t>
            </a:r>
            <a:r>
              <a:rPr lang="tr-TR" dirty="0"/>
              <a:t>][j] kenarı etiketleyen ağırlığı temsil </a:t>
            </a:r>
            <a:r>
              <a:rPr lang="tr-TR" dirty="0" smtClean="0"/>
              <a:t>eder.</a:t>
            </a:r>
          </a:p>
          <a:p>
            <a:pPr lvl="1"/>
            <a:r>
              <a:rPr lang="tr-TR" dirty="0" err="1"/>
              <a:t>matrix</a:t>
            </a:r>
            <a:r>
              <a:rPr lang="tr-TR" dirty="0"/>
              <a:t>[i][j] = ∞, i'den j'ye kenar </a:t>
            </a:r>
            <a:r>
              <a:rPr lang="tr-TR" dirty="0" smtClean="0"/>
              <a:t>yoksa.</a:t>
            </a:r>
          </a:p>
          <a:p>
            <a:r>
              <a:rPr lang="tr-TR" dirty="0"/>
              <a:t>Yönsüz </a:t>
            </a:r>
            <a:r>
              <a:rPr lang="tr-TR" dirty="0" smtClean="0"/>
              <a:t>çizgede matris simetriktir, </a:t>
            </a:r>
            <a:r>
              <a:rPr lang="tr-TR" dirty="0" err="1" smtClean="0"/>
              <a:t>matrix</a:t>
            </a:r>
            <a:r>
              <a:rPr lang="tr-TR" dirty="0" smtClean="0"/>
              <a:t>[i</a:t>
            </a:r>
            <a:r>
              <a:rPr lang="tr-TR" dirty="0"/>
              <a:t>][j] ile </a:t>
            </a:r>
            <a:r>
              <a:rPr lang="tr-TR" dirty="0" err="1"/>
              <a:t>matrix</a:t>
            </a:r>
            <a:r>
              <a:rPr lang="tr-TR" dirty="0"/>
              <a:t>[j][i] eşittir</a:t>
            </a:r>
            <a:r>
              <a:rPr lang="tr-TR" dirty="0" smtClean="0"/>
              <a:t>.</a:t>
            </a:r>
          </a:p>
          <a:p>
            <a:r>
              <a:rPr lang="tr-TR" dirty="0"/>
              <a:t>Matrisin alan karmaşıklığı O(|V|²)’</a:t>
            </a:r>
            <a:r>
              <a:rPr lang="tr-TR" dirty="0" err="1"/>
              <a:t>dir</a:t>
            </a:r>
            <a:r>
              <a:rPr lang="tr-TR" dirty="0"/>
              <a:t> (V: Düğüm sayısı</a:t>
            </a:r>
            <a:r>
              <a:rPr lang="tr-TR" dirty="0" smtClean="0"/>
              <a:t>).</a:t>
            </a:r>
          </a:p>
          <a:p>
            <a:r>
              <a:rPr lang="tr-TR" dirty="0" smtClean="0"/>
              <a:t>İki düğüm arasında </a:t>
            </a:r>
            <a:r>
              <a:rPr lang="tr-TR" dirty="0"/>
              <a:t>kenar olup olmadığını </a:t>
            </a:r>
            <a:r>
              <a:rPr lang="tr-TR" dirty="0" smtClean="0"/>
              <a:t>belirlemek kolay.</a:t>
            </a:r>
          </a:p>
          <a:p>
            <a:r>
              <a:rPr lang="tr-TR" dirty="0" smtClean="0"/>
              <a:t>Düğümün komşularını bulmak zor.</a:t>
            </a:r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45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Komşuluk Matrisi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000" y="2004750"/>
            <a:ext cx="8640000" cy="40375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89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Komşuluk Matrisi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000" y="1950582"/>
            <a:ext cx="8640000" cy="41458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98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Komşuluk Matrisi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000" y="2161187"/>
            <a:ext cx="8640000" cy="37246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779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Komşuluk Listesi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n adet düğüm içeren n </a:t>
            </a:r>
            <a:r>
              <a:rPr lang="tr-TR" dirty="0" smtClean="0"/>
              <a:t>bağlı </a:t>
            </a:r>
            <a:r>
              <a:rPr lang="tr-TR" dirty="0"/>
              <a:t>listeden oluşur</a:t>
            </a:r>
            <a:r>
              <a:rPr lang="tr-TR" dirty="0" smtClean="0"/>
              <a:t>.</a:t>
            </a:r>
          </a:p>
          <a:p>
            <a:r>
              <a:rPr lang="tr-TR" dirty="0"/>
              <a:t>Her düğümün kenarlarını temsil eden </a:t>
            </a:r>
            <a:r>
              <a:rPr lang="tr-TR" dirty="0" smtClean="0"/>
              <a:t>bağlı listeler </a:t>
            </a:r>
            <a:r>
              <a:rPr lang="tr-TR" dirty="0"/>
              <a:t>bulunur</a:t>
            </a:r>
            <a:r>
              <a:rPr lang="tr-TR" dirty="0" smtClean="0"/>
              <a:t>.</a:t>
            </a:r>
          </a:p>
          <a:p>
            <a:r>
              <a:rPr lang="tr-TR" dirty="0"/>
              <a:t>liste[i] düğümünün içeriği, düğüm i'ye komşu olan </a:t>
            </a:r>
            <a:r>
              <a:rPr lang="tr-TR" dirty="0" smtClean="0"/>
              <a:t>düğümleri </a:t>
            </a:r>
            <a:r>
              <a:rPr lang="tr-TR" dirty="0"/>
              <a:t>içerir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Alan </a:t>
            </a:r>
            <a:r>
              <a:rPr lang="tr-TR" dirty="0"/>
              <a:t>karmaşıklığı O(|E| + |V|)’</a:t>
            </a:r>
            <a:r>
              <a:rPr lang="tr-TR" dirty="0" err="1"/>
              <a:t>dir</a:t>
            </a:r>
            <a:r>
              <a:rPr lang="tr-TR" dirty="0"/>
              <a:t> (E: Kenar sayısı, V: Düğüm sayısı</a:t>
            </a:r>
            <a:r>
              <a:rPr lang="tr-TR" dirty="0" smtClean="0"/>
              <a:t>).</a:t>
            </a:r>
          </a:p>
          <a:p>
            <a:r>
              <a:rPr lang="tr-TR" dirty="0"/>
              <a:t>Yönsüz </a:t>
            </a:r>
            <a:r>
              <a:rPr lang="tr-TR" dirty="0" smtClean="0"/>
              <a:t>çizgede her </a:t>
            </a:r>
            <a:r>
              <a:rPr lang="tr-TR" dirty="0"/>
              <a:t>kenar (</a:t>
            </a:r>
            <a:r>
              <a:rPr lang="tr-TR" dirty="0" err="1"/>
              <a:t>v,w</a:t>
            </a:r>
            <a:r>
              <a:rPr lang="tr-TR" dirty="0"/>
              <a:t>) iki listeye de eklenir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Düğümün komşu düğümlerini bulmak kolay.</a:t>
            </a:r>
          </a:p>
          <a:p>
            <a:r>
              <a:rPr lang="tr-TR" dirty="0" smtClean="0"/>
              <a:t>İki düğüm arasında kenarın </a:t>
            </a:r>
            <a:r>
              <a:rPr lang="tr-TR" dirty="0"/>
              <a:t>olup olmadığını </a:t>
            </a:r>
            <a:r>
              <a:rPr lang="tr-TR" dirty="0" smtClean="0"/>
              <a:t>belirlemek zor.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43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Komşuluk Listesi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000" y="2286804"/>
            <a:ext cx="8640000" cy="34734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93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Komşuluk Listesi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000" y="2383811"/>
            <a:ext cx="8640000" cy="32794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51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Komşuluk Listesi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000" y="2456030"/>
            <a:ext cx="8640000" cy="31349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94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117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Gezinme Algoritmaları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Genişlik </a:t>
            </a:r>
            <a:r>
              <a:rPr lang="tr-TR" dirty="0" smtClean="0"/>
              <a:t>Öncelikli Arama </a:t>
            </a:r>
            <a:r>
              <a:rPr lang="tr-TR" dirty="0"/>
              <a:t>(BFS</a:t>
            </a:r>
            <a:r>
              <a:rPr lang="tr-TR" dirty="0" smtClean="0"/>
              <a:t>)</a:t>
            </a:r>
          </a:p>
          <a:p>
            <a:r>
              <a:rPr lang="tr-TR" dirty="0" smtClean="0"/>
              <a:t>Derinlik </a:t>
            </a:r>
            <a:r>
              <a:rPr lang="tr-TR" dirty="0"/>
              <a:t>Öncelikli Arama </a:t>
            </a:r>
            <a:r>
              <a:rPr lang="tr-TR" dirty="0" smtClean="0"/>
              <a:t>(DFS)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49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Düğümleri </a:t>
            </a:r>
            <a:r>
              <a:rPr lang="tr-TR" dirty="0"/>
              <a:t>seviye </a:t>
            </a:r>
            <a:r>
              <a:rPr lang="tr-TR" dirty="0" err="1"/>
              <a:t>seviye</a:t>
            </a:r>
            <a:r>
              <a:rPr lang="tr-TR" dirty="0"/>
              <a:t> gezerek keşfeden bir arama algoritmasıdır.</a:t>
            </a:r>
          </a:p>
          <a:p>
            <a:r>
              <a:rPr lang="tr-TR" dirty="0" smtClean="0"/>
              <a:t>Yakın komşulardan başlayarak tüm düğümleri gezer.</a:t>
            </a:r>
          </a:p>
          <a:p>
            <a:r>
              <a:rPr lang="tr-TR" dirty="0"/>
              <a:t>Kuyruk </a:t>
            </a:r>
            <a:r>
              <a:rPr lang="tr-TR" dirty="0" smtClean="0"/>
              <a:t>yapısını kullanır</a:t>
            </a:r>
            <a:r>
              <a:rPr lang="tr-TR" dirty="0"/>
              <a:t>.</a:t>
            </a:r>
          </a:p>
          <a:p>
            <a:r>
              <a:rPr lang="tr-TR" dirty="0"/>
              <a:t>Her </a:t>
            </a:r>
            <a:r>
              <a:rPr lang="tr-TR" dirty="0" smtClean="0"/>
              <a:t>düğümü </a:t>
            </a:r>
            <a:r>
              <a:rPr lang="tr-TR" dirty="0"/>
              <a:t>sadece bir kez ziyaret </a:t>
            </a:r>
            <a:r>
              <a:rPr lang="tr-TR" dirty="0" smtClean="0"/>
              <a:t>eder.</a:t>
            </a:r>
          </a:p>
          <a:p>
            <a:pPr marL="228600" lvl="1">
              <a:spcBef>
                <a:spcPts val="1000"/>
              </a:spcBef>
            </a:pPr>
            <a:r>
              <a:rPr lang="tr-TR" dirty="0" smtClean="0"/>
              <a:t>İki düğüm arasında en </a:t>
            </a:r>
            <a:r>
              <a:rPr lang="tr-TR" dirty="0"/>
              <a:t>kısa yolu </a:t>
            </a:r>
            <a:r>
              <a:rPr lang="tr-TR" dirty="0" smtClean="0"/>
              <a:t>bulmada kullanılır.</a:t>
            </a:r>
          </a:p>
          <a:p>
            <a:pPr marL="228600" lvl="1">
              <a:spcBef>
                <a:spcPts val="1000"/>
              </a:spcBef>
            </a:pPr>
            <a:r>
              <a:rPr lang="tr-TR" dirty="0" smtClean="0"/>
              <a:t>Yakın düğümleri hızlı keşfeder.</a:t>
            </a:r>
          </a:p>
          <a:p>
            <a:pPr marL="228600" lvl="1">
              <a:spcBef>
                <a:spcPts val="1000"/>
              </a:spcBef>
            </a:pPr>
            <a:r>
              <a:rPr lang="tr-TR" dirty="0" smtClean="0"/>
              <a:t>Bellek kullanımı yüksek olabilir.</a:t>
            </a:r>
          </a:p>
          <a:p>
            <a:pPr marL="228600" lvl="1">
              <a:spcBef>
                <a:spcPts val="1000"/>
              </a:spcBef>
            </a:pPr>
            <a:endParaRPr lang="tr-TR" dirty="0"/>
          </a:p>
          <a:p>
            <a:endParaRPr lang="tr-TR" dirty="0"/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56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</a:t>
            </a:r>
            <a:r>
              <a:rPr lang="tr-TR" dirty="0" smtClean="0"/>
              <a:t>Adımları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fonksiyon </a:t>
            </a:r>
            <a:r>
              <a:rPr lang="tr-TR" dirty="0" err="1" smtClean="0">
                <a:latin typeface="Consolas" panose="020B0609020204030204" pitchFamily="49" charset="0"/>
              </a:rPr>
              <a:t>genislikOncelikliArama</a:t>
            </a:r>
            <a:r>
              <a:rPr lang="tr-TR" dirty="0" smtClean="0"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latin typeface="Consolas" panose="020B0609020204030204" pitchFamily="49" charset="0"/>
              </a:rPr>
              <a:t>baslangicDugumu</a:t>
            </a:r>
            <a:r>
              <a:rPr lang="tr-TR" dirty="0" smtClean="0">
                <a:latin typeface="Consolas" panose="020B0609020204030204" pitchFamily="49" charset="0"/>
              </a:rPr>
              <a:t>) </a:t>
            </a:r>
            <a:r>
              <a:rPr lang="tr-TR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dirty="0" smtClean="0"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latin typeface="Consolas" panose="020B0609020204030204" pitchFamily="49" charset="0"/>
              </a:rPr>
              <a:t>kuyruk.ekle</a:t>
            </a:r>
            <a:r>
              <a:rPr lang="tr-TR" dirty="0" smtClean="0"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latin typeface="Consolas" panose="020B0609020204030204" pitchFamily="49" charset="0"/>
              </a:rPr>
              <a:t>baslangicDugumu</a:t>
            </a:r>
            <a:r>
              <a:rPr lang="tr-TR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latin typeface="Consolas" panose="020B0609020204030204" pitchFamily="49" charset="0"/>
              </a:rPr>
              <a:t>baslangicDugumu.ziyaretEdildi</a:t>
            </a:r>
            <a:r>
              <a:rPr lang="tr-TR" dirty="0" smtClean="0">
                <a:latin typeface="Consolas" panose="020B0609020204030204" pitchFamily="49" charset="0"/>
              </a:rPr>
              <a:t>();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dirty="0" err="1">
                <a:latin typeface="Consolas" panose="020B0609020204030204" pitchFamily="49" charset="0"/>
              </a:rPr>
              <a:t>while</a:t>
            </a:r>
            <a:r>
              <a:rPr lang="tr-TR" dirty="0">
                <a:latin typeface="Consolas" panose="020B0609020204030204" pitchFamily="49" charset="0"/>
              </a:rPr>
              <a:t> (!</a:t>
            </a:r>
            <a:r>
              <a:rPr lang="tr-TR" dirty="0" err="1">
                <a:latin typeface="Consolas" panose="020B0609020204030204" pitchFamily="49" charset="0"/>
              </a:rPr>
              <a:t>kuyruk.bosMu</a:t>
            </a:r>
            <a:r>
              <a:rPr lang="tr-TR" dirty="0">
                <a:latin typeface="Consolas" panose="020B0609020204030204" pitchFamily="49" charset="0"/>
              </a:rPr>
              <a:t>())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tr-TR" dirty="0" smtClean="0">
                <a:latin typeface="Consolas" panose="020B0609020204030204" pitchFamily="49" charset="0"/>
              </a:rPr>
              <a:t>w = </a:t>
            </a:r>
            <a:r>
              <a:rPr lang="tr-TR" dirty="0" err="1" smtClean="0">
                <a:latin typeface="Consolas" panose="020B0609020204030204" pitchFamily="49" charset="0"/>
              </a:rPr>
              <a:t>kuyruk.cikar</a:t>
            </a:r>
            <a:r>
              <a:rPr lang="tr-TR" dirty="0" smtClean="0">
                <a:latin typeface="Consolas" panose="020B0609020204030204" pitchFamily="49" charset="0"/>
              </a:rPr>
              <a:t>();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 smtClean="0">
                <a:latin typeface="Consolas" panose="020B0609020204030204" pitchFamily="49" charset="0"/>
              </a:rPr>
              <a:t>        </a:t>
            </a:r>
            <a:r>
              <a:rPr lang="tr-TR" dirty="0" err="1" smtClean="0">
                <a:latin typeface="Consolas" panose="020B0609020204030204" pitchFamily="49" charset="0"/>
              </a:rPr>
              <a:t>for</a:t>
            </a:r>
            <a:r>
              <a:rPr lang="tr-TR" dirty="0" smtClean="0">
                <a:latin typeface="Consolas" panose="020B0609020204030204" pitchFamily="49" charset="0"/>
              </a:rPr>
              <a:t> (</a:t>
            </a:r>
            <a:r>
              <a:rPr lang="tr-TR" dirty="0" err="1" smtClean="0">
                <a:latin typeface="Consolas" panose="020B0609020204030204" pitchFamily="49" charset="0"/>
              </a:rPr>
              <a:t>w’nin</a:t>
            </a:r>
            <a:r>
              <a:rPr lang="tr-TR" dirty="0" smtClean="0">
                <a:latin typeface="Consolas" panose="020B0609020204030204" pitchFamily="49" charset="0"/>
              </a:rPr>
              <a:t> ziyaret </a:t>
            </a:r>
            <a:r>
              <a:rPr lang="tr-TR" dirty="0">
                <a:latin typeface="Consolas" panose="020B0609020204030204" pitchFamily="49" charset="0"/>
              </a:rPr>
              <a:t>edilmemiş </a:t>
            </a:r>
            <a:r>
              <a:rPr lang="tr-TR" dirty="0" smtClean="0">
                <a:latin typeface="Consolas" panose="020B0609020204030204" pitchFamily="49" charset="0"/>
              </a:rPr>
              <a:t>tüm komşuları) {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    </a:t>
            </a:r>
            <a:r>
              <a:rPr lang="tr-TR" dirty="0" err="1">
                <a:latin typeface="Consolas" panose="020B0609020204030204" pitchFamily="49" charset="0"/>
              </a:rPr>
              <a:t>u</a:t>
            </a:r>
            <a:r>
              <a:rPr lang="tr-TR" dirty="0" err="1" smtClean="0">
                <a:latin typeface="Consolas" panose="020B0609020204030204" pitchFamily="49" charset="0"/>
              </a:rPr>
              <a:t>.ziyaretEdildi</a:t>
            </a:r>
            <a:r>
              <a:rPr lang="tr-TR" dirty="0" smtClean="0">
                <a:latin typeface="Consolas" panose="020B0609020204030204" pitchFamily="49" charset="0"/>
              </a:rPr>
              <a:t>();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    </a:t>
            </a:r>
            <a:r>
              <a:rPr lang="tr-TR" dirty="0" err="1" smtClean="0">
                <a:latin typeface="Consolas" panose="020B0609020204030204" pitchFamily="49" charset="0"/>
              </a:rPr>
              <a:t>kuyruk.ekle</a:t>
            </a:r>
            <a:r>
              <a:rPr lang="tr-TR" dirty="0" smtClean="0">
                <a:latin typeface="Consolas" panose="020B0609020204030204" pitchFamily="49" charset="0"/>
              </a:rPr>
              <a:t>(u);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tr-TR" dirty="0" smtClean="0">
                <a:latin typeface="Consolas" panose="020B0609020204030204" pitchFamily="49" charset="0"/>
              </a:rPr>
              <a:t>}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tr-TR" dirty="0" smtClean="0">
                <a:latin typeface="Consolas" panose="020B0609020204030204" pitchFamily="49" charset="0"/>
              </a:rPr>
              <a:t>}</a:t>
            </a:r>
            <a:endParaRPr lang="tr-TR" dirty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0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7431300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18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244621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A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5519599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1486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793892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B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77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3183292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B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F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119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6511210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B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F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I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58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695187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F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I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25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1268416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F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I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C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000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3933485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F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I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C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E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1333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433642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I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C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E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709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0910648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I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C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E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G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27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9325078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C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E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G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848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1802747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E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G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24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113199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E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G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D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81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1068999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G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D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181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194069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D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51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2885683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6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4515497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H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005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Genişlik Öncelikli Arama (BFS)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59062"/>
              </p:ext>
            </p:extLst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3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6647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Düğümleri </a:t>
            </a:r>
            <a:r>
              <a:rPr lang="tr-TR" dirty="0"/>
              <a:t>bir yol boyunca keşfeden bir arama algoritmasıdır.</a:t>
            </a:r>
          </a:p>
          <a:p>
            <a:r>
              <a:rPr lang="tr-TR" dirty="0"/>
              <a:t>Derinlik önceliği olan bir yaklaşımı temsil eder</a:t>
            </a:r>
            <a:r>
              <a:rPr lang="tr-TR" dirty="0" smtClean="0"/>
              <a:t>.</a:t>
            </a:r>
          </a:p>
          <a:p>
            <a:r>
              <a:rPr lang="tr-TR" dirty="0"/>
              <a:t>Yığın (</a:t>
            </a:r>
            <a:r>
              <a:rPr lang="tr-TR" dirty="0" err="1"/>
              <a:t>stack</a:t>
            </a:r>
            <a:r>
              <a:rPr lang="tr-TR" dirty="0" smtClean="0"/>
              <a:t>) yapısı veya özyinelemeli çağrılar kullanılır.</a:t>
            </a:r>
            <a:endParaRPr lang="tr-TR" dirty="0"/>
          </a:p>
          <a:p>
            <a:r>
              <a:rPr lang="tr-TR" dirty="0"/>
              <a:t>Her düğüm sadece bir kez ziyaret edilir.</a:t>
            </a:r>
          </a:p>
          <a:p>
            <a:r>
              <a:rPr lang="tr-TR" dirty="0" smtClean="0"/>
              <a:t>Düğümler derinlemesine keşfedilir.</a:t>
            </a:r>
          </a:p>
          <a:p>
            <a:r>
              <a:rPr lang="tr-TR" dirty="0" smtClean="0"/>
              <a:t>Bellek kullanımı düşüktür</a:t>
            </a:r>
            <a:r>
              <a:rPr lang="tr-TR" dirty="0"/>
              <a:t>.</a:t>
            </a:r>
          </a:p>
          <a:p>
            <a:r>
              <a:rPr lang="tr-TR" dirty="0"/>
              <a:t>Bir yolun sonuna kadar gitme yeteneği sağlar.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182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</a:t>
            </a:r>
            <a:r>
              <a:rPr lang="tr-TR" dirty="0" smtClean="0"/>
              <a:t>Adımları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fonksiyon </a:t>
            </a:r>
            <a:r>
              <a:rPr lang="tr-TR" dirty="0" err="1" smtClean="0">
                <a:latin typeface="Consolas" panose="020B0609020204030204" pitchFamily="49" charset="0"/>
              </a:rPr>
              <a:t>derinlikOncelikliArama</a:t>
            </a:r>
            <a:r>
              <a:rPr lang="tr-TR" dirty="0" smtClean="0"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latin typeface="Consolas" panose="020B0609020204030204" pitchFamily="49" charset="0"/>
              </a:rPr>
              <a:t>baslangic</a:t>
            </a:r>
            <a:r>
              <a:rPr lang="tr-TR" dirty="0" smtClean="0">
                <a:latin typeface="Consolas" panose="020B0609020204030204" pitchFamily="49" charset="0"/>
              </a:rPr>
              <a:t>) </a:t>
            </a:r>
            <a:r>
              <a:rPr lang="tr-TR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// </a:t>
            </a:r>
            <a:r>
              <a:rPr lang="tr-TR" dirty="0" smtClean="0">
                <a:latin typeface="Consolas" panose="020B0609020204030204" pitchFamily="49" charset="0"/>
              </a:rPr>
              <a:t>Özyinelemeli </a:t>
            </a:r>
            <a:r>
              <a:rPr lang="tr-TR" dirty="0">
                <a:latin typeface="Consolas" panose="020B0609020204030204" pitchFamily="49" charset="0"/>
              </a:rPr>
              <a:t>Versiyon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latin typeface="Consolas" panose="020B0609020204030204" pitchFamily="49" charset="0"/>
              </a:rPr>
              <a:t>baslangic.ziyaretEdildi</a:t>
            </a:r>
            <a:r>
              <a:rPr lang="tr-TR" dirty="0" smtClean="0">
                <a:latin typeface="Consolas" panose="020B0609020204030204" pitchFamily="49" charset="0"/>
              </a:rPr>
              <a:t>();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latin typeface="Consolas" panose="020B0609020204030204" pitchFamily="49" charset="0"/>
              </a:rPr>
              <a:t>for</a:t>
            </a:r>
            <a:r>
              <a:rPr lang="tr-TR" dirty="0" smtClean="0">
                <a:latin typeface="Consolas" panose="020B0609020204030204" pitchFamily="49" charset="0"/>
              </a:rPr>
              <a:t> (</a:t>
            </a:r>
            <a:r>
              <a:rPr lang="tr-TR" dirty="0" err="1" smtClean="0">
                <a:latin typeface="Consolas" panose="020B0609020204030204" pitchFamily="49" charset="0"/>
              </a:rPr>
              <a:t>baslangic</a:t>
            </a:r>
            <a:r>
              <a:rPr lang="tr-TR" dirty="0" smtClean="0">
                <a:latin typeface="Consolas" panose="020B0609020204030204" pitchFamily="49" charset="0"/>
              </a:rPr>
              <a:t> düğümün ziyaret </a:t>
            </a:r>
            <a:r>
              <a:rPr lang="tr-TR" dirty="0">
                <a:latin typeface="Consolas" panose="020B0609020204030204" pitchFamily="49" charset="0"/>
              </a:rPr>
              <a:t>edilmemiş </a:t>
            </a:r>
            <a:r>
              <a:rPr lang="tr-TR" dirty="0" smtClean="0">
                <a:latin typeface="Consolas" panose="020B0609020204030204" pitchFamily="49" charset="0"/>
              </a:rPr>
              <a:t>tüm komşuları) </a:t>
            </a:r>
            <a:r>
              <a:rPr lang="tr-TR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tr-TR" dirty="0" err="1" smtClean="0">
                <a:latin typeface="Consolas" panose="020B0609020204030204" pitchFamily="49" charset="0"/>
              </a:rPr>
              <a:t>derinlikOncelikliArama</a:t>
            </a:r>
            <a:r>
              <a:rPr lang="tr-TR" dirty="0" smtClean="0">
                <a:latin typeface="Consolas" panose="020B0609020204030204" pitchFamily="49" charset="0"/>
              </a:rPr>
              <a:t>(komşu);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37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Adımları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fonksiyon </a:t>
            </a:r>
            <a:r>
              <a:rPr lang="tr-TR" dirty="0" err="1" smtClean="0">
                <a:latin typeface="Consolas" panose="020B0609020204030204" pitchFamily="49" charset="0"/>
              </a:rPr>
              <a:t>derinlikOncelikliArama</a:t>
            </a:r>
            <a:r>
              <a:rPr lang="tr-TR" dirty="0" smtClean="0"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latin typeface="Consolas" panose="020B0609020204030204" pitchFamily="49" charset="0"/>
              </a:rPr>
              <a:t>baslangic</a:t>
            </a:r>
            <a:r>
              <a:rPr lang="tr-TR" dirty="0" smtClean="0">
                <a:latin typeface="Consolas" panose="020B0609020204030204" pitchFamily="49" charset="0"/>
              </a:rPr>
              <a:t>) </a:t>
            </a:r>
            <a:r>
              <a:rPr lang="tr-TR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dirty="0" smtClean="0"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latin typeface="Consolas" panose="020B0609020204030204" pitchFamily="49" charset="0"/>
              </a:rPr>
              <a:t>yigin.ekle</a:t>
            </a:r>
            <a:r>
              <a:rPr lang="tr-TR" dirty="0" smtClean="0"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latin typeface="Consolas" panose="020B0609020204030204" pitchFamily="49" charset="0"/>
              </a:rPr>
              <a:t>baslangic</a:t>
            </a:r>
            <a:r>
              <a:rPr lang="tr-TR" dirty="0" smtClean="0">
                <a:latin typeface="Consolas" panose="020B0609020204030204" pitchFamily="49" charset="0"/>
              </a:rPr>
              <a:t>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latin typeface="Consolas" panose="020B0609020204030204" pitchFamily="49" charset="0"/>
              </a:rPr>
              <a:t>baslangic.ziyaretEdildi</a:t>
            </a:r>
            <a:r>
              <a:rPr lang="tr-TR" dirty="0" smtClean="0">
                <a:latin typeface="Consolas" panose="020B0609020204030204" pitchFamily="49" charset="0"/>
              </a:rPr>
              <a:t>();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dirty="0" err="1">
                <a:latin typeface="Consolas" panose="020B0609020204030204" pitchFamily="49" charset="0"/>
              </a:rPr>
              <a:t>while</a:t>
            </a:r>
            <a:r>
              <a:rPr lang="tr-TR" dirty="0">
                <a:latin typeface="Consolas" panose="020B0609020204030204" pitchFamily="49" charset="0"/>
              </a:rPr>
              <a:t> (!</a:t>
            </a:r>
            <a:r>
              <a:rPr lang="tr-TR" dirty="0" err="1" smtClean="0">
                <a:latin typeface="Consolas" panose="020B0609020204030204" pitchFamily="49" charset="0"/>
              </a:rPr>
              <a:t>yigin.bosMu</a:t>
            </a:r>
            <a:r>
              <a:rPr lang="tr-TR" dirty="0" smtClean="0">
                <a:latin typeface="Consolas" panose="020B0609020204030204" pitchFamily="49" charset="0"/>
              </a:rPr>
              <a:t>()) </a:t>
            </a:r>
            <a:r>
              <a:rPr lang="tr-TR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tr-TR" dirty="0" err="1" smtClean="0">
                <a:latin typeface="Consolas" panose="020B0609020204030204" pitchFamily="49" charset="0"/>
              </a:rPr>
              <a:t>if</a:t>
            </a:r>
            <a:r>
              <a:rPr lang="tr-TR" dirty="0" smtClean="0">
                <a:latin typeface="Consolas" panose="020B0609020204030204" pitchFamily="49" charset="0"/>
              </a:rPr>
              <a:t> (yığındaki düğümün tüm komşuları ziyaret edildi) </a:t>
            </a:r>
            <a:r>
              <a:rPr lang="tr-TR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    </a:t>
            </a:r>
            <a:r>
              <a:rPr lang="tr-TR" dirty="0" err="1" smtClean="0">
                <a:latin typeface="Consolas" panose="020B0609020204030204" pitchFamily="49" charset="0"/>
              </a:rPr>
              <a:t>yigin.cikar</a:t>
            </a:r>
            <a:r>
              <a:rPr lang="tr-TR" dirty="0" smtClean="0">
                <a:latin typeface="Consolas" panose="020B0609020204030204" pitchFamily="49" charset="0"/>
              </a:rPr>
              <a:t>();  </a:t>
            </a:r>
            <a:r>
              <a:rPr lang="tr-TR" dirty="0">
                <a:latin typeface="Consolas" panose="020B0609020204030204" pitchFamily="49" charset="0"/>
              </a:rPr>
              <a:t>// geri dön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} else {</a:t>
            </a:r>
          </a:p>
          <a:p>
            <a:pPr marL="0" indent="0">
              <a:buNone/>
            </a:pPr>
            <a:r>
              <a:rPr lang="tr-TR" dirty="0" smtClean="0">
                <a:latin typeface="Consolas" panose="020B0609020204030204" pitchFamily="49" charset="0"/>
              </a:rPr>
              <a:t>            komsu = ziyaret </a:t>
            </a:r>
            <a:r>
              <a:rPr lang="tr-TR" dirty="0">
                <a:latin typeface="Consolas" panose="020B0609020204030204" pitchFamily="49" charset="0"/>
              </a:rPr>
              <a:t>edilmemiş </a:t>
            </a:r>
            <a:r>
              <a:rPr lang="tr-TR" dirty="0" smtClean="0">
                <a:latin typeface="Consolas" panose="020B0609020204030204" pitchFamily="49" charset="0"/>
              </a:rPr>
              <a:t>bir düğüm </a:t>
            </a:r>
            <a:r>
              <a:rPr lang="tr-TR" dirty="0">
                <a:latin typeface="Consolas" panose="020B0609020204030204" pitchFamily="49" charset="0"/>
              </a:rPr>
              <a:t>seç;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    </a:t>
            </a:r>
            <a:r>
              <a:rPr lang="tr-TR" dirty="0" err="1" smtClean="0">
                <a:latin typeface="Consolas" panose="020B0609020204030204" pitchFamily="49" charset="0"/>
              </a:rPr>
              <a:t>yigin.ekle</a:t>
            </a:r>
            <a:r>
              <a:rPr lang="tr-TR" dirty="0" smtClean="0">
                <a:latin typeface="Consolas" panose="020B0609020204030204" pitchFamily="49" charset="0"/>
              </a:rPr>
              <a:t>(komsu);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    </a:t>
            </a:r>
            <a:r>
              <a:rPr lang="tr-TR" dirty="0" err="1" smtClean="0">
                <a:latin typeface="Consolas" panose="020B0609020204030204" pitchFamily="49" charset="0"/>
              </a:rPr>
              <a:t>komsu.ziyaretEdildi</a:t>
            </a:r>
            <a:r>
              <a:rPr lang="tr-TR" dirty="0" smtClean="0">
                <a:latin typeface="Consolas" panose="020B0609020204030204" pitchFamily="49" charset="0"/>
              </a:rPr>
              <a:t>();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16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5454303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425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5484498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81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6617214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B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05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5341485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C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B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90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5570082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D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C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B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83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9227552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G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D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C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B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427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055371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E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G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D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C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B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285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6342523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G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D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C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B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97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1730461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F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G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D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C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B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52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0534730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G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D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C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B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01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0251250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D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C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B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99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895899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H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D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C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B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92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5090130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D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C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B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81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4644689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C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B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208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11336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B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7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085453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96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023252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I</a:t>
                      </a:r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6510455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A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358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Derinlik Öncelikli Arama (DFS)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79126"/>
              </p:ext>
            </p:extLst>
          </p:nvPr>
        </p:nvGraphicFramePr>
        <p:xfrm>
          <a:off x="8721968" y="1812722"/>
          <a:ext cx="900000" cy="39599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00000"/>
              </a:tblGrid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63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68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Problemi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Kaynak </a:t>
            </a:r>
            <a:r>
              <a:rPr lang="tr-TR" dirty="0"/>
              <a:t>düğümden diğer tüm düğümlere olan en kısa yolları </a:t>
            </a:r>
            <a:r>
              <a:rPr lang="tr-TR" dirty="0" smtClean="0"/>
              <a:t>bulur.</a:t>
            </a:r>
          </a:p>
          <a:p>
            <a:r>
              <a:rPr lang="tr-TR" dirty="0" smtClean="0"/>
              <a:t>Her </a:t>
            </a:r>
            <a:r>
              <a:rPr lang="tr-TR" dirty="0"/>
              <a:t>kenarın aynı </a:t>
            </a:r>
            <a:r>
              <a:rPr lang="tr-TR" dirty="0" smtClean="0"/>
              <a:t>ağırlığa </a:t>
            </a:r>
            <a:r>
              <a:rPr lang="tr-TR" dirty="0"/>
              <a:t>sahip olduğu </a:t>
            </a:r>
            <a:r>
              <a:rPr lang="tr-TR" dirty="0" smtClean="0"/>
              <a:t>varsayılır</a:t>
            </a:r>
            <a:r>
              <a:rPr lang="tr-TR" dirty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251" y="2937894"/>
            <a:ext cx="5040000" cy="31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6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Algoritma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dirty="0"/>
              <a:t>fonksiyon </a:t>
            </a:r>
            <a:r>
              <a:rPr lang="tr-TR" dirty="0" err="1" smtClean="0"/>
              <a:t>ağırlıksız_en_kısa_yol</a:t>
            </a:r>
            <a:r>
              <a:rPr lang="tr-TR" dirty="0" smtClean="0"/>
              <a:t>(çizge, </a:t>
            </a:r>
            <a:r>
              <a:rPr lang="tr-TR" dirty="0"/>
              <a:t>başlangıç</a:t>
            </a:r>
            <a:r>
              <a:rPr lang="tr-TR" dirty="0" smtClean="0"/>
              <a:t>)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    </a:t>
            </a:r>
            <a:r>
              <a:rPr lang="tr-TR" dirty="0" smtClean="0"/>
              <a:t>mesafeler[çizgedeki tüm düğümler] </a:t>
            </a:r>
            <a:r>
              <a:rPr lang="tr-TR" dirty="0"/>
              <a:t>= </a:t>
            </a:r>
            <a:r>
              <a:rPr lang="tr-TR" dirty="0" smtClean="0"/>
              <a:t>∞;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    mesafeler[başlangıç] = </a:t>
            </a:r>
            <a:r>
              <a:rPr lang="tr-TR" dirty="0" smtClean="0"/>
              <a:t>0;</a:t>
            </a:r>
            <a:endParaRPr lang="tr-TR" dirty="0"/>
          </a:p>
          <a:p>
            <a:pPr marL="0" indent="0">
              <a:buNone/>
            </a:pPr>
            <a:r>
              <a:rPr lang="tr-TR" dirty="0" smtClean="0"/>
              <a:t>    </a:t>
            </a:r>
            <a:r>
              <a:rPr lang="tr-TR" dirty="0" err="1" smtClean="0"/>
              <a:t>kuyruk.ekle</a:t>
            </a:r>
            <a:r>
              <a:rPr lang="tr-TR" dirty="0" smtClean="0"/>
              <a:t>(başlangıç);</a:t>
            </a:r>
            <a:endParaRPr lang="tr-TR" dirty="0"/>
          </a:p>
          <a:p>
            <a:pPr marL="0" indent="0">
              <a:buNone/>
            </a:pPr>
            <a:r>
              <a:rPr lang="tr-TR" dirty="0" smtClean="0"/>
              <a:t>    </a:t>
            </a:r>
            <a:r>
              <a:rPr lang="tr-TR" dirty="0" err="1"/>
              <a:t>while</a:t>
            </a:r>
            <a:r>
              <a:rPr lang="tr-TR" dirty="0"/>
              <a:t> </a:t>
            </a:r>
            <a:r>
              <a:rPr lang="tr-TR" dirty="0" smtClean="0"/>
              <a:t>!</a:t>
            </a:r>
            <a:r>
              <a:rPr lang="tr-TR" dirty="0" err="1" smtClean="0"/>
              <a:t>kuyruk.boşMu</a:t>
            </a:r>
            <a:r>
              <a:rPr lang="tr-TR" dirty="0" smtClean="0"/>
              <a:t>()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        </a:t>
            </a:r>
            <a:r>
              <a:rPr lang="tr-TR" dirty="0" err="1"/>
              <a:t>mevcut_düğüm</a:t>
            </a:r>
            <a:r>
              <a:rPr lang="tr-TR" dirty="0"/>
              <a:t> = </a:t>
            </a:r>
            <a:r>
              <a:rPr lang="tr-TR" dirty="0" err="1"/>
              <a:t>kuyruk.çıkar</a:t>
            </a:r>
            <a:r>
              <a:rPr lang="tr-TR" dirty="0"/>
              <a:t>()</a:t>
            </a:r>
          </a:p>
          <a:p>
            <a:pPr marL="0" indent="0">
              <a:buNone/>
            </a:pPr>
            <a:r>
              <a:rPr lang="tr-TR" dirty="0" smtClean="0"/>
              <a:t>        </a:t>
            </a:r>
            <a:r>
              <a:rPr lang="tr-TR" dirty="0" err="1" smtClean="0"/>
              <a:t>for</a:t>
            </a:r>
            <a:r>
              <a:rPr lang="tr-TR" dirty="0" smtClean="0"/>
              <a:t> (çizge[</a:t>
            </a:r>
            <a:r>
              <a:rPr lang="tr-TR" dirty="0" err="1" smtClean="0"/>
              <a:t>mevcut_düğüm</a:t>
            </a:r>
            <a:r>
              <a:rPr lang="tr-TR" dirty="0"/>
              <a:t>]</a:t>
            </a:r>
            <a:r>
              <a:rPr lang="tr-TR" dirty="0" smtClean="0"/>
              <a:t> tüm komşuları)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           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smtClean="0"/>
              <a:t>(mesafeler[komşu</a:t>
            </a:r>
            <a:r>
              <a:rPr lang="tr-TR" dirty="0"/>
              <a:t>] == ∞)</a:t>
            </a:r>
          </a:p>
          <a:p>
            <a:pPr marL="0" indent="0">
              <a:buNone/>
            </a:pPr>
            <a:r>
              <a:rPr lang="tr-TR" dirty="0"/>
              <a:t>                mesafeler[komşu] = mesafeler[</a:t>
            </a:r>
            <a:r>
              <a:rPr lang="tr-TR" dirty="0" err="1"/>
              <a:t>mevcut_düğüm</a:t>
            </a:r>
            <a:r>
              <a:rPr lang="tr-TR" dirty="0"/>
              <a:t>] + 1</a:t>
            </a:r>
          </a:p>
          <a:p>
            <a:pPr marL="0" indent="0">
              <a:buNone/>
            </a:pPr>
            <a:r>
              <a:rPr lang="tr-TR" dirty="0"/>
              <a:t>                </a:t>
            </a:r>
            <a:r>
              <a:rPr lang="tr-TR" dirty="0" err="1"/>
              <a:t>kuyruk.ekle</a:t>
            </a:r>
            <a:r>
              <a:rPr lang="tr-TR" dirty="0"/>
              <a:t>(komşu</a:t>
            </a:r>
            <a:r>
              <a:rPr lang="tr-TR" dirty="0" smtClean="0"/>
              <a:t>)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    </a:t>
            </a:r>
            <a:r>
              <a:rPr lang="tr-TR" dirty="0" err="1"/>
              <a:t>return</a:t>
            </a:r>
            <a:r>
              <a:rPr lang="tr-TR" dirty="0"/>
              <a:t> mesafeler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13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</a:t>
            </a:r>
            <a:r>
              <a:rPr lang="tr-TR" dirty="0" smtClean="0"/>
              <a:t>Yol Bulma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Map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agirliksizEnKisaYol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baslangic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Map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mesafeler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HashMap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kuyruk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cizge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.keySet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mesafeler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MAX_VALUE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mesafeler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baslangic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0);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kuyruk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baslangic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kuyruk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mevcutDugum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kuyruk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komsu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cizge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.get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mevcutDugum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mesafeler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.get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komsu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==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MAX_VALUE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mesafeler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komsu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mesafeler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.get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mevcutDugum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+ 1);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kuyruk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komsu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mesafeler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51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9466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A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2482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620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B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40569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B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F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2213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B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F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I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5825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F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I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0344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F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I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C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5380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F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I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C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E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0312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I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C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E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6061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I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C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E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G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75462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C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E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G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24422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E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G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0589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E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G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D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3088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G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D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4693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D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5402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92D05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∞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2446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H</a:t>
                      </a:r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6862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Ağırlıksız En Kısa Yol Bulma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7" name="Straight Connector 16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39"/>
          <p:cNvGraphicFramePr>
            <a:graphicFrameLocks noGrp="1"/>
          </p:cNvGraphicFramePr>
          <p:nvPr>
            <p:ph idx="1"/>
            <p:extLst/>
          </p:nvPr>
        </p:nvGraphicFramePr>
        <p:xfrm>
          <a:off x="6907235" y="2386796"/>
          <a:ext cx="4320000" cy="72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1584" y="283340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3358657" y="246060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1558765" y="450113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2730671" y="4501134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3872196" y="4286165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8" name="TextBox 37"/>
          <p:cNvSpPr txBox="1"/>
          <p:nvPr/>
        </p:nvSpPr>
        <p:spPr>
          <a:xfrm>
            <a:off x="5205714" y="332221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9" name="TextBox 38"/>
          <p:cNvSpPr txBox="1"/>
          <p:nvPr/>
        </p:nvSpPr>
        <p:spPr>
          <a:xfrm>
            <a:off x="4333919" y="315900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1" name="TextBox 40"/>
          <p:cNvSpPr txBox="1"/>
          <p:nvPr/>
        </p:nvSpPr>
        <p:spPr>
          <a:xfrm>
            <a:off x="2679308" y="342688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2335235" y="2227227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1848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85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Ağırlıklı En Kısa Yol Bulma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Kaynak düğümden diğer tüm düğümlere olan en kısa yolları bulur.</a:t>
            </a:r>
          </a:p>
          <a:p>
            <a:r>
              <a:rPr lang="tr-TR" dirty="0"/>
              <a:t>Her </a:t>
            </a:r>
            <a:r>
              <a:rPr lang="tr-TR" dirty="0" smtClean="0"/>
              <a:t>kenar farklı bir ağırlığa sahiptir.</a:t>
            </a:r>
          </a:p>
          <a:p>
            <a:r>
              <a:rPr lang="tr-TR" dirty="0"/>
              <a:t>Ağırlıklar </a:t>
            </a:r>
            <a:r>
              <a:rPr lang="tr-TR" dirty="0" smtClean="0"/>
              <a:t>uzaklık</a:t>
            </a:r>
            <a:r>
              <a:rPr lang="tr-TR" dirty="0"/>
              <a:t>, maliyet </a:t>
            </a:r>
            <a:r>
              <a:rPr lang="tr-TR" dirty="0" smtClean="0"/>
              <a:t>gibi bir </a:t>
            </a:r>
            <a:r>
              <a:rPr lang="tr-TR" dirty="0"/>
              <a:t>ölçüm birimi olabilir.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614" y="3348996"/>
            <a:ext cx="4878772" cy="266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42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Ağırlıklı En Kısa Yol </a:t>
            </a:r>
            <a:r>
              <a:rPr lang="tr-TR" dirty="0" smtClean="0"/>
              <a:t>Bulma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dirty="0" smtClean="0"/>
              <a:t>fonksiyon </a:t>
            </a:r>
            <a:r>
              <a:rPr lang="tr-TR" dirty="0" err="1" smtClean="0"/>
              <a:t>Dijkstra</a:t>
            </a:r>
            <a:r>
              <a:rPr lang="tr-TR" dirty="0" smtClean="0"/>
              <a:t> (</a:t>
            </a:r>
            <a:r>
              <a:rPr lang="tr-TR" dirty="0"/>
              <a:t>ç</a:t>
            </a:r>
            <a:r>
              <a:rPr lang="tr-TR" dirty="0" smtClean="0"/>
              <a:t>izge, başlangıç)</a:t>
            </a:r>
            <a:endParaRPr lang="tr-TR" dirty="0"/>
          </a:p>
          <a:p>
            <a:pPr marL="0" indent="0">
              <a:buNone/>
            </a:pPr>
            <a:r>
              <a:rPr lang="tr-TR" dirty="0" smtClean="0"/>
              <a:t>    </a:t>
            </a:r>
            <a:r>
              <a:rPr lang="tr-TR" dirty="0" err="1" smtClean="0"/>
              <a:t>for</a:t>
            </a:r>
            <a:r>
              <a:rPr lang="tr-TR" dirty="0" smtClean="0"/>
              <a:t> (her düğüm)</a:t>
            </a:r>
            <a:endParaRPr lang="tr-TR" dirty="0"/>
          </a:p>
          <a:p>
            <a:pPr marL="0" indent="0">
              <a:buNone/>
            </a:pPr>
            <a:r>
              <a:rPr lang="tr-TR" dirty="0" smtClean="0"/>
              <a:t>        mesafe[v</a:t>
            </a:r>
            <a:r>
              <a:rPr lang="tr-TR" dirty="0"/>
              <a:t>] </a:t>
            </a:r>
            <a:r>
              <a:rPr lang="tr-TR" dirty="0" smtClean="0"/>
              <a:t>= SONSUZ;  önceki[v</a:t>
            </a:r>
            <a:r>
              <a:rPr lang="tr-TR" dirty="0"/>
              <a:t>] </a:t>
            </a:r>
            <a:r>
              <a:rPr lang="tr-TR" dirty="0" smtClean="0"/>
              <a:t>= TANIMSIZ;  </a:t>
            </a:r>
            <a:r>
              <a:rPr lang="tr-TR" dirty="0" err="1" smtClean="0"/>
              <a:t>kuyruk.ekle</a:t>
            </a:r>
            <a:r>
              <a:rPr lang="tr-TR" dirty="0" smtClean="0"/>
              <a:t>(v); </a:t>
            </a:r>
            <a:r>
              <a:rPr lang="tr-TR" dirty="0" smtClean="0">
                <a:solidFill>
                  <a:srgbClr val="FF0000"/>
                </a:solidFill>
              </a:rPr>
              <a:t>//öncelikli</a:t>
            </a:r>
            <a:endParaRPr lang="tr-T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r-TR" dirty="0" smtClean="0"/>
              <a:t>    mesafe[başlangıç] = 0;</a:t>
            </a:r>
            <a:endParaRPr lang="tr-TR" dirty="0"/>
          </a:p>
          <a:p>
            <a:pPr marL="0" indent="0">
              <a:buNone/>
            </a:pPr>
            <a:r>
              <a:rPr lang="tr-TR" dirty="0" smtClean="0"/>
              <a:t>    </a:t>
            </a:r>
            <a:r>
              <a:rPr lang="tr-TR" dirty="0" err="1" smtClean="0"/>
              <a:t>while</a:t>
            </a:r>
            <a:r>
              <a:rPr lang="tr-TR" dirty="0" smtClean="0"/>
              <a:t> (!</a:t>
            </a:r>
            <a:r>
              <a:rPr lang="tr-TR" dirty="0" err="1" smtClean="0"/>
              <a:t>kuyruk.bosMu</a:t>
            </a:r>
            <a:r>
              <a:rPr lang="tr-TR" dirty="0" smtClean="0"/>
              <a:t>())</a:t>
            </a:r>
            <a:endParaRPr lang="tr-TR" dirty="0"/>
          </a:p>
          <a:p>
            <a:pPr marL="0" indent="0">
              <a:buNone/>
            </a:pPr>
            <a:r>
              <a:rPr lang="tr-TR" dirty="0" smtClean="0"/>
              <a:t>        u = </a:t>
            </a:r>
            <a:r>
              <a:rPr lang="tr-TR" dirty="0" err="1" smtClean="0"/>
              <a:t>kuyruk.cikar</a:t>
            </a:r>
            <a:r>
              <a:rPr lang="tr-TR" dirty="0" smtClean="0"/>
              <a:t>(); </a:t>
            </a:r>
            <a:r>
              <a:rPr lang="tr-TR" dirty="0" smtClean="0">
                <a:solidFill>
                  <a:srgbClr val="FF0000"/>
                </a:solidFill>
              </a:rPr>
              <a:t>// en küçük mesafe[u]</a:t>
            </a:r>
            <a:endParaRPr lang="tr-T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r-TR" dirty="0" smtClean="0"/>
              <a:t>        </a:t>
            </a:r>
            <a:r>
              <a:rPr lang="tr-TR" dirty="0" err="1" smtClean="0"/>
              <a:t>for</a:t>
            </a:r>
            <a:r>
              <a:rPr lang="tr-TR" dirty="0" smtClean="0"/>
              <a:t> (</a:t>
            </a:r>
            <a:r>
              <a:rPr lang="tr-TR" dirty="0"/>
              <a:t>u'nun </a:t>
            </a:r>
            <a:r>
              <a:rPr lang="tr-TR" dirty="0" smtClean="0"/>
              <a:t>kuyrukta olan her komşusu)</a:t>
            </a:r>
            <a:endParaRPr lang="tr-TR" dirty="0"/>
          </a:p>
          <a:p>
            <a:pPr marL="0" indent="0">
              <a:buNone/>
            </a:pPr>
            <a:r>
              <a:rPr lang="tr-TR" dirty="0" smtClean="0"/>
              <a:t>            </a:t>
            </a:r>
            <a:r>
              <a:rPr lang="tr-TR" dirty="0"/>
              <a:t>alternatif </a:t>
            </a:r>
            <a:r>
              <a:rPr lang="tr-TR" dirty="0" smtClean="0"/>
              <a:t>= </a:t>
            </a:r>
            <a:r>
              <a:rPr lang="tr-TR" dirty="0"/>
              <a:t>mesafe[u] + </a:t>
            </a:r>
            <a:r>
              <a:rPr lang="tr-TR" dirty="0" err="1" smtClean="0"/>
              <a:t>çizge.kenar</a:t>
            </a:r>
            <a:r>
              <a:rPr lang="tr-TR" dirty="0" smtClean="0"/>
              <a:t>(u</a:t>
            </a:r>
            <a:r>
              <a:rPr lang="tr-TR" dirty="0"/>
              <a:t>, v</a:t>
            </a:r>
            <a:r>
              <a:rPr lang="tr-TR" dirty="0" smtClean="0"/>
              <a:t>);</a:t>
            </a:r>
            <a:endParaRPr lang="tr-TR" dirty="0"/>
          </a:p>
          <a:p>
            <a:pPr marL="0" indent="0">
              <a:buNone/>
            </a:pPr>
            <a:r>
              <a:rPr lang="tr-TR" dirty="0" smtClean="0"/>
              <a:t>            </a:t>
            </a:r>
            <a:r>
              <a:rPr lang="tr-TR" dirty="0" err="1" smtClean="0"/>
              <a:t>if</a:t>
            </a:r>
            <a:r>
              <a:rPr lang="tr-TR" dirty="0" smtClean="0"/>
              <a:t> (alternatif </a:t>
            </a:r>
            <a:r>
              <a:rPr lang="tr-TR" dirty="0"/>
              <a:t>&lt; mesafe[v</a:t>
            </a:r>
            <a:r>
              <a:rPr lang="tr-TR" dirty="0" smtClean="0"/>
              <a:t>])</a:t>
            </a:r>
            <a:endParaRPr lang="tr-TR" dirty="0"/>
          </a:p>
          <a:p>
            <a:pPr marL="0" indent="0">
              <a:buNone/>
            </a:pPr>
            <a:r>
              <a:rPr lang="tr-TR" dirty="0" smtClean="0"/>
              <a:t>                mesafe[v</a:t>
            </a:r>
            <a:r>
              <a:rPr lang="tr-TR" dirty="0"/>
              <a:t>] ← </a:t>
            </a:r>
            <a:r>
              <a:rPr lang="tr-TR" dirty="0" smtClean="0"/>
              <a:t>alternatif;</a:t>
            </a:r>
            <a:endParaRPr lang="tr-TR" dirty="0"/>
          </a:p>
          <a:p>
            <a:pPr marL="0" indent="0">
              <a:buNone/>
            </a:pPr>
            <a:r>
              <a:rPr lang="tr-TR" dirty="0" smtClean="0"/>
              <a:t>                önceki[v</a:t>
            </a:r>
            <a:r>
              <a:rPr lang="tr-TR" dirty="0"/>
              <a:t>] ← </a:t>
            </a:r>
            <a:r>
              <a:rPr lang="tr-TR" dirty="0" smtClean="0"/>
              <a:t>u;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81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dijkstra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Cizge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cizge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kaynak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cizge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dugumler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mesafeler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MAX_VALUE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mesafeler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kaynak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0);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kuyruk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kaynak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kuyruk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kuyruk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ziyaretEdilen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Map.Entry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komsu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cizge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dugumler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.get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ziyaretEdilen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.contains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komsu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.getKey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alternatif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mesafeler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.get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komsu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.getValue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alternatif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mesafeler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.get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komsu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.getKey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mesafeler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komsu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.getKey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alternatif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kuyruk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komsu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.getKey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33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Dijkstra</a:t>
            </a:r>
            <a:r>
              <a:rPr lang="tr-TR" dirty="0"/>
              <a:t> Algoritması Analizi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Öncelik Kuyruğu </a:t>
            </a:r>
            <a:r>
              <a:rPr lang="tr-TR" dirty="0" smtClean="0"/>
              <a:t>Kullanılırsa:</a:t>
            </a:r>
          </a:p>
          <a:p>
            <a:pPr lvl="1"/>
            <a:r>
              <a:rPr lang="tr-TR" b="1" dirty="0" smtClean="0"/>
              <a:t>Karmaşıklık</a:t>
            </a:r>
            <a:r>
              <a:rPr lang="tr-TR" dirty="0"/>
              <a:t>: O((V + E) </a:t>
            </a:r>
            <a:r>
              <a:rPr lang="tr-TR" dirty="0" err="1"/>
              <a:t>log</a:t>
            </a:r>
            <a:r>
              <a:rPr lang="tr-TR" dirty="0"/>
              <a:t> V)</a:t>
            </a:r>
          </a:p>
          <a:p>
            <a:pPr lvl="1"/>
            <a:r>
              <a:rPr lang="tr-TR" dirty="0" smtClean="0"/>
              <a:t>Kuyruğa ekleme/çıkarma işlemleri logaritmik </a:t>
            </a:r>
            <a:r>
              <a:rPr lang="tr-TR" dirty="0"/>
              <a:t>zaman </a:t>
            </a:r>
            <a:r>
              <a:rPr lang="tr-TR" dirty="0" smtClean="0"/>
              <a:t>karmaşıklığına sahiptir. İşlemler</a:t>
            </a:r>
            <a:r>
              <a:rPr lang="tr-TR" dirty="0"/>
              <a:t>, düğüm </a:t>
            </a:r>
            <a:r>
              <a:rPr lang="tr-TR" dirty="0" smtClean="0"/>
              <a:t>(</a:t>
            </a:r>
            <a:r>
              <a:rPr lang="tr-TR" dirty="0"/>
              <a:t>V) ve kenar sayısı (E) ile doğru orantılıdır.</a:t>
            </a:r>
          </a:p>
          <a:p>
            <a:r>
              <a:rPr lang="tr-TR" dirty="0" smtClean="0"/>
              <a:t>Öncelik </a:t>
            </a:r>
            <a:r>
              <a:rPr lang="tr-TR" dirty="0"/>
              <a:t>Kuyruğu </a:t>
            </a:r>
            <a:r>
              <a:rPr lang="tr-TR" dirty="0" smtClean="0"/>
              <a:t>Kullanılmazsa:</a:t>
            </a:r>
            <a:endParaRPr lang="tr-TR" dirty="0"/>
          </a:p>
          <a:p>
            <a:pPr lvl="1"/>
            <a:r>
              <a:rPr lang="tr-TR" b="1" dirty="0"/>
              <a:t>Karmaşıklık</a:t>
            </a:r>
            <a:r>
              <a:rPr lang="tr-TR" dirty="0"/>
              <a:t>: </a:t>
            </a:r>
            <a:r>
              <a:rPr lang="tr-TR" dirty="0" smtClean="0"/>
              <a:t>O(V</a:t>
            </a:r>
            <a:r>
              <a:rPr lang="tr-TR" baseline="30000" dirty="0" smtClean="0"/>
              <a:t>2</a:t>
            </a:r>
            <a:r>
              <a:rPr lang="tr-TR" dirty="0" smtClean="0"/>
              <a:t> </a:t>
            </a:r>
            <a:r>
              <a:rPr lang="tr-TR" dirty="0"/>
              <a:t>+ E)</a:t>
            </a:r>
          </a:p>
          <a:p>
            <a:pPr lvl="1"/>
            <a:r>
              <a:rPr lang="tr-TR" dirty="0"/>
              <a:t>En küçük mesafeli düğümü </a:t>
            </a:r>
            <a:r>
              <a:rPr lang="tr-TR" dirty="0" smtClean="0"/>
              <a:t>bulmak için </a:t>
            </a:r>
            <a:r>
              <a:rPr lang="tr-TR" dirty="0"/>
              <a:t>her </a:t>
            </a:r>
            <a:r>
              <a:rPr lang="tr-TR" dirty="0" err="1"/>
              <a:t>iterasyonda</a:t>
            </a:r>
            <a:r>
              <a:rPr lang="tr-TR" dirty="0"/>
              <a:t> tüm düğümler üzerinde döngü yapılması </a:t>
            </a:r>
            <a:r>
              <a:rPr lang="tr-TR" dirty="0" smtClean="0"/>
              <a:t>V</a:t>
            </a:r>
            <a:r>
              <a:rPr lang="tr-TR" baseline="30000" dirty="0" smtClean="0"/>
              <a:t>2</a:t>
            </a:r>
            <a:r>
              <a:rPr lang="tr-TR" dirty="0" smtClean="0"/>
              <a:t> </a:t>
            </a:r>
            <a:r>
              <a:rPr lang="tr-TR" dirty="0"/>
              <a:t>zaman </a:t>
            </a:r>
            <a:r>
              <a:rPr lang="tr-TR" dirty="0" smtClean="0"/>
              <a:t>karmaşıklığına sahiptir. Her düğümün </a:t>
            </a:r>
            <a:r>
              <a:rPr lang="tr-TR" dirty="0"/>
              <a:t>komşularının kontrol edilmesi, toplam kenar sayısı (E) kadar ek </a:t>
            </a:r>
            <a:r>
              <a:rPr lang="tr-TR" dirty="0" smtClean="0"/>
              <a:t>işlem gerektirir.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090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27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7947446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/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6713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781456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/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60400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8976880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/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8569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99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6038647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/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7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0250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9513559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/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7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3</a:t>
                      </a:r>
                      <a:endParaRPr lang="tr-TR" sz="2400" b="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7917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3976935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7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3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8001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609165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7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3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8764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103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6306222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5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7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3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2809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3296832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5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6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7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3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2663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105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1995921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5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6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7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3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819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106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008128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5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12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6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7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3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7676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107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845308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5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12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6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7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3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998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108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3402988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5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12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6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7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8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3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2929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109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3613388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5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12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6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7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8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3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1411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110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2157422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5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11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6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7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8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3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9068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111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8607017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5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11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6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7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8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∞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3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9510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112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FFFF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9735109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5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11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6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7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8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16</a:t>
                      </a:r>
                      <a:endParaRPr lang="tr-TR" sz="2400" b="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3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3716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Dijkstra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Yol: A -&gt; B-&gt; E -&gt; G -&gt; D -&gt; H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113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81685" y="3221502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939800" y="2487637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A</a:t>
            </a:r>
            <a:endParaRPr lang="tr-TR" dirty="0"/>
          </a:p>
        </p:txBody>
      </p:sp>
      <p:sp>
        <p:nvSpPr>
          <p:cNvPr id="9" name="Oval 8"/>
          <p:cNvSpPr/>
          <p:nvPr/>
        </p:nvSpPr>
        <p:spPr>
          <a:xfrm>
            <a:off x="3041400" y="2833404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B</a:t>
            </a:r>
            <a:endParaRPr lang="tr-TR" sz="2400" dirty="0"/>
          </a:p>
        </p:txBody>
      </p:sp>
      <p:sp>
        <p:nvSpPr>
          <p:cNvPr id="10" name="Oval 9"/>
          <p:cNvSpPr/>
          <p:nvPr/>
        </p:nvSpPr>
        <p:spPr>
          <a:xfrm>
            <a:off x="3950675" y="344116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C</a:t>
            </a:r>
            <a:endParaRPr lang="tr-TR" sz="2400" dirty="0"/>
          </a:p>
        </p:txBody>
      </p:sp>
      <p:sp>
        <p:nvSpPr>
          <p:cNvPr id="11" name="Oval 10"/>
          <p:cNvSpPr/>
          <p:nvPr/>
        </p:nvSpPr>
        <p:spPr>
          <a:xfrm>
            <a:off x="4231660" y="441491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  <a:endParaRPr lang="tr-TR" dirty="0"/>
          </a:p>
        </p:txBody>
      </p:sp>
      <p:sp>
        <p:nvSpPr>
          <p:cNvPr id="12" name="Oval 11"/>
          <p:cNvSpPr/>
          <p:nvPr/>
        </p:nvSpPr>
        <p:spPr>
          <a:xfrm>
            <a:off x="5157783" y="371116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H</a:t>
            </a:r>
            <a:endParaRPr lang="tr-TR" dirty="0"/>
          </a:p>
        </p:txBody>
      </p:sp>
      <p:sp>
        <p:nvSpPr>
          <p:cNvPr id="13" name="Oval 12"/>
          <p:cNvSpPr/>
          <p:nvPr/>
        </p:nvSpPr>
        <p:spPr>
          <a:xfrm>
            <a:off x="3041400" y="4716130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G</a:t>
            </a:r>
            <a:endParaRPr lang="tr-TR" dirty="0"/>
          </a:p>
        </p:txBody>
      </p:sp>
      <p:sp>
        <p:nvSpPr>
          <p:cNvPr id="14" name="Oval 13"/>
          <p:cNvSpPr/>
          <p:nvPr/>
        </p:nvSpPr>
        <p:spPr>
          <a:xfrm>
            <a:off x="1906270" y="473328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F</a:t>
            </a:r>
            <a:endParaRPr lang="tr-TR" dirty="0"/>
          </a:p>
        </p:txBody>
      </p:sp>
      <p:sp>
        <p:nvSpPr>
          <p:cNvPr id="15" name="Oval 14"/>
          <p:cNvSpPr/>
          <p:nvPr/>
        </p:nvSpPr>
        <p:spPr>
          <a:xfrm>
            <a:off x="2743567" y="3792721"/>
            <a:ext cx="540000" cy="540000"/>
          </a:xfrm>
          <a:prstGeom prst="ellipse">
            <a:avLst/>
          </a:prstGeom>
          <a:solidFill>
            <a:srgbClr val="FF0000"/>
          </a:solidFill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 smtClean="0"/>
              <a:t>E</a:t>
            </a:r>
            <a:endParaRPr lang="tr-TR" dirty="0"/>
          </a:p>
        </p:txBody>
      </p:sp>
      <p:cxnSp>
        <p:nvCxnSpPr>
          <p:cNvPr id="16" name="Straight Connector 15"/>
          <p:cNvCxnSpPr>
            <a:stCxn id="7" idx="7"/>
            <a:endCxn id="8" idx="3"/>
          </p:cNvCxnSpPr>
          <p:nvPr/>
        </p:nvCxnSpPr>
        <p:spPr>
          <a:xfrm flipV="1">
            <a:off x="1642604" y="2948556"/>
            <a:ext cx="376277" cy="3520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4" idx="0"/>
          </p:cNvCxnSpPr>
          <p:nvPr/>
        </p:nvCxnSpPr>
        <p:spPr>
          <a:xfrm flipH="1">
            <a:off x="2176270" y="3042115"/>
            <a:ext cx="33530" cy="16911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1"/>
          </p:cNvCxnSpPr>
          <p:nvPr/>
        </p:nvCxnSpPr>
        <p:spPr>
          <a:xfrm>
            <a:off x="2479800" y="2757637"/>
            <a:ext cx="640681" cy="154848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0" idx="1"/>
          </p:cNvCxnSpPr>
          <p:nvPr/>
        </p:nvCxnSpPr>
        <p:spPr>
          <a:xfrm>
            <a:off x="3502319" y="3294323"/>
            <a:ext cx="527437" cy="2259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4"/>
            <a:endCxn id="15" idx="0"/>
          </p:cNvCxnSpPr>
          <p:nvPr/>
        </p:nvCxnSpPr>
        <p:spPr>
          <a:xfrm flipH="1">
            <a:off x="3013567" y="3373404"/>
            <a:ext cx="297833" cy="419317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6"/>
            <a:endCxn id="10" idx="2"/>
          </p:cNvCxnSpPr>
          <p:nvPr/>
        </p:nvCxnSpPr>
        <p:spPr>
          <a:xfrm flipV="1">
            <a:off x="3283567" y="3711161"/>
            <a:ext cx="667108" cy="3515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6"/>
            <a:endCxn id="13" idx="2"/>
          </p:cNvCxnSpPr>
          <p:nvPr/>
        </p:nvCxnSpPr>
        <p:spPr>
          <a:xfrm flipV="1">
            <a:off x="2446270" y="4986130"/>
            <a:ext cx="595130" cy="17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6"/>
            <a:endCxn id="11" idx="3"/>
          </p:cNvCxnSpPr>
          <p:nvPr/>
        </p:nvCxnSpPr>
        <p:spPr>
          <a:xfrm flipV="1">
            <a:off x="3581400" y="4875830"/>
            <a:ext cx="729341" cy="110300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  <a:endCxn id="12" idx="3"/>
          </p:cNvCxnSpPr>
          <p:nvPr/>
        </p:nvCxnSpPr>
        <p:spPr>
          <a:xfrm flipV="1">
            <a:off x="4692579" y="4172080"/>
            <a:ext cx="544285" cy="321912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5"/>
            <a:endCxn id="13" idx="0"/>
          </p:cNvCxnSpPr>
          <p:nvPr/>
        </p:nvCxnSpPr>
        <p:spPr>
          <a:xfrm>
            <a:off x="3204486" y="4253640"/>
            <a:ext cx="106914" cy="462490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4"/>
            <a:endCxn id="11" idx="1"/>
          </p:cNvCxnSpPr>
          <p:nvPr/>
        </p:nvCxnSpPr>
        <p:spPr>
          <a:xfrm>
            <a:off x="4220675" y="3981161"/>
            <a:ext cx="90066" cy="512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4112669"/>
              </p:ext>
            </p:extLst>
          </p:nvPr>
        </p:nvGraphicFramePr>
        <p:xfrm>
          <a:off x="6907235" y="2386796"/>
          <a:ext cx="432000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A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B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C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D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E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F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G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H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I</a:t>
                      </a:r>
                      <a:endParaRPr lang="tr-TR" sz="24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0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4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5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11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6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7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8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16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0" dirty="0" smtClean="0"/>
                        <a:t>3</a:t>
                      </a:r>
                      <a:endParaRPr lang="tr-TR" sz="2400" b="0" dirty="0"/>
                    </a:p>
                  </a:txBody>
                  <a:tcPr marL="36000" marR="36000"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64463" y="279821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0" name="TextBox 29"/>
          <p:cNvSpPr txBox="1"/>
          <p:nvPr/>
        </p:nvSpPr>
        <p:spPr>
          <a:xfrm>
            <a:off x="2619636" y="246812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4</a:t>
            </a:r>
            <a:endParaRPr lang="tr-TR" dirty="0"/>
          </a:p>
        </p:txBody>
      </p:sp>
      <p:sp>
        <p:nvSpPr>
          <p:cNvPr id="31" name="TextBox 30"/>
          <p:cNvSpPr txBox="1"/>
          <p:nvPr/>
        </p:nvSpPr>
        <p:spPr>
          <a:xfrm>
            <a:off x="1884837" y="379269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  <p:sp>
        <p:nvSpPr>
          <p:cNvPr id="32" name="TextBox 31"/>
          <p:cNvSpPr txBox="1"/>
          <p:nvPr/>
        </p:nvSpPr>
        <p:spPr>
          <a:xfrm>
            <a:off x="2508601" y="4923339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33" name="TextBox 32"/>
          <p:cNvSpPr txBox="1"/>
          <p:nvPr/>
        </p:nvSpPr>
        <p:spPr>
          <a:xfrm>
            <a:off x="3740678" y="4846678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34" name="TextBox 33"/>
          <p:cNvSpPr txBox="1"/>
          <p:nvPr/>
        </p:nvSpPr>
        <p:spPr>
          <a:xfrm>
            <a:off x="4866814" y="423784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5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667715" y="3030561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1</a:t>
            </a:r>
            <a:endParaRPr lang="tr-TR" dirty="0"/>
          </a:p>
        </p:txBody>
      </p:sp>
      <p:sp>
        <p:nvSpPr>
          <p:cNvPr id="36" name="TextBox 35"/>
          <p:cNvSpPr txBox="1"/>
          <p:nvPr/>
        </p:nvSpPr>
        <p:spPr>
          <a:xfrm>
            <a:off x="2810305" y="3294323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48" name="TextBox 47"/>
          <p:cNvSpPr txBox="1"/>
          <p:nvPr/>
        </p:nvSpPr>
        <p:spPr>
          <a:xfrm>
            <a:off x="2934486" y="429275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2</a:t>
            </a:r>
            <a:endParaRPr lang="tr-TR" dirty="0"/>
          </a:p>
        </p:txBody>
      </p:sp>
      <p:sp>
        <p:nvSpPr>
          <p:cNvPr id="50" name="TextBox 49"/>
          <p:cNvSpPr txBox="1"/>
          <p:nvPr/>
        </p:nvSpPr>
        <p:spPr>
          <a:xfrm>
            <a:off x="3471169" y="3807130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3</a:t>
            </a:r>
            <a:endParaRPr lang="tr-TR" dirty="0"/>
          </a:p>
        </p:txBody>
      </p:sp>
      <p:sp>
        <p:nvSpPr>
          <p:cNvPr id="51" name="TextBox 50"/>
          <p:cNvSpPr txBox="1"/>
          <p:nvPr/>
        </p:nvSpPr>
        <p:spPr>
          <a:xfrm>
            <a:off x="3936373" y="4037962"/>
            <a:ext cx="22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9109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475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marL="0" indent="0" algn="ctr">
              <a:buNone/>
            </a:pPr>
            <a:r>
              <a:rPr lang="tr-TR" dirty="0" smtClean="0"/>
              <a:t>SON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7542</TotalTime>
  <Words>4384</Words>
  <Application>Microsoft Office PowerPoint</Application>
  <PresentationFormat>Widescreen</PresentationFormat>
  <Paragraphs>2183</Paragraphs>
  <Slides>115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22" baseType="lpstr">
      <vt:lpstr>Arial</vt:lpstr>
      <vt:lpstr>Calibri</vt:lpstr>
      <vt:lpstr>Calibri Light</vt:lpstr>
      <vt:lpstr>Consolas</vt:lpstr>
      <vt:lpstr>Times New Roman</vt:lpstr>
      <vt:lpstr>Wingdings</vt:lpstr>
      <vt:lpstr>Office Theme</vt:lpstr>
      <vt:lpstr>Bölüm 11: Çizge</vt:lpstr>
      <vt:lpstr>Çizge</vt:lpstr>
      <vt:lpstr>Nokta (Düğüm)</vt:lpstr>
      <vt:lpstr>Kenar (Yol)</vt:lpstr>
      <vt:lpstr>Derece (Degree)</vt:lpstr>
      <vt:lpstr>Yönlü Çizge</vt:lpstr>
      <vt:lpstr>Döngü (Cycle)</vt:lpstr>
      <vt:lpstr>Örnek Çizge</vt:lpstr>
      <vt:lpstr>Bağlantılı ve Tam Çizge</vt:lpstr>
      <vt:lpstr>Yönlü Çizge</vt:lpstr>
      <vt:lpstr>Ağırlıklı Çizge</vt:lpstr>
      <vt:lpstr>İki Temel Çizge Temsili</vt:lpstr>
      <vt:lpstr>Komşuluk Matrisi</vt:lpstr>
      <vt:lpstr>Komşuluk Matrisi</vt:lpstr>
      <vt:lpstr>Komşuluk Matrisi</vt:lpstr>
      <vt:lpstr>Komşuluk Matrisi</vt:lpstr>
      <vt:lpstr>Komşuluk Listesi</vt:lpstr>
      <vt:lpstr>Komşuluk Listesi</vt:lpstr>
      <vt:lpstr>Komşuluk Listesi</vt:lpstr>
      <vt:lpstr>Komşuluk Listesi</vt:lpstr>
      <vt:lpstr>PowerPoint Presentation</vt:lpstr>
      <vt:lpstr>Gezinme Algoritmaları</vt:lpstr>
      <vt:lpstr>Genişlik Öncelikli Arama (BFS)</vt:lpstr>
      <vt:lpstr>Genişlik Öncelikli Arama Adımları</vt:lpstr>
      <vt:lpstr>Genişlik Öncelikli Arama (BFS)</vt:lpstr>
      <vt:lpstr>Genişlik Öncelikli Arama (BFS)</vt:lpstr>
      <vt:lpstr>Genişlik Öncelikli Arama (BFS)</vt:lpstr>
      <vt:lpstr>Genişlik Öncelikli Arama (BFS)</vt:lpstr>
      <vt:lpstr>Genişlik Öncelikli Arama (BFS)</vt:lpstr>
      <vt:lpstr>Genişlik Öncelikli Arama (BFS)</vt:lpstr>
      <vt:lpstr>Genişlik Öncelikli Arama (BFS)</vt:lpstr>
      <vt:lpstr>Genişlik Öncelikli Arama (BFS)</vt:lpstr>
      <vt:lpstr>Genişlik Öncelikli Arama (BFS)</vt:lpstr>
      <vt:lpstr>Genişlik Öncelikli Arama (BFS)</vt:lpstr>
      <vt:lpstr>Genişlik Öncelikli Arama (BFS)</vt:lpstr>
      <vt:lpstr>Genişlik Öncelikli Arama (BFS)</vt:lpstr>
      <vt:lpstr>Genişlik Öncelikli Arama (BFS)</vt:lpstr>
      <vt:lpstr>Genişlik Öncelikli Arama (BFS)</vt:lpstr>
      <vt:lpstr>Genişlik Öncelikli Arama (BFS)</vt:lpstr>
      <vt:lpstr>Genişlik Öncelikli Arama (BFS)</vt:lpstr>
      <vt:lpstr>Genişlik Öncelikli Arama (BFS)</vt:lpstr>
      <vt:lpstr>Genişlik Öncelikli Arama (BFS)</vt:lpstr>
      <vt:lpstr>Genişlik Öncelikli Arama (BFS)</vt:lpstr>
      <vt:lpstr>PowerPoint Presentation</vt:lpstr>
      <vt:lpstr>Derinlik Öncelikli Arama (DFS)</vt:lpstr>
      <vt:lpstr>Derinlik Öncelikli Arama Adımları</vt:lpstr>
      <vt:lpstr>Derinlik Öncelikli Arama Adımları</vt:lpstr>
      <vt:lpstr>Derinlik Öncelikli Arama (DFS)</vt:lpstr>
      <vt:lpstr>Derinlik Öncelikli Arama (DFS)</vt:lpstr>
      <vt:lpstr>Derinlik Öncelikli Arama (DFS)</vt:lpstr>
      <vt:lpstr>Derinlik Öncelikli Arama (DFS)</vt:lpstr>
      <vt:lpstr>Derinlik Öncelikli Arama (DFS)</vt:lpstr>
      <vt:lpstr>Derinlik Öncelikli Arama (DFS)</vt:lpstr>
      <vt:lpstr>Derinlik Öncelikli Arama (DFS)</vt:lpstr>
      <vt:lpstr>Derinlik Öncelikli Arama (DFS)</vt:lpstr>
      <vt:lpstr>Derinlik Öncelikli Arama (DFS)</vt:lpstr>
      <vt:lpstr>Derinlik Öncelikli Arama (DFS)</vt:lpstr>
      <vt:lpstr>Derinlik Öncelikli Arama (DFS)</vt:lpstr>
      <vt:lpstr>Derinlik Öncelikli Arama (DFS)</vt:lpstr>
      <vt:lpstr>Derinlik Öncelikli Arama (DFS)</vt:lpstr>
      <vt:lpstr>Derinlik Öncelikli Arama (DFS)</vt:lpstr>
      <vt:lpstr>Derinlik Öncelikli Arama (DFS)</vt:lpstr>
      <vt:lpstr>Derinlik Öncelikli Arama (DFS)</vt:lpstr>
      <vt:lpstr>Derinlik Öncelikli Arama (DFS)</vt:lpstr>
      <vt:lpstr>Derinlik Öncelikli Arama (DFS)</vt:lpstr>
      <vt:lpstr>Derinlik Öncelikli Arama (DFS)</vt:lpstr>
      <vt:lpstr>PowerPoint Presentation</vt:lpstr>
      <vt:lpstr>Ağırlıksız En Kısa Yol Problemi</vt:lpstr>
      <vt:lpstr>Ağırlıksız En Kısa Yol Algoritma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Ağırlıksız En Kısa Yol Bulma</vt:lpstr>
      <vt:lpstr>PowerPoint Presentation</vt:lpstr>
      <vt:lpstr>Ağırlıklı En Kısa Yol Bulma</vt:lpstr>
      <vt:lpstr>Ağırlıklı En Kısa Yol Bulma Algoritması</vt:lpstr>
      <vt:lpstr>Dijkstra Algoritması</vt:lpstr>
      <vt:lpstr>Dijkstra Algoritması Analizi</vt:lpstr>
      <vt:lpstr>PowerPoint Presentation</vt:lpstr>
      <vt:lpstr>Dijkstra Algoritması</vt:lpstr>
      <vt:lpstr>Dijkstra Algoritması</vt:lpstr>
      <vt:lpstr>Dijkstra Algoritması</vt:lpstr>
      <vt:lpstr>Dijkstra Algoritması</vt:lpstr>
      <vt:lpstr>Dijkstra Algoritması</vt:lpstr>
      <vt:lpstr>Dijkstra Algoritması</vt:lpstr>
      <vt:lpstr>Dijkstra Algoritması</vt:lpstr>
      <vt:lpstr>Dijkstra Algoritması</vt:lpstr>
      <vt:lpstr>Dijkstra Algoritması</vt:lpstr>
      <vt:lpstr>Dijkstra Algoritması</vt:lpstr>
      <vt:lpstr>Dijkstra Algoritması</vt:lpstr>
      <vt:lpstr>Dijkstra Algoritması</vt:lpstr>
      <vt:lpstr>Dijkstra Algoritması</vt:lpstr>
      <vt:lpstr>Dijkstra Algoritması</vt:lpstr>
      <vt:lpstr>Dijkstra Algoritması</vt:lpstr>
      <vt:lpstr>Dijkstra Algoritması</vt:lpstr>
      <vt:lpstr>Dijkstra Algoritması</vt:lpstr>
      <vt:lpstr>Dijkstra Algoritması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Çizge</dc:title>
  <dc:creator>sercan</dc:creator>
  <cp:lastModifiedBy>sercan</cp:lastModifiedBy>
  <cp:revision>566</cp:revision>
  <dcterms:created xsi:type="dcterms:W3CDTF">2023-01-12T09:23:55Z</dcterms:created>
  <dcterms:modified xsi:type="dcterms:W3CDTF">2023-12-26T19:36:26Z</dcterms:modified>
</cp:coreProperties>
</file>