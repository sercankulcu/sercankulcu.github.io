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42"/>
  </p:notesMasterIdLst>
  <p:sldIdLst>
    <p:sldId id="256" r:id="rId2"/>
    <p:sldId id="385" r:id="rId3"/>
    <p:sldId id="386" r:id="rId4"/>
    <p:sldId id="329" r:id="rId5"/>
    <p:sldId id="384" r:id="rId6"/>
    <p:sldId id="330" r:id="rId7"/>
    <p:sldId id="383" r:id="rId8"/>
    <p:sldId id="332" r:id="rId9"/>
    <p:sldId id="335" r:id="rId10"/>
    <p:sldId id="370" r:id="rId11"/>
    <p:sldId id="371" r:id="rId12"/>
    <p:sldId id="373" r:id="rId13"/>
    <p:sldId id="376" r:id="rId14"/>
    <p:sldId id="374" r:id="rId15"/>
    <p:sldId id="375" r:id="rId16"/>
    <p:sldId id="377" r:id="rId17"/>
    <p:sldId id="387" r:id="rId18"/>
    <p:sldId id="381" r:id="rId19"/>
    <p:sldId id="382" r:id="rId20"/>
    <p:sldId id="378" r:id="rId21"/>
    <p:sldId id="379" r:id="rId22"/>
    <p:sldId id="380" r:id="rId23"/>
    <p:sldId id="336" r:id="rId24"/>
    <p:sldId id="345" r:id="rId25"/>
    <p:sldId id="346" r:id="rId26"/>
    <p:sldId id="347" r:id="rId27"/>
    <p:sldId id="348" r:id="rId28"/>
    <p:sldId id="349" r:id="rId29"/>
    <p:sldId id="350" r:id="rId30"/>
    <p:sldId id="337" r:id="rId31"/>
    <p:sldId id="355" r:id="rId32"/>
    <p:sldId id="338" r:id="rId33"/>
    <p:sldId id="357" r:id="rId34"/>
    <p:sldId id="339" r:id="rId35"/>
    <p:sldId id="356" r:id="rId36"/>
    <p:sldId id="340" r:id="rId37"/>
    <p:sldId id="354" r:id="rId38"/>
    <p:sldId id="341" r:id="rId39"/>
    <p:sldId id="342" r:id="rId40"/>
    <p:sldId id="31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22.12.2023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Bölüm 6: Liste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Iterable</a:t>
            </a:r>
            <a:r>
              <a:rPr lang="tr-TR" dirty="0"/>
              <a:t> </a:t>
            </a:r>
            <a:r>
              <a:rPr lang="tr-TR" dirty="0" err="1"/>
              <a:t>Arayüzü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Koleksiyonların </a:t>
            </a:r>
            <a:r>
              <a:rPr lang="tr-TR" dirty="0"/>
              <a:t>ve dizilerin üzerinde gezinmeyi </a:t>
            </a:r>
            <a:r>
              <a:rPr lang="tr-TR" dirty="0" smtClean="0"/>
              <a:t>sağlar. </a:t>
            </a:r>
            <a:endParaRPr lang="tr-TR" dirty="0"/>
          </a:p>
          <a:p>
            <a:r>
              <a:rPr lang="tr-TR" dirty="0" smtClean="0"/>
              <a:t>Bir </a:t>
            </a:r>
            <a:r>
              <a:rPr lang="tr-TR" dirty="0"/>
              <a:t>nesnenin </a:t>
            </a:r>
            <a:r>
              <a:rPr lang="tr-TR" dirty="0" err="1"/>
              <a:t>iterable</a:t>
            </a:r>
            <a:r>
              <a:rPr lang="tr-TR" dirty="0"/>
              <a:t> (gezilebilir) olduğu durumda:</a:t>
            </a:r>
          </a:p>
          <a:p>
            <a:pPr lvl="1"/>
            <a:r>
              <a:rPr lang="tr-TR" dirty="0"/>
              <a:t>(1) Bu nesne için bir </a:t>
            </a:r>
            <a:r>
              <a:rPr lang="tr-TR" dirty="0" err="1"/>
              <a:t>iterator</a:t>
            </a:r>
            <a:r>
              <a:rPr lang="tr-TR" dirty="0"/>
              <a:t> alabilirsiniz,</a:t>
            </a:r>
          </a:p>
          <a:p>
            <a:pPr lvl="1"/>
            <a:r>
              <a:rPr lang="tr-TR" dirty="0"/>
              <a:t>(2) Bu nesne için bir </a:t>
            </a:r>
            <a:r>
              <a:rPr lang="tr-TR" dirty="0" err="1"/>
              <a:t>spliterator</a:t>
            </a:r>
            <a:r>
              <a:rPr lang="tr-TR" dirty="0"/>
              <a:t> alabilirsiniz,</a:t>
            </a:r>
          </a:p>
          <a:p>
            <a:pPr lvl="1"/>
            <a:r>
              <a:rPr lang="tr-TR" dirty="0"/>
              <a:t>(3) </a:t>
            </a:r>
            <a:r>
              <a:rPr lang="tr-TR" dirty="0" err="1"/>
              <a:t>forEach</a:t>
            </a:r>
            <a:r>
              <a:rPr lang="tr-TR" dirty="0"/>
              <a:t> metodunu kullanarak bu nesne üzerinde gezinebilirsiniz</a:t>
            </a:r>
            <a:r>
              <a:rPr lang="tr-TR" dirty="0" smtClean="0"/>
              <a:t>.</a:t>
            </a:r>
          </a:p>
          <a:p>
            <a:r>
              <a:rPr lang="tr-TR" dirty="0" err="1">
                <a:latin typeface="Consolas" panose="020B0609020204030204" pitchFamily="49" charset="0"/>
              </a:rPr>
              <a:t>for</a:t>
            </a:r>
            <a:r>
              <a:rPr lang="tr-TR" dirty="0">
                <a:latin typeface="Consolas" panose="020B0609020204030204" pitchFamily="49" charset="0"/>
              </a:rPr>
              <a:t> (var x: a) {...} </a:t>
            </a:r>
            <a:r>
              <a:rPr lang="tr-TR" dirty="0" smtClean="0"/>
              <a:t>ifadesi</a:t>
            </a:r>
            <a:r>
              <a:rPr lang="tr-TR" dirty="0"/>
              <a:t>, sadece a bir dizi ise veya </a:t>
            </a:r>
            <a:r>
              <a:rPr lang="tr-TR" dirty="0" err="1"/>
              <a:t>Iterable</a:t>
            </a:r>
            <a:r>
              <a:rPr lang="tr-TR" dirty="0"/>
              <a:t> </a:t>
            </a:r>
            <a:r>
              <a:rPr lang="tr-TR" dirty="0" err="1"/>
              <a:t>arayüzünü</a:t>
            </a:r>
            <a:r>
              <a:rPr lang="tr-TR" dirty="0"/>
              <a:t> uygulayan bir sınıfsa çalışır</a:t>
            </a:r>
            <a:r>
              <a:rPr lang="tr-TR" dirty="0" smtClean="0"/>
              <a:t>.</a:t>
            </a:r>
          </a:p>
          <a:p>
            <a:r>
              <a:rPr lang="tr-TR" dirty="0" err="1"/>
              <a:t>Iterator</a:t>
            </a:r>
            <a:r>
              <a:rPr lang="tr-TR" dirty="0"/>
              <a:t> ile elemanlara sırasıyla erişim </a:t>
            </a:r>
            <a:r>
              <a:rPr lang="tr-TR" dirty="0" smtClean="0"/>
              <a:t>sağlanır.</a:t>
            </a:r>
            <a:endParaRPr lang="tr-TR" dirty="0"/>
          </a:p>
          <a:p>
            <a:r>
              <a:rPr lang="tr-TR" dirty="0" err="1"/>
              <a:t>Spliterator</a:t>
            </a:r>
            <a:r>
              <a:rPr lang="tr-TR" dirty="0"/>
              <a:t>, paralel işleme yeteneklerini destekler.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2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Collection </a:t>
            </a:r>
            <a:r>
              <a:rPr lang="tr-TR" dirty="0" err="1"/>
              <a:t>Arayüzü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Koleksiyonların </a:t>
            </a:r>
            <a:r>
              <a:rPr lang="tr-TR" dirty="0"/>
              <a:t>temel işlevlerini </a:t>
            </a:r>
            <a:r>
              <a:rPr lang="tr-TR" dirty="0" smtClean="0"/>
              <a:t>standartlaştırır.</a:t>
            </a:r>
          </a:p>
          <a:p>
            <a:r>
              <a:rPr lang="tr-TR" dirty="0" smtClean="0"/>
              <a:t>Bir nesne </a:t>
            </a:r>
            <a:r>
              <a:rPr lang="tr-TR" dirty="0"/>
              <a:t>Collection </a:t>
            </a:r>
            <a:r>
              <a:rPr lang="tr-TR" dirty="0" err="1" smtClean="0"/>
              <a:t>arayüzü’ne</a:t>
            </a:r>
            <a:r>
              <a:rPr lang="tr-TR" dirty="0" smtClean="0"/>
              <a:t> ait olduğunda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(1) Bu nesneye öğe eklenebilir ve çıkartılabilir,</a:t>
            </a:r>
          </a:p>
          <a:p>
            <a:pPr lvl="1"/>
            <a:r>
              <a:rPr lang="tr-TR" dirty="0"/>
              <a:t>(2) Bu nesnenin boyutu ve boş olup olmadığı sorgulanabilir,</a:t>
            </a:r>
          </a:p>
          <a:p>
            <a:pPr lvl="1"/>
            <a:r>
              <a:rPr lang="tr-TR" dirty="0"/>
              <a:t>(3) </a:t>
            </a:r>
            <a:r>
              <a:rPr lang="tr-TR" dirty="0" smtClean="0"/>
              <a:t>Bir </a:t>
            </a:r>
            <a:r>
              <a:rPr lang="tr-TR" dirty="0"/>
              <a:t>ö</a:t>
            </a:r>
            <a:r>
              <a:rPr lang="tr-TR" dirty="0" smtClean="0"/>
              <a:t>ğeyi içerip içermediği test edilebilir,</a:t>
            </a:r>
            <a:endParaRPr lang="tr-TR" dirty="0"/>
          </a:p>
          <a:p>
            <a:pPr lvl="1"/>
            <a:r>
              <a:rPr lang="tr-TR" dirty="0"/>
              <a:t>(4) Öğeleri </a:t>
            </a:r>
            <a:r>
              <a:rPr lang="tr-TR" dirty="0" smtClean="0"/>
              <a:t>akış (</a:t>
            </a:r>
            <a:r>
              <a:rPr lang="tr-TR" dirty="0" err="1" smtClean="0"/>
              <a:t>stream</a:t>
            </a:r>
            <a:r>
              <a:rPr lang="tr-TR" dirty="0" smtClean="0"/>
              <a:t>) </a:t>
            </a:r>
            <a:r>
              <a:rPr lang="tr-TR" dirty="0"/>
              <a:t>üzerinden alınabilir,</a:t>
            </a:r>
          </a:p>
          <a:p>
            <a:pPr lvl="1"/>
            <a:r>
              <a:rPr lang="tr-TR" dirty="0"/>
              <a:t>(5) Öğeleri bir diziye aktarılabilir.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1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List</a:t>
            </a:r>
            <a:r>
              <a:rPr lang="tr-TR" dirty="0" smtClean="0"/>
              <a:t> </a:t>
            </a:r>
            <a:r>
              <a:rPr lang="tr-TR" dirty="0" err="1" smtClean="0"/>
              <a:t>Arayüzü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 smtClean="0"/>
              <a:t>List</a:t>
            </a:r>
            <a:r>
              <a:rPr lang="tr-TR" dirty="0" smtClean="0"/>
              <a:t> </a:t>
            </a:r>
            <a:r>
              <a:rPr lang="tr-TR" dirty="0" err="1"/>
              <a:t>arayüzü</a:t>
            </a:r>
            <a:r>
              <a:rPr lang="tr-TR" dirty="0"/>
              <a:t>, Java </a:t>
            </a:r>
            <a:r>
              <a:rPr lang="tr-TR" dirty="0" err="1"/>
              <a:t>Collections</a:t>
            </a:r>
            <a:r>
              <a:rPr lang="tr-TR" dirty="0"/>
              <a:t> </a:t>
            </a:r>
            <a:r>
              <a:rPr lang="tr-TR" dirty="0" err="1"/>
              <a:t>Framework'ün</a:t>
            </a:r>
            <a:r>
              <a:rPr lang="tr-TR" dirty="0"/>
              <a:t> </a:t>
            </a:r>
            <a:r>
              <a:rPr lang="tr-TR" dirty="0" smtClean="0"/>
              <a:t>üyesidir.</a:t>
            </a:r>
          </a:p>
          <a:p>
            <a:r>
              <a:rPr lang="tr-TR" dirty="0" err="1" smtClean="0"/>
              <a:t>java.util</a:t>
            </a:r>
            <a:r>
              <a:rPr lang="tr-TR" dirty="0" smtClean="0"/>
              <a:t> </a:t>
            </a:r>
            <a:r>
              <a:rPr lang="tr-TR" dirty="0"/>
              <a:t>paketi </a:t>
            </a:r>
            <a:r>
              <a:rPr lang="tr-TR" dirty="0" smtClean="0"/>
              <a:t>içerisinde bulunur.</a:t>
            </a:r>
          </a:p>
          <a:p>
            <a:r>
              <a:rPr lang="tr-TR" dirty="0" err="1" smtClean="0"/>
              <a:t>List</a:t>
            </a:r>
            <a:r>
              <a:rPr lang="tr-TR" dirty="0" smtClean="0"/>
              <a:t> </a:t>
            </a:r>
            <a:r>
              <a:rPr lang="tr-TR" dirty="0" err="1"/>
              <a:t>arayüzünü</a:t>
            </a:r>
            <a:r>
              <a:rPr lang="tr-TR" dirty="0"/>
              <a:t> </a:t>
            </a:r>
            <a:r>
              <a:rPr lang="tr-TR" dirty="0" smtClean="0"/>
              <a:t>gerçekleyen sınıflar kullanılarak </a:t>
            </a:r>
            <a:r>
              <a:rPr lang="tr-TR" dirty="0"/>
              <a:t>listeler oluşturulabilir.</a:t>
            </a:r>
          </a:p>
          <a:p>
            <a:r>
              <a:rPr lang="tr-TR" dirty="0" smtClean="0"/>
              <a:t>Liste</a:t>
            </a:r>
            <a:r>
              <a:rPr lang="tr-TR" dirty="0"/>
              <a:t>, </a:t>
            </a:r>
            <a:r>
              <a:rPr lang="tr-TR" dirty="0" smtClean="0"/>
              <a:t>birden </a:t>
            </a:r>
            <a:r>
              <a:rPr lang="tr-TR" dirty="0"/>
              <a:t>çok öğeyi bir arada saklamak için </a:t>
            </a:r>
            <a:r>
              <a:rPr lang="tr-TR" dirty="0" smtClean="0"/>
              <a:t>kullanılır</a:t>
            </a:r>
            <a:r>
              <a:rPr lang="tr-TR" dirty="0" smtClean="0"/>
              <a:t>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677" y="2779304"/>
            <a:ext cx="3577046" cy="357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2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</a:t>
            </a:r>
            <a:r>
              <a:rPr lang="tr-TR" dirty="0" err="1"/>
              <a:t>Arayüzü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Liste</a:t>
            </a:r>
            <a:r>
              <a:rPr lang="tr-TR" dirty="0"/>
              <a:t>, sıralı bir koleksiyon (aynı zamanda bir dizi) olarak bilinir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Döngü kullanılarak öğeler üzerinde işlemler </a:t>
            </a:r>
            <a:r>
              <a:rPr lang="tr-TR" dirty="0"/>
              <a:t>yapılabilir.</a:t>
            </a:r>
          </a:p>
          <a:p>
            <a:r>
              <a:rPr lang="tr-TR" dirty="0" smtClean="0"/>
              <a:t>Öğelerin</a:t>
            </a:r>
            <a:r>
              <a:rPr lang="nb-NO" dirty="0" smtClean="0"/>
              <a:t> liste</a:t>
            </a:r>
            <a:r>
              <a:rPr lang="tr-TR" dirty="0" smtClean="0"/>
              <a:t>d</a:t>
            </a:r>
            <a:r>
              <a:rPr lang="nb-NO" dirty="0" smtClean="0"/>
              <a:t>e </a:t>
            </a:r>
            <a:r>
              <a:rPr lang="nb-NO" dirty="0"/>
              <a:t>nereye ekleneceği </a:t>
            </a:r>
            <a:r>
              <a:rPr lang="tr-TR" dirty="0" smtClean="0"/>
              <a:t>kullanıcı kontrolündedir</a:t>
            </a:r>
            <a:r>
              <a:rPr lang="nb-NO" dirty="0" smtClean="0"/>
              <a:t>.</a:t>
            </a:r>
            <a:endParaRPr lang="tr-TR" dirty="0" smtClean="0"/>
          </a:p>
          <a:p>
            <a:r>
              <a:rPr lang="tr-TR" dirty="0"/>
              <a:t>Eklenen öğeler, belirli bir </a:t>
            </a:r>
            <a:r>
              <a:rPr lang="tr-TR" dirty="0" smtClean="0"/>
              <a:t>sırada </a:t>
            </a:r>
            <a:r>
              <a:rPr lang="tr-TR" dirty="0"/>
              <a:t>listeye yerleştirilir.</a:t>
            </a:r>
          </a:p>
          <a:p>
            <a:r>
              <a:rPr lang="tr-TR" dirty="0" smtClean="0"/>
              <a:t>Kullanıcı</a:t>
            </a:r>
            <a:r>
              <a:rPr lang="tr-TR" dirty="0"/>
              <a:t>, </a:t>
            </a:r>
            <a:r>
              <a:rPr lang="tr-TR" dirty="0" smtClean="0"/>
              <a:t>öğelere tam </a:t>
            </a:r>
            <a:r>
              <a:rPr lang="tr-TR" dirty="0"/>
              <a:t>sayı indeksleriyle erişebilir.</a:t>
            </a:r>
          </a:p>
          <a:p>
            <a:r>
              <a:rPr lang="tr-TR" dirty="0"/>
              <a:t>Liste içinde öğeleri arayabilir</a:t>
            </a:r>
            <a:r>
              <a:rPr lang="tr-TR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677" y="2779304"/>
            <a:ext cx="3577046" cy="357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2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Liste </a:t>
            </a:r>
            <a:r>
              <a:rPr lang="tr-TR" dirty="0" smtClean="0"/>
              <a:t>Kavramları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Öğe (Element): </a:t>
            </a:r>
            <a:r>
              <a:rPr lang="tr-TR" dirty="0"/>
              <a:t>Listede </a:t>
            </a:r>
            <a:r>
              <a:rPr lang="tr-TR" dirty="0" smtClean="0"/>
              <a:t>depolanan, veri saklayan yapı.</a:t>
            </a:r>
            <a:endParaRPr lang="tr-TR" dirty="0"/>
          </a:p>
          <a:p>
            <a:r>
              <a:rPr lang="tr-TR" b="1" dirty="0"/>
              <a:t>İndeks (Index): </a:t>
            </a:r>
            <a:r>
              <a:rPr lang="tr-TR" dirty="0" smtClean="0"/>
              <a:t>Her </a:t>
            </a:r>
            <a:r>
              <a:rPr lang="tr-TR" dirty="0"/>
              <a:t>öğenin </a:t>
            </a:r>
            <a:r>
              <a:rPr lang="tr-TR" dirty="0" smtClean="0"/>
              <a:t>konumunu belirleyen </a:t>
            </a:r>
            <a:r>
              <a:rPr lang="tr-TR" dirty="0"/>
              <a:t>sayısal değer</a:t>
            </a:r>
            <a:r>
              <a:rPr lang="tr-TR" dirty="0" smtClean="0"/>
              <a:t>.</a:t>
            </a:r>
          </a:p>
          <a:p>
            <a:r>
              <a:rPr lang="tr-TR" b="1" dirty="0" smtClean="0"/>
              <a:t>Boş Liste (</a:t>
            </a:r>
            <a:r>
              <a:rPr lang="tr-TR" b="1" dirty="0" err="1" smtClean="0"/>
              <a:t>Empty</a:t>
            </a:r>
            <a:r>
              <a:rPr lang="tr-TR" b="1" dirty="0" smtClean="0"/>
              <a:t> </a:t>
            </a:r>
            <a:r>
              <a:rPr lang="tr-TR" b="1" dirty="0" err="1" smtClean="0"/>
              <a:t>List</a:t>
            </a:r>
            <a:r>
              <a:rPr lang="tr-TR" b="1" dirty="0" smtClean="0"/>
              <a:t>): </a:t>
            </a:r>
            <a:r>
              <a:rPr lang="tr-TR" dirty="0" smtClean="0"/>
              <a:t>Hiçbir öğe içermeyen liste.</a:t>
            </a:r>
          </a:p>
          <a:p>
            <a:r>
              <a:rPr lang="tr-TR" b="1" dirty="0" smtClean="0"/>
              <a:t>Uzunluk </a:t>
            </a:r>
            <a:r>
              <a:rPr lang="tr-TR" b="1" dirty="0"/>
              <a:t>(</a:t>
            </a:r>
            <a:r>
              <a:rPr lang="tr-TR" b="1" dirty="0" err="1"/>
              <a:t>Length</a:t>
            </a:r>
            <a:r>
              <a:rPr lang="tr-TR" b="1" dirty="0"/>
              <a:t>): </a:t>
            </a:r>
            <a:r>
              <a:rPr lang="tr-TR" dirty="0"/>
              <a:t>Listenin içinde bulunan öğe sayısı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Mutable</a:t>
            </a:r>
            <a:r>
              <a:rPr lang="tr-TR" dirty="0"/>
              <a:t> ve </a:t>
            </a:r>
            <a:r>
              <a:rPr lang="tr-TR" dirty="0" err="1"/>
              <a:t>Immutable</a:t>
            </a:r>
            <a:r>
              <a:rPr lang="tr-TR" dirty="0"/>
              <a:t> Listeler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Mutable</a:t>
            </a:r>
            <a:r>
              <a:rPr lang="tr-TR" dirty="0"/>
              <a:t> (değiştirilebilir) ve </a:t>
            </a:r>
            <a:r>
              <a:rPr lang="tr-TR" dirty="0" err="1"/>
              <a:t>immutable</a:t>
            </a:r>
            <a:r>
              <a:rPr lang="tr-TR" dirty="0"/>
              <a:t> (değiştirilemez) listeler, veri yapılarındaki önemli bir ayrımı temsil eder</a:t>
            </a:r>
            <a:r>
              <a:rPr lang="tr-TR" dirty="0" smtClean="0"/>
              <a:t>.</a:t>
            </a:r>
          </a:p>
          <a:p>
            <a:r>
              <a:rPr lang="tr-TR" dirty="0"/>
              <a:t>Değiştirilebilir listeler, içerdikleri öğelerin değiştirilebileceği listelerdir</a:t>
            </a:r>
            <a:r>
              <a:rPr lang="tr-TR" dirty="0" smtClean="0"/>
              <a:t>.</a:t>
            </a:r>
          </a:p>
          <a:p>
            <a:r>
              <a:rPr lang="tr-TR" dirty="0"/>
              <a:t>Değiştirilemez listeler, bir kez oluşturulduktan </a:t>
            </a:r>
            <a:r>
              <a:rPr lang="tr-TR" dirty="0" smtClean="0"/>
              <a:t>sonra, listede değişiklik yapmak yerine </a:t>
            </a:r>
            <a:r>
              <a:rPr lang="tr-TR" dirty="0"/>
              <a:t>bir </a:t>
            </a:r>
            <a:r>
              <a:rPr lang="tr-TR" dirty="0" smtClean="0"/>
              <a:t>kopyası oluşturulur.</a:t>
            </a:r>
            <a:endParaRPr lang="tr-TR" dirty="0"/>
          </a:p>
          <a:p>
            <a:r>
              <a:rPr lang="tr-TR" dirty="0"/>
              <a:t>Fonksiyonel </a:t>
            </a:r>
            <a:r>
              <a:rPr lang="tr-TR" dirty="0" smtClean="0"/>
              <a:t>programlamanın </a:t>
            </a:r>
            <a:r>
              <a:rPr lang="tr-TR" dirty="0"/>
              <a:t>temel mekanizmalarından </a:t>
            </a:r>
            <a:r>
              <a:rPr lang="tr-TR" dirty="0" smtClean="0"/>
              <a:t>biridir.</a:t>
            </a:r>
          </a:p>
          <a:p>
            <a:r>
              <a:rPr lang="tr-TR" dirty="0" smtClean="0"/>
              <a:t>"</a:t>
            </a:r>
            <a:r>
              <a:rPr lang="tr-TR" dirty="0" err="1"/>
              <a:t>persistent</a:t>
            </a:r>
            <a:r>
              <a:rPr lang="tr-TR" dirty="0"/>
              <a:t> data </a:t>
            </a:r>
            <a:r>
              <a:rPr lang="tr-TR" dirty="0" err="1"/>
              <a:t>structure</a:t>
            </a:r>
            <a:r>
              <a:rPr lang="tr-TR" dirty="0"/>
              <a:t>" </a:t>
            </a:r>
            <a:r>
              <a:rPr lang="tr-TR" dirty="0" smtClean="0"/>
              <a:t>kavramı ile ilişkilidir.</a:t>
            </a:r>
          </a:p>
          <a:p>
            <a:r>
              <a:rPr lang="tr-TR" dirty="0"/>
              <a:t>Dayanıklı veri yapıları, değiştirilemez veri yapılarından </a:t>
            </a:r>
            <a:r>
              <a:rPr lang="tr-TR" dirty="0" smtClean="0"/>
              <a:t>türetilir.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88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</a:t>
            </a:r>
            <a:r>
              <a:rPr lang="tr-TR" dirty="0" smtClean="0"/>
              <a:t>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Ekleme (</a:t>
            </a:r>
            <a:r>
              <a:rPr lang="tr-TR" b="1" dirty="0" err="1"/>
              <a:t>Append</a:t>
            </a:r>
            <a:r>
              <a:rPr lang="tr-TR" b="1" dirty="0"/>
              <a:t>): </a:t>
            </a:r>
            <a:r>
              <a:rPr lang="tr-TR" dirty="0"/>
              <a:t>Yeni bir </a:t>
            </a:r>
            <a:r>
              <a:rPr lang="tr-TR" dirty="0" smtClean="0"/>
              <a:t>öğeyi </a:t>
            </a:r>
            <a:r>
              <a:rPr lang="tr-TR" dirty="0"/>
              <a:t>listenin sonuna </a:t>
            </a:r>
            <a:r>
              <a:rPr lang="tr-TR" dirty="0" smtClean="0"/>
              <a:t>ekler</a:t>
            </a:r>
            <a:r>
              <a:rPr lang="tr-TR" dirty="0"/>
              <a:t>.</a:t>
            </a:r>
          </a:p>
          <a:p>
            <a:r>
              <a:rPr lang="tr-TR" b="1" dirty="0"/>
              <a:t>Silme (</a:t>
            </a:r>
            <a:r>
              <a:rPr lang="tr-TR" b="1" dirty="0" err="1"/>
              <a:t>Remove</a:t>
            </a:r>
            <a:r>
              <a:rPr lang="tr-TR" b="1" dirty="0"/>
              <a:t>): </a:t>
            </a:r>
            <a:r>
              <a:rPr lang="tr-TR" dirty="0"/>
              <a:t>Belirli bir </a:t>
            </a:r>
            <a:r>
              <a:rPr lang="tr-TR" dirty="0" smtClean="0"/>
              <a:t>öğeyi </a:t>
            </a:r>
            <a:r>
              <a:rPr lang="tr-TR" dirty="0"/>
              <a:t>listeden çıkarır.</a:t>
            </a:r>
          </a:p>
          <a:p>
            <a:r>
              <a:rPr lang="tr-TR" b="1" dirty="0"/>
              <a:t>İndeksleme (</a:t>
            </a:r>
            <a:r>
              <a:rPr lang="tr-TR" b="1" dirty="0" err="1"/>
              <a:t>Indexing</a:t>
            </a:r>
            <a:r>
              <a:rPr lang="tr-TR" b="1" dirty="0"/>
              <a:t>): </a:t>
            </a:r>
            <a:r>
              <a:rPr lang="tr-TR" dirty="0"/>
              <a:t>Belirli bir öğeye indeksle erişim sağlar.</a:t>
            </a:r>
          </a:p>
          <a:p>
            <a:r>
              <a:rPr lang="tr-TR" b="1" dirty="0"/>
              <a:t>Dilimleme (</a:t>
            </a:r>
            <a:r>
              <a:rPr lang="tr-TR" b="1" dirty="0" err="1"/>
              <a:t>Slicing</a:t>
            </a:r>
            <a:r>
              <a:rPr lang="tr-TR" b="1" dirty="0"/>
              <a:t>): </a:t>
            </a:r>
            <a:r>
              <a:rPr lang="tr-TR" dirty="0"/>
              <a:t>Liste </a:t>
            </a:r>
            <a:r>
              <a:rPr lang="tr-TR" dirty="0" smtClean="0"/>
              <a:t>içinde </a:t>
            </a:r>
            <a:r>
              <a:rPr lang="tr-TR" dirty="0"/>
              <a:t>bir aralığı </a:t>
            </a:r>
            <a:r>
              <a:rPr lang="tr-TR" dirty="0" smtClean="0"/>
              <a:t>seçer.</a:t>
            </a:r>
            <a:endParaRPr lang="tr-TR" dirty="0"/>
          </a:p>
          <a:p>
            <a:r>
              <a:rPr lang="tr-TR" b="1" dirty="0"/>
              <a:t>Uzunluk (</a:t>
            </a:r>
            <a:r>
              <a:rPr lang="tr-TR" b="1" dirty="0" err="1"/>
              <a:t>Length</a:t>
            </a:r>
            <a:r>
              <a:rPr lang="tr-TR" b="1" dirty="0"/>
              <a:t>): </a:t>
            </a:r>
            <a:r>
              <a:rPr lang="tr-TR" dirty="0"/>
              <a:t>Listenin öğe sayısını döndürür.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4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</a:t>
            </a:r>
            <a:r>
              <a:rPr lang="tr-TR" dirty="0" smtClean="0"/>
              <a:t>Arayüzünün Ana </a:t>
            </a:r>
            <a:r>
              <a:rPr lang="tr-TR" dirty="0" err="1"/>
              <a:t>Metodları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r>
              <a:rPr lang="tr-TR" dirty="0" smtClean="0"/>
              <a:t>Ekleme </a:t>
            </a:r>
            <a:r>
              <a:rPr lang="tr-TR" dirty="0"/>
              <a:t>(</a:t>
            </a:r>
            <a:r>
              <a:rPr lang="tr-TR" dirty="0" err="1"/>
              <a:t>Add</a:t>
            </a:r>
            <a:r>
              <a:rPr lang="tr-TR" dirty="0"/>
              <a:t>)</a:t>
            </a:r>
          </a:p>
          <a:p>
            <a:pPr lvl="1"/>
            <a:r>
              <a:rPr lang="tr-TR" b="1" dirty="0" err="1" smtClean="0"/>
              <a:t>add</a:t>
            </a:r>
            <a:r>
              <a:rPr lang="tr-TR" b="1" dirty="0" smtClean="0"/>
              <a:t>(E </a:t>
            </a:r>
            <a:r>
              <a:rPr lang="tr-TR" b="1" dirty="0"/>
              <a:t>e): </a:t>
            </a:r>
            <a:r>
              <a:rPr lang="tr-TR" dirty="0"/>
              <a:t>Liste sonuna bir eleman ekler.</a:t>
            </a:r>
          </a:p>
          <a:p>
            <a:pPr lvl="1"/>
            <a:r>
              <a:rPr lang="tr-TR" b="1" dirty="0" err="1"/>
              <a:t>add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, E element): </a:t>
            </a:r>
            <a:r>
              <a:rPr lang="tr-TR" dirty="0"/>
              <a:t>Belirli bir indekse eleman ekler.</a:t>
            </a:r>
          </a:p>
          <a:p>
            <a:r>
              <a:rPr lang="tr-TR" dirty="0" smtClean="0"/>
              <a:t>Çıkarma </a:t>
            </a:r>
            <a:r>
              <a:rPr lang="tr-TR" dirty="0"/>
              <a:t>(</a:t>
            </a:r>
            <a:r>
              <a:rPr lang="tr-TR" dirty="0" err="1"/>
              <a:t>Remove</a:t>
            </a:r>
            <a:r>
              <a:rPr lang="tr-TR" dirty="0"/>
              <a:t>)</a:t>
            </a:r>
          </a:p>
          <a:p>
            <a:pPr lvl="1"/>
            <a:r>
              <a:rPr lang="tr-TR" b="1" dirty="0" err="1" smtClean="0"/>
              <a:t>remove</a:t>
            </a:r>
            <a:r>
              <a:rPr lang="tr-TR" b="1" dirty="0" smtClean="0"/>
              <a:t>(Object </a:t>
            </a:r>
            <a:r>
              <a:rPr lang="tr-TR" b="1" dirty="0"/>
              <a:t>o): </a:t>
            </a:r>
            <a:r>
              <a:rPr lang="tr-TR" dirty="0"/>
              <a:t>Belirli bir elemanı listeden </a:t>
            </a:r>
            <a:r>
              <a:rPr lang="tr-TR" dirty="0" smtClean="0"/>
              <a:t>çıkarır.</a:t>
            </a:r>
            <a:endParaRPr lang="tr-TR" dirty="0"/>
          </a:p>
          <a:p>
            <a:pPr lvl="1"/>
            <a:r>
              <a:rPr lang="tr-TR" b="1" dirty="0" err="1"/>
              <a:t>remove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/>
              <a:t>Belirli bir indeksteki elemanı </a:t>
            </a:r>
            <a:r>
              <a:rPr lang="tr-TR" dirty="0" smtClean="0"/>
              <a:t>çıkarır.</a:t>
            </a:r>
            <a:endParaRPr lang="tr-TR" dirty="0"/>
          </a:p>
          <a:p>
            <a:r>
              <a:rPr lang="tr-TR" dirty="0" smtClean="0"/>
              <a:t>Erişim </a:t>
            </a:r>
            <a:r>
              <a:rPr lang="tr-TR" dirty="0"/>
              <a:t>(</a:t>
            </a:r>
            <a:r>
              <a:rPr lang="tr-TR" dirty="0" err="1"/>
              <a:t>Get</a:t>
            </a:r>
            <a:r>
              <a:rPr lang="tr-TR" dirty="0"/>
              <a:t>)</a:t>
            </a:r>
          </a:p>
          <a:p>
            <a:pPr lvl="1"/>
            <a:r>
              <a:rPr lang="tr-TR" b="1" dirty="0" err="1" smtClean="0"/>
              <a:t>get</a:t>
            </a:r>
            <a:r>
              <a:rPr lang="tr-TR" b="1" dirty="0" smtClean="0"/>
              <a:t>(</a:t>
            </a:r>
            <a:r>
              <a:rPr lang="tr-TR" b="1" dirty="0" err="1" smtClean="0"/>
              <a:t>int</a:t>
            </a:r>
            <a:r>
              <a:rPr lang="tr-TR" b="1" dirty="0" smtClean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/>
              <a:t>Belirli bir indeksteki elemanı döndürür.</a:t>
            </a:r>
          </a:p>
          <a:p>
            <a:r>
              <a:rPr lang="tr-TR" dirty="0"/>
              <a:t>Liste Uzunluğu (Size)</a:t>
            </a:r>
          </a:p>
          <a:p>
            <a:pPr lvl="1"/>
            <a:r>
              <a:rPr lang="tr-TR" b="1" dirty="0" smtClean="0"/>
              <a:t>size</a:t>
            </a:r>
            <a:r>
              <a:rPr lang="tr-TR" b="1" dirty="0"/>
              <a:t>(): </a:t>
            </a:r>
            <a:r>
              <a:rPr lang="tr-TR" dirty="0"/>
              <a:t>Listenin uzunluğunu döndürür.</a:t>
            </a:r>
          </a:p>
          <a:p>
            <a:r>
              <a:rPr lang="tr-TR" dirty="0"/>
              <a:t>Döngülerle Kullanım</a:t>
            </a:r>
          </a:p>
          <a:p>
            <a:pPr lvl="1"/>
            <a:r>
              <a:rPr lang="tr-TR" dirty="0" smtClean="0"/>
              <a:t>Liste </a:t>
            </a:r>
            <a:r>
              <a:rPr lang="tr-TR" dirty="0"/>
              <a:t>elemanları üzerinde döngülerle işlem </a:t>
            </a:r>
            <a:r>
              <a:rPr lang="tr-TR" dirty="0" smtClean="0"/>
              <a:t>yapılabilir.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47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List</a:t>
            </a:r>
            <a:r>
              <a:rPr lang="tr-TR" dirty="0" smtClean="0"/>
              <a:t> Demo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sz="3100" dirty="0" smtClean="0"/>
              <a:t>Yinelemeli öğelerin eklenmesine olanak </a:t>
            </a:r>
            <a:r>
              <a:rPr lang="tr-TR" sz="3100" dirty="0"/>
              <a:t>tanır. </a:t>
            </a:r>
            <a:endParaRPr lang="tr-TR" sz="3100" dirty="0" smtClean="0"/>
          </a:p>
          <a:p>
            <a:endParaRPr lang="tr-TR" dirty="0" smtClean="0"/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ListDemo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"Ali"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"Ali"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"Ali"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8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List</a:t>
            </a:r>
            <a:r>
              <a:rPr lang="tr-TR" dirty="0"/>
              <a:t>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sz="3100" dirty="0" smtClean="0"/>
              <a:t>'</a:t>
            </a:r>
            <a:r>
              <a:rPr lang="tr-TR" sz="3100" dirty="0" err="1" smtClean="0"/>
              <a:t>null</a:t>
            </a:r>
            <a:r>
              <a:rPr lang="tr-TR" sz="3100" dirty="0"/>
              <a:t>' öğeler </a:t>
            </a:r>
            <a:r>
              <a:rPr lang="tr-TR" sz="3100" dirty="0" smtClean="0"/>
              <a:t>içerebilir.</a:t>
            </a:r>
          </a:p>
          <a:p>
            <a:endParaRPr lang="tr-TR" dirty="0" smtClean="0"/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ListDemo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"Ali"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  <a:p>
            <a:endParaRPr lang="tr-TR" dirty="0" smtClean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5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smtClean="0"/>
              <a:t>Demo - </a:t>
            </a:r>
            <a:r>
              <a:rPr lang="tr-TR" dirty="0" err="1" smtClean="0"/>
              <a:t>replaceAll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"Ali"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"Ahmet"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"Mehmet"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.replaceAll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.toUpperCase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[ALI, AHMET, MEHMET]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8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smtClean="0"/>
              <a:t>Demo - </a:t>
            </a:r>
            <a:r>
              <a:rPr lang="tr-TR" dirty="0" err="1" smtClean="0"/>
              <a:t>sort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(5);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(3);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.sort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sayi1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sayi2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-&gt;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Integer.</a:t>
            </a:r>
            <a:r>
              <a:rPr lang="tr-TR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compare</a:t>
            </a:r>
            <a:r>
              <a:rPr lang="tr-TR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sayi1</a:t>
            </a:r>
            <a:r>
              <a:rPr lang="tr-TR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tr-TR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sayi2</a:t>
            </a:r>
            <a:r>
              <a:rPr lang="tr-TR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b="1" i="1" dirty="0">
                <a:solidFill>
                  <a:srgbClr val="3F7F5F"/>
                </a:solidFill>
                <a:latin typeface="Consolas" panose="020B0609020204030204" pitchFamily="49" charset="0"/>
              </a:rPr>
              <a:t>// [1, 3, 5]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Sercan KÜLCÜ,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53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smtClean="0"/>
              <a:t>Demo </a:t>
            </a:r>
            <a:r>
              <a:rPr lang="tr-TR" dirty="0" smtClean="0"/>
              <a:t>- </a:t>
            </a:r>
            <a:r>
              <a:rPr lang="tr-TR" dirty="0" err="1" smtClean="0"/>
              <a:t>spliterator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kelimeler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kelimeler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"Java"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kelimeler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Python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kelimeler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"C++"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Spliterator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split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kelimeler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.spliterator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plit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.tryAdvance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kelime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-&gt;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6A3E3E"/>
                </a:solidFill>
                <a:latin typeface="Consolas" panose="020B0609020204030204" pitchFamily="49" charset="0"/>
              </a:rPr>
              <a:t>kelime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)))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do something with the word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9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smtClean="0"/>
              <a:t>Demo - </a:t>
            </a:r>
            <a:r>
              <a:rPr lang="tr-TR" dirty="0" err="1" smtClean="0"/>
              <a:t>get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İndeksler </a:t>
            </a:r>
            <a:r>
              <a:rPr lang="tr-TR" dirty="0"/>
              <a:t>0'dan başlar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"Ali"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"Ahmet"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"Mehmet"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ilkIsim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.get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(0);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ilkIsim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61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List</a:t>
            </a:r>
            <a:r>
              <a:rPr lang="tr-TR" dirty="0"/>
              <a:t> </a:t>
            </a:r>
            <a:r>
              <a:rPr lang="tr-TR" dirty="0" smtClean="0"/>
              <a:t>Demo - </a:t>
            </a:r>
            <a:r>
              <a:rPr lang="tr-TR" dirty="0" err="1" smtClean="0"/>
              <a:t>Generics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List</a:t>
            </a:r>
            <a:r>
              <a:rPr lang="tr-TR" dirty="0"/>
              <a:t>, </a:t>
            </a:r>
            <a:r>
              <a:rPr lang="tr-TR" dirty="0" err="1"/>
              <a:t>Generics'i</a:t>
            </a:r>
            <a:r>
              <a:rPr lang="tr-TR" dirty="0"/>
              <a:t> </a:t>
            </a:r>
            <a:r>
              <a:rPr lang="tr-TR" dirty="0" smtClean="0"/>
              <a:t>destekler.</a:t>
            </a:r>
          </a:p>
          <a:p>
            <a:endParaRPr lang="tr-TR" dirty="0" smtClean="0"/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"Ali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indent="0" algn="l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sayilar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(5);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37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Koleksiyonları Gezmek İçin Üç Yol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(1) </a:t>
            </a:r>
            <a:r>
              <a:rPr lang="tr-TR" dirty="0" err="1" smtClean="0"/>
              <a:t>for</a:t>
            </a:r>
            <a:r>
              <a:rPr lang="tr-TR" dirty="0"/>
              <a:t> </a:t>
            </a:r>
            <a:r>
              <a:rPr lang="tr-TR" dirty="0" smtClean="0"/>
              <a:t>döngüsü, koleksiyon elemanlarını indeks </a:t>
            </a:r>
            <a:r>
              <a:rPr lang="tr-TR" dirty="0"/>
              <a:t>kullanarak </a:t>
            </a:r>
            <a:r>
              <a:rPr lang="tr-TR" dirty="0" smtClean="0"/>
              <a:t>gezinmek.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collection.size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Element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element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collection.get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/>
          </a:p>
          <a:p>
            <a:r>
              <a:rPr lang="tr-TR" dirty="0"/>
              <a:t>(2) </a:t>
            </a:r>
            <a:r>
              <a:rPr lang="tr-TR" dirty="0" err="1"/>
              <a:t>forEach</a:t>
            </a:r>
            <a:r>
              <a:rPr lang="tr-TR" dirty="0"/>
              <a:t> m</a:t>
            </a:r>
            <a:r>
              <a:rPr lang="tr-TR" dirty="0" smtClean="0"/>
              <a:t>etodu, koleksiyonlar </a:t>
            </a:r>
            <a:r>
              <a:rPr lang="tr-TR" dirty="0"/>
              <a:t>üzerinde </a:t>
            </a:r>
            <a:r>
              <a:rPr lang="tr-TR" dirty="0" smtClean="0"/>
              <a:t>kullanılan bir </a:t>
            </a:r>
            <a:r>
              <a:rPr lang="tr-TR" dirty="0"/>
              <a:t>fonksiyondur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collection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.forEach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tr-TR" dirty="0" smtClean="0"/>
          </a:p>
          <a:p>
            <a:r>
              <a:rPr lang="tr-TR" dirty="0"/>
              <a:t>(3) </a:t>
            </a:r>
            <a:r>
              <a:rPr lang="tr-TR" dirty="0" err="1" smtClean="0"/>
              <a:t>Iterator</a:t>
            </a:r>
            <a:r>
              <a:rPr lang="tr-TR" dirty="0" smtClean="0"/>
              <a:t>, koleksiyon üzerinde </a:t>
            </a:r>
            <a:r>
              <a:rPr lang="tr-TR" dirty="0"/>
              <a:t>eleman </a:t>
            </a:r>
            <a:r>
              <a:rPr lang="tr-TR" dirty="0" err="1"/>
              <a:t>eleman</a:t>
            </a:r>
            <a:r>
              <a:rPr lang="tr-TR" dirty="0"/>
              <a:t> gezmek için </a:t>
            </a:r>
            <a:r>
              <a:rPr lang="tr-TR" dirty="0" smtClean="0"/>
              <a:t>kullanılır.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Iterator&lt;Element&gt; iterator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collection.iterator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iterator.hasNext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Element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element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iterator.next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6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Iterator</a:t>
            </a:r>
            <a:r>
              <a:rPr lang="tr-TR" dirty="0" smtClean="0"/>
              <a:t> </a:t>
            </a:r>
            <a:r>
              <a:rPr lang="tr-TR" dirty="0" err="1"/>
              <a:t>Arayüzü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Koleksiyonda elemanlar </a:t>
            </a:r>
            <a:r>
              <a:rPr lang="tr-TR" dirty="0"/>
              <a:t>üzerinde </a:t>
            </a:r>
            <a:r>
              <a:rPr lang="tr-TR" dirty="0" smtClean="0"/>
              <a:t>gezinmeyi sağlar.</a:t>
            </a:r>
          </a:p>
          <a:p>
            <a:r>
              <a:rPr lang="tr-TR" dirty="0" err="1"/>
              <a:t>Iterator</a:t>
            </a:r>
            <a:r>
              <a:rPr lang="tr-TR" dirty="0"/>
              <a:t> </a:t>
            </a:r>
            <a:r>
              <a:rPr lang="tr-TR" dirty="0" err="1" smtClean="0"/>
              <a:t>metodları</a:t>
            </a:r>
            <a:r>
              <a:rPr lang="tr-TR" dirty="0" smtClean="0"/>
              <a:t>:</a:t>
            </a:r>
            <a:endParaRPr lang="tr-TR" dirty="0"/>
          </a:p>
          <a:p>
            <a:pPr lvl="1"/>
            <a:r>
              <a:rPr lang="tr-TR" dirty="0" err="1" smtClean="0"/>
              <a:t>hasNext</a:t>
            </a:r>
            <a:r>
              <a:rPr lang="tr-TR" dirty="0" smtClean="0"/>
              <a:t>(): Listede gezinirken sona gelinip gelinmediğini söyler.</a:t>
            </a:r>
            <a:endParaRPr lang="tr-TR" dirty="0"/>
          </a:p>
          <a:p>
            <a:pPr lvl="1"/>
            <a:r>
              <a:rPr lang="tr-TR" dirty="0" err="1"/>
              <a:t>next</a:t>
            </a:r>
            <a:r>
              <a:rPr lang="tr-TR" dirty="0"/>
              <a:t>(): Listede gezinirken bir sonraki </a:t>
            </a:r>
            <a:r>
              <a:rPr lang="tr-TR" dirty="0" smtClean="0"/>
              <a:t>öğeye geçmeyi sağlar. Liste sonuna gelindiğinde </a:t>
            </a:r>
            <a:r>
              <a:rPr lang="tr-TR" dirty="0" err="1" smtClean="0"/>
              <a:t>NoSuchElementException</a:t>
            </a:r>
            <a:r>
              <a:rPr lang="tr-TR" dirty="0" smtClean="0"/>
              <a:t> </a:t>
            </a:r>
            <a:r>
              <a:rPr lang="tr-TR" dirty="0"/>
              <a:t>fırlatır.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0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Iterator</a:t>
            </a:r>
            <a:r>
              <a:rPr lang="tr-TR" dirty="0" smtClean="0"/>
              <a:t> Demo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.hasNext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31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ListIterator</a:t>
            </a:r>
            <a:r>
              <a:rPr lang="tr-TR" dirty="0"/>
              <a:t> </a:t>
            </a:r>
            <a:r>
              <a:rPr lang="tr-TR" dirty="0" err="1"/>
              <a:t>Arayüzü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ListIterator</a:t>
            </a:r>
            <a:r>
              <a:rPr lang="tr-TR" dirty="0"/>
              <a:t>, </a:t>
            </a:r>
            <a:r>
              <a:rPr lang="tr-TR" dirty="0" err="1"/>
              <a:t>List</a:t>
            </a:r>
            <a:r>
              <a:rPr lang="tr-TR" dirty="0"/>
              <a:t> koleksiyonları </a:t>
            </a:r>
            <a:r>
              <a:rPr lang="tr-TR" dirty="0" smtClean="0"/>
              <a:t>üzerinde gezinmeyi sağlar.</a:t>
            </a:r>
          </a:p>
          <a:p>
            <a:r>
              <a:rPr lang="tr-TR" dirty="0" err="1" smtClean="0"/>
              <a:t>Iterator</a:t>
            </a:r>
            <a:r>
              <a:rPr lang="tr-TR" dirty="0" smtClean="0"/>
              <a:t> </a:t>
            </a:r>
            <a:r>
              <a:rPr lang="tr-TR" dirty="0" err="1" smtClean="0"/>
              <a:t>arayüzüne</a:t>
            </a:r>
            <a:r>
              <a:rPr lang="tr-TR" dirty="0" smtClean="0"/>
              <a:t> kıyasla ek </a:t>
            </a:r>
            <a:r>
              <a:rPr lang="tr-TR" dirty="0"/>
              <a:t>özellikler sağlar:</a:t>
            </a:r>
          </a:p>
          <a:p>
            <a:pPr lvl="1"/>
            <a:r>
              <a:rPr lang="tr-TR" dirty="0" smtClean="0"/>
              <a:t>İki </a:t>
            </a:r>
            <a:r>
              <a:rPr lang="tr-TR" dirty="0"/>
              <a:t>yönde </a:t>
            </a:r>
            <a:r>
              <a:rPr lang="tr-TR" dirty="0" smtClean="0"/>
              <a:t>de gezinebilme.</a:t>
            </a:r>
            <a:endParaRPr lang="tr-TR" dirty="0"/>
          </a:p>
          <a:p>
            <a:pPr lvl="1"/>
            <a:r>
              <a:rPr lang="tr-TR" dirty="0" smtClean="0"/>
              <a:t>Gezinme sırasında listeye ekleme</a:t>
            </a:r>
            <a:r>
              <a:rPr lang="tr-TR" dirty="0"/>
              <a:t>, </a:t>
            </a:r>
            <a:r>
              <a:rPr lang="tr-TR" dirty="0" smtClean="0"/>
              <a:t>çıkarma ve güncelleme yapabilme.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8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ListIterator</a:t>
            </a:r>
            <a:r>
              <a:rPr lang="tr-TR" dirty="0" smtClean="0"/>
              <a:t> </a:t>
            </a:r>
            <a:r>
              <a:rPr lang="tr-TR" dirty="0" err="1" smtClean="0"/>
              <a:t>Metodları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tr-TR" dirty="0" err="1"/>
              <a:t>hasNext</a:t>
            </a:r>
            <a:r>
              <a:rPr lang="tr-TR" dirty="0"/>
              <a:t>() - Listede gezinirken sona gelinip gelinmediğini söyler</a:t>
            </a:r>
            <a:r>
              <a:rPr lang="tr-TR" dirty="0" smtClean="0"/>
              <a:t>.</a:t>
            </a:r>
            <a:endParaRPr lang="tr-TR" dirty="0"/>
          </a:p>
          <a:p>
            <a:r>
              <a:rPr lang="tr-TR" dirty="0" err="1"/>
              <a:t>next</a:t>
            </a:r>
            <a:r>
              <a:rPr lang="tr-TR" dirty="0"/>
              <a:t>() - Listede gezinirken bir sonraki öğeye geçmeyi sağlar.</a:t>
            </a:r>
          </a:p>
          <a:p>
            <a:pPr marL="228600" lvl="1">
              <a:spcBef>
                <a:spcPts val="1000"/>
              </a:spcBef>
            </a:pPr>
            <a:r>
              <a:rPr lang="tr-TR" dirty="0" err="1"/>
              <a:t>hasPrevious</a:t>
            </a:r>
            <a:r>
              <a:rPr lang="tr-TR" dirty="0"/>
              <a:t>() - Listede gezinirken başa gelinip gelinmediğini söyler.</a:t>
            </a:r>
          </a:p>
          <a:p>
            <a:r>
              <a:rPr lang="tr-TR" dirty="0" err="1" smtClean="0"/>
              <a:t>previous</a:t>
            </a:r>
            <a:r>
              <a:rPr lang="tr-TR" dirty="0"/>
              <a:t>() - Listede gezinirken bir </a:t>
            </a:r>
            <a:r>
              <a:rPr lang="tr-TR" dirty="0" smtClean="0"/>
              <a:t>önceki </a:t>
            </a:r>
            <a:r>
              <a:rPr lang="tr-TR" dirty="0"/>
              <a:t>öğeye geçmeyi sağlar </a:t>
            </a:r>
            <a:endParaRPr lang="tr-TR" dirty="0" smtClean="0"/>
          </a:p>
          <a:p>
            <a:r>
              <a:rPr lang="tr-TR" dirty="0" err="1" smtClean="0"/>
              <a:t>add</a:t>
            </a:r>
            <a:r>
              <a:rPr lang="tr-TR" dirty="0"/>
              <a:t>() - Listeye geçerli öğeden önce yeni bir öğe ekler.</a:t>
            </a:r>
          </a:p>
          <a:p>
            <a:r>
              <a:rPr lang="tr-TR" dirty="0" err="1"/>
              <a:t>remove</a:t>
            </a:r>
            <a:r>
              <a:rPr lang="tr-TR" dirty="0"/>
              <a:t>() - Geçerli öğeyi listeden </a:t>
            </a:r>
            <a:r>
              <a:rPr lang="tr-TR" dirty="0" smtClean="0"/>
              <a:t>çıkarır.</a:t>
            </a:r>
            <a:endParaRPr lang="tr-TR" dirty="0"/>
          </a:p>
          <a:p>
            <a:r>
              <a:rPr lang="tr-TR" dirty="0" smtClean="0"/>
              <a:t>set</a:t>
            </a:r>
            <a:r>
              <a:rPr lang="tr-TR" dirty="0"/>
              <a:t>() - Listedeki geçerli öğeyi yeni bir öğeyle değiştirir.</a:t>
            </a:r>
          </a:p>
          <a:p>
            <a:r>
              <a:rPr lang="tr-TR" dirty="0" err="1" smtClean="0"/>
              <a:t>nextIndex</a:t>
            </a:r>
            <a:r>
              <a:rPr lang="tr-TR" dirty="0"/>
              <a:t>() - Listedeki bir sonraki öğenin </a:t>
            </a:r>
            <a:r>
              <a:rPr lang="tr-TR" dirty="0" smtClean="0"/>
              <a:t>indeksini döndürür.</a:t>
            </a:r>
            <a:endParaRPr lang="tr-TR" dirty="0"/>
          </a:p>
          <a:p>
            <a:r>
              <a:rPr lang="tr-TR" dirty="0" err="1"/>
              <a:t>previousIndex</a:t>
            </a:r>
            <a:r>
              <a:rPr lang="tr-TR" dirty="0"/>
              <a:t>() - Listedeki bir önceki öğenin </a:t>
            </a:r>
            <a:r>
              <a:rPr lang="tr-TR" dirty="0" smtClean="0"/>
              <a:t>indeksini döndürür.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388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ListIterator</a:t>
            </a:r>
            <a:r>
              <a:rPr lang="tr-TR" dirty="0" smtClean="0"/>
              <a:t> Demo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isimler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.listIterator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Listeyi ileri yönde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gez.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.hasNext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Listeyi ters yönde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gez.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.hasPrevious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iterator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.previous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isim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52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</a:t>
            </a:r>
            <a:r>
              <a:rPr lang="tr-TR" dirty="0" err="1" smtClean="0"/>
              <a:t>Arayüzünü</a:t>
            </a:r>
            <a:r>
              <a:rPr lang="tr-TR" dirty="0" smtClean="0"/>
              <a:t> Uygulayan Sınıflar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 smtClean="0"/>
              <a:t>ArrayList</a:t>
            </a:r>
            <a:endParaRPr lang="tr-TR" dirty="0"/>
          </a:p>
          <a:p>
            <a:r>
              <a:rPr lang="tr-TR" dirty="0" err="1" smtClean="0"/>
              <a:t>LinkedList</a:t>
            </a:r>
            <a:endParaRPr lang="tr-TR" dirty="0"/>
          </a:p>
          <a:p>
            <a:r>
              <a:rPr lang="tr-TR" dirty="0" err="1" smtClean="0"/>
              <a:t>Vector</a:t>
            </a:r>
            <a:endParaRPr lang="tr-TR" dirty="0"/>
          </a:p>
          <a:p>
            <a:r>
              <a:rPr lang="tr-TR" dirty="0" err="1" smtClean="0"/>
              <a:t>Stack</a:t>
            </a:r>
            <a:endParaRPr lang="tr-TR" dirty="0"/>
          </a:p>
          <a:p>
            <a:r>
              <a:rPr lang="tr-TR" dirty="0" err="1" smtClean="0"/>
              <a:t>CopyOnWriteArrayList</a:t>
            </a:r>
            <a:endParaRPr lang="tr-TR" dirty="0"/>
          </a:p>
          <a:p>
            <a:r>
              <a:rPr lang="tr-TR" dirty="0" err="1" smtClean="0"/>
              <a:t>Arrays.asList</a:t>
            </a:r>
            <a:r>
              <a:rPr lang="tr-TR" dirty="0" smtClean="0"/>
              <a:t>()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771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</a:t>
            </a:r>
            <a:r>
              <a:rPr lang="tr-TR" dirty="0" err="1" smtClean="0"/>
              <a:t>Arayüzünü</a:t>
            </a:r>
            <a:r>
              <a:rPr lang="tr-TR" dirty="0" smtClean="0"/>
              <a:t> Uygulayan Sınıflar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ArrayList</a:t>
            </a:r>
            <a:r>
              <a:rPr lang="tr-TR" b="1" dirty="0" smtClean="0"/>
              <a:t>:</a:t>
            </a:r>
          </a:p>
          <a:p>
            <a:pPr lvl="1"/>
            <a:r>
              <a:rPr lang="tr-TR" dirty="0"/>
              <a:t>İhtiyaca göre büyüyebilen veya küçülebilen </a:t>
            </a:r>
            <a:r>
              <a:rPr lang="tr-TR" dirty="0" smtClean="0"/>
              <a:t>dinamik dizi.</a:t>
            </a:r>
            <a:endParaRPr lang="tr-TR" dirty="0"/>
          </a:p>
          <a:p>
            <a:pPr lvl="1"/>
            <a:r>
              <a:rPr lang="tr-TR" dirty="0"/>
              <a:t>Öğelere hızlı rastgele erişim sağlar.</a:t>
            </a:r>
          </a:p>
          <a:p>
            <a:pPr lvl="1"/>
            <a:r>
              <a:rPr lang="tr-TR" dirty="0" smtClean="0"/>
              <a:t>Sık </a:t>
            </a:r>
            <a:r>
              <a:rPr lang="tr-TR" dirty="0"/>
              <a:t>sık ekleme veya silme gerektirmeyen senaryolar için uygundur.</a:t>
            </a:r>
          </a:p>
          <a:p>
            <a:r>
              <a:rPr lang="tr-TR" dirty="0" err="1" smtClean="0"/>
              <a:t>LinkedList</a:t>
            </a:r>
            <a:r>
              <a:rPr lang="tr-TR" dirty="0"/>
              <a:t>:</a:t>
            </a:r>
          </a:p>
          <a:p>
            <a:r>
              <a:rPr lang="tr-TR" dirty="0" err="1" smtClean="0"/>
              <a:t>Vector</a:t>
            </a:r>
            <a:r>
              <a:rPr lang="tr-TR" dirty="0"/>
              <a:t>:</a:t>
            </a:r>
          </a:p>
          <a:p>
            <a:r>
              <a:rPr lang="tr-TR" dirty="0" err="1" smtClean="0"/>
              <a:t>Stack</a:t>
            </a:r>
            <a:r>
              <a:rPr lang="tr-TR" dirty="0"/>
              <a:t>:</a:t>
            </a:r>
          </a:p>
          <a:p>
            <a:r>
              <a:rPr lang="tr-TR" dirty="0" err="1" smtClean="0"/>
              <a:t>CopyOnWriteArrayList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Arrays.asList</a:t>
            </a:r>
            <a:r>
              <a:rPr lang="tr-TR" dirty="0" smtClean="0"/>
              <a:t>():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4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</a:t>
            </a:r>
            <a:r>
              <a:rPr lang="tr-TR" dirty="0" err="1" smtClean="0"/>
              <a:t>Arayüzünü</a:t>
            </a:r>
            <a:r>
              <a:rPr lang="tr-TR" dirty="0" smtClean="0"/>
              <a:t> Uygulayan Sınıflar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ArrayList</a:t>
            </a:r>
            <a:r>
              <a:rPr lang="tr-TR" dirty="0"/>
              <a:t>:</a:t>
            </a:r>
          </a:p>
          <a:p>
            <a:r>
              <a:rPr lang="tr-TR" b="1" dirty="0" err="1" smtClean="0"/>
              <a:t>LinkedList</a:t>
            </a:r>
            <a:r>
              <a:rPr lang="tr-TR" b="1" dirty="0" smtClean="0"/>
              <a:t>:</a:t>
            </a:r>
          </a:p>
          <a:p>
            <a:pPr lvl="1"/>
            <a:r>
              <a:rPr lang="tr-TR" dirty="0"/>
              <a:t>Çift yönlü bağlı </a:t>
            </a:r>
            <a:r>
              <a:rPr lang="tr-TR" dirty="0" smtClean="0"/>
              <a:t>liste </a:t>
            </a:r>
            <a:r>
              <a:rPr lang="tr-TR" dirty="0"/>
              <a:t>uygular, her öğe önceki ve sonraki öğelere bağlıdır.</a:t>
            </a:r>
          </a:p>
          <a:p>
            <a:pPr lvl="1"/>
            <a:r>
              <a:rPr lang="tr-TR" dirty="0"/>
              <a:t>Sık sık ekleme veya silme gerektiren senaryolar için uygundur.</a:t>
            </a:r>
          </a:p>
          <a:p>
            <a:pPr lvl="1"/>
            <a:r>
              <a:rPr lang="tr-TR" dirty="0"/>
              <a:t>Hızlı ekleme ve silme sağlar, </a:t>
            </a:r>
            <a:endParaRPr lang="tr-TR" dirty="0" smtClean="0"/>
          </a:p>
          <a:p>
            <a:pPr lvl="1"/>
            <a:r>
              <a:rPr lang="tr-TR" dirty="0" err="1" smtClean="0"/>
              <a:t>ArrayList'e</a:t>
            </a:r>
            <a:r>
              <a:rPr lang="tr-TR" dirty="0" smtClean="0"/>
              <a:t> </a:t>
            </a:r>
            <a:r>
              <a:rPr lang="tr-TR" dirty="0"/>
              <a:t>kıyasla rastgele erişim </a:t>
            </a:r>
            <a:r>
              <a:rPr lang="tr-TR" dirty="0" smtClean="0"/>
              <a:t>yavaştır.</a:t>
            </a:r>
            <a:endParaRPr lang="tr-TR" dirty="0"/>
          </a:p>
          <a:p>
            <a:r>
              <a:rPr lang="tr-TR" dirty="0" err="1" smtClean="0"/>
              <a:t>Vector</a:t>
            </a:r>
            <a:r>
              <a:rPr lang="tr-TR" dirty="0"/>
              <a:t>:</a:t>
            </a:r>
          </a:p>
          <a:p>
            <a:r>
              <a:rPr lang="tr-TR" dirty="0" err="1" smtClean="0"/>
              <a:t>Stack</a:t>
            </a:r>
            <a:r>
              <a:rPr lang="tr-TR" dirty="0"/>
              <a:t>:</a:t>
            </a:r>
          </a:p>
          <a:p>
            <a:r>
              <a:rPr lang="tr-TR" dirty="0" err="1" smtClean="0"/>
              <a:t>CopyOnWriteArrayList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Arrays.asList</a:t>
            </a:r>
            <a:r>
              <a:rPr lang="tr-TR" dirty="0" smtClean="0"/>
              <a:t>():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19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</a:t>
            </a:r>
            <a:r>
              <a:rPr lang="tr-TR" dirty="0" err="1" smtClean="0"/>
              <a:t>Arayüzünü</a:t>
            </a:r>
            <a:r>
              <a:rPr lang="tr-TR" dirty="0" smtClean="0"/>
              <a:t> Uygulayan Sınıflar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LinkedList</a:t>
            </a:r>
            <a:r>
              <a:rPr lang="tr-TR" dirty="0"/>
              <a:t>:</a:t>
            </a:r>
          </a:p>
          <a:p>
            <a:r>
              <a:rPr lang="tr-TR" b="1" dirty="0" err="1" smtClean="0"/>
              <a:t>Vector</a:t>
            </a:r>
            <a:r>
              <a:rPr lang="tr-TR" b="1" dirty="0" smtClean="0"/>
              <a:t>:</a:t>
            </a:r>
          </a:p>
          <a:p>
            <a:pPr lvl="1"/>
            <a:r>
              <a:rPr lang="tr-TR" dirty="0" err="1"/>
              <a:t>ArrayList'e</a:t>
            </a:r>
            <a:r>
              <a:rPr lang="tr-TR" dirty="0"/>
              <a:t> benzer, ancak </a:t>
            </a:r>
            <a:r>
              <a:rPr lang="tr-TR" dirty="0" smtClean="0"/>
              <a:t>eşzamanlıdır (</a:t>
            </a:r>
            <a:r>
              <a:rPr lang="tr-TR" dirty="0" err="1" smtClean="0"/>
              <a:t>synchronized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Çoklu </a:t>
            </a:r>
            <a:r>
              <a:rPr lang="tr-TR" dirty="0"/>
              <a:t>iş </a:t>
            </a:r>
            <a:r>
              <a:rPr lang="tr-TR" dirty="0" smtClean="0"/>
              <a:t>parçacıklarında güvenle kullanılabilir.</a:t>
            </a:r>
            <a:endParaRPr lang="tr-TR" dirty="0"/>
          </a:p>
          <a:p>
            <a:pPr lvl="1"/>
            <a:r>
              <a:rPr lang="tr-TR" dirty="0" smtClean="0"/>
              <a:t>Senkronizasyon sağlaması nedeniyle performans sorunu yaşanabilir.</a:t>
            </a:r>
            <a:endParaRPr lang="tr-TR" dirty="0"/>
          </a:p>
          <a:p>
            <a:r>
              <a:rPr lang="tr-TR" dirty="0" err="1" smtClean="0"/>
              <a:t>Stack</a:t>
            </a:r>
            <a:r>
              <a:rPr lang="tr-TR" dirty="0"/>
              <a:t>:</a:t>
            </a:r>
          </a:p>
          <a:p>
            <a:r>
              <a:rPr lang="tr-TR" dirty="0" err="1" smtClean="0"/>
              <a:t>CopyOnWriteArrayList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Arrays.asList</a:t>
            </a:r>
            <a:r>
              <a:rPr lang="tr-TR" dirty="0" smtClean="0"/>
              <a:t>():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8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</a:t>
            </a:r>
            <a:r>
              <a:rPr lang="tr-TR" dirty="0" err="1" smtClean="0"/>
              <a:t>Arayüzünü</a:t>
            </a:r>
            <a:r>
              <a:rPr lang="tr-TR" dirty="0" smtClean="0"/>
              <a:t> Uygulayan Popüler Sınıflar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LinkedList</a:t>
            </a:r>
            <a:r>
              <a:rPr lang="tr-TR" dirty="0"/>
              <a:t>:</a:t>
            </a:r>
          </a:p>
          <a:p>
            <a:r>
              <a:rPr lang="tr-TR" dirty="0" err="1" smtClean="0"/>
              <a:t>Vector</a:t>
            </a:r>
            <a:r>
              <a:rPr lang="tr-TR" dirty="0"/>
              <a:t>:</a:t>
            </a:r>
          </a:p>
          <a:p>
            <a:r>
              <a:rPr lang="tr-TR" b="1" dirty="0" err="1" smtClean="0"/>
              <a:t>Stack</a:t>
            </a:r>
            <a:r>
              <a:rPr lang="tr-TR" b="1" dirty="0" smtClean="0"/>
              <a:t>:</a:t>
            </a:r>
          </a:p>
          <a:p>
            <a:pPr lvl="1"/>
            <a:r>
              <a:rPr lang="tr-TR" dirty="0" smtClean="0"/>
              <a:t>Yığın veri </a:t>
            </a:r>
            <a:r>
              <a:rPr lang="tr-TR" dirty="0"/>
              <a:t>yapısını </a:t>
            </a:r>
            <a:r>
              <a:rPr lang="tr-TR" dirty="0" smtClean="0"/>
              <a:t>uygular.</a:t>
            </a:r>
            <a:endParaRPr lang="tr-TR" dirty="0"/>
          </a:p>
          <a:p>
            <a:pPr lvl="1"/>
            <a:r>
              <a:rPr lang="tr-TR" dirty="0" smtClean="0"/>
              <a:t>Standart </a:t>
            </a:r>
            <a:r>
              <a:rPr lang="tr-TR" dirty="0" err="1" smtClean="0"/>
              <a:t>push</a:t>
            </a:r>
            <a:r>
              <a:rPr lang="tr-TR" dirty="0" smtClean="0"/>
              <a:t> ve pop işlemlerini </a:t>
            </a:r>
            <a:r>
              <a:rPr lang="tr-TR" dirty="0"/>
              <a:t>destekler.</a:t>
            </a:r>
          </a:p>
          <a:p>
            <a:r>
              <a:rPr lang="tr-TR" dirty="0" err="1" smtClean="0"/>
              <a:t>CopyOnWriteArrayList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Arrays.asList</a:t>
            </a:r>
            <a:r>
              <a:rPr lang="tr-TR" dirty="0" smtClean="0"/>
              <a:t>():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3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</a:t>
            </a:r>
            <a:r>
              <a:rPr lang="tr-TR" dirty="0" err="1" smtClean="0"/>
              <a:t>Arayüzünü</a:t>
            </a:r>
            <a:r>
              <a:rPr lang="tr-TR" dirty="0" smtClean="0"/>
              <a:t> Uygulayan Popüler Sınıflar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LinkedList</a:t>
            </a:r>
            <a:r>
              <a:rPr lang="tr-TR" dirty="0"/>
              <a:t>:</a:t>
            </a:r>
          </a:p>
          <a:p>
            <a:r>
              <a:rPr lang="tr-TR" dirty="0" err="1" smtClean="0"/>
              <a:t>Vector</a:t>
            </a:r>
            <a:r>
              <a:rPr lang="tr-TR" dirty="0"/>
              <a:t>:</a:t>
            </a:r>
          </a:p>
          <a:p>
            <a:r>
              <a:rPr lang="tr-TR" dirty="0" err="1" smtClean="0"/>
              <a:t>Stack</a:t>
            </a:r>
            <a:r>
              <a:rPr lang="tr-TR" dirty="0"/>
              <a:t>:</a:t>
            </a:r>
          </a:p>
          <a:p>
            <a:r>
              <a:rPr lang="tr-TR" b="1" dirty="0" err="1" smtClean="0"/>
              <a:t>CopyOnWriteArrayList</a:t>
            </a:r>
            <a:r>
              <a:rPr lang="tr-TR" b="1" dirty="0" smtClean="0"/>
              <a:t>:</a:t>
            </a:r>
          </a:p>
          <a:p>
            <a:pPr lvl="1"/>
            <a:r>
              <a:rPr lang="tr-TR" dirty="0"/>
              <a:t>Senkronizasyon </a:t>
            </a:r>
            <a:r>
              <a:rPr lang="tr-TR" dirty="0" smtClean="0"/>
              <a:t>yükü olmadan </a:t>
            </a:r>
            <a:r>
              <a:rPr lang="tr-TR" dirty="0"/>
              <a:t>iş parçacıkları arası güvenlik sağlar.</a:t>
            </a:r>
          </a:p>
          <a:p>
            <a:pPr lvl="1"/>
            <a:r>
              <a:rPr lang="tr-TR" dirty="0"/>
              <a:t>Listenin sık </a:t>
            </a:r>
            <a:r>
              <a:rPr lang="tr-TR" dirty="0" smtClean="0"/>
              <a:t>gezildiği</a:t>
            </a:r>
            <a:r>
              <a:rPr lang="tr-TR" dirty="0"/>
              <a:t>, </a:t>
            </a:r>
            <a:r>
              <a:rPr lang="tr-TR" dirty="0" smtClean="0"/>
              <a:t>nadiren </a:t>
            </a:r>
            <a:r>
              <a:rPr lang="tr-TR" dirty="0"/>
              <a:t>değiştirildiği senaryolar için tasarlanmıştır.</a:t>
            </a:r>
          </a:p>
          <a:p>
            <a:pPr lvl="1"/>
            <a:r>
              <a:rPr lang="tr-TR" dirty="0" smtClean="0"/>
              <a:t>Liste güncellendiğinde, listenin yeni </a:t>
            </a:r>
            <a:r>
              <a:rPr lang="tr-TR" dirty="0"/>
              <a:t>bir </a:t>
            </a:r>
            <a:r>
              <a:rPr lang="tr-TR" dirty="0" smtClean="0"/>
              <a:t>kopyası oluşturulur. </a:t>
            </a:r>
          </a:p>
          <a:p>
            <a:pPr lvl="1"/>
            <a:r>
              <a:rPr lang="tr-TR" dirty="0" smtClean="0"/>
              <a:t>Büyük </a:t>
            </a:r>
            <a:r>
              <a:rPr lang="tr-TR" dirty="0"/>
              <a:t>listeler için </a:t>
            </a:r>
            <a:r>
              <a:rPr lang="tr-TR" dirty="0" smtClean="0"/>
              <a:t>bellek ve </a:t>
            </a:r>
            <a:r>
              <a:rPr lang="tr-TR" dirty="0"/>
              <a:t>performans </a:t>
            </a:r>
            <a:r>
              <a:rPr lang="tr-TR" dirty="0" smtClean="0"/>
              <a:t>maliyetli </a:t>
            </a:r>
            <a:r>
              <a:rPr lang="tr-TR" dirty="0"/>
              <a:t>olabilir.</a:t>
            </a:r>
          </a:p>
          <a:p>
            <a:r>
              <a:rPr lang="tr-TR" dirty="0" err="1" smtClean="0"/>
              <a:t>Arrays.asList</a:t>
            </a:r>
            <a:r>
              <a:rPr lang="tr-TR" dirty="0" smtClean="0"/>
              <a:t>():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0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</a:t>
            </a:r>
            <a:r>
              <a:rPr lang="tr-TR" dirty="0" err="1" smtClean="0"/>
              <a:t>Arayüzünü</a:t>
            </a:r>
            <a:r>
              <a:rPr lang="tr-TR" dirty="0" smtClean="0"/>
              <a:t> Uygulayan Popüler Sınıflar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ArrayList</a:t>
            </a:r>
            <a:r>
              <a:rPr lang="tr-TR" dirty="0"/>
              <a:t>:</a:t>
            </a:r>
          </a:p>
          <a:p>
            <a:r>
              <a:rPr lang="tr-TR" dirty="0" err="1" smtClean="0"/>
              <a:t>LinkedList</a:t>
            </a:r>
            <a:r>
              <a:rPr lang="tr-TR" dirty="0"/>
              <a:t>:</a:t>
            </a:r>
          </a:p>
          <a:p>
            <a:r>
              <a:rPr lang="tr-TR" dirty="0" err="1" smtClean="0"/>
              <a:t>Vector</a:t>
            </a:r>
            <a:r>
              <a:rPr lang="tr-TR" dirty="0"/>
              <a:t>:</a:t>
            </a:r>
          </a:p>
          <a:p>
            <a:r>
              <a:rPr lang="tr-TR" dirty="0" err="1" smtClean="0"/>
              <a:t>Stack</a:t>
            </a:r>
            <a:r>
              <a:rPr lang="tr-TR" dirty="0"/>
              <a:t>:</a:t>
            </a:r>
          </a:p>
          <a:p>
            <a:r>
              <a:rPr lang="tr-TR" dirty="0" err="1" smtClean="0"/>
              <a:t>CopyOnWriteArrayList</a:t>
            </a:r>
            <a:r>
              <a:rPr lang="tr-TR" dirty="0"/>
              <a:t>:</a:t>
            </a:r>
          </a:p>
          <a:p>
            <a:r>
              <a:rPr lang="tr-TR" b="1" dirty="0" err="1" smtClean="0"/>
              <a:t>Arrays.asList</a:t>
            </a:r>
            <a:r>
              <a:rPr lang="tr-TR" b="1" dirty="0" smtClean="0"/>
              <a:t>():</a:t>
            </a:r>
          </a:p>
          <a:p>
            <a:pPr lvl="1"/>
            <a:r>
              <a:rPr lang="tr-TR" dirty="0" smtClean="0"/>
              <a:t>Verilen diziyi </a:t>
            </a:r>
            <a:r>
              <a:rPr lang="tr-TR" dirty="0"/>
              <a:t>bir </a:t>
            </a:r>
            <a:r>
              <a:rPr lang="tr-TR" dirty="0" err="1"/>
              <a:t>List'e</a:t>
            </a:r>
            <a:r>
              <a:rPr lang="tr-TR" dirty="0"/>
              <a:t> dönüştürür.</a:t>
            </a:r>
          </a:p>
          <a:p>
            <a:pPr lvl="1"/>
            <a:r>
              <a:rPr lang="tr-TR" dirty="0"/>
              <a:t>Elde edilen </a:t>
            </a:r>
            <a:r>
              <a:rPr lang="tr-TR" dirty="0" err="1"/>
              <a:t>List</a:t>
            </a:r>
            <a:r>
              <a:rPr lang="tr-TR" dirty="0"/>
              <a:t>, sabit boyutludur ve değiştirilemez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75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ArrayList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Dinamik </a:t>
            </a:r>
            <a:r>
              <a:rPr lang="tr-TR" dirty="0"/>
              <a:t>bir dizi oluşturmak için kullanılır.</a:t>
            </a:r>
          </a:p>
          <a:p>
            <a:r>
              <a:rPr lang="tr-TR" dirty="0"/>
              <a:t>Standart dizilere </a:t>
            </a:r>
            <a:r>
              <a:rPr lang="tr-TR" dirty="0" smtClean="0"/>
              <a:t>kıyasla;</a:t>
            </a:r>
          </a:p>
          <a:p>
            <a:pPr lvl="1"/>
            <a:r>
              <a:rPr lang="tr-TR" dirty="0" smtClean="0"/>
              <a:t>İşlemler uzun sürer. </a:t>
            </a:r>
          </a:p>
          <a:p>
            <a:pPr lvl="1"/>
            <a:r>
              <a:rPr lang="tr-TR" dirty="0" smtClean="0"/>
              <a:t>Boyutu </a:t>
            </a:r>
            <a:r>
              <a:rPr lang="tr-TR" dirty="0"/>
              <a:t>dinamik olarak büyütülebilir.</a:t>
            </a:r>
          </a:p>
          <a:p>
            <a:pPr lvl="1"/>
            <a:r>
              <a:rPr lang="tr-TR" dirty="0" smtClean="0"/>
              <a:t>Öğe </a:t>
            </a:r>
            <a:r>
              <a:rPr lang="tr-TR" dirty="0"/>
              <a:t>eklemek </a:t>
            </a:r>
            <a:r>
              <a:rPr lang="tr-TR" dirty="0" smtClean="0"/>
              <a:t>ve </a:t>
            </a:r>
            <a:r>
              <a:rPr lang="tr-TR" dirty="0"/>
              <a:t>çıkarmak kolaydır.</a:t>
            </a:r>
          </a:p>
          <a:p>
            <a:pPr lvl="1"/>
            <a:r>
              <a:rPr lang="tr-TR" dirty="0" smtClean="0"/>
              <a:t>Öğelerle </a:t>
            </a:r>
            <a:r>
              <a:rPr lang="tr-TR" dirty="0"/>
              <a:t>daha fazla işlem yapma esnekliği sağlar.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05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ArrayList</a:t>
            </a:r>
            <a:r>
              <a:rPr lang="tr-TR" dirty="0" smtClean="0"/>
              <a:t> Kullanımı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add</a:t>
            </a:r>
            <a:r>
              <a:rPr lang="tr-TR" b="1" dirty="0"/>
              <a:t>(E e): </a:t>
            </a:r>
            <a:r>
              <a:rPr lang="tr-TR" dirty="0" smtClean="0"/>
              <a:t>Listeye eleman </a:t>
            </a:r>
            <a:r>
              <a:rPr lang="tr-TR" dirty="0"/>
              <a:t>ekleme</a:t>
            </a:r>
          </a:p>
          <a:p>
            <a:r>
              <a:rPr lang="tr-TR" b="1" dirty="0" err="1"/>
              <a:t>remove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 smtClean="0"/>
              <a:t>Verilen indeksteki </a:t>
            </a:r>
            <a:r>
              <a:rPr lang="tr-TR" dirty="0"/>
              <a:t>elemanı </a:t>
            </a:r>
            <a:r>
              <a:rPr lang="tr-TR" dirty="0" smtClean="0"/>
              <a:t>listeden çıkarma</a:t>
            </a:r>
            <a:endParaRPr lang="tr-TR" dirty="0"/>
          </a:p>
          <a:p>
            <a:r>
              <a:rPr lang="tr-TR" b="1" dirty="0" err="1"/>
              <a:t>get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 smtClean="0"/>
              <a:t>Verilen </a:t>
            </a:r>
            <a:r>
              <a:rPr lang="tr-TR" dirty="0"/>
              <a:t>indeksteki elemana erişim</a:t>
            </a:r>
          </a:p>
          <a:p>
            <a:r>
              <a:rPr lang="tr-TR" b="1" dirty="0"/>
              <a:t>size(): </a:t>
            </a:r>
            <a:r>
              <a:rPr lang="tr-TR" dirty="0"/>
              <a:t>Listenin uzunluğunu alma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04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LinkedList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Bağlı </a:t>
            </a:r>
            <a:r>
              <a:rPr lang="tr-TR" dirty="0"/>
              <a:t>liste veri yapısını </a:t>
            </a:r>
            <a:r>
              <a:rPr lang="tr-TR" dirty="0" smtClean="0"/>
              <a:t>uygular</a:t>
            </a:r>
            <a:r>
              <a:rPr lang="tr-TR" dirty="0"/>
              <a:t>.</a:t>
            </a:r>
          </a:p>
          <a:p>
            <a:r>
              <a:rPr lang="tr-TR" dirty="0" smtClean="0"/>
              <a:t>Öğeler bellekte ardışık </a:t>
            </a:r>
            <a:r>
              <a:rPr lang="tr-TR" dirty="0"/>
              <a:t>konumlarda </a:t>
            </a:r>
            <a:r>
              <a:rPr lang="tr-TR" dirty="0" smtClean="0"/>
              <a:t>saklanmaz. </a:t>
            </a:r>
          </a:p>
          <a:p>
            <a:r>
              <a:rPr lang="tr-TR" dirty="0" smtClean="0"/>
              <a:t>Her </a:t>
            </a:r>
            <a:r>
              <a:rPr lang="tr-TR" dirty="0"/>
              <a:t>öğe, </a:t>
            </a:r>
            <a:r>
              <a:rPr lang="tr-TR" b="1" dirty="0"/>
              <a:t>veri</a:t>
            </a:r>
            <a:r>
              <a:rPr lang="tr-TR" dirty="0"/>
              <a:t> </a:t>
            </a:r>
            <a:r>
              <a:rPr lang="tr-TR" dirty="0" smtClean="0"/>
              <a:t>ve </a:t>
            </a:r>
            <a:r>
              <a:rPr lang="tr-TR" b="1" dirty="0"/>
              <a:t>adres</a:t>
            </a:r>
            <a:r>
              <a:rPr lang="tr-TR" dirty="0"/>
              <a:t> kısmı olan </a:t>
            </a:r>
            <a:r>
              <a:rPr lang="tr-TR" dirty="0" smtClean="0"/>
              <a:t>birbirinden farklı birer </a:t>
            </a:r>
            <a:r>
              <a:rPr lang="tr-TR" dirty="0"/>
              <a:t>nesnedir.</a:t>
            </a:r>
          </a:p>
          <a:p>
            <a:r>
              <a:rPr lang="tr-TR" dirty="0"/>
              <a:t>Öğeler, </a:t>
            </a:r>
            <a:r>
              <a:rPr lang="tr-TR" dirty="0" smtClean="0"/>
              <a:t>adres kısmı </a:t>
            </a:r>
            <a:r>
              <a:rPr lang="tr-TR" dirty="0"/>
              <a:t>kullanılarak birbirine </a:t>
            </a:r>
            <a:r>
              <a:rPr lang="tr-TR" dirty="0" smtClean="0"/>
              <a:t>bağlanır. </a:t>
            </a:r>
          </a:p>
          <a:p>
            <a:r>
              <a:rPr lang="tr-TR" dirty="0" smtClean="0"/>
              <a:t>Her </a:t>
            </a:r>
            <a:r>
              <a:rPr lang="tr-TR" dirty="0"/>
              <a:t>öğeye "düğüm" denir</a:t>
            </a:r>
            <a:r>
              <a:rPr lang="tr-TR" dirty="0" smtClean="0"/>
              <a:t>.</a:t>
            </a:r>
          </a:p>
          <a:p>
            <a:r>
              <a:rPr lang="tr-TR" dirty="0"/>
              <a:t>Rastgele erişim performansı </a:t>
            </a:r>
            <a:r>
              <a:rPr lang="tr-TR" dirty="0" smtClean="0"/>
              <a:t>düşüktür. ??</a:t>
            </a:r>
            <a:endParaRPr lang="tr-TR" dirty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LinkedList</a:t>
            </a:r>
            <a:r>
              <a:rPr lang="tr-TR" dirty="0" smtClean="0"/>
              <a:t> Kullanımı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 smtClean="0"/>
              <a:t>add</a:t>
            </a:r>
            <a:r>
              <a:rPr lang="tr-TR" b="1" dirty="0" smtClean="0"/>
              <a:t>(E </a:t>
            </a:r>
            <a:r>
              <a:rPr lang="tr-TR" b="1" dirty="0"/>
              <a:t>e): </a:t>
            </a:r>
            <a:r>
              <a:rPr lang="tr-TR" dirty="0"/>
              <a:t>Listeye eleman ekleme</a:t>
            </a:r>
          </a:p>
          <a:p>
            <a:r>
              <a:rPr lang="tr-TR" b="1" dirty="0" err="1"/>
              <a:t>remove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/>
              <a:t>Verilen indeksteki elemanı listeden çıkarma</a:t>
            </a:r>
          </a:p>
          <a:p>
            <a:r>
              <a:rPr lang="tr-TR" b="1" dirty="0" err="1"/>
              <a:t>get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/>
              <a:t>Verilen indeksteki elemana erişim</a:t>
            </a:r>
          </a:p>
          <a:p>
            <a:r>
              <a:rPr lang="tr-TR" b="1" dirty="0"/>
              <a:t>size(): </a:t>
            </a:r>
            <a:r>
              <a:rPr lang="tr-TR" dirty="0"/>
              <a:t>Listenin uzunluğunu alma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3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Vector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Boyutu dinamik olarak değişebilen bir dizi uygular.</a:t>
            </a:r>
            <a:endParaRPr lang="tr-TR" dirty="0"/>
          </a:p>
          <a:p>
            <a:r>
              <a:rPr lang="tr-TR" dirty="0" smtClean="0"/>
              <a:t>İhtiyaca </a:t>
            </a:r>
            <a:r>
              <a:rPr lang="tr-TR" dirty="0"/>
              <a:t>göre </a:t>
            </a:r>
            <a:r>
              <a:rPr lang="tr-TR" dirty="0" smtClean="0"/>
              <a:t>büyüyebilir, küçülebilir.</a:t>
            </a:r>
            <a:endParaRPr lang="tr-TR" dirty="0"/>
          </a:p>
          <a:p>
            <a:r>
              <a:rPr lang="tr-TR" dirty="0" smtClean="0"/>
              <a:t>Diziyi </a:t>
            </a:r>
            <a:r>
              <a:rPr lang="tr-TR" dirty="0"/>
              <a:t>andırır, </a:t>
            </a:r>
            <a:r>
              <a:rPr lang="tr-TR" dirty="0" smtClean="0"/>
              <a:t>öğelere indeks </a:t>
            </a:r>
            <a:r>
              <a:rPr lang="tr-TR" dirty="0"/>
              <a:t>kullanılarak </a:t>
            </a:r>
            <a:r>
              <a:rPr lang="tr-TR" dirty="0" smtClean="0"/>
              <a:t>erişilebilir.</a:t>
            </a:r>
          </a:p>
          <a:p>
            <a:r>
              <a:rPr lang="tr-TR" dirty="0" err="1"/>
              <a:t>Concurrent</a:t>
            </a:r>
            <a:r>
              <a:rPr lang="tr-TR" dirty="0"/>
              <a:t> (eşzamanlı) işlemler için uygun değildir.</a:t>
            </a:r>
            <a:endParaRPr lang="tr-TR" dirty="0" smtClean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6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Vector</a:t>
            </a:r>
            <a:r>
              <a:rPr lang="tr-TR" dirty="0" smtClean="0"/>
              <a:t> Kullanımı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add</a:t>
            </a:r>
            <a:r>
              <a:rPr lang="tr-TR" b="1" dirty="0"/>
              <a:t>(E e): </a:t>
            </a:r>
            <a:r>
              <a:rPr lang="tr-TR" dirty="0"/>
              <a:t>Listeye eleman ekleme</a:t>
            </a:r>
          </a:p>
          <a:p>
            <a:r>
              <a:rPr lang="tr-TR" b="1" dirty="0" err="1"/>
              <a:t>remove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/>
              <a:t>Verilen indeksteki elemanı listeden çıkarma</a:t>
            </a:r>
          </a:p>
          <a:p>
            <a:r>
              <a:rPr lang="tr-TR" b="1" dirty="0" err="1"/>
              <a:t>get</a:t>
            </a:r>
            <a:r>
              <a:rPr lang="tr-TR" b="1" dirty="0"/>
              <a:t>(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b="1" dirty="0" err="1"/>
              <a:t>index</a:t>
            </a:r>
            <a:r>
              <a:rPr lang="tr-TR" b="1" dirty="0"/>
              <a:t>): </a:t>
            </a:r>
            <a:r>
              <a:rPr lang="tr-TR" dirty="0"/>
              <a:t>Verilen indeksteki elemana erişim</a:t>
            </a:r>
          </a:p>
          <a:p>
            <a:r>
              <a:rPr lang="tr-TR" b="1" dirty="0"/>
              <a:t>size(): </a:t>
            </a:r>
            <a:r>
              <a:rPr lang="tr-TR" dirty="0"/>
              <a:t>Listenin uzunluğunu alma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Stack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Vektör </a:t>
            </a:r>
            <a:r>
              <a:rPr lang="tr-TR" dirty="0"/>
              <a:t>sınıfını genişletir ve Yığın (</a:t>
            </a:r>
            <a:r>
              <a:rPr lang="tr-TR" dirty="0" err="1"/>
              <a:t>Stack</a:t>
            </a:r>
            <a:r>
              <a:rPr lang="tr-TR" dirty="0"/>
              <a:t>) veri yapısını uygular.</a:t>
            </a:r>
          </a:p>
          <a:p>
            <a:r>
              <a:rPr lang="tr-TR" dirty="0" smtClean="0"/>
              <a:t>Son </a:t>
            </a:r>
            <a:r>
              <a:rPr lang="tr-TR" dirty="0"/>
              <a:t>giren ilk çıkar (</a:t>
            </a:r>
            <a:r>
              <a:rPr lang="tr-TR" dirty="0" err="1"/>
              <a:t>last</a:t>
            </a:r>
            <a:r>
              <a:rPr lang="tr-TR" dirty="0"/>
              <a:t>-in-</a:t>
            </a:r>
            <a:r>
              <a:rPr lang="tr-TR" dirty="0" err="1"/>
              <a:t>first</a:t>
            </a:r>
            <a:r>
              <a:rPr lang="tr-TR" dirty="0"/>
              <a:t>-</a:t>
            </a:r>
            <a:r>
              <a:rPr lang="tr-TR" dirty="0" err="1"/>
              <a:t>out</a:t>
            </a:r>
            <a:r>
              <a:rPr lang="tr-TR" dirty="0"/>
              <a:t>) ilkesine </a:t>
            </a:r>
            <a:r>
              <a:rPr lang="tr-TR" dirty="0" smtClean="0"/>
              <a:t>dayanarak işlem yapar.</a:t>
            </a:r>
          </a:p>
          <a:p>
            <a:r>
              <a:rPr lang="tr-TR" dirty="0"/>
              <a:t>Geri alma (</a:t>
            </a:r>
            <a:r>
              <a:rPr lang="tr-TR" dirty="0" err="1"/>
              <a:t>undo</a:t>
            </a:r>
            <a:r>
              <a:rPr lang="tr-TR" dirty="0" smtClean="0"/>
              <a:t>), yeniden uygula (</a:t>
            </a:r>
            <a:r>
              <a:rPr lang="tr-TR" dirty="0" err="1" smtClean="0"/>
              <a:t>redo</a:t>
            </a:r>
            <a:r>
              <a:rPr lang="tr-TR" dirty="0" smtClean="0"/>
              <a:t>) </a:t>
            </a:r>
            <a:r>
              <a:rPr lang="tr-TR" dirty="0"/>
              <a:t>işlemleri için kullanışlıdır</a:t>
            </a:r>
            <a:r>
              <a:rPr lang="tr-TR" dirty="0" smtClean="0"/>
              <a:t>.</a:t>
            </a:r>
          </a:p>
          <a:p>
            <a:r>
              <a:rPr lang="tr-TR" dirty="0" smtClean="0"/>
              <a:t>İşlemler yığının en üstünde bulunan </a:t>
            </a:r>
            <a:r>
              <a:rPr lang="tr-TR" dirty="0"/>
              <a:t>elemanı etkiler.</a:t>
            </a:r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65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Stack</a:t>
            </a:r>
            <a:r>
              <a:rPr lang="tr-TR" dirty="0"/>
              <a:t>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 err="1"/>
              <a:t>push</a:t>
            </a:r>
            <a:r>
              <a:rPr lang="tr-TR" b="1" dirty="0"/>
              <a:t>(E e): </a:t>
            </a:r>
            <a:r>
              <a:rPr lang="tr-TR" dirty="0" smtClean="0"/>
              <a:t>Yığına eleman ekler</a:t>
            </a:r>
            <a:endParaRPr lang="tr-TR" dirty="0"/>
          </a:p>
          <a:p>
            <a:r>
              <a:rPr lang="tr-TR" b="1" dirty="0"/>
              <a:t>pop(): </a:t>
            </a:r>
            <a:r>
              <a:rPr lang="tr-TR" dirty="0" smtClean="0"/>
              <a:t>Üstteki </a:t>
            </a:r>
            <a:r>
              <a:rPr lang="tr-TR" dirty="0"/>
              <a:t>elemanı </a:t>
            </a:r>
            <a:r>
              <a:rPr lang="tr-TR" dirty="0" smtClean="0"/>
              <a:t>çıkarır</a:t>
            </a:r>
            <a:endParaRPr lang="tr-TR" dirty="0"/>
          </a:p>
          <a:p>
            <a:r>
              <a:rPr lang="tr-TR" b="1" dirty="0" err="1"/>
              <a:t>empty</a:t>
            </a:r>
            <a:r>
              <a:rPr lang="tr-TR" b="1" dirty="0"/>
              <a:t>(): </a:t>
            </a:r>
            <a:r>
              <a:rPr lang="tr-TR" dirty="0" smtClean="0"/>
              <a:t>Yığının </a:t>
            </a:r>
            <a:r>
              <a:rPr lang="tr-TR" dirty="0"/>
              <a:t>boş </a:t>
            </a:r>
            <a:r>
              <a:rPr lang="tr-TR" dirty="0" smtClean="0"/>
              <a:t>olup olmadığını söyler</a:t>
            </a:r>
            <a:endParaRPr lang="tr-TR" dirty="0"/>
          </a:p>
          <a:p>
            <a:r>
              <a:rPr lang="tr-TR" b="1" dirty="0" err="1"/>
              <a:t>search</a:t>
            </a:r>
            <a:r>
              <a:rPr lang="tr-TR" b="1" dirty="0"/>
              <a:t>(Object o): </a:t>
            </a:r>
            <a:r>
              <a:rPr lang="tr-TR" dirty="0" smtClean="0"/>
              <a:t>Verilen elemanın yığındaki indeksini döner</a:t>
            </a:r>
            <a:endParaRPr lang="tr-TR" dirty="0"/>
          </a:p>
          <a:p>
            <a:r>
              <a:rPr lang="tr-TR" b="1" dirty="0" err="1"/>
              <a:t>peek</a:t>
            </a:r>
            <a:r>
              <a:rPr lang="tr-TR" b="1" dirty="0"/>
              <a:t>(): </a:t>
            </a:r>
            <a:r>
              <a:rPr lang="tr-TR" dirty="0" smtClean="0"/>
              <a:t>Yığının üstünde bulunan elemanı döndürür, yığından çıkarmaz.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2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CopyOnWriteArrayList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"</a:t>
            </a:r>
            <a:r>
              <a:rPr lang="tr-TR" dirty="0"/>
              <a:t>Yazarken Kopyala" (</a:t>
            </a:r>
            <a:r>
              <a:rPr lang="tr-TR" dirty="0" err="1"/>
              <a:t>Copy</a:t>
            </a:r>
            <a:r>
              <a:rPr lang="tr-TR" dirty="0"/>
              <a:t>-on-Write) stratejisini kullanır. </a:t>
            </a:r>
            <a:endParaRPr lang="tr-TR" dirty="0" smtClean="0"/>
          </a:p>
          <a:p>
            <a:pPr lvl="1"/>
            <a:r>
              <a:rPr lang="tr-TR" dirty="0" smtClean="0"/>
              <a:t>Listede değişiklik yapılacağında </a:t>
            </a:r>
            <a:r>
              <a:rPr lang="tr-TR" dirty="0"/>
              <a:t>orijinal </a:t>
            </a:r>
            <a:r>
              <a:rPr lang="tr-TR" dirty="0" smtClean="0"/>
              <a:t>listeyi korur.</a:t>
            </a:r>
          </a:p>
          <a:p>
            <a:pPr lvl="1"/>
            <a:r>
              <a:rPr lang="tr-TR" dirty="0" smtClean="0"/>
              <a:t>İşlemleri </a:t>
            </a:r>
            <a:r>
              <a:rPr lang="tr-TR" dirty="0"/>
              <a:t>kopya </a:t>
            </a:r>
            <a:r>
              <a:rPr lang="tr-TR" dirty="0" smtClean="0"/>
              <a:t>liste üzerinde gerçekleştirir.</a:t>
            </a:r>
          </a:p>
          <a:p>
            <a:r>
              <a:rPr lang="tr-TR" dirty="0" smtClean="0"/>
              <a:t>Çoklu </a:t>
            </a:r>
            <a:r>
              <a:rPr lang="tr-TR" dirty="0"/>
              <a:t>iş parçacıkları arasında </a:t>
            </a:r>
            <a:r>
              <a:rPr lang="tr-TR" dirty="0" smtClean="0"/>
              <a:t>güvenle kullanılabilir</a:t>
            </a:r>
            <a:r>
              <a:rPr lang="tr-TR" dirty="0"/>
              <a:t>.</a:t>
            </a:r>
          </a:p>
          <a:p>
            <a:r>
              <a:rPr lang="tr-TR" dirty="0" smtClean="0"/>
              <a:t>Okuma çok </a:t>
            </a:r>
            <a:r>
              <a:rPr lang="tr-TR" dirty="0"/>
              <a:t>hızlıdır, </a:t>
            </a:r>
            <a:r>
              <a:rPr lang="tr-TR" dirty="0" smtClean="0"/>
              <a:t>kilitlenme / senkronizasyon sorunları olmaz.</a:t>
            </a:r>
            <a:endParaRPr lang="tr-TR" dirty="0"/>
          </a:p>
          <a:p>
            <a:r>
              <a:rPr lang="tr-TR" dirty="0" smtClean="0"/>
              <a:t>Yazma maliyetlidir</a:t>
            </a:r>
            <a:r>
              <a:rPr lang="tr-TR" dirty="0"/>
              <a:t>, </a:t>
            </a:r>
            <a:r>
              <a:rPr lang="tr-TR" dirty="0" smtClean="0"/>
              <a:t>her </a:t>
            </a:r>
            <a:r>
              <a:rPr lang="tr-TR" dirty="0"/>
              <a:t>yazma işlemi için </a:t>
            </a:r>
            <a:r>
              <a:rPr lang="tr-TR" dirty="0" smtClean="0"/>
              <a:t>listenin kopyası </a:t>
            </a:r>
            <a:r>
              <a:rPr lang="tr-TR" dirty="0"/>
              <a:t>oluşturulur.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14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Arrays.asList</a:t>
            </a:r>
            <a:r>
              <a:rPr lang="tr-TR" dirty="0" smtClean="0"/>
              <a:t>()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Verilen diziyi, </a:t>
            </a:r>
            <a:r>
              <a:rPr lang="tr-TR" dirty="0"/>
              <a:t>liste </a:t>
            </a:r>
            <a:r>
              <a:rPr lang="tr-TR" dirty="0" smtClean="0"/>
              <a:t>türünde </a:t>
            </a:r>
            <a:r>
              <a:rPr lang="tr-TR" dirty="0"/>
              <a:t>bir koleksiyona </a:t>
            </a:r>
            <a:r>
              <a:rPr lang="tr-TR" dirty="0" smtClean="0"/>
              <a:t>dönüştürür.</a:t>
            </a:r>
          </a:p>
          <a:p>
            <a:r>
              <a:rPr lang="tr-TR" dirty="0"/>
              <a:t>Dizi ve liste arasında verilerin paylaşıldığı bir arayüz sunar</a:t>
            </a:r>
            <a:r>
              <a:rPr lang="tr-TR" dirty="0" smtClean="0"/>
              <a:t>.</a:t>
            </a:r>
          </a:p>
          <a:p>
            <a:r>
              <a:rPr lang="tr-TR" dirty="0" smtClean="0"/>
              <a:t>Hem dizi avantajlarından hem koleksiyonların işlevselliğinden yararlanılır.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444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7168</TotalTime>
  <Words>2078</Words>
  <Application>Microsoft Office PowerPoint</Application>
  <PresentationFormat>Widescreen</PresentationFormat>
  <Paragraphs>437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Wingdings</vt:lpstr>
      <vt:lpstr>Office Theme</vt:lpstr>
      <vt:lpstr>Bölüm 6: Liste</vt:lpstr>
      <vt:lpstr>Iterable Arayüzü</vt:lpstr>
      <vt:lpstr>Collection Arayüzü</vt:lpstr>
      <vt:lpstr>List Arayüzü</vt:lpstr>
      <vt:lpstr>Liste Arayüzü</vt:lpstr>
      <vt:lpstr>Liste Kavramları</vt:lpstr>
      <vt:lpstr>Mutable ve Immutable Listeler</vt:lpstr>
      <vt:lpstr>Liste İşlemleri</vt:lpstr>
      <vt:lpstr>Liste Arayüzünün Ana Metodları</vt:lpstr>
      <vt:lpstr>List Demo</vt:lpstr>
      <vt:lpstr>List Demo</vt:lpstr>
      <vt:lpstr>List Demo - replaceAll</vt:lpstr>
      <vt:lpstr>List Demo - sort</vt:lpstr>
      <vt:lpstr>List Demo - spliterator</vt:lpstr>
      <vt:lpstr>List Demo - get</vt:lpstr>
      <vt:lpstr>List Demo - Generics</vt:lpstr>
      <vt:lpstr>Koleksiyonları Gezmek İçin Üç Yol</vt:lpstr>
      <vt:lpstr>Iterator Arayüzü</vt:lpstr>
      <vt:lpstr>Iterator Demo</vt:lpstr>
      <vt:lpstr>ListIterator Arayüzü</vt:lpstr>
      <vt:lpstr>ListIterator Metodları</vt:lpstr>
      <vt:lpstr>ListIterator Demo</vt:lpstr>
      <vt:lpstr>Liste Arayüzünü Uygulayan Sınıflar</vt:lpstr>
      <vt:lpstr>Liste Arayüzünü Uygulayan Sınıflar</vt:lpstr>
      <vt:lpstr>Liste Arayüzünü Uygulayan Sınıflar</vt:lpstr>
      <vt:lpstr>Liste Arayüzünü Uygulayan Sınıflar</vt:lpstr>
      <vt:lpstr>Liste Arayüzünü Uygulayan Popüler Sınıflar</vt:lpstr>
      <vt:lpstr>Liste Arayüzünü Uygulayan Popüler Sınıflar</vt:lpstr>
      <vt:lpstr>Liste Arayüzünü Uygulayan Popüler Sınıflar</vt:lpstr>
      <vt:lpstr>ArrayList</vt:lpstr>
      <vt:lpstr>ArrayList Kullanımı</vt:lpstr>
      <vt:lpstr>LinkedList</vt:lpstr>
      <vt:lpstr>LinkedList Kullanımı</vt:lpstr>
      <vt:lpstr>Vector</vt:lpstr>
      <vt:lpstr>Vector Kullanımı</vt:lpstr>
      <vt:lpstr>Stack</vt:lpstr>
      <vt:lpstr>Stack Kullanımı</vt:lpstr>
      <vt:lpstr>CopyOnWriteArrayList</vt:lpstr>
      <vt:lpstr>Arrays.asList()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</dc:title>
  <dc:creator>sercan</dc:creator>
  <cp:lastModifiedBy>sercan</cp:lastModifiedBy>
  <cp:revision>541</cp:revision>
  <dcterms:created xsi:type="dcterms:W3CDTF">2023-01-12T09:23:55Z</dcterms:created>
  <dcterms:modified xsi:type="dcterms:W3CDTF">2023-12-22T22:36:02Z</dcterms:modified>
</cp:coreProperties>
</file>